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9" r:id="rId79"/>
    <p:sldId id="333" r:id="rId80"/>
    <p:sldId id="334" r:id="rId81"/>
    <p:sldId id="335" r:id="rId82"/>
    <p:sldId id="336" r:id="rId83"/>
    <p:sldId id="337" r:id="rId84"/>
    <p:sldId id="338" r:id="rId8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9589"/>
  </p:normalViewPr>
  <p:slideViewPr>
    <p:cSldViewPr snapToGrid="0">
      <p:cViewPr>
        <p:scale>
          <a:sx n="115" d="100"/>
          <a:sy n="115" d="100"/>
        </p:scale>
        <p:origin x="1752" y="-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1645D6-1611-4DF4-8DF3-EEC32D8C4F8A}" type="doc">
      <dgm:prSet loTypeId="urn:microsoft.com/office/officeart/2005/8/layout/default" qsTypeId="urn:microsoft.com/office/officeart/2005/8/quickstyle/simple1" csTypeId="urn:microsoft.com/office/officeart/2005/8/colors/accent1_2"/>
      <dgm:spPr/>
      <dgm:t>
        <a:bodyPr/>
        <a:lstStyle/>
        <a:p>
          <a:endParaRPr/>
        </a:p>
      </dgm:t>
    </dgm:pt>
    <dgm:pt modelId="{1639CA94-34C3-4B9C-92E1-C13864A4BA19}">
      <dgm:prSet/>
      <dgm:spPr/>
      <dgm:t>
        <a:bodyPr/>
        <a:lstStyle/>
        <a:p>
          <a:r>
            <a:rPr sz="2400"/>
            <a:t>The Relational Model: Introduction </a:t>
          </a:r>
        </a:p>
      </dgm:t>
    </dgm:pt>
    <dgm:pt modelId="{1A7083B0-00E4-4EE8-9D2E-F851B46DB471}" type="parTrans" cxnId="{D5FBB6B4-BDDA-4927-80E8-A4F68D98800B}">
      <dgm:prSet/>
      <dgm:spPr/>
      <dgm:t>
        <a:bodyPr/>
        <a:lstStyle/>
        <a:p>
          <a:endParaRPr sz="2000"/>
        </a:p>
      </dgm:t>
    </dgm:pt>
    <dgm:pt modelId="{9B5CF5B4-C56A-4B27-B438-A8CF699CAF14}" type="sibTrans" cxnId="{D5FBB6B4-BDDA-4927-80E8-A4F68D98800B}">
      <dgm:prSet/>
      <dgm:spPr/>
      <dgm:t>
        <a:bodyPr/>
        <a:lstStyle/>
        <a:p>
          <a:endParaRPr sz="2000"/>
        </a:p>
      </dgm:t>
    </dgm:pt>
    <dgm:pt modelId="{09ED5544-C181-4B8D-BD58-FB971909C7CF}">
      <dgm:prSet/>
      <dgm:spPr/>
      <dgm:t>
        <a:bodyPr/>
        <a:lstStyle/>
        <a:p>
          <a:r>
            <a:rPr sz="2400"/>
            <a:t>The Relational Model: Basic SQL</a:t>
          </a:r>
        </a:p>
      </dgm:t>
    </dgm:pt>
    <dgm:pt modelId="{3B4D1514-B1E8-4693-B7EA-722D4CFC2BA8}" type="parTrans" cxnId="{BF384046-E3C4-47AA-96AA-F2D335BB5A82}">
      <dgm:prSet/>
      <dgm:spPr/>
      <dgm:t>
        <a:bodyPr/>
        <a:lstStyle/>
        <a:p>
          <a:endParaRPr sz="2000"/>
        </a:p>
      </dgm:t>
    </dgm:pt>
    <dgm:pt modelId="{FFA1A47E-E303-45D0-AECB-9D422D9B96F1}" type="sibTrans" cxnId="{BF384046-E3C4-47AA-96AA-F2D335BB5A82}">
      <dgm:prSet/>
      <dgm:spPr/>
      <dgm:t>
        <a:bodyPr/>
        <a:lstStyle/>
        <a:p>
          <a:endParaRPr sz="2000"/>
        </a:p>
      </dgm:t>
    </dgm:pt>
    <dgm:pt modelId="{6F32AD89-A452-48CC-B92A-265FB1A43B0C}">
      <dgm:prSet/>
      <dgm:spPr/>
      <dgm:t>
        <a:bodyPr/>
        <a:lstStyle/>
        <a:p>
          <a:r>
            <a:rPr sz="2400"/>
            <a:t>Translating ER Diagrams to Tables via SQL</a:t>
          </a:r>
        </a:p>
      </dgm:t>
    </dgm:pt>
    <dgm:pt modelId="{2BD0E92B-05E2-4733-83A1-F2D4F12B4D64}" type="parTrans" cxnId="{9AC2F451-4954-4AF1-A729-5D0430E21B87}">
      <dgm:prSet/>
      <dgm:spPr/>
      <dgm:t>
        <a:bodyPr/>
        <a:lstStyle/>
        <a:p>
          <a:endParaRPr sz="2000"/>
        </a:p>
      </dgm:t>
    </dgm:pt>
    <dgm:pt modelId="{1B53F678-35A0-4A3F-A7D1-1E738F070D06}" type="sibTrans" cxnId="{9AC2F451-4954-4AF1-A729-5D0430E21B87}">
      <dgm:prSet/>
      <dgm:spPr/>
      <dgm:t>
        <a:bodyPr/>
        <a:lstStyle/>
        <a:p>
          <a:endParaRPr sz="2000"/>
        </a:p>
      </dgm:t>
    </dgm:pt>
    <dgm:pt modelId="{6B81F55D-4923-9F49-8F86-7E8C32162376}" type="pres">
      <dgm:prSet presAssocID="{BE1645D6-1611-4DF4-8DF3-EEC32D8C4F8A}" presName="diagram" presStyleCnt="0">
        <dgm:presLayoutVars>
          <dgm:dir/>
          <dgm:resizeHandles val="exact"/>
        </dgm:presLayoutVars>
      </dgm:prSet>
      <dgm:spPr/>
    </dgm:pt>
    <dgm:pt modelId="{2DCF2895-70C2-AA43-859B-3F44186C9087}" type="pres">
      <dgm:prSet presAssocID="{1639CA94-34C3-4B9C-92E1-C13864A4BA19}" presName="node" presStyleLbl="node1" presStyleIdx="0" presStyleCnt="3">
        <dgm:presLayoutVars>
          <dgm:bulletEnabled val="1"/>
        </dgm:presLayoutVars>
      </dgm:prSet>
      <dgm:spPr/>
    </dgm:pt>
    <dgm:pt modelId="{DD5939F5-821D-0D47-AB12-2D2F80522C1F}" type="pres">
      <dgm:prSet presAssocID="{9B5CF5B4-C56A-4B27-B438-A8CF699CAF14}" presName="sibTrans" presStyleCnt="0"/>
      <dgm:spPr/>
    </dgm:pt>
    <dgm:pt modelId="{7DF5D6CD-416B-5D4F-A29C-AFA84D6671DB}" type="pres">
      <dgm:prSet presAssocID="{09ED5544-C181-4B8D-BD58-FB971909C7CF}" presName="node" presStyleLbl="node1" presStyleIdx="1" presStyleCnt="3">
        <dgm:presLayoutVars>
          <dgm:bulletEnabled val="1"/>
        </dgm:presLayoutVars>
      </dgm:prSet>
      <dgm:spPr/>
    </dgm:pt>
    <dgm:pt modelId="{24FC3020-0DAC-5749-A0B0-2EBD830AE7E8}" type="pres">
      <dgm:prSet presAssocID="{FFA1A47E-E303-45D0-AECB-9D422D9B96F1}" presName="sibTrans" presStyleCnt="0"/>
      <dgm:spPr/>
    </dgm:pt>
    <dgm:pt modelId="{5FE68F52-3499-6C4E-B2D1-98E1D97050D6}" type="pres">
      <dgm:prSet presAssocID="{6F32AD89-A452-48CC-B92A-265FB1A43B0C}" presName="node" presStyleLbl="node1" presStyleIdx="2" presStyleCnt="3">
        <dgm:presLayoutVars>
          <dgm:bulletEnabled val="1"/>
        </dgm:presLayoutVars>
      </dgm:prSet>
      <dgm:spPr/>
    </dgm:pt>
  </dgm:ptLst>
  <dgm:cxnLst>
    <dgm:cxn modelId="{FBD54541-C838-A64F-BC4D-50DB5B0D2130}" type="presOf" srcId="{1639CA94-34C3-4B9C-92E1-C13864A4BA19}" destId="{2DCF2895-70C2-AA43-859B-3F44186C9087}" srcOrd="0" destOrd="0" presId="urn:microsoft.com/office/officeart/2005/8/layout/default"/>
    <dgm:cxn modelId="{BF384046-E3C4-47AA-96AA-F2D335BB5A82}" srcId="{BE1645D6-1611-4DF4-8DF3-EEC32D8C4F8A}" destId="{09ED5544-C181-4B8D-BD58-FB971909C7CF}" srcOrd="1" destOrd="0" parTransId="{3B4D1514-B1E8-4693-B7EA-722D4CFC2BA8}" sibTransId="{FFA1A47E-E303-45D0-AECB-9D422D9B96F1}"/>
    <dgm:cxn modelId="{9AC2F451-4954-4AF1-A729-5D0430E21B87}" srcId="{BE1645D6-1611-4DF4-8DF3-EEC32D8C4F8A}" destId="{6F32AD89-A452-48CC-B92A-265FB1A43B0C}" srcOrd="2" destOrd="0" parTransId="{2BD0E92B-05E2-4733-83A1-F2D4F12B4D64}" sibTransId="{1B53F678-35A0-4A3F-A7D1-1E738F070D06}"/>
    <dgm:cxn modelId="{07CE5A96-8B36-7141-A967-071F7D75DF96}" type="presOf" srcId="{09ED5544-C181-4B8D-BD58-FB971909C7CF}" destId="{7DF5D6CD-416B-5D4F-A29C-AFA84D6671DB}" srcOrd="0" destOrd="0" presId="urn:microsoft.com/office/officeart/2005/8/layout/default"/>
    <dgm:cxn modelId="{9816B59D-9DB3-F148-A3F7-B9C8D1ABF4D0}" type="presOf" srcId="{BE1645D6-1611-4DF4-8DF3-EEC32D8C4F8A}" destId="{6B81F55D-4923-9F49-8F86-7E8C32162376}" srcOrd="0" destOrd="0" presId="urn:microsoft.com/office/officeart/2005/8/layout/default"/>
    <dgm:cxn modelId="{D5FBB6B4-BDDA-4927-80E8-A4F68D98800B}" srcId="{BE1645D6-1611-4DF4-8DF3-EEC32D8C4F8A}" destId="{1639CA94-34C3-4B9C-92E1-C13864A4BA19}" srcOrd="0" destOrd="0" parTransId="{1A7083B0-00E4-4EE8-9D2E-F851B46DB471}" sibTransId="{9B5CF5B4-C56A-4B27-B438-A8CF699CAF14}"/>
    <dgm:cxn modelId="{C3C50AD5-E44B-6A48-AD2D-DBB6E3D665C9}" type="presOf" srcId="{6F32AD89-A452-48CC-B92A-265FB1A43B0C}" destId="{5FE68F52-3499-6C4E-B2D1-98E1D97050D6}" srcOrd="0" destOrd="0" presId="urn:microsoft.com/office/officeart/2005/8/layout/default"/>
    <dgm:cxn modelId="{A4B6EB47-C43E-9741-A0EF-8465B52EFC53}" type="presParOf" srcId="{6B81F55D-4923-9F49-8F86-7E8C32162376}" destId="{2DCF2895-70C2-AA43-859B-3F44186C9087}" srcOrd="0" destOrd="0" presId="urn:microsoft.com/office/officeart/2005/8/layout/default"/>
    <dgm:cxn modelId="{B3A1E3B1-7217-9D4C-8762-CD455486AB52}" type="presParOf" srcId="{6B81F55D-4923-9F49-8F86-7E8C32162376}" destId="{DD5939F5-821D-0D47-AB12-2D2F80522C1F}" srcOrd="1" destOrd="0" presId="urn:microsoft.com/office/officeart/2005/8/layout/default"/>
    <dgm:cxn modelId="{8262E045-8A23-B44D-830C-2123CCEDC83B}" type="presParOf" srcId="{6B81F55D-4923-9F49-8F86-7E8C32162376}" destId="{7DF5D6CD-416B-5D4F-A29C-AFA84D6671DB}" srcOrd="2" destOrd="0" presId="urn:microsoft.com/office/officeart/2005/8/layout/default"/>
    <dgm:cxn modelId="{810F1401-D3B3-D84D-ABA8-C7CA8D752914}" type="presParOf" srcId="{6B81F55D-4923-9F49-8F86-7E8C32162376}" destId="{24FC3020-0DAC-5749-A0B0-2EBD830AE7E8}" srcOrd="3" destOrd="0" presId="urn:microsoft.com/office/officeart/2005/8/layout/default"/>
    <dgm:cxn modelId="{C3660E44-516A-984E-93F8-7305313340F5}" type="presParOf" srcId="{6B81F55D-4923-9F49-8F86-7E8C32162376}" destId="{5FE68F52-3499-6C4E-B2D1-98E1D97050D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1645D6-1611-4DF4-8DF3-EEC32D8C4F8A}" type="doc">
      <dgm:prSet loTypeId="urn:microsoft.com/office/officeart/2005/8/layout/default" qsTypeId="urn:microsoft.com/office/officeart/2005/8/quickstyle/simple1" csTypeId="urn:microsoft.com/office/officeart/2005/8/colors/accent1_2"/>
      <dgm:spPr/>
      <dgm:t>
        <a:bodyPr/>
        <a:lstStyle/>
        <a:p>
          <a:endParaRPr/>
        </a:p>
      </dgm:t>
    </dgm:pt>
    <dgm:pt modelId="{1639CA94-34C3-4B9C-92E1-C13864A4BA19}">
      <dgm:prSet/>
      <dgm:spPr/>
      <dgm:t>
        <a:bodyPr/>
        <a:lstStyle/>
        <a:p>
          <a:r>
            <a:rPr sz="2400"/>
            <a:t>The Relational Model: Introduction </a:t>
          </a:r>
        </a:p>
      </dgm:t>
    </dgm:pt>
    <dgm:pt modelId="{1A7083B0-00E4-4EE8-9D2E-F851B46DB471}" type="parTrans" cxnId="{D5FBB6B4-BDDA-4927-80E8-A4F68D98800B}">
      <dgm:prSet/>
      <dgm:spPr/>
      <dgm:t>
        <a:bodyPr/>
        <a:lstStyle/>
        <a:p>
          <a:endParaRPr sz="2000"/>
        </a:p>
      </dgm:t>
    </dgm:pt>
    <dgm:pt modelId="{9B5CF5B4-C56A-4B27-B438-A8CF699CAF14}" type="sibTrans" cxnId="{D5FBB6B4-BDDA-4927-80E8-A4F68D98800B}">
      <dgm:prSet/>
      <dgm:spPr/>
      <dgm:t>
        <a:bodyPr/>
        <a:lstStyle/>
        <a:p>
          <a:endParaRPr sz="2000"/>
        </a:p>
      </dgm:t>
    </dgm:pt>
    <dgm:pt modelId="{09ED5544-C181-4B8D-BD58-FB971909C7CF}">
      <dgm:prSet/>
      <dgm:spPr/>
      <dgm:t>
        <a:bodyPr/>
        <a:lstStyle/>
        <a:p>
          <a:r>
            <a:rPr sz="2400"/>
            <a:t>The Relational Model: Basic SQL</a:t>
          </a:r>
        </a:p>
      </dgm:t>
    </dgm:pt>
    <dgm:pt modelId="{3B4D1514-B1E8-4693-B7EA-722D4CFC2BA8}" type="parTrans" cxnId="{BF384046-E3C4-47AA-96AA-F2D335BB5A82}">
      <dgm:prSet/>
      <dgm:spPr/>
      <dgm:t>
        <a:bodyPr/>
        <a:lstStyle/>
        <a:p>
          <a:endParaRPr sz="2000"/>
        </a:p>
      </dgm:t>
    </dgm:pt>
    <dgm:pt modelId="{FFA1A47E-E303-45D0-AECB-9D422D9B96F1}" type="sibTrans" cxnId="{BF384046-E3C4-47AA-96AA-F2D335BB5A82}">
      <dgm:prSet/>
      <dgm:spPr/>
      <dgm:t>
        <a:bodyPr/>
        <a:lstStyle/>
        <a:p>
          <a:endParaRPr sz="2000"/>
        </a:p>
      </dgm:t>
    </dgm:pt>
    <dgm:pt modelId="{6F32AD89-A452-48CC-B92A-265FB1A43B0C}">
      <dgm:prSet/>
      <dgm:spPr/>
      <dgm:t>
        <a:bodyPr/>
        <a:lstStyle/>
        <a:p>
          <a:r>
            <a:rPr sz="2400"/>
            <a:t>Translating ER Diagrams to Tables via SQL</a:t>
          </a:r>
        </a:p>
      </dgm:t>
    </dgm:pt>
    <dgm:pt modelId="{2BD0E92B-05E2-4733-83A1-F2D4F12B4D64}" type="parTrans" cxnId="{9AC2F451-4954-4AF1-A729-5D0430E21B87}">
      <dgm:prSet/>
      <dgm:spPr/>
      <dgm:t>
        <a:bodyPr/>
        <a:lstStyle/>
        <a:p>
          <a:endParaRPr sz="2000"/>
        </a:p>
      </dgm:t>
    </dgm:pt>
    <dgm:pt modelId="{1B53F678-35A0-4A3F-A7D1-1E738F070D06}" type="sibTrans" cxnId="{9AC2F451-4954-4AF1-A729-5D0430E21B87}">
      <dgm:prSet/>
      <dgm:spPr/>
      <dgm:t>
        <a:bodyPr/>
        <a:lstStyle/>
        <a:p>
          <a:endParaRPr sz="2000"/>
        </a:p>
      </dgm:t>
    </dgm:pt>
    <dgm:pt modelId="{557E5ED3-2CBF-564B-A56A-3694BC63E939}" type="pres">
      <dgm:prSet presAssocID="{BE1645D6-1611-4DF4-8DF3-EEC32D8C4F8A}" presName="diagram" presStyleCnt="0">
        <dgm:presLayoutVars>
          <dgm:dir/>
          <dgm:resizeHandles val="exact"/>
        </dgm:presLayoutVars>
      </dgm:prSet>
      <dgm:spPr/>
    </dgm:pt>
    <dgm:pt modelId="{2775CABD-94CB-8040-9EF3-8751B4060681}" type="pres">
      <dgm:prSet presAssocID="{1639CA94-34C3-4B9C-92E1-C13864A4BA19}" presName="node" presStyleLbl="node1" presStyleIdx="0" presStyleCnt="3">
        <dgm:presLayoutVars>
          <dgm:bulletEnabled val="1"/>
        </dgm:presLayoutVars>
      </dgm:prSet>
      <dgm:spPr/>
    </dgm:pt>
    <dgm:pt modelId="{D4828BF9-01A4-D145-A92D-54A6FDE10E25}" type="pres">
      <dgm:prSet presAssocID="{9B5CF5B4-C56A-4B27-B438-A8CF699CAF14}" presName="sibTrans" presStyleCnt="0"/>
      <dgm:spPr/>
    </dgm:pt>
    <dgm:pt modelId="{096B309D-EC4A-D042-A267-F1EE6D7A6235}" type="pres">
      <dgm:prSet presAssocID="{09ED5544-C181-4B8D-BD58-FB971909C7CF}" presName="node" presStyleLbl="node1" presStyleIdx="1" presStyleCnt="3">
        <dgm:presLayoutVars>
          <dgm:bulletEnabled val="1"/>
        </dgm:presLayoutVars>
      </dgm:prSet>
      <dgm:spPr/>
    </dgm:pt>
    <dgm:pt modelId="{895D6410-DBDB-1B4B-9F96-9AEBEAAF1F04}" type="pres">
      <dgm:prSet presAssocID="{FFA1A47E-E303-45D0-AECB-9D422D9B96F1}" presName="sibTrans" presStyleCnt="0"/>
      <dgm:spPr/>
    </dgm:pt>
    <dgm:pt modelId="{99513E42-2846-814A-A728-68B20E0534F7}" type="pres">
      <dgm:prSet presAssocID="{6F32AD89-A452-48CC-B92A-265FB1A43B0C}" presName="node" presStyleLbl="node1" presStyleIdx="2" presStyleCnt="3">
        <dgm:presLayoutVars>
          <dgm:bulletEnabled val="1"/>
        </dgm:presLayoutVars>
      </dgm:prSet>
      <dgm:spPr/>
    </dgm:pt>
  </dgm:ptLst>
  <dgm:cxnLst>
    <dgm:cxn modelId="{EE9D363C-09EB-7743-9B17-9A30D4611E6F}" type="presOf" srcId="{BE1645D6-1611-4DF4-8DF3-EEC32D8C4F8A}" destId="{557E5ED3-2CBF-564B-A56A-3694BC63E939}" srcOrd="0" destOrd="0" presId="urn:microsoft.com/office/officeart/2005/8/layout/default"/>
    <dgm:cxn modelId="{BF384046-E3C4-47AA-96AA-F2D335BB5A82}" srcId="{BE1645D6-1611-4DF4-8DF3-EEC32D8C4F8A}" destId="{09ED5544-C181-4B8D-BD58-FB971909C7CF}" srcOrd="1" destOrd="0" parTransId="{3B4D1514-B1E8-4693-B7EA-722D4CFC2BA8}" sibTransId="{FFA1A47E-E303-45D0-AECB-9D422D9B96F1}"/>
    <dgm:cxn modelId="{9AC2F451-4954-4AF1-A729-5D0430E21B87}" srcId="{BE1645D6-1611-4DF4-8DF3-EEC32D8C4F8A}" destId="{6F32AD89-A452-48CC-B92A-265FB1A43B0C}" srcOrd="2" destOrd="0" parTransId="{2BD0E92B-05E2-4733-83A1-F2D4F12B4D64}" sibTransId="{1B53F678-35A0-4A3F-A7D1-1E738F070D06}"/>
    <dgm:cxn modelId="{7F498464-5A68-064E-AFCA-2DFF443FF485}" type="presOf" srcId="{1639CA94-34C3-4B9C-92E1-C13864A4BA19}" destId="{2775CABD-94CB-8040-9EF3-8751B4060681}" srcOrd="0" destOrd="0" presId="urn:microsoft.com/office/officeart/2005/8/layout/default"/>
    <dgm:cxn modelId="{115BEA76-2270-8149-BBA4-89FAB6B39E6A}" type="presOf" srcId="{09ED5544-C181-4B8D-BD58-FB971909C7CF}" destId="{096B309D-EC4A-D042-A267-F1EE6D7A6235}" srcOrd="0" destOrd="0" presId="urn:microsoft.com/office/officeart/2005/8/layout/default"/>
    <dgm:cxn modelId="{D5FBB6B4-BDDA-4927-80E8-A4F68D98800B}" srcId="{BE1645D6-1611-4DF4-8DF3-EEC32D8C4F8A}" destId="{1639CA94-34C3-4B9C-92E1-C13864A4BA19}" srcOrd="0" destOrd="0" parTransId="{1A7083B0-00E4-4EE8-9D2E-F851B46DB471}" sibTransId="{9B5CF5B4-C56A-4B27-B438-A8CF699CAF14}"/>
    <dgm:cxn modelId="{364A78D7-B0B0-5046-9634-BB231E44CC08}" type="presOf" srcId="{6F32AD89-A452-48CC-B92A-265FB1A43B0C}" destId="{99513E42-2846-814A-A728-68B20E0534F7}" srcOrd="0" destOrd="0" presId="urn:microsoft.com/office/officeart/2005/8/layout/default"/>
    <dgm:cxn modelId="{E286E384-B6B0-A347-8F5B-61F8671DFCE4}" type="presParOf" srcId="{557E5ED3-2CBF-564B-A56A-3694BC63E939}" destId="{2775CABD-94CB-8040-9EF3-8751B4060681}" srcOrd="0" destOrd="0" presId="urn:microsoft.com/office/officeart/2005/8/layout/default"/>
    <dgm:cxn modelId="{5075B882-F803-9945-80BB-A40F14C8EA34}" type="presParOf" srcId="{557E5ED3-2CBF-564B-A56A-3694BC63E939}" destId="{D4828BF9-01A4-D145-A92D-54A6FDE10E25}" srcOrd="1" destOrd="0" presId="urn:microsoft.com/office/officeart/2005/8/layout/default"/>
    <dgm:cxn modelId="{4329DF84-46DF-9949-8DD0-02FC16EB9593}" type="presParOf" srcId="{557E5ED3-2CBF-564B-A56A-3694BC63E939}" destId="{096B309D-EC4A-D042-A267-F1EE6D7A6235}" srcOrd="2" destOrd="0" presId="urn:microsoft.com/office/officeart/2005/8/layout/default"/>
    <dgm:cxn modelId="{C40B362D-E842-8841-9572-DCFEC0F79D76}" type="presParOf" srcId="{557E5ED3-2CBF-564B-A56A-3694BC63E939}" destId="{895D6410-DBDB-1B4B-9F96-9AEBEAAF1F04}" srcOrd="3" destOrd="0" presId="urn:microsoft.com/office/officeart/2005/8/layout/default"/>
    <dgm:cxn modelId="{466ED2B4-7C42-9A40-97B9-81C88973F58A}" type="presParOf" srcId="{557E5ED3-2CBF-564B-A56A-3694BC63E939}" destId="{99513E42-2846-814A-A728-68B20E0534F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1645D6-1611-4DF4-8DF3-EEC32D8C4F8A}" type="doc">
      <dgm:prSet loTypeId="urn:microsoft.com/office/officeart/2005/8/layout/default" qsTypeId="urn:microsoft.com/office/officeart/2005/8/quickstyle/simple1" csTypeId="urn:microsoft.com/office/officeart/2005/8/colors/accent1_2"/>
      <dgm:spPr/>
      <dgm:t>
        <a:bodyPr/>
        <a:lstStyle/>
        <a:p>
          <a:endParaRPr/>
        </a:p>
      </dgm:t>
    </dgm:pt>
    <dgm:pt modelId="{1639CA94-34C3-4B9C-92E1-C13864A4BA19}">
      <dgm:prSet/>
      <dgm:spPr/>
      <dgm:t>
        <a:bodyPr/>
        <a:lstStyle/>
        <a:p>
          <a:r>
            <a:rPr sz="2400"/>
            <a:t>The Relational Model: Introduction </a:t>
          </a:r>
        </a:p>
      </dgm:t>
    </dgm:pt>
    <dgm:pt modelId="{1A7083B0-00E4-4EE8-9D2E-F851B46DB471}" type="parTrans" cxnId="{D5FBB6B4-BDDA-4927-80E8-A4F68D98800B}">
      <dgm:prSet/>
      <dgm:spPr/>
      <dgm:t>
        <a:bodyPr/>
        <a:lstStyle/>
        <a:p>
          <a:endParaRPr sz="2000"/>
        </a:p>
      </dgm:t>
    </dgm:pt>
    <dgm:pt modelId="{9B5CF5B4-C56A-4B27-B438-A8CF699CAF14}" type="sibTrans" cxnId="{D5FBB6B4-BDDA-4927-80E8-A4F68D98800B}">
      <dgm:prSet/>
      <dgm:spPr/>
      <dgm:t>
        <a:bodyPr/>
        <a:lstStyle/>
        <a:p>
          <a:endParaRPr sz="2000"/>
        </a:p>
      </dgm:t>
    </dgm:pt>
    <dgm:pt modelId="{09ED5544-C181-4B8D-BD58-FB971909C7CF}">
      <dgm:prSet/>
      <dgm:spPr/>
      <dgm:t>
        <a:bodyPr/>
        <a:lstStyle/>
        <a:p>
          <a:r>
            <a:rPr sz="2400"/>
            <a:t>The Relational Model: Basic SQL</a:t>
          </a:r>
        </a:p>
      </dgm:t>
    </dgm:pt>
    <dgm:pt modelId="{3B4D1514-B1E8-4693-B7EA-722D4CFC2BA8}" type="parTrans" cxnId="{BF384046-E3C4-47AA-96AA-F2D335BB5A82}">
      <dgm:prSet/>
      <dgm:spPr/>
      <dgm:t>
        <a:bodyPr/>
        <a:lstStyle/>
        <a:p>
          <a:endParaRPr sz="2000"/>
        </a:p>
      </dgm:t>
    </dgm:pt>
    <dgm:pt modelId="{FFA1A47E-E303-45D0-AECB-9D422D9B96F1}" type="sibTrans" cxnId="{BF384046-E3C4-47AA-96AA-F2D335BB5A82}">
      <dgm:prSet/>
      <dgm:spPr/>
      <dgm:t>
        <a:bodyPr/>
        <a:lstStyle/>
        <a:p>
          <a:endParaRPr sz="2000"/>
        </a:p>
      </dgm:t>
    </dgm:pt>
    <dgm:pt modelId="{6F32AD89-A452-48CC-B92A-265FB1A43B0C}">
      <dgm:prSet/>
      <dgm:spPr/>
      <dgm:t>
        <a:bodyPr/>
        <a:lstStyle/>
        <a:p>
          <a:r>
            <a:rPr sz="2400"/>
            <a:t>Translating ER Diagrams to Tables via SQL</a:t>
          </a:r>
        </a:p>
      </dgm:t>
    </dgm:pt>
    <dgm:pt modelId="{2BD0E92B-05E2-4733-83A1-F2D4F12B4D64}" type="parTrans" cxnId="{9AC2F451-4954-4AF1-A729-5D0430E21B87}">
      <dgm:prSet/>
      <dgm:spPr/>
      <dgm:t>
        <a:bodyPr/>
        <a:lstStyle/>
        <a:p>
          <a:endParaRPr sz="2000"/>
        </a:p>
      </dgm:t>
    </dgm:pt>
    <dgm:pt modelId="{1B53F678-35A0-4A3F-A7D1-1E738F070D06}" type="sibTrans" cxnId="{9AC2F451-4954-4AF1-A729-5D0430E21B87}">
      <dgm:prSet/>
      <dgm:spPr/>
      <dgm:t>
        <a:bodyPr/>
        <a:lstStyle/>
        <a:p>
          <a:endParaRPr sz="2000"/>
        </a:p>
      </dgm:t>
    </dgm:pt>
    <dgm:pt modelId="{D7D607EF-CECF-A343-A960-87297EBC4036}" type="pres">
      <dgm:prSet presAssocID="{BE1645D6-1611-4DF4-8DF3-EEC32D8C4F8A}" presName="diagram" presStyleCnt="0">
        <dgm:presLayoutVars>
          <dgm:dir/>
          <dgm:resizeHandles val="exact"/>
        </dgm:presLayoutVars>
      </dgm:prSet>
      <dgm:spPr/>
    </dgm:pt>
    <dgm:pt modelId="{63739BE4-241A-D74C-BBD3-AD061D6A05C1}" type="pres">
      <dgm:prSet presAssocID="{1639CA94-34C3-4B9C-92E1-C13864A4BA19}" presName="node" presStyleLbl="node1" presStyleIdx="0" presStyleCnt="3">
        <dgm:presLayoutVars>
          <dgm:bulletEnabled val="1"/>
        </dgm:presLayoutVars>
      </dgm:prSet>
      <dgm:spPr/>
    </dgm:pt>
    <dgm:pt modelId="{A2E0E60B-191B-C44D-951C-9B7FAC460F5D}" type="pres">
      <dgm:prSet presAssocID="{9B5CF5B4-C56A-4B27-B438-A8CF699CAF14}" presName="sibTrans" presStyleCnt="0"/>
      <dgm:spPr/>
    </dgm:pt>
    <dgm:pt modelId="{693A4040-FE1E-B342-B051-06872390598E}" type="pres">
      <dgm:prSet presAssocID="{09ED5544-C181-4B8D-BD58-FB971909C7CF}" presName="node" presStyleLbl="node1" presStyleIdx="1" presStyleCnt="3">
        <dgm:presLayoutVars>
          <dgm:bulletEnabled val="1"/>
        </dgm:presLayoutVars>
      </dgm:prSet>
      <dgm:spPr/>
    </dgm:pt>
    <dgm:pt modelId="{D306BD77-9E5F-7245-8B8C-DBB85EE74B6B}" type="pres">
      <dgm:prSet presAssocID="{FFA1A47E-E303-45D0-AECB-9D422D9B96F1}" presName="sibTrans" presStyleCnt="0"/>
      <dgm:spPr/>
    </dgm:pt>
    <dgm:pt modelId="{CF83D685-6345-114A-BD2E-30FFAA3E117D}" type="pres">
      <dgm:prSet presAssocID="{6F32AD89-A452-48CC-B92A-265FB1A43B0C}" presName="node" presStyleLbl="node1" presStyleIdx="2" presStyleCnt="3">
        <dgm:presLayoutVars>
          <dgm:bulletEnabled val="1"/>
        </dgm:presLayoutVars>
      </dgm:prSet>
      <dgm:spPr/>
    </dgm:pt>
  </dgm:ptLst>
  <dgm:cxnLst>
    <dgm:cxn modelId="{AA84CA2B-162F-264F-BAA3-EA32D83435A8}" type="presOf" srcId="{09ED5544-C181-4B8D-BD58-FB971909C7CF}" destId="{693A4040-FE1E-B342-B051-06872390598E}" srcOrd="0" destOrd="0" presId="urn:microsoft.com/office/officeart/2005/8/layout/default"/>
    <dgm:cxn modelId="{BF384046-E3C4-47AA-96AA-F2D335BB5A82}" srcId="{BE1645D6-1611-4DF4-8DF3-EEC32D8C4F8A}" destId="{09ED5544-C181-4B8D-BD58-FB971909C7CF}" srcOrd="1" destOrd="0" parTransId="{3B4D1514-B1E8-4693-B7EA-722D4CFC2BA8}" sibTransId="{FFA1A47E-E303-45D0-AECB-9D422D9B96F1}"/>
    <dgm:cxn modelId="{9AC2F451-4954-4AF1-A729-5D0430E21B87}" srcId="{BE1645D6-1611-4DF4-8DF3-EEC32D8C4F8A}" destId="{6F32AD89-A452-48CC-B92A-265FB1A43B0C}" srcOrd="2" destOrd="0" parTransId="{2BD0E92B-05E2-4733-83A1-F2D4F12B4D64}" sibTransId="{1B53F678-35A0-4A3F-A7D1-1E738F070D06}"/>
    <dgm:cxn modelId="{D5FBB6B4-BDDA-4927-80E8-A4F68D98800B}" srcId="{BE1645D6-1611-4DF4-8DF3-EEC32D8C4F8A}" destId="{1639CA94-34C3-4B9C-92E1-C13864A4BA19}" srcOrd="0" destOrd="0" parTransId="{1A7083B0-00E4-4EE8-9D2E-F851B46DB471}" sibTransId="{9B5CF5B4-C56A-4B27-B438-A8CF699CAF14}"/>
    <dgm:cxn modelId="{5DBC70DD-0678-5E40-8F89-378B04E7943A}" type="presOf" srcId="{1639CA94-34C3-4B9C-92E1-C13864A4BA19}" destId="{63739BE4-241A-D74C-BBD3-AD061D6A05C1}" srcOrd="0" destOrd="0" presId="urn:microsoft.com/office/officeart/2005/8/layout/default"/>
    <dgm:cxn modelId="{9A7D3BE7-A568-D14A-925A-A596DB66B963}" type="presOf" srcId="{BE1645D6-1611-4DF4-8DF3-EEC32D8C4F8A}" destId="{D7D607EF-CECF-A343-A960-87297EBC4036}" srcOrd="0" destOrd="0" presId="urn:microsoft.com/office/officeart/2005/8/layout/default"/>
    <dgm:cxn modelId="{654C72F0-9AFB-B444-AB62-665E3C3A8558}" type="presOf" srcId="{6F32AD89-A452-48CC-B92A-265FB1A43B0C}" destId="{CF83D685-6345-114A-BD2E-30FFAA3E117D}" srcOrd="0" destOrd="0" presId="urn:microsoft.com/office/officeart/2005/8/layout/default"/>
    <dgm:cxn modelId="{C3C2B0DE-233F-C24E-8C51-F93783C780FA}" type="presParOf" srcId="{D7D607EF-CECF-A343-A960-87297EBC4036}" destId="{63739BE4-241A-D74C-BBD3-AD061D6A05C1}" srcOrd="0" destOrd="0" presId="urn:microsoft.com/office/officeart/2005/8/layout/default"/>
    <dgm:cxn modelId="{C2D9D60A-DF48-354B-A9A3-9CB6FCC4413B}" type="presParOf" srcId="{D7D607EF-CECF-A343-A960-87297EBC4036}" destId="{A2E0E60B-191B-C44D-951C-9B7FAC460F5D}" srcOrd="1" destOrd="0" presId="urn:microsoft.com/office/officeart/2005/8/layout/default"/>
    <dgm:cxn modelId="{11100C40-5820-2849-8E5B-D8965F80E6D9}" type="presParOf" srcId="{D7D607EF-CECF-A343-A960-87297EBC4036}" destId="{693A4040-FE1E-B342-B051-06872390598E}" srcOrd="2" destOrd="0" presId="urn:microsoft.com/office/officeart/2005/8/layout/default"/>
    <dgm:cxn modelId="{85F96A61-A781-9546-B795-30D03A6B54FF}" type="presParOf" srcId="{D7D607EF-CECF-A343-A960-87297EBC4036}" destId="{D306BD77-9E5F-7245-8B8C-DBB85EE74B6B}" srcOrd="3" destOrd="0" presId="urn:microsoft.com/office/officeart/2005/8/layout/default"/>
    <dgm:cxn modelId="{01C8097C-B9D1-2E4A-8956-B29CAC6771B0}" type="presParOf" srcId="{D7D607EF-CECF-A343-A960-87297EBC4036}" destId="{CF83D685-6345-114A-BD2E-30FFAA3E117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F2895-70C2-AA43-859B-3F44186C9087}">
      <dsp:nvSpPr>
        <dsp:cNvPr id="0" name=""/>
        <dsp:cNvSpPr/>
      </dsp:nvSpPr>
      <dsp:spPr>
        <a:xfrm>
          <a:off x="790" y="27703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The Relational Model: Introduction </a:t>
          </a:r>
        </a:p>
      </dsp:txBody>
      <dsp:txXfrm>
        <a:off x="790" y="27703"/>
        <a:ext cx="3083532" cy="1850119"/>
      </dsp:txXfrm>
    </dsp:sp>
    <dsp:sp modelId="{7DF5D6CD-416B-5D4F-A29C-AFA84D6671DB}">
      <dsp:nvSpPr>
        <dsp:cNvPr id="0" name=""/>
        <dsp:cNvSpPr/>
      </dsp:nvSpPr>
      <dsp:spPr>
        <a:xfrm>
          <a:off x="3392676" y="27703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The Relational Model: Basic SQL</a:t>
          </a:r>
        </a:p>
      </dsp:txBody>
      <dsp:txXfrm>
        <a:off x="3392676" y="27703"/>
        <a:ext cx="3083532" cy="1850119"/>
      </dsp:txXfrm>
    </dsp:sp>
    <dsp:sp modelId="{5FE68F52-3499-6C4E-B2D1-98E1D97050D6}">
      <dsp:nvSpPr>
        <dsp:cNvPr id="0" name=""/>
        <dsp:cNvSpPr/>
      </dsp:nvSpPr>
      <dsp:spPr>
        <a:xfrm>
          <a:off x="1696733" y="2186176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Translating ER Diagrams to Tables via SQL</a:t>
          </a:r>
        </a:p>
      </dsp:txBody>
      <dsp:txXfrm>
        <a:off x="1696733" y="2186176"/>
        <a:ext cx="3083532" cy="18501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75CABD-94CB-8040-9EF3-8751B4060681}">
      <dsp:nvSpPr>
        <dsp:cNvPr id="0" name=""/>
        <dsp:cNvSpPr/>
      </dsp:nvSpPr>
      <dsp:spPr>
        <a:xfrm>
          <a:off x="790" y="27703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The Relational Model: Introduction </a:t>
          </a:r>
        </a:p>
      </dsp:txBody>
      <dsp:txXfrm>
        <a:off x="790" y="27703"/>
        <a:ext cx="3083532" cy="1850119"/>
      </dsp:txXfrm>
    </dsp:sp>
    <dsp:sp modelId="{096B309D-EC4A-D042-A267-F1EE6D7A6235}">
      <dsp:nvSpPr>
        <dsp:cNvPr id="0" name=""/>
        <dsp:cNvSpPr/>
      </dsp:nvSpPr>
      <dsp:spPr>
        <a:xfrm>
          <a:off x="3392676" y="27703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The Relational Model: Basic SQL</a:t>
          </a:r>
        </a:p>
      </dsp:txBody>
      <dsp:txXfrm>
        <a:off x="3392676" y="27703"/>
        <a:ext cx="3083532" cy="1850119"/>
      </dsp:txXfrm>
    </dsp:sp>
    <dsp:sp modelId="{99513E42-2846-814A-A728-68B20E0534F7}">
      <dsp:nvSpPr>
        <dsp:cNvPr id="0" name=""/>
        <dsp:cNvSpPr/>
      </dsp:nvSpPr>
      <dsp:spPr>
        <a:xfrm>
          <a:off x="1696733" y="2186176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Translating ER Diagrams to Tables via SQL</a:t>
          </a:r>
        </a:p>
      </dsp:txBody>
      <dsp:txXfrm>
        <a:off x="1696733" y="2186176"/>
        <a:ext cx="3083532" cy="18501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739BE4-241A-D74C-BBD3-AD061D6A05C1}">
      <dsp:nvSpPr>
        <dsp:cNvPr id="0" name=""/>
        <dsp:cNvSpPr/>
      </dsp:nvSpPr>
      <dsp:spPr>
        <a:xfrm>
          <a:off x="790" y="27703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The Relational Model: Introduction </a:t>
          </a:r>
        </a:p>
      </dsp:txBody>
      <dsp:txXfrm>
        <a:off x="790" y="27703"/>
        <a:ext cx="3083532" cy="1850119"/>
      </dsp:txXfrm>
    </dsp:sp>
    <dsp:sp modelId="{693A4040-FE1E-B342-B051-06872390598E}">
      <dsp:nvSpPr>
        <dsp:cNvPr id="0" name=""/>
        <dsp:cNvSpPr/>
      </dsp:nvSpPr>
      <dsp:spPr>
        <a:xfrm>
          <a:off x="3392676" y="27703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The Relational Model: Basic SQL</a:t>
          </a:r>
        </a:p>
      </dsp:txBody>
      <dsp:txXfrm>
        <a:off x="3392676" y="27703"/>
        <a:ext cx="3083532" cy="1850119"/>
      </dsp:txXfrm>
    </dsp:sp>
    <dsp:sp modelId="{CF83D685-6345-114A-BD2E-30FFAA3E117D}">
      <dsp:nvSpPr>
        <dsp:cNvPr id="0" name=""/>
        <dsp:cNvSpPr/>
      </dsp:nvSpPr>
      <dsp:spPr>
        <a:xfrm>
          <a:off x="1696733" y="2186176"/>
          <a:ext cx="3083532" cy="18501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3700" kern="1200"/>
            <a:t>Translating ER Diagrams to Tables via SQL</a:t>
          </a:r>
        </a:p>
      </dsp:txBody>
      <dsp:txXfrm>
        <a:off x="1696733" y="2186176"/>
        <a:ext cx="3083532" cy="18501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t>教学节奏：导入与关系模型基础共 45 分钟，包括课堂活动。</a:t>
            </a:r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建议用时：2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预览四项学习成果。请学生指出自己最不熟悉的一项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说明表中的时间包含原有幻灯片的讲解和讨论。活动页是控制课程节奏的主要节点。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 分钟。</a:t>
            </a:r>
          </a:p>
          <a:p>
            <a:r>
              <a:t>参考答案：course_codes 和第一行的 phone_numbers 都包含列表。把选课记录移到 Enrolled(sid, cid)，把电话号码移到 StudentPhone(sid, phone)。利用学生回答引出原子值与拆分关系。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陈述分类</a:t>
            </a:r>
            <a:r>
              <a:rPr lang="en-US" altLang="zh-CN" dirty="0"/>
              <a:t>Students(</a:t>
            </a:r>
            <a:r>
              <a:rPr lang="en-US" altLang="zh-CN" dirty="0" err="1"/>
              <a:t>sid</a:t>
            </a:r>
            <a:r>
              <a:rPr lang="en-US" altLang="zh-CN" dirty="0"/>
              <a:t>, name, age, </a:t>
            </a:r>
            <a:r>
              <a:rPr lang="en-US" altLang="zh-CN" dirty="0" err="1"/>
              <a:t>gpa</a:t>
            </a:r>
            <a:r>
              <a:rPr lang="en-US" altLang="zh-CN" dirty="0"/>
              <a:t>)</a:t>
            </a:r>
            <a:r>
              <a:rPr lang="zh-CN" altLang="en-US" b="1" dirty="0"/>
              <a:t>模式（</a:t>
            </a:r>
            <a:r>
              <a:rPr lang="en-US" altLang="zh-CN" b="1" dirty="0"/>
              <a:t>Schema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en-US" altLang="zh-CN" dirty="0"/>
              <a:t>(S53666, Jones, 18, 3.4)</a:t>
            </a:r>
            <a:r>
              <a:rPr lang="zh-CN" altLang="en-US" b="1" dirty="0"/>
              <a:t>实例数据（</a:t>
            </a:r>
            <a:r>
              <a:rPr lang="en-US" altLang="zh-CN" b="1" dirty="0"/>
              <a:t>Instance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en-US" altLang="zh-CN" dirty="0" err="1"/>
              <a:t>sid</a:t>
            </a:r>
            <a:r>
              <a:rPr lang="en-US" altLang="zh-CN" dirty="0"/>
              <a:t> </a:t>
            </a:r>
            <a:r>
              <a:rPr lang="zh-CN" altLang="en-US" dirty="0"/>
              <a:t>使用 </a:t>
            </a:r>
            <a:r>
              <a:rPr lang="en-US" altLang="zh-CN" dirty="0"/>
              <a:t>VARCHAR(8)</a:t>
            </a:r>
            <a:r>
              <a:rPr lang="zh-CN" altLang="en-US" b="1" dirty="0"/>
              <a:t>域约束（</a:t>
            </a:r>
            <a:r>
              <a:rPr lang="en-US" altLang="zh-CN" b="1" dirty="0"/>
              <a:t>Domain constraint</a:t>
            </a:r>
            <a:r>
              <a:rPr lang="zh-CN" altLang="en-US" b="1" dirty="0"/>
              <a:t>）</a:t>
            </a:r>
            <a:endParaRPr lang="en-US" altLang="zh-CN" b="1" dirty="0"/>
          </a:p>
          <a:p>
            <a:r>
              <a:rPr lang="zh-CN" altLang="en-US" dirty="0"/>
              <a:t>学生 </a:t>
            </a:r>
            <a:r>
              <a:rPr lang="en-US" altLang="zh-CN" dirty="0"/>
              <a:t>S53688 </a:t>
            </a:r>
            <a:r>
              <a:rPr lang="zh-CN" altLang="en-US" dirty="0"/>
              <a:t>的 </a:t>
            </a:r>
            <a:r>
              <a:rPr lang="en-US" altLang="zh-CN" dirty="0"/>
              <a:t>GPA </a:t>
            </a:r>
            <a:r>
              <a:rPr lang="zh-CN" altLang="en-US" dirty="0"/>
              <a:t>发生变化</a:t>
            </a:r>
            <a:r>
              <a:rPr lang="zh-CN" altLang="en-US" b="1" dirty="0"/>
              <a:t>实例数据发生变化</a:t>
            </a:r>
            <a:endParaRPr lang="en-US" altLang="zh-CN" b="1" dirty="0"/>
          </a:p>
          <a:p>
            <a:r>
              <a:rPr lang="zh-CN" altLang="en-US" dirty="0"/>
              <a:t>每个 </a:t>
            </a:r>
            <a:r>
              <a:rPr lang="en-US" altLang="zh-CN" dirty="0" err="1"/>
              <a:t>sid</a:t>
            </a:r>
            <a:r>
              <a:rPr lang="en-US" altLang="zh-CN" dirty="0"/>
              <a:t> </a:t>
            </a:r>
            <a:r>
              <a:rPr lang="zh-CN" altLang="en-US" dirty="0"/>
              <a:t>都必须唯一</a:t>
            </a:r>
            <a:r>
              <a:rPr lang="zh-CN" altLang="en-US" b="1" dirty="0"/>
              <a:t>唯一性约束／键约束（</a:t>
            </a:r>
            <a:r>
              <a:rPr lang="en-US" altLang="zh-CN" b="1" dirty="0"/>
              <a:t>Key constraint</a:t>
            </a:r>
            <a:r>
              <a:rPr lang="zh-CN" altLang="en-US" b="1" dirty="0"/>
              <a:t>）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建议用时：4 </a:t>
            </a:r>
            <a:r>
              <a:rPr dirty="0" err="1"/>
              <a:t>分钟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“原子值”是指：</a:t>
            </a:r>
            <a:r>
              <a:rPr lang="zh-CN" altLang="en-US" b="1" dirty="0"/>
              <a:t>在当前数据库设计和业务需求下，一个单元格中只保存一个不可再作为独立数据处理的值。</a:t>
            </a:r>
            <a:endParaRPr lang="en-US" altLang="zh-CN" b="1" dirty="0"/>
          </a:p>
          <a:p>
            <a:endParaRPr dirty="0"/>
          </a:p>
          <a:p>
            <a:r>
              <a:rPr dirty="0" err="1"/>
              <a:t>以电话号码列表说明原子性。演示</a:t>
            </a:r>
            <a:r>
              <a:rPr dirty="0"/>
              <a:t> </a:t>
            </a:r>
            <a:r>
              <a:rPr dirty="0" err="1"/>
              <a:t>gpa</a:t>
            </a:r>
            <a:r>
              <a:rPr dirty="0"/>
              <a:t> = NULL </a:t>
            </a:r>
            <a:r>
              <a:rPr dirty="0" err="1"/>
              <a:t>无法找到缺失</a:t>
            </a:r>
            <a:r>
              <a:rPr dirty="0"/>
              <a:t> </a:t>
            </a:r>
            <a:r>
              <a:rPr dirty="0" err="1"/>
              <a:t>GPA，因为结果为</a:t>
            </a:r>
            <a:r>
              <a:rPr dirty="0"/>
              <a:t> </a:t>
            </a:r>
            <a:r>
              <a:rPr dirty="0" err="1"/>
              <a:t>UNKNOWN。一个值是否原子，取决于域的定义和系统需要支持的操作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答案：错误、正确、错误、正确。元组次序不属于关系语义。键来自业务语义，不能只根据当前样本数据判断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**弱实体（</a:t>
            </a:r>
            <a:r>
              <a:rPr lang="en-US" altLang="zh-CN" dirty="0"/>
              <a:t>Weak Entity</a:t>
            </a:r>
            <a:r>
              <a:rPr lang="zh-CN" altLang="en-US" dirty="0"/>
              <a:t>）**是指：</a:t>
            </a:r>
            <a:r>
              <a:rPr lang="zh-CN" altLang="en-US" b="1" dirty="0"/>
              <a:t>仅靠自身属性无法被唯一标识，必须借助另一个实体的主键才能确定身份的实体。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这里使用两个表，是因为图中存在两类不同的实体：</a:t>
            </a:r>
          </a:p>
          <a:p>
            <a:r>
              <a:rPr lang="en-US" altLang="zh-CN" dirty="0"/>
              <a:t>ES</a:t>
            </a:r>
            <a:r>
              <a:rPr lang="zh-CN" altLang="en-US" dirty="0"/>
              <a:t>：强实体，可以独立存在。</a:t>
            </a:r>
          </a:p>
          <a:p>
            <a:r>
              <a:rPr lang="en-US" altLang="zh-CN" dirty="0"/>
              <a:t>EW</a:t>
            </a:r>
            <a:r>
              <a:rPr lang="zh-CN" altLang="en-US" dirty="0"/>
              <a:t>：弱实体，依赖某个 </a:t>
            </a:r>
            <a:r>
              <a:rPr lang="en-US" altLang="zh-CN" dirty="0"/>
              <a:t>ES </a:t>
            </a:r>
            <a:r>
              <a:rPr lang="zh-CN" altLang="en-US" dirty="0"/>
              <a:t>存在，但仍然是独立的一组对象。</a:t>
            </a:r>
          </a:p>
          <a:p>
            <a:r>
              <a:rPr lang="zh-CN" altLang="en-US" dirty="0"/>
              <a:t>它们之间是 </a:t>
            </a:r>
            <a:r>
              <a:rPr lang="en-US" altLang="zh-CN" b="1" dirty="0"/>
              <a:t>1:N</a:t>
            </a:r>
            <a:r>
              <a:rPr lang="en-US" altLang="zh-CN" dirty="0"/>
              <a:t> </a:t>
            </a:r>
            <a:r>
              <a:rPr lang="zh-CN" altLang="en-US" dirty="0"/>
              <a:t>关系：一个 </a:t>
            </a:r>
            <a:r>
              <a:rPr lang="en-US" altLang="zh-CN" dirty="0"/>
              <a:t>ES </a:t>
            </a:r>
            <a:r>
              <a:rPr lang="zh-CN" altLang="en-US" dirty="0"/>
              <a:t>可以对应多个 </a:t>
            </a:r>
            <a:r>
              <a:rPr lang="en-US" altLang="zh-CN" dirty="0"/>
              <a:t>EW</a:t>
            </a:r>
            <a:r>
              <a:rPr lang="zh-CN" altLang="en-US" dirty="0"/>
              <a:t>。因此不能简单合成一张表，否则每出现一个弱实体，都要重复保存一遍强实体的数据。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R(</a:t>
            </a:r>
          </a:p>
          <a:p>
            <a:r>
              <a:rPr lang="en-US" dirty="0"/>
              <a:t>    s1, ..., </a:t>
            </a:r>
            <a:r>
              <a:rPr lang="en-US" dirty="0" err="1"/>
              <a:t>sr</a:t>
            </a:r>
            <a:r>
              <a:rPr lang="en-US" dirty="0"/>
              <a:t>,</a:t>
            </a:r>
          </a:p>
          <a:p>
            <a:r>
              <a:rPr lang="en-US" dirty="0"/>
              <a:t>    w1, ..., </a:t>
            </a:r>
            <a:r>
              <a:rPr lang="en-US" dirty="0" err="1"/>
              <a:t>wq</a:t>
            </a:r>
            <a:r>
              <a:rPr lang="en-US" dirty="0"/>
              <a:t>,</a:t>
            </a:r>
          </a:p>
          <a:p>
            <a:r>
              <a:rPr lang="en-US" dirty="0"/>
              <a:t>    A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zh-CN" altLang="en-US" dirty="0"/>
              <a:t>其中：</a:t>
            </a:r>
          </a:p>
          <a:p>
            <a:r>
              <a:rPr lang="en-US" altLang="zh-CN" dirty="0"/>
              <a:t>(s1, ..., </a:t>
            </a:r>
            <a:r>
              <a:rPr lang="en-US" altLang="zh-CN" dirty="0" err="1"/>
              <a:t>sr</a:t>
            </a:r>
            <a:r>
              <a:rPr lang="en-US" altLang="zh-CN" dirty="0"/>
              <a:t>) </a:t>
            </a:r>
            <a:r>
              <a:rPr lang="zh-CN" altLang="en-US" dirty="0"/>
              <a:t>是指向 </a:t>
            </a:r>
            <a:r>
              <a:rPr lang="en-US" altLang="zh-CN" dirty="0" err="1"/>
              <a:t>Ea</a:t>
            </a:r>
            <a:r>
              <a:rPr lang="en-US" altLang="zh-CN" dirty="0"/>
              <a:t> </a:t>
            </a:r>
            <a:r>
              <a:rPr lang="zh-CN" altLang="en-US" dirty="0"/>
              <a:t>的外键。</a:t>
            </a:r>
          </a:p>
          <a:p>
            <a:r>
              <a:rPr lang="en-US" altLang="zh-CN" dirty="0"/>
              <a:t>(w1, ..., </a:t>
            </a:r>
            <a:r>
              <a:rPr lang="en-US" altLang="zh-CN" dirty="0" err="1"/>
              <a:t>wq</a:t>
            </a:r>
            <a:r>
              <a:rPr lang="en-US" altLang="zh-CN" dirty="0"/>
              <a:t>) </a:t>
            </a:r>
            <a:r>
              <a:rPr lang="zh-CN" altLang="en-US" dirty="0"/>
              <a:t>是指向 </a:t>
            </a:r>
            <a:r>
              <a:rPr lang="en-US" altLang="zh-CN" dirty="0"/>
              <a:t>Eb </a:t>
            </a:r>
            <a:r>
              <a:rPr lang="zh-CN" altLang="en-US" dirty="0"/>
              <a:t>的外键。</a:t>
            </a:r>
          </a:p>
          <a:p>
            <a:r>
              <a:rPr lang="zh-CN" altLang="en-US" dirty="0"/>
              <a:t>两组外键合在一起通常构成 </a:t>
            </a:r>
            <a:r>
              <a:rPr lang="en-US" altLang="zh-CN" dirty="0"/>
              <a:t>R </a:t>
            </a:r>
            <a:r>
              <a:rPr lang="zh-CN" altLang="en-US" dirty="0"/>
              <a:t>的主键。</a:t>
            </a:r>
          </a:p>
          <a:p>
            <a:r>
              <a:rPr lang="en-US" altLang="zh-CN" dirty="0"/>
              <a:t>A </a:t>
            </a:r>
            <a:r>
              <a:rPr lang="zh-CN" altLang="en-US" dirty="0"/>
              <a:t>是这一次关联本身的属性。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建议用时：6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让各组草拟关系模式。提醒学生把实体副本与书目的</a:t>
            </a:r>
            <a:r>
              <a:rPr dirty="0"/>
              <a:t> Book </a:t>
            </a:r>
            <a:r>
              <a:rPr dirty="0" err="1"/>
              <a:t>分开建模。追问：同一本书在不同时间多次借出时，模型如何记录</a:t>
            </a:r>
            <a:r>
              <a:rPr dirty="0"/>
              <a:t>？</a:t>
            </a:r>
            <a:endParaRPr lang="en-US" dirty="0"/>
          </a:p>
          <a:p>
            <a:endParaRPr lang="en-US" dirty="0"/>
          </a:p>
          <a:p>
            <a:r>
              <a:rPr lang="en-US" dirty="0"/>
              <a:t>Borrower(</a:t>
            </a:r>
          </a:p>
          <a:p>
            <a:r>
              <a:rPr lang="en-US" dirty="0"/>
              <a:t>    bid        PRIMARY KEY,</a:t>
            </a:r>
          </a:p>
          <a:p>
            <a:r>
              <a:rPr lang="en-US" dirty="0"/>
              <a:t>    name       NOT NULL,</a:t>
            </a:r>
          </a:p>
          <a:p>
            <a:r>
              <a:rPr lang="en-US" dirty="0"/>
              <a:t>    email      NOT NULL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Book(</a:t>
            </a:r>
          </a:p>
          <a:p>
            <a:r>
              <a:rPr lang="en-US" dirty="0"/>
              <a:t>    ISBN       PRIMARY KEY,</a:t>
            </a:r>
          </a:p>
          <a:p>
            <a:r>
              <a:rPr lang="en-US" dirty="0"/>
              <a:t>    title      NOT NULL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BookCopy</a:t>
            </a:r>
            <a:r>
              <a:rPr lang="en-US" dirty="0"/>
              <a:t>(</a:t>
            </a:r>
          </a:p>
          <a:p>
            <a:r>
              <a:rPr lang="en-US" dirty="0"/>
              <a:t>    ISBN       FOREIGN KEY → </a:t>
            </a:r>
            <a:r>
              <a:rPr lang="en-US" dirty="0" err="1"/>
              <a:t>Book.ISBN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copy_id</a:t>
            </a:r>
            <a:r>
              <a:rPr lang="en-US" dirty="0"/>
              <a:t>,</a:t>
            </a:r>
          </a:p>
          <a:p>
            <a:r>
              <a:rPr lang="en-US" dirty="0"/>
              <a:t>    PRIMARY KEY (ISBN, </a:t>
            </a:r>
            <a:r>
              <a:rPr lang="en-US" dirty="0" err="1"/>
              <a:t>copy_id</a:t>
            </a:r>
            <a:r>
              <a:rPr lang="en-US" dirty="0"/>
              <a:t>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Loan(</a:t>
            </a:r>
          </a:p>
          <a:p>
            <a:r>
              <a:rPr lang="en-US" dirty="0"/>
              <a:t>    </a:t>
            </a:r>
            <a:r>
              <a:rPr lang="en-US" dirty="0" err="1"/>
              <a:t>loan_id</a:t>
            </a:r>
            <a:r>
              <a:rPr lang="en-US" dirty="0"/>
              <a:t>         PRIMARY KEY,</a:t>
            </a:r>
          </a:p>
          <a:p>
            <a:r>
              <a:rPr lang="en-US" dirty="0"/>
              <a:t>    bid             FOREIGN KEY → </a:t>
            </a:r>
            <a:r>
              <a:rPr lang="en-US" dirty="0" err="1"/>
              <a:t>Borrower.bid</a:t>
            </a:r>
            <a:r>
              <a:rPr lang="en-US" dirty="0"/>
              <a:t>,</a:t>
            </a:r>
          </a:p>
          <a:p>
            <a:r>
              <a:rPr lang="en-US" dirty="0"/>
              <a:t>    ISBN,</a:t>
            </a:r>
          </a:p>
          <a:p>
            <a:r>
              <a:rPr lang="en-US" dirty="0"/>
              <a:t>    </a:t>
            </a:r>
            <a:r>
              <a:rPr lang="en-US" dirty="0" err="1"/>
              <a:t>copy_id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checkout_date</a:t>
            </a:r>
            <a:r>
              <a:rPr lang="en-US" dirty="0"/>
              <a:t>   NOT NULL,</a:t>
            </a:r>
          </a:p>
          <a:p>
            <a:r>
              <a:rPr lang="en-US" dirty="0"/>
              <a:t>    </a:t>
            </a:r>
            <a:r>
              <a:rPr lang="en-US" dirty="0" err="1"/>
              <a:t>due_date</a:t>
            </a:r>
            <a:r>
              <a:rPr lang="en-US" dirty="0"/>
              <a:t>        NOT NULL,</a:t>
            </a:r>
          </a:p>
          <a:p>
            <a:r>
              <a:rPr lang="en-US" dirty="0"/>
              <a:t>    </a:t>
            </a:r>
            <a:r>
              <a:rPr lang="en-US" dirty="0" err="1"/>
              <a:t>return_date</a:t>
            </a:r>
            <a:r>
              <a:rPr lang="en-US" dirty="0"/>
              <a:t>     NULL,</a:t>
            </a:r>
          </a:p>
          <a:p>
            <a:endParaRPr lang="en-US" dirty="0"/>
          </a:p>
          <a:p>
            <a:r>
              <a:rPr lang="en-US" dirty="0"/>
              <a:t>    FOREIGN KEY (ISBN, </a:t>
            </a:r>
            <a:r>
              <a:rPr lang="en-US" dirty="0" err="1"/>
              <a:t>copy_id</a:t>
            </a:r>
            <a:r>
              <a:rPr lang="en-US" dirty="0"/>
              <a:t>)</a:t>
            </a:r>
          </a:p>
          <a:p>
            <a:r>
              <a:rPr lang="en-US" dirty="0"/>
              <a:t>        → </a:t>
            </a:r>
            <a:r>
              <a:rPr lang="en-US" dirty="0" err="1"/>
              <a:t>BookCopy</a:t>
            </a:r>
            <a:r>
              <a:rPr lang="en-US" dirty="0"/>
              <a:t>(ISBN, </a:t>
            </a:r>
            <a:r>
              <a:rPr lang="en-US" dirty="0" err="1"/>
              <a:t>copy_id</a:t>
            </a:r>
            <a:r>
              <a:rPr lang="en-US" dirty="0"/>
              <a:t>)</a:t>
            </a:r>
          </a:p>
          <a:p>
            <a:r>
              <a:rPr lang="en-US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讨论</a:t>
            </a:r>
            <a:r>
              <a:rPr dirty="0"/>
              <a:t> Loan </a:t>
            </a:r>
            <a:r>
              <a:rPr dirty="0" err="1"/>
              <a:t>的其他键设计。使用代理键</a:t>
            </a:r>
            <a:r>
              <a:rPr dirty="0"/>
              <a:t> </a:t>
            </a:r>
            <a:r>
              <a:rPr dirty="0" err="1"/>
              <a:t>loan_id</a:t>
            </a:r>
            <a:r>
              <a:rPr dirty="0"/>
              <a:t> </a:t>
            </a:r>
            <a:r>
              <a:rPr dirty="0" err="1"/>
              <a:t>也合理，但仍需用约束表达自然唯一性规则。根据</a:t>
            </a:r>
            <a:r>
              <a:rPr dirty="0"/>
              <a:t> DBMS </a:t>
            </a:r>
            <a:r>
              <a:rPr dirty="0" err="1"/>
              <a:t>的能力，正在借阅中的唯一性规则可能需要过滤唯一索引或事务逻辑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建议用时：</a:t>
            </a:r>
            <a:r>
              <a:rPr lang="en-US" altLang="zh-CN" dirty="0"/>
              <a:t>6 </a:t>
            </a:r>
            <a:r>
              <a:rPr lang="zh-CN" altLang="en-US" dirty="0"/>
              <a:t>分钟。</a:t>
            </a:r>
          </a:p>
          <a:p>
            <a:r>
              <a:rPr lang="zh-CN" altLang="en-US" dirty="0"/>
              <a:t>让各组草拟关系模式。提醒学生把实体副本与书目的 </a:t>
            </a:r>
            <a:r>
              <a:rPr lang="en-US" altLang="zh-CN" dirty="0"/>
              <a:t>Book </a:t>
            </a:r>
            <a:r>
              <a:rPr lang="zh-CN" altLang="en-US" dirty="0"/>
              <a:t>分开建模。追问：同一本书在不同时间多次借出时，模型如何记录？</a:t>
            </a:r>
          </a:p>
          <a:p>
            <a:endParaRPr lang="zh-CN" altLang="en-US" dirty="0"/>
          </a:p>
          <a:p>
            <a:r>
              <a:rPr lang="en-US" altLang="zh-CN" dirty="0"/>
              <a:t>Borrower(</a:t>
            </a:r>
          </a:p>
          <a:p>
            <a:r>
              <a:rPr lang="en-US" altLang="zh-CN" dirty="0"/>
              <a:t>    bid        PRIMARY KEY,</a:t>
            </a:r>
          </a:p>
          <a:p>
            <a:r>
              <a:rPr lang="en-US" altLang="zh-CN" dirty="0"/>
              <a:t>    name       NOT NULL,</a:t>
            </a:r>
          </a:p>
          <a:p>
            <a:r>
              <a:rPr lang="en-US" altLang="zh-CN" dirty="0"/>
              <a:t>    email      NOT NULL</a:t>
            </a:r>
          </a:p>
          <a:p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/>
              <a:t>Book(</a:t>
            </a:r>
          </a:p>
          <a:p>
            <a:r>
              <a:rPr lang="en-US" altLang="zh-CN" dirty="0"/>
              <a:t>    ISBN       PRIMARY KEY,</a:t>
            </a:r>
          </a:p>
          <a:p>
            <a:r>
              <a:rPr lang="en-US" altLang="zh-CN" dirty="0"/>
              <a:t>    title      NOT NULL</a:t>
            </a:r>
          </a:p>
          <a:p>
            <a:r>
              <a:rPr lang="en-US" altLang="zh-CN" dirty="0"/>
              <a:t>)</a:t>
            </a:r>
          </a:p>
          <a:p>
            <a:endParaRPr lang="en-US" altLang="zh-CN" dirty="0"/>
          </a:p>
          <a:p>
            <a:r>
              <a:rPr lang="en-US" altLang="zh-CN" dirty="0" err="1"/>
              <a:t>BookCopy</a:t>
            </a:r>
            <a:r>
              <a:rPr lang="en-US" altLang="zh-CN" dirty="0"/>
              <a:t>(</a:t>
            </a:r>
          </a:p>
          <a:p>
            <a:r>
              <a:rPr lang="en-US" altLang="zh-CN" dirty="0"/>
              <a:t>    ISBN       FOREIGN KEY → </a:t>
            </a:r>
            <a:r>
              <a:rPr lang="en-US" altLang="zh-CN" dirty="0" err="1"/>
              <a:t>Book.ISBN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copy_id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PRIMARY KEY (ISBN, </a:t>
            </a:r>
            <a:r>
              <a:rPr lang="en-US" altLang="zh-CN" dirty="0" err="1"/>
              <a:t>copy_id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)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Loan(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loan_id</a:t>
            </a:r>
            <a:r>
              <a:rPr lang="en-US" altLang="zh-CN" dirty="0"/>
              <a:t>         PRIMARY KEY,</a:t>
            </a:r>
          </a:p>
          <a:p>
            <a:r>
              <a:rPr lang="en-US" altLang="zh-CN" dirty="0"/>
              <a:t>    bid             FOREIGN KEY → </a:t>
            </a:r>
            <a:r>
              <a:rPr lang="en-US" altLang="zh-CN" dirty="0" err="1"/>
              <a:t>Borrower.bid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ISBN,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copy_id</a:t>
            </a:r>
            <a:r>
              <a:rPr lang="en-US" altLang="zh-CN" dirty="0"/>
              <a:t>,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checkout_date</a:t>
            </a:r>
            <a:r>
              <a:rPr lang="en-US" altLang="zh-CN" dirty="0"/>
              <a:t>   NOT NULL,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due_date</a:t>
            </a:r>
            <a:r>
              <a:rPr lang="en-US" altLang="zh-CN" dirty="0"/>
              <a:t>        NOT NULL,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return_date</a:t>
            </a:r>
            <a:r>
              <a:rPr lang="en-US" altLang="zh-CN" dirty="0"/>
              <a:t>     NULL,</a:t>
            </a:r>
          </a:p>
          <a:p>
            <a:endParaRPr lang="en-US" altLang="zh-CN" dirty="0"/>
          </a:p>
          <a:p>
            <a:r>
              <a:rPr lang="en-US" altLang="zh-CN" dirty="0"/>
              <a:t>    FOREIGN KEY (ISBN, </a:t>
            </a:r>
            <a:r>
              <a:rPr lang="en-US" altLang="zh-CN" dirty="0" err="1"/>
              <a:t>copy_id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        → </a:t>
            </a:r>
            <a:r>
              <a:rPr lang="en-US" altLang="zh-CN" dirty="0" err="1"/>
              <a:t>BookCopy</a:t>
            </a:r>
            <a:r>
              <a:rPr lang="en-US" altLang="zh-CN" dirty="0"/>
              <a:t>(ISBN, </a:t>
            </a:r>
            <a:r>
              <a:rPr lang="en-US" altLang="zh-CN" dirty="0" err="1"/>
              <a:t>copy_id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)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t>教学节奏：基础 SQL 与约束共 65 分钟，之后休息。</a:t>
            </a:r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建议用时：2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把这些类别与原有</a:t>
            </a:r>
            <a:r>
              <a:rPr dirty="0"/>
              <a:t> DDL、DML </a:t>
            </a:r>
            <a:r>
              <a:rPr dirty="0" err="1"/>
              <a:t>幻灯片联系起来。强调</a:t>
            </a:r>
            <a:r>
              <a:rPr dirty="0"/>
              <a:t> SQL </a:t>
            </a:r>
            <a:r>
              <a:rPr dirty="0" err="1"/>
              <a:t>是声明式语言，用户说明想要的结果或约束，DBMS</a:t>
            </a:r>
            <a:r>
              <a:rPr dirty="0"/>
              <a:t> </a:t>
            </a:r>
            <a:r>
              <a:rPr dirty="0" err="1"/>
              <a:t>负责选择执行计划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询问哪些规则应由数据库负责，哪些规则只适合放在应用程序中。不同 DBMS 产品支持的具体类型名称和范围可能不同。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逐行解释定义。询问在常见</a:t>
            </a:r>
            <a:r>
              <a:rPr dirty="0"/>
              <a:t> SQL </a:t>
            </a:r>
            <a:r>
              <a:rPr dirty="0" err="1"/>
              <a:t>语义下，NULL</a:t>
            </a:r>
            <a:r>
              <a:rPr dirty="0"/>
              <a:t> </a:t>
            </a:r>
            <a:r>
              <a:rPr dirty="0" err="1"/>
              <a:t>是否通过</a:t>
            </a:r>
            <a:r>
              <a:rPr dirty="0"/>
              <a:t> age </a:t>
            </a:r>
            <a:r>
              <a:rPr dirty="0" err="1"/>
              <a:t>的</a:t>
            </a:r>
            <a:r>
              <a:rPr dirty="0"/>
              <a:t> </a:t>
            </a:r>
            <a:r>
              <a:rPr dirty="0" err="1"/>
              <a:t>CHECK。通常会通过，因为条件结果是</a:t>
            </a:r>
            <a:r>
              <a:rPr dirty="0"/>
              <a:t> </a:t>
            </a:r>
            <a:r>
              <a:rPr dirty="0" err="1"/>
              <a:t>UNKNOWN。如果</a:t>
            </a:r>
            <a:r>
              <a:rPr dirty="0"/>
              <a:t> age </a:t>
            </a:r>
            <a:r>
              <a:rPr dirty="0" err="1"/>
              <a:t>必须已知，还应增加</a:t>
            </a:r>
            <a:r>
              <a:rPr dirty="0"/>
              <a:t> NOT NULL。</a:t>
            </a:r>
            <a:endParaRPr lang="en-US" dirty="0"/>
          </a:p>
          <a:p>
            <a:endParaRPr lang="en-US" dirty="0"/>
          </a:p>
          <a:p>
            <a:r>
              <a:rPr lang="en-US" altLang="zh-CN" dirty="0"/>
              <a:t>DECIMAL(3,2)</a:t>
            </a:r>
            <a:r>
              <a:rPr lang="zh-CN" altLang="en-US" dirty="0"/>
              <a:t>：总共最多 </a:t>
            </a:r>
            <a:r>
              <a:rPr lang="en-US" altLang="zh-CN" b="1" dirty="0"/>
              <a:t>3 </a:t>
            </a:r>
            <a:r>
              <a:rPr lang="zh-CN" altLang="en-US" b="1" dirty="0"/>
              <a:t>位数字</a:t>
            </a:r>
            <a:r>
              <a:rPr lang="zh-CN" altLang="en-US" dirty="0"/>
              <a:t>，其中 </a:t>
            </a:r>
            <a:r>
              <a:rPr lang="en-US" altLang="zh-CN" b="1" dirty="0"/>
              <a:t>2 </a:t>
            </a:r>
            <a:r>
              <a:rPr lang="zh-CN" altLang="en-US" b="1" dirty="0"/>
              <a:t>位在小数点后</a:t>
            </a:r>
            <a:r>
              <a:rPr lang="zh-CN" altLang="en-US" dirty="0"/>
              <a:t>，例如 </a:t>
            </a:r>
            <a:r>
              <a:rPr lang="en-US" altLang="zh-CN" dirty="0"/>
              <a:t>3.75</a:t>
            </a:r>
            <a:r>
              <a:rPr lang="zh-CN" altLang="en-US" dirty="0"/>
              <a:t>、</a:t>
            </a:r>
            <a:r>
              <a:rPr lang="en-US" altLang="zh-CN" dirty="0"/>
              <a:t>4.00</a:t>
            </a:r>
            <a:r>
              <a:rPr lang="zh-CN" altLang="en-US" dirty="0"/>
              <a:t>、</a:t>
            </a:r>
            <a:r>
              <a:rPr lang="en-US" altLang="zh-CN" dirty="0"/>
              <a:t>9.99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没有写 </a:t>
            </a:r>
            <a:r>
              <a:rPr lang="en-US" altLang="zh-CN" dirty="0"/>
              <a:t>NOT NULL</a:t>
            </a:r>
            <a:r>
              <a:rPr lang="zh-CN" altLang="en-US" dirty="0"/>
              <a:t>，因此 </a:t>
            </a:r>
            <a:r>
              <a:rPr lang="en-US" altLang="zh-CN" dirty="0" err="1"/>
              <a:t>gpa</a:t>
            </a:r>
            <a:r>
              <a:rPr lang="en-US" altLang="zh-CN" dirty="0"/>
              <a:t> </a:t>
            </a:r>
            <a:r>
              <a:rPr lang="zh-CN" altLang="en-US" b="1" dirty="0"/>
              <a:t>可以为 </a:t>
            </a:r>
            <a:r>
              <a:rPr lang="en-US" altLang="zh-CN" b="1" dirty="0"/>
              <a:t>NULL</a:t>
            </a:r>
            <a:r>
              <a:rPr lang="zh-CN" altLang="en-US" dirty="0"/>
              <a:t>，表示 </a:t>
            </a:r>
            <a:r>
              <a:rPr lang="en-US" altLang="zh-CN" dirty="0"/>
              <a:t>GPA </a:t>
            </a:r>
            <a:r>
              <a:rPr lang="zh-CN" altLang="en-US" dirty="0"/>
              <a:t>尚未计算或未知。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诊断：INSERT</a:t>
            </a:r>
            <a:r>
              <a:rPr dirty="0"/>
              <a:t> </a:t>
            </a:r>
            <a:r>
              <a:rPr dirty="0" err="1"/>
              <a:t>依赖列顺序，应明确列名。UPDATE</a:t>
            </a:r>
            <a:r>
              <a:rPr dirty="0"/>
              <a:t> </a:t>
            </a:r>
            <a:r>
              <a:rPr dirty="0" err="1"/>
              <a:t>没有</a:t>
            </a:r>
            <a:r>
              <a:rPr dirty="0"/>
              <a:t> </a:t>
            </a:r>
            <a:r>
              <a:rPr dirty="0" err="1"/>
              <a:t>WHERE，因此会修改每一行。DELETE</a:t>
            </a:r>
            <a:r>
              <a:rPr dirty="0"/>
              <a:t> </a:t>
            </a:r>
            <a:r>
              <a:rPr dirty="0" err="1"/>
              <a:t>匹配不到任何行，因为</a:t>
            </a:r>
            <a:r>
              <a:rPr dirty="0"/>
              <a:t> </a:t>
            </a:r>
            <a:r>
              <a:rPr dirty="0" err="1"/>
              <a:t>gpa</a:t>
            </a:r>
            <a:r>
              <a:rPr dirty="0"/>
              <a:t> = NULL </a:t>
            </a:r>
            <a:r>
              <a:rPr dirty="0" err="1"/>
              <a:t>的结果为</a:t>
            </a:r>
            <a:r>
              <a:rPr dirty="0"/>
              <a:t> </a:t>
            </a:r>
            <a:r>
              <a:rPr dirty="0" err="1"/>
              <a:t>UNKNOWN，应使用</a:t>
            </a:r>
            <a:r>
              <a:rPr dirty="0"/>
              <a:t> IS </a:t>
            </a:r>
            <a:r>
              <a:rPr dirty="0" err="1"/>
              <a:t>NULL。强调事务和预览用</a:t>
            </a:r>
            <a:r>
              <a:rPr dirty="0"/>
              <a:t> SELECT </a:t>
            </a:r>
            <a:r>
              <a:rPr dirty="0" err="1"/>
              <a:t>能提高批量修改的安全性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请学生判断</a:t>
            </a:r>
            <a:r>
              <a:rPr dirty="0"/>
              <a:t> </a:t>
            </a:r>
            <a:r>
              <a:rPr dirty="0" err="1"/>
              <a:t>gpa</a:t>
            </a:r>
            <a:r>
              <a:rPr dirty="0"/>
              <a:t> </a:t>
            </a:r>
            <a:r>
              <a:rPr dirty="0" err="1"/>
              <a:t>为</a:t>
            </a:r>
            <a:r>
              <a:rPr dirty="0"/>
              <a:t> NULL </a:t>
            </a:r>
            <a:r>
              <a:rPr dirty="0" err="1"/>
              <a:t>时，哪些谓词可能得到</a:t>
            </a:r>
            <a:r>
              <a:rPr dirty="0"/>
              <a:t> </a:t>
            </a:r>
            <a:r>
              <a:rPr dirty="0" err="1"/>
              <a:t>UNKNOWN。比较运算与</a:t>
            </a:r>
            <a:r>
              <a:rPr dirty="0"/>
              <a:t> BETWEEN </a:t>
            </a:r>
            <a:r>
              <a:rPr dirty="0" err="1"/>
              <a:t>可能得到</a:t>
            </a:r>
            <a:r>
              <a:rPr dirty="0"/>
              <a:t> UNKNOWN，IS NULL </a:t>
            </a:r>
            <a:r>
              <a:rPr dirty="0" err="1"/>
              <a:t>只得到</a:t>
            </a:r>
            <a:r>
              <a:rPr dirty="0"/>
              <a:t> TRUE </a:t>
            </a:r>
            <a:r>
              <a:rPr dirty="0" err="1"/>
              <a:t>或</a:t>
            </a:r>
            <a:r>
              <a:rPr dirty="0"/>
              <a:t> </a:t>
            </a:r>
            <a:r>
              <a:rPr dirty="0" err="1"/>
              <a:t>FALSE。说明通配符语法可能因</a:t>
            </a:r>
            <a:r>
              <a:rPr dirty="0"/>
              <a:t> DBMS </a:t>
            </a:r>
            <a:r>
              <a:rPr dirty="0" err="1"/>
              <a:t>而异，但百分号得到广泛支持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谓词结果</a:t>
            </a:r>
            <a:endParaRPr lang="en-US" altLang="zh-CN" dirty="0"/>
          </a:p>
          <a:p>
            <a:r>
              <a:rPr lang="en-US" altLang="zh-CN" dirty="0" err="1"/>
              <a:t>gpa</a:t>
            </a:r>
            <a:r>
              <a:rPr lang="en-US" altLang="zh-CN" dirty="0"/>
              <a:t> &gt; 3.00		UNKNOWN</a:t>
            </a:r>
          </a:p>
          <a:p>
            <a:r>
              <a:rPr lang="en-US" altLang="zh-CN" dirty="0" err="1"/>
              <a:t>gpa</a:t>
            </a:r>
            <a:r>
              <a:rPr lang="en-US" altLang="zh-CN" dirty="0"/>
              <a:t> = 3.00		UNKNOWN</a:t>
            </a:r>
          </a:p>
          <a:p>
            <a:r>
              <a:rPr lang="en-US" altLang="zh-CN" dirty="0" err="1"/>
              <a:t>gpa</a:t>
            </a:r>
            <a:r>
              <a:rPr lang="en-US" altLang="zh-CN" dirty="0"/>
              <a:t> BETWEEN 3.00 AND 4.00	UNKNOWN</a:t>
            </a:r>
          </a:p>
          <a:p>
            <a:r>
              <a:rPr lang="en-US" altLang="zh-CN" dirty="0" err="1"/>
              <a:t>gpa</a:t>
            </a:r>
            <a:r>
              <a:rPr lang="en-US" altLang="zh-CN" dirty="0"/>
              <a:t> IN (3.00, 4.00)	UNKNOWN</a:t>
            </a:r>
          </a:p>
          <a:p>
            <a:r>
              <a:rPr lang="en-US" altLang="zh-CN" dirty="0" err="1"/>
              <a:t>gpa</a:t>
            </a:r>
            <a:r>
              <a:rPr lang="en-US" altLang="zh-CN" dirty="0"/>
              <a:t> IS NULL	TRUE</a:t>
            </a:r>
          </a:p>
          <a:p>
            <a:r>
              <a:rPr lang="en-US" altLang="zh-CN" dirty="0" err="1"/>
              <a:t>gpa</a:t>
            </a:r>
            <a:r>
              <a:rPr lang="en-US" altLang="zh-CN" dirty="0"/>
              <a:t> IS NOT NULL	FALSE</a:t>
            </a:r>
            <a:endParaRPr lang="en-US" dirty="0"/>
          </a:p>
          <a:p>
            <a:endParaRPr lang="en-US" dirty="0"/>
          </a:p>
          <a:p>
            <a:r>
              <a:rPr lang="en-US" altLang="zh-CN" dirty="0"/>
              <a:t>LIKE </a:t>
            </a:r>
            <a:r>
              <a:rPr lang="zh-CN" altLang="en-US" dirty="0"/>
              <a:t>常用两个通配符：</a:t>
            </a:r>
          </a:p>
          <a:p>
            <a:r>
              <a:rPr lang="en-US" altLang="zh-CN" dirty="0"/>
              <a:t>%</a:t>
            </a:r>
            <a:r>
              <a:rPr lang="zh-CN" altLang="en-US" dirty="0"/>
              <a:t>：匹配零个或多个任意字符。</a:t>
            </a:r>
          </a:p>
          <a:p>
            <a:r>
              <a:rPr lang="en-US" altLang="zh-CN" dirty="0"/>
              <a:t>_</a:t>
            </a:r>
            <a:r>
              <a:rPr lang="zh-CN" altLang="en-US" dirty="0"/>
              <a:t>：匹配恰好一个任意字符。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建议用时：2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对比关系本身的无序性与查询结果的排序。指出</a:t>
            </a:r>
            <a:r>
              <a:rPr dirty="0"/>
              <a:t> DISTINCT </a:t>
            </a:r>
            <a:r>
              <a:rPr dirty="0" err="1"/>
              <a:t>作用于</a:t>
            </a:r>
            <a:r>
              <a:rPr dirty="0"/>
              <a:t> SELECT </a:t>
            </a:r>
            <a:r>
              <a:rPr dirty="0" err="1"/>
              <a:t>返回的完整行。如果只选择一列，它才只针对该列去重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建议用时：4 </a:t>
            </a:r>
            <a:r>
              <a:rPr dirty="0" err="1"/>
              <a:t>分钟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zh-CN" altLang="en-US" b="1" dirty="0"/>
              <a:t>内连接（</a:t>
            </a:r>
            <a:r>
              <a:rPr lang="en-US" altLang="zh-CN" b="1" dirty="0"/>
              <a:t>INNER JOIN</a:t>
            </a:r>
            <a:r>
              <a:rPr lang="zh-CN" altLang="en-US" b="1" dirty="0"/>
              <a:t>）用于把两张表中满足连接条件的行组合起来</a:t>
            </a:r>
            <a:r>
              <a:rPr lang="zh-CN" altLang="en-US" dirty="0"/>
              <a:t>。只有两边能够匹配的记录才会出现在结果中。</a:t>
            </a:r>
            <a:endParaRPr lang="en-US" altLang="zh-CN" dirty="0"/>
          </a:p>
          <a:p>
            <a:endParaRPr lang="en-US" dirty="0"/>
          </a:p>
          <a:p>
            <a:endParaRPr dirty="0"/>
          </a:p>
          <a:p>
            <a:r>
              <a:rPr dirty="0" err="1"/>
              <a:t>选择一条</a:t>
            </a:r>
            <a:r>
              <a:rPr dirty="0"/>
              <a:t> Enrolled </a:t>
            </a:r>
            <a:r>
              <a:rPr dirty="0" err="1"/>
              <a:t>记录，沿两个</a:t>
            </a:r>
            <a:r>
              <a:rPr dirty="0"/>
              <a:t> JOIN </a:t>
            </a:r>
            <a:r>
              <a:rPr dirty="0" err="1"/>
              <a:t>逐步追踪。询问当选课记录引用不存在的学生时会怎样。有效的外键应阻止这种状态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所有已有成绩的选课记录对应的学生姓名、课程名称和成绩。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建议用时：4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参考答案</a:t>
            </a:r>
            <a:r>
              <a:rPr dirty="0"/>
              <a:t>：</a:t>
            </a:r>
            <a:endParaRPr lang="en-US" dirty="0"/>
          </a:p>
          <a:p>
            <a:r>
              <a:rPr dirty="0"/>
              <a:t>SELECT </a:t>
            </a:r>
            <a:r>
              <a:rPr dirty="0" err="1"/>
              <a:t>s.name</a:t>
            </a:r>
            <a:r>
              <a:rPr dirty="0"/>
              <a:t>, </a:t>
            </a:r>
            <a:r>
              <a:rPr dirty="0" err="1"/>
              <a:t>c.title</a:t>
            </a:r>
            <a:r>
              <a:rPr dirty="0"/>
              <a:t> </a:t>
            </a:r>
            <a:endParaRPr lang="en-US" dirty="0"/>
          </a:p>
          <a:p>
            <a:r>
              <a:rPr dirty="0"/>
              <a:t>FROM Students AS s </a:t>
            </a:r>
            <a:endParaRPr lang="en-US" dirty="0"/>
          </a:p>
          <a:p>
            <a:r>
              <a:rPr dirty="0"/>
              <a:t>JOIN Enrolled AS e ON </a:t>
            </a:r>
            <a:r>
              <a:rPr dirty="0" err="1"/>
              <a:t>e.sid</a:t>
            </a:r>
            <a:r>
              <a:rPr dirty="0"/>
              <a:t> = </a:t>
            </a:r>
            <a:r>
              <a:rPr dirty="0" err="1"/>
              <a:t>s.sid</a:t>
            </a:r>
            <a:endParaRPr lang="en-US" dirty="0"/>
          </a:p>
          <a:p>
            <a:r>
              <a:rPr dirty="0"/>
              <a:t>JOIN Courses AS c ON </a:t>
            </a:r>
            <a:r>
              <a:rPr dirty="0" err="1"/>
              <a:t>c.cid</a:t>
            </a:r>
            <a:r>
              <a:rPr dirty="0"/>
              <a:t> = </a:t>
            </a:r>
            <a:r>
              <a:rPr dirty="0" err="1"/>
              <a:t>e.cid</a:t>
            </a:r>
            <a:r>
              <a:rPr dirty="0"/>
              <a:t> </a:t>
            </a:r>
            <a:endParaRPr lang="en-US" dirty="0"/>
          </a:p>
          <a:p>
            <a:r>
              <a:rPr dirty="0"/>
              <a:t>WHERE </a:t>
            </a:r>
            <a:r>
              <a:rPr dirty="0" err="1"/>
              <a:t>c.credits</a:t>
            </a:r>
            <a:r>
              <a:rPr dirty="0"/>
              <a:t> &gt;= 3。接受等价的连接顺序与别名。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使用包含一个 NULL GPA 的小例子。大多数聚合函数忽略 NULL，COUNT(*) 则统计所有行。询问是否应把未知 GPA 当作 0 计入平均数，答案是不应这样处理。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询问为什么</a:t>
            </a:r>
            <a:r>
              <a:rPr dirty="0"/>
              <a:t> name </a:t>
            </a:r>
            <a:r>
              <a:rPr dirty="0" err="1"/>
              <a:t>不能出现在</a:t>
            </a:r>
            <a:r>
              <a:rPr dirty="0"/>
              <a:t> SELECT </a:t>
            </a:r>
            <a:r>
              <a:rPr dirty="0" err="1"/>
              <a:t>中，除非它参与分组或聚合。说明结果中的一行代表整个组，因此无法为该组确定一个未分组的</a:t>
            </a:r>
            <a:r>
              <a:rPr dirty="0"/>
              <a:t> name。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该查询返回：</a:t>
            </a:r>
            <a:r>
              <a:rPr lang="zh-CN" altLang="en-US" b="1" dirty="0"/>
              <a:t>选课人数不少于 </a:t>
            </a:r>
            <a:r>
              <a:rPr lang="en-US" altLang="zh-CN" b="1" dirty="0"/>
              <a:t>10 </a:t>
            </a:r>
            <a:r>
              <a:rPr lang="zh-CN" altLang="en-US" b="1" dirty="0"/>
              <a:t>人的课程</a:t>
            </a:r>
            <a:r>
              <a:rPr lang="zh-CN" altLang="en-US" dirty="0"/>
              <a:t>，每门课程一行，共三列：</a:t>
            </a:r>
          </a:p>
          <a:p>
            <a:r>
              <a:rPr lang="zh-CN" altLang="en-US" dirty="0"/>
              <a:t>返回列含义</a:t>
            </a:r>
            <a:r>
              <a:rPr lang="en-US" altLang="zh-CN" dirty="0" err="1"/>
              <a:t>cid</a:t>
            </a:r>
            <a:r>
              <a:rPr lang="zh-CN" altLang="en-US" dirty="0"/>
              <a:t>课程编号</a:t>
            </a:r>
            <a:r>
              <a:rPr lang="en-US" altLang="zh-CN" dirty="0" err="1"/>
              <a:t>enrollment_count</a:t>
            </a:r>
            <a:r>
              <a:rPr lang="zh-CN" altLang="en-US" dirty="0"/>
              <a:t>该课程在 </a:t>
            </a:r>
            <a:r>
              <a:rPr lang="en-US" altLang="zh-CN" dirty="0"/>
              <a:t>Enrolled </a:t>
            </a:r>
            <a:r>
              <a:rPr lang="zh-CN" altLang="en-US" dirty="0"/>
              <a:t>表中的记录数</a:t>
            </a:r>
            <a:r>
              <a:rPr lang="en-US" altLang="zh-CN" dirty="0" err="1"/>
              <a:t>average_gp</a:t>
            </a:r>
            <a:r>
              <a:rPr lang="zh-CN" altLang="en-US" dirty="0"/>
              <a:t>该课程非 </a:t>
            </a:r>
            <a:r>
              <a:rPr lang="en-US" altLang="zh-CN" dirty="0"/>
              <a:t>NULL </a:t>
            </a:r>
            <a:r>
              <a:rPr lang="zh-CN" altLang="en-US" dirty="0"/>
              <a:t>成绩的平均值</a:t>
            </a:r>
          </a:p>
          <a:p>
            <a:r>
              <a:rPr lang="zh-CN" altLang="en-US" dirty="0"/>
              <a:t>例如可能返回：</a:t>
            </a:r>
          </a:p>
          <a:p>
            <a:r>
              <a:rPr lang="en-US" altLang="zh-CN" dirty="0" err="1"/>
              <a:t>cid</a:t>
            </a:r>
            <a:r>
              <a:rPr lang="zh-CN" altLang="en-US" dirty="0"/>
              <a:t>      </a:t>
            </a:r>
            <a:r>
              <a:rPr lang="en-US" altLang="zh-CN" dirty="0" err="1"/>
              <a:t>enrollment_count</a:t>
            </a:r>
            <a:r>
              <a:rPr lang="zh-CN" altLang="en-US" dirty="0"/>
              <a:t>      </a:t>
            </a:r>
            <a:r>
              <a:rPr lang="en-US" altLang="zh-CN" dirty="0" err="1"/>
              <a:t>average_gp</a:t>
            </a:r>
            <a:r>
              <a:rPr lang="zh-CN" altLang="en-US" dirty="0"/>
              <a:t>       </a:t>
            </a:r>
            <a:endParaRPr lang="en-US" altLang="zh-CN" dirty="0"/>
          </a:p>
          <a:p>
            <a:r>
              <a:rPr lang="en-US" altLang="zh-CN" dirty="0"/>
              <a:t>COMP101</a:t>
            </a:r>
            <a:r>
              <a:rPr lang="zh-CN" altLang="en-US" dirty="0"/>
              <a:t>      </a:t>
            </a:r>
            <a:r>
              <a:rPr lang="en-US" altLang="zh-CN" dirty="0"/>
              <a:t>25</a:t>
            </a:r>
            <a:r>
              <a:rPr lang="zh-CN" altLang="en-US" dirty="0"/>
              <a:t>               </a:t>
            </a:r>
            <a:r>
              <a:rPr lang="en-US" altLang="zh-CN" dirty="0"/>
              <a:t>3.18</a:t>
            </a:r>
          </a:p>
          <a:p>
            <a:r>
              <a:rPr lang="en-US" altLang="zh-CN" dirty="0"/>
              <a:t>MATH201</a:t>
            </a:r>
            <a:r>
              <a:rPr lang="zh-CN" altLang="en-US" dirty="0"/>
              <a:t>      </a:t>
            </a:r>
            <a:r>
              <a:rPr lang="en-US" altLang="zh-CN" dirty="0"/>
              <a:t>12</a:t>
            </a:r>
            <a:r>
              <a:rPr lang="zh-CN" altLang="en-US" dirty="0"/>
              <a:t>               </a:t>
            </a:r>
            <a:r>
              <a:rPr lang="en-US" altLang="zh-CN" dirty="0"/>
              <a:t>2.95</a:t>
            </a:r>
          </a:p>
          <a:p>
            <a:r>
              <a:rPr lang="zh-CN" altLang="en-US" dirty="0"/>
              <a:t>执行逻辑是：</a:t>
            </a:r>
          </a:p>
          <a:p>
            <a:r>
              <a:rPr lang="zh-CN" altLang="en-US" dirty="0"/>
              <a:t>按 </a:t>
            </a:r>
            <a:r>
              <a:rPr lang="en-US" altLang="zh-CN" dirty="0" err="1"/>
              <a:t>cid</a:t>
            </a:r>
            <a:r>
              <a:rPr lang="en-US" altLang="zh-CN" dirty="0"/>
              <a:t> </a:t>
            </a:r>
            <a:r>
              <a:rPr lang="zh-CN" altLang="en-US" dirty="0"/>
              <a:t>分组。</a:t>
            </a:r>
          </a:p>
          <a:p>
            <a:r>
              <a:rPr lang="zh-CN" altLang="en-US" dirty="0"/>
              <a:t>计算每组的记录数和平均成绩。</a:t>
            </a:r>
          </a:p>
          <a:p>
            <a:r>
              <a:rPr lang="en-US" altLang="zh-CN" dirty="0"/>
              <a:t>HAVING COUNT(*) &gt;= 10 </a:t>
            </a:r>
            <a:r>
              <a:rPr lang="zh-CN" altLang="en-US" dirty="0"/>
              <a:t>删除少于 </a:t>
            </a:r>
            <a:r>
              <a:rPr lang="en-US" altLang="zh-CN" dirty="0"/>
              <a:t>10 </a:t>
            </a:r>
            <a:r>
              <a:rPr lang="zh-CN" altLang="en-US" dirty="0"/>
              <a:t>条选课记录的课程。</a:t>
            </a:r>
          </a:p>
          <a:p>
            <a:r>
              <a:rPr lang="zh-CN" altLang="en-US" dirty="0"/>
              <a:t>注意：</a:t>
            </a:r>
            <a:r>
              <a:rPr lang="en-US" altLang="zh-CN" dirty="0"/>
              <a:t>COUNT(*) </a:t>
            </a:r>
            <a:r>
              <a:rPr lang="zh-CN" altLang="en-US" dirty="0"/>
              <a:t>会统计成绩为 </a:t>
            </a:r>
            <a:r>
              <a:rPr lang="en-US" altLang="zh-CN" dirty="0"/>
              <a:t>NULL </a:t>
            </a:r>
            <a:r>
              <a:rPr lang="zh-CN" altLang="en-US" dirty="0"/>
              <a:t>的选课记录，但 </a:t>
            </a:r>
            <a:r>
              <a:rPr lang="en-US" altLang="zh-CN" dirty="0"/>
              <a:t>AVG(</a:t>
            </a:r>
            <a:r>
              <a:rPr lang="en-US" altLang="zh-CN" dirty="0" err="1"/>
              <a:t>grade_point</a:t>
            </a:r>
            <a:r>
              <a:rPr lang="en-US" altLang="zh-CN" dirty="0"/>
              <a:t>) </a:t>
            </a:r>
            <a:r>
              <a:rPr lang="zh-CN" altLang="en-US" dirty="0"/>
              <a:t>会忽略 </a:t>
            </a:r>
            <a:r>
              <a:rPr lang="en-US" altLang="zh-CN" dirty="0"/>
              <a:t>NULL</a:t>
            </a:r>
            <a:r>
              <a:rPr lang="zh-CN" altLang="en-US" dirty="0"/>
              <a:t>。由于图片没有给出 </a:t>
            </a:r>
            <a:r>
              <a:rPr lang="en-US" altLang="zh-CN" dirty="0"/>
              <a:t>Enrolled </a:t>
            </a:r>
            <a:r>
              <a:rPr lang="zh-CN" altLang="en-US" dirty="0"/>
              <a:t>表的具体数据，无法确定实际返回的课程和值。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建议用时：6 分钟。</a:t>
            </a:r>
          </a:p>
          <a:p>
            <a:r>
              <a:t>巡视时重点检查四类问题：遗漏连接条件、用 WHERE 代替 HAVING、遗漏 GROUP BY，以及没有限定来源而产生歧义的列名。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请两名学生各解释一个答案。强调</a:t>
            </a:r>
            <a:r>
              <a:rPr dirty="0"/>
              <a:t> WHERE </a:t>
            </a:r>
            <a:r>
              <a:rPr dirty="0" err="1"/>
              <a:t>e.cid</a:t>
            </a:r>
            <a:r>
              <a:rPr dirty="0"/>
              <a:t> = 'INT6164' </a:t>
            </a:r>
            <a:r>
              <a:rPr dirty="0" err="1"/>
              <a:t>与</a:t>
            </a:r>
            <a:r>
              <a:rPr dirty="0"/>
              <a:t> HAVING COUNT(*) &gt;= 2 </a:t>
            </a:r>
            <a:r>
              <a:rPr dirty="0" err="1"/>
              <a:t>的区别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6625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**外键（</a:t>
            </a:r>
            <a:r>
              <a:rPr lang="en-US" altLang="zh-CN" dirty="0"/>
              <a:t>Foreign Key</a:t>
            </a:r>
            <a:r>
              <a:rPr lang="zh-CN" altLang="en-US" dirty="0"/>
              <a:t>）**是一个表中用来引用另一张表记录的字段，用于建立两张表之间的关系。</a:t>
            </a:r>
          </a:p>
          <a:p>
            <a:endParaRPr lang="en-US" dirty="0"/>
          </a:p>
          <a:p>
            <a:r>
              <a:rPr lang="en-US" altLang="zh-CN" dirty="0" err="1"/>
              <a:t>Students.sid</a:t>
            </a:r>
            <a:r>
              <a:rPr lang="en-US" altLang="zh-CN" dirty="0"/>
              <a:t> </a:t>
            </a:r>
            <a:r>
              <a:rPr lang="zh-CN" altLang="en-US" dirty="0"/>
              <a:t>是</a:t>
            </a:r>
            <a:r>
              <a:rPr lang="zh-CN" altLang="en-US" b="1" dirty="0"/>
              <a:t>主键</a:t>
            </a:r>
            <a:r>
              <a:rPr lang="zh-CN" altLang="en-US" dirty="0"/>
              <a:t>：每个学生的 </a:t>
            </a:r>
            <a:r>
              <a:rPr lang="en-US" altLang="zh-CN" dirty="0" err="1"/>
              <a:t>sid</a:t>
            </a:r>
            <a:r>
              <a:rPr lang="en-US" altLang="zh-CN" dirty="0"/>
              <a:t> </a:t>
            </a:r>
            <a:r>
              <a:rPr lang="zh-CN" altLang="en-US" dirty="0"/>
              <a:t>唯一，用来识别学生。</a:t>
            </a:r>
            <a:endParaRPr lang="en-US" altLang="zh-CN" dirty="0"/>
          </a:p>
          <a:p>
            <a:r>
              <a:rPr lang="en-US" altLang="zh-CN" dirty="0" err="1"/>
              <a:t>Enrolled.sid</a:t>
            </a:r>
            <a:r>
              <a:rPr lang="en-US" altLang="zh-CN" dirty="0"/>
              <a:t> </a:t>
            </a:r>
            <a:r>
              <a:rPr lang="zh-CN" altLang="en-US" dirty="0"/>
              <a:t>是</a:t>
            </a:r>
            <a:r>
              <a:rPr lang="zh-CN" altLang="en-US" b="1" dirty="0"/>
              <a:t>外键</a:t>
            </a:r>
            <a:r>
              <a:rPr lang="zh-CN" altLang="en-US" dirty="0"/>
              <a:t>：它引用 </a:t>
            </a:r>
            <a:r>
              <a:rPr lang="en-US" altLang="zh-CN" dirty="0" err="1"/>
              <a:t>Students.sid</a:t>
            </a:r>
            <a:r>
              <a:rPr lang="zh-CN" altLang="en-US" dirty="0"/>
              <a:t>，表示某条选课记录属于哪个学生。</a:t>
            </a:r>
            <a:endParaRPr lang="en-US" altLang="zh-CN" dirty="0"/>
          </a:p>
          <a:p>
            <a:r>
              <a:rPr lang="zh-CN" altLang="en-US" dirty="0"/>
              <a:t>图中的箭头表示：</a:t>
            </a:r>
            <a:r>
              <a:rPr lang="en-US" altLang="zh-CN" dirty="0"/>
              <a:t>Enrolled </a:t>
            </a:r>
            <a:r>
              <a:rPr lang="zh-CN" altLang="en-US" dirty="0"/>
              <a:t>中的学生编号指向 </a:t>
            </a:r>
            <a:r>
              <a:rPr lang="en-US" altLang="zh-CN" dirty="0"/>
              <a:t>Students </a:t>
            </a:r>
            <a:r>
              <a:rPr lang="zh-CN" altLang="en-US" dirty="0"/>
              <a:t>中相应的学生。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能否把实例中的全部字段集合视为超键</a:t>
            </a:r>
            <a:r>
              <a:rPr dirty="0"/>
              <a:t>？</a:t>
            </a:r>
          </a:p>
          <a:p>
            <a:r>
              <a:rPr dirty="0" err="1"/>
              <a:t>可以。由于关系必然存在某个键，包含全部字段的集合也一定是超键</a:t>
            </a:r>
            <a:r>
              <a:rPr dirty="0"/>
              <a:t>。</a:t>
            </a:r>
          </a:p>
          <a:p>
            <a:endParaRPr baseline="0" dirty="0"/>
          </a:p>
          <a:p>
            <a:r>
              <a:rPr dirty="0"/>
              <a:t>{login, age} </a:t>
            </a:r>
            <a:r>
              <a:rPr dirty="0" err="1"/>
              <a:t>也可能是候选键，但它并非最小集合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sid</a:t>
            </a:r>
            <a:r>
              <a:rPr lang="en-US" altLang="zh-CN" dirty="0"/>
              <a:t> </a:t>
            </a:r>
            <a:r>
              <a:rPr lang="zh-CN" altLang="en-US" dirty="0"/>
              <a:t>单独可以重复：一个学生可以选多门课。</a:t>
            </a:r>
            <a:r>
              <a:rPr lang="en-US" altLang="zh-CN" dirty="0" err="1"/>
              <a:t>cid</a:t>
            </a:r>
            <a:r>
              <a:rPr lang="en-US" altLang="zh-CN" dirty="0"/>
              <a:t> </a:t>
            </a:r>
            <a:r>
              <a:rPr lang="zh-CN" altLang="en-US" dirty="0"/>
              <a:t>单独可以重复：一门课可以有多个学生。但 </a:t>
            </a:r>
            <a:r>
              <a:rPr lang="en-US" altLang="zh-CN" dirty="0"/>
              <a:t>(</a:t>
            </a:r>
            <a:r>
              <a:rPr lang="en-US" altLang="zh-CN" dirty="0" err="1"/>
              <a:t>sid</a:t>
            </a:r>
            <a:r>
              <a:rPr lang="en-US" altLang="zh-CN" dirty="0"/>
              <a:t>, </a:t>
            </a:r>
            <a:r>
              <a:rPr lang="en-US" altLang="zh-CN" dirty="0" err="1"/>
              <a:t>cid</a:t>
            </a:r>
            <a:r>
              <a:rPr lang="en-US" altLang="zh-CN" dirty="0"/>
              <a:t>) </a:t>
            </a:r>
            <a:r>
              <a:rPr lang="zh-CN" altLang="en-US" dirty="0"/>
              <a:t>的组合不能重复：同一学生对同一课程只能有一条成绩记录。</a:t>
            </a:r>
            <a:endParaRPr lang="en-US" altLang="zh-CN" dirty="0"/>
          </a:p>
          <a:p>
            <a:endParaRPr lang="en-US" dirty="0"/>
          </a:p>
          <a:p>
            <a:r>
              <a:rPr lang="en-US" dirty="0" err="1"/>
              <a:t>右侧</a:t>
            </a:r>
            <a:endParaRPr lang="en-US" dirty="0"/>
          </a:p>
          <a:p>
            <a:r>
              <a:rPr lang="zh-CN" altLang="en-US" dirty="0"/>
              <a:t>表示该表有两组唯一性约束：</a:t>
            </a:r>
          </a:p>
          <a:p>
            <a:r>
              <a:rPr lang="en-US" altLang="zh-CN" dirty="0" err="1"/>
              <a:t>sid</a:t>
            </a:r>
            <a:r>
              <a:rPr lang="en-US" altLang="zh-CN" dirty="0"/>
              <a:t> </a:t>
            </a:r>
            <a:r>
              <a:rPr lang="zh-CN" altLang="en-US" dirty="0"/>
              <a:t>是主键</a:t>
            </a:r>
            <a:br>
              <a:rPr lang="zh-CN" altLang="en-US" dirty="0"/>
            </a:br>
            <a:r>
              <a:rPr lang="zh-CN" altLang="en-US" dirty="0"/>
              <a:t>每个学生编号最多出现一次，因此一个学生最多只能有一条选课记录。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cid</a:t>
            </a:r>
            <a:r>
              <a:rPr lang="en-US" altLang="zh-CN" dirty="0"/>
              <a:t>, grade) </a:t>
            </a:r>
            <a:r>
              <a:rPr lang="zh-CN" altLang="en-US" dirty="0"/>
              <a:t>组合必须唯一</a:t>
            </a:r>
            <a:br>
              <a:rPr lang="zh-CN" altLang="en-US" dirty="0"/>
            </a:br>
            <a:r>
              <a:rPr lang="zh-CN" altLang="en-US" dirty="0"/>
              <a:t>同一门课程中，同一个成绩最多只能出现一次。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(S101, C01, A)  </a:t>
            </a:r>
            <a:r>
              <a:rPr lang="zh-CN" altLang="en-US" dirty="0"/>
              <a:t>✅</a:t>
            </a:r>
          </a:p>
          <a:p>
            <a:r>
              <a:rPr lang="en-US" altLang="zh-CN" dirty="0"/>
              <a:t>(S102, C01, B)  </a:t>
            </a:r>
            <a:r>
              <a:rPr lang="zh-CN" altLang="en-US" dirty="0"/>
              <a:t>✅</a:t>
            </a:r>
          </a:p>
          <a:p>
            <a:r>
              <a:rPr lang="en-US" altLang="zh-CN" dirty="0"/>
              <a:t>(S101, C02, B)  </a:t>
            </a:r>
            <a:r>
              <a:rPr lang="zh-CN" altLang="en-US" dirty="0"/>
              <a:t>❌ </a:t>
            </a:r>
            <a:r>
              <a:rPr lang="en-US" altLang="zh-CN" dirty="0" err="1"/>
              <a:t>sid</a:t>
            </a:r>
            <a:r>
              <a:rPr lang="en-US" altLang="zh-CN" dirty="0"/>
              <a:t> </a:t>
            </a:r>
            <a:r>
              <a:rPr lang="zh-CN" altLang="en-US" dirty="0"/>
              <a:t>重复</a:t>
            </a:r>
          </a:p>
          <a:p>
            <a:r>
              <a:rPr lang="en-US" altLang="zh-CN" dirty="0"/>
              <a:t>(S103, C01, A)  </a:t>
            </a:r>
            <a:r>
              <a:rPr lang="zh-CN" altLang="en-US" dirty="0"/>
              <a:t>❌ </a:t>
            </a:r>
            <a:r>
              <a:rPr lang="en-US" altLang="zh-CN" dirty="0"/>
              <a:t>(</a:t>
            </a:r>
            <a:r>
              <a:rPr lang="en-US" altLang="zh-CN" dirty="0" err="1"/>
              <a:t>cid</a:t>
            </a:r>
            <a:r>
              <a:rPr lang="en-US" altLang="zh-CN" dirty="0"/>
              <a:t>, grade) </a:t>
            </a:r>
            <a:r>
              <a:rPr lang="zh-CN" altLang="en-US" dirty="0"/>
              <a:t>重复</a:t>
            </a:r>
            <a:endParaRPr lang="en-US" altLang="zh-CN" dirty="0"/>
          </a:p>
          <a:p>
            <a:r>
              <a:rPr lang="zh-CN" altLang="en-US" dirty="0"/>
              <a:t>这显然不能正确表达“同一个学生可以选多门课程，但同一门课程只有一个成绩”。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其中 </a:t>
            </a:r>
            <a:r>
              <a:rPr lang="en-US" altLang="zh-CN" dirty="0" err="1"/>
              <a:t>sid</a:t>
            </a:r>
            <a:r>
              <a:rPr lang="en-US" altLang="zh-CN" dirty="0"/>
              <a:t> </a:t>
            </a:r>
            <a:r>
              <a:rPr lang="zh-CN" altLang="en-US" dirty="0"/>
              <a:t>才是主键，</a:t>
            </a:r>
            <a:r>
              <a:rPr lang="en-US" altLang="zh-CN" dirty="0"/>
              <a:t>(</a:t>
            </a:r>
            <a:r>
              <a:rPr lang="en-US" altLang="zh-CN" dirty="0" err="1"/>
              <a:t>cid</a:t>
            </a:r>
            <a:r>
              <a:rPr lang="en-US" altLang="zh-CN" dirty="0"/>
              <a:t>, grade) </a:t>
            </a:r>
            <a:r>
              <a:rPr lang="zh-CN" altLang="en-US" dirty="0"/>
              <a:t>只是唯一约束。但这个设计不合理：</a:t>
            </a:r>
          </a:p>
          <a:p>
            <a:r>
              <a:rPr lang="en-US" altLang="zh-CN" dirty="0"/>
              <a:t>PRIMARY KEY(</a:t>
            </a:r>
            <a:r>
              <a:rPr lang="en-US" altLang="zh-CN" dirty="0" err="1"/>
              <a:t>sid</a:t>
            </a:r>
            <a:r>
              <a:rPr lang="en-US" altLang="zh-CN" dirty="0"/>
              <a:t>) </a:t>
            </a:r>
            <a:r>
              <a:rPr lang="zh-CN" altLang="en-US" dirty="0"/>
              <a:t>会导致每名学生只能有一条选课记录。</a:t>
            </a:r>
          </a:p>
          <a:p>
            <a:r>
              <a:rPr lang="en-US" altLang="zh-CN" dirty="0"/>
              <a:t>UNIQUE(</a:t>
            </a:r>
            <a:r>
              <a:rPr lang="en-US" altLang="zh-CN" dirty="0" err="1"/>
              <a:t>cid</a:t>
            </a:r>
            <a:r>
              <a:rPr lang="en-US" altLang="zh-CN" dirty="0"/>
              <a:t>, grade) </a:t>
            </a:r>
            <a:r>
              <a:rPr lang="zh-CN" altLang="en-US" dirty="0"/>
              <a:t>会导致同一课程中不能有两名学生取得相同成绩。</a:t>
            </a:r>
          </a:p>
          <a:p>
            <a:r>
              <a:rPr lang="zh-CN" altLang="en-US" dirty="0"/>
              <a:t>因此，为表达“同一学生、同一课程只有一个成绩”，左边的复合主键才正确：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PRIMARY KEY (</a:t>
            </a:r>
            <a:r>
              <a:rPr lang="en-US" altLang="zh-CN" dirty="0" err="1"/>
              <a:t>sid</a:t>
            </a:r>
            <a:r>
              <a:rPr lang="en-US" altLang="zh-CN" dirty="0"/>
              <a:t>, </a:t>
            </a:r>
            <a:r>
              <a:rPr lang="en-US" altLang="zh-CN" dirty="0" err="1"/>
              <a:t>cid</a:t>
            </a:r>
            <a:r>
              <a:rPr lang="en-US" altLang="zh-CN" dirty="0"/>
              <a:t>)</a:t>
            </a:r>
            <a:r>
              <a:rPr lang="zh-CN" altLang="en-US" dirty="0"/>
              <a:t>：同一学生对同一课程只能有一条选课记录。</a:t>
            </a:r>
            <a:endParaRPr lang="en-US" altLang="zh-CN" dirty="0"/>
          </a:p>
          <a:p>
            <a:r>
              <a:rPr lang="en-US" altLang="zh-CN" dirty="0"/>
              <a:t>FOREIGN KEY (</a:t>
            </a:r>
            <a:r>
              <a:rPr lang="en-US" altLang="zh-CN" dirty="0" err="1"/>
              <a:t>sid</a:t>
            </a:r>
            <a:r>
              <a:rPr lang="en-US" altLang="zh-CN" dirty="0"/>
              <a:t>)</a:t>
            </a:r>
            <a:r>
              <a:rPr lang="zh-CN" altLang="en-US" dirty="0"/>
              <a:t>：声明 </a:t>
            </a:r>
            <a:r>
              <a:rPr lang="en-US" altLang="zh-CN" dirty="0" err="1"/>
              <a:t>Enrolled.sid</a:t>
            </a:r>
            <a:r>
              <a:rPr lang="en-US" altLang="zh-CN" dirty="0"/>
              <a:t> </a:t>
            </a:r>
            <a:r>
              <a:rPr lang="zh-CN" altLang="en-US" dirty="0"/>
              <a:t>是外键。</a:t>
            </a:r>
            <a:endParaRPr lang="en-US" altLang="zh-CN" dirty="0"/>
          </a:p>
          <a:p>
            <a:r>
              <a:rPr lang="en-US" altLang="zh-CN" dirty="0"/>
              <a:t>REFERENCES Students(</a:t>
            </a:r>
            <a:r>
              <a:rPr lang="en-US" altLang="zh-CN" dirty="0" err="1"/>
              <a:t>sid</a:t>
            </a:r>
            <a:r>
              <a:rPr lang="en-US" altLang="zh-CN" dirty="0"/>
              <a:t>)</a:t>
            </a:r>
            <a:r>
              <a:rPr lang="zh-CN" altLang="en-US" dirty="0"/>
              <a:t>：它必须引用 </a:t>
            </a:r>
            <a:r>
              <a:rPr lang="en-US" altLang="zh-CN" dirty="0"/>
              <a:t>Students </a:t>
            </a:r>
            <a:r>
              <a:rPr lang="zh-CN" altLang="en-US" dirty="0"/>
              <a:t>表中已经存在的 </a:t>
            </a:r>
            <a:r>
              <a:rPr lang="en-US" altLang="zh-CN" dirty="0" err="1"/>
              <a:t>sid</a:t>
            </a:r>
            <a:r>
              <a:rPr lang="zh-CN" altLang="en-US"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对比删除</a:t>
            </a:r>
            <a:r>
              <a:rPr dirty="0"/>
              <a:t> Student </a:t>
            </a:r>
            <a:r>
              <a:rPr dirty="0" err="1"/>
              <a:t>与删除可选的</a:t>
            </a:r>
            <a:r>
              <a:rPr dirty="0"/>
              <a:t> Advisor </a:t>
            </a:r>
            <a:r>
              <a:rPr dirty="0" err="1"/>
              <a:t>分配。具体执行时机和支持方式可能因</a:t>
            </a:r>
            <a:r>
              <a:rPr dirty="0"/>
              <a:t> DBMS </a:t>
            </a:r>
            <a:r>
              <a:rPr dirty="0" err="1"/>
              <a:t>而异，但参照动作的语义选择始终属于模式设计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6625"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6625"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说明如果用户仍可直接查询基表，视图本身不会自动保障数据安全。数据库权限必须配合预期的访问策略。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答案：HAVING；IS NULL；当一名学生可选多门课程且一门课程可有多名学生时，(sid, cid) 共同标识一次选课；ON DELETE CASCADE。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建议用时：10 分钟。</a:t>
            </a:r>
          </a:p>
          <a:p>
            <a:r>
              <a:t>休息期间保持本页显示。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t>教学节奏：ER 模型到关系模型的映射共 45 分钟，包括诊所案例。</a:t>
            </a:r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把本表作为后续内容的导航图。基数约束、参与约束、联系属性以及是否要避免 NULL，共同决定具体实现方式。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询问何时可把 address 保持为单一值，例如系统从不查询其组成部分时。再与电话号码对比，每个电话号码都可以独立参与查询和约束。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/>
              <a:t>将关系合并进 </a:t>
            </a:r>
            <a:r>
              <a:rPr lang="en-US" altLang="zh-CN" b="1" dirty="0"/>
              <a:t>Departments</a:t>
            </a:r>
          </a:p>
          <a:p>
            <a:r>
              <a:rPr lang="zh-CN" altLang="en-US" dirty="0"/>
              <a:t>因为每个部门最多只有一位经理，所以可以把经理和关系属性直接放进部门表：</a:t>
            </a:r>
          </a:p>
          <a:p>
            <a:r>
              <a:rPr lang="en-US" dirty="0" err="1"/>
              <a:t>Dept_Mgr</a:t>
            </a:r>
            <a:r>
              <a:rPr lang="en-US" dirty="0"/>
              <a:t>(did, </a:t>
            </a:r>
            <a:r>
              <a:rPr lang="en-US" dirty="0" err="1"/>
              <a:t>dname</a:t>
            </a:r>
            <a:r>
              <a:rPr lang="en-US" dirty="0"/>
              <a:t>, budget, </a:t>
            </a:r>
            <a:r>
              <a:rPr lang="en-US" dirty="0" err="1"/>
              <a:t>ssn</a:t>
            </a:r>
            <a:r>
              <a:rPr lang="en-US" dirty="0"/>
              <a:t>, since)</a:t>
            </a:r>
          </a:p>
          <a:p>
            <a:endParaRPr lang="en-US" dirty="0"/>
          </a:p>
          <a:p>
            <a:r>
              <a:rPr lang="zh-CN" altLang="en-US" dirty="0"/>
              <a:t>所以，有两个方法是因为</a:t>
            </a:r>
            <a:r>
              <a:rPr lang="zh-CN" altLang="en-US" b="1" dirty="0"/>
              <a:t>关系数据库的设计不唯一</a:t>
            </a:r>
            <a:r>
              <a:rPr lang="zh-CN" altLang="en-US" dirty="0"/>
              <a:t>。一般来说：</a:t>
            </a:r>
          </a:p>
          <a:p>
            <a:r>
              <a:rPr lang="zh-CN" altLang="en-US" dirty="0"/>
              <a:t>参与关系是可选的、希望减少 </a:t>
            </a:r>
            <a:r>
              <a:rPr lang="en-US" altLang="zh-CN" dirty="0"/>
              <a:t>NULL</a:t>
            </a:r>
            <a:r>
              <a:rPr lang="zh-CN" altLang="en-US" dirty="0"/>
              <a:t>：方法 </a:t>
            </a:r>
            <a:r>
              <a:rPr lang="en-US" altLang="zh-CN" dirty="0"/>
              <a:t>1 </a:t>
            </a:r>
            <a:r>
              <a:rPr lang="zh-CN" altLang="en-US" dirty="0"/>
              <a:t>更合适。</a:t>
            </a:r>
          </a:p>
          <a:p>
            <a:r>
              <a:rPr lang="zh-CN" altLang="en-US" dirty="0"/>
              <a:t>每个部门都必须有经理、希望减少表和连接：方法 </a:t>
            </a:r>
            <a:r>
              <a:rPr lang="en-US" altLang="zh-CN" dirty="0"/>
              <a:t>2 </a:t>
            </a:r>
            <a:r>
              <a:rPr lang="zh-CN" altLang="en-US" dirty="0"/>
              <a:t>更简单。</a:t>
            </a:r>
          </a:p>
          <a:p>
            <a:r>
              <a:rPr lang="zh-CN" altLang="en-US" dirty="0"/>
              <a:t>如果是 </a:t>
            </a:r>
            <a:r>
              <a:rPr lang="en-US" altLang="zh-CN" dirty="0"/>
              <a:t>M:N </a:t>
            </a:r>
            <a:r>
              <a:rPr lang="zh-CN" altLang="en-US" dirty="0"/>
              <a:t>关系，就不能这样直接合并，通常必须单独建立关系表。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可以正常保存，不会违反外键约束，因为外键通常允许 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多个部门的 </a:t>
            </a:r>
            <a:r>
              <a:rPr lang="en-US" altLang="zh-CN" dirty="0" err="1"/>
              <a:t>manager_ssn</a:t>
            </a:r>
            <a:r>
              <a:rPr lang="en-US" altLang="zh-CN" dirty="0"/>
              <a:t> </a:t>
            </a:r>
            <a:r>
              <a:rPr lang="zh-CN" altLang="en-US" dirty="0"/>
              <a:t>都可以是 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大量没有经理的部门会产生许多空字段，</a:t>
            </a:r>
            <a:endParaRPr lang="en-US" altLang="zh-CN" dirty="0"/>
          </a:p>
          <a:p>
            <a:r>
              <a:rPr lang="zh-CN" altLang="en-US" dirty="0"/>
              <a:t>造成一定存储浪费。查询和统计时还要注意正确处理 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讨论 UNIQUE 外键如何表达一对一基数。如果每个人都必须有护照，还需要额外机制，因为 Passport 中的外键不能强制每条 Person 记录都被引用。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强调角色名称。两个外键都可以引用</a:t>
            </a:r>
            <a:r>
              <a:rPr dirty="0"/>
              <a:t> </a:t>
            </a:r>
            <a:r>
              <a:rPr dirty="0" err="1"/>
              <a:t>Course，但</a:t>
            </a:r>
            <a:r>
              <a:rPr dirty="0"/>
              <a:t> </a:t>
            </a:r>
            <a:r>
              <a:rPr dirty="0" err="1"/>
              <a:t>course_id</a:t>
            </a:r>
            <a:r>
              <a:rPr dirty="0"/>
              <a:t> </a:t>
            </a:r>
            <a:r>
              <a:rPr dirty="0" err="1"/>
              <a:t>与</a:t>
            </a:r>
            <a:r>
              <a:rPr dirty="0"/>
              <a:t> </a:t>
            </a:r>
            <a:r>
              <a:rPr dirty="0" err="1"/>
              <a:t>prereq_id</a:t>
            </a:r>
            <a:r>
              <a:rPr dirty="0"/>
              <a:t> </a:t>
            </a:r>
            <a:r>
              <a:rPr dirty="0" err="1"/>
              <a:t>扮演不同角色。还可增加规则，禁止课程把自己设为先修课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建议用时：4 分钟。</a:t>
            </a:r>
          </a:p>
          <a:p>
            <a:r>
              <a:t>提醒学生，把三元联系替换为三个二元联系，可能产生原联系中从未存在的组合。对于 ISA，应把不同策略作为可选方案，而不是通用规则。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弱实体适合单表方法，是因为它</a:t>
            </a:r>
            <a:r>
              <a:rPr lang="zh-CN" altLang="en-US" b="1" dirty="0"/>
              <a:t>不能脱离所属的强实体独立存在</a:t>
            </a:r>
            <a:r>
              <a:rPr lang="zh-CN" altLang="en-US" dirty="0"/>
              <a:t>，而且必须参与标识关系。</a:t>
            </a:r>
          </a:p>
          <a:p>
            <a:r>
              <a:rPr lang="zh-CN" altLang="en-US" dirty="0"/>
              <a:t>这里：</a:t>
            </a:r>
          </a:p>
          <a:p>
            <a:r>
              <a:rPr lang="en-US" altLang="zh-CN" dirty="0"/>
              <a:t>Employees </a:t>
            </a:r>
            <a:r>
              <a:rPr lang="zh-CN" altLang="en-US" dirty="0"/>
              <a:t>是强实体，主键是 </a:t>
            </a:r>
            <a:r>
              <a:rPr lang="en-US" altLang="zh-CN" dirty="0" err="1"/>
              <a:t>ssn</a:t>
            </a:r>
            <a:r>
              <a:rPr lang="zh-CN" altLang="en-US" dirty="0"/>
              <a:t>。</a:t>
            </a:r>
          </a:p>
          <a:p>
            <a:r>
              <a:rPr lang="en-US" altLang="zh-CN" dirty="0"/>
              <a:t>Dependents </a:t>
            </a:r>
            <a:r>
              <a:rPr lang="zh-CN" altLang="en-US" dirty="0"/>
              <a:t>是弱实体。</a:t>
            </a:r>
          </a:p>
          <a:p>
            <a:r>
              <a:rPr lang="en-US" altLang="zh-CN" dirty="0" err="1"/>
              <a:t>dname</a:t>
            </a:r>
            <a:r>
              <a:rPr lang="en-US" altLang="zh-CN" dirty="0"/>
              <a:t> </a:t>
            </a:r>
            <a:r>
              <a:rPr lang="zh-CN" altLang="en-US" dirty="0"/>
              <a:t>只是部分键：只有结合员工的 </a:t>
            </a:r>
            <a:r>
              <a:rPr lang="en-US" altLang="zh-CN" dirty="0" err="1"/>
              <a:t>ssn</a:t>
            </a:r>
            <a:r>
              <a:rPr lang="en-US" altLang="zh-CN" dirty="0"/>
              <a:t> </a:t>
            </a:r>
            <a:r>
              <a:rPr lang="zh-CN" altLang="en-US" dirty="0"/>
              <a:t>才能唯一识别家属。</a:t>
            </a:r>
          </a:p>
          <a:p>
            <a:r>
              <a:rPr lang="en-US" altLang="zh-CN" dirty="0"/>
              <a:t>Policy </a:t>
            </a:r>
            <a:r>
              <a:rPr lang="zh-CN" altLang="en-US" dirty="0"/>
              <a:t>是标识关系，</a:t>
            </a:r>
            <a:r>
              <a:rPr lang="en-US" altLang="zh-CN" dirty="0"/>
              <a:t>cost </a:t>
            </a:r>
            <a:r>
              <a:rPr lang="zh-CN" altLang="en-US" dirty="0"/>
              <a:t>是关系属性。</a:t>
            </a:r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注意，所谓“单表”不是把 </a:t>
            </a:r>
            <a:r>
              <a:rPr lang="en-US" altLang="zh-CN" dirty="0"/>
              <a:t>Employees </a:t>
            </a:r>
            <a:r>
              <a:rPr lang="zh-CN" altLang="en-US" dirty="0"/>
              <a:t>也合并进来，而是把</a:t>
            </a:r>
            <a:r>
              <a:rPr lang="zh-CN" altLang="en-US" b="1" dirty="0"/>
              <a:t>弱实体表和标识关系表</a:t>
            </a:r>
            <a:r>
              <a:rPr lang="zh-CN" altLang="en-US" dirty="0"/>
              <a:t>合并；</a:t>
            </a:r>
            <a:r>
              <a:rPr lang="en-US" altLang="zh-CN" dirty="0"/>
              <a:t>Employees </a:t>
            </a:r>
            <a:r>
              <a:rPr lang="zh-CN" altLang="en-US" dirty="0"/>
              <a:t>仍然单独存在。</a:t>
            </a:r>
          </a:p>
          <a:p>
            <a:r>
              <a:rPr lang="zh-CN" altLang="en-US" dirty="0"/>
              <a:t>为什么适合合并：</a:t>
            </a:r>
          </a:p>
          <a:p>
            <a:r>
              <a:rPr lang="zh-CN" altLang="en-US" b="1" dirty="0"/>
              <a:t>弱实体必须有主人</a:t>
            </a:r>
            <a:endParaRPr lang="zh-CN" altLang="en-US" dirty="0"/>
          </a:p>
          <a:p>
            <a:r>
              <a:rPr lang="zh-CN" altLang="en-US" dirty="0"/>
              <a:t>每个家属都必须属于某位员工，所以每行一定有 </a:t>
            </a:r>
            <a:r>
              <a:rPr lang="en-US" altLang="zh-CN" dirty="0" err="1"/>
              <a:t>ssn</a:t>
            </a:r>
            <a:r>
              <a:rPr lang="zh-CN" altLang="en-US" dirty="0"/>
              <a:t>，不会像“没有经理的部门”那样产生大量外键 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</a:p>
          <a:p>
            <a:r>
              <a:rPr lang="zh-CN" altLang="en-US" b="1" dirty="0"/>
              <a:t>弱实体的主键本来就需要主人主键</a:t>
            </a:r>
            <a:endParaRPr lang="zh-CN" altLang="en-US" dirty="0"/>
          </a:p>
          <a:p>
            <a:r>
              <a:rPr lang="en-US" altLang="zh-CN" dirty="0" err="1"/>
              <a:t>dname</a:t>
            </a:r>
            <a:r>
              <a:rPr lang="en-US" altLang="zh-CN" dirty="0"/>
              <a:t> </a:t>
            </a:r>
            <a:r>
              <a:rPr lang="zh-CN" altLang="en-US" dirty="0"/>
              <a:t>不能单独唯一识别家属：</a:t>
            </a:r>
          </a:p>
          <a:p>
            <a:r>
              <a:rPr lang="en-US" altLang="zh-CN" dirty="0"/>
              <a:t>(E01, Alex) (E02, Alex)</a:t>
            </a:r>
            <a:r>
              <a:rPr lang="zh-CN" altLang="en-US" dirty="0"/>
              <a:t>两名不同员工都可以有名叫 </a:t>
            </a:r>
            <a:r>
              <a:rPr lang="en-US" altLang="zh-CN" dirty="0"/>
              <a:t>Alex </a:t>
            </a:r>
            <a:r>
              <a:rPr lang="zh-CN" altLang="en-US" dirty="0"/>
              <a:t>的家属。因此主键应是：</a:t>
            </a:r>
          </a:p>
          <a:p>
            <a:r>
              <a:rPr lang="en-US" altLang="zh-CN" dirty="0"/>
              <a:t>PRIMARY KEY (</a:t>
            </a:r>
            <a:r>
              <a:rPr lang="en-US" altLang="zh-CN" dirty="0" err="1"/>
              <a:t>ssn</a:t>
            </a:r>
            <a:r>
              <a:rPr lang="en-US" altLang="zh-CN" dirty="0"/>
              <a:t>, </a:t>
            </a:r>
            <a:r>
              <a:rPr lang="en-US" altLang="zh-CN" dirty="0" err="1"/>
              <a:t>dname</a:t>
            </a:r>
            <a:r>
              <a:rPr lang="en-US" altLang="zh-CN" dirty="0"/>
              <a:t>)</a:t>
            </a:r>
          </a:p>
          <a:p>
            <a:r>
              <a:rPr lang="zh-CN" altLang="en-US" b="1" dirty="0"/>
              <a:t>分成两张表会重复存储同一个键</a:t>
            </a:r>
            <a:endParaRPr lang="zh-CN" altLang="en-US" dirty="0"/>
          </a:p>
          <a:p>
            <a:r>
              <a:rPr lang="zh-CN" altLang="en-US" dirty="0"/>
              <a:t>若分开建表，就会变成：</a:t>
            </a:r>
          </a:p>
          <a:p>
            <a:r>
              <a:rPr lang="en-US" altLang="zh-CN" dirty="0"/>
              <a:t>Dependents(</a:t>
            </a:r>
            <a:r>
              <a:rPr lang="en-US" altLang="zh-CN" dirty="0" err="1"/>
              <a:t>ssn</a:t>
            </a:r>
            <a:r>
              <a:rPr lang="en-US" altLang="zh-CN" dirty="0"/>
              <a:t>, </a:t>
            </a:r>
            <a:r>
              <a:rPr lang="en-US" altLang="zh-CN" dirty="0" err="1"/>
              <a:t>dname</a:t>
            </a:r>
            <a:r>
              <a:rPr lang="en-US" altLang="zh-CN" dirty="0"/>
              <a:t>, age) </a:t>
            </a:r>
          </a:p>
          <a:p>
            <a:r>
              <a:rPr lang="en-US" altLang="zh-CN" dirty="0"/>
              <a:t>Policy(</a:t>
            </a:r>
            <a:r>
              <a:rPr lang="en-US" altLang="zh-CN" dirty="0" err="1"/>
              <a:t>ssn</a:t>
            </a:r>
            <a:r>
              <a:rPr lang="en-US" altLang="zh-CN" dirty="0"/>
              <a:t>, </a:t>
            </a:r>
            <a:r>
              <a:rPr lang="en-US" altLang="zh-CN" dirty="0" err="1"/>
              <a:t>dname</a:t>
            </a:r>
            <a:r>
              <a:rPr lang="en-US" altLang="zh-CN" dirty="0"/>
              <a:t>, cost)</a:t>
            </a:r>
            <a:r>
              <a:rPr lang="zh-CN" altLang="en-US" dirty="0"/>
              <a:t>两张表都需要保存 </a:t>
            </a:r>
            <a:r>
              <a:rPr lang="en-US" altLang="zh-CN" dirty="0"/>
              <a:t>(</a:t>
            </a:r>
            <a:r>
              <a:rPr lang="en-US" altLang="zh-CN" dirty="0" err="1"/>
              <a:t>ssn</a:t>
            </a:r>
            <a:r>
              <a:rPr lang="en-US" altLang="zh-CN" dirty="0"/>
              <a:t>, </a:t>
            </a:r>
            <a:r>
              <a:rPr lang="en-US" altLang="zh-CN" dirty="0" err="1"/>
              <a:t>dname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而且由于弱实体全参与，每条 </a:t>
            </a:r>
            <a:r>
              <a:rPr lang="en-US" altLang="zh-CN" dirty="0"/>
              <a:t>Dependents </a:t>
            </a:r>
            <a:r>
              <a:rPr lang="zh-CN" altLang="en-US" dirty="0"/>
              <a:t>记录都必然对应一条 </a:t>
            </a:r>
            <a:r>
              <a:rPr lang="en-US" altLang="zh-CN" dirty="0"/>
              <a:t>Policy </a:t>
            </a:r>
            <a:r>
              <a:rPr lang="zh-CN" altLang="en-US" dirty="0"/>
              <a:t>记录。这会重复存键，查询时还需要连接。</a:t>
            </a:r>
          </a:p>
          <a:p>
            <a:r>
              <a:rPr lang="zh-CN" altLang="en-US" dirty="0"/>
              <a:t>因此直接保存成：</a:t>
            </a:r>
          </a:p>
          <a:p>
            <a:r>
              <a:rPr lang="en-US" altLang="zh-CN" dirty="0"/>
              <a:t>(</a:t>
            </a:r>
            <a:r>
              <a:rPr lang="en-US" altLang="zh-CN" dirty="0" err="1"/>
              <a:t>ssn</a:t>
            </a:r>
            <a:r>
              <a:rPr lang="en-US" altLang="zh-CN" dirty="0"/>
              <a:t>, </a:t>
            </a:r>
            <a:r>
              <a:rPr lang="en-US" altLang="zh-CN" dirty="0" err="1"/>
              <a:t>dname</a:t>
            </a:r>
            <a:r>
              <a:rPr lang="en-US" altLang="zh-CN" dirty="0"/>
              <a:t>, age, cost)</a:t>
            </a:r>
            <a:r>
              <a:rPr lang="zh-CN" altLang="en-US" dirty="0"/>
              <a:t>结构最自然，也不会产生额外的 </a:t>
            </a:r>
            <a:r>
              <a:rPr lang="en-US" altLang="zh-CN" dirty="0"/>
              <a:t>NULL </a:t>
            </a:r>
            <a:r>
              <a:rPr lang="zh-CN" altLang="en-US" dirty="0"/>
              <a:t>或连接操作。只有当一个家属可能有多份保单、保单需要保存多期历史等情况时，才有必要把 </a:t>
            </a:r>
            <a:r>
              <a:rPr lang="en-US" altLang="zh-CN" dirty="0"/>
              <a:t>Policy </a:t>
            </a:r>
            <a:r>
              <a:rPr lang="zh-CN" altLang="en-US" dirty="0"/>
              <a:t>另建成表。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参考答案</a:t>
            </a:r>
            <a:r>
              <a:rPr dirty="0"/>
              <a:t>：</a:t>
            </a:r>
            <a:endParaRPr lang="en-US" dirty="0"/>
          </a:p>
          <a:p>
            <a:r>
              <a:rPr dirty="0"/>
              <a:t>Room(</a:t>
            </a:r>
            <a:r>
              <a:rPr dirty="0" err="1"/>
              <a:t>hotel_id</a:t>
            </a:r>
            <a:r>
              <a:rPr dirty="0"/>
              <a:t> FK REFERENCES Hotel, </a:t>
            </a:r>
            <a:r>
              <a:rPr dirty="0" err="1"/>
              <a:t>room_no</a:t>
            </a:r>
            <a:r>
              <a:rPr dirty="0"/>
              <a:t>, floor, capacity, PRIMARY KEY (</a:t>
            </a:r>
            <a:r>
              <a:rPr dirty="0" err="1"/>
              <a:t>hotel_id</a:t>
            </a:r>
            <a:r>
              <a:rPr dirty="0"/>
              <a:t>, </a:t>
            </a:r>
            <a:r>
              <a:rPr dirty="0" err="1"/>
              <a:t>room_no</a:t>
            </a:r>
            <a:r>
              <a:rPr dirty="0"/>
              <a:t>))。</a:t>
            </a:r>
            <a:r>
              <a:rPr dirty="0" err="1"/>
              <a:t>hotel_id</a:t>
            </a:r>
            <a:r>
              <a:rPr dirty="0"/>
              <a:t> </a:t>
            </a:r>
            <a:r>
              <a:rPr dirty="0" err="1"/>
              <a:t>是所有者键，room_no</a:t>
            </a:r>
            <a:r>
              <a:rPr dirty="0"/>
              <a:t> </a:t>
            </a:r>
            <a:r>
              <a:rPr dirty="0" err="1"/>
              <a:t>是部分键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en-US" altLang="zh-CN" dirty="0"/>
              <a:t>Room </a:t>
            </a:r>
            <a:r>
              <a:rPr lang="zh-CN" altLang="en-US" dirty="0"/>
              <a:t>是弱实体，因为 </a:t>
            </a:r>
            <a:r>
              <a:rPr lang="en-US" altLang="zh-CN" dirty="0" err="1"/>
              <a:t>room_no</a:t>
            </a:r>
            <a:r>
              <a:rPr lang="en-US" altLang="zh-CN" dirty="0"/>
              <a:t> </a:t>
            </a:r>
            <a:r>
              <a:rPr lang="zh-CN" altLang="en-US" dirty="0"/>
              <a:t>只在同一家酒店内唯一。例如两家酒店都可以有 </a:t>
            </a:r>
            <a:r>
              <a:rPr lang="en-US" altLang="zh-CN" dirty="0"/>
              <a:t>101 </a:t>
            </a:r>
            <a:r>
              <a:rPr lang="zh-CN" altLang="en-US" dirty="0"/>
              <a:t>房间。</a:t>
            </a:r>
            <a:endParaRPr lang="en-US" dirty="0"/>
          </a:p>
          <a:p>
            <a:endParaRPr lang="en-US" dirty="0"/>
          </a:p>
          <a:p>
            <a:r>
              <a:rPr lang="en-US" dirty="0"/>
              <a:t>Hotel(</a:t>
            </a:r>
          </a:p>
          <a:p>
            <a:r>
              <a:rPr lang="en-US" dirty="0"/>
              <a:t>    </a:t>
            </a:r>
            <a:r>
              <a:rPr lang="en-US" dirty="0" err="1"/>
              <a:t>hotel_id</a:t>
            </a:r>
            <a:r>
              <a:rPr lang="en-US" dirty="0"/>
              <a:t> PRIMARY KEY,</a:t>
            </a:r>
          </a:p>
          <a:p>
            <a:r>
              <a:rPr lang="en-US" dirty="0"/>
              <a:t>    name,</a:t>
            </a:r>
          </a:p>
          <a:p>
            <a:r>
              <a:rPr lang="en-US" dirty="0"/>
              <a:t>    address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Room(</a:t>
            </a:r>
          </a:p>
          <a:p>
            <a:r>
              <a:rPr lang="en-US" dirty="0"/>
              <a:t>    </a:t>
            </a:r>
            <a:r>
              <a:rPr lang="en-US" dirty="0" err="1"/>
              <a:t>hotel_id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room_no</a:t>
            </a:r>
            <a:r>
              <a:rPr lang="en-US" dirty="0"/>
              <a:t>,</a:t>
            </a:r>
          </a:p>
          <a:p>
            <a:r>
              <a:rPr lang="en-US" dirty="0"/>
              <a:t>    floor,</a:t>
            </a:r>
          </a:p>
          <a:p>
            <a:r>
              <a:rPr lang="en-US" dirty="0"/>
              <a:t>    capacity,</a:t>
            </a:r>
          </a:p>
          <a:p>
            <a:endParaRPr lang="en-US" dirty="0"/>
          </a:p>
          <a:p>
            <a:r>
              <a:rPr lang="en-US" dirty="0"/>
              <a:t>    PRIMARY KEY (</a:t>
            </a:r>
            <a:r>
              <a:rPr lang="en-US" dirty="0" err="1"/>
              <a:t>hotel_id</a:t>
            </a:r>
            <a:r>
              <a:rPr lang="en-US" dirty="0"/>
              <a:t>, </a:t>
            </a:r>
            <a:r>
              <a:rPr lang="en-US" dirty="0" err="1"/>
              <a:t>room_no</a:t>
            </a:r>
            <a:r>
              <a:rPr lang="en-US" dirty="0"/>
              <a:t>),</a:t>
            </a:r>
          </a:p>
          <a:p>
            <a:r>
              <a:rPr lang="en-US" dirty="0"/>
              <a:t>    FOREIGN KEY (</a:t>
            </a:r>
            <a:r>
              <a:rPr lang="en-US" dirty="0" err="1"/>
              <a:t>hotel_id</a:t>
            </a:r>
            <a:r>
              <a:rPr lang="en-US" dirty="0"/>
              <a:t>) REFERENCES Hotel(</a:t>
            </a:r>
            <a:r>
              <a:rPr lang="en-US" dirty="0" err="1"/>
              <a:t>hotel_id</a:t>
            </a:r>
            <a:r>
              <a:rPr lang="en-US" dirty="0"/>
              <a:t>)</a:t>
            </a:r>
          </a:p>
          <a:p>
            <a:r>
              <a:rPr lang="en-US" dirty="0"/>
              <a:t>)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Employees(</a:t>
            </a:r>
            <a:r>
              <a:rPr lang="en-US" dirty="0" err="1"/>
              <a:t>ssn</a:t>
            </a:r>
            <a:r>
              <a:rPr lang="en-US" dirty="0"/>
              <a:t>, name, lot)</a:t>
            </a:r>
          </a:p>
          <a:p>
            <a:r>
              <a:rPr lang="en-US" dirty="0"/>
              <a:t>Projects(</a:t>
            </a:r>
            <a:r>
              <a:rPr lang="en-US" dirty="0" err="1"/>
              <a:t>pid</a:t>
            </a:r>
            <a:r>
              <a:rPr lang="en-US" dirty="0"/>
              <a:t>, </a:t>
            </a:r>
            <a:r>
              <a:rPr lang="en-US" dirty="0" err="1"/>
              <a:t>started_on</a:t>
            </a:r>
            <a:r>
              <a:rPr lang="en-US" dirty="0"/>
              <a:t>, </a:t>
            </a:r>
            <a:r>
              <a:rPr lang="en-US" dirty="0" err="1"/>
              <a:t>pbudget</a:t>
            </a:r>
            <a:r>
              <a:rPr lang="en-US" dirty="0"/>
              <a:t>)</a:t>
            </a:r>
          </a:p>
          <a:p>
            <a:r>
              <a:rPr lang="en-US" dirty="0"/>
              <a:t>Departments(did, </a:t>
            </a:r>
            <a:r>
              <a:rPr lang="en-US" dirty="0" err="1"/>
              <a:t>dname</a:t>
            </a:r>
            <a:r>
              <a:rPr lang="en-US" dirty="0"/>
              <a:t>, budget)</a:t>
            </a:r>
          </a:p>
          <a:p>
            <a:r>
              <a:rPr lang="en-US" dirty="0"/>
              <a:t>Sponsors(</a:t>
            </a:r>
            <a:r>
              <a:rPr lang="en-US" dirty="0" err="1"/>
              <a:t>pid</a:t>
            </a:r>
            <a:r>
              <a:rPr lang="en-US" dirty="0"/>
              <a:t>, did, since)</a:t>
            </a:r>
          </a:p>
          <a:p>
            <a:r>
              <a:rPr lang="en-US" dirty="0"/>
              <a:t>Monitors(</a:t>
            </a:r>
            <a:r>
              <a:rPr lang="en-US" dirty="0" err="1"/>
              <a:t>ssn</a:t>
            </a:r>
            <a:r>
              <a:rPr lang="en-US" dirty="0"/>
              <a:t>, </a:t>
            </a:r>
            <a:r>
              <a:rPr lang="en-US" dirty="0" err="1"/>
              <a:t>pid</a:t>
            </a:r>
            <a:r>
              <a:rPr lang="en-US" dirty="0"/>
              <a:t>, did, until)</a:t>
            </a:r>
          </a:p>
          <a:p>
            <a:endParaRPr lang="en-US" dirty="0"/>
          </a:p>
          <a:p>
            <a:r>
              <a:rPr lang="en-US" dirty="0"/>
              <a:t>CREATE TABLE Sponsors (</a:t>
            </a:r>
          </a:p>
          <a:p>
            <a:r>
              <a:rPr lang="en-US" dirty="0"/>
              <a:t>    </a:t>
            </a:r>
            <a:r>
              <a:rPr lang="en-US" dirty="0" err="1"/>
              <a:t>pid</a:t>
            </a:r>
            <a:r>
              <a:rPr lang="en-US" dirty="0"/>
              <a:t>   INTEGER,</a:t>
            </a:r>
          </a:p>
          <a:p>
            <a:r>
              <a:rPr lang="en-US" dirty="0"/>
              <a:t>    did   INTEGER,</a:t>
            </a:r>
          </a:p>
          <a:p>
            <a:r>
              <a:rPr lang="en-US" dirty="0"/>
              <a:t>    since DATE,</a:t>
            </a:r>
          </a:p>
          <a:p>
            <a:r>
              <a:rPr lang="en-US" dirty="0"/>
              <a:t>    PRIMARY KEY (</a:t>
            </a:r>
            <a:r>
              <a:rPr lang="en-US" dirty="0" err="1"/>
              <a:t>pid</a:t>
            </a:r>
            <a:r>
              <a:rPr lang="en-US" dirty="0"/>
              <a:t>, did),</a:t>
            </a:r>
          </a:p>
          <a:p>
            <a:r>
              <a:rPr lang="en-US" dirty="0"/>
              <a:t>    FOREIGN KEY (</a:t>
            </a:r>
            <a:r>
              <a:rPr lang="en-US" dirty="0" err="1"/>
              <a:t>pid</a:t>
            </a:r>
            <a:r>
              <a:rPr lang="en-US" dirty="0"/>
              <a:t>) REFERENCES Projects(</a:t>
            </a:r>
            <a:r>
              <a:rPr lang="en-US" dirty="0" err="1"/>
              <a:t>pid</a:t>
            </a:r>
            <a:r>
              <a:rPr lang="en-US" dirty="0"/>
              <a:t>),</a:t>
            </a:r>
          </a:p>
          <a:p>
            <a:r>
              <a:rPr lang="en-US" dirty="0"/>
              <a:t>    FOREIGN KEY (did) REFERENCES Departments(did)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CREATE TABLE Monitors (</a:t>
            </a:r>
          </a:p>
          <a:p>
            <a:r>
              <a:rPr lang="en-US" dirty="0"/>
              <a:t>    </a:t>
            </a:r>
            <a:r>
              <a:rPr lang="en-US" dirty="0" err="1"/>
              <a:t>ssn</a:t>
            </a:r>
            <a:r>
              <a:rPr lang="en-US" dirty="0"/>
              <a:t>   CHAR(11),</a:t>
            </a:r>
          </a:p>
          <a:p>
            <a:r>
              <a:rPr lang="en-US" dirty="0"/>
              <a:t>    </a:t>
            </a:r>
            <a:r>
              <a:rPr lang="en-US" dirty="0" err="1"/>
              <a:t>pid</a:t>
            </a:r>
            <a:r>
              <a:rPr lang="en-US" dirty="0"/>
              <a:t>   INTEGER,</a:t>
            </a:r>
          </a:p>
          <a:p>
            <a:r>
              <a:rPr lang="en-US" dirty="0"/>
              <a:t>    did   INTEGER,</a:t>
            </a:r>
          </a:p>
          <a:p>
            <a:r>
              <a:rPr lang="en-US" dirty="0"/>
              <a:t>    until DATE,</a:t>
            </a:r>
          </a:p>
          <a:p>
            <a:r>
              <a:rPr lang="en-US" dirty="0"/>
              <a:t>    PRIMARY KEY (</a:t>
            </a:r>
            <a:r>
              <a:rPr lang="en-US" dirty="0" err="1"/>
              <a:t>ssn</a:t>
            </a:r>
            <a:r>
              <a:rPr lang="en-US" dirty="0"/>
              <a:t>, </a:t>
            </a:r>
            <a:r>
              <a:rPr lang="en-US" dirty="0" err="1"/>
              <a:t>pid</a:t>
            </a:r>
            <a:r>
              <a:rPr lang="en-US" dirty="0"/>
              <a:t>, did),</a:t>
            </a:r>
          </a:p>
          <a:p>
            <a:r>
              <a:rPr lang="en-US" dirty="0"/>
              <a:t>    FOREIGN KEY (</a:t>
            </a:r>
            <a:r>
              <a:rPr lang="en-US" dirty="0" err="1"/>
              <a:t>ssn</a:t>
            </a:r>
            <a:r>
              <a:rPr lang="en-US" dirty="0"/>
              <a:t>) REFERENCES Employees(</a:t>
            </a:r>
            <a:r>
              <a:rPr lang="en-US" dirty="0" err="1"/>
              <a:t>ssn</a:t>
            </a:r>
            <a:r>
              <a:rPr lang="en-US" dirty="0"/>
              <a:t>),</a:t>
            </a:r>
          </a:p>
          <a:p>
            <a:r>
              <a:rPr lang="en-US" dirty="0"/>
              <a:t>    FOREIGN KEY (</a:t>
            </a:r>
            <a:r>
              <a:rPr lang="en-US" dirty="0" err="1"/>
              <a:t>pid</a:t>
            </a:r>
            <a:r>
              <a:rPr lang="en-US" dirty="0"/>
              <a:t>, did) REFERENCES Sponsors(</a:t>
            </a:r>
            <a:r>
              <a:rPr lang="en-US" dirty="0" err="1"/>
              <a:t>pid</a:t>
            </a:r>
            <a:r>
              <a:rPr lang="en-US" dirty="0"/>
              <a:t>, did)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FOREIGN KEY (</a:t>
            </a:r>
            <a:r>
              <a:rPr lang="en-US" dirty="0" err="1"/>
              <a:t>pid</a:t>
            </a:r>
            <a:r>
              <a:rPr lang="en-US" dirty="0"/>
              <a:t>, did) REFERENCES Sponsors(</a:t>
            </a:r>
            <a:r>
              <a:rPr lang="en-US" dirty="0" err="1"/>
              <a:t>pid</a:t>
            </a:r>
            <a:r>
              <a:rPr lang="en-US" dirty="0"/>
              <a:t>, did)</a:t>
            </a:r>
          </a:p>
          <a:p>
            <a:endParaRPr lang="en-US" dirty="0"/>
          </a:p>
          <a:p>
            <a:r>
              <a:rPr lang="zh-CN" altLang="en-US" dirty="0"/>
              <a:t>它保证员工只能监控一个</a:t>
            </a:r>
            <a:r>
              <a:rPr lang="zh-CN" altLang="en-US" b="1" dirty="0"/>
              <a:t>实际存在的资助关系</a:t>
            </a:r>
            <a:r>
              <a:rPr lang="zh-CN" altLang="en-US" dirty="0"/>
              <a:t>。如果 </a:t>
            </a:r>
            <a:r>
              <a:rPr lang="en-US" altLang="zh-CN" dirty="0"/>
              <a:t>P01 </a:t>
            </a:r>
            <a:r>
              <a:rPr lang="zh-CN" altLang="en-US" dirty="0"/>
              <a:t>和 </a:t>
            </a:r>
            <a:r>
              <a:rPr lang="en-US" altLang="zh-CN" dirty="0"/>
              <a:t>D10 </a:t>
            </a:r>
            <a:r>
              <a:rPr lang="zh-CN" altLang="en-US" dirty="0"/>
              <a:t>分别存在，但 </a:t>
            </a:r>
            <a:r>
              <a:rPr lang="en-US" altLang="zh-CN" dirty="0"/>
              <a:t>D10 </a:t>
            </a:r>
            <a:r>
              <a:rPr lang="zh-CN" altLang="en-US" dirty="0"/>
              <a:t>并未资助 </a:t>
            </a:r>
            <a:r>
              <a:rPr lang="en-US" altLang="zh-CN" dirty="0"/>
              <a:t>P01</a:t>
            </a:r>
            <a:r>
              <a:rPr lang="zh-CN" altLang="en-US" dirty="0"/>
              <a:t>，那么不能插入对应的 </a:t>
            </a:r>
            <a:r>
              <a:rPr lang="en-US" altLang="zh-CN" dirty="0"/>
              <a:t>Monitors </a:t>
            </a:r>
            <a:r>
              <a:rPr lang="zh-CN" altLang="en-US" dirty="0"/>
              <a:t>记录。图中没有给出其他键约束，所以这里按照多对多关系使用复合主键。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Employees(</a:t>
            </a:r>
            <a:r>
              <a:rPr lang="en-US" altLang="zh-CN" dirty="0" err="1"/>
              <a:t>ssn</a:t>
            </a:r>
            <a:r>
              <a:rPr lang="en-US" altLang="zh-CN" dirty="0"/>
              <a:t>, name, lot)</a:t>
            </a:r>
          </a:p>
          <a:p>
            <a:r>
              <a:rPr lang="en-US" altLang="zh-CN" dirty="0"/>
              <a:t>Projects(</a:t>
            </a:r>
            <a:r>
              <a:rPr lang="en-US" altLang="zh-CN" dirty="0" err="1"/>
              <a:t>pid</a:t>
            </a:r>
            <a:r>
              <a:rPr lang="en-US" altLang="zh-CN" dirty="0"/>
              <a:t>, </a:t>
            </a:r>
            <a:r>
              <a:rPr lang="en-US" altLang="zh-CN" dirty="0" err="1"/>
              <a:t>started_on</a:t>
            </a:r>
            <a:r>
              <a:rPr lang="en-US" altLang="zh-CN" dirty="0"/>
              <a:t>, </a:t>
            </a:r>
            <a:r>
              <a:rPr lang="en-US" altLang="zh-CN" dirty="0" err="1"/>
              <a:t>pbudget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Departments(did, </a:t>
            </a:r>
            <a:r>
              <a:rPr lang="en-US" altLang="zh-CN" dirty="0" err="1"/>
              <a:t>dname</a:t>
            </a:r>
            <a:r>
              <a:rPr lang="en-US" altLang="zh-CN" dirty="0"/>
              <a:t>, budget)</a:t>
            </a:r>
          </a:p>
          <a:p>
            <a:r>
              <a:rPr lang="en-US" altLang="zh-CN" dirty="0"/>
              <a:t>Sponsors(</a:t>
            </a:r>
            <a:r>
              <a:rPr lang="en-US" altLang="zh-CN" dirty="0" err="1"/>
              <a:t>pid</a:t>
            </a:r>
            <a:r>
              <a:rPr lang="en-US" altLang="zh-CN" dirty="0"/>
              <a:t>, did, since)</a:t>
            </a:r>
          </a:p>
          <a:p>
            <a:r>
              <a:rPr lang="en-US" altLang="zh-CN" dirty="0"/>
              <a:t>Monitors(</a:t>
            </a:r>
            <a:r>
              <a:rPr lang="en-US" altLang="zh-CN" dirty="0" err="1"/>
              <a:t>ssn</a:t>
            </a:r>
            <a:r>
              <a:rPr lang="en-US" altLang="zh-CN" dirty="0"/>
              <a:t>, </a:t>
            </a:r>
            <a:r>
              <a:rPr lang="en-US" altLang="zh-CN" dirty="0" err="1"/>
              <a:t>pid</a:t>
            </a:r>
            <a:r>
              <a:rPr lang="en-US" altLang="zh-CN" dirty="0"/>
              <a:t>, did, until)</a:t>
            </a:r>
          </a:p>
          <a:p>
            <a:endParaRPr lang="en-US" altLang="zh-CN" dirty="0"/>
          </a:p>
          <a:p>
            <a:r>
              <a:rPr lang="en-US" altLang="zh-CN" dirty="0"/>
              <a:t>CREATE TABLE Sponsors (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pid</a:t>
            </a:r>
            <a:r>
              <a:rPr lang="en-US" altLang="zh-CN" dirty="0"/>
              <a:t>   INTEGER,</a:t>
            </a:r>
          </a:p>
          <a:p>
            <a:r>
              <a:rPr lang="en-US" altLang="zh-CN" dirty="0"/>
              <a:t>    did   INTEGER,</a:t>
            </a:r>
          </a:p>
          <a:p>
            <a:r>
              <a:rPr lang="en-US" altLang="zh-CN" dirty="0"/>
              <a:t>    since DATE,</a:t>
            </a:r>
          </a:p>
          <a:p>
            <a:r>
              <a:rPr lang="en-US" altLang="zh-CN" dirty="0"/>
              <a:t>    PRIMARY KEY (</a:t>
            </a:r>
            <a:r>
              <a:rPr lang="en-US" altLang="zh-CN" dirty="0" err="1"/>
              <a:t>pid</a:t>
            </a:r>
            <a:r>
              <a:rPr lang="en-US" altLang="zh-CN" dirty="0"/>
              <a:t>, did),</a:t>
            </a:r>
          </a:p>
          <a:p>
            <a:r>
              <a:rPr lang="en-US" altLang="zh-CN" dirty="0"/>
              <a:t>    FOREIGN KEY (</a:t>
            </a:r>
            <a:r>
              <a:rPr lang="en-US" altLang="zh-CN" dirty="0" err="1"/>
              <a:t>pid</a:t>
            </a:r>
            <a:r>
              <a:rPr lang="en-US" altLang="zh-CN" dirty="0"/>
              <a:t>) REFERENCES Projects(</a:t>
            </a:r>
            <a:r>
              <a:rPr lang="en-US" altLang="zh-CN" dirty="0" err="1"/>
              <a:t>pid</a:t>
            </a:r>
            <a:r>
              <a:rPr lang="en-US" altLang="zh-CN" dirty="0"/>
              <a:t>),</a:t>
            </a:r>
          </a:p>
          <a:p>
            <a:r>
              <a:rPr lang="en-US" altLang="zh-CN" dirty="0"/>
              <a:t>    FOREIGN KEY (did) REFERENCES Departments(did)</a:t>
            </a:r>
          </a:p>
          <a:p>
            <a:r>
              <a:rPr lang="en-US" altLang="zh-CN" dirty="0"/>
              <a:t>);</a:t>
            </a:r>
          </a:p>
          <a:p>
            <a:endParaRPr lang="en-US" altLang="zh-CN" dirty="0"/>
          </a:p>
          <a:p>
            <a:r>
              <a:rPr lang="en-US" altLang="zh-CN" dirty="0"/>
              <a:t>CREATE TABLE Monitors (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ssn</a:t>
            </a:r>
            <a:r>
              <a:rPr lang="en-US" altLang="zh-CN" dirty="0"/>
              <a:t>   CHAR(11),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pid</a:t>
            </a:r>
            <a:r>
              <a:rPr lang="en-US" altLang="zh-CN" dirty="0"/>
              <a:t>   INTEGER,</a:t>
            </a:r>
          </a:p>
          <a:p>
            <a:r>
              <a:rPr lang="en-US" altLang="zh-CN" dirty="0"/>
              <a:t>    did   INTEGER,</a:t>
            </a:r>
          </a:p>
          <a:p>
            <a:r>
              <a:rPr lang="en-US" altLang="zh-CN" dirty="0"/>
              <a:t>    until DATE,</a:t>
            </a:r>
          </a:p>
          <a:p>
            <a:r>
              <a:rPr lang="en-US" altLang="zh-CN" dirty="0"/>
              <a:t>    PRIMARY KEY (</a:t>
            </a:r>
            <a:r>
              <a:rPr lang="en-US" altLang="zh-CN" dirty="0" err="1"/>
              <a:t>ssn</a:t>
            </a:r>
            <a:r>
              <a:rPr lang="en-US" altLang="zh-CN" dirty="0"/>
              <a:t>, </a:t>
            </a:r>
            <a:r>
              <a:rPr lang="en-US" altLang="zh-CN" dirty="0" err="1"/>
              <a:t>pid</a:t>
            </a:r>
            <a:r>
              <a:rPr lang="en-US" altLang="zh-CN" dirty="0"/>
              <a:t>, did),</a:t>
            </a:r>
          </a:p>
          <a:p>
            <a:r>
              <a:rPr lang="en-US" altLang="zh-CN" dirty="0"/>
              <a:t>    FOREIGN KEY (</a:t>
            </a:r>
            <a:r>
              <a:rPr lang="en-US" altLang="zh-CN" dirty="0" err="1"/>
              <a:t>ssn</a:t>
            </a:r>
            <a:r>
              <a:rPr lang="en-US" altLang="zh-CN" dirty="0"/>
              <a:t>) REFERENCES Employees(</a:t>
            </a:r>
            <a:r>
              <a:rPr lang="en-US" altLang="zh-CN" dirty="0" err="1"/>
              <a:t>ssn</a:t>
            </a:r>
            <a:r>
              <a:rPr lang="en-US" altLang="zh-CN" dirty="0"/>
              <a:t>),</a:t>
            </a:r>
          </a:p>
          <a:p>
            <a:r>
              <a:rPr lang="en-US" altLang="zh-CN" dirty="0"/>
              <a:t>    FOREIGN KEY (</a:t>
            </a:r>
            <a:r>
              <a:rPr lang="en-US" altLang="zh-CN" dirty="0" err="1"/>
              <a:t>pid</a:t>
            </a:r>
            <a:r>
              <a:rPr lang="en-US" altLang="zh-CN" dirty="0"/>
              <a:t>, did) REFERENCES Sponsors(</a:t>
            </a:r>
            <a:r>
              <a:rPr lang="en-US" altLang="zh-CN" dirty="0" err="1"/>
              <a:t>pid</a:t>
            </a:r>
            <a:r>
              <a:rPr lang="en-US" altLang="zh-CN" dirty="0"/>
              <a:t>, did)</a:t>
            </a:r>
          </a:p>
          <a:p>
            <a:r>
              <a:rPr lang="en-US" altLang="zh-CN" dirty="0"/>
              <a:t>);</a:t>
            </a:r>
          </a:p>
          <a:p>
            <a:endParaRPr lang="en-US" altLang="zh-CN" dirty="0"/>
          </a:p>
          <a:p>
            <a:r>
              <a:rPr lang="en-US" altLang="zh-CN" dirty="0"/>
              <a:t>FOREIGN KEY (</a:t>
            </a:r>
            <a:r>
              <a:rPr lang="en-US" altLang="zh-CN" dirty="0" err="1"/>
              <a:t>pid</a:t>
            </a:r>
            <a:r>
              <a:rPr lang="en-US" altLang="zh-CN" dirty="0"/>
              <a:t>, did) REFERENCES Sponsors(</a:t>
            </a:r>
            <a:r>
              <a:rPr lang="en-US" altLang="zh-CN" dirty="0" err="1"/>
              <a:t>pid</a:t>
            </a:r>
            <a:r>
              <a:rPr lang="en-US" altLang="zh-CN" dirty="0"/>
              <a:t>, did)</a:t>
            </a:r>
          </a:p>
          <a:p>
            <a:endParaRPr lang="en-US" altLang="zh-CN" dirty="0"/>
          </a:p>
          <a:p>
            <a:r>
              <a:rPr lang="zh-CN" altLang="en-US" dirty="0"/>
              <a:t>它保证员工只能监控一个</a:t>
            </a:r>
            <a:r>
              <a:rPr lang="zh-CN" altLang="en-US" b="1" dirty="0"/>
              <a:t>实际存在的资助关系</a:t>
            </a:r>
            <a:r>
              <a:rPr lang="zh-CN" altLang="en-US" dirty="0"/>
              <a:t>。如果 </a:t>
            </a:r>
            <a:r>
              <a:rPr lang="en-US" altLang="zh-CN" dirty="0"/>
              <a:t>P01 </a:t>
            </a:r>
            <a:r>
              <a:rPr lang="zh-CN" altLang="en-US" dirty="0"/>
              <a:t>和 </a:t>
            </a:r>
            <a:r>
              <a:rPr lang="en-US" altLang="zh-CN" dirty="0"/>
              <a:t>D10 </a:t>
            </a:r>
            <a:r>
              <a:rPr lang="zh-CN" altLang="en-US" dirty="0"/>
              <a:t>分别存在，但 </a:t>
            </a:r>
            <a:r>
              <a:rPr lang="en-US" altLang="zh-CN" dirty="0"/>
              <a:t>D10 </a:t>
            </a:r>
            <a:r>
              <a:rPr lang="zh-CN" altLang="en-US" dirty="0"/>
              <a:t>并未资助 </a:t>
            </a:r>
            <a:r>
              <a:rPr lang="en-US" altLang="zh-CN" dirty="0"/>
              <a:t>P01</a:t>
            </a:r>
            <a:r>
              <a:rPr lang="zh-CN" altLang="en-US" dirty="0"/>
              <a:t>，那么不能插入对应的 </a:t>
            </a:r>
            <a:r>
              <a:rPr lang="en-US" altLang="zh-CN" dirty="0"/>
              <a:t>Monitors </a:t>
            </a:r>
            <a:r>
              <a:rPr lang="zh-CN" altLang="en-US" dirty="0"/>
              <a:t>记录。图中没有给出其他键约束，所以这里按照多对多关系使用复合主键。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建议用时：3 分钟。</a:t>
            </a:r>
          </a:p>
          <a:p>
            <a:r>
              <a:t>针对每类错误，询问数据库可能允许哪一种非法状态。测试非法实例往往能够发现缺失的主键、外键、NOT NULL 或 CHECK 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建议用时：8 分钟。</a:t>
            </a:r>
          </a:p>
          <a:p>
            <a:r>
              <a:t>鼓励各组使用代理键 appointment_id，或经过仔细定义的复合键。提醒学生拆分多值电话号码和诊断代码。询问预约刚建立时，room 是否可以未知。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建议用时：3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把参考方案与学生设计进行比较。诊室分配前，room</a:t>
            </a:r>
            <a:r>
              <a:rPr dirty="0"/>
              <a:t> </a:t>
            </a:r>
            <a:r>
              <a:rPr dirty="0" err="1"/>
              <a:t>可以为空。如果诊断代码来自受控列表，可另建</a:t>
            </a:r>
            <a:r>
              <a:rPr dirty="0"/>
              <a:t> Diagnosis(code, description) </a:t>
            </a:r>
            <a:r>
              <a:rPr dirty="0" err="1"/>
              <a:t>关系并使用外键，以提高一致性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下面是一套完整、规范化的诊所数据库设计。假设患者出生日期可能未知、预约诊室可能尚未分配，因此 </a:t>
            </a:r>
            <a:r>
              <a:rPr lang="en-US" altLang="zh-CN" dirty="0"/>
              <a:t>dob </a:t>
            </a:r>
            <a:r>
              <a:rPr lang="zh-CN" altLang="en-US" dirty="0"/>
              <a:t>和 </a:t>
            </a:r>
            <a:r>
              <a:rPr lang="en-US" altLang="zh-CN" dirty="0"/>
              <a:t>room </a:t>
            </a:r>
            <a:r>
              <a:rPr lang="zh-CN" altLang="en-US" dirty="0"/>
              <a:t>可为 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</a:p>
          <a:p>
            <a:r>
              <a:rPr lang="en-US" altLang="zh-CN" b="1" dirty="0"/>
              <a:t>1. </a:t>
            </a:r>
            <a:r>
              <a:rPr lang="zh-CN" altLang="en-US" b="1" dirty="0"/>
              <a:t>关系与键</a:t>
            </a:r>
          </a:p>
          <a:p>
            <a:r>
              <a:rPr lang="zh-CN" altLang="en-US" dirty="0"/>
              <a:t>关系属性与约束</a:t>
            </a:r>
            <a:r>
              <a:rPr lang="en-US" altLang="zh-CN" dirty="0" err="1"/>
              <a:t>Doctordoctor_id</a:t>
            </a:r>
            <a:r>
              <a:rPr lang="en-US" altLang="zh-CN" dirty="0"/>
              <a:t> </a:t>
            </a:r>
            <a:r>
              <a:rPr lang="zh-CN" altLang="en-US" dirty="0"/>
              <a:t>主键；</a:t>
            </a:r>
            <a:endParaRPr lang="en-US" altLang="zh-CN" dirty="0"/>
          </a:p>
          <a:p>
            <a:r>
              <a:rPr lang="en-US" altLang="zh-CN" dirty="0"/>
              <a:t>name </a:t>
            </a:r>
            <a:r>
              <a:rPr lang="zh-CN" altLang="en-US" dirty="0"/>
              <a:t>非空</a:t>
            </a:r>
            <a:r>
              <a:rPr lang="en-US" altLang="zh-CN" dirty="0" err="1"/>
              <a:t>Patientpatient_id</a:t>
            </a:r>
            <a:r>
              <a:rPr lang="en-US" altLang="zh-CN" dirty="0"/>
              <a:t> </a:t>
            </a:r>
            <a:r>
              <a:rPr lang="zh-CN" altLang="en-US" dirty="0"/>
              <a:t>主键；</a:t>
            </a:r>
            <a:endParaRPr lang="en-US" altLang="zh-CN" dirty="0"/>
          </a:p>
          <a:p>
            <a:r>
              <a:rPr lang="en-US" altLang="zh-CN" dirty="0"/>
              <a:t>name </a:t>
            </a:r>
            <a:r>
              <a:rPr lang="zh-CN" altLang="en-US" dirty="0"/>
              <a:t>非空；</a:t>
            </a:r>
            <a:endParaRPr lang="en-US" altLang="zh-CN" dirty="0"/>
          </a:p>
          <a:p>
            <a:r>
              <a:rPr lang="en-US" altLang="zh-CN" dirty="0"/>
              <a:t>dob </a:t>
            </a:r>
            <a:r>
              <a:rPr lang="zh-CN" altLang="en-US" dirty="0"/>
              <a:t>可空</a:t>
            </a:r>
            <a:r>
              <a:rPr lang="en-US" altLang="zh-CN" dirty="0" err="1"/>
              <a:t>PatientPhone</a:t>
            </a:r>
            <a:r>
              <a:rPr lang="en-US" altLang="zh-CN" dirty="0"/>
              <a:t>(</a:t>
            </a:r>
            <a:r>
              <a:rPr lang="en-US" altLang="zh-CN" dirty="0" err="1"/>
              <a:t>patient_id</a:t>
            </a:r>
            <a:r>
              <a:rPr lang="en-US" altLang="zh-CN" dirty="0"/>
              <a:t>, phone) </a:t>
            </a:r>
            <a:r>
              <a:rPr lang="zh-CN" altLang="en-US" dirty="0"/>
              <a:t>复合主键；</a:t>
            </a:r>
            <a:endParaRPr lang="en-US" altLang="zh-CN" dirty="0"/>
          </a:p>
          <a:p>
            <a:r>
              <a:rPr lang="en-US" altLang="zh-CN" dirty="0" err="1"/>
              <a:t>patient_id</a:t>
            </a:r>
            <a:r>
              <a:rPr lang="en-US" altLang="zh-CN" dirty="0"/>
              <a:t> </a:t>
            </a:r>
            <a:r>
              <a:rPr lang="zh-CN" altLang="en-US" dirty="0"/>
              <a:t>外键</a:t>
            </a:r>
            <a:r>
              <a:rPr lang="en-US" altLang="zh-CN" dirty="0" err="1"/>
              <a:t>Appointmentappointment_id</a:t>
            </a:r>
            <a:r>
              <a:rPr lang="en-US" altLang="zh-CN" dirty="0"/>
              <a:t> </a:t>
            </a:r>
            <a:r>
              <a:rPr lang="zh-CN" altLang="en-US" dirty="0"/>
              <a:t>主键；</a:t>
            </a:r>
            <a:endParaRPr lang="en-US" altLang="zh-CN" dirty="0"/>
          </a:p>
          <a:p>
            <a:r>
              <a:rPr lang="en-US" altLang="zh-CN" dirty="0" err="1"/>
              <a:t>doctor_id</a:t>
            </a:r>
            <a:r>
              <a:rPr lang="zh-CN" altLang="en-US" dirty="0"/>
              <a:t>、</a:t>
            </a:r>
            <a:r>
              <a:rPr lang="en-US" altLang="zh-CN" dirty="0" err="1"/>
              <a:t>patient_id</a:t>
            </a:r>
            <a:r>
              <a:rPr lang="en-US" altLang="zh-CN" dirty="0"/>
              <a:t> </a:t>
            </a:r>
            <a:r>
              <a:rPr lang="zh-CN" altLang="en-US" dirty="0"/>
              <a:t>外键；</a:t>
            </a:r>
            <a:endParaRPr lang="en-US" altLang="zh-CN" dirty="0"/>
          </a:p>
          <a:p>
            <a:r>
              <a:rPr lang="en-US" altLang="zh-CN" dirty="0"/>
              <a:t>room </a:t>
            </a:r>
            <a:r>
              <a:rPr lang="zh-CN" altLang="en-US" dirty="0"/>
              <a:t>可空</a:t>
            </a:r>
            <a:r>
              <a:rPr lang="en-US" altLang="zh-CN" dirty="0" err="1"/>
              <a:t>Diagnosisdiagnosis_code</a:t>
            </a:r>
            <a:r>
              <a:rPr lang="en-US" altLang="zh-CN" dirty="0"/>
              <a:t> </a:t>
            </a:r>
            <a:r>
              <a:rPr lang="zh-CN" altLang="en-US" dirty="0"/>
              <a:t>主键；用于验证诊断代码</a:t>
            </a:r>
            <a:endParaRPr lang="en-US" altLang="zh-CN" dirty="0"/>
          </a:p>
          <a:p>
            <a:r>
              <a:rPr lang="en-US" altLang="zh-CN" dirty="0" err="1"/>
              <a:t>AppointmentDiagnosis</a:t>
            </a:r>
            <a:r>
              <a:rPr lang="en-US" altLang="zh-CN" dirty="0"/>
              <a:t>(</a:t>
            </a:r>
            <a:r>
              <a:rPr lang="en-US" altLang="zh-CN" dirty="0" err="1"/>
              <a:t>appointment_id</a:t>
            </a:r>
            <a:r>
              <a:rPr lang="en-US" altLang="zh-CN" dirty="0"/>
              <a:t>, </a:t>
            </a:r>
            <a:r>
              <a:rPr lang="en-US" altLang="zh-CN" dirty="0" err="1"/>
              <a:t>diagnosis_code</a:t>
            </a:r>
            <a:r>
              <a:rPr lang="en-US" altLang="zh-CN" dirty="0"/>
              <a:t>) </a:t>
            </a:r>
            <a:r>
              <a:rPr lang="zh-CN" altLang="en-US" dirty="0"/>
              <a:t>复合主键；两列都是外键</a:t>
            </a:r>
          </a:p>
          <a:p>
            <a:r>
              <a:rPr lang="zh-CN" altLang="en-US" dirty="0"/>
              <a:t>对应关系为：</a:t>
            </a:r>
          </a:p>
          <a:p>
            <a:r>
              <a:rPr lang="en-US" altLang="zh-CN" dirty="0"/>
              <a:t>Doctor 1:N Appointment</a:t>
            </a:r>
          </a:p>
          <a:p>
            <a:r>
              <a:rPr lang="en-US" altLang="zh-CN" dirty="0"/>
              <a:t>Patient 1:N Appointment</a:t>
            </a:r>
          </a:p>
          <a:p>
            <a:r>
              <a:rPr lang="en-US" altLang="zh-CN" dirty="0"/>
              <a:t>Patient 1:N </a:t>
            </a:r>
            <a:r>
              <a:rPr lang="en-US" altLang="zh-CN" dirty="0" err="1"/>
              <a:t>PatientPhone</a:t>
            </a:r>
            <a:endParaRPr lang="en-US" altLang="zh-CN" dirty="0"/>
          </a:p>
          <a:p>
            <a:r>
              <a:rPr lang="en-US" altLang="zh-CN" dirty="0"/>
              <a:t>Appointment M:N Diagnosis</a:t>
            </a:r>
          </a:p>
          <a:p>
            <a:endParaRPr lang="zh-CN" altLang="en-US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完整 </a:t>
            </a:r>
            <a:r>
              <a:rPr lang="en-US" altLang="zh-CN" b="1" dirty="0"/>
              <a:t>SQL</a:t>
            </a:r>
          </a:p>
          <a:p>
            <a:r>
              <a:rPr lang="en-US" altLang="zh-CN" dirty="0"/>
              <a:t>CREATE TABLE Doctor (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doctor_id</a:t>
            </a:r>
            <a:r>
              <a:rPr lang="en-US" altLang="zh-CN" dirty="0"/>
              <a:t> VARCHAR(20)  NOT NULL,</a:t>
            </a:r>
          </a:p>
          <a:p>
            <a:r>
              <a:rPr lang="en-US" altLang="zh-CN" dirty="0"/>
              <a:t>    name      VARCHAR(100) NOT NULL,</a:t>
            </a:r>
          </a:p>
          <a:p>
            <a:endParaRPr lang="en-US" altLang="zh-CN" dirty="0"/>
          </a:p>
          <a:p>
            <a:r>
              <a:rPr lang="en-US" altLang="zh-CN" dirty="0"/>
              <a:t>    CONSTRAINT </a:t>
            </a:r>
            <a:r>
              <a:rPr lang="en-US" altLang="zh-CN" dirty="0" err="1"/>
              <a:t>pk_doctor</a:t>
            </a:r>
            <a:endParaRPr lang="en-US" altLang="zh-CN" dirty="0"/>
          </a:p>
          <a:p>
            <a:r>
              <a:rPr lang="en-US" altLang="zh-CN" dirty="0"/>
              <a:t>        PRIMARY KEY (</a:t>
            </a:r>
            <a:r>
              <a:rPr lang="en-US" altLang="zh-CN" dirty="0" err="1"/>
              <a:t>doctor_id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);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CREATE TABLE Patient (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patient_id</a:t>
            </a:r>
            <a:r>
              <a:rPr lang="en-US" altLang="zh-CN" dirty="0"/>
              <a:t> VARCHAR(20)  NOT NULL,</a:t>
            </a:r>
          </a:p>
          <a:p>
            <a:r>
              <a:rPr lang="en-US" altLang="zh-CN" dirty="0"/>
              <a:t>    name       VARCHAR(100) NOT NULL,</a:t>
            </a:r>
          </a:p>
          <a:p>
            <a:r>
              <a:rPr lang="en-US" altLang="zh-CN" dirty="0"/>
              <a:t>    dob        DATE         NULL,</a:t>
            </a:r>
          </a:p>
          <a:p>
            <a:endParaRPr lang="en-US" altLang="zh-CN" dirty="0"/>
          </a:p>
          <a:p>
            <a:r>
              <a:rPr lang="en-US" altLang="zh-CN" dirty="0"/>
              <a:t>    CONSTRAINT </a:t>
            </a:r>
            <a:r>
              <a:rPr lang="en-US" altLang="zh-CN" dirty="0" err="1"/>
              <a:t>pk_patient</a:t>
            </a:r>
            <a:endParaRPr lang="en-US" altLang="zh-CN" dirty="0"/>
          </a:p>
          <a:p>
            <a:r>
              <a:rPr lang="en-US" altLang="zh-CN" dirty="0"/>
              <a:t>        PRIMARY KEY (</a:t>
            </a:r>
            <a:r>
              <a:rPr lang="en-US" altLang="zh-CN" dirty="0" err="1"/>
              <a:t>patient_id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);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CREATE TABLE </a:t>
            </a:r>
            <a:r>
              <a:rPr lang="en-US" altLang="zh-CN" b="1" dirty="0" err="1"/>
              <a:t>PatientPhone</a:t>
            </a:r>
            <a:r>
              <a:rPr lang="en-US" altLang="zh-CN" b="1" dirty="0"/>
              <a:t> (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patient_id</a:t>
            </a:r>
            <a:r>
              <a:rPr lang="en-US" altLang="zh-CN" b="1" dirty="0"/>
              <a:t> VARCHAR(20) NOT NULL,</a:t>
            </a:r>
          </a:p>
          <a:p>
            <a:r>
              <a:rPr lang="en-US" altLang="zh-CN" b="1" dirty="0"/>
              <a:t>    phone      VARCHAR(30) NOT NULL,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pk_patient_phone</a:t>
            </a:r>
            <a:endParaRPr lang="en-US" altLang="zh-CN" b="1" dirty="0"/>
          </a:p>
          <a:p>
            <a:r>
              <a:rPr lang="en-US" altLang="zh-CN" b="1" dirty="0"/>
              <a:t>        PRIMARY KEY (</a:t>
            </a:r>
            <a:r>
              <a:rPr lang="en-US" altLang="zh-CN" b="1" dirty="0" err="1"/>
              <a:t>patient_id</a:t>
            </a:r>
            <a:r>
              <a:rPr lang="en-US" altLang="zh-CN" b="1" dirty="0"/>
              <a:t>, phone),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fk_phone_patient</a:t>
            </a:r>
            <a:endParaRPr lang="en-US" altLang="zh-CN" b="1" dirty="0"/>
          </a:p>
          <a:p>
            <a:r>
              <a:rPr lang="en-US" altLang="zh-CN" b="1" dirty="0"/>
              <a:t>        FOREIGN KEY (</a:t>
            </a:r>
            <a:r>
              <a:rPr lang="en-US" altLang="zh-CN" b="1" dirty="0" err="1"/>
              <a:t>patient_id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REFERENCES Patient(</a:t>
            </a:r>
            <a:r>
              <a:rPr lang="en-US" altLang="zh-CN" b="1" dirty="0" err="1"/>
              <a:t>patient_id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ON DELETE CASCADE</a:t>
            </a:r>
          </a:p>
          <a:p>
            <a:r>
              <a:rPr lang="en-US" altLang="zh-CN" b="1" dirty="0"/>
              <a:t>);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CREATE TABLE Diagnosis (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diagnosis_code</a:t>
            </a:r>
            <a:r>
              <a:rPr lang="en-US" altLang="zh-CN" b="1" dirty="0"/>
              <a:t> VARCHAR(20)  NOT NULL,</a:t>
            </a:r>
          </a:p>
          <a:p>
            <a:r>
              <a:rPr lang="en-US" altLang="zh-CN" b="1" dirty="0"/>
              <a:t>    description    VARCHAR(200) NOT NULL,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pk_diagnosis</a:t>
            </a:r>
            <a:endParaRPr lang="en-US" altLang="zh-CN" b="1" dirty="0"/>
          </a:p>
          <a:p>
            <a:r>
              <a:rPr lang="en-US" altLang="zh-CN" b="1" dirty="0"/>
              <a:t>        PRIMARY KEY (</a:t>
            </a:r>
            <a:r>
              <a:rPr lang="en-US" altLang="zh-CN" b="1" dirty="0" err="1"/>
              <a:t>diagnosis_code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);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CREATE TABLE Appointment (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appointment_id</a:t>
            </a:r>
            <a:r>
              <a:rPr lang="en-US" altLang="zh-CN" b="1" dirty="0"/>
              <a:t> BIGINT       NOT NULL,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doctor_id</a:t>
            </a:r>
            <a:r>
              <a:rPr lang="en-US" altLang="zh-CN" b="1" dirty="0"/>
              <a:t>      VARCHAR(20)  NOT NULL,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patient_id</a:t>
            </a:r>
            <a:r>
              <a:rPr lang="en-US" altLang="zh-CN" b="1" dirty="0"/>
              <a:t>     VARCHAR(20)  NOT NULL,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start_time</a:t>
            </a:r>
            <a:r>
              <a:rPr lang="en-US" altLang="zh-CN" b="1" dirty="0"/>
              <a:t>     TIMESTAMP    NOT NULL,</a:t>
            </a:r>
          </a:p>
          <a:p>
            <a:r>
              <a:rPr lang="en-US" altLang="zh-CN" b="1" dirty="0"/>
              <a:t>    status         VARCHAR(20)  NOT NULL,</a:t>
            </a:r>
          </a:p>
          <a:p>
            <a:r>
              <a:rPr lang="en-US" altLang="zh-CN" b="1" dirty="0"/>
              <a:t>    room           VARCHAR(30)  NULL,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pk_appointment</a:t>
            </a:r>
            <a:endParaRPr lang="en-US" altLang="zh-CN" b="1" dirty="0"/>
          </a:p>
          <a:p>
            <a:r>
              <a:rPr lang="en-US" altLang="zh-CN" b="1" dirty="0"/>
              <a:t>        PRIMARY KEY (</a:t>
            </a:r>
            <a:r>
              <a:rPr lang="en-US" altLang="zh-CN" b="1" dirty="0" err="1"/>
              <a:t>appointment_id</a:t>
            </a:r>
            <a:r>
              <a:rPr lang="en-US" altLang="zh-CN" b="1" dirty="0"/>
              <a:t>),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fk_appointment_doctor</a:t>
            </a:r>
            <a:endParaRPr lang="en-US" altLang="zh-CN" b="1" dirty="0"/>
          </a:p>
          <a:p>
            <a:r>
              <a:rPr lang="en-US" altLang="zh-CN" b="1" dirty="0"/>
              <a:t>        FOREIGN KEY (</a:t>
            </a:r>
            <a:r>
              <a:rPr lang="en-US" altLang="zh-CN" b="1" dirty="0" err="1"/>
              <a:t>doctor_id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REFERENCES Doctor(</a:t>
            </a:r>
            <a:r>
              <a:rPr lang="en-US" altLang="zh-CN" b="1" dirty="0" err="1"/>
              <a:t>doctor_id</a:t>
            </a:r>
            <a:r>
              <a:rPr lang="en-US" altLang="zh-CN" b="1" dirty="0"/>
              <a:t>),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fk_appointment_patient</a:t>
            </a:r>
            <a:endParaRPr lang="en-US" altLang="zh-CN" b="1" dirty="0"/>
          </a:p>
          <a:p>
            <a:r>
              <a:rPr lang="en-US" altLang="zh-CN" b="1" dirty="0"/>
              <a:t>        FOREIGN KEY (</a:t>
            </a:r>
            <a:r>
              <a:rPr lang="en-US" altLang="zh-CN" b="1" dirty="0" err="1"/>
              <a:t>patient_id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REFERENCES Patient(</a:t>
            </a:r>
            <a:r>
              <a:rPr lang="en-US" altLang="zh-CN" b="1" dirty="0" err="1"/>
              <a:t>patient_id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);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CREATE TABLE </a:t>
            </a:r>
            <a:r>
              <a:rPr lang="en-US" altLang="zh-CN" b="1" dirty="0" err="1"/>
              <a:t>AppointmentDiagnosis</a:t>
            </a:r>
            <a:r>
              <a:rPr lang="en-US" altLang="zh-CN" b="1" dirty="0"/>
              <a:t> (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appointment_id</a:t>
            </a:r>
            <a:r>
              <a:rPr lang="en-US" altLang="zh-CN" b="1" dirty="0"/>
              <a:t> BIGINT      NOT NULL,</a:t>
            </a:r>
          </a:p>
          <a:p>
            <a:r>
              <a:rPr lang="en-US" altLang="zh-CN" b="1" dirty="0"/>
              <a:t>    </a:t>
            </a:r>
            <a:r>
              <a:rPr lang="en-US" altLang="zh-CN" b="1" dirty="0" err="1"/>
              <a:t>diagnosis_code</a:t>
            </a:r>
            <a:r>
              <a:rPr lang="en-US" altLang="zh-CN" b="1" dirty="0"/>
              <a:t> VARCHAR(20) NOT NULL,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pk_appointment_diagnosis</a:t>
            </a:r>
            <a:endParaRPr lang="en-US" altLang="zh-CN" b="1" dirty="0"/>
          </a:p>
          <a:p>
            <a:r>
              <a:rPr lang="en-US" altLang="zh-CN" b="1" dirty="0"/>
              <a:t>        PRIMARY KEY (</a:t>
            </a:r>
            <a:r>
              <a:rPr lang="en-US" altLang="zh-CN" b="1" dirty="0" err="1"/>
              <a:t>appointment_id</a:t>
            </a:r>
            <a:r>
              <a:rPr lang="en-US" altLang="zh-CN" b="1" dirty="0"/>
              <a:t>, </a:t>
            </a:r>
            <a:r>
              <a:rPr lang="en-US" altLang="zh-CN" b="1" dirty="0" err="1"/>
              <a:t>diagnosis_code</a:t>
            </a:r>
            <a:r>
              <a:rPr lang="en-US" altLang="zh-CN" b="1" dirty="0"/>
              <a:t>),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fk_ad_appointment</a:t>
            </a:r>
            <a:endParaRPr lang="en-US" altLang="zh-CN" b="1" dirty="0"/>
          </a:p>
          <a:p>
            <a:r>
              <a:rPr lang="en-US" altLang="zh-CN" b="1" dirty="0"/>
              <a:t>        FOREIGN KEY (</a:t>
            </a:r>
            <a:r>
              <a:rPr lang="en-US" altLang="zh-CN" b="1" dirty="0" err="1"/>
              <a:t>appointment_id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REFERENCES Appointment(</a:t>
            </a:r>
            <a:r>
              <a:rPr lang="en-US" altLang="zh-CN" b="1" dirty="0" err="1"/>
              <a:t>appointment_id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ON DELETE CASCADE,</a:t>
            </a:r>
          </a:p>
          <a:p>
            <a:endParaRPr lang="en-US" altLang="zh-CN" b="1" dirty="0"/>
          </a:p>
          <a:p>
            <a:r>
              <a:rPr lang="en-US" altLang="zh-CN" b="1" dirty="0"/>
              <a:t>    CONSTRAINT </a:t>
            </a:r>
            <a:r>
              <a:rPr lang="en-US" altLang="zh-CN" b="1" dirty="0" err="1"/>
              <a:t>fk_ad_diagnosis</a:t>
            </a:r>
            <a:endParaRPr lang="en-US" altLang="zh-CN" b="1" dirty="0"/>
          </a:p>
          <a:p>
            <a:r>
              <a:rPr lang="en-US" altLang="zh-CN" b="1" dirty="0"/>
              <a:t>        FOREIGN KEY (</a:t>
            </a:r>
            <a:r>
              <a:rPr lang="en-US" altLang="zh-CN" b="1" dirty="0" err="1"/>
              <a:t>diagnosis_code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        REFERENCES Diagnosis(</a:t>
            </a:r>
            <a:r>
              <a:rPr lang="en-US" altLang="zh-CN" b="1" dirty="0" err="1"/>
              <a:t>diagnosis_code</a:t>
            </a:r>
            <a:r>
              <a:rPr lang="en-US" altLang="zh-CN" b="1" dirty="0"/>
              <a:t>)</a:t>
            </a:r>
          </a:p>
          <a:p>
            <a:r>
              <a:rPr lang="en-US" altLang="zh-CN" b="1" dirty="0"/>
              <a:t>);</a:t>
            </a:r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可空属性</a:t>
            </a:r>
          </a:p>
          <a:p>
            <a:r>
              <a:rPr lang="en-US" altLang="zh-CN" dirty="0" err="1"/>
              <a:t>Patient.dob</a:t>
            </a:r>
            <a:r>
              <a:rPr lang="zh-CN" altLang="en-US" dirty="0"/>
              <a:t>：患者出生日期未知时可为 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</a:p>
          <a:p>
            <a:r>
              <a:rPr lang="en-US" altLang="zh-CN" dirty="0" err="1"/>
              <a:t>Appointment.room</a:t>
            </a:r>
            <a:r>
              <a:rPr lang="zh-CN" altLang="en-US" dirty="0"/>
              <a:t>：预约可能尚未分配诊室，或者是线上诊疗。</a:t>
            </a:r>
          </a:p>
          <a:p>
            <a:r>
              <a:rPr lang="zh-CN" altLang="en-US" dirty="0"/>
              <a:t>患者没有电话号码：不在 </a:t>
            </a:r>
            <a:r>
              <a:rPr lang="en-US" altLang="zh-CN" dirty="0" err="1"/>
              <a:t>PatientPhone</a:t>
            </a:r>
            <a:r>
              <a:rPr lang="en-US" altLang="zh-CN" dirty="0"/>
              <a:t> </a:t>
            </a:r>
            <a:r>
              <a:rPr lang="zh-CN" altLang="en-US" dirty="0"/>
              <a:t>中插入记录，而不是插入一个 </a:t>
            </a:r>
            <a:r>
              <a:rPr lang="en-US" altLang="zh-CN" dirty="0"/>
              <a:t>phone = NULL </a:t>
            </a:r>
            <a:r>
              <a:rPr lang="zh-CN" altLang="en-US" dirty="0"/>
              <a:t>的记录。</a:t>
            </a:r>
          </a:p>
          <a:p>
            <a:r>
              <a:rPr lang="zh-CN" altLang="en-US" dirty="0"/>
              <a:t>预约尚无诊断：不在 </a:t>
            </a:r>
            <a:r>
              <a:rPr lang="en-US" altLang="zh-CN" dirty="0" err="1"/>
              <a:t>AppointmentDiagnosis</a:t>
            </a:r>
            <a:r>
              <a:rPr lang="en-US" altLang="zh-CN" dirty="0"/>
              <a:t> </a:t>
            </a:r>
            <a:r>
              <a:rPr lang="zh-CN" altLang="en-US" dirty="0"/>
              <a:t>中插入记录。</a:t>
            </a:r>
          </a:p>
          <a:p>
            <a:r>
              <a:rPr lang="en-US" altLang="zh-CN" dirty="0" err="1"/>
              <a:t>doctor_id</a:t>
            </a:r>
            <a:r>
              <a:rPr lang="zh-CN" altLang="en-US" dirty="0"/>
              <a:t>、</a:t>
            </a:r>
            <a:r>
              <a:rPr lang="en-US" altLang="zh-CN" dirty="0" err="1"/>
              <a:t>patient_id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start_time</a:t>
            </a:r>
            <a:r>
              <a:rPr lang="en-US" altLang="zh-CN" dirty="0"/>
              <a:t> </a:t>
            </a:r>
            <a:r>
              <a:rPr lang="zh-CN" altLang="en-US" dirty="0"/>
              <a:t>不可为空，因为题目规定每次预约必须关联一名医生、一名患者和一个开始时间。</a:t>
            </a:r>
          </a:p>
          <a:p>
            <a:r>
              <a:rPr lang="zh-CN" altLang="en-US" dirty="0"/>
              <a:t>如需禁止医生或患者在同一时间拥有两次预约，还可以给 </a:t>
            </a:r>
            <a:r>
              <a:rPr lang="en-US" altLang="zh-CN" dirty="0"/>
              <a:t>Appointment </a:t>
            </a:r>
            <a:r>
              <a:rPr lang="zh-CN" altLang="en-US" dirty="0"/>
              <a:t>增加：</a:t>
            </a:r>
          </a:p>
          <a:p>
            <a:r>
              <a:rPr lang="en-US" altLang="zh-CN" dirty="0"/>
              <a:t>UNIQUE (</a:t>
            </a:r>
            <a:r>
              <a:rPr lang="en-US" altLang="zh-CN" dirty="0" err="1"/>
              <a:t>doctor_id</a:t>
            </a:r>
            <a:r>
              <a:rPr lang="en-US" altLang="zh-CN" dirty="0"/>
              <a:t>, </a:t>
            </a:r>
            <a:r>
              <a:rPr lang="en-US" altLang="zh-CN" dirty="0" err="1"/>
              <a:t>start_time</a:t>
            </a:r>
            <a:r>
              <a:rPr lang="en-US" altLang="zh-CN" dirty="0"/>
              <a:t>), UNIQUE (</a:t>
            </a:r>
            <a:r>
              <a:rPr lang="en-US" altLang="zh-CN" dirty="0" err="1"/>
              <a:t>patient_id</a:t>
            </a:r>
            <a:r>
              <a:rPr lang="en-US" altLang="zh-CN" dirty="0"/>
              <a:t>, </a:t>
            </a:r>
            <a:r>
              <a:rPr lang="en-US" altLang="zh-CN" dirty="0" err="1"/>
              <a:t>start_time</a:t>
            </a:r>
            <a:r>
              <a:rPr lang="en-US" altLang="zh-CN" dirty="0"/>
              <a:t>)</a:t>
            </a:r>
            <a:r>
              <a:rPr lang="zh-CN" altLang="en-US" dirty="0"/>
              <a:t>这两个属于额外的业务约束，并非题目给出的基本关系所必需。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71676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教学节奏：综合练习与总结共 15 分钟，之后进入结束页。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建议用时：8 </a:t>
            </a:r>
            <a:r>
              <a:rPr dirty="0" err="1"/>
              <a:t>分钟</a:t>
            </a:r>
            <a:r>
              <a:rPr dirty="0"/>
              <a:t>。</a:t>
            </a:r>
          </a:p>
          <a:p>
            <a:r>
              <a:rPr dirty="0" err="1"/>
              <a:t>一种可行设计：Course</a:t>
            </a:r>
            <a:r>
              <a:rPr dirty="0"/>
              <a:t>(</a:t>
            </a:r>
            <a:r>
              <a:rPr dirty="0" err="1"/>
              <a:t>cid</a:t>
            </a:r>
            <a:r>
              <a:rPr dirty="0"/>
              <a:t> PK)，Section(</a:t>
            </a:r>
            <a:r>
              <a:rPr dirty="0" err="1"/>
              <a:t>cid</a:t>
            </a:r>
            <a:r>
              <a:rPr dirty="0"/>
              <a:t> FK, term, </a:t>
            </a:r>
            <a:r>
              <a:rPr dirty="0" err="1"/>
              <a:t>section_no</a:t>
            </a:r>
            <a:r>
              <a:rPr dirty="0"/>
              <a:t>, </a:t>
            </a:r>
            <a:r>
              <a:rPr dirty="0" err="1"/>
              <a:t>instructor_id</a:t>
            </a:r>
            <a:r>
              <a:rPr dirty="0"/>
              <a:t> FK, PK(</a:t>
            </a:r>
            <a:r>
              <a:rPr dirty="0" err="1"/>
              <a:t>cid</a:t>
            </a:r>
            <a:r>
              <a:rPr dirty="0"/>
              <a:t>, term, </a:t>
            </a:r>
            <a:r>
              <a:rPr dirty="0" err="1"/>
              <a:t>section_no</a:t>
            </a:r>
            <a:r>
              <a:rPr dirty="0"/>
              <a:t>))，Student(</a:t>
            </a:r>
            <a:r>
              <a:rPr dirty="0" err="1"/>
              <a:t>sid</a:t>
            </a:r>
            <a:r>
              <a:rPr dirty="0"/>
              <a:t> PK)，Enrollment(</a:t>
            </a:r>
            <a:r>
              <a:rPr dirty="0" err="1"/>
              <a:t>sid</a:t>
            </a:r>
            <a:r>
              <a:rPr dirty="0"/>
              <a:t> FK, </a:t>
            </a:r>
            <a:r>
              <a:rPr dirty="0" err="1"/>
              <a:t>cid</a:t>
            </a:r>
            <a:r>
              <a:rPr dirty="0"/>
              <a:t>, term, </a:t>
            </a:r>
            <a:r>
              <a:rPr dirty="0" err="1"/>
              <a:t>section_no</a:t>
            </a:r>
            <a:r>
              <a:rPr dirty="0"/>
              <a:t>, grade, PK(</a:t>
            </a:r>
            <a:r>
              <a:rPr dirty="0" err="1"/>
              <a:t>sid</a:t>
            </a:r>
            <a:r>
              <a:rPr dirty="0"/>
              <a:t>, </a:t>
            </a:r>
            <a:r>
              <a:rPr dirty="0" err="1"/>
              <a:t>cid</a:t>
            </a:r>
            <a:r>
              <a:rPr dirty="0"/>
              <a:t>, term, </a:t>
            </a:r>
            <a:r>
              <a:rPr dirty="0" err="1"/>
              <a:t>section_no</a:t>
            </a:r>
            <a:r>
              <a:rPr dirty="0"/>
              <a:t>)，</a:t>
            </a:r>
            <a:r>
              <a:rPr dirty="0" err="1"/>
              <a:t>并设置指向</a:t>
            </a:r>
            <a:r>
              <a:rPr dirty="0"/>
              <a:t> Section </a:t>
            </a:r>
            <a:r>
              <a:rPr dirty="0" err="1"/>
              <a:t>的复合外键</a:t>
            </a:r>
            <a:r>
              <a:rPr dirty="0"/>
              <a:t>)。</a:t>
            </a:r>
            <a:r>
              <a:rPr dirty="0" err="1"/>
              <a:t>查询把</a:t>
            </a:r>
            <a:r>
              <a:rPr dirty="0"/>
              <a:t> Student </a:t>
            </a:r>
            <a:r>
              <a:rPr dirty="0" err="1"/>
              <a:t>与</a:t>
            </a:r>
            <a:r>
              <a:rPr dirty="0"/>
              <a:t> Enrollment </a:t>
            </a:r>
            <a:r>
              <a:rPr dirty="0" err="1"/>
              <a:t>连接起来，并按</a:t>
            </a:r>
            <a:r>
              <a:rPr dirty="0"/>
              <a:t> term </a:t>
            </a:r>
            <a:r>
              <a:rPr dirty="0" err="1"/>
              <a:t>筛选。如果同时保证唯一性，也可使用代理键</a:t>
            </a:r>
            <a:r>
              <a:rPr dirty="0"/>
              <a:t> </a:t>
            </a:r>
            <a:r>
              <a:rPr dirty="0" err="1"/>
              <a:t>section_id</a:t>
            </a:r>
            <a:r>
              <a:rPr dirty="0"/>
              <a:t>。</a:t>
            </a:r>
            <a:endParaRPr lang="en-US" dirty="0"/>
          </a:p>
          <a:p>
            <a:endParaRPr lang="en-US" dirty="0"/>
          </a:p>
          <a:p>
            <a:r>
              <a:rPr lang="en-US" dirty="0"/>
              <a:t>Students(</a:t>
            </a:r>
          </a:p>
          <a:p>
            <a:r>
              <a:rPr lang="en-US" dirty="0"/>
              <a:t>    </a:t>
            </a:r>
            <a:r>
              <a:rPr lang="en-US" dirty="0" err="1"/>
              <a:t>sid</a:t>
            </a:r>
            <a:r>
              <a:rPr lang="en-US" dirty="0"/>
              <a:t> PK,</a:t>
            </a:r>
          </a:p>
          <a:p>
            <a:r>
              <a:rPr lang="en-US" dirty="0"/>
              <a:t>    name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Courses(</a:t>
            </a:r>
          </a:p>
          <a:p>
            <a:r>
              <a:rPr lang="en-US" dirty="0"/>
              <a:t>    </a:t>
            </a:r>
            <a:r>
              <a:rPr lang="en-US" dirty="0" err="1"/>
              <a:t>cid</a:t>
            </a:r>
            <a:r>
              <a:rPr lang="en-US" dirty="0"/>
              <a:t> PK,</a:t>
            </a:r>
          </a:p>
          <a:p>
            <a:r>
              <a:rPr lang="en-US" dirty="0"/>
              <a:t>    title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Instructors(</a:t>
            </a:r>
          </a:p>
          <a:p>
            <a:r>
              <a:rPr lang="en-US" dirty="0"/>
              <a:t>    </a:t>
            </a:r>
            <a:r>
              <a:rPr lang="en-US" dirty="0" err="1"/>
              <a:t>iid</a:t>
            </a:r>
            <a:r>
              <a:rPr lang="en-US" dirty="0"/>
              <a:t> PK,</a:t>
            </a:r>
          </a:p>
          <a:p>
            <a:r>
              <a:rPr lang="en-US" dirty="0"/>
              <a:t>    name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 err="1"/>
              <a:t>TeachingClass</a:t>
            </a:r>
            <a:r>
              <a:rPr lang="en-US" dirty="0"/>
              <a:t>(</a:t>
            </a:r>
          </a:p>
          <a:p>
            <a:r>
              <a:rPr lang="en-US" dirty="0"/>
              <a:t>    </a:t>
            </a:r>
            <a:r>
              <a:rPr lang="en-US" dirty="0" err="1"/>
              <a:t>class_id</a:t>
            </a:r>
            <a:r>
              <a:rPr lang="en-US" dirty="0"/>
              <a:t> PK,</a:t>
            </a:r>
          </a:p>
          <a:p>
            <a:r>
              <a:rPr lang="en-US" dirty="0"/>
              <a:t>    </a:t>
            </a:r>
            <a:r>
              <a:rPr lang="en-US" dirty="0" err="1"/>
              <a:t>cid</a:t>
            </a:r>
            <a:r>
              <a:rPr lang="en-US" dirty="0"/>
              <a:t> FK → Courses(</a:t>
            </a:r>
            <a:r>
              <a:rPr lang="en-US" dirty="0" err="1"/>
              <a:t>cid</a:t>
            </a:r>
            <a:r>
              <a:rPr lang="en-US" dirty="0"/>
              <a:t>),</a:t>
            </a:r>
          </a:p>
          <a:p>
            <a:r>
              <a:rPr lang="en-US" dirty="0"/>
              <a:t>    term,</a:t>
            </a:r>
          </a:p>
          <a:p>
            <a:r>
              <a:rPr lang="en-US" dirty="0"/>
              <a:t>    </a:t>
            </a:r>
            <a:r>
              <a:rPr lang="en-US" dirty="0" err="1"/>
              <a:t>class_no</a:t>
            </a:r>
            <a:r>
              <a:rPr lang="en-US" dirty="0"/>
              <a:t>,</a:t>
            </a:r>
          </a:p>
          <a:p>
            <a:r>
              <a:rPr lang="en-US" dirty="0"/>
              <a:t>    </a:t>
            </a:r>
            <a:r>
              <a:rPr lang="en-US" dirty="0" err="1"/>
              <a:t>iid</a:t>
            </a:r>
            <a:r>
              <a:rPr lang="en-US" dirty="0"/>
              <a:t> FK → Instructors(</a:t>
            </a:r>
            <a:r>
              <a:rPr lang="en-US" dirty="0" err="1"/>
              <a:t>iid</a:t>
            </a:r>
            <a:r>
              <a:rPr lang="en-US" dirty="0"/>
              <a:t>),</a:t>
            </a:r>
          </a:p>
          <a:p>
            <a:r>
              <a:rPr lang="en-US" dirty="0"/>
              <a:t>    UNIQUE(</a:t>
            </a:r>
            <a:r>
              <a:rPr lang="en-US" dirty="0" err="1"/>
              <a:t>cid</a:t>
            </a:r>
            <a:r>
              <a:rPr lang="en-US" dirty="0"/>
              <a:t>, term, </a:t>
            </a:r>
            <a:r>
              <a:rPr lang="en-US" dirty="0" err="1"/>
              <a:t>class_no</a:t>
            </a:r>
            <a:r>
              <a:rPr lang="en-US" dirty="0"/>
              <a:t>)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Enrollment(</a:t>
            </a:r>
          </a:p>
          <a:p>
            <a:r>
              <a:rPr lang="en-US" dirty="0"/>
              <a:t>    </a:t>
            </a:r>
            <a:r>
              <a:rPr lang="en-US" dirty="0" err="1"/>
              <a:t>sid</a:t>
            </a:r>
            <a:r>
              <a:rPr lang="en-US" dirty="0"/>
              <a:t> PK/FK → Students(</a:t>
            </a:r>
            <a:r>
              <a:rPr lang="en-US" dirty="0" err="1"/>
              <a:t>sid</a:t>
            </a:r>
            <a:r>
              <a:rPr lang="en-US" dirty="0"/>
              <a:t>),</a:t>
            </a:r>
          </a:p>
          <a:p>
            <a:r>
              <a:rPr lang="en-US" dirty="0"/>
              <a:t>    </a:t>
            </a:r>
            <a:r>
              <a:rPr lang="en-US" dirty="0" err="1"/>
              <a:t>class_id</a:t>
            </a:r>
            <a:r>
              <a:rPr lang="en-US" dirty="0"/>
              <a:t> PK/FK → </a:t>
            </a:r>
            <a:r>
              <a:rPr lang="en-US" dirty="0" err="1"/>
              <a:t>TeachingClass</a:t>
            </a:r>
            <a:r>
              <a:rPr lang="en-US" dirty="0"/>
              <a:t>(</a:t>
            </a:r>
            <a:r>
              <a:rPr lang="en-US" dirty="0" err="1"/>
              <a:t>class_id</a:t>
            </a:r>
            <a:r>
              <a:rPr lang="en-US" dirty="0"/>
              <a:t>),</a:t>
            </a:r>
          </a:p>
          <a:p>
            <a:r>
              <a:rPr lang="en-US" dirty="0"/>
              <a:t>    grade </a:t>
            </a:r>
            <a:r>
              <a:rPr lang="zh-CN" altLang="en-US" dirty="0"/>
              <a:t>可为 </a:t>
            </a:r>
            <a:r>
              <a:rPr lang="en-US" dirty="0"/>
              <a:t>NULL</a:t>
            </a:r>
          </a:p>
          <a:p>
            <a:r>
              <a:rPr lang="en-US" dirty="0"/>
              <a:t>)</a:t>
            </a:r>
          </a:p>
          <a:p>
            <a:endParaRPr lang="en-US" dirty="0"/>
          </a:p>
          <a:p>
            <a:r>
              <a:rPr lang="zh-CN" altLang="en-US" dirty="0"/>
              <a:t>关系含义：</a:t>
            </a:r>
          </a:p>
          <a:p>
            <a:r>
              <a:rPr lang="zh-CN" altLang="en-US" dirty="0"/>
              <a:t>一门课程可以对应多个教学班。</a:t>
            </a:r>
          </a:p>
          <a:p>
            <a:r>
              <a:rPr lang="zh-CN" altLang="en-US" dirty="0"/>
              <a:t>一名教师可以教授多个教学班。</a:t>
            </a:r>
          </a:p>
          <a:p>
            <a:r>
              <a:rPr lang="zh-CN" altLang="en-US" dirty="0"/>
              <a:t>每个教学班只有一名教师，因此 </a:t>
            </a:r>
            <a:r>
              <a:rPr lang="en-US" altLang="zh-CN" dirty="0" err="1"/>
              <a:t>TeachingClass.iid</a:t>
            </a:r>
            <a:r>
              <a:rPr lang="en-US" altLang="zh-CN" dirty="0"/>
              <a:t> </a:t>
            </a:r>
            <a:r>
              <a:rPr lang="zh-CN" altLang="en-US" dirty="0"/>
              <a:t>应为 </a:t>
            </a:r>
            <a:r>
              <a:rPr lang="en-US" altLang="zh-CN" dirty="0"/>
              <a:t>NOT NULL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学生与教学班是 </a:t>
            </a:r>
            <a:r>
              <a:rPr lang="en-US" altLang="zh-CN" dirty="0"/>
              <a:t>M:N </a:t>
            </a:r>
            <a:r>
              <a:rPr lang="zh-CN" altLang="en-US" dirty="0"/>
              <a:t>关系，通过 </a:t>
            </a:r>
            <a:r>
              <a:rPr lang="en-US" altLang="zh-CN" dirty="0"/>
              <a:t>Enrollment </a:t>
            </a:r>
            <a:r>
              <a:rPr lang="zh-CN" altLang="en-US" dirty="0"/>
              <a:t>连接。</a:t>
            </a:r>
          </a:p>
          <a:p>
            <a:r>
              <a:rPr lang="en-US" altLang="zh-CN" dirty="0"/>
              <a:t>Enrollment </a:t>
            </a:r>
            <a:r>
              <a:rPr lang="zh-CN" altLang="en-US" dirty="0"/>
              <a:t>的复合主键是 </a:t>
            </a:r>
            <a:r>
              <a:rPr lang="en-US" altLang="zh-CN" dirty="0"/>
              <a:t>(</a:t>
            </a:r>
            <a:r>
              <a:rPr lang="en-US" altLang="zh-CN" dirty="0" err="1"/>
              <a:t>sid</a:t>
            </a:r>
            <a:r>
              <a:rPr lang="en-US" altLang="zh-CN" dirty="0"/>
              <a:t>, </a:t>
            </a:r>
            <a:r>
              <a:rPr lang="en-US" altLang="zh-CN" dirty="0" err="1"/>
              <a:t>class_id</a:t>
            </a:r>
            <a:r>
              <a:rPr lang="en-US" altLang="zh-CN" dirty="0"/>
              <a:t>)</a:t>
            </a:r>
            <a:r>
              <a:rPr lang="zh-CN" altLang="en-US" dirty="0"/>
              <a:t>，防止学生重复注册同一教学班。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CREATE TABLE Enrollment (</a:t>
            </a:r>
          </a:p>
          <a:p>
            <a:r>
              <a:rPr lang="en-US" dirty="0"/>
              <a:t>    </a:t>
            </a:r>
            <a:r>
              <a:rPr lang="en-US" dirty="0" err="1"/>
              <a:t>sid</a:t>
            </a:r>
            <a:r>
              <a:rPr lang="en-US" dirty="0"/>
              <a:t>      VARCHAR(20) NOT NULL,</a:t>
            </a:r>
          </a:p>
          <a:p>
            <a:r>
              <a:rPr lang="en-US" dirty="0"/>
              <a:t>    </a:t>
            </a:r>
            <a:r>
              <a:rPr lang="en-US" dirty="0" err="1"/>
              <a:t>class_id</a:t>
            </a:r>
            <a:r>
              <a:rPr lang="en-US" dirty="0"/>
              <a:t> INTEGER     NOT NULL,</a:t>
            </a:r>
          </a:p>
          <a:p>
            <a:r>
              <a:rPr lang="en-US" dirty="0"/>
              <a:t>    grade    VARCHAR(5)  NULL,</a:t>
            </a:r>
          </a:p>
          <a:p>
            <a:endParaRPr lang="en-US" dirty="0"/>
          </a:p>
          <a:p>
            <a:r>
              <a:rPr lang="en-US" dirty="0"/>
              <a:t>    CONSTRAINT </a:t>
            </a:r>
            <a:r>
              <a:rPr lang="en-US" dirty="0" err="1"/>
              <a:t>pk_enrollment</a:t>
            </a:r>
            <a:endParaRPr lang="en-US" dirty="0"/>
          </a:p>
          <a:p>
            <a:r>
              <a:rPr lang="en-US" dirty="0"/>
              <a:t>        PRIMARY KEY (</a:t>
            </a:r>
            <a:r>
              <a:rPr lang="en-US" dirty="0" err="1"/>
              <a:t>sid</a:t>
            </a:r>
            <a:r>
              <a:rPr lang="en-US" dirty="0"/>
              <a:t>, </a:t>
            </a:r>
            <a:r>
              <a:rPr lang="en-US" dirty="0" err="1"/>
              <a:t>class_id</a:t>
            </a:r>
            <a:r>
              <a:rPr lang="en-US" dirty="0"/>
              <a:t>),</a:t>
            </a:r>
          </a:p>
          <a:p>
            <a:endParaRPr lang="en-US" dirty="0"/>
          </a:p>
          <a:p>
            <a:r>
              <a:rPr lang="en-US" dirty="0"/>
              <a:t>    CONSTRAINT </a:t>
            </a:r>
            <a:r>
              <a:rPr lang="en-US" dirty="0" err="1"/>
              <a:t>fk_enrollment_student</a:t>
            </a:r>
            <a:endParaRPr lang="en-US" dirty="0"/>
          </a:p>
          <a:p>
            <a:r>
              <a:rPr lang="en-US" dirty="0"/>
              <a:t>        FOREIGN KEY (</a:t>
            </a:r>
            <a:r>
              <a:rPr lang="en-US" dirty="0" err="1"/>
              <a:t>sid</a:t>
            </a:r>
            <a:r>
              <a:rPr lang="en-US" dirty="0"/>
              <a:t>)</a:t>
            </a:r>
          </a:p>
          <a:p>
            <a:r>
              <a:rPr lang="en-US" dirty="0"/>
              <a:t>        REFERENCES Students(</a:t>
            </a:r>
            <a:r>
              <a:rPr lang="en-US" dirty="0" err="1"/>
              <a:t>sid</a:t>
            </a:r>
            <a:r>
              <a:rPr lang="en-US" dirty="0"/>
              <a:t>),</a:t>
            </a:r>
          </a:p>
          <a:p>
            <a:endParaRPr lang="en-US" dirty="0"/>
          </a:p>
          <a:p>
            <a:r>
              <a:rPr lang="en-US" dirty="0"/>
              <a:t>    CONSTRAINT </a:t>
            </a:r>
            <a:r>
              <a:rPr lang="en-US" dirty="0" err="1"/>
              <a:t>fk_enrollment_class</a:t>
            </a:r>
            <a:endParaRPr lang="en-US" dirty="0"/>
          </a:p>
          <a:p>
            <a:r>
              <a:rPr lang="en-US" dirty="0"/>
              <a:t>        FOREIGN KEY (</a:t>
            </a:r>
            <a:r>
              <a:rPr lang="en-US" dirty="0" err="1"/>
              <a:t>class_id</a:t>
            </a:r>
            <a:r>
              <a:rPr lang="en-US" dirty="0"/>
              <a:t>)</a:t>
            </a:r>
          </a:p>
          <a:p>
            <a:r>
              <a:rPr lang="en-US" dirty="0"/>
              <a:t>        REFERENCES </a:t>
            </a:r>
            <a:r>
              <a:rPr lang="en-US" dirty="0" err="1"/>
              <a:t>TeachingClass</a:t>
            </a:r>
            <a:r>
              <a:rPr lang="en-US" dirty="0"/>
              <a:t>(</a:t>
            </a:r>
            <a:r>
              <a:rPr lang="en-US" dirty="0" err="1"/>
              <a:t>class_id</a:t>
            </a:r>
            <a:r>
              <a:rPr lang="en-US" dirty="0"/>
              <a:t>)</a:t>
            </a:r>
          </a:p>
          <a:p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  <a:p>
            <a:r>
              <a:rPr lang="zh-CN" altLang="en-US" b="1" dirty="0"/>
              <a:t>查询某学期的学生姓名和课程编号</a:t>
            </a:r>
          </a:p>
          <a:p>
            <a:r>
              <a:rPr lang="zh-CN" altLang="en-US" dirty="0"/>
              <a:t>假设要查询 </a:t>
            </a:r>
            <a:r>
              <a:rPr lang="en-US" altLang="zh-CN" dirty="0"/>
              <a:t>2026-Fall</a:t>
            </a:r>
            <a:r>
              <a:rPr lang="zh-CN" altLang="en-US" dirty="0"/>
              <a:t>：</a:t>
            </a:r>
          </a:p>
          <a:p>
            <a:endParaRPr lang="en-US" dirty="0"/>
          </a:p>
          <a:p>
            <a:r>
              <a:rPr lang="en-US" dirty="0"/>
              <a:t>SELECT </a:t>
            </a:r>
            <a:r>
              <a:rPr lang="en-US" dirty="0" err="1"/>
              <a:t>s.name</a:t>
            </a:r>
            <a:r>
              <a:rPr lang="en-US" dirty="0"/>
              <a:t>, </a:t>
            </a:r>
            <a:r>
              <a:rPr lang="en-US" dirty="0" err="1"/>
              <a:t>tc.cid</a:t>
            </a:r>
            <a:endParaRPr lang="en-US" dirty="0"/>
          </a:p>
          <a:p>
            <a:r>
              <a:rPr lang="en-US" dirty="0"/>
              <a:t>FROM Enrollment AS e</a:t>
            </a:r>
          </a:p>
          <a:p>
            <a:r>
              <a:rPr lang="en-US" dirty="0"/>
              <a:t>JOIN Students AS s</a:t>
            </a:r>
          </a:p>
          <a:p>
            <a:r>
              <a:rPr lang="en-US" dirty="0"/>
              <a:t>    ON </a:t>
            </a:r>
            <a:r>
              <a:rPr lang="en-US" dirty="0" err="1"/>
              <a:t>e.sid</a:t>
            </a:r>
            <a:r>
              <a:rPr lang="en-US" dirty="0"/>
              <a:t> = </a:t>
            </a:r>
            <a:r>
              <a:rPr lang="en-US" dirty="0" err="1"/>
              <a:t>s.sid</a:t>
            </a:r>
            <a:endParaRPr lang="en-US" dirty="0"/>
          </a:p>
          <a:p>
            <a:r>
              <a:rPr lang="en-US" dirty="0"/>
              <a:t>JOIN </a:t>
            </a:r>
            <a:r>
              <a:rPr lang="en-US" dirty="0" err="1"/>
              <a:t>TeachingClass</a:t>
            </a:r>
            <a:r>
              <a:rPr lang="en-US" dirty="0"/>
              <a:t> AS </a:t>
            </a:r>
            <a:r>
              <a:rPr lang="en-US" dirty="0" err="1"/>
              <a:t>tc</a:t>
            </a:r>
            <a:endParaRPr lang="en-US" dirty="0"/>
          </a:p>
          <a:p>
            <a:r>
              <a:rPr lang="en-US" dirty="0"/>
              <a:t>    ON </a:t>
            </a:r>
            <a:r>
              <a:rPr lang="en-US" dirty="0" err="1"/>
              <a:t>e.class_id</a:t>
            </a:r>
            <a:r>
              <a:rPr lang="en-US" dirty="0"/>
              <a:t> = </a:t>
            </a:r>
            <a:r>
              <a:rPr lang="en-US" dirty="0" err="1"/>
              <a:t>tc.class_id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tc.term</a:t>
            </a:r>
            <a:r>
              <a:rPr lang="en-US" dirty="0"/>
              <a:t> = '2026-Fall'</a:t>
            </a:r>
          </a:p>
          <a:p>
            <a:r>
              <a:rPr lang="en-US" dirty="0"/>
              <a:t>ORDER BY </a:t>
            </a:r>
            <a:r>
              <a:rPr lang="en-US" dirty="0" err="1"/>
              <a:t>s.name</a:t>
            </a:r>
            <a:r>
              <a:rPr lang="en-US" dirty="0"/>
              <a:t>, </a:t>
            </a:r>
            <a:r>
              <a:rPr lang="en-US" dirty="0" err="1"/>
              <a:t>tc.cid</a:t>
            </a:r>
            <a:r>
              <a:rPr lang="en-US" dirty="0"/>
              <a:t>;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建议用时：5 分钟。</a:t>
            </a:r>
          </a:p>
          <a:p>
            <a:r>
              <a:t>要点：模式描述结构与约束，实例是当前的元组集合；当标识依赖多个属性时可使用复合键；与 NULL 比较会得到 UNKNOWN；HAVING 筛选组；M:N 联系转换为包含外键和联系属性的独立关系。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建议用时：2 分钟。</a:t>
            </a:r>
          </a:p>
          <a:p>
            <a:r>
              <a:t>请学生分别说出一种能拒绝各类非法插入的约束。进入结束页前接受提问。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EBF24-2799-4589-8943-C500A29C8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D4B513-4332-4156-8FA0-77EF5622B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1D1B6-2D73-42A7-B645-97EB19E3B36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8F86E-A660-48DA-B921-012B1C40EA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46433-0021-4C2A-92CD-EF067FD51D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70D59-DF25-4E16-AFC6-43A24E11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BB947-9500-4ADF-B136-095D2159B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/>
          </a:bodyPr>
          <a:lstStyle>
            <a:lvl1pPr marL="342900" indent="-342900">
              <a:buFont typeface="Wingdings"/>
              <a:buChar char="§"/>
              <a:defRPr sz="2800"/>
            </a:lvl1pPr>
            <a:lvl2pPr marL="742950" indent="-285750">
              <a:buFont typeface="Wingdings"/>
              <a:buChar char="§"/>
              <a:defRPr sz="2400"/>
            </a:lvl2pPr>
            <a:lvl3pPr marL="1143000" indent="-228600">
              <a:buFont typeface="Wingdings"/>
              <a:buChar char="§"/>
              <a:defRPr sz="2000"/>
            </a:lvl3pPr>
            <a:lvl4pPr marL="1600200" indent="-228600">
              <a:buFont typeface="Wingdings"/>
              <a:buChar char="§"/>
              <a:defRPr sz="1800"/>
            </a:lvl4pPr>
            <a:lvl5pPr marL="2057400" indent="-228600">
              <a:buFont typeface="Wingdings"/>
              <a:buChar char="§"/>
              <a:defRPr sz="1800"/>
            </a:lvl5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07A82-F0DA-4D74-831C-6B257608B6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25E31-82B0-4663-BBA6-CDAE4D803F5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D4FDE-90C6-4BB6-AAE1-CE3740AA41F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63EC-D93B-4B8B-837F-DB352263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0526E-8E26-4F17-AC79-BC56F0E1E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96D29F-50A2-46B5-A169-044B64D314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2B0FE-A549-4EAA-8D7A-859B49A6CA7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C11AE-5A11-4347-B119-D54183B757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435F0-AA71-4176-918E-AD176E0F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446B5-5334-4054-B5EB-FEC006EB4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6E4A9-A45E-4A76-8F53-E0F6A2C1C9C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50057-0571-4AA2-B6A1-810B6BAC9B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0F285-AAED-4020-8966-A30954ADBE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23FD9-2803-4E68-8D61-DB81AC58D0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18618-3E94-483D-B5AF-AAB483FB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DB288-9E08-477C-AAE2-1101792FE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A3D79-AF9A-4A58-9751-77CCCCA7AAC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F0DECC-5055-4E7C-82B3-B4829EE434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08585B-56EE-4AF1-BD1C-B86949A2157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0ACCA2-3BF0-4550-B5AE-53F88807C50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90FD23-A62C-40DC-A9B8-2B6D7586F3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5CAA5-3D05-4B9E-9395-D332CD9AC7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12E0-5BF6-4586-A39E-81938A64A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ED00C-B8B6-4272-96DB-B865F7508C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BD042-79E6-4D14-B002-12558D024BE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70EFC-EB93-4A66-9D68-8D87BADCC7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B3478F-77CD-4419-8271-D91F6E2F43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EAB08-2D8C-440B-81A7-0657D6F1F0B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BB72E-D052-4DB8-B15F-B8DD284115C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FC0E-577B-4F69-BE97-48A737526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83CDD-5B12-4D3C-AD61-A5D9D6CB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DA22B-7988-4B45-8A46-0356579F6C7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2F7EC-5404-4D78-8E3B-5BCDAFA4B54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078F7-8F5B-401F-8EB7-2AA4E384AE2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B3430-3863-4016-AF46-19FD87D91C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7CE5-42D0-467E-B16B-601FA2274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03FA48-4412-4475-8853-0D23ED310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E53B-A493-4CEB-B84D-BD565B299D6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22672-71E3-4756-8D2B-76D2871276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76310-CCB3-4A33-A2AA-4BB1E3D426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801E5-7D90-484C-B44A-6A528F1C7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31F6-5F4D-4B0E-A40B-7915DF4F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A0089-1DE1-422D-BA55-6ADCE412C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3C53F-F704-45B4-B073-AAB233515B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15C4B-D2B6-47BB-B838-3CEE3FAE98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7A411-8752-429A-83F7-0A36A7BE2E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0E09A7-B20D-4382-91AA-74EDD790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CB550-7CCE-470E-AF21-8D61FBE75A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8F755-37FD-45F5-8BCA-E9811748E10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8E1BF-C5C5-47B2-9A66-8C0285607A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A45BE-8D6A-462F-B674-BA42039841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13F2A-68CA-4A12-B12C-AA0BD825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C322B-B8D5-43D7-9FAA-6D8748991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96878-5392-46A0-95CD-274CF5EE45E4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2B702-5466-4769-8729-99CB4629DA8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48B57-D016-4981-98EF-E179C392B8B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CA4BC5-AE2A-401E-9EDD-DF8812A14A6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01FBF5A9-8D82-04F5-748E-9EE063EF4944}"/>
              </a:ext>
            </a:extLst>
          </p:cNvPr>
          <p:cNvSpPr>
            <a:spLocks noGrp="1"/>
          </p:cNvSpPr>
          <p:nvPr/>
        </p:nvSpPr>
        <p:spPr>
          <a:xfrm>
            <a:off x="291794" y="216788"/>
            <a:ext cx="5194605" cy="320601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i="1" spc="-10">
                <a:solidFill>
                  <a:srgbClr val="595959"/>
                </a:solidFill>
                <a:latin typeface="Arial Unicode MS"/>
                <a:ea typeface="Arial Unicode MS"/>
                <a:cs typeface="Arial Unicode MS"/>
              </a:rPr>
              <a:t>INT6164 数据库系统与管理</a:t>
            </a:r>
            <a:endParaRPr sz="2000">
              <a:latin typeface="Calibri"/>
              <a:ea typeface="Calibri"/>
              <a:cs typeface="Calibri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2E588F-C30F-72F2-3E22-DDBDE4BD0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97" y="1371601"/>
            <a:ext cx="8166406" cy="2228850"/>
          </a:xfrm>
        </p:spPr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第 2 讲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>
                <a:latin typeface="Arial Unicode MS"/>
                <a:ea typeface="Arial Unicode MS"/>
                <a:cs typeface="Arial Unicode MS"/>
              </a:rPr>
              <a:t>关系数据模型与基础 SQL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B092D041-67FB-E55B-D1EA-79892917B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797" y="3886200"/>
            <a:ext cx="8274203" cy="1752600"/>
          </a:xfrm>
        </p:spPr>
        <p:txBody>
          <a:bodyPr>
            <a:normAutofit fontScale="92500" lnSpcReduction="10000"/>
          </a:bodyPr>
          <a:lstStyle/>
          <a:p>
            <a:pPr marL="12700" marR="5080" indent="-12700" algn="ctr">
              <a:lnSpc>
                <a:spcPct val="124600"/>
              </a:lnSpc>
              <a:spcBef>
                <a:spcPts val="95"/>
              </a:spcBef>
              <a:buNone/>
            </a:pPr>
            <a:r>
              <a:rPr lang="zh-CN" altLang="en-US" sz="3200" spc="-50" dirty="0">
                <a:solidFill>
                  <a:srgbClr val="595959"/>
                </a:solidFill>
                <a:latin typeface="Arial Unicode MS"/>
                <a:ea typeface="Arial Unicode MS"/>
                <a:cs typeface="Arial Unicode MS"/>
              </a:rPr>
              <a:t>杨宇</a:t>
            </a:r>
            <a:r>
              <a:rPr sz="3200" spc="-50" dirty="0" err="1">
                <a:solidFill>
                  <a:srgbClr val="595959"/>
                </a:solidFill>
                <a:latin typeface="Arial Unicode MS"/>
                <a:ea typeface="Arial Unicode MS"/>
                <a:cs typeface="Arial Unicode MS"/>
              </a:rPr>
              <a:t>博士</a:t>
            </a:r>
            <a:endParaRPr sz="3200" spc="-50" dirty="0">
              <a:solidFill>
                <a:srgbClr val="595959"/>
              </a:solidFill>
              <a:latin typeface="Arial Unicode MS"/>
              <a:ea typeface="Arial Unicode MS"/>
              <a:cs typeface="Arial Unicode MS"/>
            </a:endParaRPr>
          </a:p>
          <a:p>
            <a:pPr marL="12700" marR="5080" indent="-12700" algn="ctr">
              <a:lnSpc>
                <a:spcPct val="124600"/>
              </a:lnSpc>
              <a:spcBef>
                <a:spcPts val="95"/>
              </a:spcBef>
              <a:buNone/>
            </a:pPr>
            <a:r>
              <a:rPr sz="3200" spc="-5" dirty="0" err="1">
                <a:solidFill>
                  <a:srgbClr val="595959"/>
                </a:solidFill>
                <a:latin typeface="Arial Unicode MS"/>
                <a:ea typeface="Arial Unicode MS"/>
                <a:cs typeface="Arial Unicode MS"/>
              </a:rPr>
              <a:t>数学与信息科技学系</a:t>
            </a:r>
            <a:r>
              <a:rPr sz="3200" spc="-5" dirty="0">
                <a:solidFill>
                  <a:srgbClr val="595959"/>
                </a:solidFill>
                <a:latin typeface="Arial Unicode MS"/>
                <a:ea typeface="Arial Unicode MS"/>
                <a:cs typeface="Arial Unicode MS"/>
              </a:rPr>
              <a:t> </a:t>
            </a:r>
          </a:p>
          <a:p>
            <a:pPr marL="12700" marR="5080" indent="-12700" algn="ctr">
              <a:lnSpc>
                <a:spcPct val="124600"/>
              </a:lnSpc>
              <a:spcBef>
                <a:spcPts val="95"/>
              </a:spcBef>
              <a:buNone/>
            </a:pPr>
            <a:r>
              <a:rPr sz="3200" dirty="0">
                <a:solidFill>
                  <a:srgbClr val="595959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3200" spc="-5" dirty="0" err="1">
                <a:solidFill>
                  <a:srgbClr val="595959"/>
                </a:solidFill>
                <a:latin typeface="Arial Unicode MS"/>
                <a:ea typeface="Arial Unicode MS"/>
                <a:cs typeface="Arial Unicode MS"/>
              </a:rPr>
              <a:t>香港教育大学</a:t>
            </a:r>
            <a:endParaRPr sz="3200" dirty="0">
              <a:latin typeface="Arial MT"/>
              <a:ea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3264628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3B44996-CF80-4AE4-A490-201144254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课程提纲</a:t>
            </a:r>
          </a:p>
        </p:txBody>
      </p:sp>
      <p:graphicFrame>
        <p:nvGraphicFramePr>
          <p:cNvPr id="4104" name="Diagram 21"/>
          <p:cNvGraphicFramePr/>
          <p:nvPr/>
        </p:nvGraphicFramePr>
        <p:xfrm>
          <a:off x="1295400" y="1524000"/>
          <a:ext cx="6477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64386E82-653C-4AC6-9617-6B0BD9BEE3A1}"/>
              </a:ext>
            </a:extLst>
          </p:cNvPr>
          <p:cNvSpPr>
            <a:spLocks noGrp="1"/>
          </p:cNvSpPr>
          <p:nvPr/>
        </p:nvSpPr>
        <p:spPr>
          <a:xfrm>
            <a:off x="7848600" y="1981200"/>
            <a:ext cx="102143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85800" indent="-685800">
              <a:buClr>
                <a:schemeClr val="tx1"/>
              </a:buClr>
              <a:buFont typeface="Wingdings"/>
              <a:buChar char="ü"/>
            </a:pPr>
            <a:r>
              <a:rPr sz="500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AF2C3-7446-06C8-E7D7-24AB17D76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2</a:t>
            </a:fld>
            <a:endParaRPr/>
          </a:p>
        </p:txBody>
      </p:sp>
      <p:sp>
        <p:nvSpPr>
          <p:cNvPr id="4100" name="zh-outline-2">
            <a:extLst>
              <a:ext uri="{FF2B5EF4-FFF2-40B4-BE49-F238E27FC236}">
                <a16:creationId xmlns:a16="http://schemas.microsoft.com/office/drawing/2014/main" id="{ED8793D4-15C0-4C66-8C63-4E86BF73CBA3}"/>
              </a:ext>
            </a:extLst>
          </p:cNvPr>
          <p:cNvSpPr>
            <a:spLocks noGrp="1"/>
          </p:cNvSpPr>
          <p:nvPr/>
        </p:nvSpPr>
        <p:spPr>
          <a:xfrm>
            <a:off x="1304925" y="1562100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关系模型：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基础概念</a:t>
            </a:r>
          </a:p>
        </p:txBody>
      </p:sp>
      <p:sp>
        <p:nvSpPr>
          <p:cNvPr id="4101" name="zh-outline-2">
            <a:extLst>
              <a:ext uri="{FF2B5EF4-FFF2-40B4-BE49-F238E27FC236}">
                <a16:creationId xmlns:a16="http://schemas.microsoft.com/office/drawing/2014/main" id="{124FAA21-F47A-4A59-9F34-0A502766D2FC}"/>
              </a:ext>
            </a:extLst>
          </p:cNvPr>
          <p:cNvSpPr>
            <a:spLocks noGrp="1"/>
          </p:cNvSpPr>
          <p:nvPr/>
        </p:nvSpPr>
        <p:spPr>
          <a:xfrm>
            <a:off x="4705350" y="1562100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关系模型：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基础 SQL</a:t>
            </a:r>
          </a:p>
        </p:txBody>
      </p:sp>
      <p:sp>
        <p:nvSpPr>
          <p:cNvPr id="4102" name="zh-outline-2">
            <a:extLst>
              <a:ext uri="{FF2B5EF4-FFF2-40B4-BE49-F238E27FC236}">
                <a16:creationId xmlns:a16="http://schemas.microsoft.com/office/drawing/2014/main" id="{AF70A38A-A358-4DE1-875D-710530AC2D49}"/>
              </a:ext>
            </a:extLst>
          </p:cNvPr>
          <p:cNvSpPr>
            <a:spLocks noGrp="1"/>
          </p:cNvSpPr>
          <p:nvPr/>
        </p:nvSpPr>
        <p:spPr>
          <a:xfrm>
            <a:off x="3000375" y="3724275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 SQL 将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ER 图映射为表</a:t>
            </a:r>
          </a:p>
        </p:txBody>
      </p:sp>
    </p:spTree>
    <p:extLst>
      <p:ext uri="{BB962C8B-B14F-4D97-AF65-F5344CB8AC3E}">
        <p14:creationId xmlns:p14="http://schemas.microsoft.com/office/powerpoint/2010/main" val="1874142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AD332F3E-3BE7-4DA3-A36E-2C171B4A955A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学习成果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BE28E8D-0044-4947-A7DD-307C5B4C5866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3ADA46-57FC-427F-A80D-5FFEC4200903}"/>
              </a:ext>
            </a:extLst>
          </p:cNvPr>
          <p:cNvSpPr>
            <a:spLocks noGrp="1"/>
          </p:cNvSpPr>
          <p:nvPr/>
        </p:nvSpPr>
        <p:spPr>
          <a:xfrm>
            <a:off x="666750" y="1390650"/>
            <a:ext cx="7810500" cy="3714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解释关系、元组、属性、域、模式和实例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区分主键、候选键、外键和完整性约束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编写 SQL，完成建表、数据修改、筛选、连接与分组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把常见 ER 结构转换为关系模式，并说明键的选择依据</a:t>
            </a:r>
          </a:p>
        </p:txBody>
      </p:sp>
      <p:sp>
        <p:nvSpPr>
          <p:cNvPr id="4" name="callout">
            <a:extLst>
              <a:ext uri="{FF2B5EF4-FFF2-40B4-BE49-F238E27FC236}">
                <a16:creationId xmlns:a16="http://schemas.microsoft.com/office/drawing/2014/main" id="{C777A874-485E-4488-94D3-95B1745A8D16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学习目标是既能说明模式设计，也能解释 SQL 结果。</a:t>
            </a:r>
          </a:p>
        </p:txBody>
      </p:sp>
    </p:spTree>
    <p:extLst>
      <p:ext uri="{BB962C8B-B14F-4D97-AF65-F5344CB8AC3E}">
        <p14:creationId xmlns:p14="http://schemas.microsoft.com/office/powerpoint/2010/main" val="579166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B2CCFAC6-DD33-428E-82A8-DBB15E7ED9A0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180 分钟教学安排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75228B4-B700-495A-AA0D-5C0EF073F911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723900" y="1257300"/>
          <a:ext cx="7696200" cy="43434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阶段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时间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学习方式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导入与关系模型基础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45 分钟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概念讲解、示例与快速检查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基础 SQL 与约束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65 分钟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查询示范与小练习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课间休息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10 分钟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十分钟后继续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 模型到关系模型的映射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45 分钟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决策规则与小组案例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综合练习与总结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15 分钟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挑战、测验与要点回顾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65743217-854F-4310-858C-E2B51926DFF1}"/>
              </a:ext>
            </a:extLst>
          </p:cNvPr>
          <p:cNvSpPr>
            <a:spLocks noGrp="1"/>
          </p:cNvSpPr>
          <p:nvPr/>
        </p:nvSpPr>
        <p:spPr>
          <a:xfrm>
            <a:off x="6096000" y="5791200"/>
            <a:ext cx="23241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1725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总计：180 分钟</a:t>
            </a:r>
          </a:p>
        </p:txBody>
      </p:sp>
    </p:spTree>
    <p:extLst>
      <p:ext uri="{BB962C8B-B14F-4D97-AF65-F5344CB8AC3E}">
        <p14:creationId xmlns:p14="http://schemas.microsoft.com/office/powerpoint/2010/main" val="120562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3EC952F3-D9C3-46A4-8B41-BE45ADE6C134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热身：一个单元格中的多个值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7C74228-540C-4480-AFDD-E7774E03D234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552450" y="1333500"/>
          <a:ext cx="8039100" cy="1771650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sid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姓名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课程代码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电话号码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INT6164, INT6123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9123 4567, 6123 7654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S102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Omar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INT6164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9876 4321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D2C25E2-9B96-4722-873B-C7C9B6612A18}"/>
              </a:ext>
            </a:extLst>
          </p:cNvPr>
          <p:cNvSpPr>
            <a:spLocks noGrp="1"/>
          </p:cNvSpPr>
          <p:nvPr/>
        </p:nvSpPr>
        <p:spPr>
          <a:xfrm>
            <a:off x="819150" y="3543300"/>
            <a:ext cx="7505700" cy="1219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2175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哪些单元格包含多个值？</a:t>
            </a:r>
          </a:p>
          <a:p>
            <a:pPr algn="ctr">
              <a:buNone/>
              <a:defRPr sz="2175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你会如何重新设计这些数据？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061468AA-CC66-4E27-AFFE-42C5B2A4417B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独立思考 2 分钟，同伴比较 2 分钟，全班分享 1 分钟。</a:t>
            </a:r>
          </a:p>
        </p:txBody>
      </p:sp>
    </p:spTree>
    <p:extLst>
      <p:ext uri="{BB962C8B-B14F-4D97-AF65-F5344CB8AC3E}">
        <p14:creationId xmlns:p14="http://schemas.microsoft.com/office/powerpoint/2010/main" val="110198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81E9-CD87-1C63-2109-27A1EE846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什么是关系模型？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49235-4EC5-D2BE-692A-97EEC437E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5014118"/>
          </a:xfrm>
        </p:spPr>
        <p:txBody>
          <a:bodyPr>
            <a:normAutofit fontScale="98918" lnSpcReduction="10000"/>
          </a:bodyPr>
          <a:lstStyle/>
          <a:p>
            <a:pPr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关系数据模型由 E. F. Codd 于 20 世纪 70 年代提出，属于基于记录的逻辑模型</a:t>
            </a:r>
          </a:p>
          <a:p>
            <a:pPr>
              <a:buFont typeface="Wingdings"/>
              <a:buChar char="§"/>
            </a:pPr>
            <a:endParaRPr sz="2800"/>
          </a:p>
          <a:p>
            <a:pPr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关系模型采用“表格”表示方式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数据库由一个或多个关系组成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每个关系都是由行和列构成的表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关系模型不是图形表示。</a:t>
            </a:r>
          </a:p>
          <a:p>
            <a:pPr lvl="1">
              <a:buFont typeface="Wingdings"/>
              <a:buChar char="§"/>
            </a:pPr>
            <a:endParaRPr sz="2400"/>
          </a:p>
          <a:p>
            <a:pPr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与较早的数据模型相比，关系模型有何特点？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数据表示简单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能够方便地表达复杂查询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461CC-4ADC-6CE5-B9FC-9E1991A1EE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895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3811-09DB-3481-E9B3-46A0D309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基本构成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D996A-D316-D6FC-433F-C996E2EAF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8458200" cy="5638800"/>
          </a:xfrm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关系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数据以表的形式存储，这些表称为关系，每个关系都有唯一名称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一个关系由行和列组成，行称为元组，列称为属性</a:t>
            </a:r>
          </a:p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属性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属性有名称和“域”，域是一组允许出现的值</a:t>
            </a:r>
          </a:p>
          <a:p>
            <a:r>
              <a:rPr sz="2400">
                <a:latin typeface="Arial Unicode MS"/>
                <a:ea typeface="Arial Unicode MS"/>
                <a:cs typeface="Arial Unicode MS"/>
              </a:rPr>
              <a:t>记录与实例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一组行或元组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关系中的每一行或元组都是一条记录，也可表示一个实体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关系中的每个属性对应记录或实例中的一个字段</a:t>
            </a:r>
            <a:endParaRPr/>
          </a:p>
          <a:p>
            <a:r>
              <a:rPr sz="2400">
                <a:latin typeface="Arial Unicode MS"/>
                <a:ea typeface="Arial Unicode MS"/>
                <a:cs typeface="Arial Unicode MS"/>
              </a:rPr>
              <a:t>关系也可定义为以下两部分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模式，包括关系名、每列的名称以及每列的域</a:t>
            </a:r>
          </a:p>
          <a:p>
            <a:pPr lvl="1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实例，即一组元组</a:t>
            </a:r>
          </a:p>
          <a:p>
            <a:pPr lvl="2">
              <a:buNone/>
            </a:pPr>
            <a:r>
              <a:rPr sz="1600">
                <a:latin typeface="Arial Unicode MS"/>
                <a:ea typeface="Arial Unicode MS"/>
                <a:cs typeface="Arial Unicode MS"/>
              </a:rPr>
              <a:t>每个元组的列数都与关系模式一致</a:t>
            </a:r>
          </a:p>
          <a:p>
            <a:pPr lvl="1">
              <a:buNone/>
            </a:pPr>
            <a:endParaRPr sz="2000"/>
          </a:p>
          <a:p>
            <a:pPr lvl="1">
              <a:buNone/>
            </a:pPr>
            <a:endParaRPr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13E43-CDDD-34A6-E5FC-BB461256C4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7606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13811-09DB-3481-E9B3-46A0D3099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数据库模式与实例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D996A-D316-D6FC-433F-C996E2EAF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2000"/>
            <a:ext cx="8458200" cy="5562600"/>
          </a:xfrm>
        </p:spPr>
        <p:txBody>
          <a:bodyPr>
            <a:normAutofit/>
          </a:bodyPr>
          <a:lstStyle/>
          <a:p>
            <a:r>
              <a:rPr sz="2400">
                <a:latin typeface="Arial Unicode MS"/>
                <a:ea typeface="Arial Unicode MS"/>
                <a:cs typeface="Arial Unicode MS"/>
              </a:rPr>
              <a:t>关系数据库模式示例：相对静态</a:t>
            </a:r>
          </a:p>
          <a:p>
            <a:pPr>
              <a:buFont typeface="Wingdings"/>
              <a:buChar char="§"/>
            </a:pPr>
            <a:endParaRPr sz="2400" i="1"/>
          </a:p>
          <a:p>
            <a:pPr>
              <a:buFont typeface="Wingdings"/>
              <a:buChar char="§"/>
            </a:pPr>
            <a:endParaRPr sz="2400" i="1"/>
          </a:p>
          <a:p>
            <a:pPr>
              <a:buFont typeface="Wingdings"/>
              <a:buChar char="§"/>
            </a:pPr>
            <a:endParaRPr sz="2400" i="1"/>
          </a:p>
          <a:p>
            <a:r>
              <a:rPr sz="2400">
                <a:latin typeface="Arial Unicode MS"/>
                <a:ea typeface="Arial Unicode MS"/>
                <a:cs typeface="Arial Unicode MS"/>
              </a:rPr>
              <a:t>对应的数据库实例：经常变化</a:t>
            </a:r>
            <a:endParaRPr sz="2000" i="1">
              <a:solidFill>
                <a:srgbClr val="7030A0"/>
              </a:solidFill>
            </a:endParaRPr>
          </a:p>
          <a:p>
            <a:pPr>
              <a:buFont typeface="Wingdings"/>
              <a:buChar char="§"/>
            </a:pPr>
            <a:endParaRPr sz="2400" i="1"/>
          </a:p>
          <a:p>
            <a:endParaRPr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13E43-CDDD-34A6-E5FC-BB461256C4B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8</a:t>
            </a:fld>
            <a:endParaRPr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13B2C27-51B3-FB1E-0C36-EACB51E3C597}"/>
              </a:ext>
            </a:extLst>
          </p:cNvPr>
          <p:cNvSpPr>
            <a:spLocks noGrp="1"/>
          </p:cNvSpPr>
          <p:nvPr/>
        </p:nvSpPr>
        <p:spPr>
          <a:xfrm>
            <a:off x="641226" y="1227400"/>
            <a:ext cx="1524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Customer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78BD7F29-7764-14FA-AAE6-1F61959C90D7}"/>
              </a:ext>
            </a:extLst>
          </p:cNvPr>
          <p:cNvSpPr>
            <a:spLocks noGrp="1"/>
          </p:cNvSpPr>
          <p:nvPr/>
        </p:nvSpPr>
        <p:spPr>
          <a:xfrm>
            <a:off x="3278151" y="1227400"/>
            <a:ext cx="107807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Orders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D0E791-5FE3-9C1A-40DB-14B9D7CCCACA}"/>
              </a:ext>
            </a:extLst>
          </p:cNvPr>
          <p:cNvSpPr>
            <a:spLocks noGrp="1"/>
          </p:cNvSpPr>
          <p:nvPr/>
        </p:nvSpPr>
        <p:spPr>
          <a:xfrm>
            <a:off x="685800" y="1608400"/>
            <a:ext cx="2357942" cy="8683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37F8D5EA-387E-7A38-1CB2-08E863FAB4D6}"/>
              </a:ext>
            </a:extLst>
          </p:cNvPr>
          <p:cNvSpPr>
            <a:spLocks noGrp="1"/>
          </p:cNvSpPr>
          <p:nvPr/>
        </p:nvSpPr>
        <p:spPr>
          <a:xfrm>
            <a:off x="762000" y="16846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cname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6804CB3-E8BC-A307-A100-D79E0320D5BE}"/>
              </a:ext>
            </a:extLst>
          </p:cNvPr>
          <p:cNvSpPr>
            <a:spLocks noGrp="1"/>
          </p:cNvSpPr>
          <p:nvPr/>
        </p:nvSpPr>
        <p:spPr>
          <a:xfrm>
            <a:off x="1600200" y="16988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C#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1AEEBD6B-3AB7-1B07-DA9B-2C6A6816CB00}"/>
              </a:ext>
            </a:extLst>
          </p:cNvPr>
          <p:cNvSpPr>
            <a:spLocks noGrp="1"/>
          </p:cNvSpPr>
          <p:nvPr/>
        </p:nvSpPr>
        <p:spPr>
          <a:xfrm>
            <a:off x="2165226" y="1684600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address</a:t>
            </a: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57D86636-BB53-7D17-AAAB-9B7AF1C70940}"/>
              </a:ext>
            </a:extLst>
          </p:cNvPr>
          <p:cNvSpPr>
            <a:spLocks noGrp="1"/>
          </p:cNvSpPr>
          <p:nvPr/>
        </p:nvSpPr>
        <p:spPr>
          <a:xfrm>
            <a:off x="685800" y="2065600"/>
            <a:ext cx="2357942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39553C5B-9F94-9554-D665-A01F6F9E6A24}"/>
              </a:ext>
            </a:extLst>
          </p:cNvPr>
          <p:cNvSpPr>
            <a:spLocks noGrp="1"/>
          </p:cNvSpPr>
          <p:nvPr/>
        </p:nvSpPr>
        <p:spPr>
          <a:xfrm flipH="1">
            <a:off x="1513642" y="1608400"/>
            <a:ext cx="10358" cy="868362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E67F22DF-2DC4-202B-9931-CC2B1EDF6C0E}"/>
              </a:ext>
            </a:extLst>
          </p:cNvPr>
          <p:cNvSpPr>
            <a:spLocks noGrp="1"/>
          </p:cNvSpPr>
          <p:nvPr/>
        </p:nvSpPr>
        <p:spPr>
          <a:xfrm flipH="1">
            <a:off x="2067757" y="1608400"/>
            <a:ext cx="1" cy="868362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EF2258-3507-06FE-0527-15639FE19962}"/>
              </a:ext>
            </a:extLst>
          </p:cNvPr>
          <p:cNvSpPr>
            <a:spLocks noGrp="1"/>
          </p:cNvSpPr>
          <p:nvPr/>
        </p:nvSpPr>
        <p:spPr>
          <a:xfrm>
            <a:off x="3288508" y="1608399"/>
            <a:ext cx="2945187" cy="86835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0BFF31B7-E142-944A-DE9C-2B593F19B8F1}"/>
              </a:ext>
            </a:extLst>
          </p:cNvPr>
          <p:cNvSpPr>
            <a:spLocks noGrp="1"/>
          </p:cNvSpPr>
          <p:nvPr/>
        </p:nvSpPr>
        <p:spPr>
          <a:xfrm>
            <a:off x="4320171" y="1681981"/>
            <a:ext cx="6160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C#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E06D426A-7E31-F34B-9E60-58A7B9CB8F09}"/>
              </a:ext>
            </a:extLst>
          </p:cNvPr>
          <p:cNvSpPr>
            <a:spLocks noGrp="1"/>
          </p:cNvSpPr>
          <p:nvPr/>
        </p:nvSpPr>
        <p:spPr>
          <a:xfrm>
            <a:off x="3440908" y="1681981"/>
            <a:ext cx="84705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order#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0117AB33-3216-D84E-F25E-2F03D0A97DD4}"/>
              </a:ext>
            </a:extLst>
          </p:cNvPr>
          <p:cNvSpPr>
            <a:spLocks noGrp="1"/>
          </p:cNvSpPr>
          <p:nvPr/>
        </p:nvSpPr>
        <p:spPr>
          <a:xfrm>
            <a:off x="4923331" y="1681981"/>
            <a:ext cx="61604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P#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B3D9BF28-EF04-F2C9-F947-0E074C164E95}"/>
              </a:ext>
            </a:extLst>
          </p:cNvPr>
          <p:cNvSpPr>
            <a:spLocks noGrp="1"/>
          </p:cNvSpPr>
          <p:nvPr/>
        </p:nvSpPr>
        <p:spPr>
          <a:xfrm>
            <a:off x="5386971" y="1681981"/>
            <a:ext cx="100106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quantity</a:t>
            </a:r>
          </a:p>
        </p:txBody>
      </p:sp>
      <p:sp>
        <p:nvSpPr>
          <p:cNvPr id="27" name="Line 26">
            <a:extLst>
              <a:ext uri="{FF2B5EF4-FFF2-40B4-BE49-F238E27FC236}">
                <a16:creationId xmlns:a16="http://schemas.microsoft.com/office/drawing/2014/main" id="{FDDA599A-0708-B569-4AB1-01348F81D084}"/>
              </a:ext>
            </a:extLst>
          </p:cNvPr>
          <p:cNvSpPr>
            <a:spLocks noGrp="1"/>
          </p:cNvSpPr>
          <p:nvPr/>
        </p:nvSpPr>
        <p:spPr>
          <a:xfrm flipV="1">
            <a:off x="3288508" y="2061155"/>
            <a:ext cx="2945187" cy="4445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Line 27">
            <a:extLst>
              <a:ext uri="{FF2B5EF4-FFF2-40B4-BE49-F238E27FC236}">
                <a16:creationId xmlns:a16="http://schemas.microsoft.com/office/drawing/2014/main" id="{AE339F77-3C8F-6F0C-E564-AAA51E9BF1D7}"/>
              </a:ext>
            </a:extLst>
          </p:cNvPr>
          <p:cNvSpPr>
            <a:spLocks noGrp="1"/>
          </p:cNvSpPr>
          <p:nvPr/>
        </p:nvSpPr>
        <p:spPr>
          <a:xfrm>
            <a:off x="4279109" y="1608399"/>
            <a:ext cx="0" cy="868357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9" name="Line 28">
            <a:extLst>
              <a:ext uri="{FF2B5EF4-FFF2-40B4-BE49-F238E27FC236}">
                <a16:creationId xmlns:a16="http://schemas.microsoft.com/office/drawing/2014/main" id="{18E1762D-4027-8B1F-9FDC-0C3A4CC19E5B}"/>
              </a:ext>
            </a:extLst>
          </p:cNvPr>
          <p:cNvSpPr>
            <a:spLocks noGrp="1"/>
          </p:cNvSpPr>
          <p:nvPr/>
        </p:nvSpPr>
        <p:spPr>
          <a:xfrm>
            <a:off x="4853571" y="1608399"/>
            <a:ext cx="0" cy="868357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Line 29">
            <a:extLst>
              <a:ext uri="{FF2B5EF4-FFF2-40B4-BE49-F238E27FC236}">
                <a16:creationId xmlns:a16="http://schemas.microsoft.com/office/drawing/2014/main" id="{CB4819FB-2E7D-3949-ACBB-080BB7BDC0F7}"/>
              </a:ext>
            </a:extLst>
          </p:cNvPr>
          <p:cNvSpPr>
            <a:spLocks noGrp="1"/>
          </p:cNvSpPr>
          <p:nvPr/>
        </p:nvSpPr>
        <p:spPr>
          <a:xfrm>
            <a:off x="5386971" y="1608399"/>
            <a:ext cx="0" cy="868357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id="{F09464C2-07B3-40DA-2030-1CF250F18C67}"/>
              </a:ext>
            </a:extLst>
          </p:cNvPr>
          <p:cNvSpPr>
            <a:spLocks noGrp="1"/>
          </p:cNvSpPr>
          <p:nvPr/>
        </p:nvSpPr>
        <p:spPr>
          <a:xfrm>
            <a:off x="6432426" y="1219200"/>
            <a:ext cx="1524000" cy="36933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Parts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34AE8D6-48C1-A684-90D6-044BA77C07C5}"/>
              </a:ext>
            </a:extLst>
          </p:cNvPr>
          <p:cNvSpPr>
            <a:spLocks noGrp="1"/>
          </p:cNvSpPr>
          <p:nvPr/>
        </p:nvSpPr>
        <p:spPr>
          <a:xfrm>
            <a:off x="6477000" y="1600200"/>
            <a:ext cx="2357942" cy="86836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 Box 8">
            <a:extLst>
              <a:ext uri="{FF2B5EF4-FFF2-40B4-BE49-F238E27FC236}">
                <a16:creationId xmlns:a16="http://schemas.microsoft.com/office/drawing/2014/main" id="{49AE3DB1-9371-C8CA-148F-6D55C857F4FE}"/>
              </a:ext>
            </a:extLst>
          </p:cNvPr>
          <p:cNvSpPr>
            <a:spLocks noGrp="1"/>
          </p:cNvSpPr>
          <p:nvPr/>
        </p:nvSpPr>
        <p:spPr>
          <a:xfrm>
            <a:off x="6553200" y="16764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pname</a:t>
            </a:r>
          </a:p>
        </p:txBody>
      </p:sp>
      <p:sp>
        <p:nvSpPr>
          <p:cNvPr id="34" name="Text Box 9">
            <a:extLst>
              <a:ext uri="{FF2B5EF4-FFF2-40B4-BE49-F238E27FC236}">
                <a16:creationId xmlns:a16="http://schemas.microsoft.com/office/drawing/2014/main" id="{7FBAC6C2-DE7B-8CCF-AC66-A8F9F9740CAD}"/>
              </a:ext>
            </a:extLst>
          </p:cNvPr>
          <p:cNvSpPr>
            <a:spLocks noGrp="1"/>
          </p:cNvSpPr>
          <p:nvPr/>
        </p:nvSpPr>
        <p:spPr>
          <a:xfrm>
            <a:off x="7391400" y="1690688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P#</a:t>
            </a:r>
          </a:p>
        </p:txBody>
      </p:sp>
      <p:sp>
        <p:nvSpPr>
          <p:cNvPr id="35" name="Text Box 10">
            <a:extLst>
              <a:ext uri="{FF2B5EF4-FFF2-40B4-BE49-F238E27FC236}">
                <a16:creationId xmlns:a16="http://schemas.microsoft.com/office/drawing/2014/main" id="{698A4A8C-84EA-6B75-F91D-648E7447873A}"/>
              </a:ext>
            </a:extLst>
          </p:cNvPr>
          <p:cNvSpPr>
            <a:spLocks noGrp="1"/>
          </p:cNvSpPr>
          <p:nvPr/>
        </p:nvSpPr>
        <p:spPr>
          <a:xfrm>
            <a:off x="7956426" y="1676400"/>
            <a:ext cx="718901" cy="3667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cost</a:t>
            </a:r>
          </a:p>
        </p:txBody>
      </p:sp>
      <p:sp>
        <p:nvSpPr>
          <p:cNvPr id="36" name="Line 11">
            <a:extLst>
              <a:ext uri="{FF2B5EF4-FFF2-40B4-BE49-F238E27FC236}">
                <a16:creationId xmlns:a16="http://schemas.microsoft.com/office/drawing/2014/main" id="{807AE5B9-CEA2-1628-6DC5-10D2D5843163}"/>
              </a:ext>
            </a:extLst>
          </p:cNvPr>
          <p:cNvSpPr>
            <a:spLocks noGrp="1"/>
          </p:cNvSpPr>
          <p:nvPr/>
        </p:nvSpPr>
        <p:spPr>
          <a:xfrm>
            <a:off x="6477000" y="2057400"/>
            <a:ext cx="2357942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Line 12">
            <a:extLst>
              <a:ext uri="{FF2B5EF4-FFF2-40B4-BE49-F238E27FC236}">
                <a16:creationId xmlns:a16="http://schemas.microsoft.com/office/drawing/2014/main" id="{8D3784BB-2751-3E52-A2FF-907B8A3CDAC4}"/>
              </a:ext>
            </a:extLst>
          </p:cNvPr>
          <p:cNvSpPr>
            <a:spLocks noGrp="1"/>
          </p:cNvSpPr>
          <p:nvPr/>
        </p:nvSpPr>
        <p:spPr>
          <a:xfrm flipH="1">
            <a:off x="7304842" y="1600200"/>
            <a:ext cx="10358" cy="868362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Line 13">
            <a:extLst>
              <a:ext uri="{FF2B5EF4-FFF2-40B4-BE49-F238E27FC236}">
                <a16:creationId xmlns:a16="http://schemas.microsoft.com/office/drawing/2014/main" id="{FDA90C90-1130-669A-A2B4-DFB05C556E4D}"/>
              </a:ext>
            </a:extLst>
          </p:cNvPr>
          <p:cNvSpPr>
            <a:spLocks noGrp="1"/>
          </p:cNvSpPr>
          <p:nvPr/>
        </p:nvSpPr>
        <p:spPr>
          <a:xfrm flipH="1">
            <a:off x="7858957" y="1600200"/>
            <a:ext cx="1" cy="868362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9" name="Text Box 4">
            <a:extLst>
              <a:ext uri="{FF2B5EF4-FFF2-40B4-BE49-F238E27FC236}">
                <a16:creationId xmlns:a16="http://schemas.microsoft.com/office/drawing/2014/main" id="{F122117F-CB38-FAB9-0D1B-F25EC3444811}"/>
              </a:ext>
            </a:extLst>
          </p:cNvPr>
          <p:cNvSpPr>
            <a:spLocks noGrp="1"/>
          </p:cNvSpPr>
          <p:nvPr/>
        </p:nvSpPr>
        <p:spPr>
          <a:xfrm>
            <a:off x="1115257" y="2893045"/>
            <a:ext cx="1524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Customer</a:t>
            </a:r>
          </a:p>
        </p:txBody>
      </p:sp>
      <p:sp>
        <p:nvSpPr>
          <p:cNvPr id="70" name="Text Box 5">
            <a:extLst>
              <a:ext uri="{FF2B5EF4-FFF2-40B4-BE49-F238E27FC236}">
                <a16:creationId xmlns:a16="http://schemas.microsoft.com/office/drawing/2014/main" id="{9EAEAD1E-601F-F73F-D204-AA4F9E63624D}"/>
              </a:ext>
            </a:extLst>
          </p:cNvPr>
          <p:cNvSpPr>
            <a:spLocks noGrp="1"/>
          </p:cNvSpPr>
          <p:nvPr/>
        </p:nvSpPr>
        <p:spPr>
          <a:xfrm>
            <a:off x="2286000" y="4643654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Orders</a:t>
            </a:r>
          </a:p>
        </p:txBody>
      </p:sp>
      <p:sp>
        <p:nvSpPr>
          <p:cNvPr id="71" name="Text Box 6">
            <a:extLst>
              <a:ext uri="{FF2B5EF4-FFF2-40B4-BE49-F238E27FC236}">
                <a16:creationId xmlns:a16="http://schemas.microsoft.com/office/drawing/2014/main" id="{79EFE86F-D742-280A-A47E-A6E041771C8A}"/>
              </a:ext>
            </a:extLst>
          </p:cNvPr>
          <p:cNvSpPr>
            <a:spLocks noGrp="1"/>
          </p:cNvSpPr>
          <p:nvPr/>
        </p:nvSpPr>
        <p:spPr>
          <a:xfrm>
            <a:off x="5382457" y="2816845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Parts</a:t>
            </a:r>
          </a:p>
        </p:txBody>
      </p:sp>
      <p:sp>
        <p:nvSpPr>
          <p:cNvPr id="72" name="Rectangle 7">
            <a:extLst>
              <a:ext uri="{FF2B5EF4-FFF2-40B4-BE49-F238E27FC236}">
                <a16:creationId xmlns:a16="http://schemas.microsoft.com/office/drawing/2014/main" id="{14EA4E7A-F2B6-13F7-D6D9-325199CE59D7}"/>
              </a:ext>
            </a:extLst>
          </p:cNvPr>
          <p:cNvSpPr>
            <a:spLocks noGrp="1"/>
          </p:cNvSpPr>
          <p:nvPr/>
        </p:nvSpPr>
        <p:spPr>
          <a:xfrm>
            <a:off x="1115257" y="3274045"/>
            <a:ext cx="3200400" cy="13096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Text Box 8">
            <a:extLst>
              <a:ext uri="{FF2B5EF4-FFF2-40B4-BE49-F238E27FC236}">
                <a16:creationId xmlns:a16="http://schemas.microsoft.com/office/drawing/2014/main" id="{187A7DE4-F1DE-BC1E-AD39-C7247AD2FD1B}"/>
              </a:ext>
            </a:extLst>
          </p:cNvPr>
          <p:cNvSpPr>
            <a:spLocks noGrp="1"/>
          </p:cNvSpPr>
          <p:nvPr/>
        </p:nvSpPr>
        <p:spPr>
          <a:xfrm>
            <a:off x="1115257" y="3197845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cname</a:t>
            </a:r>
          </a:p>
        </p:txBody>
      </p:sp>
      <p:sp>
        <p:nvSpPr>
          <p:cNvPr id="74" name="Text Box 9">
            <a:extLst>
              <a:ext uri="{FF2B5EF4-FFF2-40B4-BE49-F238E27FC236}">
                <a16:creationId xmlns:a16="http://schemas.microsoft.com/office/drawing/2014/main" id="{18A2C78E-8700-7632-3292-0116A6C20B4A}"/>
              </a:ext>
            </a:extLst>
          </p:cNvPr>
          <p:cNvSpPr>
            <a:spLocks noGrp="1"/>
          </p:cNvSpPr>
          <p:nvPr/>
        </p:nvSpPr>
        <p:spPr>
          <a:xfrm>
            <a:off x="2182057" y="3212133"/>
            <a:ext cx="609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C#</a:t>
            </a:r>
          </a:p>
        </p:txBody>
      </p:sp>
      <p:sp>
        <p:nvSpPr>
          <p:cNvPr id="75" name="Text Box 10">
            <a:extLst>
              <a:ext uri="{FF2B5EF4-FFF2-40B4-BE49-F238E27FC236}">
                <a16:creationId xmlns:a16="http://schemas.microsoft.com/office/drawing/2014/main" id="{576DCB50-DCA4-D8F3-D6B3-811890E2F52B}"/>
              </a:ext>
            </a:extLst>
          </p:cNvPr>
          <p:cNvSpPr>
            <a:spLocks noGrp="1"/>
          </p:cNvSpPr>
          <p:nvPr/>
        </p:nvSpPr>
        <p:spPr>
          <a:xfrm>
            <a:off x="3020257" y="3197845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address</a:t>
            </a:r>
          </a:p>
        </p:txBody>
      </p:sp>
      <p:sp>
        <p:nvSpPr>
          <p:cNvPr id="76" name="Line 11">
            <a:extLst>
              <a:ext uri="{FF2B5EF4-FFF2-40B4-BE49-F238E27FC236}">
                <a16:creationId xmlns:a16="http://schemas.microsoft.com/office/drawing/2014/main" id="{DC97E4D9-D871-5DD5-26B3-8699295B38B7}"/>
              </a:ext>
            </a:extLst>
          </p:cNvPr>
          <p:cNvSpPr>
            <a:spLocks noGrp="1"/>
          </p:cNvSpPr>
          <p:nvPr/>
        </p:nvSpPr>
        <p:spPr>
          <a:xfrm>
            <a:off x="1115257" y="3578845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Line 12">
            <a:extLst>
              <a:ext uri="{FF2B5EF4-FFF2-40B4-BE49-F238E27FC236}">
                <a16:creationId xmlns:a16="http://schemas.microsoft.com/office/drawing/2014/main" id="{0B6D6C0C-F636-AFE4-9AE8-342737F07199}"/>
              </a:ext>
            </a:extLst>
          </p:cNvPr>
          <p:cNvSpPr>
            <a:spLocks noGrp="1"/>
          </p:cNvSpPr>
          <p:nvPr/>
        </p:nvSpPr>
        <p:spPr>
          <a:xfrm>
            <a:off x="1877257" y="3274045"/>
            <a:ext cx="0" cy="1309685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8" name="Rectangle 14">
            <a:extLst>
              <a:ext uri="{FF2B5EF4-FFF2-40B4-BE49-F238E27FC236}">
                <a16:creationId xmlns:a16="http://schemas.microsoft.com/office/drawing/2014/main" id="{62E50908-FB94-E30B-9222-51979F029EE3}"/>
              </a:ext>
            </a:extLst>
          </p:cNvPr>
          <p:cNvSpPr>
            <a:spLocks noGrp="1"/>
          </p:cNvSpPr>
          <p:nvPr/>
        </p:nvSpPr>
        <p:spPr>
          <a:xfrm>
            <a:off x="5077657" y="3274045"/>
            <a:ext cx="3124200" cy="130968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9" name="Text Box 15">
            <a:extLst>
              <a:ext uri="{FF2B5EF4-FFF2-40B4-BE49-F238E27FC236}">
                <a16:creationId xmlns:a16="http://schemas.microsoft.com/office/drawing/2014/main" id="{15693ADF-A938-5951-743F-5C5F58F95C7E}"/>
              </a:ext>
            </a:extLst>
          </p:cNvPr>
          <p:cNvSpPr>
            <a:spLocks noGrp="1"/>
          </p:cNvSpPr>
          <p:nvPr/>
        </p:nvSpPr>
        <p:spPr>
          <a:xfrm>
            <a:off x="5153857" y="3197845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P#</a:t>
            </a:r>
          </a:p>
        </p:txBody>
      </p:sp>
      <p:sp>
        <p:nvSpPr>
          <p:cNvPr id="80" name="Text Box 16">
            <a:extLst>
              <a:ext uri="{FF2B5EF4-FFF2-40B4-BE49-F238E27FC236}">
                <a16:creationId xmlns:a16="http://schemas.microsoft.com/office/drawing/2014/main" id="{BB6395A4-ED28-6458-6782-69BE741F1185}"/>
              </a:ext>
            </a:extLst>
          </p:cNvPr>
          <p:cNvSpPr>
            <a:spLocks noGrp="1"/>
          </p:cNvSpPr>
          <p:nvPr/>
        </p:nvSpPr>
        <p:spPr>
          <a:xfrm>
            <a:off x="5992057" y="3197845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pname</a:t>
            </a:r>
          </a:p>
        </p:txBody>
      </p:sp>
      <p:sp>
        <p:nvSpPr>
          <p:cNvPr id="81" name="Text Box 17">
            <a:extLst>
              <a:ext uri="{FF2B5EF4-FFF2-40B4-BE49-F238E27FC236}">
                <a16:creationId xmlns:a16="http://schemas.microsoft.com/office/drawing/2014/main" id="{0E44F7A1-8219-B6F2-7C61-0508CE5A0BBD}"/>
              </a:ext>
            </a:extLst>
          </p:cNvPr>
          <p:cNvSpPr>
            <a:spLocks noGrp="1"/>
          </p:cNvSpPr>
          <p:nvPr/>
        </p:nvSpPr>
        <p:spPr>
          <a:xfrm>
            <a:off x="7439857" y="3197845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cost</a:t>
            </a:r>
          </a:p>
        </p:txBody>
      </p:sp>
      <p:sp>
        <p:nvSpPr>
          <p:cNvPr id="82" name="Line 18">
            <a:extLst>
              <a:ext uri="{FF2B5EF4-FFF2-40B4-BE49-F238E27FC236}">
                <a16:creationId xmlns:a16="http://schemas.microsoft.com/office/drawing/2014/main" id="{9E1EBF30-9337-6D91-CDC9-709399E34DD0}"/>
              </a:ext>
            </a:extLst>
          </p:cNvPr>
          <p:cNvSpPr>
            <a:spLocks noGrp="1"/>
          </p:cNvSpPr>
          <p:nvPr/>
        </p:nvSpPr>
        <p:spPr>
          <a:xfrm>
            <a:off x="5077657" y="3578845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Line 19">
            <a:extLst>
              <a:ext uri="{FF2B5EF4-FFF2-40B4-BE49-F238E27FC236}">
                <a16:creationId xmlns:a16="http://schemas.microsoft.com/office/drawing/2014/main" id="{DC03413F-D1BA-7041-C159-123B25B68830}"/>
              </a:ext>
            </a:extLst>
          </p:cNvPr>
          <p:cNvSpPr>
            <a:spLocks noGrp="1"/>
          </p:cNvSpPr>
          <p:nvPr/>
        </p:nvSpPr>
        <p:spPr>
          <a:xfrm>
            <a:off x="5839657" y="3274045"/>
            <a:ext cx="0" cy="1309687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4" name="Rectangle 21">
            <a:extLst>
              <a:ext uri="{FF2B5EF4-FFF2-40B4-BE49-F238E27FC236}">
                <a16:creationId xmlns:a16="http://schemas.microsoft.com/office/drawing/2014/main" id="{3D7E8B5C-8587-B77A-AF91-7335A4433757}"/>
              </a:ext>
            </a:extLst>
          </p:cNvPr>
          <p:cNvSpPr>
            <a:spLocks noGrp="1"/>
          </p:cNvSpPr>
          <p:nvPr/>
        </p:nvSpPr>
        <p:spPr>
          <a:xfrm>
            <a:off x="2286000" y="4953000"/>
            <a:ext cx="4953000" cy="16764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Text Box 22">
            <a:extLst>
              <a:ext uri="{FF2B5EF4-FFF2-40B4-BE49-F238E27FC236}">
                <a16:creationId xmlns:a16="http://schemas.microsoft.com/office/drawing/2014/main" id="{285F5E49-CB6B-41FB-553E-9819C07388CA}"/>
              </a:ext>
            </a:extLst>
          </p:cNvPr>
          <p:cNvSpPr>
            <a:spLocks noGrp="1"/>
          </p:cNvSpPr>
          <p:nvPr/>
        </p:nvSpPr>
        <p:spPr>
          <a:xfrm>
            <a:off x="3657600" y="4876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C#</a:t>
            </a:r>
          </a:p>
        </p:txBody>
      </p:sp>
      <p:sp>
        <p:nvSpPr>
          <p:cNvPr id="86" name="Text Box 23">
            <a:extLst>
              <a:ext uri="{FF2B5EF4-FFF2-40B4-BE49-F238E27FC236}">
                <a16:creationId xmlns:a16="http://schemas.microsoft.com/office/drawing/2014/main" id="{E094D7B3-CDF5-0AC0-8791-F2FE384FCD76}"/>
              </a:ext>
            </a:extLst>
          </p:cNvPr>
          <p:cNvSpPr>
            <a:spLocks noGrp="1"/>
          </p:cNvSpPr>
          <p:nvPr/>
        </p:nvSpPr>
        <p:spPr>
          <a:xfrm>
            <a:off x="2362200" y="4876800"/>
            <a:ext cx="838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order#</a:t>
            </a:r>
          </a:p>
        </p:txBody>
      </p:sp>
      <p:sp>
        <p:nvSpPr>
          <p:cNvPr id="87" name="Text Box 24">
            <a:extLst>
              <a:ext uri="{FF2B5EF4-FFF2-40B4-BE49-F238E27FC236}">
                <a16:creationId xmlns:a16="http://schemas.microsoft.com/office/drawing/2014/main" id="{BA606E58-49DB-1ABE-6FAE-FA37D964B31A}"/>
              </a:ext>
            </a:extLst>
          </p:cNvPr>
          <p:cNvSpPr>
            <a:spLocks noGrp="1"/>
          </p:cNvSpPr>
          <p:nvPr/>
        </p:nvSpPr>
        <p:spPr>
          <a:xfrm>
            <a:off x="4876800" y="4876800"/>
            <a:ext cx="609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P#</a:t>
            </a:r>
          </a:p>
        </p:txBody>
      </p:sp>
      <p:sp>
        <p:nvSpPr>
          <p:cNvPr id="88" name="Text Box 25">
            <a:extLst>
              <a:ext uri="{FF2B5EF4-FFF2-40B4-BE49-F238E27FC236}">
                <a16:creationId xmlns:a16="http://schemas.microsoft.com/office/drawing/2014/main" id="{362ADD3B-599F-9B74-CD5A-319F92499EE2}"/>
              </a:ext>
            </a:extLst>
          </p:cNvPr>
          <p:cNvSpPr>
            <a:spLocks noGrp="1"/>
          </p:cNvSpPr>
          <p:nvPr/>
        </p:nvSpPr>
        <p:spPr>
          <a:xfrm>
            <a:off x="6096000" y="4876800"/>
            <a:ext cx="990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Narrow"/>
                <a:ea typeface="Arial Narrow"/>
                <a:cs typeface="Arial Narrow"/>
              </a:rPr>
              <a:t>quantity</a:t>
            </a:r>
          </a:p>
        </p:txBody>
      </p:sp>
      <p:sp>
        <p:nvSpPr>
          <p:cNvPr id="89" name="Text Box 31">
            <a:extLst>
              <a:ext uri="{FF2B5EF4-FFF2-40B4-BE49-F238E27FC236}">
                <a16:creationId xmlns:a16="http://schemas.microsoft.com/office/drawing/2014/main" id="{BD653521-A3F7-0338-74BB-A6F6E46DE710}"/>
              </a:ext>
            </a:extLst>
          </p:cNvPr>
          <p:cNvSpPr>
            <a:spLocks noGrp="1"/>
          </p:cNvSpPr>
          <p:nvPr/>
        </p:nvSpPr>
        <p:spPr>
          <a:xfrm>
            <a:off x="1115257" y="3502645"/>
            <a:ext cx="3124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John        41256      8 Blue St., LA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90" name="Text Box 32">
            <a:extLst>
              <a:ext uri="{FF2B5EF4-FFF2-40B4-BE49-F238E27FC236}">
                <a16:creationId xmlns:a16="http://schemas.microsoft.com/office/drawing/2014/main" id="{6C4E380D-2C62-BB3D-B756-58A49DEA978E}"/>
              </a:ext>
            </a:extLst>
          </p:cNvPr>
          <p:cNvSpPr>
            <a:spLocks noGrp="1"/>
          </p:cNvSpPr>
          <p:nvPr/>
        </p:nvSpPr>
        <p:spPr>
          <a:xfrm>
            <a:off x="1115257" y="3821733"/>
            <a:ext cx="31242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Mary        56437      6 Red Ave, SF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91" name="Line 33">
            <a:extLst>
              <a:ext uri="{FF2B5EF4-FFF2-40B4-BE49-F238E27FC236}">
                <a16:creationId xmlns:a16="http://schemas.microsoft.com/office/drawing/2014/main" id="{704E1DF4-DA83-5619-B771-78B917908DDA}"/>
              </a:ext>
            </a:extLst>
          </p:cNvPr>
          <p:cNvSpPr>
            <a:spLocks noGrp="1"/>
          </p:cNvSpPr>
          <p:nvPr/>
        </p:nvSpPr>
        <p:spPr>
          <a:xfrm>
            <a:off x="1115257" y="3883645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" name="Line 34">
            <a:extLst>
              <a:ext uri="{FF2B5EF4-FFF2-40B4-BE49-F238E27FC236}">
                <a16:creationId xmlns:a16="http://schemas.microsoft.com/office/drawing/2014/main" id="{A2C99506-95AF-08B2-74CA-AEDA1D4F87D8}"/>
              </a:ext>
            </a:extLst>
          </p:cNvPr>
          <p:cNvSpPr>
            <a:spLocks noGrp="1"/>
          </p:cNvSpPr>
          <p:nvPr/>
        </p:nvSpPr>
        <p:spPr>
          <a:xfrm>
            <a:off x="1115257" y="4188445"/>
            <a:ext cx="32004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3" name="Text Box 35">
            <a:extLst>
              <a:ext uri="{FF2B5EF4-FFF2-40B4-BE49-F238E27FC236}">
                <a16:creationId xmlns:a16="http://schemas.microsoft.com/office/drawing/2014/main" id="{E4B4FCFA-1C28-778C-EC54-A15D8DA7F706}"/>
              </a:ext>
            </a:extLst>
          </p:cNvPr>
          <p:cNvSpPr>
            <a:spLocks noGrp="1"/>
          </p:cNvSpPr>
          <p:nvPr/>
        </p:nvSpPr>
        <p:spPr>
          <a:xfrm>
            <a:off x="1115257" y="4202733"/>
            <a:ext cx="31242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Joe          23986     12 Pink Rd, NY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94" name="Line 36">
            <a:extLst>
              <a:ext uri="{FF2B5EF4-FFF2-40B4-BE49-F238E27FC236}">
                <a16:creationId xmlns:a16="http://schemas.microsoft.com/office/drawing/2014/main" id="{1526D938-2629-6D87-465E-003381E89B43}"/>
              </a:ext>
            </a:extLst>
          </p:cNvPr>
          <p:cNvSpPr>
            <a:spLocks noGrp="1"/>
          </p:cNvSpPr>
          <p:nvPr/>
        </p:nvSpPr>
        <p:spPr>
          <a:xfrm>
            <a:off x="2715457" y="3274045"/>
            <a:ext cx="0" cy="1309685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5" name="Text Box 37">
            <a:extLst>
              <a:ext uri="{FF2B5EF4-FFF2-40B4-BE49-F238E27FC236}">
                <a16:creationId xmlns:a16="http://schemas.microsoft.com/office/drawing/2014/main" id="{AF032B93-818D-9663-13A5-2ACA9A1F4534}"/>
              </a:ext>
            </a:extLst>
          </p:cNvPr>
          <p:cNvSpPr>
            <a:spLocks noGrp="1"/>
          </p:cNvSpPr>
          <p:nvPr/>
        </p:nvSpPr>
        <p:spPr>
          <a:xfrm>
            <a:off x="5077657" y="3578845"/>
            <a:ext cx="3124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301            widget               25,000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96" name="Text Box 38">
            <a:extLst>
              <a:ext uri="{FF2B5EF4-FFF2-40B4-BE49-F238E27FC236}">
                <a16:creationId xmlns:a16="http://schemas.microsoft.com/office/drawing/2014/main" id="{66522548-CA53-2D1A-BF99-923F6B563DBF}"/>
              </a:ext>
            </a:extLst>
          </p:cNvPr>
          <p:cNvSpPr>
            <a:spLocks noGrp="1"/>
          </p:cNvSpPr>
          <p:nvPr/>
        </p:nvSpPr>
        <p:spPr>
          <a:xfrm>
            <a:off x="5077657" y="3897933"/>
            <a:ext cx="31242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111            gadget               17,500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97" name="Text Box 39">
            <a:extLst>
              <a:ext uri="{FF2B5EF4-FFF2-40B4-BE49-F238E27FC236}">
                <a16:creationId xmlns:a16="http://schemas.microsoft.com/office/drawing/2014/main" id="{2D1BAF5C-67F1-0C3C-B4F1-F2ED7D71A30B}"/>
              </a:ext>
            </a:extLst>
          </p:cNvPr>
          <p:cNvSpPr>
            <a:spLocks noGrp="1"/>
          </p:cNvSpPr>
          <p:nvPr/>
        </p:nvSpPr>
        <p:spPr>
          <a:xfrm>
            <a:off x="5077657" y="4202733"/>
            <a:ext cx="31242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507            screw                 5,900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98" name="Line 40">
            <a:extLst>
              <a:ext uri="{FF2B5EF4-FFF2-40B4-BE49-F238E27FC236}">
                <a16:creationId xmlns:a16="http://schemas.microsoft.com/office/drawing/2014/main" id="{C4C234EF-1AB3-3555-07B4-77BA8CBED8C1}"/>
              </a:ext>
            </a:extLst>
          </p:cNvPr>
          <p:cNvSpPr>
            <a:spLocks noGrp="1"/>
          </p:cNvSpPr>
          <p:nvPr/>
        </p:nvSpPr>
        <p:spPr>
          <a:xfrm>
            <a:off x="5077657" y="3959845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Line 41">
            <a:extLst>
              <a:ext uri="{FF2B5EF4-FFF2-40B4-BE49-F238E27FC236}">
                <a16:creationId xmlns:a16="http://schemas.microsoft.com/office/drawing/2014/main" id="{17617895-528E-46DA-8097-46C52F260ABD}"/>
              </a:ext>
            </a:extLst>
          </p:cNvPr>
          <p:cNvSpPr>
            <a:spLocks noGrp="1"/>
          </p:cNvSpPr>
          <p:nvPr/>
        </p:nvSpPr>
        <p:spPr>
          <a:xfrm>
            <a:off x="5077657" y="4264645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0" name="Line 42">
            <a:extLst>
              <a:ext uri="{FF2B5EF4-FFF2-40B4-BE49-F238E27FC236}">
                <a16:creationId xmlns:a16="http://schemas.microsoft.com/office/drawing/2014/main" id="{419C1C5E-7CC7-4D72-1B0D-70053737A91F}"/>
              </a:ext>
            </a:extLst>
          </p:cNvPr>
          <p:cNvSpPr>
            <a:spLocks noGrp="1"/>
          </p:cNvSpPr>
          <p:nvPr/>
        </p:nvSpPr>
        <p:spPr>
          <a:xfrm flipH="1">
            <a:off x="7058856" y="3274045"/>
            <a:ext cx="1" cy="12954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" name="Line 43">
            <a:extLst>
              <a:ext uri="{FF2B5EF4-FFF2-40B4-BE49-F238E27FC236}">
                <a16:creationId xmlns:a16="http://schemas.microsoft.com/office/drawing/2014/main" id="{09B213E9-3779-F862-2FF6-E1D1BD437BD7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49530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" name="Text Box 44">
            <a:extLst>
              <a:ext uri="{FF2B5EF4-FFF2-40B4-BE49-F238E27FC236}">
                <a16:creationId xmlns:a16="http://schemas.microsoft.com/office/drawing/2014/main" id="{CA0630EF-3913-EBFF-43C8-2776E00F885E}"/>
              </a:ext>
            </a:extLst>
          </p:cNvPr>
          <p:cNvSpPr>
            <a:spLocks noGrp="1"/>
          </p:cNvSpPr>
          <p:nvPr/>
        </p:nvSpPr>
        <p:spPr>
          <a:xfrm>
            <a:off x="2438400" y="5257800"/>
            <a:ext cx="4800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  21               41256              301                      15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03" name="Text Box 45">
            <a:extLst>
              <a:ext uri="{FF2B5EF4-FFF2-40B4-BE49-F238E27FC236}">
                <a16:creationId xmlns:a16="http://schemas.microsoft.com/office/drawing/2014/main" id="{1C01F1FE-FF5F-5F4A-1DA7-9C0AD76951ED}"/>
              </a:ext>
            </a:extLst>
          </p:cNvPr>
          <p:cNvSpPr>
            <a:spLocks noGrp="1"/>
          </p:cNvSpPr>
          <p:nvPr/>
        </p:nvSpPr>
        <p:spPr>
          <a:xfrm>
            <a:off x="2438400" y="5500688"/>
            <a:ext cx="4800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  26               41256              111                        7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04" name="Text Box 46">
            <a:extLst>
              <a:ext uri="{FF2B5EF4-FFF2-40B4-BE49-F238E27FC236}">
                <a16:creationId xmlns:a16="http://schemas.microsoft.com/office/drawing/2014/main" id="{F0E3E642-8199-3F7B-9052-F5ED890C7028}"/>
              </a:ext>
            </a:extLst>
          </p:cNvPr>
          <p:cNvSpPr>
            <a:spLocks noGrp="1"/>
          </p:cNvSpPr>
          <p:nvPr/>
        </p:nvSpPr>
        <p:spPr>
          <a:xfrm>
            <a:off x="2438400" y="5729288"/>
            <a:ext cx="4800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  27               56437              301                      11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05" name="Text Box 47">
            <a:extLst>
              <a:ext uri="{FF2B5EF4-FFF2-40B4-BE49-F238E27FC236}">
                <a16:creationId xmlns:a16="http://schemas.microsoft.com/office/drawing/2014/main" id="{6C10B146-3794-219E-3654-2890871C58C8}"/>
              </a:ext>
            </a:extLst>
          </p:cNvPr>
          <p:cNvSpPr>
            <a:spLocks noGrp="1"/>
          </p:cNvSpPr>
          <p:nvPr/>
        </p:nvSpPr>
        <p:spPr>
          <a:xfrm>
            <a:off x="2438400" y="5957888"/>
            <a:ext cx="4800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  32               23986              507                      18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06" name="Text Box 48">
            <a:extLst>
              <a:ext uri="{FF2B5EF4-FFF2-40B4-BE49-F238E27FC236}">
                <a16:creationId xmlns:a16="http://schemas.microsoft.com/office/drawing/2014/main" id="{4C248A1E-8179-50CE-F789-9F168852D721}"/>
              </a:ext>
            </a:extLst>
          </p:cNvPr>
          <p:cNvSpPr>
            <a:spLocks noGrp="1"/>
          </p:cNvSpPr>
          <p:nvPr/>
        </p:nvSpPr>
        <p:spPr>
          <a:xfrm>
            <a:off x="2438400" y="6262688"/>
            <a:ext cx="4800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  ...	       ...</a:t>
            </a:r>
            <a:r>
              <a: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  	            </a:t>
            </a:r>
            <a:r>
              <a:rPr sz="1800" b="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...		    ...</a:t>
            </a:r>
            <a:endParaRPr sz="18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107" name="Line 19">
            <a:extLst>
              <a:ext uri="{FF2B5EF4-FFF2-40B4-BE49-F238E27FC236}">
                <a16:creationId xmlns:a16="http://schemas.microsoft.com/office/drawing/2014/main" id="{353CB4D8-97B1-6295-9684-5586F8F53A9F}"/>
              </a:ext>
            </a:extLst>
          </p:cNvPr>
          <p:cNvSpPr>
            <a:spLocks noGrp="1"/>
          </p:cNvSpPr>
          <p:nvPr/>
        </p:nvSpPr>
        <p:spPr>
          <a:xfrm>
            <a:off x="3342072" y="4953001"/>
            <a:ext cx="10727" cy="1676395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8" name="Line 19">
            <a:extLst>
              <a:ext uri="{FF2B5EF4-FFF2-40B4-BE49-F238E27FC236}">
                <a16:creationId xmlns:a16="http://schemas.microsoft.com/office/drawing/2014/main" id="{9825009D-8382-026B-3930-DB027A6CBACB}"/>
              </a:ext>
            </a:extLst>
          </p:cNvPr>
          <p:cNvSpPr>
            <a:spLocks noGrp="1"/>
          </p:cNvSpPr>
          <p:nvPr/>
        </p:nvSpPr>
        <p:spPr>
          <a:xfrm>
            <a:off x="4495800" y="4953001"/>
            <a:ext cx="10727" cy="1676395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9" name="Line 19">
            <a:extLst>
              <a:ext uri="{FF2B5EF4-FFF2-40B4-BE49-F238E27FC236}">
                <a16:creationId xmlns:a16="http://schemas.microsoft.com/office/drawing/2014/main" id="{5F81F8F1-6C21-3D14-2CA7-FB9F64F430C6}"/>
              </a:ext>
            </a:extLst>
          </p:cNvPr>
          <p:cNvSpPr>
            <a:spLocks noGrp="1"/>
          </p:cNvSpPr>
          <p:nvPr/>
        </p:nvSpPr>
        <p:spPr>
          <a:xfrm>
            <a:off x="5785836" y="4962969"/>
            <a:ext cx="10727" cy="1676395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3364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8192CB29-A0B8-4690-9502-973C849E8A05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模式还是实例？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5793E27E-B9CD-4AF2-AFF8-E09A879DDDE2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838200" y="1257300"/>
          <a:ext cx="7467600" cy="4000500"/>
        </p:xfrm>
        <a:graphic>
          <a:graphicData uri="http://schemas.openxmlformats.org/drawingml/2006/table">
            <a:tbl>
              <a:tblPr/>
              <a:tblGrid>
                <a:gridCol w="521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陈述</a:t>
                      </a:r>
                    </a:p>
                  </a:txBody>
                  <a:tcPr anchor="ctr"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分类</a:t>
                      </a:r>
                    </a:p>
                  </a:txBody>
                  <a:tcPr anchor="ctr"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Students(sid, name, age, gpa)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(S53666, Jones, 18, 3.4)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sid 使用 VARCHAR(8)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学生 S53688 的 GPA 发生变化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每个 sid 都必须唯一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allout">
            <a:extLst>
              <a:ext uri="{FF2B5EF4-FFF2-40B4-BE49-F238E27FC236}">
                <a16:creationId xmlns:a16="http://schemas.microsoft.com/office/drawing/2014/main" id="{52F5EC5B-3AEB-4F3A-88E6-0995441DC06F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4BACC6"/>
          </a:solidFill>
          <a:ln w="9525">
            <a:solidFill>
              <a:srgbClr val="4BACC6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把每个陈述归类为模式、实例数据、域或约束。</a:t>
            </a:r>
          </a:p>
        </p:txBody>
      </p:sp>
    </p:spTree>
    <p:extLst>
      <p:ext uri="{BB962C8B-B14F-4D97-AF65-F5344CB8AC3E}">
        <p14:creationId xmlns:p14="http://schemas.microsoft.com/office/powerpoint/2010/main" val="78281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AFB9A80-6895-52A2-2337-B8469C79B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688"/>
            <a:ext cx="8382000" cy="1128712"/>
          </a:xfrm>
        </p:spPr>
        <p:txBody>
          <a:bodyPr/>
          <a:lstStyle/>
          <a:p>
            <a:pPr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术语对照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A53CD62-BB02-CD5D-B298-ACE85D92F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0388" y="1524000"/>
            <a:ext cx="8153400" cy="2786062"/>
          </a:xfrm>
        </p:spPr>
        <p:txBody>
          <a:bodyPr>
            <a:normAutofit fontScale="96143" lnSpcReduction="10000"/>
          </a:bodyPr>
          <a:lstStyle/>
          <a:p>
            <a:pPr>
              <a:buFont typeface="Zapf Dingbats"/>
              <a:buNone/>
            </a:pPr>
            <a:r>
              <a:rPr b="1" u="sng">
                <a:latin typeface="Arial Unicode MS"/>
                <a:ea typeface="Arial Unicode MS"/>
                <a:cs typeface="Arial Unicode MS"/>
              </a:rPr>
              <a:t>非正式术语</a:t>
            </a:r>
            <a:r>
              <a:rPr>
                <a:latin typeface="Arial Unicode MS"/>
                <a:ea typeface="Arial Unicode MS"/>
                <a:cs typeface="Arial Unicode MS"/>
              </a:rPr>
              <a:t>				</a:t>
            </a:r>
            <a:r>
              <a:rPr b="1" u="sng">
                <a:latin typeface="Arial Unicode MS"/>
                <a:ea typeface="Arial Unicode MS"/>
                <a:cs typeface="Arial Unicode MS"/>
              </a:rPr>
              <a:t>正式术语</a:t>
            </a:r>
          </a:p>
          <a:p>
            <a:pPr>
              <a:buFont typeface="Zapf Dingbats"/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表						关系</a:t>
            </a:r>
          </a:p>
          <a:p>
            <a:pPr>
              <a:buFont typeface="Zapf Dingbats"/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列					属性</a:t>
            </a:r>
          </a:p>
          <a:p>
            <a:pPr>
              <a:buFont typeface="Zapf Dingbats"/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行						元组</a:t>
            </a:r>
          </a:p>
          <a:p>
            <a:pPr>
              <a:buFont typeface="Zapf Dingbats"/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列中的值				域</a:t>
            </a:r>
          </a:p>
          <a:p>
            <a:pPr>
              <a:buFont typeface="Zapf Dingbats"/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表定义				模式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921615DB-94D9-5397-6EAD-E077BEA7CE1D}"/>
              </a:ext>
            </a:extLst>
          </p:cNvPr>
          <p:cNvSpPr>
            <a:spLocks noGrp="1"/>
          </p:cNvSpPr>
          <p:nvPr/>
        </p:nvSpPr>
        <p:spPr>
          <a:xfrm>
            <a:off x="685800" y="4632325"/>
            <a:ext cx="8001000" cy="20732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buNone/>
            </a:pPr>
            <a:r>
              <a:rPr u="sng">
                <a:solidFill>
                  <a:srgbClr val="002060"/>
                </a:solidFill>
                <a:latin typeface="Arial Unicode MS"/>
                <a:ea typeface="Arial Unicode MS"/>
                <a:cs typeface="Arial Unicode MS"/>
              </a:rPr>
              <a:t>说明</a:t>
            </a:r>
            <a:r>
              <a:rPr b="0" u="sng">
                <a:solidFill>
                  <a:srgbClr val="002060"/>
                </a:solidFill>
                <a:latin typeface="Arial Unicode MS"/>
                <a:ea typeface="Arial Unicode MS"/>
                <a:cs typeface="Arial Unicode MS"/>
              </a:rPr>
              <a:t>:</a:t>
            </a:r>
            <a:endParaRPr b="0">
              <a:solidFill>
                <a:srgbClr val="002060"/>
              </a:solidFill>
            </a:endParaRPr>
          </a:p>
          <a:p>
            <a:pPr>
              <a:buNone/>
            </a:pPr>
            <a:r>
              <a:rPr b="0">
                <a:solidFill>
                  <a:srgbClr val="002060"/>
                </a:solidFill>
                <a:latin typeface="Arial Unicode MS"/>
                <a:ea typeface="Arial Unicode MS"/>
                <a:cs typeface="Arial Unicode MS"/>
              </a:rPr>
              <a:t>      </a:t>
            </a:r>
            <a:r>
              <a:rPr b="0" i="1">
                <a:solidFill>
                  <a:srgbClr val="002060"/>
                </a:solidFill>
                <a:latin typeface="Arial Unicode MS"/>
                <a:ea typeface="Arial Unicode MS"/>
                <a:cs typeface="Arial Unicode MS"/>
              </a:rPr>
              <a:t>虽然 SQL 等语言使用 TABLE（例如 CREATE TABLE）和 COLUMN（例如 SYSCOLUMN 变量）等非正式术语，关系数据库教材通常使用正式术语来介绍模型及其操作。</a:t>
            </a:r>
          </a:p>
          <a:p>
            <a:pPr>
              <a:spcBef>
                <a:spcPct val="50000"/>
              </a:spcBef>
              <a:buNone/>
            </a:pPr>
            <a:endParaRPr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2071D6-C162-63EB-7161-09E5C04103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10</a:t>
            </a:fld>
            <a:endParaRPr/>
          </a:p>
        </p:txBody>
      </p:sp>
      <p:sp>
        <p:nvSpPr>
          <p:cNvPr id="60420" name="zh-cover">
            <a:extLst>
              <a:ext uri="{FF2B5EF4-FFF2-40B4-BE49-F238E27FC236}">
                <a16:creationId xmlns:a16="http://schemas.microsoft.com/office/drawing/2014/main" id="{991E2ECC-E32B-49A1-850C-488C386276E3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8229600" cy="3333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graphicFrame>
        <p:nvGraphicFramePr>
          <p:cNvPr id="60427" name="表格 60426"/>
          <p:cNvGraphicFramePr/>
          <p:nvPr/>
        </p:nvGraphicFramePr>
        <p:xfrm>
          <a:off x="666750" y="1428750"/>
          <a:ext cx="7810500" cy="285750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非正式术语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正式术语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属性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元组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列中的值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表定义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5777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107118B2-0177-80A7-5316-09901324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66688"/>
            <a:ext cx="8382000" cy="1128712"/>
          </a:xfrm>
        </p:spPr>
        <p:txBody>
          <a:bodyPr/>
          <a:lstStyle/>
          <a:p>
            <a:pPr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关系的特征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B3915E34-B11D-18C8-BA57-ABD16E7B2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537656"/>
            <a:ext cx="8382000" cy="4953000"/>
          </a:xfrm>
        </p:spPr>
        <p:txBody>
          <a:bodyPr>
            <a:normAutofit fontScale="94940"/>
          </a:bodyPr>
          <a:lstStyle/>
          <a:p>
            <a:r>
              <a:rPr sz="2600" b="1">
                <a:latin typeface="Arial Unicode MS"/>
                <a:ea typeface="Arial Unicode MS"/>
                <a:cs typeface="Arial Unicode MS"/>
              </a:rPr>
              <a:t>关系 r(R) 中元组的次序： </a:t>
            </a:r>
            <a:r>
              <a:rPr sz="2600">
                <a:latin typeface="Arial Unicode MS"/>
                <a:ea typeface="Arial Unicode MS"/>
                <a:cs typeface="Arial Unicode MS"/>
              </a:rPr>
              <a:t>尽管元组在表中按一定顺序显示，但关系本身不规定元组的次序。</a:t>
            </a:r>
            <a:endParaRPr sz="2600" b="1"/>
          </a:p>
          <a:p>
            <a:endParaRPr sz="2600" b="1"/>
          </a:p>
          <a:p>
            <a:r>
              <a:rPr sz="2600" b="1">
                <a:latin typeface="Arial Unicode MS"/>
                <a:ea typeface="Arial Unicode MS"/>
                <a:cs typeface="Arial Unicode MS"/>
              </a:rPr>
              <a:t>关系模式 R 中属性的次序，以及每个元组中值的次序：</a:t>
            </a:r>
            <a:r>
              <a:rPr sz="2600">
                <a:latin typeface="Arial Unicode MS"/>
                <a:ea typeface="Arial Unicode MS"/>
                <a:cs typeface="Arial Unicode MS"/>
              </a:rPr>
              <a:t> 我们把 R(A1, A2, ..., An) 中的属性以及 t=&lt;v1, v2, ..., vn&gt; 中的值视为有序。</a:t>
            </a:r>
          </a:p>
          <a:p>
            <a:endParaRPr sz="2600"/>
          </a:p>
          <a:p>
            <a:r>
              <a:rPr sz="2600">
                <a:latin typeface="Arial Unicode MS"/>
                <a:ea typeface="Arial Unicode MS"/>
                <a:cs typeface="Arial Unicode MS"/>
              </a:rPr>
              <a:t>元组中的值：所有值都视为原子值，也就是不可再分的值</a:t>
            </a:r>
          </a:p>
          <a:p>
            <a:pPr lvl="1">
              <a:buNone/>
            </a:pPr>
            <a:r>
              <a:rPr sz="2200">
                <a:latin typeface="Arial Unicode MS"/>
                <a:ea typeface="Arial Unicode MS"/>
                <a:cs typeface="Arial Unicode MS"/>
              </a:rPr>
              <a:t>特殊的 NULL 值用于表示对某些元组而言未知或不适用的值。</a:t>
            </a:r>
            <a:endParaRPr/>
          </a:p>
          <a:p>
            <a:pPr lvl="1">
              <a:buNone/>
            </a:pPr>
            <a:endParaRPr b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7A1D6E-2AD4-B549-3A4F-A00B30C078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177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FA8E4CDA-4C0B-4C12-B181-73237CD2C2B9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原子值与 NULL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A3B2077-12F2-4FEA-9B68-D2E048E8589F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0F0548B5-2498-463F-AF22-2D5553AE9442}"/>
              </a:ext>
            </a:extLst>
          </p:cNvPr>
          <p:cNvSpPr>
            <a:spLocks noGrp="1"/>
          </p:cNvSpPr>
          <p:nvPr/>
        </p:nvSpPr>
        <p:spPr>
          <a:xfrm>
            <a:off x="4572000" y="1295400"/>
            <a:ext cx="0" cy="3829050"/>
          </a:xfrm>
          <a:prstGeom prst="line">
            <a:avLst/>
          </a:prstGeom>
          <a:noFill/>
          <a:ln w="1143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9C62A0-333A-41A1-A53D-3F7525AC21AD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原子值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6E1B3E-BC19-4961-9E1D-74A0A67B6A58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C050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0504D"/>
                </a:solidFill>
                <a:latin typeface="Arial Unicode MS"/>
                <a:ea typeface="Arial Unicode MS"/>
                <a:cs typeface="Arial Unicode MS"/>
              </a:rPr>
              <a:t>SQL 中的 NULL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E04976-E37B-4839-9C06-3C9BB75BBC2C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3638550" cy="3390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每个单元格只保存声明域中的一个值</a:t>
            </a:r>
          </a:p>
          <a:p>
            <a:pPr marL="266700" indent="-127000">
              <a:spcAft>
                <a:spcPts val="1000"/>
              </a:spcAft>
              <a:buChar char="•"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重复列表应放入另一个关系</a:t>
            </a:r>
          </a:p>
          <a:p>
            <a:pPr marL="266700" indent="-127000">
              <a:spcAft>
                <a:spcPts val="1000"/>
              </a:spcAft>
              <a:buChar char="•"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原子性的判断取决于数据库需要支持的操作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7A27AE-E6B0-4B64-BDB3-91730BB95A06}"/>
              </a:ext>
            </a:extLst>
          </p:cNvPr>
          <p:cNvSpPr>
            <a:spLocks noGrp="1"/>
          </p:cNvSpPr>
          <p:nvPr/>
        </p:nvSpPr>
        <p:spPr>
          <a:xfrm>
            <a:off x="4895850" y="1752600"/>
            <a:ext cx="3638550" cy="3390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NULL 可表示未知值或不适用的值</a:t>
            </a:r>
          </a:p>
          <a:p>
            <a:pPr marL="266700" indent="-127000">
              <a:spcAft>
                <a:spcPts val="1000"/>
              </a:spcAft>
              <a:buChar char="•"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与 NULL 比较的结果为 UNKNOWN</a:t>
            </a:r>
          </a:p>
          <a:p>
            <a:pPr marL="266700" indent="-127000">
              <a:spcAft>
                <a:spcPts val="1000"/>
              </a:spcAft>
              <a:buChar char="•"/>
              <a:defRPr sz="15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使用 IS NULL 和 IS NOT NULL 检查缺失值</a:t>
            </a:r>
          </a:p>
        </p:txBody>
      </p:sp>
      <p:sp>
        <p:nvSpPr>
          <p:cNvPr id="8" name="callout">
            <a:extLst>
              <a:ext uri="{FF2B5EF4-FFF2-40B4-BE49-F238E27FC236}">
                <a16:creationId xmlns:a16="http://schemas.microsoft.com/office/drawing/2014/main" id="{58524962-B539-4372-B6BB-6302DC6FB645}"/>
              </a:ext>
            </a:extLst>
          </p:cNvPr>
          <p:cNvSpPr>
            <a:spLocks noGrp="1"/>
          </p:cNvSpPr>
          <p:nvPr/>
        </p:nvSpPr>
        <p:spPr>
          <a:xfrm>
            <a:off x="990600" y="5562600"/>
            <a:ext cx="7162800" cy="647700"/>
          </a:xfrm>
          <a:prstGeom prst="roundRect">
            <a:avLst>
              <a:gd name="adj" fmla="val 14706"/>
            </a:avLst>
          </a:prstGeom>
          <a:solidFill>
            <a:srgbClr val="C0504D"/>
          </a:solidFill>
          <a:ln w="9525">
            <a:solidFill>
              <a:srgbClr val="C0504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WHERE 只保留条件结果为 TRUE 的行。</a:t>
            </a:r>
          </a:p>
        </p:txBody>
      </p:sp>
    </p:spTree>
    <p:extLst>
      <p:ext uri="{BB962C8B-B14F-4D97-AF65-F5344CB8AC3E}">
        <p14:creationId xmlns:p14="http://schemas.microsoft.com/office/powerpoint/2010/main" val="1614223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C57DBB45-7128-4053-9B07-2D5EABA283E4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关系模型基础检查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E623197F-4E2F-4ADB-9E57-9DF4A3BC29E6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800100" y="1295400"/>
          <a:ext cx="7543800" cy="3390900"/>
        </p:xfrm>
        <a:graphic>
          <a:graphicData uri="http://schemas.openxmlformats.org/drawingml/2006/table">
            <a:tbl>
              <a:tblPr/>
              <a:tblGrid>
                <a:gridCol w="5448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18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陈述</a:t>
                      </a:r>
                    </a:p>
                  </a:txBody>
                  <a:tcPr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你的答案</a:t>
                      </a:r>
                    </a:p>
                  </a:txBody>
                  <a:tcPr anchor="ctr"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元组次序具有关系语义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正确 / 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关系可以使用复合键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正确 / 错误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当前数据中的唯一性足以证明某属性是键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正确 / 错误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1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模式描述允许的结构与约束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正确 / 错误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allout">
            <a:extLst>
              <a:ext uri="{FF2B5EF4-FFF2-40B4-BE49-F238E27FC236}">
                <a16:creationId xmlns:a16="http://schemas.microsoft.com/office/drawing/2014/main" id="{2A73145E-7043-4355-AA9D-B1DC8FD899DF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9BBB59"/>
          </a:solidFill>
          <a:ln w="9525">
            <a:solidFill>
              <a:srgbClr val="9BBB59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先投票，再向同伴解释其中一个答案。</a:t>
            </a:r>
          </a:p>
        </p:txBody>
      </p:sp>
    </p:spTree>
    <p:extLst>
      <p:ext uri="{BB962C8B-B14F-4D97-AF65-F5344CB8AC3E}">
        <p14:creationId xmlns:p14="http://schemas.microsoft.com/office/powerpoint/2010/main" val="787718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6A13E-3C55-4E01-87A3-5B2744F8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68362"/>
          </a:xfrm>
        </p:spPr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关系模型的更多细节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7BBC8-2574-4FE3-8D81-56EE2CB00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495800"/>
            <a:ext cx="8991600" cy="2077067"/>
          </a:xfrm>
        </p:spPr>
        <p:txBody>
          <a:bodyPr>
            <a:noAutofit/>
          </a:bodyPr>
          <a:lstStyle/>
          <a:p>
            <a:pPr marL="514350" indent="-457200">
              <a:buFont typeface="Wingdings"/>
              <a:buChar char="§"/>
            </a:pPr>
            <a:r>
              <a:rPr sz="2400" dirty="0" err="1">
                <a:latin typeface="Arial Unicode MS"/>
                <a:ea typeface="Arial Unicode MS"/>
                <a:cs typeface="Arial Unicode MS"/>
              </a:rPr>
              <a:t>什么是关系数据库模式，而不是单个关系的模式</a:t>
            </a:r>
            <a:r>
              <a:rPr sz="2400" dirty="0">
                <a:latin typeface="Arial Unicode MS"/>
                <a:ea typeface="Arial Unicode MS"/>
                <a:cs typeface="Arial Unicode MS"/>
              </a:rPr>
              <a:t>？</a:t>
            </a:r>
          </a:p>
          <a:p>
            <a:pPr marL="914400" lvl="1" indent="-457200">
              <a:buFont typeface="Wingdings"/>
              <a:buChar char="§"/>
            </a:pPr>
            <a:r>
              <a:rPr sz="2000" dirty="0" err="1">
                <a:latin typeface="Arial Unicode MS"/>
                <a:ea typeface="Arial Unicode MS"/>
                <a:cs typeface="Arial Unicode MS"/>
              </a:rPr>
              <a:t>数据库中所有关系模式的集合</a:t>
            </a:r>
            <a:endParaRPr sz="2000" dirty="0">
              <a:latin typeface="Arial Unicode MS"/>
              <a:ea typeface="Arial Unicode MS"/>
              <a:cs typeface="Arial Unicode MS"/>
            </a:endParaRPr>
          </a:p>
          <a:p>
            <a:pPr marL="514350" indent="-457200">
              <a:buFont typeface="Wingdings"/>
              <a:buChar char="§"/>
            </a:pPr>
            <a:r>
              <a:rPr sz="2400" dirty="0" err="1">
                <a:latin typeface="Arial Unicode MS"/>
                <a:ea typeface="Arial Unicode MS"/>
                <a:cs typeface="Arial Unicode MS"/>
              </a:rPr>
              <a:t>什么是关系数据库实例，而不是单个关系的实例</a:t>
            </a:r>
            <a:r>
              <a:rPr sz="2400" dirty="0">
                <a:latin typeface="Arial Unicode MS"/>
                <a:ea typeface="Arial Unicode MS"/>
                <a:cs typeface="Arial Unicode MS"/>
              </a:rPr>
              <a:t>？</a:t>
            </a:r>
          </a:p>
          <a:p>
            <a:pPr marL="914400" lvl="1" indent="-457200">
              <a:buFont typeface="Wingdings"/>
              <a:buChar char="§"/>
            </a:pPr>
            <a:r>
              <a:rPr sz="2000" dirty="0" err="1">
                <a:latin typeface="Arial Unicode MS"/>
                <a:ea typeface="Arial Unicode MS"/>
                <a:cs typeface="Arial Unicode MS"/>
              </a:rPr>
              <a:t>所有关系实例的集合</a:t>
            </a:r>
            <a:r>
              <a:rPr sz="2000" dirty="0">
                <a:latin typeface="Arial Unicode MS"/>
                <a:ea typeface="Arial Unicode MS"/>
                <a:cs typeface="Arial Unicode MS"/>
              </a:rPr>
              <a:t> </a:t>
            </a:r>
          </a:p>
          <a:p>
            <a:pPr lvl="1">
              <a:buNone/>
            </a:pPr>
            <a:endParaRPr sz="1800" dirty="0"/>
          </a:p>
          <a:p>
            <a:endParaRPr sz="240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6647414C-2BDF-4CBE-A014-7915EB1C545A}"/>
              </a:ext>
            </a:extLst>
          </p:cNvPr>
          <p:cNvSpPr>
            <a:spLocks noGrp="1"/>
          </p:cNvSpPr>
          <p:nvPr/>
        </p:nvSpPr>
        <p:spPr>
          <a:xfrm rot="16200000">
            <a:off x="5081588" y="-1392035"/>
            <a:ext cx="266700" cy="6248400"/>
          </a:xfrm>
          <a:prstGeom prst="rightBrac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56F78E-18E3-4AC3-8F83-C3DC93FDD1EB}"/>
              </a:ext>
            </a:extLst>
          </p:cNvPr>
          <p:cNvSpPr>
            <a:spLocks noGrp="1"/>
          </p:cNvSpPr>
          <p:nvPr/>
        </p:nvSpPr>
        <p:spPr>
          <a:xfrm>
            <a:off x="3779192" y="1143000"/>
            <a:ext cx="287149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度（degree 或 arity）= 字段数</a:t>
            </a: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7EB22DA5-3B7F-4C64-9F28-6AD37EA7C7D8}"/>
              </a:ext>
            </a:extLst>
          </p:cNvPr>
          <p:cNvSpPr>
            <a:spLocks noGrp="1"/>
          </p:cNvSpPr>
          <p:nvPr/>
        </p:nvSpPr>
        <p:spPr>
          <a:xfrm>
            <a:off x="1674682" y="2451238"/>
            <a:ext cx="304800" cy="1484531"/>
          </a:xfrm>
          <a:prstGeom prst="leftBrace">
            <a:avLst/>
          </a:prstGeom>
          <a:ln w="158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2BB617-27D0-4E21-A53C-4C1F60F27CA1}"/>
              </a:ext>
            </a:extLst>
          </p:cNvPr>
          <p:cNvSpPr>
            <a:spLocks noGrp="1"/>
          </p:cNvSpPr>
          <p:nvPr/>
        </p:nvSpPr>
        <p:spPr>
          <a:xfrm>
            <a:off x="239936" y="2971800"/>
            <a:ext cx="14110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基数（cardinality）=</a:t>
            </a:r>
            <a:r>
              <a:rPr>
                <a:latin typeface="Arial Unicode MS"/>
                <a:ea typeface="Arial Unicode MS"/>
                <a:cs typeface="Arial Unicode MS"/>
              </a:rPr>
              <a:t>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>
                <a:latin typeface="Arial Unicode MS"/>
                <a:ea typeface="Arial Unicode MS"/>
                <a:cs typeface="Arial Unicode MS"/>
              </a:rPr>
              <a:t>元组数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C2935A-F26D-4509-B35C-AA45D4CE1778}"/>
              </a:ext>
            </a:extLst>
          </p:cNvPr>
          <p:cNvSpPr>
            <a:spLocks noGrp="1"/>
          </p:cNvSpPr>
          <p:nvPr/>
        </p:nvSpPr>
        <p:spPr>
          <a:xfrm>
            <a:off x="3276600" y="4018933"/>
            <a:ext cx="374031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>
                <a:latin typeface="Arial Unicode MS"/>
                <a:ea typeface="Arial Unicode MS"/>
                <a:cs typeface="Arial Unicode MS"/>
              </a:rPr>
              <a:t>“Students”关系的一个实例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C6A9BE-1A86-C32F-8928-47B5988D31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14</a:t>
            </a:fld>
            <a:endParaRPr/>
          </a:p>
        </p:txBody>
      </p:sp>
      <p:graphicFrame>
        <p:nvGraphicFramePr>
          <p:cNvPr id="23" name="表格 22"/>
          <p:cNvGraphicFramePr/>
          <p:nvPr/>
        </p:nvGraphicFramePr>
        <p:xfrm>
          <a:off x="2019300" y="2000250"/>
          <a:ext cx="6343650" cy="18288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7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sid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name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login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age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gpa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S53666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Jones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jones@cs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S53688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Smith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smith@ee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S53650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lee@it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280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3CE4-E32F-1F9F-1356-DED938CD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ER 模型与关系模型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2BA1E-8840-9F31-A5C7-F68C79570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ER 模型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概念模型或高层模型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关注实体以及实体之间的交互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由实体、联系和属性构成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可以表示基数约束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通常会转换为关系模式，以便更清晰地表示数据。</a:t>
            </a:r>
          </a:p>
          <a:p>
            <a:r>
              <a:rPr>
                <a:latin typeface="Arial Unicode MS"/>
                <a:ea typeface="Arial Unicode MS"/>
                <a:cs typeface="Arial Unicode MS"/>
              </a:rPr>
              <a:t>关系模型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表示模型或实现模型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关注信息以及构成数据库的相关数据表</a:t>
            </a: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由表、记录和域构成</a:t>
            </a:r>
            <a:endParaRPr>
              <a:solidFill>
                <a:srgbClr val="111111"/>
              </a:solidFill>
              <a:latin typeface="charter"/>
              <a:ea typeface="charter"/>
              <a:cs typeface="charter"/>
            </a:endParaRPr>
          </a:p>
          <a:p>
            <a:pPr lvl="1"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不能直接看出基数约束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EDBDB-053E-9922-B7D9-28639F5116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08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3CE4-E32F-1F9F-1356-DED938CD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ER 模型与关系模型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EDBDB-053E-9922-B7D9-28639F5116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16</a:t>
            </a:fld>
            <a:endParaRPr/>
          </a:p>
        </p:txBody>
      </p:sp>
      <p:pic>
        <p:nvPicPr>
          <p:cNvPr id="10" name="Content Placeholder 10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9386" y="1295400"/>
            <a:ext cx="7945227" cy="5029200"/>
          </a:xfrm>
          <a:prstGeom prst="rect">
            <a:avLst/>
          </a:prstGeom>
        </p:spPr>
      </p:pic>
      <p:sp>
        <p:nvSpPr>
          <p:cNvPr id="6" name="zh-cover">
            <a:extLst>
              <a:ext uri="{FF2B5EF4-FFF2-40B4-BE49-F238E27FC236}">
                <a16:creationId xmlns:a16="http://schemas.microsoft.com/office/drawing/2014/main" id="{D2D08053-FC35-4760-B74E-4EE3ACB9F733}"/>
              </a:ext>
            </a:extLst>
          </p:cNvPr>
          <p:cNvSpPr>
            <a:spLocks noGrp="1"/>
          </p:cNvSpPr>
          <p:nvPr/>
        </p:nvSpPr>
        <p:spPr>
          <a:xfrm>
            <a:off x="476250" y="1123950"/>
            <a:ext cx="8191500" cy="52959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graphicFrame>
        <p:nvGraphicFramePr>
          <p:cNvPr id="12" name="表格 11"/>
          <p:cNvGraphicFramePr/>
          <p:nvPr/>
        </p:nvGraphicFramePr>
        <p:xfrm>
          <a:off x="609600" y="1257300"/>
          <a:ext cx="7924800" cy="501015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626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比较维度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 模型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关系模型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26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呈现实物、特征及其联系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以表格呈现对象数据及表间联系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626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适用对象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需要了解数据库如何构成的各类人员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主要面向需要了解数据存储位置的开发者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626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表示方式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UML、Chen、Crow's Foot 等图形记法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SQL 与关系模式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626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组成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实体、属性、联系与连接符号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表、列、域与记录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626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概念模型或高层模型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表示模型或实现模型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626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联系呈现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借助箭头和符号直观表示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通常需通过键和表结构推断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6269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基数映射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可直接表达基数约束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关系表本身不直接显示基数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645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BEF3-2920-6B2B-14CD-FDB28EF9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  <a:latin typeface="Arial Unicode MS"/>
                <a:ea typeface="Arial Unicode MS"/>
                <a:cs typeface="Arial Unicode MS"/>
              </a:rPr>
              <a:t>将 ER 图映射为表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61124-629F-438E-B6AB-387EC57DD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（强）实体集的表示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428EC-D0A9-F301-ACFB-ED0910086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17</a:t>
            </a:fld>
            <a:endParaRPr/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ED7438E2-ECF2-3D2D-8EB5-89F8509A3BD2}"/>
              </a:ext>
            </a:extLst>
          </p:cNvPr>
          <p:cNvSpPr>
            <a:spLocks noGrp="1"/>
          </p:cNvSpPr>
          <p:nvPr/>
        </p:nvSpPr>
        <p:spPr>
          <a:xfrm flipV="1">
            <a:off x="3124200" y="3200400"/>
            <a:ext cx="53340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Oval 4">
            <a:extLst>
              <a:ext uri="{FF2B5EF4-FFF2-40B4-BE49-F238E27FC236}">
                <a16:creationId xmlns:a16="http://schemas.microsoft.com/office/drawing/2014/main" id="{98BF3F61-6B26-560A-D713-55B2AAF8BA8B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E187F269-2EF2-FBAA-B4DF-286F7CAE131E}"/>
              </a:ext>
            </a:extLst>
          </p:cNvPr>
          <p:cNvSpPr>
            <a:spLocks noGrp="1"/>
          </p:cNvSpPr>
          <p:nvPr/>
        </p:nvSpPr>
        <p:spPr>
          <a:xfrm>
            <a:off x="1219200" y="274320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a1</a:t>
            </a:r>
          </a:p>
        </p:txBody>
      </p:sp>
      <p:sp>
        <p:nvSpPr>
          <p:cNvPr id="8" name="Oval 6">
            <a:extLst>
              <a:ext uri="{FF2B5EF4-FFF2-40B4-BE49-F238E27FC236}">
                <a16:creationId xmlns:a16="http://schemas.microsoft.com/office/drawing/2014/main" id="{779483A8-EEA0-1B2A-0C59-87F7C77F5BC5}"/>
              </a:ext>
            </a:extLst>
          </p:cNvPr>
          <p:cNvSpPr>
            <a:spLocks noGrp="1"/>
          </p:cNvSpPr>
          <p:nvPr/>
        </p:nvSpPr>
        <p:spPr>
          <a:xfrm>
            <a:off x="1981200" y="26670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EA6F4486-F161-6B73-2C15-7CF172A3F756}"/>
              </a:ext>
            </a:extLst>
          </p:cNvPr>
          <p:cNvSpPr>
            <a:spLocks noGrp="1"/>
          </p:cNvSpPr>
          <p:nvPr/>
        </p:nvSpPr>
        <p:spPr>
          <a:xfrm>
            <a:off x="2133600" y="27273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a2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785CF697-F510-36D2-177F-ABD741851E42}"/>
              </a:ext>
            </a:extLst>
          </p:cNvPr>
          <p:cNvSpPr>
            <a:spLocks noGrp="1"/>
          </p:cNvSpPr>
          <p:nvPr/>
        </p:nvSpPr>
        <p:spPr>
          <a:xfrm>
            <a:off x="3429000" y="274320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ak</a:t>
            </a:r>
          </a:p>
        </p:txBody>
      </p:sp>
      <p:sp>
        <p:nvSpPr>
          <p:cNvPr id="11" name="Oval 9">
            <a:extLst>
              <a:ext uri="{FF2B5EF4-FFF2-40B4-BE49-F238E27FC236}">
                <a16:creationId xmlns:a16="http://schemas.microsoft.com/office/drawing/2014/main" id="{53E0D9EE-FAAC-D746-4CD5-A6A4594B9A70}"/>
              </a:ext>
            </a:extLst>
          </p:cNvPr>
          <p:cNvSpPr>
            <a:spLocks noGrp="1"/>
          </p:cNvSpPr>
          <p:nvPr/>
        </p:nvSpPr>
        <p:spPr>
          <a:xfrm>
            <a:off x="3352800" y="26670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Line 11">
            <a:extLst>
              <a:ext uri="{FF2B5EF4-FFF2-40B4-BE49-F238E27FC236}">
                <a16:creationId xmlns:a16="http://schemas.microsoft.com/office/drawing/2014/main" id="{DC59F71E-E3CB-9D52-120B-18E056AD90F4}"/>
              </a:ext>
            </a:extLst>
          </p:cNvPr>
          <p:cNvSpPr>
            <a:spLocks noGrp="1"/>
          </p:cNvSpPr>
          <p:nvPr/>
        </p:nvSpPr>
        <p:spPr>
          <a:xfrm>
            <a:off x="1524000" y="3200400"/>
            <a:ext cx="60960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9AB801CE-7B36-3815-8590-0FA17AECD1B6}"/>
              </a:ext>
            </a:extLst>
          </p:cNvPr>
          <p:cNvSpPr>
            <a:spLocks noGrp="1"/>
          </p:cNvSpPr>
          <p:nvPr/>
        </p:nvSpPr>
        <p:spPr>
          <a:xfrm>
            <a:off x="2362200" y="32004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Text Box 13">
            <a:extLst>
              <a:ext uri="{FF2B5EF4-FFF2-40B4-BE49-F238E27FC236}">
                <a16:creationId xmlns:a16="http://schemas.microsoft.com/office/drawing/2014/main" id="{2AADCEC8-02F5-FE41-651D-4916C44BC9C2}"/>
              </a:ext>
            </a:extLst>
          </p:cNvPr>
          <p:cNvSpPr>
            <a:spLocks noGrp="1"/>
          </p:cNvSpPr>
          <p:nvPr/>
        </p:nvSpPr>
        <p:spPr>
          <a:xfrm>
            <a:off x="2743200" y="335280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DD20A7D7-0CF5-DA3F-C170-A59DB71994E2}"/>
              </a:ext>
            </a:extLst>
          </p:cNvPr>
          <p:cNvSpPr>
            <a:spLocks noGrp="1"/>
          </p:cNvSpPr>
          <p:nvPr/>
        </p:nvSpPr>
        <p:spPr>
          <a:xfrm>
            <a:off x="1600200" y="3857625"/>
            <a:ext cx="1981200" cy="461665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sz="2400">
                <a:effectLst>
                  <a:outerShdw blurRad="38100" dist="38100" dir="2700000" algn="tl">
                    <a:srgbClr val="C0C0C0"/>
                  </a:outerShdw>
                </a:effectLst>
              </a:rPr>
              <a:t>E</a:t>
            </a:r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104A5794-F7AC-3A32-775A-1AAC38CC1A50}"/>
              </a:ext>
            </a:extLst>
          </p:cNvPr>
          <p:cNvSpPr>
            <a:spLocks noGrp="1"/>
          </p:cNvSpPr>
          <p:nvPr/>
        </p:nvSpPr>
        <p:spPr>
          <a:xfrm rot="11017969">
            <a:off x="304801" y="4481215"/>
            <a:ext cx="1676400" cy="990600"/>
          </a:xfrm>
          <a:prstGeom prst="cloudCallout">
            <a:avLst>
              <a:gd name="adj1" fmla="val -60894"/>
              <a:gd name="adj2" fmla="val 66167"/>
            </a:avLst>
          </a:prstGeom>
          <a:noFill/>
          <a:ln w="12700">
            <a:solidFill>
              <a:schemeClr val="tx1"/>
            </a:solidFill>
          </a:ln>
        </p:spPr>
        <p:txBody>
          <a:bodyPr rot="10800000" wrap="none" anchor="ctr"/>
          <a:lstStyle/>
          <a:p>
            <a:pPr algn="ctr">
              <a:buNone/>
            </a:pPr>
            <a:endParaRPr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BED63C95-CAD9-7493-0AA0-926733E4022A}"/>
              </a:ext>
            </a:extLst>
          </p:cNvPr>
          <p:cNvSpPr>
            <a:spLocks noGrp="1"/>
          </p:cNvSpPr>
          <p:nvPr/>
        </p:nvSpPr>
        <p:spPr>
          <a:xfrm>
            <a:off x="457200" y="4814888"/>
            <a:ext cx="15240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latin typeface="Arial Narrow"/>
                <a:ea typeface="Arial Narrow"/>
                <a:cs typeface="Arial Narrow"/>
              </a:rPr>
              <a:t>{e1, e2, …, ej}</a:t>
            </a:r>
            <a:endParaRPr sz="1800" b="0">
              <a:solidFill>
                <a:srgbClr val="FD020F"/>
              </a:solidFill>
            </a:endParaRP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64278480-ED62-9F74-AADB-CA01FFE84813}"/>
              </a:ext>
            </a:extLst>
          </p:cNvPr>
          <p:cNvSpPr>
            <a:spLocks noGrp="1"/>
          </p:cNvSpPr>
          <p:nvPr/>
        </p:nvSpPr>
        <p:spPr>
          <a:xfrm>
            <a:off x="4762502" y="2270125"/>
            <a:ext cx="685800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sz="2400">
                <a:effectLst>
                  <a:outerShdw blurRad="38100" dist="38100" dir="2700000" algn="tl">
                    <a:srgbClr val="C0C0C0"/>
                  </a:outerShdw>
                </a:effectLst>
              </a:rPr>
              <a:t>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AB474F-CCF6-B0C8-388D-207E7C983CD7}"/>
              </a:ext>
            </a:extLst>
          </p:cNvPr>
          <p:cNvSpPr>
            <a:spLocks noGrp="1"/>
          </p:cNvSpPr>
          <p:nvPr/>
        </p:nvSpPr>
        <p:spPr>
          <a:xfrm>
            <a:off x="4800600" y="2743200"/>
            <a:ext cx="3124200" cy="2133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Text Box 19">
            <a:extLst>
              <a:ext uri="{FF2B5EF4-FFF2-40B4-BE49-F238E27FC236}">
                <a16:creationId xmlns:a16="http://schemas.microsoft.com/office/drawing/2014/main" id="{D552CC9F-1C74-F407-C447-0647B5F4D852}"/>
              </a:ext>
            </a:extLst>
          </p:cNvPr>
          <p:cNvSpPr>
            <a:spLocks noGrp="1"/>
          </p:cNvSpPr>
          <p:nvPr/>
        </p:nvSpPr>
        <p:spPr>
          <a:xfrm>
            <a:off x="4953000" y="2743200"/>
            <a:ext cx="28956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a1    a2        …          ak</a:t>
            </a:r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28244EFD-8F36-364B-2E2F-F0A2BAA4FF0E}"/>
              </a:ext>
            </a:extLst>
          </p:cNvPr>
          <p:cNvSpPr>
            <a:spLocks noGrp="1"/>
          </p:cNvSpPr>
          <p:nvPr/>
        </p:nvSpPr>
        <p:spPr>
          <a:xfrm>
            <a:off x="4800600" y="3200400"/>
            <a:ext cx="3124200" cy="0"/>
          </a:xfrm>
          <a:prstGeom prst="line">
            <a:avLst/>
          </a:prstGeom>
          <a:noFill/>
          <a:ln w="28575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A08AF535-06B6-7C17-940A-A678DCEA358A}"/>
              </a:ext>
            </a:extLst>
          </p:cNvPr>
          <p:cNvSpPr>
            <a:spLocks noGrp="1"/>
          </p:cNvSpPr>
          <p:nvPr/>
        </p:nvSpPr>
        <p:spPr>
          <a:xfrm>
            <a:off x="5410200" y="2743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Line 22">
            <a:extLst>
              <a:ext uri="{FF2B5EF4-FFF2-40B4-BE49-F238E27FC236}">
                <a16:creationId xmlns:a16="http://schemas.microsoft.com/office/drawing/2014/main" id="{A1546EC5-29D8-A400-9043-BA0905E913A6}"/>
              </a:ext>
            </a:extLst>
          </p:cNvPr>
          <p:cNvSpPr>
            <a:spLocks noGrp="1"/>
          </p:cNvSpPr>
          <p:nvPr/>
        </p:nvSpPr>
        <p:spPr>
          <a:xfrm>
            <a:off x="6019800" y="2743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Line 23">
            <a:extLst>
              <a:ext uri="{FF2B5EF4-FFF2-40B4-BE49-F238E27FC236}">
                <a16:creationId xmlns:a16="http://schemas.microsoft.com/office/drawing/2014/main" id="{66F2D58B-3004-F172-5A04-A19D705637E0}"/>
              </a:ext>
            </a:extLst>
          </p:cNvPr>
          <p:cNvSpPr>
            <a:spLocks noGrp="1"/>
          </p:cNvSpPr>
          <p:nvPr/>
        </p:nvSpPr>
        <p:spPr>
          <a:xfrm>
            <a:off x="7239000" y="27432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Line 24">
            <a:extLst>
              <a:ext uri="{FF2B5EF4-FFF2-40B4-BE49-F238E27FC236}">
                <a16:creationId xmlns:a16="http://schemas.microsoft.com/office/drawing/2014/main" id="{6BBDBA24-A762-8251-2928-0ED099C7AA4B}"/>
              </a:ext>
            </a:extLst>
          </p:cNvPr>
          <p:cNvSpPr>
            <a:spLocks noGrp="1"/>
          </p:cNvSpPr>
          <p:nvPr/>
        </p:nvSpPr>
        <p:spPr>
          <a:xfrm>
            <a:off x="4800600" y="3581400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Line 25">
            <a:extLst>
              <a:ext uri="{FF2B5EF4-FFF2-40B4-BE49-F238E27FC236}">
                <a16:creationId xmlns:a16="http://schemas.microsoft.com/office/drawing/2014/main" id="{3FF4653B-FAB1-6729-D3E9-AECAC67DD341}"/>
              </a:ext>
            </a:extLst>
          </p:cNvPr>
          <p:cNvSpPr>
            <a:spLocks noGrp="1"/>
          </p:cNvSpPr>
          <p:nvPr/>
        </p:nvSpPr>
        <p:spPr>
          <a:xfrm>
            <a:off x="4800600" y="3962400"/>
            <a:ext cx="31242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6EDB92F1-9C3E-6CF8-8924-997363183489}"/>
              </a:ext>
            </a:extLst>
          </p:cNvPr>
          <p:cNvSpPr>
            <a:spLocks noGrp="1"/>
          </p:cNvSpPr>
          <p:nvPr/>
        </p:nvSpPr>
        <p:spPr>
          <a:xfrm>
            <a:off x="4953000" y="3200400"/>
            <a:ext cx="28956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chemeClr val="tx1"/>
                </a:solidFill>
              </a:rPr>
              <a:t>xx    yy        …          zz</a:t>
            </a:r>
          </a:p>
        </p:txBody>
      </p:sp>
      <p:sp>
        <p:nvSpPr>
          <p:cNvPr id="28" name="Text Box 27">
            <a:extLst>
              <a:ext uri="{FF2B5EF4-FFF2-40B4-BE49-F238E27FC236}">
                <a16:creationId xmlns:a16="http://schemas.microsoft.com/office/drawing/2014/main" id="{72853A1A-9BFF-4409-8555-B526C8F0FC8F}"/>
              </a:ext>
            </a:extLst>
          </p:cNvPr>
          <p:cNvSpPr>
            <a:spLocks noGrp="1"/>
          </p:cNvSpPr>
          <p:nvPr/>
        </p:nvSpPr>
        <p:spPr>
          <a:xfrm>
            <a:off x="4343400" y="320040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latin typeface="Arial Narrow"/>
                <a:ea typeface="Arial Narrow"/>
                <a:cs typeface="Arial Narrow"/>
              </a:rPr>
              <a:t>e1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29" name="Text Box 28">
            <a:extLst>
              <a:ext uri="{FF2B5EF4-FFF2-40B4-BE49-F238E27FC236}">
                <a16:creationId xmlns:a16="http://schemas.microsoft.com/office/drawing/2014/main" id="{9B015EED-5C9B-A1D8-8D63-A742B8A182DA}"/>
              </a:ext>
            </a:extLst>
          </p:cNvPr>
          <p:cNvSpPr>
            <a:spLocks noGrp="1"/>
          </p:cNvSpPr>
          <p:nvPr/>
        </p:nvSpPr>
        <p:spPr>
          <a:xfrm>
            <a:off x="4343400" y="35655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latin typeface="Arial Narrow"/>
                <a:ea typeface="Arial Narrow"/>
                <a:cs typeface="Arial Narrow"/>
              </a:rPr>
              <a:t>e2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6E93B652-2D34-E73F-62CE-F84A70360577}"/>
              </a:ext>
            </a:extLst>
          </p:cNvPr>
          <p:cNvSpPr>
            <a:spLocks noGrp="1"/>
          </p:cNvSpPr>
          <p:nvPr/>
        </p:nvSpPr>
        <p:spPr>
          <a:xfrm>
            <a:off x="4343400" y="40989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latin typeface="Arial Narrow"/>
                <a:ea typeface="Arial Narrow"/>
                <a:cs typeface="Arial Narrow"/>
              </a:rPr>
              <a:t>: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31" name="AutoShape 30">
            <a:extLst>
              <a:ext uri="{FF2B5EF4-FFF2-40B4-BE49-F238E27FC236}">
                <a16:creationId xmlns:a16="http://schemas.microsoft.com/office/drawing/2014/main" id="{B237DB59-5AA7-90A3-6C74-12DA1C86170D}"/>
              </a:ext>
            </a:extLst>
          </p:cNvPr>
          <p:cNvSpPr>
            <a:spLocks noGrp="1"/>
          </p:cNvSpPr>
          <p:nvPr/>
        </p:nvSpPr>
        <p:spPr>
          <a:xfrm>
            <a:off x="3810000" y="381000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6BC655BB-4530-A5DD-F4A0-C32FAD6B03C7}"/>
              </a:ext>
            </a:extLst>
          </p:cNvPr>
          <p:cNvSpPr>
            <a:spLocks noGrp="1"/>
          </p:cNvSpPr>
          <p:nvPr/>
        </p:nvSpPr>
        <p:spPr>
          <a:xfrm>
            <a:off x="8001000" y="3200400"/>
            <a:ext cx="152400" cy="1676400"/>
          </a:xfrm>
          <a:prstGeom prst="rightBrace">
            <a:avLst>
              <a:gd name="adj1" fmla="val 91667"/>
              <a:gd name="adj2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612B92A6-7DDD-3760-106C-D11AF5ADAE95}"/>
              </a:ext>
            </a:extLst>
          </p:cNvPr>
          <p:cNvSpPr>
            <a:spLocks noGrp="1"/>
          </p:cNvSpPr>
          <p:nvPr/>
        </p:nvSpPr>
        <p:spPr>
          <a:xfrm>
            <a:off x="8153400" y="3640138"/>
            <a:ext cx="838200" cy="92456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600" b="0">
                <a:solidFill>
                  <a:srgbClr val="FD020F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600" b="0">
                <a:solidFill>
                  <a:srgbClr val="FD020F"/>
                </a:solidFill>
                <a:latin typeface="Arial Unicode MS"/>
                <a:ea typeface="Arial Unicode MS"/>
                <a:cs typeface="Arial Unicode MS"/>
              </a:rPr>
              <a:t>（实体）</a:t>
            </a:r>
            <a:endParaRPr sz="2000"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34" name="zh-cover">
            <a:extLst>
              <a:ext uri="{FF2B5EF4-FFF2-40B4-BE49-F238E27FC236}">
                <a16:creationId xmlns:a16="http://schemas.microsoft.com/office/drawing/2014/main" id="{346CE36E-4669-4E44-9424-69C69172A80D}"/>
              </a:ext>
            </a:extLst>
          </p:cNvPr>
          <p:cNvSpPr>
            <a:spLocks noGrp="1"/>
          </p:cNvSpPr>
          <p:nvPr/>
        </p:nvSpPr>
        <p:spPr>
          <a:xfrm>
            <a:off x="8172450" y="3486150"/>
            <a:ext cx="914400" cy="12573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sp>
        <p:nvSpPr>
          <p:cNvPr id="35" name="zh-entity-data-17">
            <a:extLst>
              <a:ext uri="{FF2B5EF4-FFF2-40B4-BE49-F238E27FC236}">
                <a16:creationId xmlns:a16="http://schemas.microsoft.com/office/drawing/2014/main" id="{6706DF29-D678-45A0-A841-742B92DFE027}"/>
              </a:ext>
            </a:extLst>
          </p:cNvPr>
          <p:cNvSpPr>
            <a:spLocks noGrp="1"/>
          </p:cNvSpPr>
          <p:nvPr/>
        </p:nvSpPr>
        <p:spPr>
          <a:xfrm>
            <a:off x="8239125" y="3638550"/>
            <a:ext cx="781050" cy="8572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实体</a:t>
            </a:r>
          </a:p>
          <a:p>
            <a:pPr algn="ctr">
              <a:def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10842635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BEF3-2920-6B2B-14CD-FDB28EF9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  <a:latin typeface="Arial Unicode MS"/>
                <a:ea typeface="Arial Unicode MS"/>
                <a:cs typeface="Arial Unicode MS"/>
              </a:rPr>
              <a:t>将 ER 图映射为表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428EC-D0A9-F301-ACFB-ED0910086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18</a:t>
            </a:fld>
            <a:endParaRPr/>
          </a:p>
        </p:txBody>
      </p:sp>
      <p:sp>
        <p:nvSpPr>
          <p:cNvPr id="34" name="Line 49">
            <a:extLst>
              <a:ext uri="{FF2B5EF4-FFF2-40B4-BE49-F238E27FC236}">
                <a16:creationId xmlns:a16="http://schemas.microsoft.com/office/drawing/2014/main" id="{746DD8F2-3E36-D53B-F06D-CAC1792FA4D6}"/>
              </a:ext>
            </a:extLst>
          </p:cNvPr>
          <p:cNvSpPr>
            <a:spLocks noGrp="1"/>
          </p:cNvSpPr>
          <p:nvPr/>
        </p:nvSpPr>
        <p:spPr>
          <a:xfrm>
            <a:off x="4953000" y="3636962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ln w="57150">
                <a:solidFill>
                  <a:schemeClr val="tx1"/>
                </a:solidFill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7" name="AutoShape 34">
            <a:extLst>
              <a:ext uri="{FF2B5EF4-FFF2-40B4-BE49-F238E27FC236}">
                <a16:creationId xmlns:a16="http://schemas.microsoft.com/office/drawing/2014/main" id="{F82798FB-DF2D-0A93-6DAE-1902E31671E2}"/>
              </a:ext>
            </a:extLst>
          </p:cNvPr>
          <p:cNvSpPr>
            <a:spLocks noGrp="1"/>
          </p:cNvSpPr>
          <p:nvPr/>
        </p:nvSpPr>
        <p:spPr>
          <a:xfrm>
            <a:off x="914400" y="2133600"/>
            <a:ext cx="1981200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Line 2">
            <a:extLst>
              <a:ext uri="{FF2B5EF4-FFF2-40B4-BE49-F238E27FC236}">
                <a16:creationId xmlns:a16="http://schemas.microsoft.com/office/drawing/2014/main" id="{CCB19FB4-5743-0C90-05C6-16ED36D4D11C}"/>
              </a:ext>
            </a:extLst>
          </p:cNvPr>
          <p:cNvSpPr>
            <a:spLocks noGrp="1"/>
          </p:cNvSpPr>
          <p:nvPr/>
        </p:nvSpPr>
        <p:spPr>
          <a:xfrm flipV="1">
            <a:off x="2971800" y="2743200"/>
            <a:ext cx="53340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Oval 5">
            <a:extLst>
              <a:ext uri="{FF2B5EF4-FFF2-40B4-BE49-F238E27FC236}">
                <a16:creationId xmlns:a16="http://schemas.microsoft.com/office/drawing/2014/main" id="{D763260D-5AFB-8613-C6A4-7A16BE62A68D}"/>
              </a:ext>
            </a:extLst>
          </p:cNvPr>
          <p:cNvSpPr>
            <a:spLocks noGrp="1"/>
          </p:cNvSpPr>
          <p:nvPr/>
        </p:nvSpPr>
        <p:spPr>
          <a:xfrm>
            <a:off x="1066800" y="22098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Text Box 6">
            <a:extLst>
              <a:ext uri="{FF2B5EF4-FFF2-40B4-BE49-F238E27FC236}">
                <a16:creationId xmlns:a16="http://schemas.microsoft.com/office/drawing/2014/main" id="{CDD988E6-3044-47DE-7EA5-E198AF2A9A1D}"/>
              </a:ext>
            </a:extLst>
          </p:cNvPr>
          <p:cNvSpPr>
            <a:spLocks noGrp="1"/>
          </p:cNvSpPr>
          <p:nvPr/>
        </p:nvSpPr>
        <p:spPr>
          <a:xfrm>
            <a:off x="1219200" y="22701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s1</a:t>
            </a:r>
          </a:p>
        </p:txBody>
      </p:sp>
      <p:sp>
        <p:nvSpPr>
          <p:cNvPr id="41" name="Oval 7">
            <a:extLst>
              <a:ext uri="{FF2B5EF4-FFF2-40B4-BE49-F238E27FC236}">
                <a16:creationId xmlns:a16="http://schemas.microsoft.com/office/drawing/2014/main" id="{AC427153-C562-D601-9BFA-4F6E0D9D28D2}"/>
              </a:ext>
            </a:extLst>
          </p:cNvPr>
          <p:cNvSpPr>
            <a:spLocks noGrp="1"/>
          </p:cNvSpPr>
          <p:nvPr/>
        </p:nvSpPr>
        <p:spPr>
          <a:xfrm>
            <a:off x="2133600" y="22098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 Box 8">
            <a:extLst>
              <a:ext uri="{FF2B5EF4-FFF2-40B4-BE49-F238E27FC236}">
                <a16:creationId xmlns:a16="http://schemas.microsoft.com/office/drawing/2014/main" id="{F2599F63-3CB6-DDED-A4D3-0C4ECA7DCEEF}"/>
              </a:ext>
            </a:extLst>
          </p:cNvPr>
          <p:cNvSpPr>
            <a:spLocks noGrp="1"/>
          </p:cNvSpPr>
          <p:nvPr/>
        </p:nvSpPr>
        <p:spPr>
          <a:xfrm>
            <a:off x="2286000" y="22701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sr</a:t>
            </a:r>
          </a:p>
        </p:txBody>
      </p:sp>
      <p:sp>
        <p:nvSpPr>
          <p:cNvPr id="43" name="Text Box 9">
            <a:extLst>
              <a:ext uri="{FF2B5EF4-FFF2-40B4-BE49-F238E27FC236}">
                <a16:creationId xmlns:a16="http://schemas.microsoft.com/office/drawing/2014/main" id="{8BC188A2-C1F6-81A2-5A04-5B5CA7B3BE51}"/>
              </a:ext>
            </a:extLst>
          </p:cNvPr>
          <p:cNvSpPr>
            <a:spLocks noGrp="1"/>
          </p:cNvSpPr>
          <p:nvPr/>
        </p:nvSpPr>
        <p:spPr>
          <a:xfrm>
            <a:off x="3352800" y="228600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sn</a:t>
            </a:r>
          </a:p>
        </p:txBody>
      </p:sp>
      <p:sp>
        <p:nvSpPr>
          <p:cNvPr id="44" name="Oval 10">
            <a:extLst>
              <a:ext uri="{FF2B5EF4-FFF2-40B4-BE49-F238E27FC236}">
                <a16:creationId xmlns:a16="http://schemas.microsoft.com/office/drawing/2014/main" id="{BB80C954-2DB6-A811-9BF7-661984C4F7DF}"/>
              </a:ext>
            </a:extLst>
          </p:cNvPr>
          <p:cNvSpPr>
            <a:spLocks noGrp="1"/>
          </p:cNvSpPr>
          <p:nvPr/>
        </p:nvSpPr>
        <p:spPr>
          <a:xfrm>
            <a:off x="3200400" y="22098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5" name="Line 11">
            <a:extLst>
              <a:ext uri="{FF2B5EF4-FFF2-40B4-BE49-F238E27FC236}">
                <a16:creationId xmlns:a16="http://schemas.microsoft.com/office/drawing/2014/main" id="{3D25928C-E207-0155-3C87-9A6E73C66D3A}"/>
              </a:ext>
            </a:extLst>
          </p:cNvPr>
          <p:cNvSpPr>
            <a:spLocks noGrp="1"/>
          </p:cNvSpPr>
          <p:nvPr/>
        </p:nvSpPr>
        <p:spPr>
          <a:xfrm>
            <a:off x="1447800" y="2743200"/>
            <a:ext cx="60960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" name="Line 12">
            <a:extLst>
              <a:ext uri="{FF2B5EF4-FFF2-40B4-BE49-F238E27FC236}">
                <a16:creationId xmlns:a16="http://schemas.microsoft.com/office/drawing/2014/main" id="{7D3C6162-5C7A-1D65-DF31-182B49C00BE5}"/>
              </a:ext>
            </a:extLst>
          </p:cNvPr>
          <p:cNvSpPr>
            <a:spLocks noGrp="1"/>
          </p:cNvSpPr>
          <p:nvPr/>
        </p:nvSpPr>
        <p:spPr>
          <a:xfrm>
            <a:off x="2514600" y="2743200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7" name="Text Box 13">
            <a:extLst>
              <a:ext uri="{FF2B5EF4-FFF2-40B4-BE49-F238E27FC236}">
                <a16:creationId xmlns:a16="http://schemas.microsoft.com/office/drawing/2014/main" id="{579AF1CF-0E97-70C5-B691-E39BCD9BCF0A}"/>
              </a:ext>
            </a:extLst>
          </p:cNvPr>
          <p:cNvSpPr>
            <a:spLocks noGrp="1"/>
          </p:cNvSpPr>
          <p:nvPr/>
        </p:nvSpPr>
        <p:spPr>
          <a:xfrm>
            <a:off x="2819400" y="251460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48" name="Text Box 14">
            <a:extLst>
              <a:ext uri="{FF2B5EF4-FFF2-40B4-BE49-F238E27FC236}">
                <a16:creationId xmlns:a16="http://schemas.microsoft.com/office/drawing/2014/main" id="{26F445BB-1FC4-169F-D937-3C2D34BF9AC8}"/>
              </a:ext>
            </a:extLst>
          </p:cNvPr>
          <p:cNvSpPr>
            <a:spLocks noGrp="1"/>
          </p:cNvSpPr>
          <p:nvPr/>
        </p:nvSpPr>
        <p:spPr>
          <a:xfrm>
            <a:off x="1524000" y="3429000"/>
            <a:ext cx="1981200" cy="4095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ES</a:t>
            </a:r>
          </a:p>
        </p:txBody>
      </p:sp>
      <p:sp>
        <p:nvSpPr>
          <p:cNvPr id="49" name="Text Box 33">
            <a:extLst>
              <a:ext uri="{FF2B5EF4-FFF2-40B4-BE49-F238E27FC236}">
                <a16:creationId xmlns:a16="http://schemas.microsoft.com/office/drawing/2014/main" id="{DAAA714F-C96F-6950-53CF-7C167494B7F8}"/>
              </a:ext>
            </a:extLst>
          </p:cNvPr>
          <p:cNvSpPr>
            <a:spLocks noGrp="1"/>
          </p:cNvSpPr>
          <p:nvPr/>
        </p:nvSpPr>
        <p:spPr>
          <a:xfrm>
            <a:off x="1752600" y="236220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50" name="Text Box 35">
            <a:extLst>
              <a:ext uri="{FF2B5EF4-FFF2-40B4-BE49-F238E27FC236}">
                <a16:creationId xmlns:a16="http://schemas.microsoft.com/office/drawing/2014/main" id="{64D6B298-13AE-C168-A466-E270F9C9F509}"/>
              </a:ext>
            </a:extLst>
          </p:cNvPr>
          <p:cNvSpPr>
            <a:spLocks noGrp="1"/>
          </p:cNvSpPr>
          <p:nvPr/>
        </p:nvSpPr>
        <p:spPr>
          <a:xfrm>
            <a:off x="848927" y="1789112"/>
            <a:ext cx="1371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>
                <a:solidFill>
                  <a:srgbClr val="FD020F"/>
                </a:solidFill>
                <a:latin typeface="Arial Unicode MS"/>
                <a:ea typeface="Arial Unicode MS"/>
                <a:cs typeface="Arial Unicode MS"/>
              </a:rPr>
              <a:t>主键</a:t>
            </a:r>
          </a:p>
        </p:txBody>
      </p:sp>
      <p:sp>
        <p:nvSpPr>
          <p:cNvPr id="51" name="Text Box 36">
            <a:extLst>
              <a:ext uri="{FF2B5EF4-FFF2-40B4-BE49-F238E27FC236}">
                <a16:creationId xmlns:a16="http://schemas.microsoft.com/office/drawing/2014/main" id="{E7646D37-D912-600B-BEED-3BF86AE3ABEF}"/>
              </a:ext>
            </a:extLst>
          </p:cNvPr>
          <p:cNvSpPr>
            <a:spLocks noGrp="1"/>
          </p:cNvSpPr>
          <p:nvPr/>
        </p:nvSpPr>
        <p:spPr>
          <a:xfrm>
            <a:off x="6027738" y="3429000"/>
            <a:ext cx="2049462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EW</a:t>
            </a:r>
          </a:p>
        </p:txBody>
      </p:sp>
      <p:sp>
        <p:nvSpPr>
          <p:cNvPr id="53" name="Oval 38">
            <a:extLst>
              <a:ext uri="{FF2B5EF4-FFF2-40B4-BE49-F238E27FC236}">
                <a16:creationId xmlns:a16="http://schemas.microsoft.com/office/drawing/2014/main" id="{C54629B8-ADE0-3F41-B746-7771F11F4E87}"/>
              </a:ext>
            </a:extLst>
          </p:cNvPr>
          <p:cNvSpPr>
            <a:spLocks noGrp="1"/>
          </p:cNvSpPr>
          <p:nvPr/>
        </p:nvSpPr>
        <p:spPr>
          <a:xfrm>
            <a:off x="5638800" y="22860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4" name="Text Box 39">
            <a:extLst>
              <a:ext uri="{FF2B5EF4-FFF2-40B4-BE49-F238E27FC236}">
                <a16:creationId xmlns:a16="http://schemas.microsoft.com/office/drawing/2014/main" id="{B5AC4D5E-7A79-9AFB-89B7-EC8B48753871}"/>
              </a:ext>
            </a:extLst>
          </p:cNvPr>
          <p:cNvSpPr>
            <a:spLocks noGrp="1"/>
          </p:cNvSpPr>
          <p:nvPr/>
        </p:nvSpPr>
        <p:spPr>
          <a:xfrm>
            <a:off x="5715000" y="23463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w1</a:t>
            </a:r>
          </a:p>
        </p:txBody>
      </p:sp>
      <p:sp>
        <p:nvSpPr>
          <p:cNvPr id="55" name="Text Box 40">
            <a:extLst>
              <a:ext uri="{FF2B5EF4-FFF2-40B4-BE49-F238E27FC236}">
                <a16:creationId xmlns:a16="http://schemas.microsoft.com/office/drawing/2014/main" id="{28B1EEB1-AA05-5136-C5BE-B25EAD5011E0}"/>
              </a:ext>
            </a:extLst>
          </p:cNvPr>
          <p:cNvSpPr>
            <a:spLocks noGrp="1"/>
          </p:cNvSpPr>
          <p:nvPr/>
        </p:nvSpPr>
        <p:spPr>
          <a:xfrm>
            <a:off x="7543800" y="23463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wm</a:t>
            </a:r>
          </a:p>
        </p:txBody>
      </p:sp>
      <p:sp>
        <p:nvSpPr>
          <p:cNvPr id="56" name="Oval 41">
            <a:extLst>
              <a:ext uri="{FF2B5EF4-FFF2-40B4-BE49-F238E27FC236}">
                <a16:creationId xmlns:a16="http://schemas.microsoft.com/office/drawing/2014/main" id="{F7F24339-7048-D4D1-3E70-2C0E4A4A907F}"/>
              </a:ext>
            </a:extLst>
          </p:cNvPr>
          <p:cNvSpPr>
            <a:spLocks noGrp="1"/>
          </p:cNvSpPr>
          <p:nvPr/>
        </p:nvSpPr>
        <p:spPr>
          <a:xfrm>
            <a:off x="7467600" y="2286000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7" name="Text Box 42">
            <a:extLst>
              <a:ext uri="{FF2B5EF4-FFF2-40B4-BE49-F238E27FC236}">
                <a16:creationId xmlns:a16="http://schemas.microsoft.com/office/drawing/2014/main" id="{5F1441F7-3257-ABF0-79B9-B1444D8A7DDF}"/>
              </a:ext>
            </a:extLst>
          </p:cNvPr>
          <p:cNvSpPr>
            <a:spLocks noGrp="1"/>
          </p:cNvSpPr>
          <p:nvPr/>
        </p:nvSpPr>
        <p:spPr>
          <a:xfrm>
            <a:off x="6629400" y="236220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58" name="Line 43">
            <a:extLst>
              <a:ext uri="{FF2B5EF4-FFF2-40B4-BE49-F238E27FC236}">
                <a16:creationId xmlns:a16="http://schemas.microsoft.com/office/drawing/2014/main" id="{91C8717D-35D7-553F-3289-3FBFECA8D844}"/>
              </a:ext>
            </a:extLst>
          </p:cNvPr>
          <p:cNvSpPr>
            <a:spLocks noGrp="1"/>
          </p:cNvSpPr>
          <p:nvPr/>
        </p:nvSpPr>
        <p:spPr>
          <a:xfrm>
            <a:off x="6019800" y="2819399"/>
            <a:ext cx="495300" cy="593723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9" name="Line 44">
            <a:extLst>
              <a:ext uri="{FF2B5EF4-FFF2-40B4-BE49-F238E27FC236}">
                <a16:creationId xmlns:a16="http://schemas.microsoft.com/office/drawing/2014/main" id="{67052298-051B-D581-9D3F-088B7436F39B}"/>
              </a:ext>
            </a:extLst>
          </p:cNvPr>
          <p:cNvSpPr>
            <a:spLocks noGrp="1"/>
          </p:cNvSpPr>
          <p:nvPr/>
        </p:nvSpPr>
        <p:spPr>
          <a:xfrm flipH="1">
            <a:off x="7315200" y="2819400"/>
            <a:ext cx="457200" cy="606426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0" name="Text Box 50">
            <a:extLst>
              <a:ext uri="{FF2B5EF4-FFF2-40B4-BE49-F238E27FC236}">
                <a16:creationId xmlns:a16="http://schemas.microsoft.com/office/drawing/2014/main" id="{F75B02EB-5832-1A54-DE7D-96D01BC59513}"/>
              </a:ext>
            </a:extLst>
          </p:cNvPr>
          <p:cNvSpPr>
            <a:spLocks noGrp="1"/>
          </p:cNvSpPr>
          <p:nvPr/>
        </p:nvSpPr>
        <p:spPr>
          <a:xfrm>
            <a:off x="381000" y="4267200"/>
            <a:ext cx="9906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ES</a:t>
            </a:r>
          </a:p>
        </p:txBody>
      </p:sp>
      <p:sp>
        <p:nvSpPr>
          <p:cNvPr id="61" name="Rectangle 51">
            <a:extLst>
              <a:ext uri="{FF2B5EF4-FFF2-40B4-BE49-F238E27FC236}">
                <a16:creationId xmlns:a16="http://schemas.microsoft.com/office/drawing/2014/main" id="{8ED3F951-F23B-FF54-5AE1-5C5CBD8CEE02}"/>
              </a:ext>
            </a:extLst>
          </p:cNvPr>
          <p:cNvSpPr>
            <a:spLocks noGrp="1"/>
          </p:cNvSpPr>
          <p:nvPr/>
        </p:nvSpPr>
        <p:spPr>
          <a:xfrm>
            <a:off x="762000" y="4724400"/>
            <a:ext cx="2971800" cy="1524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2" name="Text Box 52">
            <a:extLst>
              <a:ext uri="{FF2B5EF4-FFF2-40B4-BE49-F238E27FC236}">
                <a16:creationId xmlns:a16="http://schemas.microsoft.com/office/drawing/2014/main" id="{046E6907-CFD3-003B-6CFF-F0816758B2C4}"/>
              </a:ext>
            </a:extLst>
          </p:cNvPr>
          <p:cNvSpPr>
            <a:spLocks noGrp="1"/>
          </p:cNvSpPr>
          <p:nvPr/>
        </p:nvSpPr>
        <p:spPr>
          <a:xfrm>
            <a:off x="838200" y="4708525"/>
            <a:ext cx="2895600" cy="4000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 u="sng">
                <a:solidFill>
                  <a:srgbClr val="FD020F"/>
                </a:solidFill>
              </a:rPr>
              <a:t>s1</a:t>
            </a:r>
            <a:r>
              <a:rPr sz="2000" b="0">
                <a:solidFill>
                  <a:srgbClr val="FD020F"/>
                </a:solidFill>
              </a:rPr>
              <a:t>   …   </a:t>
            </a:r>
            <a:r>
              <a:rPr sz="2000" b="0" u="sng">
                <a:solidFill>
                  <a:srgbClr val="FD020F"/>
                </a:solidFill>
              </a:rPr>
              <a:t>sr </a:t>
            </a:r>
            <a:r>
              <a:rPr sz="2000" b="0">
                <a:solidFill>
                  <a:srgbClr val="FD020F"/>
                </a:solidFill>
              </a:rPr>
              <a:t>      ...       sn</a:t>
            </a:r>
          </a:p>
        </p:txBody>
      </p:sp>
      <p:sp>
        <p:nvSpPr>
          <p:cNvPr id="63" name="Line 53">
            <a:extLst>
              <a:ext uri="{FF2B5EF4-FFF2-40B4-BE49-F238E27FC236}">
                <a16:creationId xmlns:a16="http://schemas.microsoft.com/office/drawing/2014/main" id="{A9E277B3-A133-3228-B8F5-51A4F4B5717C}"/>
              </a:ext>
            </a:extLst>
          </p:cNvPr>
          <p:cNvSpPr>
            <a:spLocks noGrp="1"/>
          </p:cNvSpPr>
          <p:nvPr/>
        </p:nvSpPr>
        <p:spPr>
          <a:xfrm>
            <a:off x="762000" y="51054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4" name="Line 54">
            <a:extLst>
              <a:ext uri="{FF2B5EF4-FFF2-40B4-BE49-F238E27FC236}">
                <a16:creationId xmlns:a16="http://schemas.microsoft.com/office/drawing/2014/main" id="{D48BCDCC-FE8E-062C-B7A8-23A0063D9CDA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5" name="Line 55">
            <a:extLst>
              <a:ext uri="{FF2B5EF4-FFF2-40B4-BE49-F238E27FC236}">
                <a16:creationId xmlns:a16="http://schemas.microsoft.com/office/drawing/2014/main" id="{F9FA7CBA-EB7C-D940-4F33-ABA4DA64D7B9}"/>
              </a:ext>
            </a:extLst>
          </p:cNvPr>
          <p:cNvSpPr>
            <a:spLocks noGrp="1"/>
          </p:cNvSpPr>
          <p:nvPr/>
        </p:nvSpPr>
        <p:spPr>
          <a:xfrm>
            <a:off x="2286000" y="47244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Line 56">
            <a:extLst>
              <a:ext uri="{FF2B5EF4-FFF2-40B4-BE49-F238E27FC236}">
                <a16:creationId xmlns:a16="http://schemas.microsoft.com/office/drawing/2014/main" id="{773F0235-C66A-FD5A-B177-996F26E97955}"/>
              </a:ext>
            </a:extLst>
          </p:cNvPr>
          <p:cNvSpPr>
            <a:spLocks noGrp="1"/>
          </p:cNvSpPr>
          <p:nvPr/>
        </p:nvSpPr>
        <p:spPr>
          <a:xfrm>
            <a:off x="3124200" y="47244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AutoShape 57">
            <a:extLst>
              <a:ext uri="{FF2B5EF4-FFF2-40B4-BE49-F238E27FC236}">
                <a16:creationId xmlns:a16="http://schemas.microsoft.com/office/drawing/2014/main" id="{6BA80750-F7FB-FFF8-F8BB-12D4A5EECF61}"/>
              </a:ext>
            </a:extLst>
          </p:cNvPr>
          <p:cNvSpPr>
            <a:spLocks noGrp="1"/>
          </p:cNvSpPr>
          <p:nvPr/>
        </p:nvSpPr>
        <p:spPr>
          <a:xfrm>
            <a:off x="2438400" y="4038600"/>
            <a:ext cx="228600" cy="549275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8" name="Text Box 58">
            <a:extLst>
              <a:ext uri="{FF2B5EF4-FFF2-40B4-BE49-F238E27FC236}">
                <a16:creationId xmlns:a16="http://schemas.microsoft.com/office/drawing/2014/main" id="{6A1AF21F-EA83-C937-13EF-6348EE0E2E0D}"/>
              </a:ext>
            </a:extLst>
          </p:cNvPr>
          <p:cNvSpPr>
            <a:spLocks noGrp="1"/>
          </p:cNvSpPr>
          <p:nvPr/>
        </p:nvSpPr>
        <p:spPr>
          <a:xfrm>
            <a:off x="4579938" y="4341813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EW</a:t>
            </a:r>
          </a:p>
        </p:txBody>
      </p:sp>
      <p:sp>
        <p:nvSpPr>
          <p:cNvPr id="69" name="Rectangle 59">
            <a:extLst>
              <a:ext uri="{FF2B5EF4-FFF2-40B4-BE49-F238E27FC236}">
                <a16:creationId xmlns:a16="http://schemas.microsoft.com/office/drawing/2014/main" id="{C7A87B2E-F9CF-ABEB-3628-89586A6149CA}"/>
              </a:ext>
            </a:extLst>
          </p:cNvPr>
          <p:cNvSpPr>
            <a:spLocks noGrp="1"/>
          </p:cNvSpPr>
          <p:nvPr/>
        </p:nvSpPr>
        <p:spPr>
          <a:xfrm>
            <a:off x="4953000" y="4845050"/>
            <a:ext cx="3352800" cy="14033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0" name="AutoShape 60">
            <a:extLst>
              <a:ext uri="{FF2B5EF4-FFF2-40B4-BE49-F238E27FC236}">
                <a16:creationId xmlns:a16="http://schemas.microsoft.com/office/drawing/2014/main" id="{45A92592-A162-09EC-7936-7D58F41309E4}"/>
              </a:ext>
            </a:extLst>
          </p:cNvPr>
          <p:cNvSpPr>
            <a:spLocks noGrp="1"/>
          </p:cNvSpPr>
          <p:nvPr/>
        </p:nvSpPr>
        <p:spPr>
          <a:xfrm>
            <a:off x="6264275" y="4470400"/>
            <a:ext cx="228600" cy="306388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" name="Text Box 61">
            <a:extLst>
              <a:ext uri="{FF2B5EF4-FFF2-40B4-BE49-F238E27FC236}">
                <a16:creationId xmlns:a16="http://schemas.microsoft.com/office/drawing/2014/main" id="{46CCB1CE-B2AA-0DBB-0668-40C50DBE5E08}"/>
              </a:ext>
            </a:extLst>
          </p:cNvPr>
          <p:cNvSpPr>
            <a:spLocks noGrp="1"/>
          </p:cNvSpPr>
          <p:nvPr/>
        </p:nvSpPr>
        <p:spPr>
          <a:xfrm>
            <a:off x="4953000" y="4860925"/>
            <a:ext cx="3352800" cy="400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 u="sng">
                <a:solidFill>
                  <a:srgbClr val="FD020F"/>
                </a:solidFill>
              </a:rPr>
              <a:t>s1</a:t>
            </a:r>
            <a:r>
              <a:rPr sz="2000" b="0">
                <a:solidFill>
                  <a:srgbClr val="FD020F"/>
                </a:solidFill>
              </a:rPr>
              <a:t>     …     </a:t>
            </a:r>
            <a:r>
              <a:rPr sz="2000" b="0" u="sng">
                <a:solidFill>
                  <a:srgbClr val="FD020F"/>
                </a:solidFill>
              </a:rPr>
              <a:t>sr</a:t>
            </a:r>
            <a:r>
              <a:rPr sz="2000" b="0">
                <a:solidFill>
                  <a:srgbClr val="FD020F"/>
                </a:solidFill>
              </a:rPr>
              <a:t>    </a:t>
            </a:r>
            <a:r>
              <a:rPr sz="2000" b="0" u="sng">
                <a:solidFill>
                  <a:srgbClr val="FD020F"/>
                </a:solidFill>
              </a:rPr>
              <a:t>w1</a:t>
            </a:r>
            <a:r>
              <a:rPr sz="2000" b="0">
                <a:solidFill>
                  <a:srgbClr val="FD020F"/>
                </a:solidFill>
              </a:rPr>
              <a:t>    …  wm</a:t>
            </a:r>
          </a:p>
        </p:txBody>
      </p:sp>
      <p:sp>
        <p:nvSpPr>
          <p:cNvPr id="72" name="Line 62">
            <a:extLst>
              <a:ext uri="{FF2B5EF4-FFF2-40B4-BE49-F238E27FC236}">
                <a16:creationId xmlns:a16="http://schemas.microsoft.com/office/drawing/2014/main" id="{944219CF-397D-23D4-10E0-A7DFDAE421C1}"/>
              </a:ext>
            </a:extLst>
          </p:cNvPr>
          <p:cNvSpPr>
            <a:spLocks noGrp="1"/>
          </p:cNvSpPr>
          <p:nvPr/>
        </p:nvSpPr>
        <p:spPr>
          <a:xfrm>
            <a:off x="4953000" y="5257800"/>
            <a:ext cx="33528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3" name="Line 63">
            <a:extLst>
              <a:ext uri="{FF2B5EF4-FFF2-40B4-BE49-F238E27FC236}">
                <a16:creationId xmlns:a16="http://schemas.microsoft.com/office/drawing/2014/main" id="{30C579BB-BBC4-614E-2AF7-32E8EF6E7277}"/>
              </a:ext>
            </a:extLst>
          </p:cNvPr>
          <p:cNvSpPr>
            <a:spLocks noGrp="1"/>
          </p:cNvSpPr>
          <p:nvPr/>
        </p:nvSpPr>
        <p:spPr>
          <a:xfrm>
            <a:off x="5486400" y="4845050"/>
            <a:ext cx="0" cy="140335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Line 65">
            <a:extLst>
              <a:ext uri="{FF2B5EF4-FFF2-40B4-BE49-F238E27FC236}">
                <a16:creationId xmlns:a16="http://schemas.microsoft.com/office/drawing/2014/main" id="{C7089C88-7F82-D6BA-D518-65F8799FF536}"/>
              </a:ext>
            </a:extLst>
          </p:cNvPr>
          <p:cNvSpPr>
            <a:spLocks noGrp="1"/>
          </p:cNvSpPr>
          <p:nvPr/>
        </p:nvSpPr>
        <p:spPr>
          <a:xfrm>
            <a:off x="6172200" y="4845050"/>
            <a:ext cx="0" cy="140335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Line 66">
            <a:extLst>
              <a:ext uri="{FF2B5EF4-FFF2-40B4-BE49-F238E27FC236}">
                <a16:creationId xmlns:a16="http://schemas.microsoft.com/office/drawing/2014/main" id="{CAB207D2-6E4E-18A4-451E-EC5E6B5A94C4}"/>
              </a:ext>
            </a:extLst>
          </p:cNvPr>
          <p:cNvSpPr>
            <a:spLocks noGrp="1"/>
          </p:cNvSpPr>
          <p:nvPr/>
        </p:nvSpPr>
        <p:spPr>
          <a:xfrm>
            <a:off x="6705600" y="4845050"/>
            <a:ext cx="0" cy="140335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Line 67">
            <a:extLst>
              <a:ext uri="{FF2B5EF4-FFF2-40B4-BE49-F238E27FC236}">
                <a16:creationId xmlns:a16="http://schemas.microsoft.com/office/drawing/2014/main" id="{AB2C57F5-030C-3269-519D-49532490485D}"/>
              </a:ext>
            </a:extLst>
          </p:cNvPr>
          <p:cNvSpPr>
            <a:spLocks noGrp="1"/>
          </p:cNvSpPr>
          <p:nvPr/>
        </p:nvSpPr>
        <p:spPr>
          <a:xfrm>
            <a:off x="7239000" y="4845050"/>
            <a:ext cx="0" cy="140335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Line 68">
            <a:extLst>
              <a:ext uri="{FF2B5EF4-FFF2-40B4-BE49-F238E27FC236}">
                <a16:creationId xmlns:a16="http://schemas.microsoft.com/office/drawing/2014/main" id="{9096A859-44E9-13A5-6C5B-D8A0457D1D7F}"/>
              </a:ext>
            </a:extLst>
          </p:cNvPr>
          <p:cNvSpPr>
            <a:spLocks noGrp="1"/>
          </p:cNvSpPr>
          <p:nvPr/>
        </p:nvSpPr>
        <p:spPr>
          <a:xfrm>
            <a:off x="7696200" y="4845050"/>
            <a:ext cx="0" cy="140335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8" name="Text Box 69">
            <a:extLst>
              <a:ext uri="{FF2B5EF4-FFF2-40B4-BE49-F238E27FC236}">
                <a16:creationId xmlns:a16="http://schemas.microsoft.com/office/drawing/2014/main" id="{85EA13DE-8C12-EC8C-148C-C75D4DDC9160}"/>
              </a:ext>
            </a:extLst>
          </p:cNvPr>
          <p:cNvSpPr>
            <a:spLocks noGrp="1"/>
          </p:cNvSpPr>
          <p:nvPr/>
        </p:nvSpPr>
        <p:spPr>
          <a:xfrm>
            <a:off x="3733800" y="3200400"/>
            <a:ext cx="4572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</a:p>
        </p:txBody>
      </p:sp>
      <p:sp>
        <p:nvSpPr>
          <p:cNvPr id="79" name="Text Box 70">
            <a:extLst>
              <a:ext uri="{FF2B5EF4-FFF2-40B4-BE49-F238E27FC236}">
                <a16:creationId xmlns:a16="http://schemas.microsoft.com/office/drawing/2014/main" id="{D6AC86B7-B451-8CF6-7EE4-DE2AB9062254}"/>
              </a:ext>
            </a:extLst>
          </p:cNvPr>
          <p:cNvSpPr>
            <a:spLocks noGrp="1"/>
          </p:cNvSpPr>
          <p:nvPr/>
        </p:nvSpPr>
        <p:spPr>
          <a:xfrm>
            <a:off x="5486400" y="3200400"/>
            <a:ext cx="4572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N</a:t>
            </a:r>
          </a:p>
        </p:txBody>
      </p:sp>
      <p:sp>
        <p:nvSpPr>
          <p:cNvPr id="80" name="AutoShape 75">
            <a:extLst>
              <a:ext uri="{FF2B5EF4-FFF2-40B4-BE49-F238E27FC236}">
                <a16:creationId xmlns:a16="http://schemas.microsoft.com/office/drawing/2014/main" id="{98D72DC1-BDDD-83BE-0683-65AF76BA2725}"/>
              </a:ext>
            </a:extLst>
          </p:cNvPr>
          <p:cNvSpPr>
            <a:spLocks noGrp="1"/>
          </p:cNvSpPr>
          <p:nvPr/>
        </p:nvSpPr>
        <p:spPr>
          <a:xfrm>
            <a:off x="4191000" y="3441700"/>
            <a:ext cx="762000" cy="381000"/>
          </a:xfrm>
          <a:prstGeom prst="diamond">
            <a:avLst/>
          </a:prstGeom>
          <a:noFill/>
          <a:ln w="381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" name="Text Box 47">
            <a:extLst>
              <a:ext uri="{FF2B5EF4-FFF2-40B4-BE49-F238E27FC236}">
                <a16:creationId xmlns:a16="http://schemas.microsoft.com/office/drawing/2014/main" id="{F6C999EC-56F4-3B91-BF3A-05FB4C384FA4}"/>
              </a:ext>
            </a:extLst>
          </p:cNvPr>
          <p:cNvSpPr>
            <a:spLocks noGrp="1"/>
          </p:cNvSpPr>
          <p:nvPr/>
        </p:nvSpPr>
        <p:spPr>
          <a:xfrm>
            <a:off x="4419600" y="3441700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</a:p>
        </p:txBody>
      </p:sp>
      <p:cxnSp>
        <p:nvCxnSpPr>
          <p:cNvPr id="185" name="Straight Arrow Connector 4"/>
          <p:cNvCxnSpPr>
            <a:stCxn id="80" idx="1"/>
            <a:endCxn id="48" idx="3"/>
          </p:cNvCxnSpPr>
          <p:nvPr/>
        </p:nvCxnSpPr>
        <p:spPr>
          <a:xfrm flipH="1">
            <a:off x="3505200" y="3632200"/>
            <a:ext cx="685800" cy="1588"/>
          </a:xfrm>
          <a:prstGeom prst="straightConnector1">
            <a:avLst/>
          </a:prstGeom>
          <a:ln w="19050">
            <a:solidFill>
              <a:schemeClr val="tx1"/>
            </a:solidFill>
            <a:round/>
            <a:tailEnd type="arrow" w="med" len="med"/>
          </a:ln>
        </p:spPr>
      </p:cxnSp>
      <p:sp>
        <p:nvSpPr>
          <p:cNvPr id="84" name="Left Brace 83">
            <a:extLst>
              <a:ext uri="{FF2B5EF4-FFF2-40B4-BE49-F238E27FC236}">
                <a16:creationId xmlns:a16="http://schemas.microsoft.com/office/drawing/2014/main" id="{B362199E-315A-EF73-D3C8-6B509AB884F1}"/>
              </a:ext>
            </a:extLst>
          </p:cNvPr>
          <p:cNvSpPr>
            <a:spLocks noGrp="1"/>
          </p:cNvSpPr>
          <p:nvPr/>
        </p:nvSpPr>
        <p:spPr>
          <a:xfrm rot="16200000">
            <a:off x="6222207" y="2401093"/>
            <a:ext cx="374650" cy="3573463"/>
          </a:xfrm>
          <a:prstGeom prst="leftBrace">
            <a:avLst>
              <a:gd name="adj1" fmla="val 8333"/>
              <a:gd name="adj2" fmla="val 49112"/>
            </a:avLst>
          </a:prstGeom>
          <a:solidFill>
            <a:schemeClr val="bg1"/>
          </a:solidFill>
          <a:ln w="12700" cmpd="sng">
            <a:solidFill>
              <a:srgbClr val="FFC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Line 54">
            <a:extLst>
              <a:ext uri="{FF2B5EF4-FFF2-40B4-BE49-F238E27FC236}">
                <a16:creationId xmlns:a16="http://schemas.microsoft.com/office/drawing/2014/main" id="{A403F8C7-2AC5-DCED-B45C-D614840A37B4}"/>
              </a:ext>
            </a:extLst>
          </p:cNvPr>
          <p:cNvSpPr>
            <a:spLocks noGrp="1"/>
          </p:cNvSpPr>
          <p:nvPr/>
        </p:nvSpPr>
        <p:spPr>
          <a:xfrm>
            <a:off x="1752600" y="4724400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Straight Connector 4">
            <a:extLst>
              <a:ext uri="{FF2B5EF4-FFF2-40B4-BE49-F238E27FC236}">
                <a16:creationId xmlns:a16="http://schemas.microsoft.com/office/drawing/2014/main" id="{390B91A9-04C0-44F6-8842-7E9244EC74E3}"/>
              </a:ext>
            </a:extLst>
          </p:cNvPr>
          <p:cNvSpPr>
            <a:spLocks noGrp="1"/>
          </p:cNvSpPr>
          <p:nvPr/>
        </p:nvSpPr>
        <p:spPr>
          <a:xfrm>
            <a:off x="5867400" y="2682875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8ACE900E-0516-C4A8-ED0B-616B5F12D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弱实体的表示</a:t>
            </a:r>
          </a:p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87065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ABEF3-2920-6B2B-14CD-FDB28EF90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  <a:latin typeface="Arial Unicode MS"/>
                <a:ea typeface="Arial Unicode MS"/>
                <a:cs typeface="Arial Unicode MS"/>
              </a:rPr>
              <a:t>将 ER 图映射为表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428EC-D0A9-F301-ACFB-ED0910086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19</a:t>
            </a:fld>
            <a:endParaRPr/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8ACE900E-0516-C4A8-ED0B-616B5F12D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N:M 联系集的表示</a:t>
            </a:r>
          </a:p>
          <a:p>
            <a:endParaRPr/>
          </a:p>
        </p:txBody>
      </p:sp>
      <p:sp>
        <p:nvSpPr>
          <p:cNvPr id="3" name="AutoShape 56">
            <a:extLst>
              <a:ext uri="{FF2B5EF4-FFF2-40B4-BE49-F238E27FC236}">
                <a16:creationId xmlns:a16="http://schemas.microsoft.com/office/drawing/2014/main" id="{41BED1FD-2653-31C9-5935-21720EF4BE25}"/>
              </a:ext>
            </a:extLst>
          </p:cNvPr>
          <p:cNvSpPr>
            <a:spLocks noGrp="1"/>
          </p:cNvSpPr>
          <p:nvPr/>
        </p:nvSpPr>
        <p:spPr>
          <a:xfrm>
            <a:off x="5486400" y="2266025"/>
            <a:ext cx="1981200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5450F73-1807-7AE5-28D4-9C0F1C8ECD93}"/>
              </a:ext>
            </a:extLst>
          </p:cNvPr>
          <p:cNvSpPr>
            <a:spLocks noGrp="1"/>
          </p:cNvSpPr>
          <p:nvPr/>
        </p:nvSpPr>
        <p:spPr>
          <a:xfrm>
            <a:off x="914400" y="2189825"/>
            <a:ext cx="1981200" cy="6858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CF6C15D6-0E8C-5A9A-AE13-79113004F2AB}"/>
              </a:ext>
            </a:extLst>
          </p:cNvPr>
          <p:cNvSpPr>
            <a:spLocks noGrp="1"/>
          </p:cNvSpPr>
          <p:nvPr/>
        </p:nvSpPr>
        <p:spPr>
          <a:xfrm flipV="1">
            <a:off x="2971800" y="2799425"/>
            <a:ext cx="53340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D4B7EEB-F7D3-696A-6A7D-6A09534981C0}"/>
              </a:ext>
            </a:extLst>
          </p:cNvPr>
          <p:cNvSpPr>
            <a:spLocks noGrp="1"/>
          </p:cNvSpPr>
          <p:nvPr/>
        </p:nvSpPr>
        <p:spPr>
          <a:xfrm>
            <a:off x="1066800" y="2266025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8859176B-A6FF-D36E-691F-DFC3F994C243}"/>
              </a:ext>
            </a:extLst>
          </p:cNvPr>
          <p:cNvSpPr>
            <a:spLocks noGrp="1"/>
          </p:cNvSpPr>
          <p:nvPr/>
        </p:nvSpPr>
        <p:spPr>
          <a:xfrm>
            <a:off x="1143000" y="23422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s1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9B6E24-EB86-8746-FF57-BE475CA8684E}"/>
              </a:ext>
            </a:extLst>
          </p:cNvPr>
          <p:cNvSpPr>
            <a:spLocks noGrp="1"/>
          </p:cNvSpPr>
          <p:nvPr/>
        </p:nvSpPr>
        <p:spPr>
          <a:xfrm>
            <a:off x="2133600" y="2266025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B73D815E-A178-D844-3351-48D87AA3AA43}"/>
              </a:ext>
            </a:extLst>
          </p:cNvPr>
          <p:cNvSpPr>
            <a:spLocks noGrp="1"/>
          </p:cNvSpPr>
          <p:nvPr/>
        </p:nvSpPr>
        <p:spPr>
          <a:xfrm>
            <a:off x="2209800" y="232635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sr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C6F22809-9084-122C-947B-2F5D00CCA5F2}"/>
              </a:ext>
            </a:extLst>
          </p:cNvPr>
          <p:cNvSpPr>
            <a:spLocks noGrp="1"/>
          </p:cNvSpPr>
          <p:nvPr/>
        </p:nvSpPr>
        <p:spPr>
          <a:xfrm>
            <a:off x="3276600" y="23422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sn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55E49B-8BA8-4FD1-A849-7737F79DE840}"/>
              </a:ext>
            </a:extLst>
          </p:cNvPr>
          <p:cNvSpPr>
            <a:spLocks noGrp="1"/>
          </p:cNvSpPr>
          <p:nvPr/>
        </p:nvSpPr>
        <p:spPr>
          <a:xfrm>
            <a:off x="3200400" y="2266025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Line 12">
            <a:extLst>
              <a:ext uri="{FF2B5EF4-FFF2-40B4-BE49-F238E27FC236}">
                <a16:creationId xmlns:a16="http://schemas.microsoft.com/office/drawing/2014/main" id="{7E1B6D80-5FB7-5815-12E8-D48E3C9BD1D9}"/>
              </a:ext>
            </a:extLst>
          </p:cNvPr>
          <p:cNvSpPr>
            <a:spLocks noGrp="1"/>
          </p:cNvSpPr>
          <p:nvPr/>
        </p:nvSpPr>
        <p:spPr>
          <a:xfrm>
            <a:off x="1447800" y="2799425"/>
            <a:ext cx="60960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Line 13">
            <a:extLst>
              <a:ext uri="{FF2B5EF4-FFF2-40B4-BE49-F238E27FC236}">
                <a16:creationId xmlns:a16="http://schemas.microsoft.com/office/drawing/2014/main" id="{49504CDB-13D5-A511-D58B-FAD1498ED3E8}"/>
              </a:ext>
            </a:extLst>
          </p:cNvPr>
          <p:cNvSpPr>
            <a:spLocks noGrp="1"/>
          </p:cNvSpPr>
          <p:nvPr/>
        </p:nvSpPr>
        <p:spPr>
          <a:xfrm>
            <a:off x="2514600" y="2799425"/>
            <a:ext cx="0" cy="6858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37487BD0-E585-1BA7-BCE2-89D2B398F44E}"/>
              </a:ext>
            </a:extLst>
          </p:cNvPr>
          <p:cNvSpPr>
            <a:spLocks noGrp="1"/>
          </p:cNvSpPr>
          <p:nvPr/>
        </p:nvSpPr>
        <p:spPr>
          <a:xfrm>
            <a:off x="2819400" y="25708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3F5CD2C9-FCDE-0DC4-40DE-EE8595BC3F57}"/>
              </a:ext>
            </a:extLst>
          </p:cNvPr>
          <p:cNvSpPr>
            <a:spLocks noGrp="1"/>
          </p:cNvSpPr>
          <p:nvPr/>
        </p:nvSpPr>
        <p:spPr>
          <a:xfrm>
            <a:off x="1524000" y="3485225"/>
            <a:ext cx="1981200" cy="4095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Ea</a:t>
            </a:r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A26CF3A8-249F-F13B-0BB3-A37D3DACC1F7}"/>
              </a:ext>
            </a:extLst>
          </p:cNvPr>
          <p:cNvSpPr>
            <a:spLocks noGrp="1"/>
          </p:cNvSpPr>
          <p:nvPr/>
        </p:nvSpPr>
        <p:spPr>
          <a:xfrm>
            <a:off x="1752600" y="24184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18" name="Text Box 17">
            <a:extLst>
              <a:ext uri="{FF2B5EF4-FFF2-40B4-BE49-F238E27FC236}">
                <a16:creationId xmlns:a16="http://schemas.microsoft.com/office/drawing/2014/main" id="{956B65ED-0848-0164-0A7A-208751349411}"/>
              </a:ext>
            </a:extLst>
          </p:cNvPr>
          <p:cNvSpPr>
            <a:spLocks noGrp="1"/>
          </p:cNvSpPr>
          <p:nvPr/>
        </p:nvSpPr>
        <p:spPr>
          <a:xfrm>
            <a:off x="990600" y="1885025"/>
            <a:ext cx="13716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>
                <a:solidFill>
                  <a:srgbClr val="FD020F"/>
                </a:solidFill>
                <a:latin typeface="Arial Unicode MS"/>
                <a:ea typeface="Arial Unicode MS"/>
                <a:cs typeface="Arial Unicode MS"/>
              </a:rPr>
              <a:t>主键</a:t>
            </a:r>
          </a:p>
        </p:txBody>
      </p:sp>
      <p:sp>
        <p:nvSpPr>
          <p:cNvPr id="19" name="Text Box 18">
            <a:extLst>
              <a:ext uri="{FF2B5EF4-FFF2-40B4-BE49-F238E27FC236}">
                <a16:creationId xmlns:a16="http://schemas.microsoft.com/office/drawing/2014/main" id="{C73082E5-CB38-3923-3A2D-FACCA6772933}"/>
              </a:ext>
            </a:extLst>
          </p:cNvPr>
          <p:cNvSpPr>
            <a:spLocks noGrp="1"/>
          </p:cNvSpPr>
          <p:nvPr/>
        </p:nvSpPr>
        <p:spPr>
          <a:xfrm>
            <a:off x="6096000" y="3485225"/>
            <a:ext cx="1981200" cy="40957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Eb</a:t>
            </a:r>
          </a:p>
        </p:txBody>
      </p:sp>
      <p:sp>
        <p:nvSpPr>
          <p:cNvPr id="20" name="Oval 20">
            <a:extLst>
              <a:ext uri="{FF2B5EF4-FFF2-40B4-BE49-F238E27FC236}">
                <a16:creationId xmlns:a16="http://schemas.microsoft.com/office/drawing/2014/main" id="{216C09F4-12AB-83E3-A601-8F84B0CB53BA}"/>
              </a:ext>
            </a:extLst>
          </p:cNvPr>
          <p:cNvSpPr>
            <a:spLocks noGrp="1"/>
          </p:cNvSpPr>
          <p:nvPr/>
        </p:nvSpPr>
        <p:spPr>
          <a:xfrm>
            <a:off x="5638800" y="2342225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DA19A6BB-CBF2-A7D2-2812-0CF92F58D43F}"/>
              </a:ext>
            </a:extLst>
          </p:cNvPr>
          <p:cNvSpPr>
            <a:spLocks noGrp="1"/>
          </p:cNvSpPr>
          <p:nvPr/>
        </p:nvSpPr>
        <p:spPr>
          <a:xfrm>
            <a:off x="5791200" y="240255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w1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C9AA7B4B-FA81-1C6A-8CDD-1D1A24C7F90C}"/>
              </a:ext>
            </a:extLst>
          </p:cNvPr>
          <p:cNvSpPr>
            <a:spLocks noGrp="1"/>
          </p:cNvSpPr>
          <p:nvPr/>
        </p:nvSpPr>
        <p:spPr>
          <a:xfrm>
            <a:off x="7772400" y="2402550"/>
            <a:ext cx="6096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wm</a:t>
            </a:r>
          </a:p>
        </p:txBody>
      </p:sp>
      <p:sp>
        <p:nvSpPr>
          <p:cNvPr id="23" name="Oval 23">
            <a:extLst>
              <a:ext uri="{FF2B5EF4-FFF2-40B4-BE49-F238E27FC236}">
                <a16:creationId xmlns:a16="http://schemas.microsoft.com/office/drawing/2014/main" id="{B6EB9500-0B5A-1AC9-1EF9-5719D2454E83}"/>
              </a:ext>
            </a:extLst>
          </p:cNvPr>
          <p:cNvSpPr>
            <a:spLocks noGrp="1"/>
          </p:cNvSpPr>
          <p:nvPr/>
        </p:nvSpPr>
        <p:spPr>
          <a:xfrm>
            <a:off x="7696200" y="2342225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Text Box 24">
            <a:extLst>
              <a:ext uri="{FF2B5EF4-FFF2-40B4-BE49-F238E27FC236}">
                <a16:creationId xmlns:a16="http://schemas.microsoft.com/office/drawing/2014/main" id="{9022F5C1-12AD-B961-D8F2-5F99AFCF287E}"/>
              </a:ext>
            </a:extLst>
          </p:cNvPr>
          <p:cNvSpPr>
            <a:spLocks noGrp="1"/>
          </p:cNvSpPr>
          <p:nvPr/>
        </p:nvSpPr>
        <p:spPr>
          <a:xfrm>
            <a:off x="6324600" y="2418425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5B4C0694-63E4-F385-455C-7D48606995A4}"/>
              </a:ext>
            </a:extLst>
          </p:cNvPr>
          <p:cNvSpPr>
            <a:spLocks noGrp="1"/>
          </p:cNvSpPr>
          <p:nvPr/>
        </p:nvSpPr>
        <p:spPr>
          <a:xfrm>
            <a:off x="6019800" y="2875625"/>
            <a:ext cx="533400" cy="609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AutoShape 27">
            <a:extLst>
              <a:ext uri="{FF2B5EF4-FFF2-40B4-BE49-F238E27FC236}">
                <a16:creationId xmlns:a16="http://schemas.microsoft.com/office/drawing/2014/main" id="{AAF9A3E7-7379-C810-5D37-A6E1C8A7B946}"/>
              </a:ext>
            </a:extLst>
          </p:cNvPr>
          <p:cNvSpPr>
            <a:spLocks noGrp="1"/>
          </p:cNvSpPr>
          <p:nvPr/>
        </p:nvSpPr>
        <p:spPr>
          <a:xfrm rot="2716851">
            <a:off x="4343400" y="3485225"/>
            <a:ext cx="457200" cy="457200"/>
          </a:xfrm>
          <a:prstGeom prst="rtTriangle">
            <a:avLst/>
          </a:prstGeom>
          <a:noFill/>
          <a:ln>
            <a:noFill/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BA5E6AEF-A566-4635-30E8-2CC27139792F}"/>
              </a:ext>
            </a:extLst>
          </p:cNvPr>
          <p:cNvSpPr>
            <a:spLocks noGrp="1"/>
          </p:cNvSpPr>
          <p:nvPr/>
        </p:nvSpPr>
        <p:spPr>
          <a:xfrm>
            <a:off x="4419600" y="3485225"/>
            <a:ext cx="381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C5654079-C1F4-F379-427E-5E0835F9E1FF}"/>
              </a:ext>
            </a:extLst>
          </p:cNvPr>
          <p:cNvSpPr>
            <a:spLocks noGrp="1"/>
          </p:cNvSpPr>
          <p:nvPr/>
        </p:nvSpPr>
        <p:spPr>
          <a:xfrm flipH="1">
            <a:off x="3505200" y="3713825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5A8023E4-9671-C6FD-ED34-A96B3492484B}"/>
              </a:ext>
            </a:extLst>
          </p:cNvPr>
          <p:cNvSpPr>
            <a:spLocks noGrp="1"/>
          </p:cNvSpPr>
          <p:nvPr/>
        </p:nvSpPr>
        <p:spPr>
          <a:xfrm>
            <a:off x="4953000" y="3713825"/>
            <a:ext cx="11430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" name="Text Box 40">
            <a:extLst>
              <a:ext uri="{FF2B5EF4-FFF2-40B4-BE49-F238E27FC236}">
                <a16:creationId xmlns:a16="http://schemas.microsoft.com/office/drawing/2014/main" id="{33F308E2-822C-ECA4-3A36-779DF1377634}"/>
              </a:ext>
            </a:extLst>
          </p:cNvPr>
          <p:cNvSpPr>
            <a:spLocks noGrp="1"/>
          </p:cNvSpPr>
          <p:nvPr/>
        </p:nvSpPr>
        <p:spPr>
          <a:xfrm>
            <a:off x="2286000" y="4361525"/>
            <a:ext cx="10668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R</a:t>
            </a:r>
          </a:p>
        </p:txBody>
      </p:sp>
      <p:sp>
        <p:nvSpPr>
          <p:cNvPr id="32" name="Rectangle 41">
            <a:extLst>
              <a:ext uri="{FF2B5EF4-FFF2-40B4-BE49-F238E27FC236}">
                <a16:creationId xmlns:a16="http://schemas.microsoft.com/office/drawing/2014/main" id="{BBAF5914-7932-4E4D-5EA6-A6DFC7F599FC}"/>
              </a:ext>
            </a:extLst>
          </p:cNvPr>
          <p:cNvSpPr>
            <a:spLocks noGrp="1"/>
          </p:cNvSpPr>
          <p:nvPr/>
        </p:nvSpPr>
        <p:spPr>
          <a:xfrm>
            <a:off x="2743200" y="4780625"/>
            <a:ext cx="3810000" cy="1524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AutoShape 42">
            <a:extLst>
              <a:ext uri="{FF2B5EF4-FFF2-40B4-BE49-F238E27FC236}">
                <a16:creationId xmlns:a16="http://schemas.microsoft.com/office/drawing/2014/main" id="{7009CE93-1E71-EE05-D476-DF3109D8847F}"/>
              </a:ext>
            </a:extLst>
          </p:cNvPr>
          <p:cNvSpPr>
            <a:spLocks noGrp="1"/>
          </p:cNvSpPr>
          <p:nvPr/>
        </p:nvSpPr>
        <p:spPr>
          <a:xfrm>
            <a:off x="4495800" y="4382163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Text Box 43">
            <a:extLst>
              <a:ext uri="{FF2B5EF4-FFF2-40B4-BE49-F238E27FC236}">
                <a16:creationId xmlns:a16="http://schemas.microsoft.com/office/drawing/2014/main" id="{47200281-E960-1FFE-54C8-FF44F4146671}"/>
              </a:ext>
            </a:extLst>
          </p:cNvPr>
          <p:cNvSpPr>
            <a:spLocks noGrp="1"/>
          </p:cNvSpPr>
          <p:nvPr/>
        </p:nvSpPr>
        <p:spPr>
          <a:xfrm>
            <a:off x="2800350" y="4801263"/>
            <a:ext cx="40386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 u="sng">
                <a:solidFill>
                  <a:srgbClr val="FD020F"/>
                </a:solidFill>
              </a:rPr>
              <a:t>s1</a:t>
            </a:r>
            <a:r>
              <a:rPr sz="2000" b="0">
                <a:solidFill>
                  <a:srgbClr val="FD020F"/>
                </a:solidFill>
              </a:rPr>
              <a:t>    …    </a:t>
            </a:r>
            <a:r>
              <a:rPr sz="2000" b="0" u="sng">
                <a:solidFill>
                  <a:srgbClr val="FD020F"/>
                </a:solidFill>
              </a:rPr>
              <a:t>sr</a:t>
            </a:r>
            <a:r>
              <a:rPr sz="2000" b="0">
                <a:solidFill>
                  <a:srgbClr val="FD020F"/>
                </a:solidFill>
              </a:rPr>
              <a:t>   </a:t>
            </a:r>
            <a:r>
              <a:rPr sz="2000" b="0" u="sng">
                <a:solidFill>
                  <a:srgbClr val="FD020F"/>
                </a:solidFill>
              </a:rPr>
              <a:t>w1</a:t>
            </a:r>
            <a:r>
              <a:rPr sz="2000" b="0">
                <a:solidFill>
                  <a:srgbClr val="FD020F"/>
                </a:solidFill>
              </a:rPr>
              <a:t>   …    </a:t>
            </a:r>
            <a:r>
              <a:rPr sz="2000" b="0" u="sng">
                <a:solidFill>
                  <a:srgbClr val="FD020F"/>
                </a:solidFill>
              </a:rPr>
              <a:t>wq </a:t>
            </a:r>
            <a:r>
              <a:rPr sz="2000" b="0">
                <a:solidFill>
                  <a:srgbClr val="FD020F"/>
                </a:solidFill>
              </a:rPr>
              <a:t>    </a:t>
            </a:r>
            <a:r>
              <a:rPr sz="2000" b="0" i="1">
                <a:solidFill>
                  <a:srgbClr val="FD020F"/>
                </a:solidFill>
              </a:rPr>
              <a:t>A</a:t>
            </a:r>
            <a:r>
              <a:rPr sz="2000" b="0">
                <a:solidFill>
                  <a:srgbClr val="FD020F"/>
                </a:solidFill>
              </a:rPr>
              <a:t>    </a:t>
            </a:r>
          </a:p>
        </p:txBody>
      </p:sp>
      <p:sp>
        <p:nvSpPr>
          <p:cNvPr id="36" name="Line 45">
            <a:extLst>
              <a:ext uri="{FF2B5EF4-FFF2-40B4-BE49-F238E27FC236}">
                <a16:creationId xmlns:a16="http://schemas.microsoft.com/office/drawing/2014/main" id="{48B29F36-EE95-D91B-E5A6-F43DD18759AB}"/>
              </a:ext>
            </a:extLst>
          </p:cNvPr>
          <p:cNvSpPr>
            <a:spLocks noGrp="1"/>
          </p:cNvSpPr>
          <p:nvPr/>
        </p:nvSpPr>
        <p:spPr>
          <a:xfrm>
            <a:off x="3886200" y="47806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2" name="Line 47">
            <a:extLst>
              <a:ext uri="{FF2B5EF4-FFF2-40B4-BE49-F238E27FC236}">
                <a16:creationId xmlns:a16="http://schemas.microsoft.com/office/drawing/2014/main" id="{E0C95D48-F124-6BE9-E0AD-F9B7969A3D48}"/>
              </a:ext>
            </a:extLst>
          </p:cNvPr>
          <p:cNvSpPr>
            <a:spLocks noGrp="1"/>
          </p:cNvSpPr>
          <p:nvPr/>
        </p:nvSpPr>
        <p:spPr>
          <a:xfrm>
            <a:off x="3276600" y="47806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2" name="Line 48">
            <a:extLst>
              <a:ext uri="{FF2B5EF4-FFF2-40B4-BE49-F238E27FC236}">
                <a16:creationId xmlns:a16="http://schemas.microsoft.com/office/drawing/2014/main" id="{DCC37502-C42C-DB9B-382D-F62170FA844B}"/>
              </a:ext>
            </a:extLst>
          </p:cNvPr>
          <p:cNvSpPr>
            <a:spLocks noGrp="1"/>
          </p:cNvSpPr>
          <p:nvPr/>
        </p:nvSpPr>
        <p:spPr>
          <a:xfrm>
            <a:off x="4343400" y="47806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Line 49">
            <a:extLst>
              <a:ext uri="{FF2B5EF4-FFF2-40B4-BE49-F238E27FC236}">
                <a16:creationId xmlns:a16="http://schemas.microsoft.com/office/drawing/2014/main" id="{9C144C09-B5A5-BAA2-1702-5EBA97B9B1FD}"/>
              </a:ext>
            </a:extLst>
          </p:cNvPr>
          <p:cNvSpPr>
            <a:spLocks noGrp="1"/>
          </p:cNvSpPr>
          <p:nvPr/>
        </p:nvSpPr>
        <p:spPr>
          <a:xfrm>
            <a:off x="4800600" y="47806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Line 50">
            <a:extLst>
              <a:ext uri="{FF2B5EF4-FFF2-40B4-BE49-F238E27FC236}">
                <a16:creationId xmlns:a16="http://schemas.microsoft.com/office/drawing/2014/main" id="{AF16B4DB-FC3B-EE62-6B94-D4D613D94FA3}"/>
              </a:ext>
            </a:extLst>
          </p:cNvPr>
          <p:cNvSpPr>
            <a:spLocks noGrp="1"/>
          </p:cNvSpPr>
          <p:nvPr/>
        </p:nvSpPr>
        <p:spPr>
          <a:xfrm>
            <a:off x="5410200" y="47806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0" name="Oval 51">
            <a:extLst>
              <a:ext uri="{FF2B5EF4-FFF2-40B4-BE49-F238E27FC236}">
                <a16:creationId xmlns:a16="http://schemas.microsoft.com/office/drawing/2014/main" id="{0E5597AF-A13B-6F4A-603C-93E62EB1F677}"/>
              </a:ext>
            </a:extLst>
          </p:cNvPr>
          <p:cNvSpPr>
            <a:spLocks noGrp="1"/>
          </p:cNvSpPr>
          <p:nvPr/>
        </p:nvSpPr>
        <p:spPr>
          <a:xfrm>
            <a:off x="6705600" y="2342225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1" name="Text Box 52">
            <a:extLst>
              <a:ext uri="{FF2B5EF4-FFF2-40B4-BE49-F238E27FC236}">
                <a16:creationId xmlns:a16="http://schemas.microsoft.com/office/drawing/2014/main" id="{0583CCF6-86EB-B034-6595-791060318F6E}"/>
              </a:ext>
            </a:extLst>
          </p:cNvPr>
          <p:cNvSpPr>
            <a:spLocks noGrp="1"/>
          </p:cNvSpPr>
          <p:nvPr/>
        </p:nvSpPr>
        <p:spPr>
          <a:xfrm>
            <a:off x="6781800" y="24184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rgbClr val="FD020F"/>
                </a:solidFill>
              </a:rPr>
              <a:t>wq</a:t>
            </a:r>
          </a:p>
        </p:txBody>
      </p:sp>
      <p:sp>
        <p:nvSpPr>
          <p:cNvPr id="92" name="Line 53">
            <a:extLst>
              <a:ext uri="{FF2B5EF4-FFF2-40B4-BE49-F238E27FC236}">
                <a16:creationId xmlns:a16="http://schemas.microsoft.com/office/drawing/2014/main" id="{18BBC3DF-0810-11E4-26E3-CE4DA4A37F1B}"/>
              </a:ext>
            </a:extLst>
          </p:cNvPr>
          <p:cNvSpPr>
            <a:spLocks noGrp="1"/>
          </p:cNvSpPr>
          <p:nvPr/>
        </p:nvSpPr>
        <p:spPr>
          <a:xfrm flipH="1">
            <a:off x="7010400" y="2875625"/>
            <a:ext cx="76200" cy="609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3" name="Text Box 54">
            <a:extLst>
              <a:ext uri="{FF2B5EF4-FFF2-40B4-BE49-F238E27FC236}">
                <a16:creationId xmlns:a16="http://schemas.microsoft.com/office/drawing/2014/main" id="{B7EF3EF3-5A11-AFDC-D77A-79DF97404106}"/>
              </a:ext>
            </a:extLst>
          </p:cNvPr>
          <p:cNvSpPr>
            <a:spLocks noGrp="1"/>
          </p:cNvSpPr>
          <p:nvPr/>
        </p:nvSpPr>
        <p:spPr>
          <a:xfrm>
            <a:off x="7391400" y="2631150"/>
            <a:ext cx="7620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>
                <a:effectLst>
                  <a:outerShdw blurRad="38100" dist="38100" dir="2700000" algn="tl">
                    <a:srgbClr val="C0C0C0"/>
                  </a:outerShdw>
                </a:effectLst>
              </a:rPr>
              <a:t>...</a:t>
            </a:r>
          </a:p>
        </p:txBody>
      </p:sp>
      <p:sp>
        <p:nvSpPr>
          <p:cNvPr id="94" name="Line 55">
            <a:extLst>
              <a:ext uri="{FF2B5EF4-FFF2-40B4-BE49-F238E27FC236}">
                <a16:creationId xmlns:a16="http://schemas.microsoft.com/office/drawing/2014/main" id="{A05D1964-CEB4-5D51-D32E-E8755BCE9B42}"/>
              </a:ext>
            </a:extLst>
          </p:cNvPr>
          <p:cNvSpPr>
            <a:spLocks noGrp="1"/>
          </p:cNvSpPr>
          <p:nvPr/>
        </p:nvSpPr>
        <p:spPr>
          <a:xfrm flipH="1">
            <a:off x="7620000" y="2875625"/>
            <a:ext cx="381000" cy="609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5" name="Text Box 57">
            <a:extLst>
              <a:ext uri="{FF2B5EF4-FFF2-40B4-BE49-F238E27FC236}">
                <a16:creationId xmlns:a16="http://schemas.microsoft.com/office/drawing/2014/main" id="{DF1F962A-53F7-1345-5737-D5B38C085235}"/>
              </a:ext>
            </a:extLst>
          </p:cNvPr>
          <p:cNvSpPr>
            <a:spLocks noGrp="1"/>
          </p:cNvSpPr>
          <p:nvPr/>
        </p:nvSpPr>
        <p:spPr>
          <a:xfrm>
            <a:off x="5257800" y="1899313"/>
            <a:ext cx="13716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>
                <a:solidFill>
                  <a:srgbClr val="FD020F"/>
                </a:solidFill>
                <a:latin typeface="Arial Unicode MS"/>
                <a:ea typeface="Arial Unicode MS"/>
                <a:cs typeface="Arial Unicode MS"/>
              </a:rPr>
              <a:t>主键</a:t>
            </a:r>
          </a:p>
        </p:txBody>
      </p:sp>
      <p:sp>
        <p:nvSpPr>
          <p:cNvPr id="96" name="Line 58">
            <a:extLst>
              <a:ext uri="{FF2B5EF4-FFF2-40B4-BE49-F238E27FC236}">
                <a16:creationId xmlns:a16="http://schemas.microsoft.com/office/drawing/2014/main" id="{3B87E6B5-A8C3-06EE-CE60-FFF841353F25}"/>
              </a:ext>
            </a:extLst>
          </p:cNvPr>
          <p:cNvSpPr>
            <a:spLocks noGrp="1"/>
          </p:cNvSpPr>
          <p:nvPr/>
        </p:nvSpPr>
        <p:spPr>
          <a:xfrm>
            <a:off x="5943600" y="4780625"/>
            <a:ext cx="0" cy="15240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7" name="Line 59">
            <a:extLst>
              <a:ext uri="{FF2B5EF4-FFF2-40B4-BE49-F238E27FC236}">
                <a16:creationId xmlns:a16="http://schemas.microsoft.com/office/drawing/2014/main" id="{8EF0CCCC-B14A-12F6-080A-DF6DF9EA7A30}"/>
              </a:ext>
            </a:extLst>
          </p:cNvPr>
          <p:cNvSpPr>
            <a:spLocks noGrp="1"/>
          </p:cNvSpPr>
          <p:nvPr/>
        </p:nvSpPr>
        <p:spPr>
          <a:xfrm>
            <a:off x="2743200" y="5161625"/>
            <a:ext cx="38100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8" name="Oval 60">
            <a:extLst>
              <a:ext uri="{FF2B5EF4-FFF2-40B4-BE49-F238E27FC236}">
                <a16:creationId xmlns:a16="http://schemas.microsoft.com/office/drawing/2014/main" id="{608F3701-8ABD-CDD1-7EF6-3358B30E47DF}"/>
              </a:ext>
            </a:extLst>
          </p:cNvPr>
          <p:cNvSpPr>
            <a:spLocks noGrp="1"/>
          </p:cNvSpPr>
          <p:nvPr/>
        </p:nvSpPr>
        <p:spPr>
          <a:xfrm>
            <a:off x="4267200" y="2418425"/>
            <a:ext cx="685800" cy="53340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9" name="Text Box 61">
            <a:extLst>
              <a:ext uri="{FF2B5EF4-FFF2-40B4-BE49-F238E27FC236}">
                <a16:creationId xmlns:a16="http://schemas.microsoft.com/office/drawing/2014/main" id="{A55113A4-76A5-75E6-3E52-29B74CAD9BB3}"/>
              </a:ext>
            </a:extLst>
          </p:cNvPr>
          <p:cNvSpPr>
            <a:spLocks noGrp="1"/>
          </p:cNvSpPr>
          <p:nvPr/>
        </p:nvSpPr>
        <p:spPr>
          <a:xfrm>
            <a:off x="4419600" y="249462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 i="1">
                <a:solidFill>
                  <a:srgbClr val="FD020F"/>
                </a:solidFill>
              </a:rPr>
              <a:t>A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100" name="Line 62">
            <a:extLst>
              <a:ext uri="{FF2B5EF4-FFF2-40B4-BE49-F238E27FC236}">
                <a16:creationId xmlns:a16="http://schemas.microsoft.com/office/drawing/2014/main" id="{F0138695-5A4F-4772-83C3-3B8F6DC5AFC6}"/>
              </a:ext>
            </a:extLst>
          </p:cNvPr>
          <p:cNvSpPr>
            <a:spLocks noGrp="1"/>
          </p:cNvSpPr>
          <p:nvPr/>
        </p:nvSpPr>
        <p:spPr>
          <a:xfrm>
            <a:off x="4572000" y="295182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1" name="Text Box 17">
            <a:extLst>
              <a:ext uri="{FF2B5EF4-FFF2-40B4-BE49-F238E27FC236}">
                <a16:creationId xmlns:a16="http://schemas.microsoft.com/office/drawing/2014/main" id="{1DDE3E28-25E0-B420-AA50-915A712F4CBA}"/>
              </a:ext>
            </a:extLst>
          </p:cNvPr>
          <p:cNvSpPr>
            <a:spLocks noGrp="1"/>
          </p:cNvSpPr>
          <p:nvPr/>
        </p:nvSpPr>
        <p:spPr>
          <a:xfrm>
            <a:off x="3733800" y="3423313"/>
            <a:ext cx="38100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M</a:t>
            </a:r>
          </a:p>
        </p:txBody>
      </p:sp>
      <p:sp>
        <p:nvSpPr>
          <p:cNvPr id="102" name="Text Box 17">
            <a:extLst>
              <a:ext uri="{FF2B5EF4-FFF2-40B4-BE49-F238E27FC236}">
                <a16:creationId xmlns:a16="http://schemas.microsoft.com/office/drawing/2014/main" id="{03860083-CB23-96DB-A3A1-E4ADE2F4B49F}"/>
              </a:ext>
            </a:extLst>
          </p:cNvPr>
          <p:cNvSpPr>
            <a:spLocks noGrp="1"/>
          </p:cNvSpPr>
          <p:nvPr/>
        </p:nvSpPr>
        <p:spPr>
          <a:xfrm>
            <a:off x="5105400" y="3409025"/>
            <a:ext cx="3810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>
                <a:solidFill>
                  <a:schemeClr val="tx1"/>
                </a:solidFill>
                <a:latin typeface="Arial Narrow"/>
                <a:ea typeface="Arial Narrow"/>
                <a:cs typeface="Arial Narrow"/>
              </a:rPr>
              <a:t>N</a:t>
            </a:r>
          </a:p>
        </p:txBody>
      </p: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5EDC3B05-1012-79EC-4B80-98809E63DA16}"/>
              </a:ext>
            </a:extLst>
          </p:cNvPr>
          <p:cNvSpPr>
            <a:spLocks noGrp="1"/>
          </p:cNvSpPr>
          <p:nvPr/>
        </p:nvSpPr>
        <p:spPr>
          <a:xfrm rot="16200000">
            <a:off x="4441825" y="3193125"/>
            <a:ext cx="374650" cy="1943100"/>
          </a:xfrm>
          <a:prstGeom prst="leftBrace">
            <a:avLst>
              <a:gd name="adj1" fmla="val 220198"/>
              <a:gd name="adj2" fmla="val 49112"/>
            </a:avLst>
          </a:prstGeom>
          <a:noFill/>
          <a:ln w="12700" cmpd="sng">
            <a:solidFill>
              <a:srgbClr val="FFC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4" name="AutoShape 75">
            <a:extLst>
              <a:ext uri="{FF2B5EF4-FFF2-40B4-BE49-F238E27FC236}">
                <a16:creationId xmlns:a16="http://schemas.microsoft.com/office/drawing/2014/main" id="{5B3C8549-CC10-98E6-7F54-1CDECE771AF1}"/>
              </a:ext>
            </a:extLst>
          </p:cNvPr>
          <p:cNvSpPr>
            <a:spLocks noGrp="1"/>
          </p:cNvSpPr>
          <p:nvPr/>
        </p:nvSpPr>
        <p:spPr>
          <a:xfrm>
            <a:off x="4191000" y="3441699"/>
            <a:ext cx="762000" cy="554135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64545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8BE9D739-6453-49B0-8E1D-81539F406148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活动：图书馆数据模型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9D61908E-E961-4D41-B3A3-5E1D27BDFD5C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4A404F-77C4-4721-9F7F-F65055374512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810500" cy="3048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每位借阅者都有 bid、姓名和电子邮件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每本书都有 ISBN 和书名，图书馆可拥有多册实体副本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每册副本都有 copy_id，并且只属于一本书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一次借阅记录借阅者、副本、checkout_date、due_date 和 return_date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8DDE7E-F820-4460-B72F-3DCFF50884AB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7658100" cy="800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875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任务：找出各个关系、主键、外键，以及一个可为空的属性。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5502710F-3EB0-4A93-BC30-E92345D51B2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小组讨论：6 分钟</a:t>
            </a:r>
          </a:p>
        </p:txBody>
      </p:sp>
    </p:spTree>
    <p:extLst>
      <p:ext uri="{BB962C8B-B14F-4D97-AF65-F5344CB8AC3E}">
        <p14:creationId xmlns:p14="http://schemas.microsoft.com/office/powerpoint/2010/main" val="16367780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CD6715F3-95C8-4095-9922-D624C8973ACC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图书馆模型：一种参考方案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9434BC35-8F52-4008-AA2C-979574BD7C54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66750" y="1200150"/>
          <a:ext cx="7810500" cy="3333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属性与约束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Borrower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bid 主键, name, 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Book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isbn 主键, title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copy_id 主键, isbn 外键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Loan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bid 外键, copy_id 外键, checkout_date, due_date, return_date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54A3DC9-B5AA-4DF9-83BE-FC8B4B2C58CE}"/>
              </a:ext>
            </a:extLst>
          </p:cNvPr>
          <p:cNvSpPr>
            <a:spLocks noGrp="1"/>
          </p:cNvSpPr>
          <p:nvPr/>
        </p:nvSpPr>
        <p:spPr>
          <a:xfrm>
            <a:off x="838200" y="4800600"/>
            <a:ext cx="746760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725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Loan 的候选主键：(bid, copy_id, checkout_date)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C69104D7-7042-42FB-ABF3-A3805E54DC80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副本尚未归还时，return_date 可以为 NULL。</a:t>
            </a:r>
          </a:p>
        </p:txBody>
      </p:sp>
    </p:spTree>
    <p:extLst>
      <p:ext uri="{BB962C8B-B14F-4D97-AF65-F5344CB8AC3E}">
        <p14:creationId xmlns:p14="http://schemas.microsoft.com/office/powerpoint/2010/main" val="1205860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590A888-969C-4ADA-8CD6-E9D02F03A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课程提纲</a:t>
            </a:r>
          </a:p>
        </p:txBody>
      </p:sp>
      <p:graphicFrame>
        <p:nvGraphicFramePr>
          <p:cNvPr id="4104" name="Diagram 21"/>
          <p:cNvGraphicFramePr/>
          <p:nvPr/>
        </p:nvGraphicFramePr>
        <p:xfrm>
          <a:off x="1295400" y="1524000"/>
          <a:ext cx="6477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C4D61FA3-A8F5-4307-BC48-FA776CF5104D}"/>
              </a:ext>
            </a:extLst>
          </p:cNvPr>
          <p:cNvSpPr>
            <a:spLocks noGrp="1"/>
          </p:cNvSpPr>
          <p:nvPr/>
        </p:nvSpPr>
        <p:spPr>
          <a:xfrm>
            <a:off x="7779798" y="3125113"/>
            <a:ext cx="102143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85800" indent="-685800">
              <a:buClr>
                <a:schemeClr val="tx1"/>
              </a:buClr>
              <a:buFont typeface="Wingdings"/>
              <a:buChar char="ü"/>
            </a:pPr>
            <a:r>
              <a:rPr sz="500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AF2C3-7446-06C8-E7D7-24AB17D76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22</a:t>
            </a:fld>
            <a:endParaRPr/>
          </a:p>
        </p:txBody>
      </p:sp>
      <p:sp>
        <p:nvSpPr>
          <p:cNvPr id="4100" name="zh-outline-22">
            <a:extLst>
              <a:ext uri="{FF2B5EF4-FFF2-40B4-BE49-F238E27FC236}">
                <a16:creationId xmlns:a16="http://schemas.microsoft.com/office/drawing/2014/main" id="{97E694BA-A8B8-480D-93CB-645C36DC4122}"/>
              </a:ext>
            </a:extLst>
          </p:cNvPr>
          <p:cNvSpPr>
            <a:spLocks noGrp="1"/>
          </p:cNvSpPr>
          <p:nvPr/>
        </p:nvSpPr>
        <p:spPr>
          <a:xfrm>
            <a:off x="1304925" y="1562100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关系模型：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基础概念</a:t>
            </a:r>
          </a:p>
        </p:txBody>
      </p:sp>
      <p:sp>
        <p:nvSpPr>
          <p:cNvPr id="4101" name="zh-outline-22">
            <a:extLst>
              <a:ext uri="{FF2B5EF4-FFF2-40B4-BE49-F238E27FC236}">
                <a16:creationId xmlns:a16="http://schemas.microsoft.com/office/drawing/2014/main" id="{D6FB260E-61DD-4A79-8A95-E55FA917B89C}"/>
              </a:ext>
            </a:extLst>
          </p:cNvPr>
          <p:cNvSpPr>
            <a:spLocks noGrp="1"/>
          </p:cNvSpPr>
          <p:nvPr/>
        </p:nvSpPr>
        <p:spPr>
          <a:xfrm>
            <a:off x="4705350" y="1562100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关系模型：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基础 SQL</a:t>
            </a:r>
          </a:p>
        </p:txBody>
      </p:sp>
      <p:sp>
        <p:nvSpPr>
          <p:cNvPr id="4102" name="zh-outline-22">
            <a:extLst>
              <a:ext uri="{FF2B5EF4-FFF2-40B4-BE49-F238E27FC236}">
                <a16:creationId xmlns:a16="http://schemas.microsoft.com/office/drawing/2014/main" id="{1C900D06-C11A-447E-AD46-82606A8766FC}"/>
              </a:ext>
            </a:extLst>
          </p:cNvPr>
          <p:cNvSpPr>
            <a:spLocks noGrp="1"/>
          </p:cNvSpPr>
          <p:nvPr/>
        </p:nvSpPr>
        <p:spPr>
          <a:xfrm>
            <a:off x="3000375" y="3724275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 SQL 将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ER 图映射为表</a:t>
            </a:r>
          </a:p>
        </p:txBody>
      </p:sp>
    </p:spTree>
    <p:extLst>
      <p:ext uri="{BB962C8B-B14F-4D97-AF65-F5344CB8AC3E}">
        <p14:creationId xmlns:p14="http://schemas.microsoft.com/office/powerpoint/2010/main" val="1245406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544ED2DA-AF3F-46C0-9804-C3F33A70BCCA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SQL 语句类别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4C13A204-BFDD-4EF2-BDBC-3B9745914216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666750" y="1352550"/>
          <a:ext cx="7810500" cy="29718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用途</a:t>
                      </a:r>
                    </a:p>
                  </a:txBody>
                  <a:tcPr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常用语句</a:t>
                      </a:r>
                    </a:p>
                  </a:txBody>
                  <a:tcPr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本讲示例</a:t>
                      </a:r>
                    </a:p>
                  </a:txBody>
                  <a:tcPr anchor="ctr"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定义结构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CREATE, ALTER, DROP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表、约束与视图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修改数据行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INSERT, UPDATE, DELETE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添加、修改与删除元组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检索数据行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SELECT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筛选、连接、分组与排序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804A48CA-F2F8-407D-B51C-4A041382601F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7658100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5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rPr>
              <a:t>术语并不完全统一，有些教材把 SELECT 归入 DML，另一些教材称其为 DQL。</a:t>
            </a:r>
          </a:p>
        </p:txBody>
      </p:sp>
    </p:spTree>
    <p:extLst>
      <p:ext uri="{BB962C8B-B14F-4D97-AF65-F5344CB8AC3E}">
        <p14:creationId xmlns:p14="http://schemas.microsoft.com/office/powerpoint/2010/main" val="944023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05D9CA97-046F-41DA-BC73-92CB8AC16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799" y="1219200"/>
            <a:ext cx="8658225" cy="5257800"/>
          </a:xfrm>
        </p:spPr>
        <p:txBody>
          <a:bodyPr>
            <a:noAutofit/>
          </a:bodyPr>
          <a:lstStyle/>
          <a:p>
            <a:r>
              <a:rPr sz="2400">
                <a:latin typeface="Arial Unicode MS"/>
                <a:ea typeface="Arial Unicode MS"/>
                <a:cs typeface="Arial Unicode MS"/>
              </a:rPr>
              <a:t>关系模型的一项主要优势，是能够以简洁而强大的方式查询数据</a:t>
            </a:r>
          </a:p>
          <a:p>
            <a:r>
              <a:rPr sz="2400"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结构化查询语言 SQL 是商业关系数据库中应用最广泛的语言</a:t>
            </a:r>
          </a:p>
          <a:p>
            <a:r>
              <a:rPr sz="2400">
                <a:latin typeface="Arial Unicode MS"/>
                <a:ea typeface="Arial Unicode MS"/>
                <a:cs typeface="Arial Unicode MS"/>
              </a:rPr>
              <a:t>IBM 在 20 世纪 70 年代的 System R 项目中开发了 SQL</a:t>
            </a:r>
          </a:p>
          <a:p>
            <a:r>
              <a:rPr sz="2400">
                <a:latin typeface="Arial Unicode MS"/>
                <a:ea typeface="Arial Unicode MS"/>
                <a:cs typeface="Arial Unicode MS"/>
              </a:rPr>
              <a:t>由于众多厂商都使用 SQL，因此需要统一标准</a:t>
            </a:r>
          </a:p>
          <a:p>
            <a:pPr lvl="1">
              <a:buSzPct val="75000"/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SQL-86</a:t>
            </a:r>
          </a:p>
          <a:p>
            <a:pPr lvl="1">
              <a:buSzPct val="75000"/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SQL-89 （小幅修订）</a:t>
            </a:r>
          </a:p>
          <a:p>
            <a:pPr lvl="1">
              <a:buSzPct val="75000"/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SQL-92 （重大修订）</a:t>
            </a:r>
          </a:p>
          <a:p>
            <a:pPr lvl="1">
              <a:buSzPct val="75000"/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SQL-99 （重大扩展）</a:t>
            </a:r>
          </a:p>
          <a:p>
            <a:pPr lvl="1">
              <a:buSzPct val="75000"/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SQL-2003 （小幅修订）</a:t>
            </a:r>
          </a:p>
          <a:p>
            <a:pPr lvl="1">
              <a:buSzPct val="75000"/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SQL-2011</a:t>
            </a:r>
          </a:p>
          <a:p>
            <a:pPr lvl="1">
              <a:buSzPct val="75000"/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SQL- 2016</a:t>
            </a:r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D7EB9AF8-301E-4AB3-BFB6-F82A97F1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" y="76200"/>
            <a:ext cx="8782050" cy="1143000"/>
          </a:xfrm>
        </p:spPr>
        <p:txBody>
          <a:bodyPr/>
          <a:lstStyle/>
          <a:p>
            <a:r>
              <a:rPr sz="4000">
                <a:latin typeface="Arial Unicode MS"/>
                <a:ea typeface="Arial Unicode MS"/>
                <a:cs typeface="Arial Unicode MS"/>
              </a:rPr>
              <a:t>SQL：关系数据库语言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9C7393-651A-3A67-DF0D-A5E822CA68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4118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E4FB354A-F628-4B1D-A6A7-C1DCB58B7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1295400"/>
            <a:ext cx="8153400" cy="4495800"/>
          </a:xfrm>
        </p:spPr>
        <p:txBody>
          <a:bodyPr>
            <a:normAutofit fontScale="88777" lnSpcReduction="10000"/>
          </a:bodyPr>
          <a:lstStyle/>
          <a:p>
            <a:pPr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SQL 语言主要包括两个方面，其他方面将在后续课程中讨论</a:t>
            </a:r>
          </a:p>
          <a:p>
            <a:pPr lvl="1">
              <a:buFont typeface="Wingdings"/>
              <a:buChar char="§"/>
            </a:pPr>
            <a:r>
              <a:rPr sz="2600">
                <a:latin typeface="Arial Unicode MS"/>
                <a:ea typeface="Arial Unicode MS"/>
                <a:cs typeface="Arial Unicode MS"/>
              </a:rPr>
              <a:t>数据定义语言（DDL）</a:t>
            </a:r>
          </a:p>
          <a:p>
            <a:pPr lvl="2">
              <a:buFont typeface="Wingdings"/>
              <a:buChar char="§"/>
            </a:pPr>
            <a:r>
              <a:rPr sz="2600">
                <a:latin typeface="Arial Unicode MS"/>
                <a:ea typeface="Arial Unicode MS"/>
                <a:cs typeface="Arial Unicode MS"/>
              </a:rPr>
              <a:t>用于创建、修改和删除关系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 sz="2600">
                <a:latin typeface="Arial Unicode MS"/>
                <a:ea typeface="Arial Unicode MS"/>
                <a:cs typeface="Arial Unicode MS"/>
              </a:rPr>
              <a:t>与视图</a:t>
            </a:r>
          </a:p>
          <a:p>
            <a:pPr lvl="2">
              <a:buFont typeface="Wingdings"/>
              <a:buChar char="§"/>
            </a:pPr>
            <a:r>
              <a:rPr sz="2600">
                <a:latin typeface="Arial Unicode MS"/>
                <a:ea typeface="Arial Unicode MS"/>
                <a:cs typeface="Arial Unicode MS"/>
              </a:rPr>
              <a:t>用于指定约束</a:t>
            </a:r>
          </a:p>
          <a:p>
            <a:pPr lvl="2">
              <a:buFont typeface="Wingdings"/>
              <a:buChar char="§"/>
            </a:pPr>
            <a:r>
              <a:rPr sz="2600">
                <a:latin typeface="Arial Unicode MS"/>
                <a:ea typeface="Arial Unicode MS"/>
                <a:cs typeface="Arial Unicode MS"/>
              </a:rPr>
              <a:t>用于管理用户和安全权限等</a:t>
            </a:r>
          </a:p>
          <a:p>
            <a:pPr lvl="1">
              <a:buFont typeface="Wingdings"/>
              <a:buChar char="§"/>
            </a:pPr>
            <a:endParaRPr sz="2600"/>
          </a:p>
          <a:p>
            <a:pPr lvl="1">
              <a:buFont typeface="Wingdings"/>
              <a:buChar char="§"/>
            </a:pPr>
            <a:r>
              <a:rPr sz="2600">
                <a:latin typeface="Arial Unicode MS"/>
                <a:ea typeface="Arial Unicode MS"/>
                <a:cs typeface="Arial Unicode MS"/>
              </a:rPr>
              <a:t>数据操纵语言（DML）</a:t>
            </a:r>
          </a:p>
          <a:p>
            <a:pPr lvl="2">
              <a:buFont typeface="Wingdings"/>
              <a:buChar char="§"/>
            </a:pPr>
            <a:r>
              <a:rPr sz="2600">
                <a:latin typeface="Arial Unicode MS"/>
                <a:ea typeface="Arial Unicode MS"/>
                <a:cs typeface="Arial Unicode MS"/>
              </a:rPr>
              <a:t>用于查询满足条件的元组</a:t>
            </a:r>
          </a:p>
          <a:p>
            <a:pPr lvl="2">
              <a:buFont typeface="Wingdings"/>
              <a:buChar char="§"/>
            </a:pPr>
            <a:r>
              <a:rPr sz="2600">
                <a:latin typeface="Arial Unicode MS"/>
                <a:ea typeface="Arial Unicode MS"/>
                <a:cs typeface="Arial Unicode MS"/>
              </a:rPr>
              <a:t>用于添加、修改和删除元组</a:t>
            </a:r>
          </a:p>
          <a:p>
            <a:pPr lvl="1">
              <a:buNone/>
            </a:pPr>
            <a:endParaRPr sz="2800"/>
          </a:p>
        </p:txBody>
      </p:sp>
      <p:sp>
        <p:nvSpPr>
          <p:cNvPr id="26629" name="Rectangle 5">
            <a:extLst>
              <a:ext uri="{FF2B5EF4-FFF2-40B4-BE49-F238E27FC236}">
                <a16:creationId xmlns:a16="http://schemas.microsoft.com/office/drawing/2014/main" id="{46C1A9E5-F977-4465-8AB0-B8B41355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94" y="152400"/>
            <a:ext cx="8782050" cy="1143000"/>
          </a:xfrm>
        </p:spPr>
        <p:txBody>
          <a:bodyPr/>
          <a:lstStyle/>
          <a:p>
            <a:r>
              <a:rPr sz="4000">
                <a:latin typeface="Arial Unicode MS"/>
                <a:ea typeface="Arial Unicode MS"/>
                <a:cs typeface="Arial Unicode MS"/>
              </a:rPr>
              <a:t>DDL 与 DML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A86C18-FBF6-8320-0734-A473B4361B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76633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C815-F9E2-6C44-468B-F8C39C711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>
                <a:latin typeface="Arial Unicode MS"/>
                <a:ea typeface="Arial Unicode MS"/>
                <a:cs typeface="Arial Unicode MS"/>
              </a:rPr>
              <a:t>使用 SQL 创建关系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0B96-7C35-F103-CA9C-009471B5F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 dirty="0">
                <a:latin typeface="Arial Unicode MS"/>
                <a:ea typeface="Arial Unicode MS"/>
                <a:cs typeface="Arial Unicode MS"/>
              </a:rPr>
              <a:t>S1 </a:t>
            </a:r>
            <a:r>
              <a:rPr sz="2400" dirty="0" err="1">
                <a:latin typeface="Arial Unicode MS"/>
                <a:ea typeface="Arial Unicode MS"/>
                <a:cs typeface="Arial Unicode MS"/>
              </a:rPr>
              <a:t>可用于创建“Students”关系</a:t>
            </a:r>
            <a:endParaRPr sz="2400" dirty="0">
              <a:latin typeface="Arial Unicode MS"/>
              <a:ea typeface="Arial Unicode MS"/>
              <a:cs typeface="Arial Unicode MS"/>
            </a:endParaRPr>
          </a:p>
          <a:p>
            <a:pPr>
              <a:buFont typeface="Wingdings"/>
              <a:buChar char="§"/>
            </a:pPr>
            <a:r>
              <a:rPr sz="2400" dirty="0">
                <a:latin typeface="Arial Unicode MS"/>
                <a:ea typeface="Arial Unicode MS"/>
                <a:cs typeface="Arial Unicode MS"/>
              </a:rPr>
              <a:t>S2 </a:t>
            </a:r>
            <a:r>
              <a:rPr sz="2400" dirty="0" err="1">
                <a:latin typeface="Arial Unicode MS"/>
                <a:ea typeface="Arial Unicode MS"/>
                <a:cs typeface="Arial Unicode MS"/>
              </a:rPr>
              <a:t>可用于创建“Enrolled”关系</a:t>
            </a:r>
            <a:endParaRPr sz="2400" dirty="0">
              <a:latin typeface="Arial Unicode MS"/>
              <a:ea typeface="Arial Unicode MS"/>
              <a:cs typeface="Arial Unicode MS"/>
            </a:endParaRPr>
          </a:p>
          <a:p>
            <a:pPr lvl="1">
              <a:buNone/>
            </a:pPr>
            <a:endParaRPr sz="2800" dirty="0"/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6E1A9-D707-B6E9-5CE4-5FEE3A1533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26</a:t>
            </a:fld>
            <a:endParaRPr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F436178-A0E9-D4F7-3E87-0820806D2AE2}"/>
              </a:ext>
            </a:extLst>
          </p:cNvPr>
          <p:cNvSpPr>
            <a:spLocks noGrp="1"/>
          </p:cNvSpPr>
          <p:nvPr/>
        </p:nvSpPr>
        <p:spPr>
          <a:xfrm>
            <a:off x="555833" y="2438400"/>
            <a:ext cx="3402012" cy="2219325"/>
          </a:xfrm>
          <a:prstGeom prst="rect">
            <a:avLst/>
          </a:prstGeom>
          <a:noFill/>
          <a:ln w="9525">
            <a:solidFill>
              <a:srgbClr val="00B050"/>
            </a:solidFill>
          </a:ln>
        </p:spPr>
        <p:txBody>
          <a:bodyPr wrap="none" lIns="90488" tIns="44450" rIns="90488" bIns="44450">
            <a:spAutoFit/>
          </a:bodyPr>
          <a:lstStyle/>
          <a:p>
            <a:r>
              <a:rPr sz="2000">
                <a:latin typeface="Book Antiqua"/>
                <a:ea typeface="Book Antiqua"/>
                <a:cs typeface="Book Antiqua"/>
              </a:rPr>
              <a:t>CREATE TABLE Students</a:t>
            </a:r>
            <a:endParaRPr>
              <a:latin typeface="Book Antiqua"/>
              <a:ea typeface="Book Antiqua"/>
              <a:cs typeface="Book Antiqua"/>
            </a:endParaRPr>
          </a:p>
          <a:p>
            <a:r>
              <a:rPr>
                <a:latin typeface="Book Antiqua"/>
                <a:ea typeface="Book Antiqua"/>
                <a:cs typeface="Book Antiqua"/>
              </a:rPr>
              <a:t>	(sid: </a:t>
            </a:r>
            <a:r>
              <a:rPr sz="2000">
                <a:latin typeface="Book Antiqua"/>
                <a:ea typeface="Book Antiqua"/>
                <a:cs typeface="Book Antiqua"/>
              </a:rPr>
              <a:t>CHAR(20)</a:t>
            </a:r>
            <a:r>
              <a:rPr>
                <a:latin typeface="Book Antiqua"/>
                <a:ea typeface="Book Antiqua"/>
                <a:cs typeface="Book Antiqua"/>
              </a:rPr>
              <a:t>, 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 name: </a:t>
            </a:r>
            <a:r>
              <a:rPr sz="2000">
                <a:latin typeface="Book Antiqua"/>
                <a:ea typeface="Book Antiqua"/>
                <a:cs typeface="Book Antiqua"/>
              </a:rPr>
              <a:t>CHAR(20)</a:t>
            </a:r>
            <a:r>
              <a:rPr>
                <a:latin typeface="Book Antiqua"/>
                <a:ea typeface="Book Antiqua"/>
                <a:cs typeface="Book Antiqua"/>
              </a:rPr>
              <a:t>, 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 login: </a:t>
            </a:r>
            <a:r>
              <a:rPr sz="2000">
                <a:latin typeface="Book Antiqua"/>
                <a:ea typeface="Book Antiqua"/>
                <a:cs typeface="Book Antiqua"/>
              </a:rPr>
              <a:t>CHAR(10),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 age: </a:t>
            </a:r>
            <a:r>
              <a:rPr sz="2000">
                <a:latin typeface="Book Antiqua"/>
                <a:ea typeface="Book Antiqua"/>
                <a:cs typeface="Book Antiqua"/>
              </a:rPr>
              <a:t>INTEGER</a:t>
            </a:r>
            <a:r>
              <a:rPr>
                <a:latin typeface="Book Antiqua"/>
                <a:ea typeface="Book Antiqua"/>
                <a:cs typeface="Book Antiqua"/>
              </a:rPr>
              <a:t>,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 gpa: </a:t>
            </a:r>
            <a:r>
              <a:rPr sz="2000">
                <a:latin typeface="Book Antiqua"/>
                <a:ea typeface="Book Antiqua"/>
                <a:cs typeface="Book Antiqua"/>
              </a:rPr>
              <a:t>REAL</a:t>
            </a:r>
            <a:r>
              <a:rPr>
                <a:latin typeface="Book Antiqua"/>
                <a:ea typeface="Book Antiqua"/>
                <a:cs typeface="Book Antiqua"/>
              </a:rPr>
              <a:t>)  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B3753284-77CD-5713-7694-53A0EF803A08}"/>
              </a:ext>
            </a:extLst>
          </p:cNvPr>
          <p:cNvSpPr>
            <a:spLocks noGrp="1"/>
          </p:cNvSpPr>
          <p:nvPr/>
        </p:nvSpPr>
        <p:spPr>
          <a:xfrm>
            <a:off x="4572000" y="2438400"/>
            <a:ext cx="3530600" cy="148907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lIns="90488" tIns="44450" rIns="90488" bIns="44450">
            <a:spAutoFit/>
          </a:bodyPr>
          <a:lstStyle/>
          <a:p>
            <a:r>
              <a:rPr sz="2000">
                <a:latin typeface="Book Antiqua"/>
                <a:ea typeface="Book Antiqua"/>
                <a:cs typeface="Book Antiqua"/>
              </a:rPr>
              <a:t>CREATE TABLE Enrolled</a:t>
            </a:r>
            <a:endParaRPr>
              <a:latin typeface="Book Antiqua"/>
              <a:ea typeface="Book Antiqua"/>
              <a:cs typeface="Book Antiqua"/>
            </a:endParaRPr>
          </a:p>
          <a:p>
            <a:r>
              <a:rPr>
                <a:latin typeface="Book Antiqua"/>
                <a:ea typeface="Book Antiqua"/>
                <a:cs typeface="Book Antiqua"/>
              </a:rPr>
              <a:t>	(sid: </a:t>
            </a:r>
            <a:r>
              <a:rPr sz="2000">
                <a:latin typeface="Book Antiqua"/>
                <a:ea typeface="Book Antiqua"/>
                <a:cs typeface="Book Antiqua"/>
              </a:rPr>
              <a:t>CHAR(20)</a:t>
            </a:r>
            <a:r>
              <a:rPr>
                <a:latin typeface="Book Antiqua"/>
                <a:ea typeface="Book Antiqua"/>
                <a:cs typeface="Book Antiqua"/>
              </a:rPr>
              <a:t>, 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 cid: </a:t>
            </a:r>
            <a:r>
              <a:rPr sz="2000">
                <a:latin typeface="Book Antiqua"/>
                <a:ea typeface="Book Antiqua"/>
                <a:cs typeface="Book Antiqua"/>
              </a:rPr>
              <a:t>CHAR(20)</a:t>
            </a:r>
            <a:r>
              <a:rPr>
                <a:latin typeface="Book Antiqua"/>
                <a:ea typeface="Book Antiqua"/>
                <a:cs typeface="Book Antiqua"/>
              </a:rPr>
              <a:t>, 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 grade: </a:t>
            </a:r>
            <a:r>
              <a:rPr sz="2000">
                <a:latin typeface="Book Antiqua"/>
                <a:ea typeface="Book Antiqua"/>
                <a:cs typeface="Book Antiqua"/>
              </a:rPr>
              <a:t>CHAR</a:t>
            </a:r>
            <a:r>
              <a:rPr>
                <a:latin typeface="Book Antiqua"/>
                <a:ea typeface="Book Antiqua"/>
                <a:cs typeface="Book Antiqua"/>
              </a:rPr>
              <a:t>(2))  </a:t>
            </a:r>
          </a:p>
        </p:txBody>
      </p:sp>
      <p:sp>
        <p:nvSpPr>
          <p:cNvPr id="7" name="Rounded Rectangle 1">
            <a:extLst>
              <a:ext uri="{FF2B5EF4-FFF2-40B4-BE49-F238E27FC236}">
                <a16:creationId xmlns:a16="http://schemas.microsoft.com/office/drawing/2014/main" id="{F31447FF-1A97-3B9E-9559-F583B5110C8E}"/>
              </a:ext>
            </a:extLst>
          </p:cNvPr>
          <p:cNvSpPr>
            <a:spLocks noGrp="1"/>
          </p:cNvSpPr>
          <p:nvPr/>
        </p:nvSpPr>
        <p:spPr>
          <a:xfrm>
            <a:off x="723900" y="5511977"/>
            <a:ext cx="7696200" cy="851517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 Unicode MS"/>
                <a:ea typeface="Arial Unicode MS"/>
                <a:cs typeface="Arial Unicode MS"/>
              </a:rPr>
              <a:t>添加或修改元组时，DBMS 会执行域约束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346A95-D407-F0B3-E868-E574F71760FE}"/>
              </a:ext>
            </a:extLst>
          </p:cNvPr>
          <p:cNvSpPr>
            <a:spLocks noGrp="1"/>
          </p:cNvSpPr>
          <p:nvPr/>
        </p:nvSpPr>
        <p:spPr>
          <a:xfrm>
            <a:off x="2016228" y="4710907"/>
            <a:ext cx="4812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00B050"/>
                </a:solidFill>
              </a:rPr>
              <a:t>S1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CA8DB6-A782-F123-9DEC-24DA3A1061D4}"/>
              </a:ext>
            </a:extLst>
          </p:cNvPr>
          <p:cNvSpPr>
            <a:spLocks noGrp="1"/>
          </p:cNvSpPr>
          <p:nvPr/>
        </p:nvSpPr>
        <p:spPr>
          <a:xfrm>
            <a:off x="6149055" y="4005263"/>
            <a:ext cx="48122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>
                <a:solidFill>
                  <a:srgbClr val="FF0000"/>
                </a:solidFill>
              </a:rPr>
              <a:t>S2</a:t>
            </a:r>
          </a:p>
        </p:txBody>
      </p:sp>
    </p:spTree>
    <p:extLst>
      <p:ext uri="{BB962C8B-B14F-4D97-AF65-F5344CB8AC3E}">
        <p14:creationId xmlns:p14="http://schemas.microsoft.com/office/powerpoint/2010/main" val="1009714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666E9AA9-8875-4EF7-BAA7-B45D6F6A138B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数据类型与约束的选择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0EA26D25-E305-4FED-B702-304D7F7A02F3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514350" y="1181100"/>
          <a:ext cx="8115300" cy="4000500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3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属性</a:t>
                      </a:r>
                    </a:p>
                  </a:txBody>
                  <a:tcPr anchor="ctr"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可能的声明</a:t>
                      </a:r>
                    </a:p>
                  </a:txBody>
                  <a:tcPr anchor="ctr"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设计原因</a:t>
                      </a:r>
                    </a:p>
                  </a:txBody>
                  <a:tcPr anchor="ctr"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VARCHAR(8)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标识符，不需要进行算术运算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name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VARCHAR(80) NOT NULL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学生记录必须包含姓名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INTEGER CHECK (age &gt;= 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拒绝不符合规则的值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gpa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DECIMAL(3,2)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保持固定的小数位数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BOOLEAN DEFAULT TRUE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提供常用的初始值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allout">
            <a:extLst>
              <a:ext uri="{FF2B5EF4-FFF2-40B4-BE49-F238E27FC236}">
                <a16:creationId xmlns:a16="http://schemas.microsoft.com/office/drawing/2014/main" id="{BA9E80A6-C47C-46C5-BAF2-519284DDE018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4BACC6"/>
          </a:solidFill>
          <a:ln w="9525">
            <a:solidFill>
              <a:srgbClr val="4BACC6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数据类型限制值的表示方式，约束表达业务规则。</a:t>
            </a:r>
          </a:p>
        </p:txBody>
      </p:sp>
    </p:spTree>
    <p:extLst>
      <p:ext uri="{BB962C8B-B14F-4D97-AF65-F5344CB8AC3E}">
        <p14:creationId xmlns:p14="http://schemas.microsoft.com/office/powerpoint/2010/main" val="692232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E615BEE-8D64-4B20-91D1-B86ECA97D288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CREATE TABLE：示例解析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51C93752-A621-409A-9B57-6AA299EB2770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68BEC1F7-7A4D-4E22-B8F4-793CCBD088BF}"/>
              </a:ext>
            </a:extLst>
          </p:cNvPr>
          <p:cNvSpPr>
            <a:spLocks noGrp="1"/>
          </p:cNvSpPr>
          <p:nvPr/>
        </p:nvSpPr>
        <p:spPr>
          <a:xfrm>
            <a:off x="723900" y="1257300"/>
            <a:ext cx="4953000" cy="35623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CREATE TABLE Students (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sid   VARCHAR(8) PRIMARY KEY,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name  VARCHAR(80) NOT NULL,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age   INTEGER CHECK (age &gt;= 15),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gpa   DECIMAL(3,2),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login VARCHAR(40) UNIQUE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DE9BA2-DE9E-41D5-B756-2E1C501DB19E}"/>
              </a:ext>
            </a:extLst>
          </p:cNvPr>
          <p:cNvSpPr>
            <a:spLocks noGrp="1"/>
          </p:cNvSpPr>
          <p:nvPr/>
        </p:nvSpPr>
        <p:spPr>
          <a:xfrm>
            <a:off x="5924550" y="1314450"/>
            <a:ext cx="2724150" cy="3371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sid 标识每一行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name 为必填项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age 受到域规则限制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login 是备用键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gpa 可以未知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0C3E59F3-7F1E-40D1-B471-896E7DECA1B5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每一行定义都是数据库必须执行的承诺。</a:t>
            </a:r>
          </a:p>
        </p:txBody>
      </p:sp>
    </p:spTree>
    <p:extLst>
      <p:ext uri="{BB962C8B-B14F-4D97-AF65-F5344CB8AC3E}">
        <p14:creationId xmlns:p14="http://schemas.microsoft.com/office/powerpoint/2010/main" val="2036250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11671-BE0C-4A39-9AC1-035859687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域约束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56636-DC7F-4B05-8472-67E2B7A9E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899" y="1243614"/>
            <a:ext cx="8382000" cy="5105400"/>
          </a:xfrm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关系模式为每一列指定域，由此形成域约束</a:t>
            </a:r>
          </a:p>
          <a:p>
            <a:pPr>
              <a:buFont typeface="Wingdings"/>
              <a:buChar char="§"/>
            </a:pPr>
            <a:endParaRPr sz="2400"/>
          </a:p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域约束规定关系的每个实例都必须满足的条件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一列中出现的值必须来自该列所对应的域</a:t>
            </a:r>
          </a:p>
          <a:p>
            <a:pPr lvl="1">
              <a:buFont typeface="Wingdings"/>
              <a:buChar char="§"/>
            </a:pPr>
            <a:endParaRPr sz="2400"/>
          </a:p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谁定义域约束？</a:t>
            </a:r>
          </a:p>
          <a:p>
            <a:pPr lvl="1">
              <a:buFont typeface="Wingdings"/>
              <a:buChar char="§"/>
            </a:pPr>
            <a:r>
              <a:rPr sz="24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DBA（数据库管理员）</a:t>
            </a:r>
          </a:p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谁执行域约束？</a:t>
            </a:r>
          </a:p>
          <a:p>
            <a:pPr lvl="1">
              <a:buFont typeface="Wingdings"/>
              <a:buChar char="§"/>
            </a:pPr>
            <a:r>
              <a:rPr sz="24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DBMS（数据库管理系统）</a:t>
            </a:r>
          </a:p>
          <a:p>
            <a:pPr lvl="1">
              <a:buNone/>
            </a:pPr>
            <a:endParaRPr sz="2400"/>
          </a:p>
          <a:p>
            <a:endParaRPr/>
          </a:p>
        </p:txBody>
      </p:sp>
      <p:pic>
        <p:nvPicPr>
          <p:cNvPr id="8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05600" y="6324600"/>
            <a:ext cx="2314160" cy="3810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B07726-B20E-AD73-26B7-DB1D7527A8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6735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FE1C857-732A-4C36-ADFC-2E6834A45CC3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B79F3CA-8F5F-419D-984A-14D3C40D7F27}"/>
              </a:ext>
            </a:extLst>
          </p:cNvPr>
          <p:cNvSpPr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4E8CEE58-CFBE-48A2-8E5D-364EA0932D72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添加与删除元组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A613637F-DFB9-4B84-BEF2-C9C8348DF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0072" y="1441902"/>
            <a:ext cx="8225327" cy="6096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可以使用以下语句向“Students”关系插入一个元组：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B1E43641-ACE7-4119-976F-D4090891FC4C}"/>
              </a:ext>
            </a:extLst>
          </p:cNvPr>
          <p:cNvSpPr>
            <a:spLocks noGrp="1"/>
          </p:cNvSpPr>
          <p:nvPr/>
        </p:nvSpPr>
        <p:spPr>
          <a:xfrm>
            <a:off x="1028700" y="2219568"/>
            <a:ext cx="7086600" cy="828432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 sz="2400">
                <a:latin typeface="Book Antiqua"/>
                <a:ea typeface="Book Antiqua"/>
                <a:cs typeface="Book Antiqua"/>
              </a:rPr>
              <a:t>INSERT INTO	</a:t>
            </a:r>
            <a:r>
              <a:rPr sz="2000">
                <a:latin typeface="Book Antiqua"/>
                <a:ea typeface="Book Antiqua"/>
                <a:cs typeface="Book Antiqua"/>
              </a:rPr>
              <a:t>Students (sid, name, login, age, gpa)</a:t>
            </a:r>
          </a:p>
          <a:p>
            <a:r>
              <a:rPr sz="2400">
                <a:latin typeface="Book Antiqua"/>
                <a:ea typeface="Book Antiqua"/>
                <a:cs typeface="Book Antiqua"/>
              </a:rPr>
              <a:t>VALUES</a:t>
            </a:r>
            <a:r>
              <a:rPr sz="2000">
                <a:latin typeface="Book Antiqua"/>
                <a:ea typeface="Book Antiqua"/>
                <a:cs typeface="Book Antiqua"/>
              </a:rPr>
              <a:t>  		(53688, ‘Smith’, ‘smith@ee’, 18, 3.2)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0DCDCAB5-4D2F-414A-B1F7-7973823BC71F}"/>
              </a:ext>
            </a:extLst>
          </p:cNvPr>
          <p:cNvSpPr>
            <a:spLocks noGrp="1"/>
          </p:cNvSpPr>
          <p:nvPr/>
        </p:nvSpPr>
        <p:spPr>
          <a:xfrm>
            <a:off x="708589" y="3602836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可以删除“Students”关系中满足条件的所有元组，例如 name = Smith：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E4DC1DEF-0B45-49BD-8E31-A37EDBA474BC}"/>
              </a:ext>
            </a:extLst>
          </p:cNvPr>
          <p:cNvSpPr>
            <a:spLocks noGrp="1"/>
          </p:cNvSpPr>
          <p:nvPr/>
        </p:nvSpPr>
        <p:spPr>
          <a:xfrm>
            <a:off x="2597901" y="4593436"/>
            <a:ext cx="3948198" cy="119776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none" lIns="90488" tIns="44450" rIns="90488" bIns="44450">
            <a:spAutoFit/>
          </a:bodyPr>
          <a:lstStyle/>
          <a:p>
            <a:r>
              <a:rPr sz="2400">
                <a:latin typeface="Book Antiqua"/>
                <a:ea typeface="Book Antiqua"/>
                <a:cs typeface="Book Antiqua"/>
              </a:rPr>
              <a:t>DELETE</a:t>
            </a:r>
            <a:r>
              <a:rPr sz="2000">
                <a:latin typeface="Book Antiqua"/>
                <a:ea typeface="Book Antiqua"/>
                <a:cs typeface="Book Antiqua"/>
              </a:rPr>
              <a:t>  </a:t>
            </a:r>
          </a:p>
          <a:p>
            <a:r>
              <a:rPr sz="2400">
                <a:latin typeface="Book Antiqua"/>
                <a:ea typeface="Book Antiqua"/>
                <a:cs typeface="Book Antiqua"/>
              </a:rPr>
              <a:t>FROM</a:t>
            </a:r>
            <a:r>
              <a:rPr sz="2000">
                <a:latin typeface="Book Antiqua"/>
                <a:ea typeface="Book Antiqua"/>
                <a:cs typeface="Book Antiqua"/>
              </a:rPr>
              <a:t> 	Students S</a:t>
            </a:r>
          </a:p>
          <a:p>
            <a:r>
              <a:rPr sz="2400">
                <a:latin typeface="Book Antiqua"/>
                <a:ea typeface="Book Antiqua"/>
                <a:cs typeface="Book Antiqua"/>
              </a:rPr>
              <a:t>WHERE</a:t>
            </a:r>
            <a:r>
              <a:rPr sz="2000">
                <a:latin typeface="Book Antiqua"/>
                <a:ea typeface="Book Antiqua"/>
                <a:cs typeface="Book Antiqua"/>
              </a:rPr>
              <a:t> 	S.name = ‘Smith’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87E294-2318-8F7D-B7CC-E3CD43EC82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4856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4CC00CCE-5A82-427B-8715-13CD97B3DD38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活动：诊断数据修改语句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07E07C9-1464-4759-9F38-9A814C3A814D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3D5237-C722-4711-8E2F-844578FBAEF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77724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725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预测每条语句的结果，并提出更安全的写法。</a:t>
            </a:r>
          </a:p>
        </p:txBody>
      </p:sp>
      <p:sp>
        <p:nvSpPr>
          <p:cNvPr id="4" name="sql-code">
            <a:extLst>
              <a:ext uri="{FF2B5EF4-FFF2-40B4-BE49-F238E27FC236}">
                <a16:creationId xmlns:a16="http://schemas.microsoft.com/office/drawing/2014/main" id="{752D02DB-6736-4AA5-A116-FF41AF3A68F4}"/>
              </a:ext>
            </a:extLst>
          </p:cNvPr>
          <p:cNvSpPr>
            <a:spLocks noGrp="1"/>
          </p:cNvSpPr>
          <p:nvPr/>
        </p:nvSpPr>
        <p:spPr>
          <a:xfrm>
            <a:off x="704850" y="1771650"/>
            <a:ext cx="7734300" cy="9334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INSERT INTO Students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VALUES ('S101', 'Mei', 19, 3.60, 'mei')</a:t>
            </a:r>
          </a:p>
        </p:txBody>
      </p:sp>
      <p:sp>
        <p:nvSpPr>
          <p:cNvPr id="5" name="sql-code">
            <a:extLst>
              <a:ext uri="{FF2B5EF4-FFF2-40B4-BE49-F238E27FC236}">
                <a16:creationId xmlns:a16="http://schemas.microsoft.com/office/drawing/2014/main" id="{A4EBCEAB-33FF-475A-A902-B46C87C9877C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7734300" cy="83820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UPDATE Students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SET gpa = 3.80</a:t>
            </a:r>
          </a:p>
        </p:txBody>
      </p:sp>
      <p:sp>
        <p:nvSpPr>
          <p:cNvPr id="6" name="sql-code">
            <a:extLst>
              <a:ext uri="{FF2B5EF4-FFF2-40B4-BE49-F238E27FC236}">
                <a16:creationId xmlns:a16="http://schemas.microsoft.com/office/drawing/2014/main" id="{967D9491-C397-4FAE-807F-46B47C7609CC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7734300" cy="83820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DELETE FROM Students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gpa = NULL</a:t>
            </a:r>
          </a:p>
        </p:txBody>
      </p:sp>
      <p:sp>
        <p:nvSpPr>
          <p:cNvPr id="7" name="callout">
            <a:extLst>
              <a:ext uri="{FF2B5EF4-FFF2-40B4-BE49-F238E27FC236}">
                <a16:creationId xmlns:a16="http://schemas.microsoft.com/office/drawing/2014/main" id="{EE9DB9E0-6E68-4858-9C15-97A684EC3D42}"/>
              </a:ext>
            </a:extLst>
          </p:cNvPr>
          <p:cNvSpPr>
            <a:spLocks noGrp="1"/>
          </p:cNvSpPr>
          <p:nvPr/>
        </p:nvSpPr>
        <p:spPr>
          <a:xfrm>
            <a:off x="2095500" y="5657850"/>
            <a:ext cx="4953000" cy="590550"/>
          </a:xfrm>
          <a:prstGeom prst="roundRect">
            <a:avLst>
              <a:gd name="adj" fmla="val 16129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同伴讨论：3 分钟</a:t>
            </a:r>
          </a:p>
        </p:txBody>
      </p:sp>
    </p:spTree>
    <p:extLst>
      <p:ext uri="{BB962C8B-B14F-4D97-AF65-F5344CB8AC3E}">
        <p14:creationId xmlns:p14="http://schemas.microsoft.com/office/powerpoint/2010/main" val="19566242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CCEEE49-F550-454C-AEA1-4BDB7066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8229600" cy="868362"/>
          </a:xfrm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查询关系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6C267E1-F28A-4BDE-9634-4E0EA5A2F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060450"/>
            <a:ext cx="8229600" cy="5264150"/>
          </a:xfrm>
          <a:prstGeom prst="rect">
            <a:avLst/>
          </a:prstGeom>
          <a:noFill/>
        </p:spPr>
        <p:txBody>
          <a:bodyPr/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如何找出所有 18 岁的学生？</a:t>
            </a:r>
          </a:p>
          <a:p>
            <a:pPr>
              <a:buFont typeface="Wingdings"/>
              <a:buChar char="§"/>
            </a:pPr>
            <a:endParaRPr/>
          </a:p>
          <a:p>
            <a:pPr>
              <a:buFont typeface="Wingdings"/>
              <a:buChar char="§"/>
            </a:pPr>
            <a:endParaRPr/>
          </a:p>
          <a:p>
            <a:pPr>
              <a:buFont typeface="Wingdings"/>
              <a:buChar char="§"/>
            </a:pPr>
            <a:endParaRPr/>
          </a:p>
          <a:p>
            <a:pPr>
              <a:buFont typeface="Wingdings"/>
              <a:buChar char="§"/>
            </a:pPr>
            <a:endParaRPr/>
          </a:p>
          <a:p>
            <a:pPr marL="0" indent="0">
              <a:buNone/>
            </a:pPr>
            <a:endParaRPr sz="2400">
              <a:latin typeface="Book Antiqua"/>
              <a:ea typeface="Book Antiqua"/>
              <a:cs typeface="Book Antiqua"/>
            </a:endParaRPr>
          </a:p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如何只返回姓名和登录名？</a:t>
            </a:r>
          </a:p>
          <a:p>
            <a:pPr>
              <a:buFont typeface="Wingdings"/>
              <a:buChar char="§"/>
            </a:pPr>
            <a:endParaRPr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E95DC83F-3AA9-48A1-9B49-072B3F0959BA}"/>
              </a:ext>
            </a:extLst>
          </p:cNvPr>
          <p:cNvSpPr>
            <a:spLocks noGrp="1"/>
          </p:cNvSpPr>
          <p:nvPr/>
        </p:nvSpPr>
        <p:spPr>
          <a:xfrm>
            <a:off x="381001" y="2895600"/>
            <a:ext cx="2667000" cy="1013098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 sz="2000">
                <a:latin typeface="Book Antiqua"/>
                <a:ea typeface="Book Antiqua"/>
                <a:cs typeface="Book Antiqua"/>
              </a:rPr>
              <a:t>SELECT     </a:t>
            </a:r>
            <a:r>
              <a:rPr>
                <a:latin typeface="Book Antiqua"/>
                <a:ea typeface="Book Antiqua"/>
                <a:cs typeface="Book Antiqua"/>
              </a:rPr>
              <a:t>*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FROM</a:t>
            </a:r>
            <a:r>
              <a:rPr>
                <a:latin typeface="Book Antiqua"/>
                <a:ea typeface="Book Antiqua"/>
                <a:cs typeface="Book Antiqua"/>
              </a:rPr>
              <a:t>	      Students S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WHERE</a:t>
            </a:r>
            <a:r>
              <a:rPr>
                <a:latin typeface="Book Antiqua"/>
                <a:ea typeface="Book Antiqua"/>
                <a:cs typeface="Book Antiqua"/>
              </a:rPr>
              <a:t>     S.age=18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DCB2D7C-9F27-40C5-9C09-C3BF434E6E91}"/>
              </a:ext>
            </a:extLst>
          </p:cNvPr>
          <p:cNvSpPr>
            <a:spLocks noGrp="1"/>
          </p:cNvSpPr>
          <p:nvPr/>
        </p:nvSpPr>
        <p:spPr>
          <a:xfrm>
            <a:off x="3048001" y="4581252"/>
            <a:ext cx="3592331" cy="1013098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none" lIns="90488" tIns="44450" rIns="90488" bIns="44450">
            <a:spAutoFit/>
          </a:bodyPr>
          <a:lstStyle/>
          <a:p>
            <a:r>
              <a:rPr sz="2000">
                <a:latin typeface="Book Antiqua"/>
                <a:ea typeface="Book Antiqua"/>
                <a:cs typeface="Book Antiqua"/>
              </a:rPr>
              <a:t>SELECT	</a:t>
            </a:r>
            <a:r>
              <a:rPr>
                <a:latin typeface="Book Antiqua"/>
                <a:ea typeface="Book Antiqua"/>
                <a:cs typeface="Book Antiqua"/>
              </a:rPr>
              <a:t>S.name, S.login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FROM</a:t>
            </a:r>
            <a:r>
              <a:rPr>
                <a:latin typeface="Book Antiqua"/>
                <a:ea typeface="Book Antiqua"/>
                <a:cs typeface="Book Antiqua"/>
              </a:rPr>
              <a:t>  	   	Students S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WHERE</a:t>
            </a:r>
            <a:r>
              <a:rPr>
                <a:latin typeface="Book Antiqua"/>
                <a:ea typeface="Book Antiqua"/>
                <a:cs typeface="Book Antiqua"/>
              </a:rPr>
              <a:t>   	S.age=18</a:t>
            </a:r>
          </a:p>
        </p:txBody>
      </p:sp>
      <p:sp>
        <p:nvSpPr>
          <p:cNvPr id="5" name="Striped Right Arrow 4">
            <a:extLst>
              <a:ext uri="{FF2B5EF4-FFF2-40B4-BE49-F238E27FC236}">
                <a16:creationId xmlns:a16="http://schemas.microsoft.com/office/drawing/2014/main" id="{750FF4F3-240E-44F5-BAF5-836F523A145A}"/>
              </a:ext>
            </a:extLst>
          </p:cNvPr>
          <p:cNvSpPr>
            <a:spLocks noGrp="1"/>
          </p:cNvSpPr>
          <p:nvPr/>
        </p:nvSpPr>
        <p:spPr>
          <a:xfrm>
            <a:off x="3200400" y="3002274"/>
            <a:ext cx="533400" cy="865051"/>
          </a:xfrm>
          <a:prstGeom prst="striped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63D854E7-54B2-E965-68EC-AB14B3AAABD9}"/>
              </a:ext>
            </a:extLst>
          </p:cNvPr>
          <p:cNvSpPr>
            <a:spLocks noGrp="1"/>
          </p:cNvSpPr>
          <p:nvPr/>
        </p:nvSpPr>
        <p:spPr>
          <a:xfrm>
            <a:off x="457200" y="5889625"/>
            <a:ext cx="8229600" cy="53340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000">
                <a:latin typeface="Arial Unicode MS"/>
                <a:ea typeface="Arial Unicode MS"/>
                <a:cs typeface="Arial Unicode MS"/>
              </a:rPr>
              <a:t>这些命令还有更强大的变化形式，后续课程将继续介绍。</a:t>
            </a:r>
            <a:endParaRPr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CBA34E-3B30-3E56-D600-5E3C175BEC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3549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0087D043-AA5A-4F8D-BBFA-0B9F93E59B54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筛选条件与 NULL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862BCED2-6093-4B15-A8BD-5B36FFA00955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72C7E056-ABEA-4F9B-A931-C4002248AB24}"/>
              </a:ext>
            </a:extLst>
          </p:cNvPr>
          <p:cNvSpPr>
            <a:spLocks noGrp="1"/>
          </p:cNvSpPr>
          <p:nvPr/>
        </p:nvSpPr>
        <p:spPr>
          <a:xfrm>
            <a:off x="723900" y="1314450"/>
            <a:ext cx="7696200" cy="270510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age &gt;= 18 AND gpa &gt; 3.00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major IN ('AI', 'Data Science')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name LIKE 'A%'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gpa BETWEEN 3.00 AND 4.00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gpa IS NULL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8B99A5-54E0-4659-9780-1AF5743D852A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7429500" cy="1485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AND 要求两个条件都为 TRUE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BETWEEN 包含两个端点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LIKE 用于模式匹配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IS NULL 明确检查缺失值</a:t>
            </a:r>
          </a:p>
        </p:txBody>
      </p:sp>
    </p:spTree>
    <p:extLst>
      <p:ext uri="{BB962C8B-B14F-4D97-AF65-F5344CB8AC3E}">
        <p14:creationId xmlns:p14="http://schemas.microsoft.com/office/powerpoint/2010/main" val="1058527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0DA35E75-1118-44F4-A67E-4465D197F48E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投影、别名、重复值与排序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EC38ED79-0846-471A-94E7-A0ECCE9100D2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5D6B13DD-4869-4ACC-A9A3-538D86907DD4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3638550" cy="171450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SELECT DISTINCT major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FROM Students</a:t>
            </a:r>
          </a:p>
          <a:p>
            <a:pPr>
              <a:buNone/>
              <a:def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42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ORDER BY major</a:t>
            </a:r>
          </a:p>
        </p:txBody>
      </p:sp>
      <p:sp>
        <p:nvSpPr>
          <p:cNvPr id="4" name="sql-code">
            <a:extLst>
              <a:ext uri="{FF2B5EF4-FFF2-40B4-BE49-F238E27FC236}">
                <a16:creationId xmlns:a16="http://schemas.microsoft.com/office/drawing/2014/main" id="{A92E14C5-9BED-41CC-993E-09BE62B372E8}"/>
              </a:ext>
            </a:extLst>
          </p:cNvPr>
          <p:cNvSpPr>
            <a:spLocks noGrp="1"/>
          </p:cNvSpPr>
          <p:nvPr/>
        </p:nvSpPr>
        <p:spPr>
          <a:xfrm>
            <a:off x="4895850" y="1352550"/>
            <a:ext cx="3638550" cy="171450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SELECT sid, age + 1 AS age_next_year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FROM Students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ORDER BY age_next_year DESC</a:t>
            </a:r>
          </a:p>
        </p:txBody>
      </p:sp>
      <p:sp>
        <p:nvSpPr>
          <p:cNvPr id="5" name="直线连接符 4">
            <a:extLst>
              <a:ext uri="{FF2B5EF4-FFF2-40B4-BE49-F238E27FC236}">
                <a16:creationId xmlns:a16="http://schemas.microsoft.com/office/drawing/2014/main" id="{A88E4F29-8E74-41BB-BDD4-8C2774D5A4F2}"/>
              </a:ext>
            </a:extLst>
          </p:cNvPr>
          <p:cNvSpPr>
            <a:spLocks noGrp="1"/>
          </p:cNvSpPr>
          <p:nvPr/>
        </p:nvSpPr>
        <p:spPr>
          <a:xfrm>
            <a:off x="4572000" y="3352800"/>
            <a:ext cx="0" cy="2171700"/>
          </a:xfrm>
          <a:prstGeom prst="line">
            <a:avLst/>
          </a:prstGeom>
          <a:noFill/>
          <a:ln w="1143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40440D-C3FB-4A7A-8D72-FB7EA1D66F41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结果列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E654B8-9F61-4870-8C4A-8338358C0D8D}"/>
              </a:ext>
            </a:extLst>
          </p:cNvPr>
          <p:cNvSpPr>
            <a:spLocks noGrp="1"/>
          </p:cNvSpPr>
          <p:nvPr/>
        </p:nvSpPr>
        <p:spPr>
          <a:xfrm>
            <a:off x="4857750" y="33147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C050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0504D"/>
                </a:solidFill>
                <a:latin typeface="Arial Unicode MS"/>
                <a:ea typeface="Arial Unicode MS"/>
                <a:cs typeface="Arial Unicode MS"/>
              </a:rPr>
              <a:t>显示顺序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7BEB02-5F85-4AC6-BAA0-E293BB71B215}"/>
              </a:ext>
            </a:extLst>
          </p:cNvPr>
          <p:cNvSpPr>
            <a:spLocks noGrp="1"/>
          </p:cNvSpPr>
          <p:nvPr/>
        </p:nvSpPr>
        <p:spPr>
          <a:xfrm>
            <a:off x="590550" y="3810000"/>
            <a:ext cx="3638550" cy="1733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SELECT 选择要返回的表达式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AS 提供易读的别名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DISTINCT 删除重复行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7B600C-693E-411E-9B39-890E415D2D64}"/>
              </a:ext>
            </a:extLst>
          </p:cNvPr>
          <p:cNvSpPr>
            <a:spLocks noGrp="1"/>
          </p:cNvSpPr>
          <p:nvPr/>
        </p:nvSpPr>
        <p:spPr>
          <a:xfrm>
            <a:off x="4895850" y="3810000"/>
            <a:ext cx="3638550" cy="1733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ORDER BY 对结果排序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DESC 指定降序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关系的含义不依赖行的顺序</a:t>
            </a:r>
          </a:p>
        </p:txBody>
      </p:sp>
    </p:spTree>
    <p:extLst>
      <p:ext uri="{BB962C8B-B14F-4D97-AF65-F5344CB8AC3E}">
        <p14:creationId xmlns:p14="http://schemas.microsoft.com/office/powerpoint/2010/main" val="336052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D5DBA392-1C52-4312-8ABF-CCA51F350785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内连接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7E4B32F4-5F4B-44C6-834F-7EAF4D5B426B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0610ECD1-619C-4043-9083-612C8C4DC957}"/>
              </a:ext>
            </a:extLst>
          </p:cNvPr>
          <p:cNvSpPr>
            <a:spLocks noGrp="1"/>
          </p:cNvSpPr>
          <p:nvPr/>
        </p:nvSpPr>
        <p:spPr>
          <a:xfrm>
            <a:off x="609600" y="1276350"/>
            <a:ext cx="7924800" cy="26860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SELECT s.name, c.title, e.grade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FROM Students AS s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JOIN Enrolled AS e ON e.sid = s.sid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JOIN Courses  AS c ON c.cid = e.cid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e.grade IS NOT NULL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076447-7AEF-4F87-83E6-89C0A0FBA7D2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7505700" cy="1562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每个 JOIN 条件说明行之间如何对应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别名可缩短带限定词的列名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内连接只返回能够匹配的行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WHERE 子句对连接后的行进行筛选</a:t>
            </a:r>
          </a:p>
        </p:txBody>
      </p:sp>
    </p:spTree>
    <p:extLst>
      <p:ext uri="{BB962C8B-B14F-4D97-AF65-F5344CB8AC3E}">
        <p14:creationId xmlns:p14="http://schemas.microsoft.com/office/powerpoint/2010/main" val="6250317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1926C136-A582-4238-A59A-AC392750B535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连接查询练习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EEAC38B0-B18D-47A5-97D8-D917D2048715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363C62-C9EC-4EBE-8D25-CD0C0F8D8242}"/>
              </a:ext>
            </a:extLst>
          </p:cNvPr>
          <p:cNvSpPr>
            <a:spLocks noGrp="1"/>
          </p:cNvSpPr>
          <p:nvPr/>
        </p:nvSpPr>
        <p:spPr>
          <a:xfrm>
            <a:off x="723900" y="1200150"/>
            <a:ext cx="152400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Autofit/>
          </a:bodyPr>
          <a:lstStyle/>
          <a:p>
            <a:pPr>
              <a:buNone/>
              <a:defRPr sz="1800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E73313-358F-4E80-BDB7-0ADEDA21E485}"/>
              </a:ext>
            </a:extLst>
          </p:cNvPr>
          <p:cNvSpPr>
            <a:spLocks noGrp="1"/>
          </p:cNvSpPr>
          <p:nvPr/>
        </p:nvSpPr>
        <p:spPr>
          <a:xfrm>
            <a:off x="723900" y="1657350"/>
            <a:ext cx="76962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75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列出每位学生的姓名，以及学分不少于 3 分的课程名称。</a:t>
            </a:r>
          </a:p>
        </p:txBody>
      </p:sp>
      <p:sp>
        <p:nvSpPr>
          <p:cNvPr id="5" name="sql-code">
            <a:extLst>
              <a:ext uri="{FF2B5EF4-FFF2-40B4-BE49-F238E27FC236}">
                <a16:creationId xmlns:a16="http://schemas.microsoft.com/office/drawing/2014/main" id="{67389519-E18F-4D60-8E47-B05E62C3D6AC}"/>
              </a:ext>
            </a:extLst>
          </p:cNvPr>
          <p:cNvSpPr>
            <a:spLocks noGrp="1"/>
          </p:cNvSpPr>
          <p:nvPr/>
        </p:nvSpPr>
        <p:spPr>
          <a:xfrm>
            <a:off x="819150" y="2743200"/>
            <a:ext cx="7505700" cy="23431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SELECT __________________________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FROM Students AS s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JOIN Enrolled AS e ON __________________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JOIN Courses  AS c ON __________________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WHERE __________________________</a:t>
            </a:r>
          </a:p>
        </p:txBody>
      </p:sp>
      <p:sp>
        <p:nvSpPr>
          <p:cNvPr id="6" name="callout">
            <a:extLst>
              <a:ext uri="{FF2B5EF4-FFF2-40B4-BE49-F238E27FC236}">
                <a16:creationId xmlns:a16="http://schemas.microsoft.com/office/drawing/2014/main" id="{62743C41-10B8-4831-8722-FC0A47B03A43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先独立编写，再与同伴比较：4 分钟</a:t>
            </a:r>
          </a:p>
        </p:txBody>
      </p:sp>
    </p:spTree>
    <p:extLst>
      <p:ext uri="{BB962C8B-B14F-4D97-AF65-F5344CB8AC3E}">
        <p14:creationId xmlns:p14="http://schemas.microsoft.com/office/powerpoint/2010/main" val="237381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F7B63D2C-2B49-4AB3-BBE7-09D5982562E6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聚合函数与 NULL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5F15C01C-55FA-4A44-8853-29568F5510A6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838200" y="1295400"/>
          <a:ext cx="7467600" cy="36957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9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表达式</a:t>
                      </a:r>
                    </a:p>
                  </a:txBody>
                  <a:tcPr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含义</a:t>
                      </a:r>
                    </a:p>
                  </a:txBody>
                  <a:tcPr anchor="ctr"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COUNT(*)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行数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COUNT(gpa)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GPA 不为 NULL 的行数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AVG(gpa)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非 NULL GPA 值的平均数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MIN(gpa), MAX(gpa)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非 NULL 值中的最小值与最大值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SUM(credits)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非 NULL 学分值之和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allout">
            <a:extLst>
              <a:ext uri="{FF2B5EF4-FFF2-40B4-BE49-F238E27FC236}">
                <a16:creationId xmlns:a16="http://schemas.microsoft.com/office/drawing/2014/main" id="{FCB6DEB0-85C5-4E0C-8056-F6D8EF5DB77D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9BBB59"/>
          </a:solidFill>
          <a:ln w="9525">
            <a:solidFill>
              <a:srgbClr val="9BBB59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COUNT(*) 与 COUNT(column) 可能返回不同的结果。</a:t>
            </a:r>
          </a:p>
        </p:txBody>
      </p:sp>
    </p:spTree>
    <p:extLst>
      <p:ext uri="{BB962C8B-B14F-4D97-AF65-F5344CB8AC3E}">
        <p14:creationId xmlns:p14="http://schemas.microsoft.com/office/powerpoint/2010/main" val="518766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277C6F9C-6AAB-47C0-A224-D0DA2BBFA8D3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GROUP BY 与 HAVING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BF42DA0-E90F-40EA-8315-D7329CF3DDF4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80B0AEC4-2EC0-406B-947B-0A9E5EEBB604}"/>
              </a:ext>
            </a:extLst>
          </p:cNvPr>
          <p:cNvSpPr>
            <a:spLocks noGrp="1"/>
          </p:cNvSpPr>
          <p:nvPr/>
        </p:nvSpPr>
        <p:spPr>
          <a:xfrm>
            <a:off x="647700" y="1257300"/>
            <a:ext cx="4686300" cy="342900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SELECT cid,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    COUNT(*) AS enrollment_count,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    AVG(grade_point) AS average_gp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FROM Enrolled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GROUP BY cid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HAVING COUNT(*) &gt;= 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2BA095-3D49-4627-8755-FB4EE76F2AB9}"/>
              </a:ext>
            </a:extLst>
          </p:cNvPr>
          <p:cNvSpPr>
            <a:spLocks noGrp="1"/>
          </p:cNvSpPr>
          <p:nvPr/>
        </p:nvSpPr>
        <p:spPr>
          <a:xfrm>
            <a:off x="5619750" y="1371600"/>
            <a:ext cx="3009900" cy="3086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GROUP BY 按 cid 形成分组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聚合查询为每个组返回一行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WHERE 在分组前筛选行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HAVING 在聚合后筛选组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A9500AED-2D38-4CFC-A9CD-0C88B46B42E5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SELECT 中的每个非聚合列都必须用于标识分组。</a:t>
            </a:r>
          </a:p>
        </p:txBody>
      </p:sp>
    </p:spTree>
    <p:extLst>
      <p:ext uri="{BB962C8B-B14F-4D97-AF65-F5344CB8AC3E}">
        <p14:creationId xmlns:p14="http://schemas.microsoft.com/office/powerpoint/2010/main" val="273335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153CAEDC-017D-4E2C-9484-F9D064C8A931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SQL 小练习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8E58079F-B78F-4B2C-94B0-2F59981F2E63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5C7D0B-6D3C-48AB-AE1F-716E54529B9F}"/>
              </a:ext>
            </a:extLst>
          </p:cNvPr>
          <p:cNvSpPr>
            <a:spLocks noGrp="1"/>
          </p:cNvSpPr>
          <p:nvPr/>
        </p:nvSpPr>
        <p:spPr>
          <a:xfrm>
            <a:off x="590550" y="1066800"/>
            <a:ext cx="79629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5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rPr>
              <a:t>使用 Students(sid, name, age, gpa)、Courses(cid, title, credits) 和 Enrolled(sid, cid, grade)。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F46553-658D-41C7-A3EE-B1188158D7DF}"/>
              </a:ext>
            </a:extLst>
          </p:cNvPr>
          <p:cNvSpPr>
            <a:spLocks noGrp="1"/>
          </p:cNvSpPr>
          <p:nvPr/>
        </p:nvSpPr>
        <p:spPr>
          <a:xfrm>
            <a:off x="781050" y="1905000"/>
            <a:ext cx="7581900" cy="2857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按字母顺序列出 21 岁以下学生的姓名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列出 INT6164 课程中学生的姓名和成绩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统计每门课程的选课人数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只保留选课人数不少于 2 的课程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C62725F8-23A8-40EF-84B8-040BDAE6C00C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独立完成：6 分钟</a:t>
            </a:r>
          </a:p>
        </p:txBody>
      </p:sp>
    </p:spTree>
    <p:extLst>
      <p:ext uri="{BB962C8B-B14F-4D97-AF65-F5344CB8AC3E}">
        <p14:creationId xmlns:p14="http://schemas.microsoft.com/office/powerpoint/2010/main" val="11081458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89D5805-B6CE-48B3-9BD5-8442A9D79496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SQL 小练习：参考答案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BCE4D927-069B-49E1-966D-5BEAF3622CBC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3" name="sql-code">
            <a:extLst>
              <a:ext uri="{FF2B5EF4-FFF2-40B4-BE49-F238E27FC236}">
                <a16:creationId xmlns:a16="http://schemas.microsoft.com/office/drawing/2014/main" id="{306FC347-7FD3-4F04-8AC8-006663B740D5}"/>
              </a:ext>
            </a:extLst>
          </p:cNvPr>
          <p:cNvSpPr>
            <a:spLocks noGrp="1"/>
          </p:cNvSpPr>
          <p:nvPr/>
        </p:nvSpPr>
        <p:spPr>
          <a:xfrm>
            <a:off x="495300" y="1181100"/>
            <a:ext cx="3924300" cy="39433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1  SELECT name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FROM Students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WHERE age &lt; 21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ORDER BY name</a:t>
            </a:r>
          </a:p>
          <a:p>
            <a:endParaRPr sz="1350">
              <a:solidFill>
                <a:srgbClr val="17365D"/>
              </a:solidFill>
              <a:latin typeface="Lucida Console"/>
              <a:ea typeface="Lucida Console"/>
              <a:cs typeface="Lucida Console"/>
            </a:endParaRP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2  SELECT s.name, e.grade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FROM Students AS s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JOIN Enrolled AS e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  ON e.sid = s.sid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WHERE e.cid = 'INT6164'</a:t>
            </a:r>
          </a:p>
        </p:txBody>
      </p:sp>
      <p:sp>
        <p:nvSpPr>
          <p:cNvPr id="4" name="sql-code">
            <a:extLst>
              <a:ext uri="{FF2B5EF4-FFF2-40B4-BE49-F238E27FC236}">
                <a16:creationId xmlns:a16="http://schemas.microsoft.com/office/drawing/2014/main" id="{B7507611-13CE-4C25-B1C3-8B5FA9511D33}"/>
              </a:ext>
            </a:extLst>
          </p:cNvPr>
          <p:cNvSpPr>
            <a:spLocks noGrp="1"/>
          </p:cNvSpPr>
          <p:nvPr/>
        </p:nvSpPr>
        <p:spPr>
          <a:xfrm>
            <a:off x="4724400" y="1181100"/>
            <a:ext cx="3924300" cy="39433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3  SELECT cid, COUNT(*) AS n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FROM Enrolled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GROUP BY cid</a:t>
            </a:r>
          </a:p>
          <a:p>
            <a:endParaRPr sz="1350">
              <a:solidFill>
                <a:srgbClr val="17365D"/>
              </a:solidFill>
              <a:latin typeface="Lucida Console"/>
              <a:ea typeface="Lucida Console"/>
              <a:cs typeface="Lucida Console"/>
            </a:endParaRP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4  SELECT cid, COUNT(*) AS n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FROM Enrolled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GROUP BY cid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HAVING COUNT(*) &gt;= 2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3944E845-3DE0-42A2-AE74-E5C2B9FB18C4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9BBB59"/>
          </a:solidFill>
          <a:ln w="9525">
            <a:solidFill>
              <a:srgbClr val="9BBB59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只要返回相同结果，等价的 SQL 写法也正确。</a:t>
            </a:r>
          </a:p>
        </p:txBody>
      </p:sp>
    </p:spTree>
    <p:extLst>
      <p:ext uri="{BB962C8B-B14F-4D97-AF65-F5344CB8AC3E}">
        <p14:creationId xmlns:p14="http://schemas.microsoft.com/office/powerpoint/2010/main" val="20871046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09FF9A8-189D-4654-8E90-F568F90DA310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AAD5E01-8CE1-48B7-A01B-87E8163F9637}"/>
              </a:ext>
            </a:extLst>
          </p:cNvPr>
          <p:cNvSpPr>
            <a:spLocks noGrp="1"/>
          </p:cNvSpPr>
          <p:nvPr/>
        </p:nvSpPr>
        <p:spPr>
          <a:xfrm>
            <a:off x="3124200" y="5943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36C5F8D6-072A-4BAB-A919-7FF303FE4546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删除与修改关系</a:t>
            </a:r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D6825039-27B4-423F-9837-C21DAD278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822" y="1371600"/>
            <a:ext cx="7772400" cy="9906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如何删除“Students”关系？ 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CBED3B8F-E2B1-4579-83B1-58BD8D05645A}"/>
              </a:ext>
            </a:extLst>
          </p:cNvPr>
          <p:cNvSpPr>
            <a:spLocks noGrp="1"/>
          </p:cNvSpPr>
          <p:nvPr/>
        </p:nvSpPr>
        <p:spPr>
          <a:xfrm>
            <a:off x="2895600" y="1995750"/>
            <a:ext cx="2819400" cy="674544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pPr algn="ctr">
              <a:buNone/>
            </a:pPr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DROP TABLE  </a:t>
            </a:r>
            <a:r>
              <a:rPr>
                <a:latin typeface="Book Antiqua"/>
                <a:ea typeface="Book Antiqua"/>
                <a:cs typeface="Book Antiqua"/>
              </a:rPr>
              <a:t>Students </a:t>
            </a:r>
          </a:p>
          <a:p>
            <a:pPr algn="ctr">
              <a:buNone/>
            </a:pPr>
            <a:r>
              <a:rPr>
                <a:latin typeface="Book Antiqua"/>
                <a:ea typeface="Book Antiqua"/>
                <a:cs typeface="Book Antiqua"/>
              </a:rPr>
              <a:t>	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F72A3946-DFB4-42E0-A065-8B65AE00B0A2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7772400" cy="17526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1512" name="Rectangle 8">
            <a:extLst>
              <a:ext uri="{FF2B5EF4-FFF2-40B4-BE49-F238E27FC236}">
                <a16:creationId xmlns:a16="http://schemas.microsoft.com/office/drawing/2014/main" id="{88CA65EE-FC20-4F9A-84E5-14648867F13D}"/>
              </a:ext>
            </a:extLst>
          </p:cNvPr>
          <p:cNvSpPr>
            <a:spLocks noGrp="1"/>
          </p:cNvSpPr>
          <p:nvPr/>
        </p:nvSpPr>
        <p:spPr>
          <a:xfrm>
            <a:off x="457200" y="3756277"/>
            <a:ext cx="7772400" cy="14478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如何修改“Students”的模式以添加新字段？</a:t>
            </a:r>
          </a:p>
        </p:txBody>
      </p:sp>
      <p:sp>
        <p:nvSpPr>
          <p:cNvPr id="21513" name="Rectangle 9">
            <a:extLst>
              <a:ext uri="{FF2B5EF4-FFF2-40B4-BE49-F238E27FC236}">
                <a16:creationId xmlns:a16="http://schemas.microsoft.com/office/drawing/2014/main" id="{9AF5120C-8BDD-41D6-8337-5B6293E32167}"/>
              </a:ext>
            </a:extLst>
          </p:cNvPr>
          <p:cNvSpPr>
            <a:spLocks noGrp="1"/>
          </p:cNvSpPr>
          <p:nvPr/>
        </p:nvSpPr>
        <p:spPr>
          <a:xfrm>
            <a:off x="1866900" y="4876800"/>
            <a:ext cx="5257800" cy="819150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none" lIns="90488" tIns="44450" rIns="90488" bIns="44450">
            <a:spAutoFit/>
          </a:bodyPr>
          <a:lstStyle/>
          <a:p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ALTER TABLE  </a:t>
            </a:r>
            <a:r>
              <a:rPr>
                <a:latin typeface="Book Antiqua"/>
                <a:ea typeface="Book Antiqua"/>
                <a:cs typeface="Book Antiqua"/>
              </a:rPr>
              <a:t>Students 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</a:t>
            </a:r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ADD COLUMN </a:t>
            </a:r>
            <a:r>
              <a:rPr>
                <a:latin typeface="Book Antiqua"/>
                <a:ea typeface="Book Antiqua"/>
                <a:cs typeface="Book Antiqua"/>
              </a:rPr>
              <a:t>firstYear: integer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D1CBBEB-280A-4DD6-9345-DEB75F0CC7B9}"/>
              </a:ext>
            </a:extLst>
          </p:cNvPr>
          <p:cNvSpPr>
            <a:spLocks noGrp="1"/>
          </p:cNvSpPr>
          <p:nvPr/>
        </p:nvSpPr>
        <p:spPr>
          <a:xfrm>
            <a:off x="861626" y="2894932"/>
            <a:ext cx="7620000" cy="595313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>
                <a:latin typeface="Arial Unicode MS"/>
                <a:ea typeface="Arial Unicode MS"/>
                <a:cs typeface="Arial Unicode MS"/>
              </a:rPr>
              <a:t> 模式信息和所有元组都会被删除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BA0FA39-4A13-4B66-8A86-716E85B26305}"/>
              </a:ext>
            </a:extLst>
          </p:cNvPr>
          <p:cNvSpPr>
            <a:spLocks noGrp="1"/>
          </p:cNvSpPr>
          <p:nvPr/>
        </p:nvSpPr>
        <p:spPr>
          <a:xfrm>
            <a:off x="861626" y="5821110"/>
            <a:ext cx="7620000" cy="819150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20000"/>
              </a:spcBef>
              <a:buClr>
                <a:schemeClr val="tx1"/>
              </a:buClr>
              <a:buSzPct val="75000"/>
              <a:buNone/>
            </a:pPr>
            <a:r>
              <a:rPr sz="2400">
                <a:latin typeface="Arial Unicode MS"/>
                <a:ea typeface="Arial Unicode MS"/>
                <a:cs typeface="Arial Unicode MS"/>
              </a:rPr>
              <a:t>当前实例中的每个元组都会新增该字段，其初始值为 NULL。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A0A360-E57F-0DE3-F3A4-6235293D48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96006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35105F9-E160-4CA0-B101-DC803C52996C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2FF0A2C-075A-4289-8402-EC9AE9EBC9B0}"/>
              </a:ext>
            </a:extLst>
          </p:cNvPr>
          <p:cNvSpPr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10069837-E5E1-4A02-90EA-648B7353A6B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完整性约束（IC）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1DD30D52-5BFA-4BBA-AE1F-DE3D13EAB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344512"/>
            <a:ext cx="8001000" cy="4800600"/>
          </a:xfrm>
          <a:prstGeom prst="rect">
            <a:avLst/>
          </a:prstGeom>
          <a:noFill/>
        </p:spPr>
        <p:txBody>
          <a:bodyPr>
            <a:normAutofit fontScale="93934"/>
          </a:bodyPr>
          <a:lstStyle/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完整性约束是数据库任何实例都必须满足的条件，例如域约束</a:t>
            </a:r>
          </a:p>
          <a:p>
            <a:pPr lvl="1"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定义模式时指定完整性约束</a:t>
            </a:r>
          </a:p>
          <a:p>
            <a:pPr lvl="1"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修改关系时检查完整性约束</a:t>
            </a:r>
          </a:p>
          <a:p>
            <a:pPr lvl="1">
              <a:buSzPct val="75000"/>
              <a:buFont typeface="Wingdings"/>
              <a:buChar char="§"/>
            </a:pPr>
            <a:endParaRPr/>
          </a:p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满足全部指定完整性约束的关系实例称为合法实例</a:t>
            </a:r>
          </a:p>
          <a:p>
            <a:pPr lvl="1"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DBMS 不应允许非法实例</a:t>
            </a:r>
          </a:p>
          <a:p>
            <a:pPr lvl="1">
              <a:buSzPct val="75000"/>
              <a:buFont typeface="Wingdings"/>
              <a:buChar char="§"/>
            </a:pPr>
            <a:endParaRPr/>
          </a:p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DBMS 执行完整性约束，可使存储的数据更符合现实世界的含义</a:t>
            </a:r>
          </a:p>
          <a:p>
            <a:pPr lvl="1"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完整性约束也能减少数据录入错误。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083DDD-F51F-17E9-3519-247A72FFFB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2376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0" name="Rectangle 3">
            <a:extLst>
              <a:ext uri="{FF2B5EF4-FFF2-40B4-BE49-F238E27FC236}">
                <a16:creationId xmlns:a16="http://schemas.microsoft.com/office/drawing/2014/main" id="{7DC0862F-870A-44A3-A5B0-1BE1F9ED6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143000"/>
            <a:ext cx="8458200" cy="4076700"/>
          </a:xfrm>
        </p:spPr>
        <p:txBody>
          <a:bodyPr/>
          <a:lstStyle/>
          <a:p>
            <a:pPr>
              <a:buFont typeface="Wingdings"/>
              <a:buChar char="§"/>
            </a:pPr>
            <a:r>
              <a:rPr sz="3200" b="0">
                <a:latin typeface="Arial Unicode MS"/>
                <a:ea typeface="Arial Unicode MS"/>
                <a:cs typeface="Arial Unicode MS"/>
              </a:rPr>
              <a:t>键有助于关联不同关系中的元组</a:t>
            </a:r>
          </a:p>
          <a:p>
            <a:pPr>
              <a:buFont typeface="Wingdings"/>
              <a:buChar char="§"/>
            </a:pPr>
            <a:endParaRPr sz="3200" b="0"/>
          </a:p>
          <a:p>
            <a:pPr>
              <a:buFont typeface="Wingdings"/>
              <a:buChar char="§"/>
            </a:pPr>
            <a:r>
              <a:rPr sz="3200" b="0">
                <a:latin typeface="Arial Unicode MS"/>
                <a:ea typeface="Arial Unicode MS"/>
                <a:cs typeface="Arial Unicode MS"/>
              </a:rPr>
              <a:t>键是完整性约束（IC）的一种</a:t>
            </a:r>
          </a:p>
          <a:p>
            <a:pPr>
              <a:buFont typeface="Wingdings"/>
              <a:buChar char="§"/>
            </a:pPr>
            <a:endParaRPr sz="3200" b="0"/>
          </a:p>
        </p:txBody>
      </p:sp>
      <p:sp>
        <p:nvSpPr>
          <p:cNvPr id="36871" name="Line 6">
            <a:extLst>
              <a:ext uri="{FF2B5EF4-FFF2-40B4-BE49-F238E27FC236}">
                <a16:creationId xmlns:a16="http://schemas.microsoft.com/office/drawing/2014/main" id="{5FA028EF-C86B-45A6-93B7-41F935D8C572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928688" cy="207963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6872" name="Line 7">
            <a:extLst>
              <a:ext uri="{FF2B5EF4-FFF2-40B4-BE49-F238E27FC236}">
                <a16:creationId xmlns:a16="http://schemas.microsoft.com/office/drawing/2014/main" id="{0E5D0B5E-D5D6-44E1-94BD-2770E1C85489}"/>
              </a:ext>
            </a:extLst>
          </p:cNvPr>
          <p:cNvSpPr>
            <a:spLocks noGrp="1"/>
          </p:cNvSpPr>
          <p:nvPr/>
        </p:nvSpPr>
        <p:spPr>
          <a:xfrm>
            <a:off x="3632200" y="4648200"/>
            <a:ext cx="1066800" cy="0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6873" name="Line 8">
            <a:extLst>
              <a:ext uri="{FF2B5EF4-FFF2-40B4-BE49-F238E27FC236}">
                <a16:creationId xmlns:a16="http://schemas.microsoft.com/office/drawing/2014/main" id="{006A15EB-A5B5-4360-AF9D-32D4C09A8CB1}"/>
              </a:ext>
            </a:extLst>
          </p:cNvPr>
          <p:cNvSpPr>
            <a:spLocks noGrp="1"/>
          </p:cNvSpPr>
          <p:nvPr/>
        </p:nvSpPr>
        <p:spPr>
          <a:xfrm flipV="1">
            <a:off x="3657600" y="4648200"/>
            <a:ext cx="990600" cy="685800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F1FFBA0F-3610-4FCD-9D9A-D372565C4702}"/>
              </a:ext>
            </a:extLst>
          </p:cNvPr>
          <p:cNvSpPr>
            <a:spLocks noGrp="1"/>
          </p:cNvSpPr>
          <p:nvPr/>
        </p:nvSpPr>
        <p:spPr>
          <a:xfrm>
            <a:off x="3657600" y="5029200"/>
            <a:ext cx="1004888" cy="284163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6875" name="Rectangle 10">
            <a:extLst>
              <a:ext uri="{FF2B5EF4-FFF2-40B4-BE49-F238E27FC236}">
                <a16:creationId xmlns:a16="http://schemas.microsoft.com/office/drawing/2014/main" id="{C79525F5-DD7F-4D32-81BE-488BB7A20AB6}"/>
              </a:ext>
            </a:extLst>
          </p:cNvPr>
          <p:cNvSpPr>
            <a:spLocks noGrp="1"/>
          </p:cNvSpPr>
          <p:nvPr/>
        </p:nvSpPr>
        <p:spPr>
          <a:xfrm>
            <a:off x="3733800" y="3389832"/>
            <a:ext cx="1219757" cy="462307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r>
              <a:rPr sz="2400">
                <a:solidFill>
                  <a:srgbClr val="002060"/>
                </a:solidFill>
              </a:rPr>
              <a:t>Enrolled</a:t>
            </a:r>
          </a:p>
        </p:txBody>
      </p:sp>
      <p:sp>
        <p:nvSpPr>
          <p:cNvPr id="36876" name="Rectangle 11">
            <a:extLst>
              <a:ext uri="{FF2B5EF4-FFF2-40B4-BE49-F238E27FC236}">
                <a16:creationId xmlns:a16="http://schemas.microsoft.com/office/drawing/2014/main" id="{7675BB63-06C4-4B5F-8447-6A34676E9546}"/>
              </a:ext>
            </a:extLst>
          </p:cNvPr>
          <p:cNvSpPr>
            <a:spLocks noGrp="1"/>
          </p:cNvSpPr>
          <p:nvPr/>
        </p:nvSpPr>
        <p:spPr>
          <a:xfrm>
            <a:off x="6248400" y="3581400"/>
            <a:ext cx="1289135" cy="462307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r>
              <a:rPr sz="2400">
                <a:solidFill>
                  <a:srgbClr val="002060"/>
                </a:solidFill>
              </a:rPr>
              <a:t>Students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FA79D-E50D-459F-98B6-F17EF4A00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键</a:t>
            </a:r>
          </a:p>
        </p:txBody>
      </p:sp>
      <p:sp>
        <p:nvSpPr>
          <p:cNvPr id="3" name="Oval 12">
            <a:extLst>
              <a:ext uri="{FF2B5EF4-FFF2-40B4-BE49-F238E27FC236}">
                <a16:creationId xmlns:a16="http://schemas.microsoft.com/office/drawing/2014/main" id="{7DC614E4-87CD-C696-EB7C-CC38CC2F8FA9}"/>
              </a:ext>
            </a:extLst>
          </p:cNvPr>
          <p:cNvSpPr>
            <a:spLocks noGrp="1"/>
          </p:cNvSpPr>
          <p:nvPr/>
        </p:nvSpPr>
        <p:spPr>
          <a:xfrm>
            <a:off x="4648200" y="3810000"/>
            <a:ext cx="838200" cy="2286000"/>
          </a:xfrm>
          <a:prstGeom prst="ellipse">
            <a:avLst/>
          </a:prstGeom>
          <a:noFill/>
          <a:ln w="25400">
            <a:solidFill>
              <a:schemeClr val="folHlink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" name="Oval 13">
            <a:extLst>
              <a:ext uri="{FF2B5EF4-FFF2-40B4-BE49-F238E27FC236}">
                <a16:creationId xmlns:a16="http://schemas.microsoft.com/office/drawing/2014/main" id="{4C7281C2-3E15-BE7B-028E-90DBBB4C84FF}"/>
              </a:ext>
            </a:extLst>
          </p:cNvPr>
          <p:cNvSpPr>
            <a:spLocks noGrp="1"/>
          </p:cNvSpPr>
          <p:nvPr/>
        </p:nvSpPr>
        <p:spPr>
          <a:xfrm>
            <a:off x="2857500" y="3620985"/>
            <a:ext cx="838200" cy="2286000"/>
          </a:xfrm>
          <a:prstGeom prst="ellipse">
            <a:avLst/>
          </a:prstGeom>
          <a:noFill/>
          <a:ln w="25400">
            <a:solidFill>
              <a:schemeClr val="folHlink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C0EB3043-F3D9-3CF6-F4E9-2CB71B3F36B1}"/>
              </a:ext>
            </a:extLst>
          </p:cNvPr>
          <p:cNvSpPr>
            <a:spLocks noGrp="1"/>
          </p:cNvSpPr>
          <p:nvPr/>
        </p:nvSpPr>
        <p:spPr>
          <a:xfrm>
            <a:off x="5410200" y="5729287"/>
            <a:ext cx="2673350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1pPr>
            <a:lvl2pPr marL="37931725" indent="-37474525"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2pPr>
            <a:lvl3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3pPr>
            <a:lvl4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4pPr>
            <a:lvl5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5pPr>
            <a:lvl6pPr marL="4572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6pPr>
            <a:lvl7pPr marL="9144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7pPr>
            <a:lvl8pPr marL="1371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8pPr>
            <a:lvl9pPr marL="18288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9pPr>
          </a:lstStyle>
          <a:p>
            <a:r>
              <a:rPr sz="2800" b="1">
                <a:latin typeface="Arial Unicode MS"/>
                <a:ea typeface="Arial Unicode MS"/>
                <a:cs typeface="Arial Unicode MS"/>
              </a:rPr>
              <a:t>主键</a:t>
            </a:r>
          </a:p>
        </p:txBody>
      </p:sp>
      <p:sp>
        <p:nvSpPr>
          <p:cNvPr id="6" name="Text Box 15">
            <a:extLst>
              <a:ext uri="{FF2B5EF4-FFF2-40B4-BE49-F238E27FC236}">
                <a16:creationId xmlns:a16="http://schemas.microsoft.com/office/drawing/2014/main" id="{6A4E6C81-8F1D-B1AB-FFF6-2FF2A229486B}"/>
              </a:ext>
            </a:extLst>
          </p:cNvPr>
          <p:cNvSpPr>
            <a:spLocks noGrp="1"/>
          </p:cNvSpPr>
          <p:nvPr/>
        </p:nvSpPr>
        <p:spPr>
          <a:xfrm>
            <a:off x="3495675" y="5729287"/>
            <a:ext cx="2620963" cy="5191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1pPr>
            <a:lvl2pPr marL="37931725" indent="-37474525"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2pPr>
            <a:lvl3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3pPr>
            <a:lvl4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4pPr>
            <a:lvl5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5pPr>
            <a:lvl6pPr marL="4572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6pPr>
            <a:lvl7pPr marL="9144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7pPr>
            <a:lvl8pPr marL="1371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8pPr>
            <a:lvl9pPr marL="18288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9pPr>
          </a:lstStyle>
          <a:p>
            <a:r>
              <a:rPr sz="2800" b="1">
                <a:latin typeface="Arial Unicode MS"/>
                <a:ea typeface="Arial Unicode MS"/>
                <a:cs typeface="Arial Unicode MS"/>
              </a:rPr>
              <a:t>外键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3CC15-C933-F8DC-8B5D-FA19FC942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5720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A418E113-02FC-405A-AC54-F618B30175AE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9817A661-96C1-48EC-99C9-D3F2AC059D2B}"/>
              </a:ext>
            </a:extLst>
          </p:cNvPr>
          <p:cNvSpPr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9104DC44-3161-4917-BC6A-C6A3882D6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990600"/>
            <a:ext cx="8610600" cy="5562600"/>
          </a:xfrm>
          <a:prstGeom prst="rect">
            <a:avLst/>
          </a:prstGeom>
          <a:noFill/>
        </p:spPr>
        <p:txBody>
          <a:bodyPr>
            <a:normAutofit fontScale="95061"/>
          </a:bodyPr>
          <a:lstStyle/>
          <a:p>
            <a:pPr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一组字段满足以下条件时称为超键</a:t>
            </a:r>
            <a:r>
              <a:rPr dirty="0">
                <a:latin typeface="Arial Unicode MS"/>
                <a:ea typeface="Arial Unicode MS"/>
                <a:cs typeface="Arial Unicode MS"/>
              </a:rPr>
              <a:t>：</a:t>
            </a:r>
          </a:p>
          <a:p>
            <a:pPr lvl="1"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任意两个不同元组在全部键字段上的取值不能完全相同</a:t>
            </a:r>
            <a:endParaRPr dirty="0">
              <a:latin typeface="Arial Unicode MS"/>
              <a:ea typeface="Arial Unicode MS"/>
              <a:cs typeface="Arial Unicode MS"/>
            </a:endParaRPr>
          </a:p>
          <a:p>
            <a:pPr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一组字段满足以下条件时可作为关系的主键</a:t>
            </a:r>
            <a:r>
              <a:rPr dirty="0">
                <a:latin typeface="Arial Unicode MS"/>
                <a:ea typeface="Arial Unicode MS"/>
                <a:cs typeface="Arial Unicode MS"/>
              </a:rPr>
              <a:t>：</a:t>
            </a:r>
          </a:p>
          <a:p>
            <a:pPr lvl="1"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它是最小超键</a:t>
            </a:r>
            <a:endParaRPr dirty="0"/>
          </a:p>
          <a:p>
            <a:pPr lvl="1">
              <a:buNone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它能够唯一标识关系中的元组</a:t>
            </a:r>
            <a:endParaRPr dirty="0">
              <a:latin typeface="Arial Unicode MS"/>
              <a:ea typeface="Arial Unicode MS"/>
              <a:cs typeface="Arial Unicode MS"/>
            </a:endParaRPr>
          </a:p>
          <a:p>
            <a:pPr>
              <a:buSzPct val="100000"/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如果一个关系有多个键，应如何处理</a:t>
            </a:r>
            <a:r>
              <a:rPr dirty="0">
                <a:latin typeface="Arial Unicode MS"/>
                <a:ea typeface="Arial Unicode MS"/>
                <a:cs typeface="Arial Unicode MS"/>
              </a:rPr>
              <a:t>？</a:t>
            </a:r>
          </a:p>
          <a:p>
            <a:pPr lvl="1">
              <a:buSzPct val="100000"/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由</a:t>
            </a:r>
            <a:r>
              <a:rPr dirty="0">
                <a:latin typeface="Arial Unicode MS"/>
                <a:ea typeface="Arial Unicode MS"/>
                <a:cs typeface="Arial Unicode MS"/>
              </a:rPr>
              <a:t> DBA </a:t>
            </a:r>
            <a:r>
              <a:rPr dirty="0" err="1">
                <a:latin typeface="Arial Unicode MS"/>
                <a:ea typeface="Arial Unicode MS"/>
                <a:cs typeface="Arial Unicode MS"/>
              </a:rPr>
              <a:t>从中选择一个作为主键</a:t>
            </a:r>
            <a:endParaRPr dirty="0">
              <a:latin typeface="Arial Unicode MS"/>
              <a:ea typeface="Arial Unicode MS"/>
              <a:cs typeface="Arial Unicode MS"/>
            </a:endParaRPr>
          </a:p>
          <a:p>
            <a:pPr lvl="1"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其余的键称为候选键</a:t>
            </a:r>
            <a:endParaRPr dirty="0"/>
          </a:p>
          <a:p>
            <a:pPr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示例</a:t>
            </a:r>
            <a:r>
              <a:rPr dirty="0">
                <a:latin typeface="Arial Unicode MS"/>
                <a:ea typeface="Arial Unicode MS"/>
                <a:cs typeface="Arial Unicode MS"/>
              </a:rPr>
              <a:t>：</a:t>
            </a:r>
          </a:p>
          <a:p>
            <a:pPr lvl="1">
              <a:buFont typeface="Wingdings"/>
              <a:buChar char="§"/>
            </a:pPr>
            <a:r>
              <a:rPr i="1" dirty="0" err="1">
                <a:latin typeface="Arial Unicode MS"/>
                <a:ea typeface="Arial Unicode MS"/>
                <a:cs typeface="Arial Unicode MS"/>
              </a:rPr>
              <a:t>sid</a:t>
            </a:r>
            <a:r>
              <a:rPr i="1" dirty="0">
                <a:latin typeface="Arial Unicode MS"/>
                <a:ea typeface="Arial Unicode MS"/>
                <a:cs typeface="Arial Unicode MS"/>
              </a:rPr>
              <a:t> </a:t>
            </a:r>
            <a:r>
              <a:rPr dirty="0" err="1">
                <a:latin typeface="Arial Unicode MS"/>
                <a:ea typeface="Arial Unicode MS"/>
                <a:cs typeface="Arial Unicode MS"/>
              </a:rPr>
              <a:t>是</a:t>
            </a:r>
            <a:r>
              <a:rPr dirty="0">
                <a:latin typeface="Arial Unicode MS"/>
                <a:ea typeface="Arial Unicode MS"/>
                <a:cs typeface="Arial Unicode MS"/>
              </a:rPr>
              <a:t> Students </a:t>
            </a:r>
            <a:r>
              <a:rPr dirty="0" err="1">
                <a:latin typeface="Arial Unicode MS"/>
                <a:ea typeface="Arial Unicode MS"/>
                <a:cs typeface="Arial Unicode MS"/>
              </a:rPr>
              <a:t>的键，那么</a:t>
            </a:r>
            <a:r>
              <a:rPr dirty="0">
                <a:latin typeface="Arial Unicode MS"/>
                <a:ea typeface="Arial Unicode MS"/>
                <a:cs typeface="Arial Unicode MS"/>
              </a:rPr>
              <a:t> </a:t>
            </a:r>
            <a:r>
              <a:rPr i="1" dirty="0">
                <a:latin typeface="Arial Unicode MS"/>
                <a:ea typeface="Arial Unicode MS"/>
                <a:cs typeface="Arial Unicode MS"/>
              </a:rPr>
              <a:t>name</a:t>
            </a:r>
            <a:r>
              <a:rPr dirty="0">
                <a:latin typeface="Arial Unicode MS"/>
                <a:ea typeface="Arial Unicode MS"/>
                <a:cs typeface="Arial Unicode MS"/>
              </a:rPr>
              <a:t>?</a:t>
            </a:r>
          </a:p>
          <a:p>
            <a:pPr lvl="1"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集合</a:t>
            </a:r>
            <a:r>
              <a:rPr dirty="0">
                <a:latin typeface="Arial Unicode MS"/>
                <a:ea typeface="Arial Unicode MS"/>
                <a:cs typeface="Arial Unicode MS"/>
              </a:rPr>
              <a:t> {</a:t>
            </a:r>
            <a:r>
              <a:rPr i="1" dirty="0" err="1">
                <a:latin typeface="Arial Unicode MS"/>
                <a:ea typeface="Arial Unicode MS"/>
                <a:cs typeface="Arial Unicode MS"/>
              </a:rPr>
              <a:t>sid</a:t>
            </a:r>
            <a:r>
              <a:rPr i="1" dirty="0">
                <a:latin typeface="Arial Unicode MS"/>
                <a:ea typeface="Arial Unicode MS"/>
                <a:cs typeface="Arial Unicode MS"/>
              </a:rPr>
              <a:t>, name</a:t>
            </a:r>
            <a:r>
              <a:rPr dirty="0">
                <a:latin typeface="Arial Unicode MS"/>
                <a:ea typeface="Arial Unicode MS"/>
                <a:cs typeface="Arial Unicode MS"/>
              </a:rPr>
              <a:t>} </a:t>
            </a:r>
            <a:r>
              <a:rPr dirty="0" err="1">
                <a:latin typeface="Arial Unicode MS"/>
                <a:ea typeface="Arial Unicode MS"/>
                <a:cs typeface="Arial Unicode MS"/>
              </a:rPr>
              <a:t>是超键，也就是包含某个键的一组字段</a:t>
            </a:r>
            <a:endParaRPr dirty="0">
              <a:latin typeface="Arial Unicode MS"/>
              <a:ea typeface="Arial Unicode MS"/>
              <a:cs typeface="Arial Unicode MS"/>
            </a:endParaRPr>
          </a:p>
          <a:p>
            <a:pPr lvl="1">
              <a:buNone/>
            </a:pPr>
            <a:endParaRPr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6774356-7D9D-464D-A0C8-EFEEA48F37E5}"/>
              </a:ext>
            </a:extLst>
          </p:cNvPr>
          <p:cNvSpPr>
            <a:spLocks noGrp="1"/>
          </p:cNvSpPr>
          <p:nvPr/>
        </p:nvSpPr>
        <p:spPr>
          <a:xfrm>
            <a:off x="457200" y="152400"/>
            <a:ext cx="8229600" cy="83820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sz="4000">
                <a:latin typeface="Arial Unicode MS"/>
                <a:ea typeface="Arial Unicode MS"/>
                <a:cs typeface="Arial Unicode MS"/>
              </a:rPr>
              <a:t>超键、主键与候选键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53260C-1E21-85FF-CC44-44E72A827A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73757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A84CE388-3FB7-4CB5-B2F0-70ECEC00EC74}"/>
              </a:ext>
            </a:extLst>
          </p:cNvPr>
          <p:cNvSpPr>
            <a:spLocks noGrp="1"/>
          </p:cNvSpPr>
          <p:nvPr/>
        </p:nvSpPr>
        <p:spPr>
          <a:xfrm>
            <a:off x="685800" y="510222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499F2FBE-E084-47ED-B6BA-03B05F9F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3501"/>
            <a:ext cx="7772400" cy="1143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SQL 中的主键与候选键</a:t>
            </a:r>
          </a:p>
        </p:txBody>
      </p:sp>
      <p:sp>
        <p:nvSpPr>
          <p:cNvPr id="43014" name="Rectangle 5">
            <a:extLst>
              <a:ext uri="{FF2B5EF4-FFF2-40B4-BE49-F238E27FC236}">
                <a16:creationId xmlns:a16="http://schemas.microsoft.com/office/drawing/2014/main" id="{B36C3B53-A859-496A-B876-B7C731FD6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295400"/>
            <a:ext cx="8763000" cy="44196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可以使用 UNIQUE 指定多个候选键，再从中选择一个作为主键</a:t>
            </a:r>
          </a:p>
          <a:p>
            <a:pPr>
              <a:buFont typeface="Wingdings"/>
              <a:buChar char="§"/>
            </a:pPr>
            <a:endParaRPr sz="2400"/>
          </a:p>
          <a:p>
            <a:pPr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必须谨慎定义键。</a:t>
            </a:r>
          </a:p>
          <a:p>
            <a:pPr>
              <a:buClr>
                <a:schemeClr val="tx1"/>
              </a:buClr>
              <a:buSzPct val="75000"/>
              <a:buFont typeface="Wingdings"/>
              <a:buChar char="§"/>
            </a:pPr>
            <a:endParaRPr sz="2400"/>
          </a:p>
          <a:p>
            <a:pPr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“对于同一名学生和同一门课程，只有一个成绩”</a:t>
            </a:r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79684325-3934-4938-925D-58BDEDB5A6B0}"/>
              </a:ext>
            </a:extLst>
          </p:cNvPr>
          <p:cNvSpPr>
            <a:spLocks noGrp="1"/>
          </p:cNvSpPr>
          <p:nvPr/>
        </p:nvSpPr>
        <p:spPr>
          <a:xfrm>
            <a:off x="76200" y="2133600"/>
            <a:ext cx="9067800" cy="32766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Tx/>
              <a:buChar char="•"/>
            </a:pPr>
            <a:endParaRPr sz="2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None/>
            </a:pPr>
            <a:r>
              <a:rPr sz="240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   </a:t>
            </a:r>
            <a:r>
              <a:rPr sz="320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 </a:t>
            </a:r>
            <a:endParaRPr sz="2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FBB4E397-44E8-460F-803A-32342BCFC29F}"/>
              </a:ext>
            </a:extLst>
          </p:cNvPr>
          <p:cNvSpPr>
            <a:spLocks noGrp="1"/>
          </p:cNvSpPr>
          <p:nvPr/>
        </p:nvSpPr>
        <p:spPr>
          <a:xfrm>
            <a:off x="174625" y="4002088"/>
            <a:ext cx="4092575" cy="1631951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2075" tIns="46038" rIns="92075" bIns="46038">
            <a:spAutoFit/>
          </a:bodyPr>
          <a:lstStyle/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Enrolled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(sid CHAR(20)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cid  CHAR(20),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grade CHAR(2),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</a:t>
            </a:r>
            <a:r>
              <a:rPr sz="200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PRIMARY KEY </a:t>
            </a:r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(sid,cid))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71014414-5B96-48D7-8D30-580A61258B88}"/>
              </a:ext>
            </a:extLst>
          </p:cNvPr>
          <p:cNvSpPr>
            <a:spLocks noGrp="1"/>
          </p:cNvSpPr>
          <p:nvPr/>
        </p:nvSpPr>
        <p:spPr>
          <a:xfrm>
            <a:off x="4724400" y="3886200"/>
            <a:ext cx="4244975" cy="1939926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2075" tIns="46038" rIns="92075" bIns="46038">
            <a:spAutoFit/>
          </a:bodyPr>
          <a:lstStyle/>
          <a:p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Enrolled</a:t>
            </a:r>
          </a:p>
          <a:p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(</a:t>
            </a:r>
            <a:r>
              <a:rPr sz="20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sid</a:t>
            </a:r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CHAR(20)</a:t>
            </a:r>
          </a:p>
          <a:p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</a:t>
            </a:r>
            <a:r>
              <a:rPr sz="20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cid</a:t>
            </a:r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CHAR(20),</a:t>
            </a:r>
          </a:p>
          <a:p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grade CHAR(2),</a:t>
            </a:r>
          </a:p>
          <a:p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</a:t>
            </a:r>
            <a:r>
              <a:rPr sz="2000" dirty="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PRIMARY KEY  </a:t>
            </a:r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(</a:t>
            </a:r>
            <a:r>
              <a:rPr sz="20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sid</a:t>
            </a:r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),</a:t>
            </a:r>
          </a:p>
          <a:p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</a:t>
            </a:r>
            <a:r>
              <a:rPr sz="2000" dirty="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UNIQUE</a:t>
            </a:r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(</a:t>
            </a:r>
            <a:r>
              <a:rPr sz="20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cid</a:t>
            </a:r>
            <a:r>
              <a:rPr sz="20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, grade))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9DE2FFF0-F8E7-4C2A-B041-995898A82AB0}"/>
              </a:ext>
            </a:extLst>
          </p:cNvPr>
          <p:cNvSpPr>
            <a:spLocks noGrp="1"/>
          </p:cNvSpPr>
          <p:nvPr/>
        </p:nvSpPr>
        <p:spPr>
          <a:xfrm>
            <a:off x="4114800" y="4586288"/>
            <a:ext cx="762000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1pPr>
            <a:lvl2pPr marL="37931725" indent="-37474525"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2pPr>
            <a:lvl3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3pPr>
            <a:lvl4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4pPr>
            <a:lvl5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5pPr>
            <a:lvl6pPr marL="4572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6pPr>
            <a:lvl7pPr marL="9144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7pPr>
            <a:lvl8pPr marL="1371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8pPr>
            <a:lvl9pPr marL="18288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9pPr>
          </a:lstStyle>
          <a:p>
            <a:r>
              <a:rPr sz="24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 对比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12C8F9-B4CF-6E2D-1971-53F8155F3B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45</a:t>
            </a:fld>
            <a:endParaRPr/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6CF1AADC-0564-D669-8E83-4BF75E0469DA}"/>
              </a:ext>
            </a:extLst>
          </p:cNvPr>
          <p:cNvSpPr>
            <a:spLocks noGrp="1"/>
          </p:cNvSpPr>
          <p:nvPr/>
        </p:nvSpPr>
        <p:spPr>
          <a:xfrm>
            <a:off x="5105400" y="5829505"/>
            <a:ext cx="3657600" cy="4616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1pPr>
            <a:lvl2pPr marL="37931725" indent="-37474525"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2pPr>
            <a:lvl3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3pPr>
            <a:lvl4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4pPr>
            <a:lvl5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5pPr>
            <a:lvl6pPr marL="4572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6pPr>
            <a:lvl7pPr marL="9144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7pPr>
            <a:lvl8pPr marL="1371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8pPr>
            <a:lvl9pPr marL="18288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9pPr>
          </a:lstStyle>
          <a:p>
            <a:r>
              <a:rPr sz="2400">
                <a:solidFill>
                  <a:schemeClr val="tx1"/>
                </a:solidFill>
                <a:latin typeface="Arial Unicode MS"/>
                <a:ea typeface="Arial Unicode MS"/>
                <a:cs typeface="Arial Unicode MS"/>
              </a:rPr>
              <a:t>Q:</a:t>
            </a:r>
            <a:r>
              <a:rPr sz="2400">
                <a:solidFill>
                  <a:schemeClr val="accent2"/>
                </a:solidFill>
                <a:latin typeface="Arial Unicode MS"/>
                <a:ea typeface="Arial Unicode MS"/>
                <a:cs typeface="Arial Unicode MS"/>
              </a:rPr>
              <a:t> </a:t>
            </a:r>
            <a:r>
              <a:rPr sz="2400">
                <a:solidFill>
                  <a:schemeClr val="tx1"/>
                </a:solidFill>
                <a:latin typeface="Arial Unicode MS"/>
                <a:ea typeface="Arial Unicode MS"/>
                <a:cs typeface="Arial Unicode MS"/>
              </a:rPr>
              <a:t>这表示什么？</a:t>
            </a:r>
          </a:p>
        </p:txBody>
      </p:sp>
    </p:spTree>
    <p:extLst>
      <p:ext uri="{BB962C8B-B14F-4D97-AF65-F5344CB8AC3E}">
        <p14:creationId xmlns:p14="http://schemas.microsoft.com/office/powerpoint/2010/main" val="35244102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2D64DE91-6DFA-47B6-BFF5-CF9370E6FBB1}"/>
              </a:ext>
            </a:extLst>
          </p:cNvPr>
          <p:cNvSpPr>
            <a:spLocks noGrp="1"/>
          </p:cNvSpPr>
          <p:nvPr/>
        </p:nvSpPr>
        <p:spPr>
          <a:xfrm>
            <a:off x="685800" y="510222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3013" name="Rectangle 4">
            <a:extLst>
              <a:ext uri="{FF2B5EF4-FFF2-40B4-BE49-F238E27FC236}">
                <a16:creationId xmlns:a16="http://schemas.microsoft.com/office/drawing/2014/main" id="{13782144-E425-4286-8FD6-C9DFDA1E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" y="23501"/>
            <a:ext cx="7772400" cy="1143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SQL 中的主键与候选键</a:t>
            </a:r>
          </a:p>
        </p:txBody>
      </p:sp>
      <p:sp>
        <p:nvSpPr>
          <p:cNvPr id="43014" name="Rectangle 5">
            <a:extLst>
              <a:ext uri="{FF2B5EF4-FFF2-40B4-BE49-F238E27FC236}">
                <a16:creationId xmlns:a16="http://schemas.microsoft.com/office/drawing/2014/main" id="{90EC41AD-E4F8-4E4B-A3A0-EB563FB9B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295400"/>
            <a:ext cx="8763000" cy="44196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可以使用 UNIQUE 指定多个候选键，再从中选择一个作为主键</a:t>
            </a:r>
          </a:p>
          <a:p>
            <a:pPr>
              <a:buFont typeface="Wingdings"/>
              <a:buChar char="§"/>
            </a:pPr>
            <a:endParaRPr sz="2400"/>
          </a:p>
          <a:p>
            <a:pPr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必须谨慎定义键。</a:t>
            </a:r>
          </a:p>
          <a:p>
            <a:pPr>
              <a:buClr>
                <a:schemeClr val="tx1"/>
              </a:buClr>
              <a:buSzPct val="75000"/>
              <a:buFont typeface="Wingdings"/>
              <a:buChar char="§"/>
            </a:pPr>
            <a:endParaRPr sz="2400"/>
          </a:p>
          <a:p>
            <a:pPr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“对于同一名学生和同一门课程，只有一个成绩”</a:t>
            </a:r>
          </a:p>
        </p:txBody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0A5FE581-BB8B-4A1F-BE1F-00AF02DABEA3}"/>
              </a:ext>
            </a:extLst>
          </p:cNvPr>
          <p:cNvSpPr>
            <a:spLocks noGrp="1"/>
          </p:cNvSpPr>
          <p:nvPr/>
        </p:nvSpPr>
        <p:spPr>
          <a:xfrm>
            <a:off x="76200" y="2133600"/>
            <a:ext cx="9067800" cy="3276600"/>
          </a:xfrm>
          <a:prstGeom prst="rect">
            <a:avLst/>
          </a:prstGeom>
          <a:noFill/>
          <a:ln>
            <a:noFill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FontTx/>
              <a:buChar char="•"/>
            </a:pPr>
            <a:endParaRPr sz="2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75000"/>
              <a:buNone/>
            </a:pPr>
            <a:r>
              <a:rPr sz="240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   </a:t>
            </a:r>
            <a:r>
              <a:rPr sz="320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 </a:t>
            </a:r>
            <a:endParaRPr sz="2400">
              <a:solidFill>
                <a:schemeClr val="tx1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D544D4E7-E6B8-4E4E-BB26-83E40D43F49C}"/>
              </a:ext>
            </a:extLst>
          </p:cNvPr>
          <p:cNvSpPr>
            <a:spLocks noGrp="1"/>
          </p:cNvSpPr>
          <p:nvPr/>
        </p:nvSpPr>
        <p:spPr>
          <a:xfrm>
            <a:off x="174625" y="4002088"/>
            <a:ext cx="4092575" cy="1631951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2075" tIns="46038" rIns="92075" bIns="46038">
            <a:spAutoFit/>
          </a:bodyPr>
          <a:lstStyle/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Enrolled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(sid CHAR(20)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cid  CHAR(20),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grade CHAR(2),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</a:t>
            </a:r>
            <a:r>
              <a:rPr sz="200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PRIMARY KEY </a:t>
            </a:r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(sid,cid))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2AA8D8C8-3CC1-4E2D-8712-1E3336629F55}"/>
              </a:ext>
            </a:extLst>
          </p:cNvPr>
          <p:cNvSpPr>
            <a:spLocks noGrp="1"/>
          </p:cNvSpPr>
          <p:nvPr/>
        </p:nvSpPr>
        <p:spPr>
          <a:xfrm>
            <a:off x="4724400" y="3886200"/>
            <a:ext cx="4244975" cy="1939926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2075" tIns="46038" rIns="92075" bIns="46038">
            <a:spAutoFit/>
          </a:bodyPr>
          <a:lstStyle/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Enrolled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(sid CHAR(20)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cid  CHAR(20),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grade CHAR(2),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</a:t>
            </a:r>
            <a:r>
              <a:rPr sz="200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PRIMARY KEY  </a:t>
            </a:r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(sid),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 </a:t>
            </a:r>
            <a:r>
              <a:rPr sz="200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UNIQUE</a:t>
            </a:r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(cid, grade))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E6CE2F05-5CE4-4061-9DB6-54B580A4F023}"/>
              </a:ext>
            </a:extLst>
          </p:cNvPr>
          <p:cNvSpPr>
            <a:spLocks noGrp="1"/>
          </p:cNvSpPr>
          <p:nvPr/>
        </p:nvSpPr>
        <p:spPr>
          <a:xfrm>
            <a:off x="4114800" y="4586288"/>
            <a:ext cx="762000" cy="4619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1pPr>
            <a:lvl2pPr marL="37931725" indent="-37474525"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2pPr>
            <a:lvl3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3pPr>
            <a:lvl4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4pPr>
            <a:lvl5pPr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5pPr>
            <a:lvl6pPr marL="4572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6pPr>
            <a:lvl7pPr marL="9144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7pPr>
            <a:lvl8pPr marL="13716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8pPr>
            <a:lvl9pPr marL="1828800">
              <a:spcBef>
                <a:spcPct val="0"/>
              </a:spcBef>
              <a:spcAft>
                <a:spcPct val="0"/>
              </a:spcAft>
              <a:buNone/>
              <a:defRPr sz="1200">
                <a:solidFill>
                  <a:srgbClr val="CF0E30"/>
                </a:solidFill>
                <a:latin typeface="Book Antiqua"/>
                <a:ea typeface="Book Antiqua"/>
                <a:cs typeface="Book Antiqua"/>
              </a:defRPr>
            </a:lvl9pPr>
          </a:lstStyle>
          <a:p>
            <a:r>
              <a:rPr sz="24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 对比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12C8F9-B4CF-6E2D-1971-53F8155F3B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46</a:t>
            </a:fld>
            <a:endParaRPr/>
          </a:p>
        </p:txBody>
      </p:sp>
      <p:sp>
        <p:nvSpPr>
          <p:cNvPr id="4" name="Line 11">
            <a:extLst>
              <a:ext uri="{FF2B5EF4-FFF2-40B4-BE49-F238E27FC236}">
                <a16:creationId xmlns:a16="http://schemas.microsoft.com/office/drawing/2014/main" id="{F37BB664-D75F-B3C3-4689-E3E79DE9A54E}"/>
              </a:ext>
            </a:extLst>
          </p:cNvPr>
          <p:cNvSpPr>
            <a:spLocks noGrp="1"/>
          </p:cNvSpPr>
          <p:nvPr/>
        </p:nvSpPr>
        <p:spPr>
          <a:xfrm>
            <a:off x="4724399" y="3886200"/>
            <a:ext cx="4244975" cy="1939927"/>
          </a:xfrm>
          <a:prstGeom prst="line">
            <a:avLst/>
          </a:prstGeom>
          <a:noFill/>
          <a:ln w="25400">
            <a:solidFill>
              <a:srgbClr val="FF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250D64D4-D931-C179-13C0-52F27E0CEEEE}"/>
              </a:ext>
            </a:extLst>
          </p:cNvPr>
          <p:cNvSpPr>
            <a:spLocks noGrp="1"/>
          </p:cNvSpPr>
          <p:nvPr/>
        </p:nvSpPr>
        <p:spPr>
          <a:xfrm rot="6355117">
            <a:off x="5331980" y="3081102"/>
            <a:ext cx="3029810" cy="3550121"/>
          </a:xfrm>
          <a:prstGeom prst="line">
            <a:avLst/>
          </a:prstGeom>
          <a:noFill/>
          <a:ln w="25400">
            <a:solidFill>
              <a:srgbClr val="FF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14">
            <a:extLst>
              <a:ext uri="{FF2B5EF4-FFF2-40B4-BE49-F238E27FC236}">
                <a16:creationId xmlns:a16="http://schemas.microsoft.com/office/drawing/2014/main" id="{99E5124A-A755-8842-93DA-3CBB5ECA64C4}"/>
              </a:ext>
            </a:extLst>
          </p:cNvPr>
          <p:cNvSpPr>
            <a:spLocks noGrp="1"/>
          </p:cNvSpPr>
          <p:nvPr/>
        </p:nvSpPr>
        <p:spPr>
          <a:xfrm>
            <a:off x="381000" y="5943600"/>
            <a:ext cx="8458200" cy="763066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400">
                <a:solidFill>
                  <a:schemeClr val="bg1"/>
                </a:solidFill>
                <a:latin typeface="Arial Unicode MS"/>
                <a:ea typeface="Arial Unicode MS"/>
                <a:cs typeface="Arial Unicode MS"/>
              </a:rPr>
              <a:t>“每名学生只能修读一门课程，并且同一门课程中不会有两名学生获得相同成绩”</a:t>
            </a:r>
          </a:p>
        </p:txBody>
      </p:sp>
    </p:spTree>
    <p:extLst>
      <p:ext uri="{BB962C8B-B14F-4D97-AF65-F5344CB8AC3E}">
        <p14:creationId xmlns:p14="http://schemas.microsoft.com/office/powerpoint/2010/main" val="23730092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D9AE4DDF-89F5-44F8-9DB7-77AF8DDB402A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C2624984-CA7C-48C7-B5C7-03172190BEE6}"/>
              </a:ext>
            </a:extLst>
          </p:cNvPr>
          <p:cNvSpPr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8133" name="Rectangle 4">
            <a:extLst>
              <a:ext uri="{FF2B5EF4-FFF2-40B4-BE49-F238E27FC236}">
                <a16:creationId xmlns:a16="http://schemas.microsoft.com/office/drawing/2014/main" id="{CD82598F-9D29-4C5E-821D-3B3CDE9B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1143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外键与参照完整性</a:t>
            </a:r>
          </a:p>
        </p:txBody>
      </p:sp>
      <p:sp>
        <p:nvSpPr>
          <p:cNvPr id="48134" name="Rectangle 5">
            <a:extLst>
              <a:ext uri="{FF2B5EF4-FFF2-40B4-BE49-F238E27FC236}">
                <a16:creationId xmlns:a16="http://schemas.microsoft.com/office/drawing/2014/main" id="{5C6A02D5-FCE0-444D-AF42-C6DA36AAE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371600"/>
            <a:ext cx="8534400" cy="51054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外键是一组引用另一关系中某个元组的字段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它必须对应另一关系的主键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它的作用类似“逻辑指针”</a:t>
            </a:r>
          </a:p>
          <a:p>
            <a:pPr lvl="1">
              <a:buFont typeface="Wingdings"/>
              <a:buChar char="§"/>
            </a:pPr>
            <a:endParaRPr sz="3200"/>
          </a:p>
          <a:p>
            <a:pPr>
              <a:buSzPct val="100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外键均有效时，  </a:t>
            </a:r>
            <a:r>
              <a:rPr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即具备参照完整性</a:t>
            </a:r>
            <a:r>
              <a:rPr>
                <a:latin typeface="Arial Unicode MS"/>
                <a:ea typeface="Arial Unicode MS"/>
                <a:cs typeface="Arial Unicode MS"/>
              </a:rPr>
              <a:t>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>
                <a:latin typeface="Arial Unicode MS"/>
                <a:ea typeface="Arial Unicode MS"/>
                <a:cs typeface="Arial Unicode MS"/>
              </a:rPr>
              <a:t>不存在悬空引用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A2BD4-387F-4547-3FA8-585C665A37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43256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7" name="Rectangle 4">
            <a:extLst>
              <a:ext uri="{FF2B5EF4-FFF2-40B4-BE49-F238E27FC236}">
                <a16:creationId xmlns:a16="http://schemas.microsoft.com/office/drawing/2014/main" id="{E8B4B35D-79D3-4E16-B527-E4097FA8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SQL 中的外键</a:t>
            </a:r>
          </a:p>
        </p:txBody>
      </p:sp>
      <p:sp>
        <p:nvSpPr>
          <p:cNvPr id="49158" name="Rectangle 5">
            <a:extLst>
              <a:ext uri="{FF2B5EF4-FFF2-40B4-BE49-F238E27FC236}">
                <a16:creationId xmlns:a16="http://schemas.microsoft.com/office/drawing/2014/main" id="{42BAFAB3-4D96-4958-A51B-0D6899DB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8686800" cy="1574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buFont typeface="Wingdings"/>
              <a:buChar char="§"/>
            </a:pPr>
            <a:r>
              <a:rPr b="0">
                <a:latin typeface="Arial Unicode MS"/>
                <a:ea typeface="Arial Unicode MS"/>
                <a:cs typeface="Arial Unicode MS"/>
              </a:rPr>
              <a:t>示例：只有已存在的学生才能选课</a:t>
            </a:r>
          </a:p>
          <a:p>
            <a:pPr lvl="1"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 </a:t>
            </a:r>
            <a:r>
              <a:rPr sz="2800" i="1">
                <a:latin typeface="Arial Unicode MS"/>
                <a:ea typeface="Arial Unicode MS"/>
                <a:cs typeface="Arial Unicode MS"/>
              </a:rPr>
              <a:t>sid 是引用 Students 的外键</a:t>
            </a:r>
          </a:p>
          <a:p>
            <a:pPr lvl="1"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如何使用 SQL 表达这一规则？</a:t>
            </a:r>
          </a:p>
        </p:txBody>
      </p:sp>
      <p:sp>
        <p:nvSpPr>
          <p:cNvPr id="49160" name="Rectangle 2">
            <a:extLst>
              <a:ext uri="{FF2B5EF4-FFF2-40B4-BE49-F238E27FC236}">
                <a16:creationId xmlns:a16="http://schemas.microsoft.com/office/drawing/2014/main" id="{8BAF3241-80E1-40C7-BD7E-66D648174906}"/>
              </a:ext>
            </a:extLst>
          </p:cNvPr>
          <p:cNvSpPr>
            <a:spLocks noGrp="1"/>
          </p:cNvSpPr>
          <p:nvPr/>
        </p:nvSpPr>
        <p:spPr>
          <a:xfrm>
            <a:off x="625414" y="4419601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9161" name="Rectangle 3">
            <a:extLst>
              <a:ext uri="{FF2B5EF4-FFF2-40B4-BE49-F238E27FC236}">
                <a16:creationId xmlns:a16="http://schemas.microsoft.com/office/drawing/2014/main" id="{F848C518-35ED-4AEF-949C-FAA6B5B120E8}"/>
              </a:ext>
            </a:extLst>
          </p:cNvPr>
          <p:cNvSpPr>
            <a:spLocks noGrp="1"/>
          </p:cNvSpPr>
          <p:nvPr/>
        </p:nvSpPr>
        <p:spPr>
          <a:xfrm>
            <a:off x="3063814" y="4419601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9162" name="Line 9">
            <a:extLst>
              <a:ext uri="{FF2B5EF4-FFF2-40B4-BE49-F238E27FC236}">
                <a16:creationId xmlns:a16="http://schemas.microsoft.com/office/drawing/2014/main" id="{A7808402-898A-47D7-9228-C9CCA4153784}"/>
              </a:ext>
            </a:extLst>
          </p:cNvPr>
          <p:cNvSpPr>
            <a:spLocks noGrp="1"/>
          </p:cNvSpPr>
          <p:nvPr/>
        </p:nvSpPr>
        <p:spPr>
          <a:xfrm>
            <a:off x="3368614" y="3595688"/>
            <a:ext cx="1143000" cy="304800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9163" name="Line 10">
            <a:extLst>
              <a:ext uri="{FF2B5EF4-FFF2-40B4-BE49-F238E27FC236}">
                <a16:creationId xmlns:a16="http://schemas.microsoft.com/office/drawing/2014/main" id="{A1725618-6A99-4E1A-8ED9-ECEE29BEBEFC}"/>
              </a:ext>
            </a:extLst>
          </p:cNvPr>
          <p:cNvSpPr>
            <a:spLocks noGrp="1"/>
          </p:cNvSpPr>
          <p:nvPr/>
        </p:nvSpPr>
        <p:spPr>
          <a:xfrm>
            <a:off x="3444814" y="3976688"/>
            <a:ext cx="1066800" cy="0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9164" name="Line 11">
            <a:extLst>
              <a:ext uri="{FF2B5EF4-FFF2-40B4-BE49-F238E27FC236}">
                <a16:creationId xmlns:a16="http://schemas.microsoft.com/office/drawing/2014/main" id="{B19A33EB-FF22-4FDA-822B-810479F897BA}"/>
              </a:ext>
            </a:extLst>
          </p:cNvPr>
          <p:cNvSpPr>
            <a:spLocks noGrp="1"/>
          </p:cNvSpPr>
          <p:nvPr/>
        </p:nvSpPr>
        <p:spPr>
          <a:xfrm flipV="1">
            <a:off x="3368614" y="4052888"/>
            <a:ext cx="1143000" cy="609600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9165" name="Line 12">
            <a:extLst>
              <a:ext uri="{FF2B5EF4-FFF2-40B4-BE49-F238E27FC236}">
                <a16:creationId xmlns:a16="http://schemas.microsoft.com/office/drawing/2014/main" id="{FC781174-DCF7-4B35-BFA4-4F4D15ED98B4}"/>
              </a:ext>
            </a:extLst>
          </p:cNvPr>
          <p:cNvSpPr>
            <a:spLocks noGrp="1"/>
          </p:cNvSpPr>
          <p:nvPr/>
        </p:nvSpPr>
        <p:spPr>
          <a:xfrm>
            <a:off x="3368614" y="4357688"/>
            <a:ext cx="1143000" cy="228600"/>
          </a:xfrm>
          <a:prstGeom prst="line">
            <a:avLst/>
          </a:prstGeom>
          <a:noFill/>
          <a:ln w="12700">
            <a:solidFill>
              <a:schemeClr val="accent2"/>
            </a:solidFill>
            <a:headEnd type="none" w="sm" len="sm"/>
            <a:tailEnd type="stealth" w="med" len="lg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49166" name="Rectangle 13">
            <a:extLst>
              <a:ext uri="{FF2B5EF4-FFF2-40B4-BE49-F238E27FC236}">
                <a16:creationId xmlns:a16="http://schemas.microsoft.com/office/drawing/2014/main" id="{4B8A0648-2FDC-42D5-8ED6-273A6B43B609}"/>
              </a:ext>
            </a:extLst>
          </p:cNvPr>
          <p:cNvSpPr>
            <a:spLocks noGrp="1"/>
          </p:cNvSpPr>
          <p:nvPr/>
        </p:nvSpPr>
        <p:spPr>
          <a:xfrm>
            <a:off x="1387414" y="2743200"/>
            <a:ext cx="1219200" cy="461962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r>
              <a:rPr sz="2400">
                <a:solidFill>
                  <a:srgbClr val="7030A0"/>
                </a:solidFill>
              </a:rPr>
              <a:t>Enrolled</a:t>
            </a:r>
          </a:p>
        </p:txBody>
      </p:sp>
      <p:sp>
        <p:nvSpPr>
          <p:cNvPr id="49167" name="Rectangle 14">
            <a:extLst>
              <a:ext uri="{FF2B5EF4-FFF2-40B4-BE49-F238E27FC236}">
                <a16:creationId xmlns:a16="http://schemas.microsoft.com/office/drawing/2014/main" id="{B1C837AB-4E94-4958-94A5-853868982E4D}"/>
              </a:ext>
            </a:extLst>
          </p:cNvPr>
          <p:cNvSpPr>
            <a:spLocks noGrp="1"/>
          </p:cNvSpPr>
          <p:nvPr/>
        </p:nvSpPr>
        <p:spPr>
          <a:xfrm>
            <a:off x="6111814" y="2974975"/>
            <a:ext cx="1289050" cy="461962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>
            <a:spAutoFit/>
          </a:bodyPr>
          <a:lstStyle/>
          <a:p>
            <a:r>
              <a:rPr sz="2400">
                <a:solidFill>
                  <a:srgbClr val="7030A0"/>
                </a:solidFill>
              </a:rPr>
              <a:t>Students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81CC9B-34FC-020F-8EA5-91E56312FB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48</a:t>
            </a:fld>
            <a:endParaRPr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689353DC-FE5C-DE59-52FF-034B35702EC3}"/>
              </a:ext>
            </a:extLst>
          </p:cNvPr>
          <p:cNvSpPr>
            <a:spLocks noGrp="1"/>
          </p:cNvSpPr>
          <p:nvPr/>
        </p:nvSpPr>
        <p:spPr>
          <a:xfrm>
            <a:off x="884206" y="5082248"/>
            <a:ext cx="8259793" cy="1447192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2075" tIns="46038" rIns="92075" bIns="46038">
            <a:spAutoFit/>
          </a:bodyPr>
          <a:lstStyle/>
          <a:p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CREATE TABLE Enrolled </a:t>
            </a:r>
          </a:p>
          <a:p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(</a:t>
            </a:r>
            <a:r>
              <a:rPr sz="22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sid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CHAR(20),</a:t>
            </a:r>
            <a:r>
              <a:rPr sz="22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cid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CHAR(20),grade CHAR(2),</a:t>
            </a:r>
          </a:p>
          <a:p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</a:t>
            </a:r>
            <a:r>
              <a:rPr sz="2200" dirty="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PRIMARY KEY 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(</a:t>
            </a:r>
            <a:r>
              <a:rPr sz="22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sid,cid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),</a:t>
            </a:r>
          </a:p>
          <a:p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</a:t>
            </a:r>
            <a:r>
              <a:rPr sz="2200" dirty="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FOREIGN KEY 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(</a:t>
            </a:r>
            <a:r>
              <a:rPr sz="2200" dirty="0" err="1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sid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) </a:t>
            </a:r>
            <a:r>
              <a:rPr sz="2200" dirty="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REFERENCES 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Students</a:t>
            </a:r>
            <a:r>
              <a:rPr lang="zh-CN" altLang="en-US" sz="2200" dirty="0">
                <a:latin typeface="Lucida Console"/>
                <a:ea typeface="Lucida Console"/>
                <a:cs typeface="Lucida Console"/>
              </a:rPr>
              <a:t>（</a:t>
            </a:r>
            <a:r>
              <a:rPr lang="en-US" altLang="zh-CN" sz="2200" dirty="0" err="1">
                <a:latin typeface="Lucida Console"/>
                <a:ea typeface="Lucida Console"/>
                <a:cs typeface="Lucida Console"/>
              </a:rPr>
              <a:t>sid</a:t>
            </a:r>
            <a:r>
              <a:rPr lang="zh-CN" altLang="en-US" sz="2200" dirty="0">
                <a:latin typeface="Lucida Console"/>
                <a:ea typeface="Lucida Console"/>
                <a:cs typeface="Lucida Console"/>
              </a:rPr>
              <a:t>）</a:t>
            </a:r>
            <a:r>
              <a:rPr sz="2200" dirty="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7858066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F99CA67-7A2E-41F6-81FE-F4734116F416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66A4BC3-38D2-4741-8883-3D8E36F84A76}"/>
              </a:ext>
            </a:extLst>
          </p:cNvPr>
          <p:cNvSpPr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663933EC-64BC-4580-B0CF-DAA9326B969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执行参照完整性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16A977C7-CC69-4672-9C4C-0D09CFBF6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1219200"/>
            <a:ext cx="8839200" cy="5181600"/>
          </a:xfrm>
          <a:prstGeom prst="rect">
            <a:avLst/>
          </a:prstGeom>
          <a:noFill/>
        </p:spPr>
        <p:txBody>
          <a:bodyPr>
            <a:normAutofit fontScale="98895" lnSpcReduction="10000"/>
          </a:bodyPr>
          <a:lstStyle/>
          <a:p>
            <a:pPr>
              <a:lnSpc>
                <a:spcPct val="90000"/>
              </a:lnSpc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如果插入的“Enrolled”元组包含不存在的学生编号，应如何处理？  </a:t>
            </a:r>
            <a:r>
              <a:rPr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(</a:t>
            </a:r>
            <a:r>
              <a:rPr i="1"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拒绝。</a:t>
            </a:r>
            <a:r>
              <a:rPr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)</a:t>
            </a:r>
          </a:p>
          <a:p>
            <a:pPr>
              <a:lnSpc>
                <a:spcPct val="90000"/>
              </a:lnSpc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如果删除一个“Students”元组，应如何处理？</a:t>
            </a:r>
          </a:p>
          <a:p>
            <a:pPr lvl="1">
              <a:lnSpc>
                <a:spcPct val="90000"/>
              </a:lnSpc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不允许删除</a:t>
            </a:r>
          </a:p>
          <a:p>
            <a:pPr lvl="1">
              <a:lnSpc>
                <a:spcPct val="90000"/>
              </a:lnSpc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删除所有引用它的 Enrolled 元组</a:t>
            </a:r>
          </a:p>
          <a:p>
            <a:pPr lvl="1">
              <a:lnSpc>
                <a:spcPct val="90000"/>
              </a:lnSpc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把相关 Enrolled 元组中的 sid 设为默认 sid</a:t>
            </a:r>
            <a:endParaRPr/>
          </a:p>
          <a:p>
            <a:pPr lvl="1">
              <a:lnSpc>
                <a:spcPct val="90000"/>
              </a:lnSpc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把相关 Enrolled 元组中的 sid 设为特殊值 NULL，表示“未知”或“不适用”</a:t>
            </a:r>
            <a:endParaRPr/>
          </a:p>
          <a:p>
            <a:pPr>
              <a:lnSpc>
                <a:spcPct val="90000"/>
              </a:lnSpc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如果更新一个“Students”元组，又应如何处理？</a:t>
            </a:r>
          </a:p>
          <a:p>
            <a:pPr lvl="1">
              <a:lnSpc>
                <a:spcPct val="90000"/>
              </a:lnSpc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可以在 Students 关系中增加 partner 列，并将该列声明为引用 Students 的外键。 </a:t>
            </a:r>
          </a:p>
          <a:p>
            <a:pPr lvl="1">
              <a:lnSpc>
                <a:spcPct val="90000"/>
              </a:lnSpc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如果学生没有伴侣，可以把 partner 设为 NULL，表示尚不知道其伴侣，或该学生没有伴侣。</a:t>
            </a:r>
          </a:p>
          <a:p>
            <a:pPr lvl="1">
              <a:lnSpc>
                <a:spcPct val="90000"/>
              </a:lnSpc>
              <a:buNone/>
            </a:pPr>
            <a:endParaRPr sz="26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DA5A1F-9593-2325-CB21-CB16E0EACB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49</a:t>
            </a:fld>
            <a:endParaRPr/>
          </a:p>
        </p:txBody>
      </p:sp>
      <p:sp>
        <p:nvSpPr>
          <p:cNvPr id="35846" name="zh-cover">
            <a:extLst>
              <a:ext uri="{FF2B5EF4-FFF2-40B4-BE49-F238E27FC236}">
                <a16:creationId xmlns:a16="http://schemas.microsoft.com/office/drawing/2014/main" id="{F100FE49-714F-4D61-8457-D5C987A7076E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9144000" cy="54292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sp>
        <p:nvSpPr>
          <p:cNvPr id="35847" name="zh-referential-integrity-body">
            <a:extLst>
              <a:ext uri="{FF2B5EF4-FFF2-40B4-BE49-F238E27FC236}">
                <a16:creationId xmlns:a16="http://schemas.microsoft.com/office/drawing/2014/main" id="{9BDEEAF8-0042-4212-B86E-E3E700F5872E}"/>
              </a:ext>
            </a:extLst>
          </p:cNvPr>
          <p:cNvSpPr>
            <a:spLocks noGrp="1"/>
          </p:cNvSpPr>
          <p:nvPr/>
        </p:nvSpPr>
        <p:spPr>
          <a:xfrm>
            <a:off x="552450" y="1295400"/>
            <a:ext cx="8039100" cy="4000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rmAutofit/>
          </a:bodyPr>
          <a:lstStyle/>
          <a:p>
            <a:pPr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插入含不存在学生编号的 Enrolled 元组：拒绝。</a:t>
            </a:r>
          </a:p>
          <a:p>
            <a:endParaRPr sz="1650">
              <a:solidFill>
                <a:srgbClr val="111111"/>
              </a:solidFill>
              <a:latin typeface="Arial Unicode MS"/>
              <a:ea typeface="Arial Unicode MS"/>
              <a:cs typeface="Arial Unicode MS"/>
            </a:endParaRPr>
          </a:p>
          <a:p>
            <a:pPr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删除 Students 元组时，可按业务规则选择：</a:t>
            </a:r>
          </a:p>
          <a:p>
            <a:pPr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  – 拒绝删除（RESTRICT / NO ACTION）</a:t>
            </a:r>
          </a:p>
          <a:p>
            <a:pPr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  – 级联删除引用它的 Enrolled 元组（CASCADE）</a:t>
            </a:r>
          </a:p>
          <a:p>
            <a:pPr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   – 把相关外键设为默认值或 NULL（需允许为空）</a:t>
            </a:r>
          </a:p>
          <a:p>
            <a:endParaRPr sz="1650">
              <a:solidFill>
                <a:srgbClr val="111111"/>
              </a:solidFill>
              <a:latin typeface="Arial Unicode MS"/>
              <a:ea typeface="Arial Unicode MS"/>
              <a:cs typeface="Arial Unicode MS"/>
            </a:endParaRPr>
          </a:p>
          <a:p>
            <a:pPr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更新被引用的 Students 元组时，也必须维护引用一致性。</a:t>
            </a:r>
          </a:p>
          <a:p>
            <a:endParaRPr sz="1650">
              <a:solidFill>
                <a:srgbClr val="111111"/>
              </a:solidFill>
              <a:latin typeface="Arial Unicode MS"/>
              <a:ea typeface="Arial Unicode MS"/>
              <a:cs typeface="Arial Unicode MS"/>
            </a:endParaRPr>
          </a:p>
          <a:p>
            <a:pPr>
              <a:def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自引用示例：Students.partner 可声明为引用 Students 的可空外键。</a:t>
            </a:r>
          </a:p>
        </p:txBody>
      </p:sp>
      <p:sp>
        <p:nvSpPr>
          <p:cNvPr id="35848" name="zh-referential-integrity-callout">
            <a:extLst>
              <a:ext uri="{FF2B5EF4-FFF2-40B4-BE49-F238E27FC236}">
                <a16:creationId xmlns:a16="http://schemas.microsoft.com/office/drawing/2014/main" id="{F8D4EAD9-538A-42F8-87E3-F663F4F3D416}"/>
              </a:ext>
            </a:extLst>
          </p:cNvPr>
          <p:cNvSpPr>
            <a:spLocks noGrp="1"/>
          </p:cNvSpPr>
          <p:nvPr/>
        </p:nvSpPr>
        <p:spPr>
          <a:xfrm>
            <a:off x="838200" y="5638800"/>
            <a:ext cx="7467600" cy="571500"/>
          </a:xfrm>
          <a:prstGeom prst="roundRect">
            <a:avLst>
              <a:gd name="adj" fmla="val 13333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参照动作必须与业务规则一致。</a:t>
            </a:r>
          </a:p>
        </p:txBody>
      </p:sp>
    </p:spTree>
    <p:extLst>
      <p:ext uri="{BB962C8B-B14F-4D97-AF65-F5344CB8AC3E}">
        <p14:creationId xmlns:p14="http://schemas.microsoft.com/office/powerpoint/2010/main" val="34569329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360F436A-62C4-49C2-A26A-6DFB0E2FDF6C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参照动作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F36C38E3-C812-45D8-9646-EF9C94CD7D87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57200" y="1181100"/>
          <a:ext cx="8229600" cy="409575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父表行上的操作</a:t>
                      </a:r>
                    </a:p>
                  </a:txBody>
                  <a:tcPr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对引用行的影响</a:t>
                      </a:r>
                    </a:p>
                  </a:txBody>
                  <a:tcPr anchor="ctr">
                    <a:solidFill>
                      <a:srgbClr val="C050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典型用途</a:t>
                      </a:r>
                    </a:p>
                  </a:txBody>
                  <a:tcPr anchor="ctr">
                    <a:solidFill>
                      <a:srgbClr val="C05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 ACTION 或 RESTRICT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拒绝修改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选课历史必须保持有效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CASCADE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同步执行删除或键更新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子行脱离父行后便没有意义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SET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把外键改为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该联系为可选联系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SET DEFAULT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使用已声明的合法默认值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确实存在可作为默认值的父记录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allout">
            <a:extLst>
              <a:ext uri="{FF2B5EF4-FFF2-40B4-BE49-F238E27FC236}">
                <a16:creationId xmlns:a16="http://schemas.microsoft.com/office/drawing/2014/main" id="{5988FEE2-AAEE-4AC8-BB46-736D03D760E5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C0504D"/>
          </a:solidFill>
          <a:ln w="9525">
            <a:solidFill>
              <a:srgbClr val="C0504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业务规则决定应采用哪一种参照动作。</a:t>
            </a:r>
          </a:p>
        </p:txBody>
      </p:sp>
    </p:spTree>
    <p:extLst>
      <p:ext uri="{BB962C8B-B14F-4D97-AF65-F5344CB8AC3E}">
        <p14:creationId xmlns:p14="http://schemas.microsoft.com/office/powerpoint/2010/main" val="319681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A755237-9B19-42F6-9495-A688DA377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28600"/>
            <a:ext cx="8458200" cy="868362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r>
              <a:rPr sz="3600">
                <a:latin typeface="Arial Unicode MS"/>
                <a:ea typeface="Arial Unicode MS"/>
                <a:cs typeface="Arial Unicode MS"/>
              </a:rPr>
              <a:t>完整性约束从何而来？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F2113DCF-EF14-4E1F-BA59-EA1A1738B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27138"/>
            <a:ext cx="8686800" cy="5181600"/>
          </a:xfrm>
          <a:prstGeom prst="rect">
            <a:avLst/>
          </a:prstGeom>
          <a:noFill/>
        </p:spPr>
        <p:txBody>
          <a:bodyPr>
            <a:normAutofit fontScale="98920"/>
          </a:bodyPr>
          <a:lstStyle/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完整性约束来自数据库关系所描述的现实业务语义</a:t>
            </a:r>
          </a:p>
          <a:p>
            <a:pPr>
              <a:buFont typeface="Wingdings"/>
              <a:buChar char="§"/>
            </a:pPr>
            <a:endParaRPr/>
          </a:p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我们可以检查某个数据库实例是否违反约束，但绝不能仅凭一个实例推断某项约束始终成立</a:t>
            </a:r>
          </a:p>
          <a:p>
            <a:pPr lvl="1"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完整性约束针对所有可能的实例。</a:t>
            </a:r>
          </a:p>
          <a:p>
            <a:pPr lvl="1">
              <a:buSzPct val="75000"/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从“Students”关系的当前数据可知 name 不是键，但 sid 是键这一结论来自业务规则</a:t>
            </a:r>
          </a:p>
          <a:p>
            <a:pPr lvl="1">
              <a:buSzPct val="75000"/>
              <a:buFont typeface="Wingdings"/>
              <a:buChar char="§"/>
            </a:pPr>
            <a:endParaRPr/>
          </a:p>
          <a:p>
            <a:r>
              <a:rPr>
                <a:latin typeface="Arial Unicode MS"/>
                <a:ea typeface="Arial Unicode MS"/>
                <a:cs typeface="Arial Unicode MS"/>
              </a:rPr>
              <a:t>键约束和外键约束最常见，数据库也支持更一般的完整性约束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9A8682-51C2-FF53-3B3A-20E0CD04F6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00543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0B0CE173-2032-4CEF-9F11-05AE200300D6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C69DD9E-A93C-4358-8164-16ECE7F2DE93}"/>
              </a:ext>
            </a:extLst>
          </p:cNvPr>
          <p:cNvSpPr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44799D6D-616E-4E66-AB9E-0A7871C70DB4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视图</a:t>
            </a:r>
          </a:p>
        </p:txBody>
      </p:sp>
      <p:sp>
        <p:nvSpPr>
          <p:cNvPr id="66565" name="Rectangle 5">
            <a:extLst>
              <a:ext uri="{FF2B5EF4-FFF2-40B4-BE49-F238E27FC236}">
                <a16:creationId xmlns:a16="http://schemas.microsoft.com/office/drawing/2014/main" id="{AE8C78A4-C014-49EA-A853-79F6B0093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066800"/>
            <a:ext cx="8610600" cy="43053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视图是一种按需计算行数据、而不显式存储这些行的表</a:t>
            </a:r>
          </a:p>
        </p:txBody>
      </p:sp>
      <p:sp>
        <p:nvSpPr>
          <p:cNvPr id="66566" name="Rectangle 6">
            <a:extLst>
              <a:ext uri="{FF2B5EF4-FFF2-40B4-BE49-F238E27FC236}">
                <a16:creationId xmlns:a16="http://schemas.microsoft.com/office/drawing/2014/main" id="{23BCCFA3-9B4D-4A58-B09D-42CD0BC622C3}"/>
              </a:ext>
            </a:extLst>
          </p:cNvPr>
          <p:cNvSpPr>
            <a:spLocks noGrp="1"/>
          </p:cNvSpPr>
          <p:nvPr/>
        </p:nvSpPr>
        <p:spPr>
          <a:xfrm>
            <a:off x="1371600" y="2090870"/>
            <a:ext cx="5956300" cy="1320874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CREATE  VIEW  </a:t>
            </a:r>
            <a:r>
              <a:rPr>
                <a:latin typeface="Book Antiqua"/>
                <a:ea typeface="Book Antiqua"/>
                <a:cs typeface="Book Antiqua"/>
              </a:rPr>
              <a:t>YoungActiveStudents (name, grade)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</a:t>
            </a:r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AS</a:t>
            </a:r>
            <a:r>
              <a:rPr sz="2000">
                <a:latin typeface="Book Antiqua"/>
                <a:ea typeface="Book Antiqua"/>
                <a:cs typeface="Book Antiqua"/>
              </a:rPr>
              <a:t>  SELECT   </a:t>
            </a:r>
            <a:r>
              <a:rPr>
                <a:latin typeface="Book Antiqua"/>
                <a:ea typeface="Book Antiqua"/>
                <a:cs typeface="Book Antiqua"/>
              </a:rPr>
              <a:t>S.name, E.grade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</a:t>
            </a:r>
            <a:r>
              <a:rPr sz="2000">
                <a:latin typeface="Book Antiqua"/>
                <a:ea typeface="Book Antiqua"/>
                <a:cs typeface="Book Antiqua"/>
              </a:rPr>
              <a:t>FROM</a:t>
            </a:r>
            <a:r>
              <a:rPr>
                <a:latin typeface="Book Antiqua"/>
                <a:ea typeface="Book Antiqua"/>
                <a:cs typeface="Book Antiqua"/>
              </a:rPr>
              <a:t>  Students S, Enrolled E</a:t>
            </a:r>
          </a:p>
          <a:p>
            <a:r>
              <a:rPr>
                <a:latin typeface="Book Antiqua"/>
                <a:ea typeface="Book Antiqua"/>
                <a:cs typeface="Book Antiqua"/>
              </a:rPr>
              <a:t>	</a:t>
            </a:r>
            <a:r>
              <a:rPr sz="2000">
                <a:latin typeface="Book Antiqua"/>
                <a:ea typeface="Book Antiqua"/>
                <a:cs typeface="Book Antiqua"/>
              </a:rPr>
              <a:t>WHERE</a:t>
            </a:r>
            <a:r>
              <a:rPr>
                <a:latin typeface="Book Antiqua"/>
                <a:ea typeface="Book Antiqua"/>
                <a:cs typeface="Book Antiqua"/>
              </a:rPr>
              <a:t>  S.sid = E.sid and S.age&lt;21</a:t>
            </a:r>
          </a:p>
        </p:txBody>
      </p:sp>
      <p:sp>
        <p:nvSpPr>
          <p:cNvPr id="66567" name="Rectangle 7">
            <a:extLst>
              <a:ext uri="{FF2B5EF4-FFF2-40B4-BE49-F238E27FC236}">
                <a16:creationId xmlns:a16="http://schemas.microsoft.com/office/drawing/2014/main" id="{1E9A2826-E1D4-403C-AE2F-895CDE95782E}"/>
              </a:ext>
            </a:extLst>
          </p:cNvPr>
          <p:cNvSpPr>
            <a:spLocks noGrp="1"/>
          </p:cNvSpPr>
          <p:nvPr/>
        </p:nvSpPr>
        <p:spPr>
          <a:xfrm>
            <a:off x="304800" y="3657600"/>
            <a:ext cx="8305800" cy="2895600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/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可以查询视图</a:t>
            </a: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000">
                <a:latin typeface="Arial Unicode MS"/>
                <a:ea typeface="Arial Unicode MS"/>
                <a:cs typeface="Arial Unicode MS"/>
              </a:rPr>
              <a:t>查询 YoungActiveStudents 时，系统先计算该视图，再像处理其他关系一样对结果执行查询</a:t>
            </a:r>
          </a:p>
          <a:p>
            <a:pPr marL="800100" lvl="1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/>
              <a:buChar char="§"/>
            </a:pPr>
            <a:endParaRPr sz="2000"/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可以使用 DROP VIEW 命令删除视图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000">
                <a:latin typeface="Arial Unicode MS"/>
                <a:ea typeface="Arial Unicode MS"/>
                <a:cs typeface="Arial Unicode MS"/>
              </a:rPr>
              <a:t>如果某个表上定义了视图，DROP TABLE 应如何处理？</a:t>
            </a:r>
          </a:p>
          <a:p>
            <a:pPr marL="1257300" lvl="2" indent="-342900">
              <a:spcBef>
                <a:spcPct val="20000"/>
              </a:spcBef>
              <a:buClr>
                <a:schemeClr val="tx1"/>
              </a:buClr>
              <a:buSzPct val="100000"/>
              <a:buFont typeface="Wingdings"/>
              <a:buChar char="§"/>
            </a:pPr>
            <a:r>
              <a:rPr sz="2000">
                <a:latin typeface="Arial Unicode MS"/>
                <a:ea typeface="Arial Unicode MS"/>
                <a:cs typeface="Arial Unicode MS"/>
              </a:rPr>
              <a:t>DROP TABLE 命令提供相应选项供用户指定处理方式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2088B-91FD-9649-2E44-AC239C049C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8848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21C65E2D-F07D-4DF5-B3D0-DE51456CE487}"/>
              </a:ext>
            </a:extLst>
          </p:cNvPr>
          <p:cNvSpPr>
            <a:spLocks noGrp="1"/>
          </p:cNvSpPr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54C851D-5F03-4646-9038-E8F9B7B0DA05}"/>
              </a:ext>
            </a:extLst>
          </p:cNvPr>
          <p:cNvSpPr>
            <a:spLocks noGrp="1"/>
          </p:cNvSpPr>
          <p:nvPr/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CDF68A03-C704-4BB1-A806-044AF2B9EEE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视图与安全</a:t>
            </a: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22DBF41F-A8D5-4781-A8FA-66ED86759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371600"/>
            <a:ext cx="8382000" cy="53340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视图可以呈现必要信息，同时隐藏底层关系中的细节</a:t>
            </a:r>
          </a:p>
          <a:p>
            <a:pPr lvl="1">
              <a:buFont typeface="Wingdings"/>
              <a:buChar char="§"/>
            </a:pPr>
            <a:r>
              <a:rPr sz="2200">
                <a:latin typeface="Arial Unicode MS"/>
                <a:ea typeface="Arial Unicode MS"/>
                <a:cs typeface="Arial Unicode MS"/>
              </a:rPr>
              <a:t>如果原有关系的模式发生变化，可以定义视图来表示旧模式</a:t>
            </a:r>
          </a:p>
          <a:p>
            <a:pPr lvl="2">
              <a:buFont typeface="Wingdings"/>
              <a:buChar char="§"/>
            </a:pPr>
            <a:r>
              <a:rPr sz="2000">
                <a:latin typeface="Arial Unicode MS"/>
                <a:ea typeface="Arial Unicode MS"/>
                <a:cs typeface="Arial Unicode MS"/>
              </a:rPr>
              <a:t>这样应用程序仍可透明地使用旧模式</a:t>
            </a:r>
          </a:p>
          <a:p>
            <a:pPr lvl="1">
              <a:buFont typeface="Wingdings"/>
              <a:buChar char="§"/>
            </a:pPr>
            <a:endParaRPr sz="2400"/>
          </a:p>
          <a:p>
            <a:pPr lvl="1">
              <a:buFont typeface="Wingdings"/>
              <a:buChar char="§"/>
            </a:pPr>
            <a:endParaRPr sz="2400"/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可以定义视图，让某组用户只能访问其获准查看的信息</a:t>
            </a:r>
          </a:p>
          <a:p>
            <a:pPr lvl="2">
              <a:buFont typeface="Wingdings"/>
              <a:buChar char="§"/>
            </a:pPr>
            <a:r>
              <a:rPr sz="2200">
                <a:latin typeface="Arial Unicode MS"/>
                <a:ea typeface="Arial Unicode MS"/>
                <a:cs typeface="Arial Unicode MS"/>
              </a:rPr>
              <a:t>例如，可以让学生查看其他学生的姓名和年龄，但不能查看 GPA，同时禁止他们直接访问底层的“Students”关系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9F23E4-9061-4E3D-6F5C-78940876AC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53</a:t>
            </a:fld>
            <a:endParaRPr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3ADC04-E552-637D-FD39-B55A32F7F5FC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8001000" cy="1143000"/>
          </a:xfrm>
          <a:prstGeom prst="round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B6395-8E9A-F73F-2740-552089C97AEC}"/>
              </a:ext>
            </a:extLst>
          </p:cNvPr>
          <p:cNvSpPr>
            <a:spLocks noGrp="1"/>
          </p:cNvSpPr>
          <p:nvPr/>
        </p:nvSpPr>
        <p:spPr>
          <a:xfrm>
            <a:off x="2312633" y="339660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>
                <a:solidFill>
                  <a:srgbClr val="C00000"/>
                </a:solidFill>
                <a:latin typeface="Arial Unicode MS"/>
                <a:ea typeface="Arial Unicode MS"/>
                <a:cs typeface="Arial Unicode MS"/>
              </a:rPr>
              <a:t>逻辑数据独立性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FDBA68-B5CA-71B4-5D0D-DB99D85E4D78}"/>
              </a:ext>
            </a:extLst>
          </p:cNvPr>
          <p:cNvSpPr>
            <a:spLocks noGrp="1"/>
          </p:cNvSpPr>
          <p:nvPr/>
        </p:nvSpPr>
        <p:spPr>
          <a:xfrm>
            <a:off x="685801" y="4132908"/>
            <a:ext cx="8001000" cy="1991022"/>
          </a:xfrm>
          <a:prstGeom prst="roundRect">
            <a:avLst>
              <a:gd name="adj" fmla="val 12654"/>
            </a:avLst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F5739-3D2C-6499-2E4E-D578D7877F22}"/>
              </a:ext>
            </a:extLst>
          </p:cNvPr>
          <p:cNvSpPr>
            <a:spLocks noGrp="1"/>
          </p:cNvSpPr>
          <p:nvPr/>
        </p:nvSpPr>
        <p:spPr>
          <a:xfrm>
            <a:off x="2401040" y="616773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400" b="1">
                <a:solidFill>
                  <a:schemeClr val="accent5">
                    <a:lumMod val="75000"/>
                  </a:schemeClr>
                </a:solidFill>
                <a:latin typeface="Arial Unicode MS"/>
                <a:ea typeface="Arial Unicode MS"/>
                <a:cs typeface="Arial Unicode MS"/>
              </a:rPr>
              <a:t>安全性</a:t>
            </a:r>
          </a:p>
        </p:txBody>
      </p:sp>
      <p:sp>
        <p:nvSpPr>
          <p:cNvPr id="68614" name="zh-cover">
            <a:extLst>
              <a:ext uri="{FF2B5EF4-FFF2-40B4-BE49-F238E27FC236}">
                <a16:creationId xmlns:a16="http://schemas.microsoft.com/office/drawing/2014/main" id="{E04844C1-23D9-4AEB-9849-F5BA08A8385C}"/>
              </a:ext>
            </a:extLst>
          </p:cNvPr>
          <p:cNvSpPr>
            <a:spLocks noGrp="1"/>
          </p:cNvSpPr>
          <p:nvPr/>
        </p:nvSpPr>
        <p:spPr>
          <a:xfrm>
            <a:off x="0" y="1066800"/>
            <a:ext cx="9144000" cy="54768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sp>
        <p:nvSpPr>
          <p:cNvPr id="68615" name="zh-logical-independence-box">
            <a:extLst>
              <a:ext uri="{FF2B5EF4-FFF2-40B4-BE49-F238E27FC236}">
                <a16:creationId xmlns:a16="http://schemas.microsoft.com/office/drawing/2014/main" id="{7CE0977A-F98D-4AE2-A485-F3C50614819D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78105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0504D"/>
            </a:solidFill>
            <a:prstDash val="solid"/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sp>
        <p:nvSpPr>
          <p:cNvPr id="68616" name="矩形 68615">
            <a:extLst>
              <a:ext uri="{FF2B5EF4-FFF2-40B4-BE49-F238E27FC236}">
                <a16:creationId xmlns:a16="http://schemas.microsoft.com/office/drawing/2014/main" id="{F0259CD8-6AFC-4702-97CA-835DB13EFA70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47625" rIns="76200" bIns="47625" anchor="ctr">
            <a:normAutofit/>
          </a:bodyPr>
          <a:lstStyle/>
          <a:p>
            <a:pPr>
              <a:defRPr sz="1800" b="1">
                <a:solidFill>
                  <a:srgbClr val="C0504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C0504D"/>
                </a:solidFill>
                <a:latin typeface="Arial Unicode MS"/>
                <a:ea typeface="Arial Unicode MS"/>
                <a:cs typeface="Arial Unicode MS"/>
              </a:rPr>
              <a:t>逻辑数据独立性</a:t>
            </a:r>
          </a:p>
        </p:txBody>
      </p:sp>
      <p:sp>
        <p:nvSpPr>
          <p:cNvPr id="68617" name="矩形 68616">
            <a:extLst>
              <a:ext uri="{FF2B5EF4-FFF2-40B4-BE49-F238E27FC236}">
                <a16:creationId xmlns:a16="http://schemas.microsoft.com/office/drawing/2014/main" id="{BD999A87-910C-4C1A-B8F9-DD96E7EA53A9}"/>
              </a:ext>
            </a:extLst>
          </p:cNvPr>
          <p:cNvSpPr>
            <a:spLocks noGrp="1"/>
          </p:cNvSpPr>
          <p:nvPr/>
        </p:nvSpPr>
        <p:spPr>
          <a:xfrm>
            <a:off x="876300" y="1752600"/>
            <a:ext cx="7391400" cy="1123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t">
            <a:normAutofit/>
          </a:bodyPr>
          <a:lstStyle/>
          <a:p>
            <a:pPr>
              <a:def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视图向应用程序提供稳定接口，同时隐藏底层关系的细节</a:t>
            </a:r>
          </a:p>
          <a:p>
            <a:pPr>
              <a:def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即使基表模式发生变化，也可用视图保留旧的外部模式</a:t>
            </a:r>
          </a:p>
          <a:p>
            <a:pPr>
              <a:def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应用程序因此可继续透明地使用原有接口</a:t>
            </a:r>
          </a:p>
        </p:txBody>
      </p:sp>
      <p:sp>
        <p:nvSpPr>
          <p:cNvPr id="68618" name="zh-security-box">
            <a:extLst>
              <a:ext uri="{FF2B5EF4-FFF2-40B4-BE49-F238E27FC236}">
                <a16:creationId xmlns:a16="http://schemas.microsoft.com/office/drawing/2014/main" id="{8E2C2B98-AE55-4CC5-84C1-344CDD1B11FD}"/>
              </a:ext>
            </a:extLst>
          </p:cNvPr>
          <p:cNvSpPr>
            <a:spLocks noGrp="1"/>
          </p:cNvSpPr>
          <p:nvPr/>
        </p:nvSpPr>
        <p:spPr>
          <a:xfrm>
            <a:off x="666750" y="3219450"/>
            <a:ext cx="7810500" cy="2343150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9050">
            <a:solidFill>
              <a:srgbClr val="2E8AA6"/>
            </a:solidFill>
            <a:prstDash val="solid"/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sp>
        <p:nvSpPr>
          <p:cNvPr id="68619" name="矩形 68618">
            <a:extLst>
              <a:ext uri="{FF2B5EF4-FFF2-40B4-BE49-F238E27FC236}">
                <a16:creationId xmlns:a16="http://schemas.microsoft.com/office/drawing/2014/main" id="{5871E252-BE4D-4D8E-97D8-7B480E6CB917}"/>
              </a:ext>
            </a:extLst>
          </p:cNvPr>
          <p:cNvSpPr>
            <a:spLocks noGrp="1"/>
          </p:cNvSpPr>
          <p:nvPr/>
        </p:nvSpPr>
        <p:spPr>
          <a:xfrm>
            <a:off x="838200" y="3314700"/>
            <a:ext cx="1714500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47625" rIns="76200" bIns="47625" anchor="ctr">
            <a:normAutofit/>
          </a:bodyPr>
          <a:lstStyle/>
          <a:p>
            <a:pPr>
              <a:defRPr sz="1800" b="1">
                <a:solidFill>
                  <a:srgbClr val="2E8AA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E8AA6"/>
                </a:solidFill>
                <a:latin typeface="Arial Unicode MS"/>
                <a:ea typeface="Arial Unicode MS"/>
                <a:cs typeface="Arial Unicode MS"/>
              </a:rPr>
              <a:t>安全性</a:t>
            </a:r>
          </a:p>
        </p:txBody>
      </p:sp>
      <p:sp>
        <p:nvSpPr>
          <p:cNvPr id="68620" name="矩形 68619">
            <a:extLst>
              <a:ext uri="{FF2B5EF4-FFF2-40B4-BE49-F238E27FC236}">
                <a16:creationId xmlns:a16="http://schemas.microsoft.com/office/drawing/2014/main" id="{0421DCA7-6AC1-4D04-85F9-5C35ADC348E4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7391400" cy="16192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t">
            <a:normAutofit/>
          </a:bodyPr>
          <a:lstStyle/>
          <a:p>
            <a:pPr>
              <a:def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视图可以只暴露用户获准查看的行和列</a:t>
            </a:r>
          </a:p>
          <a:p>
            <a:pPr>
              <a:def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例如：学生可查看姓名和年龄，但不可查看 GPA</a:t>
            </a:r>
          </a:p>
          <a:p>
            <a:pPr>
              <a:def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• 还需配合数据库权限，限制用户直接访问 Students 基表</a:t>
            </a:r>
          </a:p>
        </p:txBody>
      </p:sp>
    </p:spTree>
    <p:extLst>
      <p:ext uri="{BB962C8B-B14F-4D97-AF65-F5344CB8AC3E}">
        <p14:creationId xmlns:p14="http://schemas.microsoft.com/office/powerpoint/2010/main" val="25039735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8D549A4A-8814-44BE-A6DB-59DEA1229724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视图：优点与限制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149DB2E7-04F8-445F-B8C1-204E250D9824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F4CAA090-6961-4307-8B6A-D5A38F3CF788}"/>
              </a:ext>
            </a:extLst>
          </p:cNvPr>
          <p:cNvSpPr>
            <a:spLocks noGrp="1"/>
          </p:cNvSpPr>
          <p:nvPr/>
        </p:nvSpPr>
        <p:spPr>
          <a:xfrm>
            <a:off x="4572000" y="1295400"/>
            <a:ext cx="0" cy="3562350"/>
          </a:xfrm>
          <a:prstGeom prst="line">
            <a:avLst/>
          </a:prstGeom>
          <a:noFill/>
          <a:ln w="1143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733A1D-7C32-4E7C-A33E-1DCE5A92489D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主要用途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1FA845-B49D-412F-8200-F22CDD7CEE6D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C050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0504D"/>
                </a:solidFill>
                <a:latin typeface="Arial Unicode MS"/>
                <a:ea typeface="Arial Unicode MS"/>
                <a:cs typeface="Arial Unicode MS"/>
              </a:rPr>
              <a:t>主要限制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8CD37E1-F70F-419F-BA07-260AAD79B68B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3638550" cy="3124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为不断变化的基表提供稳定接口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复用查询逻辑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配合权限设置，控制可见的行和列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714392-65A9-4F73-B490-03E063EB0EFA}"/>
              </a:ext>
            </a:extLst>
          </p:cNvPr>
          <p:cNvSpPr>
            <a:spLocks noGrp="1"/>
          </p:cNvSpPr>
          <p:nvPr/>
        </p:nvSpPr>
        <p:spPr>
          <a:xfrm>
            <a:off x="4895850" y="1752600"/>
            <a:ext cx="3638550" cy="3124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部分视图不能直接更新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查询成本取决于底层执行计划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实现安全控制还必须限制对基表的访问</a:t>
            </a:r>
          </a:p>
        </p:txBody>
      </p:sp>
      <p:sp>
        <p:nvSpPr>
          <p:cNvPr id="8" name="sql-code">
            <a:extLst>
              <a:ext uri="{FF2B5EF4-FFF2-40B4-BE49-F238E27FC236}">
                <a16:creationId xmlns:a16="http://schemas.microsoft.com/office/drawing/2014/main" id="{E1B32108-7500-4883-8A33-527011AD45FD}"/>
              </a:ext>
            </a:extLst>
          </p:cNvPr>
          <p:cNvSpPr>
            <a:spLocks noGrp="1"/>
          </p:cNvSpPr>
          <p:nvPr/>
        </p:nvSpPr>
        <p:spPr>
          <a:xfrm>
            <a:off x="1619250" y="5143500"/>
            <a:ext cx="5905500" cy="99060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CREATE VIEW PublicStudents AS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SELECT sid, name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FROM Students</a:t>
            </a:r>
          </a:p>
        </p:txBody>
      </p:sp>
    </p:spTree>
    <p:extLst>
      <p:ext uri="{BB962C8B-B14F-4D97-AF65-F5344CB8AC3E}">
        <p14:creationId xmlns:p14="http://schemas.microsoft.com/office/powerpoint/2010/main" val="20180572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5F4B90FB-B6B2-48FD-AB5F-7F77E6BC09A6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基础 SQL 检查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FC19CA83-AEFB-4DFE-87A1-B6C8D2709786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FC218E-7D37-4FCB-A051-17AB68178078}"/>
              </a:ext>
            </a:extLst>
          </p:cNvPr>
          <p:cNvSpPr>
            <a:spLocks noGrp="1"/>
          </p:cNvSpPr>
          <p:nvPr/>
        </p:nvSpPr>
        <p:spPr>
          <a:xfrm>
            <a:off x="800100" y="1314450"/>
            <a:ext cx="7543800" cy="31813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8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哪个子句用于在聚合后筛选组？</a:t>
            </a:r>
          </a:p>
          <a:p>
            <a:pPr marL="266700" indent="-127000">
              <a:spcAft>
                <a:spcPts val="1000"/>
              </a:spcAft>
              <a:buChar char="•"/>
              <a:defRPr sz="18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哪个谓词用于查找缺失的 GPA？</a:t>
            </a:r>
          </a:p>
          <a:p>
            <a:pPr marL="266700" indent="-127000">
              <a:spcAft>
                <a:spcPts val="1000"/>
              </a:spcAft>
              <a:buChar char="•"/>
              <a:defRPr sz="18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为什么 Enrolled 通常使用复合主键？</a:t>
            </a:r>
          </a:p>
          <a:p>
            <a:pPr marL="266700" indent="-127000">
              <a:spcAft>
                <a:spcPts val="1000"/>
              </a:spcAft>
              <a:buChar char="•"/>
              <a:defRPr sz="187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哪一种参照动作会自动删除依赖行？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4F6F7D-3FE2-42E8-9CF2-F3A1D51A4AFD}"/>
              </a:ext>
            </a:extLst>
          </p:cNvPr>
          <p:cNvSpPr>
            <a:spLocks noGrp="1"/>
          </p:cNvSpPr>
          <p:nvPr/>
        </p:nvSpPr>
        <p:spPr>
          <a:xfrm>
            <a:off x="1028700" y="4762500"/>
            <a:ext cx="7086600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725" b="1">
                <a:solidFill>
                  <a:srgbClr val="9BBB5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9BBB59"/>
                </a:solidFill>
                <a:latin typeface="Arial Unicode MS"/>
                <a:ea typeface="Arial Unicode MS"/>
                <a:cs typeface="Arial Unicode MS"/>
              </a:rPr>
              <a:t>全班讨论前，先写下四个简短答案。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E00AB0F9-2BAE-472E-95BC-AFC00CD7FD1A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9BBB59"/>
          </a:solidFill>
          <a:ln w="9525">
            <a:solidFill>
              <a:srgbClr val="9BBB59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检查：3 分钟</a:t>
            </a:r>
          </a:p>
        </p:txBody>
      </p:sp>
    </p:spTree>
    <p:extLst>
      <p:ext uri="{BB962C8B-B14F-4D97-AF65-F5344CB8AC3E}">
        <p14:creationId xmlns:p14="http://schemas.microsoft.com/office/powerpoint/2010/main" val="17187830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1319C251-B2E5-4643-AE54-085726345DFD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课间休息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7C7D8126-4FB8-4FEF-908C-1009326B771C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0C935-B689-4044-A3D7-66C6ED74A633}"/>
              </a:ext>
            </a:extLst>
          </p:cNvPr>
          <p:cNvSpPr>
            <a:spLocks noGrp="1"/>
          </p:cNvSpPr>
          <p:nvPr/>
        </p:nvSpPr>
        <p:spPr>
          <a:xfrm>
            <a:off x="1143000" y="2038350"/>
            <a:ext cx="6858000" cy="1143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4650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4650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10 分钟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1082A96-E23C-4A11-91E7-D475F398B58A}"/>
              </a:ext>
            </a:extLst>
          </p:cNvPr>
          <p:cNvSpPr>
            <a:spLocks noGrp="1"/>
          </p:cNvSpPr>
          <p:nvPr/>
        </p:nvSpPr>
        <p:spPr>
          <a:xfrm>
            <a:off x="1257300" y="3505200"/>
            <a:ext cx="662940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8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rPr>
              <a:t>下一部分将把 ER 设计转换为关系模式。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721B710E-E744-4089-9769-6526D5296E35}"/>
              </a:ext>
            </a:extLst>
          </p:cNvPr>
          <p:cNvSpPr>
            <a:spLocks noGrp="1"/>
          </p:cNvSpPr>
          <p:nvPr/>
        </p:nvSpPr>
        <p:spPr>
          <a:xfrm>
            <a:off x="2381250" y="5067300"/>
            <a:ext cx="4381500" cy="666750"/>
          </a:xfrm>
          <a:prstGeom prst="roundRect">
            <a:avLst>
              <a:gd name="adj" fmla="val 14286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十分钟后继续上课。</a:t>
            </a:r>
          </a:p>
        </p:txBody>
      </p:sp>
    </p:spTree>
    <p:extLst>
      <p:ext uri="{BB962C8B-B14F-4D97-AF65-F5344CB8AC3E}">
        <p14:creationId xmlns:p14="http://schemas.microsoft.com/office/powerpoint/2010/main" val="21427560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1BBAF5-EDBA-4B3A-966A-0AB310B2E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>
                <a:latin typeface="Arial Unicode MS"/>
                <a:ea typeface="Arial Unicode MS"/>
                <a:cs typeface="Arial Unicode MS"/>
              </a:rPr>
              <a:t>课程提纲</a:t>
            </a:r>
          </a:p>
        </p:txBody>
      </p:sp>
      <p:graphicFrame>
        <p:nvGraphicFramePr>
          <p:cNvPr id="4104" name="Diagram 21"/>
          <p:cNvGraphicFramePr/>
          <p:nvPr/>
        </p:nvGraphicFramePr>
        <p:xfrm>
          <a:off x="1295400" y="1524000"/>
          <a:ext cx="6477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9F0C05C-63B7-4A0E-B5E9-3511AC21A7DB}"/>
              </a:ext>
            </a:extLst>
          </p:cNvPr>
          <p:cNvSpPr>
            <a:spLocks noGrp="1"/>
          </p:cNvSpPr>
          <p:nvPr/>
        </p:nvSpPr>
        <p:spPr>
          <a:xfrm>
            <a:off x="7772400" y="4343400"/>
            <a:ext cx="1021433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685800" indent="-685800">
              <a:buClr>
                <a:schemeClr val="tx1"/>
              </a:buClr>
              <a:buFont typeface="Wingdings"/>
              <a:buChar char="ü"/>
            </a:pPr>
            <a:r>
              <a:rPr sz="500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AF2C3-7446-06C8-E7D7-24AB17D76C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57</a:t>
            </a:fld>
            <a:endParaRPr/>
          </a:p>
        </p:txBody>
      </p:sp>
      <p:sp>
        <p:nvSpPr>
          <p:cNvPr id="4100" name="zh-outline-57">
            <a:extLst>
              <a:ext uri="{FF2B5EF4-FFF2-40B4-BE49-F238E27FC236}">
                <a16:creationId xmlns:a16="http://schemas.microsoft.com/office/drawing/2014/main" id="{7A77EB1F-88CD-4919-A3E2-D225AE327350}"/>
              </a:ext>
            </a:extLst>
          </p:cNvPr>
          <p:cNvSpPr>
            <a:spLocks noGrp="1"/>
          </p:cNvSpPr>
          <p:nvPr/>
        </p:nvSpPr>
        <p:spPr>
          <a:xfrm>
            <a:off x="1304925" y="1562100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关系模型：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基础概念</a:t>
            </a:r>
          </a:p>
        </p:txBody>
      </p:sp>
      <p:sp>
        <p:nvSpPr>
          <p:cNvPr id="4101" name="zh-outline-57">
            <a:extLst>
              <a:ext uri="{FF2B5EF4-FFF2-40B4-BE49-F238E27FC236}">
                <a16:creationId xmlns:a16="http://schemas.microsoft.com/office/drawing/2014/main" id="{8AADB15D-AD54-435B-9BF7-78AB5F31E528}"/>
              </a:ext>
            </a:extLst>
          </p:cNvPr>
          <p:cNvSpPr>
            <a:spLocks noGrp="1"/>
          </p:cNvSpPr>
          <p:nvPr/>
        </p:nvSpPr>
        <p:spPr>
          <a:xfrm>
            <a:off x="4705350" y="1562100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关系模型：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基础 SQL</a:t>
            </a:r>
          </a:p>
        </p:txBody>
      </p:sp>
      <p:sp>
        <p:nvSpPr>
          <p:cNvPr id="4102" name="zh-outline-57">
            <a:extLst>
              <a:ext uri="{FF2B5EF4-FFF2-40B4-BE49-F238E27FC236}">
                <a16:creationId xmlns:a16="http://schemas.microsoft.com/office/drawing/2014/main" id="{3A6459FC-B3DB-449B-A450-8A1E53871E69}"/>
              </a:ext>
            </a:extLst>
          </p:cNvPr>
          <p:cNvSpPr>
            <a:spLocks noGrp="1"/>
          </p:cNvSpPr>
          <p:nvPr/>
        </p:nvSpPr>
        <p:spPr>
          <a:xfrm>
            <a:off x="3000375" y="3724275"/>
            <a:ext cx="3067050" cy="1828800"/>
          </a:xfrm>
          <a:prstGeom prst="rect">
            <a:avLst/>
          </a:prstGeom>
          <a:solidFill>
            <a:srgbClr val="4F81BD"/>
          </a:solidFill>
          <a:ln w="4763">
            <a:solidFill>
              <a:srgbClr val="4F81BD"/>
            </a:solidFill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 SQL 将</a:t>
            </a:r>
          </a:p>
          <a:p>
            <a:pPr algn="ctr">
              <a:def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ER 图映射为表</a:t>
            </a:r>
          </a:p>
        </p:txBody>
      </p:sp>
    </p:spTree>
    <p:extLst>
      <p:ext uri="{BB962C8B-B14F-4D97-AF65-F5344CB8AC3E}">
        <p14:creationId xmlns:p14="http://schemas.microsoft.com/office/powerpoint/2010/main" val="9327030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652C78-D6F9-44E2-AC32-FA9422D6D223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ER 映射决策表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90777717-0679-423E-BE53-38CC8742438E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58</a:t>
            </a:r>
          </a:p>
        </p:txBody>
      </p:sp>
      <p:graphicFrame>
        <p:nvGraphicFramePr>
          <p:cNvPr id="8" name="表格 7"/>
          <p:cNvGraphicFramePr/>
          <p:nvPr/>
        </p:nvGraphicFramePr>
        <p:xfrm>
          <a:off x="590550" y="1066800"/>
          <a:ext cx="7962900" cy="4762499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035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ER 结构</a:t>
                      </a:r>
                    </a:p>
                  </a:txBody>
                  <a:tcPr anchor="ctr">
                    <a:solidFill>
                      <a:srgbClr val="9BBB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关系模型中的处理方式</a:t>
                      </a:r>
                    </a:p>
                  </a:txBody>
                  <a:tcPr anchor="ctr">
                    <a:solidFill>
                      <a:srgbClr val="9BBB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强实体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创建关系并选择主键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弱实体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包含所有者键和部分键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一对多联系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把外键放在多的一侧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多对多联系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为该联系创建新关系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一对一联系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在合适的一侧放置 UNIQUE 外键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0357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多值属性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创建单独的关系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424987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788F-5B46-FBFE-6837-41649D28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将强实体集转换为表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800E8-4DD0-9EC7-8C78-1FB4CE5E108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59</a:t>
            </a:fld>
            <a:endParaRPr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F63468-9864-398A-0B77-54C7AB4C8531}"/>
              </a:ext>
            </a:extLst>
          </p:cNvPr>
          <p:cNvSpPr>
            <a:spLocks noGrp="1"/>
          </p:cNvSpPr>
          <p:nvPr/>
        </p:nvSpPr>
        <p:spPr>
          <a:xfrm>
            <a:off x="3810000" y="4535549"/>
            <a:ext cx="4985119" cy="1782539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 sz="2200">
                <a:latin typeface="Book Antiqua"/>
                <a:ea typeface="Book Antiqua"/>
                <a:cs typeface="Book Antiqua"/>
              </a:rPr>
              <a:t>CREATE  TABLE  Employees </a:t>
            </a:r>
          </a:p>
          <a:p>
            <a:r>
              <a:rPr sz="2200">
                <a:latin typeface="Book Antiqua"/>
                <a:ea typeface="Book Antiqua"/>
                <a:cs typeface="Book Antiqua"/>
              </a:rPr>
              <a:t>                  	(ssn CHAR(11),</a:t>
            </a:r>
          </a:p>
          <a:p>
            <a:r>
              <a:rPr sz="2200">
                <a:latin typeface="Book Antiqua"/>
                <a:ea typeface="Book Antiqua"/>
                <a:cs typeface="Book Antiqua"/>
              </a:rPr>
              <a:t>                  	name CHAR(20),</a:t>
            </a:r>
          </a:p>
          <a:p>
            <a:r>
              <a:rPr sz="2200">
                <a:latin typeface="Book Antiqua"/>
                <a:ea typeface="Book Antiqua"/>
                <a:cs typeface="Book Antiqua"/>
              </a:rPr>
              <a:t>                  	lot  INTEGER,</a:t>
            </a:r>
          </a:p>
          <a:p>
            <a:r>
              <a:rPr sz="2200">
                <a:latin typeface="Book Antiqua"/>
                <a:ea typeface="Book Antiqua"/>
                <a:cs typeface="Book Antiqua"/>
              </a:rPr>
              <a:t>                  	</a:t>
            </a:r>
            <a:r>
              <a:rPr sz="22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PRIMARY KEY  (ssn)</a:t>
            </a:r>
            <a:r>
              <a:rPr sz="2200">
                <a:latin typeface="Book Antiqua"/>
                <a:ea typeface="Book Antiqua"/>
                <a:cs typeface="Book Antiqua"/>
              </a:rPr>
              <a:t>)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CA4B88C9-89E3-66BE-0E59-4BA5239D455F}"/>
              </a:ext>
            </a:extLst>
          </p:cNvPr>
          <p:cNvSpPr>
            <a:spLocks noGrp="1"/>
          </p:cNvSpPr>
          <p:nvPr/>
        </p:nvSpPr>
        <p:spPr>
          <a:xfrm>
            <a:off x="1447800" y="2819400"/>
            <a:ext cx="1816100" cy="520700"/>
          </a:xfrm>
          <a:prstGeom prst="rect">
            <a:avLst/>
          </a:prstGeom>
          <a:noFill/>
          <a:ln w="12700">
            <a:solidFill>
              <a:schemeClr val="tx2"/>
            </a:solidFill>
          </a:ln>
        </p:spPr>
        <p:txBody>
          <a:bodyPr wrap="none" anchor="ctr"/>
          <a:lstStyle/>
          <a:p>
            <a:endParaRPr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614B61A3-F3A6-00C0-8026-C716A46C5AEE}"/>
              </a:ext>
            </a:extLst>
          </p:cNvPr>
          <p:cNvSpPr>
            <a:spLocks noGrp="1"/>
          </p:cNvSpPr>
          <p:nvPr/>
        </p:nvSpPr>
        <p:spPr>
          <a:xfrm>
            <a:off x="1579562" y="2846387"/>
            <a:ext cx="1522412" cy="3937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20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EF8AA26B-AC88-35A5-666E-FBF114290FCA}"/>
              </a:ext>
            </a:extLst>
          </p:cNvPr>
          <p:cNvSpPr>
            <a:spLocks noGrp="1"/>
          </p:cNvSpPr>
          <p:nvPr/>
        </p:nvSpPr>
        <p:spPr>
          <a:xfrm>
            <a:off x="76200" y="1905000"/>
            <a:ext cx="1130300" cy="520700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txBody>
          <a:bodyPr wrap="none" anchor="ctr"/>
          <a:lstStyle/>
          <a:p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5A289C0-A2BD-4CE7-586F-D542D9C4BDCB}"/>
              </a:ext>
            </a:extLst>
          </p:cNvPr>
          <p:cNvSpPr>
            <a:spLocks noGrp="1"/>
          </p:cNvSpPr>
          <p:nvPr/>
        </p:nvSpPr>
        <p:spPr>
          <a:xfrm>
            <a:off x="358775" y="2006600"/>
            <a:ext cx="619125" cy="3937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20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10" name="Oval 12">
            <a:extLst>
              <a:ext uri="{FF2B5EF4-FFF2-40B4-BE49-F238E27FC236}">
                <a16:creationId xmlns:a16="http://schemas.microsoft.com/office/drawing/2014/main" id="{2ADED7EE-2C20-E781-C039-7626679A3511}"/>
              </a:ext>
            </a:extLst>
          </p:cNvPr>
          <p:cNvSpPr>
            <a:spLocks noGrp="1"/>
          </p:cNvSpPr>
          <p:nvPr/>
        </p:nvSpPr>
        <p:spPr>
          <a:xfrm>
            <a:off x="1752600" y="1676400"/>
            <a:ext cx="1130300" cy="520700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txBody>
          <a:bodyPr wrap="none" anchor="ctr"/>
          <a:lstStyle/>
          <a:p>
            <a:endParaRPr/>
          </a:p>
        </p:txBody>
      </p:sp>
      <p:sp>
        <p:nvSpPr>
          <p:cNvPr id="11" name="Oval 13">
            <a:extLst>
              <a:ext uri="{FF2B5EF4-FFF2-40B4-BE49-F238E27FC236}">
                <a16:creationId xmlns:a16="http://schemas.microsoft.com/office/drawing/2014/main" id="{29E8B5F4-F489-93D6-2EF3-2E4861C84934}"/>
              </a:ext>
            </a:extLst>
          </p:cNvPr>
          <p:cNvSpPr>
            <a:spLocks noGrp="1"/>
          </p:cNvSpPr>
          <p:nvPr/>
        </p:nvSpPr>
        <p:spPr>
          <a:xfrm>
            <a:off x="3352800" y="1905000"/>
            <a:ext cx="1130300" cy="520700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txBody>
          <a:bodyPr wrap="none" anchor="ctr"/>
          <a:lstStyle/>
          <a:p>
            <a:endParaRPr/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05D6AE5E-CE86-D750-7A6E-00451F0DF72A}"/>
              </a:ext>
            </a:extLst>
          </p:cNvPr>
          <p:cNvSpPr>
            <a:spLocks noGrp="1"/>
          </p:cNvSpPr>
          <p:nvPr/>
        </p:nvSpPr>
        <p:spPr>
          <a:xfrm>
            <a:off x="1808162" y="1779587"/>
            <a:ext cx="844550" cy="3937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20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76F08AA4-D783-F1F1-E097-C83336CE5CD5}"/>
              </a:ext>
            </a:extLst>
          </p:cNvPr>
          <p:cNvSpPr>
            <a:spLocks noGrp="1"/>
          </p:cNvSpPr>
          <p:nvPr/>
        </p:nvSpPr>
        <p:spPr>
          <a:xfrm>
            <a:off x="3636962" y="2009775"/>
            <a:ext cx="490537" cy="3937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2000" b="1">
                <a:solidFill>
                  <a:schemeClr val="tx2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14" name="Line 16">
            <a:extLst>
              <a:ext uri="{FF2B5EF4-FFF2-40B4-BE49-F238E27FC236}">
                <a16:creationId xmlns:a16="http://schemas.microsoft.com/office/drawing/2014/main" id="{5629782C-D37A-E2A7-22E8-95EB18D2807B}"/>
              </a:ext>
            </a:extLst>
          </p:cNvPr>
          <p:cNvSpPr>
            <a:spLocks noGrp="1"/>
          </p:cNvSpPr>
          <p:nvPr/>
        </p:nvSpPr>
        <p:spPr>
          <a:xfrm>
            <a:off x="685800" y="2438400"/>
            <a:ext cx="749300" cy="3683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0C58D40A-A03F-0E18-E037-D11DE8CF252E}"/>
              </a:ext>
            </a:extLst>
          </p:cNvPr>
          <p:cNvSpPr>
            <a:spLocks noGrp="1"/>
          </p:cNvSpPr>
          <p:nvPr/>
        </p:nvSpPr>
        <p:spPr>
          <a:xfrm>
            <a:off x="2355850" y="2209800"/>
            <a:ext cx="0" cy="5969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Line 18">
            <a:extLst>
              <a:ext uri="{FF2B5EF4-FFF2-40B4-BE49-F238E27FC236}">
                <a16:creationId xmlns:a16="http://schemas.microsoft.com/office/drawing/2014/main" id="{2DE2084C-B52C-238A-F845-6F311687A3B0}"/>
              </a:ext>
            </a:extLst>
          </p:cNvPr>
          <p:cNvSpPr>
            <a:spLocks noGrp="1"/>
          </p:cNvSpPr>
          <p:nvPr/>
        </p:nvSpPr>
        <p:spPr>
          <a:xfrm flipV="1">
            <a:off x="3276600" y="2425700"/>
            <a:ext cx="596900" cy="3937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Striped Right Arrow 20">
            <a:extLst>
              <a:ext uri="{FF2B5EF4-FFF2-40B4-BE49-F238E27FC236}">
                <a16:creationId xmlns:a16="http://schemas.microsoft.com/office/drawing/2014/main" id="{219E5A65-9795-19A9-7E7C-78924B6C4BEE}"/>
              </a:ext>
            </a:extLst>
          </p:cNvPr>
          <p:cNvSpPr>
            <a:spLocks noGrp="1"/>
          </p:cNvSpPr>
          <p:nvPr/>
        </p:nvSpPr>
        <p:spPr>
          <a:xfrm>
            <a:off x="4648200" y="2152251"/>
            <a:ext cx="533400" cy="865051"/>
          </a:xfrm>
          <a:prstGeom prst="striped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FD8F33D9-FF16-B48C-9EAD-14B31C998D80}"/>
              </a:ext>
            </a:extLst>
          </p:cNvPr>
          <p:cNvSpPr>
            <a:spLocks noGrp="1"/>
          </p:cNvSpPr>
          <p:nvPr/>
        </p:nvSpPr>
        <p:spPr>
          <a:xfrm>
            <a:off x="5486400" y="1480690"/>
            <a:ext cx="2250627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None/>
            </a:pPr>
            <a:r>
              <a:rPr sz="2400">
                <a:effectLst>
                  <a:outerShdw blurRad="38100" dist="38100" dir="2700000" algn="tl">
                    <a:srgbClr val="C0C0C0"/>
                  </a:outerShdw>
                </a:effectLst>
              </a:rPr>
              <a:t>Employees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12F6B5-5737-60EC-9DBA-DA109DF4A912}"/>
              </a:ext>
            </a:extLst>
          </p:cNvPr>
          <p:cNvSpPr>
            <a:spLocks noGrp="1"/>
          </p:cNvSpPr>
          <p:nvPr/>
        </p:nvSpPr>
        <p:spPr>
          <a:xfrm>
            <a:off x="5899519" y="1953765"/>
            <a:ext cx="2057400" cy="21336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D9AC7C2D-BF32-9C08-9AB2-5F69242B21AE}"/>
              </a:ext>
            </a:extLst>
          </p:cNvPr>
          <p:cNvSpPr>
            <a:spLocks noGrp="1"/>
          </p:cNvSpPr>
          <p:nvPr/>
        </p:nvSpPr>
        <p:spPr>
          <a:xfrm>
            <a:off x="5899519" y="1953765"/>
            <a:ext cx="28956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>
                <a:solidFill>
                  <a:srgbClr val="FD020F"/>
                </a:solidFill>
              </a:rPr>
              <a:t>ssn    name   lot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0E8B68D6-47B1-0593-313A-97F52A016FAA}"/>
              </a:ext>
            </a:extLst>
          </p:cNvPr>
          <p:cNvSpPr>
            <a:spLocks noGrp="1"/>
          </p:cNvSpPr>
          <p:nvPr/>
        </p:nvSpPr>
        <p:spPr>
          <a:xfrm flipV="1">
            <a:off x="5899519" y="2395091"/>
            <a:ext cx="2057400" cy="15874"/>
          </a:xfrm>
          <a:prstGeom prst="line">
            <a:avLst/>
          </a:prstGeom>
          <a:noFill/>
          <a:ln w="28575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057F30D6-3E19-2159-A3BC-14132853C615}"/>
              </a:ext>
            </a:extLst>
          </p:cNvPr>
          <p:cNvSpPr>
            <a:spLocks noGrp="1"/>
          </p:cNvSpPr>
          <p:nvPr/>
        </p:nvSpPr>
        <p:spPr>
          <a:xfrm>
            <a:off x="6585319" y="1953765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F69DCBC1-82AC-C314-353D-5781D9091455}"/>
              </a:ext>
            </a:extLst>
          </p:cNvPr>
          <p:cNvSpPr>
            <a:spLocks noGrp="1"/>
          </p:cNvSpPr>
          <p:nvPr/>
        </p:nvSpPr>
        <p:spPr>
          <a:xfrm>
            <a:off x="7423519" y="1953765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C74B5AE9-A524-E083-264F-9ACE7312EBFC}"/>
              </a:ext>
            </a:extLst>
          </p:cNvPr>
          <p:cNvSpPr>
            <a:spLocks noGrp="1"/>
          </p:cNvSpPr>
          <p:nvPr/>
        </p:nvSpPr>
        <p:spPr>
          <a:xfrm flipV="1">
            <a:off x="5899519" y="2801460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9E23D472-811E-BD55-848B-917F8B051629}"/>
              </a:ext>
            </a:extLst>
          </p:cNvPr>
          <p:cNvSpPr>
            <a:spLocks noGrp="1"/>
          </p:cNvSpPr>
          <p:nvPr/>
        </p:nvSpPr>
        <p:spPr>
          <a:xfrm>
            <a:off x="5899519" y="3172965"/>
            <a:ext cx="2057400" cy="0"/>
          </a:xfrm>
          <a:prstGeom prst="line">
            <a:avLst/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9640912E-98E2-8791-3618-09E532AB1CA1}"/>
              </a:ext>
            </a:extLst>
          </p:cNvPr>
          <p:cNvSpPr>
            <a:spLocks noGrp="1"/>
          </p:cNvSpPr>
          <p:nvPr/>
        </p:nvSpPr>
        <p:spPr>
          <a:xfrm>
            <a:off x="6051919" y="2410965"/>
            <a:ext cx="28956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solidFill>
                  <a:schemeClr val="tx1"/>
                </a:solidFill>
              </a:rPr>
              <a:t>xx    yy        </a:t>
            </a:r>
            <a:r>
              <a:rPr sz="2000">
                <a:solidFill>
                  <a:schemeClr val="tx1"/>
                </a:solidFill>
              </a:rPr>
              <a:t>zz</a:t>
            </a:r>
            <a:r>
              <a:rPr sz="2000" b="0">
                <a:solidFill>
                  <a:schemeClr val="tx1"/>
                </a:solidFill>
              </a:rPr>
              <a:t>  </a:t>
            </a:r>
          </a:p>
        </p:txBody>
      </p:sp>
      <p:sp>
        <p:nvSpPr>
          <p:cNvPr id="29" name="Text Box 27">
            <a:extLst>
              <a:ext uri="{FF2B5EF4-FFF2-40B4-BE49-F238E27FC236}">
                <a16:creationId xmlns:a16="http://schemas.microsoft.com/office/drawing/2014/main" id="{8E626C52-9C73-5870-E8C6-E8ABF25D8691}"/>
              </a:ext>
            </a:extLst>
          </p:cNvPr>
          <p:cNvSpPr>
            <a:spLocks noGrp="1"/>
          </p:cNvSpPr>
          <p:nvPr/>
        </p:nvSpPr>
        <p:spPr>
          <a:xfrm>
            <a:off x="5442319" y="2410965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latin typeface="Arial Narrow"/>
                <a:ea typeface="Arial Narrow"/>
                <a:cs typeface="Arial Narrow"/>
              </a:rPr>
              <a:t>e1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7F2E19FD-37FE-6634-630A-CEFC8D866793}"/>
              </a:ext>
            </a:extLst>
          </p:cNvPr>
          <p:cNvSpPr>
            <a:spLocks noGrp="1"/>
          </p:cNvSpPr>
          <p:nvPr/>
        </p:nvSpPr>
        <p:spPr>
          <a:xfrm>
            <a:off x="5442319" y="277609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latin typeface="Arial Narrow"/>
                <a:ea typeface="Arial Narrow"/>
                <a:cs typeface="Arial Narrow"/>
              </a:rPr>
              <a:t>e2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7037D54E-3AC9-93C3-8DC9-81F54C91C92E}"/>
              </a:ext>
            </a:extLst>
          </p:cNvPr>
          <p:cNvSpPr>
            <a:spLocks noGrp="1"/>
          </p:cNvSpPr>
          <p:nvPr/>
        </p:nvSpPr>
        <p:spPr>
          <a:xfrm>
            <a:off x="5442319" y="3309490"/>
            <a:ext cx="533400" cy="396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2000" b="0">
                <a:latin typeface="Arial Narrow"/>
                <a:ea typeface="Arial Narrow"/>
                <a:cs typeface="Arial Narrow"/>
              </a:rPr>
              <a:t>:</a:t>
            </a:r>
            <a:endParaRPr sz="2000" b="0">
              <a:solidFill>
                <a:srgbClr val="FD020F"/>
              </a:solidFill>
            </a:endParaRPr>
          </a:p>
        </p:txBody>
      </p:sp>
      <p:sp>
        <p:nvSpPr>
          <p:cNvPr id="32" name="AutoShape 31">
            <a:extLst>
              <a:ext uri="{FF2B5EF4-FFF2-40B4-BE49-F238E27FC236}">
                <a16:creationId xmlns:a16="http://schemas.microsoft.com/office/drawing/2014/main" id="{7689547A-06CD-06BC-D157-27C151BCD0A1}"/>
              </a:ext>
            </a:extLst>
          </p:cNvPr>
          <p:cNvSpPr>
            <a:spLocks noGrp="1"/>
          </p:cNvSpPr>
          <p:nvPr/>
        </p:nvSpPr>
        <p:spPr>
          <a:xfrm>
            <a:off x="8045820" y="2437012"/>
            <a:ext cx="152400" cy="1676400"/>
          </a:xfrm>
          <a:prstGeom prst="rightBrace">
            <a:avLst>
              <a:gd name="adj1" fmla="val 91667"/>
              <a:gd name="adj2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wrap="none" anchor="ctr"/>
          <a:lstStyle/>
          <a:p>
            <a:pPr>
              <a:buNone/>
            </a:pPr>
            <a:endParaRPr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6CB2654E-CB96-BFBC-E477-3DB74AC6D0FE}"/>
              </a:ext>
            </a:extLst>
          </p:cNvPr>
          <p:cNvSpPr>
            <a:spLocks noGrp="1"/>
          </p:cNvSpPr>
          <p:nvPr/>
        </p:nvSpPr>
        <p:spPr>
          <a:xfrm>
            <a:off x="8198220" y="2876750"/>
            <a:ext cx="945780" cy="10287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0033"/>
              </a:buClr>
              <a:buSzPct val="75000"/>
              <a:buFont typeface="Zapf Dingbats"/>
              <a:buChar char="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5pPr>
            <a:lvl6pPr marL="25146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6pPr>
            <a:lvl7pPr marL="29718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7pPr>
            <a:lvl8pPr marL="34290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8pPr>
            <a:lvl9pPr marL="3886200" indent="-22860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Zapf Dingbats"/>
              <a:buChar char=""/>
              <a:defRPr sz="2400">
                <a:solidFill>
                  <a:schemeClr val="accent2"/>
                </a:solidFill>
                <a:latin typeface="Helvetica"/>
                <a:ea typeface="Helvetica"/>
                <a:cs typeface="Helvetica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sz="1800" b="0">
                <a:solidFill>
                  <a:srgbClr val="FD020F"/>
                </a:solidFill>
                <a:latin typeface="Arial Unicode MS"/>
                <a:ea typeface="Arial Unicode MS"/>
                <a:cs typeface="Arial Unicode MS"/>
              </a:rPr>
              <a:t>（实体）</a:t>
            </a:r>
            <a:endParaRPr b="0">
              <a:solidFill>
                <a:srgbClr val="FD020F"/>
              </a:solidFill>
              <a:latin typeface="Arial Narrow"/>
              <a:ea typeface="Arial Narrow"/>
              <a:cs typeface="Arial Narrow"/>
            </a:endParaRPr>
          </a:p>
        </p:txBody>
      </p:sp>
      <p:sp>
        <p:nvSpPr>
          <p:cNvPr id="34" name="zh-cover">
            <a:extLst>
              <a:ext uri="{FF2B5EF4-FFF2-40B4-BE49-F238E27FC236}">
                <a16:creationId xmlns:a16="http://schemas.microsoft.com/office/drawing/2014/main" id="{82B92C84-CA27-4668-BBB2-261E35BED5D9}"/>
              </a:ext>
            </a:extLst>
          </p:cNvPr>
          <p:cNvSpPr>
            <a:spLocks noGrp="1"/>
          </p:cNvSpPr>
          <p:nvPr/>
        </p:nvSpPr>
        <p:spPr>
          <a:xfrm>
            <a:off x="8172450" y="2819400"/>
            <a:ext cx="914400" cy="12573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 lIns="76200" tIns="47625" rIns="76200" bIns="47625" anchor="t">
            <a:normAutofit/>
          </a:bodyPr>
          <a:lstStyle/>
          <a:p>
            <a:endParaRPr/>
          </a:p>
        </p:txBody>
      </p:sp>
      <p:sp>
        <p:nvSpPr>
          <p:cNvPr id="35" name="zh-entity-data-59">
            <a:extLst>
              <a:ext uri="{FF2B5EF4-FFF2-40B4-BE49-F238E27FC236}">
                <a16:creationId xmlns:a16="http://schemas.microsoft.com/office/drawing/2014/main" id="{FAFC659D-6B62-4BD2-84D9-A8F0800FF918}"/>
              </a:ext>
            </a:extLst>
          </p:cNvPr>
          <p:cNvSpPr>
            <a:spLocks noGrp="1"/>
          </p:cNvSpPr>
          <p:nvPr/>
        </p:nvSpPr>
        <p:spPr>
          <a:xfrm>
            <a:off x="8239125" y="2971800"/>
            <a:ext cx="781050" cy="857250"/>
          </a:xfrm>
          <a:prstGeom prst="rect">
            <a:avLst/>
          </a:prstGeom>
          <a:noFill/>
          <a:ln w="0">
            <a:noFill/>
          </a:ln>
        </p:spPr>
        <p:txBody>
          <a:bodyPr lIns="19050" tIns="19050" rIns="19050" bIns="19050" anchor="ctr">
            <a:normAutofit/>
          </a:bodyPr>
          <a:lstStyle/>
          <a:p>
            <a:pPr algn="ctr">
              <a:def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实体</a:t>
            </a:r>
          </a:p>
          <a:p>
            <a:pPr algn="ctr">
              <a:def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7694247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E7A24F5E-B4B9-4AC0-B8C7-E1D7801F163C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复合属性与多值属性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BF9282C2-462D-423D-AB0D-B977467E9017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60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FBE8F9EF-C5AD-42DD-A47E-1BAC2759B816}"/>
              </a:ext>
            </a:extLst>
          </p:cNvPr>
          <p:cNvSpPr>
            <a:spLocks noGrp="1"/>
          </p:cNvSpPr>
          <p:nvPr/>
        </p:nvSpPr>
        <p:spPr>
          <a:xfrm>
            <a:off x="4572000" y="1276350"/>
            <a:ext cx="0" cy="3352800"/>
          </a:xfrm>
          <a:prstGeom prst="line">
            <a:avLst/>
          </a:prstGeom>
          <a:noFill/>
          <a:ln w="1143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07DC1B-59C7-4DDD-9988-751635710D09}"/>
              </a:ext>
            </a:extLst>
          </p:cNvPr>
          <p:cNvSpPr>
            <a:spLocks noGrp="1"/>
          </p:cNvSpPr>
          <p:nvPr/>
        </p:nvSpPr>
        <p:spPr>
          <a:xfrm>
            <a:off x="552450" y="123825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复合属性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388839-CD16-4123-A655-2BE55165652F}"/>
              </a:ext>
            </a:extLst>
          </p:cNvPr>
          <p:cNvSpPr>
            <a:spLocks noGrp="1"/>
          </p:cNvSpPr>
          <p:nvPr/>
        </p:nvSpPr>
        <p:spPr>
          <a:xfrm>
            <a:off x="4857750" y="123825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C050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0504D"/>
                </a:solidFill>
                <a:latin typeface="Arial Unicode MS"/>
                <a:ea typeface="Arial Unicode MS"/>
                <a:cs typeface="Arial Unicode MS"/>
              </a:rPr>
              <a:t>多值属性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168C7B-C8F4-4309-A374-5CE4A716826E}"/>
              </a:ext>
            </a:extLst>
          </p:cNvPr>
          <p:cNvSpPr>
            <a:spLocks noGrp="1"/>
          </p:cNvSpPr>
          <p:nvPr/>
        </p:nvSpPr>
        <p:spPr>
          <a:xfrm>
            <a:off x="590550" y="1733550"/>
            <a:ext cx="3638550" cy="2914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存储查询所需的简单组成部分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示例：street、district、postcode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复合属性名称 address 不一定需要成为一列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225165-87E8-4F48-A6A2-127805259C42}"/>
              </a:ext>
            </a:extLst>
          </p:cNvPr>
          <p:cNvSpPr>
            <a:spLocks noGrp="1"/>
          </p:cNvSpPr>
          <p:nvPr/>
        </p:nvSpPr>
        <p:spPr>
          <a:xfrm>
            <a:off x="4895850" y="1733550"/>
            <a:ext cx="3638550" cy="2914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创建单独的关系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把所有者的键作为外键加入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适当时可用所有者键与属性值组成复合键</a:t>
            </a:r>
          </a:p>
        </p:txBody>
      </p:sp>
      <p:sp>
        <p:nvSpPr>
          <p:cNvPr id="8" name="sql-code">
            <a:extLst>
              <a:ext uri="{FF2B5EF4-FFF2-40B4-BE49-F238E27FC236}">
                <a16:creationId xmlns:a16="http://schemas.microsoft.com/office/drawing/2014/main" id="{DDD5960A-785F-4392-837F-5B4F095FAC0F}"/>
              </a:ext>
            </a:extLst>
          </p:cNvPr>
          <p:cNvSpPr>
            <a:spLocks noGrp="1"/>
          </p:cNvSpPr>
          <p:nvPr/>
        </p:nvSpPr>
        <p:spPr>
          <a:xfrm>
            <a:off x="2095500" y="4972050"/>
            <a:ext cx="4953000" cy="12763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StudentPhone (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sid   FK REFERENCES Students,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phone,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PRIMARY KEY (sid, phone)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39142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64FA8-0EEB-3648-1474-2AA658906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将 M:N 联系集转换为表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0328F-D8FF-E7F3-AB58-28E8080D1B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61</a:t>
            </a:fld>
            <a:endParaRPr/>
          </a:p>
        </p:txBody>
      </p:sp>
      <p:sp>
        <p:nvSpPr>
          <p:cNvPr id="41" name="Freeform 10">
            <a:extLst>
              <a:ext uri="{FF2B5EF4-FFF2-40B4-BE49-F238E27FC236}">
                <a16:creationId xmlns:a16="http://schemas.microsoft.com/office/drawing/2014/main" id="{153D0A07-FC66-5C52-1DD4-D90FABB8E274}"/>
              </a:ext>
            </a:extLst>
          </p:cNvPr>
          <p:cNvSpPr>
            <a:spLocks noGrp="1"/>
          </p:cNvSpPr>
          <p:nvPr/>
        </p:nvSpPr>
        <p:spPr>
          <a:xfrm>
            <a:off x="5343585" y="2008571"/>
            <a:ext cx="720725" cy="519112"/>
          </a:xfrm>
          <a:custGeom>
            <a:avLst/>
            <a:gdLst>
              <a:gd name="T0" fmla="*/ 715963 w 454"/>
              <a:gd name="T1" fmla="*/ 234950 h 327"/>
              <a:gd name="T2" fmla="*/ 706438 w 454"/>
              <a:gd name="T3" fmla="*/ 190500 h 327"/>
              <a:gd name="T4" fmla="*/ 684213 w 454"/>
              <a:gd name="T5" fmla="*/ 149225 h 327"/>
              <a:gd name="T6" fmla="*/ 652463 w 454"/>
              <a:gd name="T7" fmla="*/ 107950 h 327"/>
              <a:gd name="T8" fmla="*/ 612775 w 454"/>
              <a:gd name="T9" fmla="*/ 74612 h 327"/>
              <a:gd name="T10" fmla="*/ 565150 w 454"/>
              <a:gd name="T11" fmla="*/ 46037 h 327"/>
              <a:gd name="T12" fmla="*/ 511175 w 454"/>
              <a:gd name="T13" fmla="*/ 23812 h 327"/>
              <a:gd name="T14" fmla="*/ 452438 w 454"/>
              <a:gd name="T15" fmla="*/ 7937 h 327"/>
              <a:gd name="T16" fmla="*/ 390525 w 454"/>
              <a:gd name="T17" fmla="*/ 0 h 327"/>
              <a:gd name="T18" fmla="*/ 327025 w 454"/>
              <a:gd name="T19" fmla="*/ 0 h 327"/>
              <a:gd name="T20" fmla="*/ 265113 w 454"/>
              <a:gd name="T21" fmla="*/ 7937 h 327"/>
              <a:gd name="T22" fmla="*/ 206375 w 454"/>
              <a:gd name="T23" fmla="*/ 23812 h 327"/>
              <a:gd name="T24" fmla="*/ 152400 w 454"/>
              <a:gd name="T25" fmla="*/ 46037 h 327"/>
              <a:gd name="T26" fmla="*/ 103188 w 454"/>
              <a:gd name="T27" fmla="*/ 74612 h 327"/>
              <a:gd name="T28" fmla="*/ 63500 w 454"/>
              <a:gd name="T29" fmla="*/ 107950 h 327"/>
              <a:gd name="T30" fmla="*/ 33338 w 454"/>
              <a:gd name="T31" fmla="*/ 149225 h 327"/>
              <a:gd name="T32" fmla="*/ 11113 w 454"/>
              <a:gd name="T33" fmla="*/ 190500 h 327"/>
              <a:gd name="T34" fmla="*/ 1588 w 454"/>
              <a:gd name="T35" fmla="*/ 234950 h 327"/>
              <a:gd name="T36" fmla="*/ 1588 w 454"/>
              <a:gd name="T37" fmla="*/ 280987 h 327"/>
              <a:gd name="T38" fmla="*/ 11113 w 454"/>
              <a:gd name="T39" fmla="*/ 325437 h 327"/>
              <a:gd name="T40" fmla="*/ 33338 w 454"/>
              <a:gd name="T41" fmla="*/ 366712 h 327"/>
              <a:gd name="T42" fmla="*/ 63500 w 454"/>
              <a:gd name="T43" fmla="*/ 404812 h 327"/>
              <a:gd name="T44" fmla="*/ 103188 w 454"/>
              <a:gd name="T45" fmla="*/ 441325 h 327"/>
              <a:gd name="T46" fmla="*/ 152400 w 454"/>
              <a:gd name="T47" fmla="*/ 469900 h 327"/>
              <a:gd name="T48" fmla="*/ 206375 w 454"/>
              <a:gd name="T49" fmla="*/ 492125 h 327"/>
              <a:gd name="T50" fmla="*/ 265113 w 454"/>
              <a:gd name="T51" fmla="*/ 508000 h 327"/>
              <a:gd name="T52" fmla="*/ 327025 w 454"/>
              <a:gd name="T53" fmla="*/ 517525 h 327"/>
              <a:gd name="T54" fmla="*/ 390525 w 454"/>
              <a:gd name="T55" fmla="*/ 517525 h 327"/>
              <a:gd name="T56" fmla="*/ 452438 w 454"/>
              <a:gd name="T57" fmla="*/ 508000 h 327"/>
              <a:gd name="T58" fmla="*/ 511175 w 454"/>
              <a:gd name="T59" fmla="*/ 492125 h 327"/>
              <a:gd name="T60" fmla="*/ 565150 w 454"/>
              <a:gd name="T61" fmla="*/ 469900 h 327"/>
              <a:gd name="T62" fmla="*/ 612775 w 454"/>
              <a:gd name="T63" fmla="*/ 441325 h 327"/>
              <a:gd name="T64" fmla="*/ 652463 w 454"/>
              <a:gd name="T65" fmla="*/ 404812 h 327"/>
              <a:gd name="T66" fmla="*/ 684213 w 454"/>
              <a:gd name="T67" fmla="*/ 366712 h 327"/>
              <a:gd name="T68" fmla="*/ 706438 w 454"/>
              <a:gd name="T69" fmla="*/ 325437 h 327"/>
              <a:gd name="T70" fmla="*/ 715963 w 454"/>
              <a:gd name="T71" fmla="*/ 28098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453" y="163"/>
                </a:moveTo>
                <a:lnTo>
                  <a:pt x="451" y="148"/>
                </a:lnTo>
                <a:lnTo>
                  <a:pt x="448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0"/>
                </a:lnTo>
                <a:lnTo>
                  <a:pt x="411" y="68"/>
                </a:lnTo>
                <a:lnTo>
                  <a:pt x="399" y="57"/>
                </a:lnTo>
                <a:lnTo>
                  <a:pt x="386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3" y="9"/>
                </a:lnTo>
                <a:lnTo>
                  <a:pt x="285" y="5"/>
                </a:lnTo>
                <a:lnTo>
                  <a:pt x="265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5" y="47"/>
                </a:lnTo>
                <a:lnTo>
                  <a:pt x="53" y="57"/>
                </a:lnTo>
                <a:lnTo>
                  <a:pt x="40" y="68"/>
                </a:lnTo>
                <a:lnTo>
                  <a:pt x="29" y="80"/>
                </a:lnTo>
                <a:lnTo>
                  <a:pt x="21" y="94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3" y="191"/>
                </a:lnTo>
                <a:lnTo>
                  <a:pt x="7" y="205"/>
                </a:lnTo>
                <a:lnTo>
                  <a:pt x="13" y="217"/>
                </a:lnTo>
                <a:lnTo>
                  <a:pt x="21" y="231"/>
                </a:lnTo>
                <a:lnTo>
                  <a:pt x="29" y="244"/>
                </a:lnTo>
                <a:lnTo>
                  <a:pt x="40" y="255"/>
                </a:lnTo>
                <a:lnTo>
                  <a:pt x="53" y="266"/>
                </a:lnTo>
                <a:lnTo>
                  <a:pt x="65" y="278"/>
                </a:lnTo>
                <a:lnTo>
                  <a:pt x="80" y="288"/>
                </a:lnTo>
                <a:lnTo>
                  <a:pt x="96" y="296"/>
                </a:lnTo>
                <a:lnTo>
                  <a:pt x="113" y="303"/>
                </a:lnTo>
                <a:lnTo>
                  <a:pt x="130" y="310"/>
                </a:lnTo>
                <a:lnTo>
                  <a:pt x="148" y="316"/>
                </a:lnTo>
                <a:lnTo>
                  <a:pt x="167" y="320"/>
                </a:lnTo>
                <a:lnTo>
                  <a:pt x="186" y="323"/>
                </a:lnTo>
                <a:lnTo>
                  <a:pt x="206" y="326"/>
                </a:lnTo>
                <a:lnTo>
                  <a:pt x="225" y="326"/>
                </a:lnTo>
                <a:lnTo>
                  <a:pt x="246" y="326"/>
                </a:lnTo>
                <a:lnTo>
                  <a:pt x="265" y="323"/>
                </a:lnTo>
                <a:lnTo>
                  <a:pt x="285" y="320"/>
                </a:lnTo>
                <a:lnTo>
                  <a:pt x="303" y="316"/>
                </a:lnTo>
                <a:lnTo>
                  <a:pt x="322" y="310"/>
                </a:lnTo>
                <a:lnTo>
                  <a:pt x="339" y="303"/>
                </a:lnTo>
                <a:lnTo>
                  <a:pt x="356" y="296"/>
                </a:lnTo>
                <a:lnTo>
                  <a:pt x="372" y="288"/>
                </a:lnTo>
                <a:lnTo>
                  <a:pt x="386" y="278"/>
                </a:lnTo>
                <a:lnTo>
                  <a:pt x="399" y="266"/>
                </a:lnTo>
                <a:lnTo>
                  <a:pt x="411" y="255"/>
                </a:lnTo>
                <a:lnTo>
                  <a:pt x="422" y="244"/>
                </a:lnTo>
                <a:lnTo>
                  <a:pt x="431" y="231"/>
                </a:lnTo>
                <a:lnTo>
                  <a:pt x="439" y="217"/>
                </a:lnTo>
                <a:lnTo>
                  <a:pt x="445" y="205"/>
                </a:lnTo>
                <a:lnTo>
                  <a:pt x="448" y="191"/>
                </a:lnTo>
                <a:lnTo>
                  <a:pt x="451" y="177"/>
                </a:lnTo>
                <a:lnTo>
                  <a:pt x="453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A20BF101-ACE8-1B7E-8853-348A02999A51}"/>
              </a:ext>
            </a:extLst>
          </p:cNvPr>
          <p:cNvSpPr>
            <a:spLocks noGrp="1"/>
          </p:cNvSpPr>
          <p:nvPr/>
        </p:nvSpPr>
        <p:spPr>
          <a:xfrm>
            <a:off x="6662798" y="2030796"/>
            <a:ext cx="912812" cy="496887"/>
          </a:xfrm>
          <a:custGeom>
            <a:avLst/>
            <a:gdLst>
              <a:gd name="T0" fmla="*/ 1587 w 575"/>
              <a:gd name="T1" fmla="*/ 268287 h 313"/>
              <a:gd name="T2" fmla="*/ 14287 w 575"/>
              <a:gd name="T3" fmla="*/ 311150 h 313"/>
              <a:gd name="T4" fmla="*/ 44450 w 575"/>
              <a:gd name="T5" fmla="*/ 350837 h 313"/>
              <a:gd name="T6" fmla="*/ 82550 w 575"/>
              <a:gd name="T7" fmla="*/ 387350 h 313"/>
              <a:gd name="T8" fmla="*/ 133350 w 575"/>
              <a:gd name="T9" fmla="*/ 422275 h 313"/>
              <a:gd name="T10" fmla="*/ 195262 w 575"/>
              <a:gd name="T11" fmla="*/ 449262 h 313"/>
              <a:gd name="T12" fmla="*/ 261937 w 575"/>
              <a:gd name="T13" fmla="*/ 471487 h 313"/>
              <a:gd name="T14" fmla="*/ 338137 w 575"/>
              <a:gd name="T15" fmla="*/ 485775 h 313"/>
              <a:gd name="T16" fmla="*/ 415925 w 575"/>
              <a:gd name="T17" fmla="*/ 495300 h 313"/>
              <a:gd name="T18" fmla="*/ 493712 w 575"/>
              <a:gd name="T19" fmla="*/ 495300 h 313"/>
              <a:gd name="T20" fmla="*/ 573087 w 575"/>
              <a:gd name="T21" fmla="*/ 485775 h 313"/>
              <a:gd name="T22" fmla="*/ 647700 w 575"/>
              <a:gd name="T23" fmla="*/ 471487 h 313"/>
              <a:gd name="T24" fmla="*/ 715962 w 575"/>
              <a:gd name="T25" fmla="*/ 449262 h 313"/>
              <a:gd name="T26" fmla="*/ 777875 w 575"/>
              <a:gd name="T27" fmla="*/ 422275 h 313"/>
              <a:gd name="T28" fmla="*/ 828675 w 575"/>
              <a:gd name="T29" fmla="*/ 387350 h 313"/>
              <a:gd name="T30" fmla="*/ 868362 w 575"/>
              <a:gd name="T31" fmla="*/ 350837 h 313"/>
              <a:gd name="T32" fmla="*/ 895350 w 575"/>
              <a:gd name="T33" fmla="*/ 311150 h 313"/>
              <a:gd name="T34" fmla="*/ 908050 w 575"/>
              <a:gd name="T35" fmla="*/ 268287 h 313"/>
              <a:gd name="T36" fmla="*/ 908050 w 575"/>
              <a:gd name="T37" fmla="*/ 223837 h 313"/>
              <a:gd name="T38" fmla="*/ 895350 w 575"/>
              <a:gd name="T39" fmla="*/ 180975 h 313"/>
              <a:gd name="T40" fmla="*/ 868362 w 575"/>
              <a:gd name="T41" fmla="*/ 142875 h 313"/>
              <a:gd name="T42" fmla="*/ 828675 w 575"/>
              <a:gd name="T43" fmla="*/ 103187 h 313"/>
              <a:gd name="T44" fmla="*/ 777875 w 575"/>
              <a:gd name="T45" fmla="*/ 71437 h 313"/>
              <a:gd name="T46" fmla="*/ 715962 w 575"/>
              <a:gd name="T47" fmla="*/ 41275 h 313"/>
              <a:gd name="T48" fmla="*/ 647700 w 575"/>
              <a:gd name="T49" fmla="*/ 22225 h 313"/>
              <a:gd name="T50" fmla="*/ 573087 w 575"/>
              <a:gd name="T51" fmla="*/ 7937 h 313"/>
              <a:gd name="T52" fmla="*/ 493712 w 575"/>
              <a:gd name="T53" fmla="*/ 0 h 313"/>
              <a:gd name="T54" fmla="*/ 415925 w 575"/>
              <a:gd name="T55" fmla="*/ 0 h 313"/>
              <a:gd name="T56" fmla="*/ 336550 w 575"/>
              <a:gd name="T57" fmla="*/ 7937 h 313"/>
              <a:gd name="T58" fmla="*/ 261937 w 575"/>
              <a:gd name="T59" fmla="*/ 22225 h 313"/>
              <a:gd name="T60" fmla="*/ 195262 w 575"/>
              <a:gd name="T61" fmla="*/ 44450 h 313"/>
              <a:gd name="T62" fmla="*/ 133350 w 575"/>
              <a:gd name="T63" fmla="*/ 71437 h 313"/>
              <a:gd name="T64" fmla="*/ 82550 w 575"/>
              <a:gd name="T65" fmla="*/ 103187 h 313"/>
              <a:gd name="T66" fmla="*/ 44450 w 575"/>
              <a:gd name="T67" fmla="*/ 142875 h 313"/>
              <a:gd name="T68" fmla="*/ 14287 w 575"/>
              <a:gd name="T69" fmla="*/ 182562 h 313"/>
              <a:gd name="T70" fmla="*/ 1587 w 575"/>
              <a:gd name="T71" fmla="*/ 225425 h 31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75"/>
              <a:gd name="T109" fmla="*/ 0 h 313"/>
              <a:gd name="T110" fmla="*/ 575 w 575"/>
              <a:gd name="T111" fmla="*/ 313 h 313"/>
            </a:gdLst>
            <a:ahLst/>
            <a:cxnLst/>
            <a:rect l="T108" t="T109" r="T110" b="T111"/>
            <a:pathLst>
              <a:path w="575" h="313">
                <a:moveTo>
                  <a:pt x="0" y="156"/>
                </a:moveTo>
                <a:lnTo>
                  <a:pt x="1" y="169"/>
                </a:lnTo>
                <a:lnTo>
                  <a:pt x="5" y="182"/>
                </a:lnTo>
                <a:lnTo>
                  <a:pt x="9" y="196"/>
                </a:lnTo>
                <a:lnTo>
                  <a:pt x="17" y="208"/>
                </a:lnTo>
                <a:lnTo>
                  <a:pt x="28" y="221"/>
                </a:lnTo>
                <a:lnTo>
                  <a:pt x="38" y="234"/>
                </a:lnTo>
                <a:lnTo>
                  <a:pt x="52" y="244"/>
                </a:lnTo>
                <a:lnTo>
                  <a:pt x="67" y="255"/>
                </a:lnTo>
                <a:lnTo>
                  <a:pt x="84" y="266"/>
                </a:lnTo>
                <a:lnTo>
                  <a:pt x="103" y="275"/>
                </a:lnTo>
                <a:lnTo>
                  <a:pt x="123" y="283"/>
                </a:lnTo>
                <a:lnTo>
                  <a:pt x="143" y="290"/>
                </a:lnTo>
                <a:lnTo>
                  <a:pt x="165" y="297"/>
                </a:lnTo>
                <a:lnTo>
                  <a:pt x="189" y="302"/>
                </a:lnTo>
                <a:lnTo>
                  <a:pt x="213" y="306"/>
                </a:lnTo>
                <a:lnTo>
                  <a:pt x="237" y="309"/>
                </a:lnTo>
                <a:lnTo>
                  <a:pt x="262" y="312"/>
                </a:lnTo>
                <a:lnTo>
                  <a:pt x="287" y="312"/>
                </a:lnTo>
                <a:lnTo>
                  <a:pt x="311" y="312"/>
                </a:lnTo>
                <a:lnTo>
                  <a:pt x="337" y="309"/>
                </a:lnTo>
                <a:lnTo>
                  <a:pt x="361" y="306"/>
                </a:lnTo>
                <a:lnTo>
                  <a:pt x="385" y="302"/>
                </a:lnTo>
                <a:lnTo>
                  <a:pt x="408" y="297"/>
                </a:lnTo>
                <a:lnTo>
                  <a:pt x="431" y="290"/>
                </a:lnTo>
                <a:lnTo>
                  <a:pt x="451" y="283"/>
                </a:lnTo>
                <a:lnTo>
                  <a:pt x="471" y="275"/>
                </a:lnTo>
                <a:lnTo>
                  <a:pt x="490" y="266"/>
                </a:lnTo>
                <a:lnTo>
                  <a:pt x="506" y="255"/>
                </a:lnTo>
                <a:lnTo>
                  <a:pt x="522" y="244"/>
                </a:lnTo>
                <a:lnTo>
                  <a:pt x="536" y="234"/>
                </a:lnTo>
                <a:lnTo>
                  <a:pt x="547" y="221"/>
                </a:lnTo>
                <a:lnTo>
                  <a:pt x="556" y="208"/>
                </a:lnTo>
                <a:lnTo>
                  <a:pt x="564" y="196"/>
                </a:lnTo>
                <a:lnTo>
                  <a:pt x="569" y="182"/>
                </a:lnTo>
                <a:lnTo>
                  <a:pt x="572" y="169"/>
                </a:lnTo>
                <a:lnTo>
                  <a:pt x="574" y="156"/>
                </a:lnTo>
                <a:lnTo>
                  <a:pt x="572" y="141"/>
                </a:lnTo>
                <a:lnTo>
                  <a:pt x="569" y="129"/>
                </a:lnTo>
                <a:lnTo>
                  <a:pt x="564" y="114"/>
                </a:lnTo>
                <a:lnTo>
                  <a:pt x="556" y="102"/>
                </a:lnTo>
                <a:lnTo>
                  <a:pt x="547" y="90"/>
                </a:lnTo>
                <a:lnTo>
                  <a:pt x="536" y="76"/>
                </a:lnTo>
                <a:lnTo>
                  <a:pt x="522" y="65"/>
                </a:lnTo>
                <a:lnTo>
                  <a:pt x="506" y="55"/>
                </a:lnTo>
                <a:lnTo>
                  <a:pt x="490" y="45"/>
                </a:lnTo>
                <a:lnTo>
                  <a:pt x="471" y="36"/>
                </a:lnTo>
                <a:lnTo>
                  <a:pt x="451" y="26"/>
                </a:lnTo>
                <a:lnTo>
                  <a:pt x="431" y="20"/>
                </a:lnTo>
                <a:lnTo>
                  <a:pt x="408" y="14"/>
                </a:lnTo>
                <a:lnTo>
                  <a:pt x="385" y="8"/>
                </a:lnTo>
                <a:lnTo>
                  <a:pt x="361" y="5"/>
                </a:lnTo>
                <a:lnTo>
                  <a:pt x="337" y="1"/>
                </a:lnTo>
                <a:lnTo>
                  <a:pt x="311" y="0"/>
                </a:lnTo>
                <a:lnTo>
                  <a:pt x="287" y="0"/>
                </a:lnTo>
                <a:lnTo>
                  <a:pt x="262" y="0"/>
                </a:lnTo>
                <a:lnTo>
                  <a:pt x="237" y="1"/>
                </a:lnTo>
                <a:lnTo>
                  <a:pt x="212" y="5"/>
                </a:lnTo>
                <a:lnTo>
                  <a:pt x="189" y="9"/>
                </a:lnTo>
                <a:lnTo>
                  <a:pt x="165" y="14"/>
                </a:lnTo>
                <a:lnTo>
                  <a:pt x="143" y="20"/>
                </a:lnTo>
                <a:lnTo>
                  <a:pt x="123" y="28"/>
                </a:lnTo>
                <a:lnTo>
                  <a:pt x="102" y="36"/>
                </a:lnTo>
                <a:lnTo>
                  <a:pt x="84" y="45"/>
                </a:lnTo>
                <a:lnTo>
                  <a:pt x="67" y="55"/>
                </a:lnTo>
                <a:lnTo>
                  <a:pt x="52" y="65"/>
                </a:lnTo>
                <a:lnTo>
                  <a:pt x="38" y="78"/>
                </a:lnTo>
                <a:lnTo>
                  <a:pt x="28" y="90"/>
                </a:lnTo>
                <a:lnTo>
                  <a:pt x="17" y="102"/>
                </a:lnTo>
                <a:lnTo>
                  <a:pt x="9" y="115"/>
                </a:lnTo>
                <a:lnTo>
                  <a:pt x="5" y="129"/>
                </a:lnTo>
                <a:lnTo>
                  <a:pt x="1" y="142"/>
                </a:lnTo>
                <a:lnTo>
                  <a:pt x="0" y="156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Freeform 13">
            <a:extLst>
              <a:ext uri="{FF2B5EF4-FFF2-40B4-BE49-F238E27FC236}">
                <a16:creationId xmlns:a16="http://schemas.microsoft.com/office/drawing/2014/main" id="{CFC65729-463E-81E2-0BF7-996D5B7E50FD}"/>
              </a:ext>
            </a:extLst>
          </p:cNvPr>
          <p:cNvSpPr>
            <a:spLocks noGrp="1"/>
          </p:cNvSpPr>
          <p:nvPr/>
        </p:nvSpPr>
        <p:spPr>
          <a:xfrm>
            <a:off x="5913498" y="1627571"/>
            <a:ext cx="939800" cy="519112"/>
          </a:xfrm>
          <a:custGeom>
            <a:avLst/>
            <a:gdLst>
              <a:gd name="T0" fmla="*/ 589 w 592"/>
              <a:gd name="T1" fmla="*/ 148 h 327"/>
              <a:gd name="T2" fmla="*/ 581 w 592"/>
              <a:gd name="T3" fmla="*/ 120 h 327"/>
              <a:gd name="T4" fmla="*/ 563 w 592"/>
              <a:gd name="T5" fmla="*/ 94 h 327"/>
              <a:gd name="T6" fmla="*/ 538 w 592"/>
              <a:gd name="T7" fmla="*/ 68 h 327"/>
              <a:gd name="T8" fmla="*/ 505 w 592"/>
              <a:gd name="T9" fmla="*/ 46 h 327"/>
              <a:gd name="T10" fmla="*/ 465 w 592"/>
              <a:gd name="T11" fmla="*/ 29 h 327"/>
              <a:gd name="T12" fmla="*/ 420 w 592"/>
              <a:gd name="T13" fmla="*/ 14 h 327"/>
              <a:gd name="T14" fmla="*/ 372 w 592"/>
              <a:gd name="T15" fmla="*/ 4 h 327"/>
              <a:gd name="T16" fmla="*/ 321 w 592"/>
              <a:gd name="T17" fmla="*/ 0 h 327"/>
              <a:gd name="T18" fmla="*/ 269 w 592"/>
              <a:gd name="T19" fmla="*/ 0 h 327"/>
              <a:gd name="T20" fmla="*/ 218 w 592"/>
              <a:gd name="T21" fmla="*/ 4 h 327"/>
              <a:gd name="T22" fmla="*/ 170 w 592"/>
              <a:gd name="T23" fmla="*/ 14 h 327"/>
              <a:gd name="T24" fmla="*/ 125 w 592"/>
              <a:gd name="T25" fmla="*/ 29 h 327"/>
              <a:gd name="T26" fmla="*/ 85 w 592"/>
              <a:gd name="T27" fmla="*/ 46 h 327"/>
              <a:gd name="T28" fmla="*/ 53 w 592"/>
              <a:gd name="T29" fmla="*/ 68 h 327"/>
              <a:gd name="T30" fmla="*/ 27 w 592"/>
              <a:gd name="T31" fmla="*/ 94 h 327"/>
              <a:gd name="T32" fmla="*/ 9 w 592"/>
              <a:gd name="T33" fmla="*/ 120 h 327"/>
              <a:gd name="T34" fmla="*/ 1 w 592"/>
              <a:gd name="T35" fmla="*/ 148 h 327"/>
              <a:gd name="T36" fmla="*/ 1 w 592"/>
              <a:gd name="T37" fmla="*/ 177 h 327"/>
              <a:gd name="T38" fmla="*/ 9 w 592"/>
              <a:gd name="T39" fmla="*/ 205 h 327"/>
              <a:gd name="T40" fmla="*/ 27 w 592"/>
              <a:gd name="T41" fmla="*/ 231 h 327"/>
              <a:gd name="T42" fmla="*/ 53 w 592"/>
              <a:gd name="T43" fmla="*/ 257 h 327"/>
              <a:gd name="T44" fmla="*/ 85 w 592"/>
              <a:gd name="T45" fmla="*/ 278 h 327"/>
              <a:gd name="T46" fmla="*/ 125 w 592"/>
              <a:gd name="T47" fmla="*/ 296 h 327"/>
              <a:gd name="T48" fmla="*/ 170 w 592"/>
              <a:gd name="T49" fmla="*/ 310 h 327"/>
              <a:gd name="T50" fmla="*/ 218 w 592"/>
              <a:gd name="T51" fmla="*/ 320 h 327"/>
              <a:gd name="T52" fmla="*/ 269 w 592"/>
              <a:gd name="T53" fmla="*/ 326 h 327"/>
              <a:gd name="T54" fmla="*/ 321 w 592"/>
              <a:gd name="T55" fmla="*/ 326 h 327"/>
              <a:gd name="T56" fmla="*/ 372 w 592"/>
              <a:gd name="T57" fmla="*/ 320 h 327"/>
              <a:gd name="T58" fmla="*/ 420 w 592"/>
              <a:gd name="T59" fmla="*/ 310 h 327"/>
              <a:gd name="T60" fmla="*/ 465 w 592"/>
              <a:gd name="T61" fmla="*/ 296 h 327"/>
              <a:gd name="T62" fmla="*/ 505 w 592"/>
              <a:gd name="T63" fmla="*/ 278 h 327"/>
              <a:gd name="T64" fmla="*/ 538 w 592"/>
              <a:gd name="T65" fmla="*/ 257 h 327"/>
              <a:gd name="T66" fmla="*/ 563 w 592"/>
              <a:gd name="T67" fmla="*/ 231 h 327"/>
              <a:gd name="T68" fmla="*/ 581 w 592"/>
              <a:gd name="T69" fmla="*/ 205 h 327"/>
              <a:gd name="T70" fmla="*/ 589 w 592"/>
              <a:gd name="T71" fmla="*/ 17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92"/>
              <a:gd name="T109" fmla="*/ 0 h 327"/>
              <a:gd name="T110" fmla="*/ 592 w 592"/>
              <a:gd name="T111" fmla="*/ 327 h 327"/>
            </a:gdLst>
            <a:ahLst/>
            <a:cxnLst/>
            <a:rect l="T108" t="T109" r="T110" b="T111"/>
            <a:pathLst>
              <a:path w="592" h="327">
                <a:moveTo>
                  <a:pt x="591" y="163"/>
                </a:moveTo>
                <a:lnTo>
                  <a:pt x="589" y="148"/>
                </a:lnTo>
                <a:lnTo>
                  <a:pt x="586" y="133"/>
                </a:lnTo>
                <a:lnTo>
                  <a:pt x="581" y="120"/>
                </a:lnTo>
                <a:lnTo>
                  <a:pt x="573" y="106"/>
                </a:lnTo>
                <a:lnTo>
                  <a:pt x="563" y="94"/>
                </a:lnTo>
                <a:lnTo>
                  <a:pt x="550" y="81"/>
                </a:lnTo>
                <a:lnTo>
                  <a:pt x="538" y="68"/>
                </a:lnTo>
                <a:lnTo>
                  <a:pt x="521" y="57"/>
                </a:lnTo>
                <a:lnTo>
                  <a:pt x="505" y="46"/>
                </a:lnTo>
                <a:lnTo>
                  <a:pt x="485" y="37"/>
                </a:lnTo>
                <a:lnTo>
                  <a:pt x="465" y="29"/>
                </a:lnTo>
                <a:lnTo>
                  <a:pt x="442" y="21"/>
                </a:lnTo>
                <a:lnTo>
                  <a:pt x="420" y="14"/>
                </a:lnTo>
                <a:lnTo>
                  <a:pt x="395" y="9"/>
                </a:lnTo>
                <a:lnTo>
                  <a:pt x="372" y="4"/>
                </a:lnTo>
                <a:lnTo>
                  <a:pt x="347" y="1"/>
                </a:lnTo>
                <a:lnTo>
                  <a:pt x="321" y="0"/>
                </a:lnTo>
                <a:lnTo>
                  <a:pt x="294" y="0"/>
                </a:lnTo>
                <a:lnTo>
                  <a:pt x="269" y="0"/>
                </a:lnTo>
                <a:lnTo>
                  <a:pt x="243" y="1"/>
                </a:lnTo>
                <a:lnTo>
                  <a:pt x="218" y="4"/>
                </a:lnTo>
                <a:lnTo>
                  <a:pt x="195" y="9"/>
                </a:lnTo>
                <a:lnTo>
                  <a:pt x="170" y="14"/>
                </a:lnTo>
                <a:lnTo>
                  <a:pt x="148" y="21"/>
                </a:lnTo>
                <a:lnTo>
                  <a:pt x="125" y="29"/>
                </a:lnTo>
                <a:lnTo>
                  <a:pt x="105" y="37"/>
                </a:lnTo>
                <a:lnTo>
                  <a:pt x="85" y="46"/>
                </a:lnTo>
                <a:lnTo>
                  <a:pt x="69" y="57"/>
                </a:lnTo>
                <a:lnTo>
                  <a:pt x="53" y="68"/>
                </a:lnTo>
                <a:lnTo>
                  <a:pt x="40" y="81"/>
                </a:lnTo>
                <a:lnTo>
                  <a:pt x="27" y="94"/>
                </a:lnTo>
                <a:lnTo>
                  <a:pt x="17" y="106"/>
                </a:lnTo>
                <a:lnTo>
                  <a:pt x="9" y="120"/>
                </a:lnTo>
                <a:lnTo>
                  <a:pt x="4" y="133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4" y="191"/>
                </a:lnTo>
                <a:lnTo>
                  <a:pt x="9" y="205"/>
                </a:lnTo>
                <a:lnTo>
                  <a:pt x="17" y="219"/>
                </a:lnTo>
                <a:lnTo>
                  <a:pt x="27" y="231"/>
                </a:lnTo>
                <a:lnTo>
                  <a:pt x="40" y="244"/>
                </a:lnTo>
                <a:lnTo>
                  <a:pt x="53" y="257"/>
                </a:lnTo>
                <a:lnTo>
                  <a:pt x="69" y="268"/>
                </a:lnTo>
                <a:lnTo>
                  <a:pt x="85" y="278"/>
                </a:lnTo>
                <a:lnTo>
                  <a:pt x="105" y="288"/>
                </a:lnTo>
                <a:lnTo>
                  <a:pt x="125" y="296"/>
                </a:lnTo>
                <a:lnTo>
                  <a:pt x="148" y="304"/>
                </a:lnTo>
                <a:lnTo>
                  <a:pt x="170" y="310"/>
                </a:lnTo>
                <a:lnTo>
                  <a:pt x="195" y="316"/>
                </a:lnTo>
                <a:lnTo>
                  <a:pt x="218" y="320"/>
                </a:lnTo>
                <a:lnTo>
                  <a:pt x="243" y="324"/>
                </a:lnTo>
                <a:lnTo>
                  <a:pt x="269" y="326"/>
                </a:lnTo>
                <a:lnTo>
                  <a:pt x="294" y="326"/>
                </a:lnTo>
                <a:lnTo>
                  <a:pt x="321" y="326"/>
                </a:lnTo>
                <a:lnTo>
                  <a:pt x="347" y="324"/>
                </a:lnTo>
                <a:lnTo>
                  <a:pt x="372" y="320"/>
                </a:lnTo>
                <a:lnTo>
                  <a:pt x="395" y="316"/>
                </a:lnTo>
                <a:lnTo>
                  <a:pt x="420" y="310"/>
                </a:lnTo>
                <a:lnTo>
                  <a:pt x="442" y="304"/>
                </a:lnTo>
                <a:lnTo>
                  <a:pt x="465" y="296"/>
                </a:lnTo>
                <a:lnTo>
                  <a:pt x="485" y="288"/>
                </a:lnTo>
                <a:lnTo>
                  <a:pt x="505" y="278"/>
                </a:lnTo>
                <a:lnTo>
                  <a:pt x="521" y="268"/>
                </a:lnTo>
                <a:lnTo>
                  <a:pt x="538" y="257"/>
                </a:lnTo>
                <a:lnTo>
                  <a:pt x="550" y="244"/>
                </a:lnTo>
                <a:lnTo>
                  <a:pt x="563" y="231"/>
                </a:lnTo>
                <a:lnTo>
                  <a:pt x="573" y="219"/>
                </a:lnTo>
                <a:lnTo>
                  <a:pt x="581" y="205"/>
                </a:lnTo>
                <a:lnTo>
                  <a:pt x="586" y="191"/>
                </a:lnTo>
                <a:lnTo>
                  <a:pt x="589" y="177"/>
                </a:lnTo>
                <a:lnTo>
                  <a:pt x="591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5" name="Rectangle 14">
            <a:extLst>
              <a:ext uri="{FF2B5EF4-FFF2-40B4-BE49-F238E27FC236}">
                <a16:creationId xmlns:a16="http://schemas.microsoft.com/office/drawing/2014/main" id="{B1DDADD9-D4C8-FA2B-3475-EE45A75FA3E8}"/>
              </a:ext>
            </a:extLst>
          </p:cNvPr>
          <p:cNvSpPr>
            <a:spLocks noGrp="1"/>
          </p:cNvSpPr>
          <p:nvPr/>
        </p:nvSpPr>
        <p:spPr>
          <a:xfrm>
            <a:off x="5957948" y="1695833"/>
            <a:ext cx="835025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E9A321A7-D0E5-5465-A4CE-679CB809EB8D}"/>
              </a:ext>
            </a:extLst>
          </p:cNvPr>
          <p:cNvSpPr>
            <a:spLocks noGrp="1"/>
          </p:cNvSpPr>
          <p:nvPr/>
        </p:nvSpPr>
        <p:spPr>
          <a:xfrm>
            <a:off x="6718360" y="2078421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69DBA96-C931-9F0A-F73A-91D0DFE0815B}"/>
              </a:ext>
            </a:extLst>
          </p:cNvPr>
          <p:cNvSpPr>
            <a:spLocks noGrp="1"/>
          </p:cNvSpPr>
          <p:nvPr/>
        </p:nvSpPr>
        <p:spPr>
          <a:xfrm>
            <a:off x="5448360" y="2092708"/>
            <a:ext cx="4857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did</a:t>
            </a:r>
          </a:p>
        </p:txBody>
      </p:sp>
      <p:sp>
        <p:nvSpPr>
          <p:cNvPr id="49" name="Freeform 18">
            <a:extLst>
              <a:ext uri="{FF2B5EF4-FFF2-40B4-BE49-F238E27FC236}">
                <a16:creationId xmlns:a16="http://schemas.microsoft.com/office/drawing/2014/main" id="{DF520DE2-B2C2-B1EF-5868-6D28E688EA74}"/>
              </a:ext>
            </a:extLst>
          </p:cNvPr>
          <p:cNvSpPr>
            <a:spLocks noGrp="1"/>
          </p:cNvSpPr>
          <p:nvPr/>
        </p:nvSpPr>
        <p:spPr>
          <a:xfrm>
            <a:off x="4259940" y="1408083"/>
            <a:ext cx="720725" cy="519112"/>
          </a:xfrm>
          <a:custGeom>
            <a:avLst/>
            <a:gdLst>
              <a:gd name="T0" fmla="*/ 1 w 454"/>
              <a:gd name="T1" fmla="*/ 177 h 327"/>
              <a:gd name="T2" fmla="*/ 8 w 454"/>
              <a:gd name="T3" fmla="*/ 205 h 327"/>
              <a:gd name="T4" fmla="*/ 21 w 454"/>
              <a:gd name="T5" fmla="*/ 231 h 327"/>
              <a:gd name="T6" fmla="*/ 41 w 454"/>
              <a:gd name="T7" fmla="*/ 257 h 327"/>
              <a:gd name="T8" fmla="*/ 66 w 454"/>
              <a:gd name="T9" fmla="*/ 278 h 327"/>
              <a:gd name="T10" fmla="*/ 96 w 454"/>
              <a:gd name="T11" fmla="*/ 296 h 327"/>
              <a:gd name="T12" fmla="*/ 131 w 454"/>
              <a:gd name="T13" fmla="*/ 311 h 327"/>
              <a:gd name="T14" fmla="*/ 167 w 454"/>
              <a:gd name="T15" fmla="*/ 320 h 327"/>
              <a:gd name="T16" fmla="*/ 206 w 454"/>
              <a:gd name="T17" fmla="*/ 326 h 327"/>
              <a:gd name="T18" fmla="*/ 246 w 454"/>
              <a:gd name="T19" fmla="*/ 326 h 327"/>
              <a:gd name="T20" fmla="*/ 285 w 454"/>
              <a:gd name="T21" fmla="*/ 320 h 327"/>
              <a:gd name="T22" fmla="*/ 322 w 454"/>
              <a:gd name="T23" fmla="*/ 310 h 327"/>
              <a:gd name="T24" fmla="*/ 356 w 454"/>
              <a:gd name="T25" fmla="*/ 296 h 327"/>
              <a:gd name="T26" fmla="*/ 387 w 454"/>
              <a:gd name="T27" fmla="*/ 278 h 327"/>
              <a:gd name="T28" fmla="*/ 412 w 454"/>
              <a:gd name="T29" fmla="*/ 257 h 327"/>
              <a:gd name="T30" fmla="*/ 431 w 454"/>
              <a:gd name="T31" fmla="*/ 231 h 327"/>
              <a:gd name="T32" fmla="*/ 445 w 454"/>
              <a:gd name="T33" fmla="*/ 205 h 327"/>
              <a:gd name="T34" fmla="*/ 453 w 454"/>
              <a:gd name="T35" fmla="*/ 177 h 327"/>
              <a:gd name="T36" fmla="*/ 453 w 454"/>
              <a:gd name="T37" fmla="*/ 148 h 327"/>
              <a:gd name="T38" fmla="*/ 445 w 454"/>
              <a:gd name="T39" fmla="*/ 120 h 327"/>
              <a:gd name="T40" fmla="*/ 431 w 454"/>
              <a:gd name="T41" fmla="*/ 94 h 327"/>
              <a:gd name="T42" fmla="*/ 412 w 454"/>
              <a:gd name="T43" fmla="*/ 68 h 327"/>
              <a:gd name="T44" fmla="*/ 387 w 454"/>
              <a:gd name="T45" fmla="*/ 47 h 327"/>
              <a:gd name="T46" fmla="*/ 356 w 454"/>
              <a:gd name="T47" fmla="*/ 29 h 327"/>
              <a:gd name="T48" fmla="*/ 322 w 454"/>
              <a:gd name="T49" fmla="*/ 15 h 327"/>
              <a:gd name="T50" fmla="*/ 285 w 454"/>
              <a:gd name="T51" fmla="*/ 5 h 327"/>
              <a:gd name="T52" fmla="*/ 246 w 454"/>
              <a:gd name="T53" fmla="*/ 0 h 327"/>
              <a:gd name="T54" fmla="*/ 206 w 454"/>
              <a:gd name="T55" fmla="*/ 0 h 327"/>
              <a:gd name="T56" fmla="*/ 167 w 454"/>
              <a:gd name="T57" fmla="*/ 5 h 327"/>
              <a:gd name="T58" fmla="*/ 131 w 454"/>
              <a:gd name="T59" fmla="*/ 15 h 327"/>
              <a:gd name="T60" fmla="*/ 96 w 454"/>
              <a:gd name="T61" fmla="*/ 29 h 327"/>
              <a:gd name="T62" fmla="*/ 66 w 454"/>
              <a:gd name="T63" fmla="*/ 47 h 327"/>
              <a:gd name="T64" fmla="*/ 41 w 454"/>
              <a:gd name="T65" fmla="*/ 68 h 327"/>
              <a:gd name="T66" fmla="*/ 21 w 454"/>
              <a:gd name="T67" fmla="*/ 94 h 327"/>
              <a:gd name="T68" fmla="*/ 8 w 454"/>
              <a:gd name="T69" fmla="*/ 120 h 327"/>
              <a:gd name="T70" fmla="*/ 1 w 454"/>
              <a:gd name="T71" fmla="*/ 148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0" y="163"/>
                </a:moveTo>
                <a:lnTo>
                  <a:pt x="1" y="177"/>
                </a:lnTo>
                <a:lnTo>
                  <a:pt x="3" y="192"/>
                </a:lnTo>
                <a:lnTo>
                  <a:pt x="8" y="205"/>
                </a:lnTo>
                <a:lnTo>
                  <a:pt x="13" y="219"/>
                </a:lnTo>
                <a:lnTo>
                  <a:pt x="21" y="231"/>
                </a:lnTo>
                <a:lnTo>
                  <a:pt x="30" y="244"/>
                </a:lnTo>
                <a:lnTo>
                  <a:pt x="41" y="257"/>
                </a:lnTo>
                <a:lnTo>
                  <a:pt x="53" y="268"/>
                </a:lnTo>
                <a:lnTo>
                  <a:pt x="66" y="278"/>
                </a:lnTo>
                <a:lnTo>
                  <a:pt x="80" y="288"/>
                </a:lnTo>
                <a:lnTo>
                  <a:pt x="96" y="296"/>
                </a:lnTo>
                <a:lnTo>
                  <a:pt x="113" y="304"/>
                </a:lnTo>
                <a:lnTo>
                  <a:pt x="131" y="311"/>
                </a:lnTo>
                <a:lnTo>
                  <a:pt x="149" y="316"/>
                </a:lnTo>
                <a:lnTo>
                  <a:pt x="167" y="320"/>
                </a:lnTo>
                <a:lnTo>
                  <a:pt x="186" y="324"/>
                </a:lnTo>
                <a:lnTo>
                  <a:pt x="206" y="326"/>
                </a:lnTo>
                <a:lnTo>
                  <a:pt x="227" y="326"/>
                </a:lnTo>
                <a:lnTo>
                  <a:pt x="246" y="326"/>
                </a:lnTo>
                <a:lnTo>
                  <a:pt x="266" y="323"/>
                </a:lnTo>
                <a:lnTo>
                  <a:pt x="285" y="320"/>
                </a:lnTo>
                <a:lnTo>
                  <a:pt x="304" y="316"/>
                </a:lnTo>
                <a:lnTo>
                  <a:pt x="322" y="310"/>
                </a:lnTo>
                <a:lnTo>
                  <a:pt x="340" y="304"/>
                </a:lnTo>
                <a:lnTo>
                  <a:pt x="356" y="296"/>
                </a:lnTo>
                <a:lnTo>
                  <a:pt x="372" y="288"/>
                </a:lnTo>
                <a:lnTo>
                  <a:pt x="387" y="278"/>
                </a:lnTo>
                <a:lnTo>
                  <a:pt x="399" y="266"/>
                </a:lnTo>
                <a:lnTo>
                  <a:pt x="412" y="257"/>
                </a:lnTo>
                <a:lnTo>
                  <a:pt x="423" y="244"/>
                </a:lnTo>
                <a:lnTo>
                  <a:pt x="431" y="231"/>
                </a:lnTo>
                <a:lnTo>
                  <a:pt x="439" y="219"/>
                </a:lnTo>
                <a:lnTo>
                  <a:pt x="445" y="205"/>
                </a:lnTo>
                <a:lnTo>
                  <a:pt x="449" y="191"/>
                </a:lnTo>
                <a:lnTo>
                  <a:pt x="453" y="177"/>
                </a:lnTo>
                <a:lnTo>
                  <a:pt x="453" y="163"/>
                </a:lnTo>
                <a:lnTo>
                  <a:pt x="453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1"/>
                </a:lnTo>
                <a:lnTo>
                  <a:pt x="412" y="68"/>
                </a:lnTo>
                <a:lnTo>
                  <a:pt x="399" y="57"/>
                </a:lnTo>
                <a:lnTo>
                  <a:pt x="387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6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9" y="9"/>
                </a:lnTo>
                <a:lnTo>
                  <a:pt x="131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4"/>
                </a:lnTo>
                <a:lnTo>
                  <a:pt x="13" y="106"/>
                </a:lnTo>
                <a:lnTo>
                  <a:pt x="8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0" name="Rectangle 19">
            <a:extLst>
              <a:ext uri="{FF2B5EF4-FFF2-40B4-BE49-F238E27FC236}">
                <a16:creationId xmlns:a16="http://schemas.microsoft.com/office/drawing/2014/main" id="{A69C7008-934E-D70B-B662-5F754E919D19}"/>
              </a:ext>
            </a:extLst>
          </p:cNvPr>
          <p:cNvSpPr>
            <a:spLocks noGrp="1"/>
          </p:cNvSpPr>
          <p:nvPr/>
        </p:nvSpPr>
        <p:spPr>
          <a:xfrm>
            <a:off x="4264703" y="1506508"/>
            <a:ext cx="700087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</a:t>
            </a:r>
          </a:p>
        </p:txBody>
      </p:sp>
      <p:sp>
        <p:nvSpPr>
          <p:cNvPr id="52" name="Freeform 21">
            <a:extLst>
              <a:ext uri="{FF2B5EF4-FFF2-40B4-BE49-F238E27FC236}">
                <a16:creationId xmlns:a16="http://schemas.microsoft.com/office/drawing/2014/main" id="{4FE6B98F-4067-309F-C909-B4BA506AADA7}"/>
              </a:ext>
            </a:extLst>
          </p:cNvPr>
          <p:cNvSpPr>
            <a:spLocks noGrp="1"/>
          </p:cNvSpPr>
          <p:nvPr/>
        </p:nvSpPr>
        <p:spPr>
          <a:xfrm>
            <a:off x="2398713" y="1611696"/>
            <a:ext cx="720725" cy="519112"/>
          </a:xfrm>
          <a:custGeom>
            <a:avLst/>
            <a:gdLst>
              <a:gd name="T0" fmla="*/ 453 w 454"/>
              <a:gd name="T1" fmla="*/ 148 h 327"/>
              <a:gd name="T2" fmla="*/ 445 w 454"/>
              <a:gd name="T3" fmla="*/ 120 h 327"/>
              <a:gd name="T4" fmla="*/ 431 w 454"/>
              <a:gd name="T5" fmla="*/ 94 h 327"/>
              <a:gd name="T6" fmla="*/ 412 w 454"/>
              <a:gd name="T7" fmla="*/ 68 h 327"/>
              <a:gd name="T8" fmla="*/ 387 w 454"/>
              <a:gd name="T9" fmla="*/ 47 h 327"/>
              <a:gd name="T10" fmla="*/ 356 w 454"/>
              <a:gd name="T11" fmla="*/ 29 h 327"/>
              <a:gd name="T12" fmla="*/ 322 w 454"/>
              <a:gd name="T13" fmla="*/ 15 h 327"/>
              <a:gd name="T14" fmla="*/ 285 w 454"/>
              <a:gd name="T15" fmla="*/ 5 h 327"/>
              <a:gd name="T16" fmla="*/ 246 w 454"/>
              <a:gd name="T17" fmla="*/ 0 h 327"/>
              <a:gd name="T18" fmla="*/ 206 w 454"/>
              <a:gd name="T19" fmla="*/ 0 h 327"/>
              <a:gd name="T20" fmla="*/ 167 w 454"/>
              <a:gd name="T21" fmla="*/ 5 h 327"/>
              <a:gd name="T22" fmla="*/ 131 w 454"/>
              <a:gd name="T23" fmla="*/ 15 h 327"/>
              <a:gd name="T24" fmla="*/ 96 w 454"/>
              <a:gd name="T25" fmla="*/ 29 h 327"/>
              <a:gd name="T26" fmla="*/ 66 w 454"/>
              <a:gd name="T27" fmla="*/ 47 h 327"/>
              <a:gd name="T28" fmla="*/ 41 w 454"/>
              <a:gd name="T29" fmla="*/ 68 h 327"/>
              <a:gd name="T30" fmla="*/ 21 w 454"/>
              <a:gd name="T31" fmla="*/ 94 h 327"/>
              <a:gd name="T32" fmla="*/ 8 w 454"/>
              <a:gd name="T33" fmla="*/ 120 h 327"/>
              <a:gd name="T34" fmla="*/ 1 w 454"/>
              <a:gd name="T35" fmla="*/ 148 h 327"/>
              <a:gd name="T36" fmla="*/ 1 w 454"/>
              <a:gd name="T37" fmla="*/ 177 h 327"/>
              <a:gd name="T38" fmla="*/ 8 w 454"/>
              <a:gd name="T39" fmla="*/ 205 h 327"/>
              <a:gd name="T40" fmla="*/ 21 w 454"/>
              <a:gd name="T41" fmla="*/ 231 h 327"/>
              <a:gd name="T42" fmla="*/ 41 w 454"/>
              <a:gd name="T43" fmla="*/ 257 h 327"/>
              <a:gd name="T44" fmla="*/ 66 w 454"/>
              <a:gd name="T45" fmla="*/ 278 h 327"/>
              <a:gd name="T46" fmla="*/ 96 w 454"/>
              <a:gd name="T47" fmla="*/ 296 h 327"/>
              <a:gd name="T48" fmla="*/ 131 w 454"/>
              <a:gd name="T49" fmla="*/ 310 h 327"/>
              <a:gd name="T50" fmla="*/ 167 w 454"/>
              <a:gd name="T51" fmla="*/ 320 h 327"/>
              <a:gd name="T52" fmla="*/ 206 w 454"/>
              <a:gd name="T53" fmla="*/ 326 h 327"/>
              <a:gd name="T54" fmla="*/ 246 w 454"/>
              <a:gd name="T55" fmla="*/ 326 h 327"/>
              <a:gd name="T56" fmla="*/ 285 w 454"/>
              <a:gd name="T57" fmla="*/ 320 h 327"/>
              <a:gd name="T58" fmla="*/ 322 w 454"/>
              <a:gd name="T59" fmla="*/ 310 h 327"/>
              <a:gd name="T60" fmla="*/ 356 w 454"/>
              <a:gd name="T61" fmla="*/ 296 h 327"/>
              <a:gd name="T62" fmla="*/ 387 w 454"/>
              <a:gd name="T63" fmla="*/ 278 h 327"/>
              <a:gd name="T64" fmla="*/ 412 w 454"/>
              <a:gd name="T65" fmla="*/ 257 h 327"/>
              <a:gd name="T66" fmla="*/ 431 w 454"/>
              <a:gd name="T67" fmla="*/ 231 h 327"/>
              <a:gd name="T68" fmla="*/ 445 w 454"/>
              <a:gd name="T69" fmla="*/ 205 h 327"/>
              <a:gd name="T70" fmla="*/ 453 w 454"/>
              <a:gd name="T71" fmla="*/ 17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453" y="163"/>
                </a:moveTo>
                <a:lnTo>
                  <a:pt x="453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1"/>
                </a:lnTo>
                <a:lnTo>
                  <a:pt x="412" y="68"/>
                </a:lnTo>
                <a:lnTo>
                  <a:pt x="399" y="57"/>
                </a:lnTo>
                <a:lnTo>
                  <a:pt x="387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6" y="2"/>
                </a:lnTo>
                <a:lnTo>
                  <a:pt x="246" y="0"/>
                </a:lnTo>
                <a:lnTo>
                  <a:pt x="227" y="0"/>
                </a:lnTo>
                <a:lnTo>
                  <a:pt x="206" y="0"/>
                </a:lnTo>
                <a:lnTo>
                  <a:pt x="187" y="2"/>
                </a:lnTo>
                <a:lnTo>
                  <a:pt x="167" y="5"/>
                </a:lnTo>
                <a:lnTo>
                  <a:pt x="149" y="9"/>
                </a:lnTo>
                <a:lnTo>
                  <a:pt x="131" y="15"/>
                </a:lnTo>
                <a:lnTo>
                  <a:pt x="113" y="21"/>
                </a:lnTo>
                <a:lnTo>
                  <a:pt x="96" y="29"/>
                </a:lnTo>
                <a:lnTo>
                  <a:pt x="81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4"/>
                </a:lnTo>
                <a:lnTo>
                  <a:pt x="13" y="106"/>
                </a:lnTo>
                <a:lnTo>
                  <a:pt x="8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3" y="191"/>
                </a:lnTo>
                <a:lnTo>
                  <a:pt x="8" y="205"/>
                </a:lnTo>
                <a:lnTo>
                  <a:pt x="13" y="219"/>
                </a:lnTo>
                <a:lnTo>
                  <a:pt x="21" y="231"/>
                </a:lnTo>
                <a:lnTo>
                  <a:pt x="30" y="244"/>
                </a:lnTo>
                <a:lnTo>
                  <a:pt x="41" y="257"/>
                </a:lnTo>
                <a:lnTo>
                  <a:pt x="53" y="268"/>
                </a:lnTo>
                <a:lnTo>
                  <a:pt x="66" y="278"/>
                </a:lnTo>
                <a:lnTo>
                  <a:pt x="81" y="288"/>
                </a:lnTo>
                <a:lnTo>
                  <a:pt x="96" y="296"/>
                </a:lnTo>
                <a:lnTo>
                  <a:pt x="113" y="304"/>
                </a:lnTo>
                <a:lnTo>
                  <a:pt x="131" y="310"/>
                </a:lnTo>
                <a:lnTo>
                  <a:pt x="149" y="316"/>
                </a:lnTo>
                <a:lnTo>
                  <a:pt x="167" y="320"/>
                </a:lnTo>
                <a:lnTo>
                  <a:pt x="187" y="324"/>
                </a:lnTo>
                <a:lnTo>
                  <a:pt x="206" y="326"/>
                </a:lnTo>
                <a:lnTo>
                  <a:pt x="227" y="326"/>
                </a:lnTo>
                <a:lnTo>
                  <a:pt x="246" y="326"/>
                </a:lnTo>
                <a:lnTo>
                  <a:pt x="266" y="324"/>
                </a:lnTo>
                <a:lnTo>
                  <a:pt x="285" y="320"/>
                </a:lnTo>
                <a:lnTo>
                  <a:pt x="304" y="316"/>
                </a:lnTo>
                <a:lnTo>
                  <a:pt x="322" y="310"/>
                </a:lnTo>
                <a:lnTo>
                  <a:pt x="339" y="304"/>
                </a:lnTo>
                <a:lnTo>
                  <a:pt x="356" y="296"/>
                </a:lnTo>
                <a:lnTo>
                  <a:pt x="372" y="288"/>
                </a:lnTo>
                <a:lnTo>
                  <a:pt x="387" y="278"/>
                </a:lnTo>
                <a:lnTo>
                  <a:pt x="399" y="268"/>
                </a:lnTo>
                <a:lnTo>
                  <a:pt x="412" y="257"/>
                </a:lnTo>
                <a:lnTo>
                  <a:pt x="422" y="244"/>
                </a:lnTo>
                <a:lnTo>
                  <a:pt x="431" y="231"/>
                </a:lnTo>
                <a:lnTo>
                  <a:pt x="439" y="219"/>
                </a:lnTo>
                <a:lnTo>
                  <a:pt x="445" y="205"/>
                </a:lnTo>
                <a:lnTo>
                  <a:pt x="449" y="191"/>
                </a:lnTo>
                <a:lnTo>
                  <a:pt x="453" y="177"/>
                </a:lnTo>
                <a:lnTo>
                  <a:pt x="453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3" name="Freeform 22">
            <a:extLst>
              <a:ext uri="{FF2B5EF4-FFF2-40B4-BE49-F238E27FC236}">
                <a16:creationId xmlns:a16="http://schemas.microsoft.com/office/drawing/2014/main" id="{49DABD2D-5DCC-431B-A1EC-DEB0D0F817A1}"/>
              </a:ext>
            </a:extLst>
          </p:cNvPr>
          <p:cNvSpPr>
            <a:spLocks noGrp="1"/>
          </p:cNvSpPr>
          <p:nvPr/>
        </p:nvSpPr>
        <p:spPr>
          <a:xfrm>
            <a:off x="1752600" y="1994283"/>
            <a:ext cx="720725" cy="517524"/>
          </a:xfrm>
          <a:custGeom>
            <a:avLst/>
            <a:gdLst>
              <a:gd name="T0" fmla="*/ 451 w 454"/>
              <a:gd name="T1" fmla="*/ 148 h 326"/>
              <a:gd name="T2" fmla="*/ 445 w 454"/>
              <a:gd name="T3" fmla="*/ 120 h 326"/>
              <a:gd name="T4" fmla="*/ 431 w 454"/>
              <a:gd name="T5" fmla="*/ 93 h 326"/>
              <a:gd name="T6" fmla="*/ 411 w 454"/>
              <a:gd name="T7" fmla="*/ 68 h 326"/>
              <a:gd name="T8" fmla="*/ 386 w 454"/>
              <a:gd name="T9" fmla="*/ 47 h 326"/>
              <a:gd name="T10" fmla="*/ 356 w 454"/>
              <a:gd name="T11" fmla="*/ 29 h 326"/>
              <a:gd name="T12" fmla="*/ 322 w 454"/>
              <a:gd name="T13" fmla="*/ 15 h 326"/>
              <a:gd name="T14" fmla="*/ 285 w 454"/>
              <a:gd name="T15" fmla="*/ 5 h 326"/>
              <a:gd name="T16" fmla="*/ 246 w 454"/>
              <a:gd name="T17" fmla="*/ 0 h 326"/>
              <a:gd name="T18" fmla="*/ 206 w 454"/>
              <a:gd name="T19" fmla="*/ 0 h 326"/>
              <a:gd name="T20" fmla="*/ 167 w 454"/>
              <a:gd name="T21" fmla="*/ 5 h 326"/>
              <a:gd name="T22" fmla="*/ 130 w 454"/>
              <a:gd name="T23" fmla="*/ 15 h 326"/>
              <a:gd name="T24" fmla="*/ 96 w 454"/>
              <a:gd name="T25" fmla="*/ 29 h 326"/>
              <a:gd name="T26" fmla="*/ 66 w 454"/>
              <a:gd name="T27" fmla="*/ 47 h 326"/>
              <a:gd name="T28" fmla="*/ 41 w 454"/>
              <a:gd name="T29" fmla="*/ 68 h 326"/>
              <a:gd name="T30" fmla="*/ 21 w 454"/>
              <a:gd name="T31" fmla="*/ 93 h 326"/>
              <a:gd name="T32" fmla="*/ 7 w 454"/>
              <a:gd name="T33" fmla="*/ 120 h 326"/>
              <a:gd name="T34" fmla="*/ 1 w 454"/>
              <a:gd name="T35" fmla="*/ 148 h 326"/>
              <a:gd name="T36" fmla="*/ 1 w 454"/>
              <a:gd name="T37" fmla="*/ 176 h 326"/>
              <a:gd name="T38" fmla="*/ 7 w 454"/>
              <a:gd name="T39" fmla="*/ 204 h 326"/>
              <a:gd name="T40" fmla="*/ 21 w 454"/>
              <a:gd name="T41" fmla="*/ 231 h 326"/>
              <a:gd name="T42" fmla="*/ 41 w 454"/>
              <a:gd name="T43" fmla="*/ 256 h 326"/>
              <a:gd name="T44" fmla="*/ 66 w 454"/>
              <a:gd name="T45" fmla="*/ 277 h 326"/>
              <a:gd name="T46" fmla="*/ 96 w 454"/>
              <a:gd name="T47" fmla="*/ 295 h 326"/>
              <a:gd name="T48" fmla="*/ 130 w 454"/>
              <a:gd name="T49" fmla="*/ 309 h 326"/>
              <a:gd name="T50" fmla="*/ 167 w 454"/>
              <a:gd name="T51" fmla="*/ 319 h 326"/>
              <a:gd name="T52" fmla="*/ 206 w 454"/>
              <a:gd name="T53" fmla="*/ 325 h 326"/>
              <a:gd name="T54" fmla="*/ 246 w 454"/>
              <a:gd name="T55" fmla="*/ 325 h 326"/>
              <a:gd name="T56" fmla="*/ 285 w 454"/>
              <a:gd name="T57" fmla="*/ 319 h 326"/>
              <a:gd name="T58" fmla="*/ 322 w 454"/>
              <a:gd name="T59" fmla="*/ 309 h 326"/>
              <a:gd name="T60" fmla="*/ 356 w 454"/>
              <a:gd name="T61" fmla="*/ 295 h 326"/>
              <a:gd name="T62" fmla="*/ 386 w 454"/>
              <a:gd name="T63" fmla="*/ 277 h 326"/>
              <a:gd name="T64" fmla="*/ 411 w 454"/>
              <a:gd name="T65" fmla="*/ 256 h 326"/>
              <a:gd name="T66" fmla="*/ 431 w 454"/>
              <a:gd name="T67" fmla="*/ 231 h 326"/>
              <a:gd name="T68" fmla="*/ 445 w 454"/>
              <a:gd name="T69" fmla="*/ 204 h 326"/>
              <a:gd name="T70" fmla="*/ 451 w 454"/>
              <a:gd name="T71" fmla="*/ 176 h 3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6"/>
              <a:gd name="T110" fmla="*/ 454 w 454"/>
              <a:gd name="T111" fmla="*/ 326 h 326"/>
            </a:gdLst>
            <a:ahLst/>
            <a:cxnLst/>
            <a:rect l="T108" t="T109" r="T110" b="T111"/>
            <a:pathLst>
              <a:path w="454" h="326">
                <a:moveTo>
                  <a:pt x="453" y="162"/>
                </a:moveTo>
                <a:lnTo>
                  <a:pt x="451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3"/>
                </a:lnTo>
                <a:lnTo>
                  <a:pt x="422" y="81"/>
                </a:lnTo>
                <a:lnTo>
                  <a:pt x="411" y="68"/>
                </a:lnTo>
                <a:lnTo>
                  <a:pt x="399" y="57"/>
                </a:lnTo>
                <a:lnTo>
                  <a:pt x="386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5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3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2"/>
                </a:lnTo>
                <a:lnTo>
                  <a:pt x="1" y="176"/>
                </a:lnTo>
                <a:lnTo>
                  <a:pt x="3" y="190"/>
                </a:lnTo>
                <a:lnTo>
                  <a:pt x="7" y="204"/>
                </a:lnTo>
                <a:lnTo>
                  <a:pt x="13" y="218"/>
                </a:lnTo>
                <a:lnTo>
                  <a:pt x="21" y="231"/>
                </a:lnTo>
                <a:lnTo>
                  <a:pt x="30" y="243"/>
                </a:lnTo>
                <a:lnTo>
                  <a:pt x="41" y="256"/>
                </a:lnTo>
                <a:lnTo>
                  <a:pt x="53" y="266"/>
                </a:lnTo>
                <a:lnTo>
                  <a:pt x="66" y="277"/>
                </a:lnTo>
                <a:lnTo>
                  <a:pt x="80" y="287"/>
                </a:lnTo>
                <a:lnTo>
                  <a:pt x="96" y="295"/>
                </a:lnTo>
                <a:lnTo>
                  <a:pt x="113" y="303"/>
                </a:lnTo>
                <a:lnTo>
                  <a:pt x="130" y="309"/>
                </a:lnTo>
                <a:lnTo>
                  <a:pt x="148" y="315"/>
                </a:lnTo>
                <a:lnTo>
                  <a:pt x="167" y="319"/>
                </a:lnTo>
                <a:lnTo>
                  <a:pt x="186" y="322"/>
                </a:lnTo>
                <a:lnTo>
                  <a:pt x="206" y="325"/>
                </a:lnTo>
                <a:lnTo>
                  <a:pt x="225" y="325"/>
                </a:lnTo>
                <a:lnTo>
                  <a:pt x="246" y="325"/>
                </a:lnTo>
                <a:lnTo>
                  <a:pt x="265" y="322"/>
                </a:lnTo>
                <a:lnTo>
                  <a:pt x="285" y="319"/>
                </a:lnTo>
                <a:lnTo>
                  <a:pt x="304" y="315"/>
                </a:lnTo>
                <a:lnTo>
                  <a:pt x="322" y="309"/>
                </a:lnTo>
                <a:lnTo>
                  <a:pt x="339" y="303"/>
                </a:lnTo>
                <a:lnTo>
                  <a:pt x="356" y="295"/>
                </a:lnTo>
                <a:lnTo>
                  <a:pt x="372" y="287"/>
                </a:lnTo>
                <a:lnTo>
                  <a:pt x="386" y="277"/>
                </a:lnTo>
                <a:lnTo>
                  <a:pt x="399" y="266"/>
                </a:lnTo>
                <a:lnTo>
                  <a:pt x="411" y="256"/>
                </a:lnTo>
                <a:lnTo>
                  <a:pt x="422" y="243"/>
                </a:lnTo>
                <a:lnTo>
                  <a:pt x="431" y="231"/>
                </a:lnTo>
                <a:lnTo>
                  <a:pt x="439" y="218"/>
                </a:lnTo>
                <a:lnTo>
                  <a:pt x="445" y="204"/>
                </a:lnTo>
                <a:lnTo>
                  <a:pt x="449" y="190"/>
                </a:lnTo>
                <a:lnTo>
                  <a:pt x="451" y="176"/>
                </a:lnTo>
                <a:lnTo>
                  <a:pt x="453" y="16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4" name="Freeform 23">
            <a:extLst>
              <a:ext uri="{FF2B5EF4-FFF2-40B4-BE49-F238E27FC236}">
                <a16:creationId xmlns:a16="http://schemas.microsoft.com/office/drawing/2014/main" id="{C247B4CD-F511-D089-0ADD-07218A977BA3}"/>
              </a:ext>
            </a:extLst>
          </p:cNvPr>
          <p:cNvSpPr>
            <a:spLocks noGrp="1"/>
          </p:cNvSpPr>
          <p:nvPr/>
        </p:nvSpPr>
        <p:spPr>
          <a:xfrm>
            <a:off x="3074988" y="1994283"/>
            <a:ext cx="717550" cy="517524"/>
          </a:xfrm>
          <a:custGeom>
            <a:avLst/>
            <a:gdLst>
              <a:gd name="T0" fmla="*/ 0 w 452"/>
              <a:gd name="T1" fmla="*/ 176 h 326"/>
              <a:gd name="T2" fmla="*/ 7 w 452"/>
              <a:gd name="T3" fmla="*/ 204 h 326"/>
              <a:gd name="T4" fmla="*/ 21 w 452"/>
              <a:gd name="T5" fmla="*/ 231 h 326"/>
              <a:gd name="T6" fmla="*/ 40 w 452"/>
              <a:gd name="T7" fmla="*/ 256 h 326"/>
              <a:gd name="T8" fmla="*/ 65 w 452"/>
              <a:gd name="T9" fmla="*/ 278 h 326"/>
              <a:gd name="T10" fmla="*/ 96 w 452"/>
              <a:gd name="T11" fmla="*/ 295 h 326"/>
              <a:gd name="T12" fmla="*/ 130 w 452"/>
              <a:gd name="T13" fmla="*/ 309 h 326"/>
              <a:gd name="T14" fmla="*/ 167 w 452"/>
              <a:gd name="T15" fmla="*/ 319 h 326"/>
              <a:gd name="T16" fmla="*/ 206 w 452"/>
              <a:gd name="T17" fmla="*/ 325 h 326"/>
              <a:gd name="T18" fmla="*/ 245 w 452"/>
              <a:gd name="T19" fmla="*/ 325 h 326"/>
              <a:gd name="T20" fmla="*/ 283 w 452"/>
              <a:gd name="T21" fmla="*/ 319 h 326"/>
              <a:gd name="T22" fmla="*/ 320 w 452"/>
              <a:gd name="T23" fmla="*/ 309 h 326"/>
              <a:gd name="T24" fmla="*/ 354 w 452"/>
              <a:gd name="T25" fmla="*/ 295 h 326"/>
              <a:gd name="T26" fmla="*/ 385 w 452"/>
              <a:gd name="T27" fmla="*/ 277 h 326"/>
              <a:gd name="T28" fmla="*/ 410 w 452"/>
              <a:gd name="T29" fmla="*/ 254 h 326"/>
              <a:gd name="T30" fmla="*/ 429 w 452"/>
              <a:gd name="T31" fmla="*/ 231 h 326"/>
              <a:gd name="T32" fmla="*/ 443 w 452"/>
              <a:gd name="T33" fmla="*/ 204 h 326"/>
              <a:gd name="T34" fmla="*/ 451 w 452"/>
              <a:gd name="T35" fmla="*/ 176 h 326"/>
              <a:gd name="T36" fmla="*/ 451 w 452"/>
              <a:gd name="T37" fmla="*/ 148 h 326"/>
              <a:gd name="T38" fmla="*/ 443 w 452"/>
              <a:gd name="T39" fmla="*/ 120 h 326"/>
              <a:gd name="T40" fmla="*/ 429 w 452"/>
              <a:gd name="T41" fmla="*/ 93 h 326"/>
              <a:gd name="T42" fmla="*/ 410 w 452"/>
              <a:gd name="T43" fmla="*/ 68 h 326"/>
              <a:gd name="T44" fmla="*/ 385 w 452"/>
              <a:gd name="T45" fmla="*/ 47 h 326"/>
              <a:gd name="T46" fmla="*/ 354 w 452"/>
              <a:gd name="T47" fmla="*/ 29 h 326"/>
              <a:gd name="T48" fmla="*/ 320 w 452"/>
              <a:gd name="T49" fmla="*/ 15 h 326"/>
              <a:gd name="T50" fmla="*/ 283 w 452"/>
              <a:gd name="T51" fmla="*/ 5 h 326"/>
              <a:gd name="T52" fmla="*/ 245 w 452"/>
              <a:gd name="T53" fmla="*/ 0 h 326"/>
              <a:gd name="T54" fmla="*/ 206 w 452"/>
              <a:gd name="T55" fmla="*/ 0 h 326"/>
              <a:gd name="T56" fmla="*/ 167 w 452"/>
              <a:gd name="T57" fmla="*/ 5 h 326"/>
              <a:gd name="T58" fmla="*/ 130 w 452"/>
              <a:gd name="T59" fmla="*/ 15 h 326"/>
              <a:gd name="T60" fmla="*/ 96 w 452"/>
              <a:gd name="T61" fmla="*/ 29 h 326"/>
              <a:gd name="T62" fmla="*/ 65 w 452"/>
              <a:gd name="T63" fmla="*/ 47 h 326"/>
              <a:gd name="T64" fmla="*/ 40 w 452"/>
              <a:gd name="T65" fmla="*/ 68 h 326"/>
              <a:gd name="T66" fmla="*/ 21 w 452"/>
              <a:gd name="T67" fmla="*/ 93 h 326"/>
              <a:gd name="T68" fmla="*/ 7 w 452"/>
              <a:gd name="T69" fmla="*/ 120 h 326"/>
              <a:gd name="T70" fmla="*/ 0 w 452"/>
              <a:gd name="T71" fmla="*/ 148 h 3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2"/>
              <a:gd name="T109" fmla="*/ 0 h 326"/>
              <a:gd name="T110" fmla="*/ 452 w 452"/>
              <a:gd name="T111" fmla="*/ 326 h 326"/>
            </a:gdLst>
            <a:ahLst/>
            <a:cxnLst/>
            <a:rect l="T108" t="T109" r="T110" b="T111"/>
            <a:pathLst>
              <a:path w="452" h="326">
                <a:moveTo>
                  <a:pt x="0" y="162"/>
                </a:moveTo>
                <a:lnTo>
                  <a:pt x="0" y="176"/>
                </a:lnTo>
                <a:lnTo>
                  <a:pt x="3" y="190"/>
                </a:lnTo>
                <a:lnTo>
                  <a:pt x="7" y="204"/>
                </a:lnTo>
                <a:lnTo>
                  <a:pt x="13" y="218"/>
                </a:lnTo>
                <a:lnTo>
                  <a:pt x="21" y="231"/>
                </a:lnTo>
                <a:lnTo>
                  <a:pt x="29" y="243"/>
                </a:lnTo>
                <a:lnTo>
                  <a:pt x="40" y="256"/>
                </a:lnTo>
                <a:lnTo>
                  <a:pt x="52" y="267"/>
                </a:lnTo>
                <a:lnTo>
                  <a:pt x="65" y="278"/>
                </a:lnTo>
                <a:lnTo>
                  <a:pt x="80" y="287"/>
                </a:lnTo>
                <a:lnTo>
                  <a:pt x="96" y="295"/>
                </a:lnTo>
                <a:lnTo>
                  <a:pt x="112" y="303"/>
                </a:lnTo>
                <a:lnTo>
                  <a:pt x="130" y="309"/>
                </a:lnTo>
                <a:lnTo>
                  <a:pt x="148" y="315"/>
                </a:lnTo>
                <a:lnTo>
                  <a:pt x="167" y="319"/>
                </a:lnTo>
                <a:lnTo>
                  <a:pt x="186" y="322"/>
                </a:lnTo>
                <a:lnTo>
                  <a:pt x="206" y="325"/>
                </a:lnTo>
                <a:lnTo>
                  <a:pt x="225" y="325"/>
                </a:lnTo>
                <a:lnTo>
                  <a:pt x="245" y="325"/>
                </a:lnTo>
                <a:lnTo>
                  <a:pt x="264" y="322"/>
                </a:lnTo>
                <a:lnTo>
                  <a:pt x="283" y="319"/>
                </a:lnTo>
                <a:lnTo>
                  <a:pt x="302" y="315"/>
                </a:lnTo>
                <a:lnTo>
                  <a:pt x="320" y="309"/>
                </a:lnTo>
                <a:lnTo>
                  <a:pt x="338" y="303"/>
                </a:lnTo>
                <a:lnTo>
                  <a:pt x="354" y="295"/>
                </a:lnTo>
                <a:lnTo>
                  <a:pt x="370" y="287"/>
                </a:lnTo>
                <a:lnTo>
                  <a:pt x="385" y="277"/>
                </a:lnTo>
                <a:lnTo>
                  <a:pt x="398" y="266"/>
                </a:lnTo>
                <a:lnTo>
                  <a:pt x="410" y="254"/>
                </a:lnTo>
                <a:lnTo>
                  <a:pt x="421" y="243"/>
                </a:lnTo>
                <a:lnTo>
                  <a:pt x="429" y="231"/>
                </a:lnTo>
                <a:lnTo>
                  <a:pt x="437" y="217"/>
                </a:lnTo>
                <a:lnTo>
                  <a:pt x="443" y="204"/>
                </a:lnTo>
                <a:lnTo>
                  <a:pt x="447" y="190"/>
                </a:lnTo>
                <a:lnTo>
                  <a:pt x="451" y="176"/>
                </a:lnTo>
                <a:lnTo>
                  <a:pt x="451" y="162"/>
                </a:lnTo>
                <a:lnTo>
                  <a:pt x="451" y="148"/>
                </a:lnTo>
                <a:lnTo>
                  <a:pt x="447" y="134"/>
                </a:lnTo>
                <a:lnTo>
                  <a:pt x="443" y="120"/>
                </a:lnTo>
                <a:lnTo>
                  <a:pt x="437" y="106"/>
                </a:lnTo>
                <a:lnTo>
                  <a:pt x="429" y="93"/>
                </a:lnTo>
                <a:lnTo>
                  <a:pt x="421" y="81"/>
                </a:lnTo>
                <a:lnTo>
                  <a:pt x="410" y="68"/>
                </a:lnTo>
                <a:lnTo>
                  <a:pt x="398" y="57"/>
                </a:lnTo>
                <a:lnTo>
                  <a:pt x="385" y="47"/>
                </a:lnTo>
                <a:lnTo>
                  <a:pt x="370" y="37"/>
                </a:lnTo>
                <a:lnTo>
                  <a:pt x="354" y="29"/>
                </a:lnTo>
                <a:lnTo>
                  <a:pt x="338" y="21"/>
                </a:lnTo>
                <a:lnTo>
                  <a:pt x="320" y="15"/>
                </a:lnTo>
                <a:lnTo>
                  <a:pt x="302" y="9"/>
                </a:lnTo>
                <a:lnTo>
                  <a:pt x="283" y="5"/>
                </a:lnTo>
                <a:lnTo>
                  <a:pt x="264" y="1"/>
                </a:lnTo>
                <a:lnTo>
                  <a:pt x="245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2" y="21"/>
                </a:lnTo>
                <a:lnTo>
                  <a:pt x="96" y="29"/>
                </a:lnTo>
                <a:lnTo>
                  <a:pt x="80" y="37"/>
                </a:lnTo>
                <a:lnTo>
                  <a:pt x="65" y="47"/>
                </a:lnTo>
                <a:lnTo>
                  <a:pt x="52" y="57"/>
                </a:lnTo>
                <a:lnTo>
                  <a:pt x="40" y="68"/>
                </a:lnTo>
                <a:lnTo>
                  <a:pt x="29" y="81"/>
                </a:lnTo>
                <a:lnTo>
                  <a:pt x="21" y="93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0" y="148"/>
                </a:lnTo>
                <a:lnTo>
                  <a:pt x="0" y="16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5" name="Rectangle 24">
            <a:extLst>
              <a:ext uri="{FF2B5EF4-FFF2-40B4-BE49-F238E27FC236}">
                <a16:creationId xmlns:a16="http://schemas.microsoft.com/office/drawing/2014/main" id="{C44D7122-94EB-9BA9-620C-DF9236DE365A}"/>
              </a:ext>
            </a:extLst>
          </p:cNvPr>
          <p:cNvSpPr>
            <a:spLocks noGrp="1"/>
          </p:cNvSpPr>
          <p:nvPr/>
        </p:nvSpPr>
        <p:spPr>
          <a:xfrm>
            <a:off x="3198813" y="2092708"/>
            <a:ext cx="430212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56" name="Rectangle 25">
            <a:extLst>
              <a:ext uri="{FF2B5EF4-FFF2-40B4-BE49-F238E27FC236}">
                <a16:creationId xmlns:a16="http://schemas.microsoft.com/office/drawing/2014/main" id="{3D5D4423-E23E-F683-571B-C495F29F3CEC}"/>
              </a:ext>
            </a:extLst>
          </p:cNvPr>
          <p:cNvSpPr>
            <a:spLocks noGrp="1"/>
          </p:cNvSpPr>
          <p:nvPr/>
        </p:nvSpPr>
        <p:spPr>
          <a:xfrm>
            <a:off x="2395538" y="1679958"/>
            <a:ext cx="711200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57" name="Rectangle 26">
            <a:extLst>
              <a:ext uri="{FF2B5EF4-FFF2-40B4-BE49-F238E27FC236}">
                <a16:creationId xmlns:a16="http://schemas.microsoft.com/office/drawing/2014/main" id="{9639BB3F-13B0-14DD-1388-CA058397388B}"/>
              </a:ext>
            </a:extLst>
          </p:cNvPr>
          <p:cNvSpPr>
            <a:spLocks noGrp="1"/>
          </p:cNvSpPr>
          <p:nvPr/>
        </p:nvSpPr>
        <p:spPr>
          <a:xfrm>
            <a:off x="1841500" y="2081595"/>
            <a:ext cx="530225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59" name="Rectangle 28">
            <a:extLst>
              <a:ext uri="{FF2B5EF4-FFF2-40B4-BE49-F238E27FC236}">
                <a16:creationId xmlns:a16="http://schemas.microsoft.com/office/drawing/2014/main" id="{2FB0C2F4-D921-622B-401E-781FD82DC12B}"/>
              </a:ext>
            </a:extLst>
          </p:cNvPr>
          <p:cNvSpPr>
            <a:spLocks noGrp="1"/>
          </p:cNvSpPr>
          <p:nvPr/>
        </p:nvSpPr>
        <p:spPr>
          <a:xfrm>
            <a:off x="4078965" y="2909887"/>
            <a:ext cx="1095374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Works_In</a:t>
            </a:r>
          </a:p>
        </p:txBody>
      </p:sp>
      <p:sp>
        <p:nvSpPr>
          <p:cNvPr id="60" name="Freeform 29">
            <a:extLst>
              <a:ext uri="{FF2B5EF4-FFF2-40B4-BE49-F238E27FC236}">
                <a16:creationId xmlns:a16="http://schemas.microsoft.com/office/drawing/2014/main" id="{4097ED78-EFF3-BFBF-B256-C8CBEC481F74}"/>
              </a:ext>
            </a:extLst>
          </p:cNvPr>
          <p:cNvSpPr>
            <a:spLocks noGrp="1"/>
          </p:cNvSpPr>
          <p:nvPr/>
        </p:nvSpPr>
        <p:spPr>
          <a:xfrm>
            <a:off x="3996415" y="2609850"/>
            <a:ext cx="1220787" cy="920750"/>
          </a:xfrm>
          <a:custGeom>
            <a:avLst/>
            <a:gdLst>
              <a:gd name="T0" fmla="*/ 0 w 769"/>
              <a:gd name="T1" fmla="*/ 290 h 580"/>
              <a:gd name="T2" fmla="*/ 378 w 769"/>
              <a:gd name="T3" fmla="*/ 0 h 580"/>
              <a:gd name="T4" fmla="*/ 768 w 769"/>
              <a:gd name="T5" fmla="*/ 300 h 580"/>
              <a:gd name="T6" fmla="*/ 378 w 769"/>
              <a:gd name="T7" fmla="*/ 579 h 580"/>
              <a:gd name="T8" fmla="*/ 0 w 769"/>
              <a:gd name="T9" fmla="*/ 290 h 5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9"/>
              <a:gd name="T16" fmla="*/ 0 h 580"/>
              <a:gd name="T17" fmla="*/ 769 w 769"/>
              <a:gd name="T18" fmla="*/ 580 h 580"/>
            </a:gdLst>
            <a:ahLst/>
            <a:cxnLst/>
            <a:rect l="T15" t="T16" r="T17" b="T18"/>
            <a:pathLst>
              <a:path w="769" h="580">
                <a:moveTo>
                  <a:pt x="0" y="290"/>
                </a:moveTo>
                <a:lnTo>
                  <a:pt x="378" y="0"/>
                </a:lnTo>
                <a:lnTo>
                  <a:pt x="768" y="300"/>
                </a:lnTo>
                <a:lnTo>
                  <a:pt x="378" y="579"/>
                </a:lnTo>
                <a:lnTo>
                  <a:pt x="0" y="290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1" name="Freeform 30">
            <a:extLst>
              <a:ext uri="{FF2B5EF4-FFF2-40B4-BE49-F238E27FC236}">
                <a16:creationId xmlns:a16="http://schemas.microsoft.com/office/drawing/2014/main" id="{A3FBD019-CD41-6C88-1166-24DF6777CE59}"/>
              </a:ext>
            </a:extLst>
          </p:cNvPr>
          <p:cNvSpPr>
            <a:spLocks noGrp="1"/>
          </p:cNvSpPr>
          <p:nvPr/>
        </p:nvSpPr>
        <p:spPr>
          <a:xfrm>
            <a:off x="5761098" y="2846771"/>
            <a:ext cx="1295400" cy="479425"/>
          </a:xfrm>
          <a:custGeom>
            <a:avLst/>
            <a:gdLst>
              <a:gd name="T0" fmla="*/ 1293813 w 816"/>
              <a:gd name="T1" fmla="*/ 477838 h 302"/>
              <a:gd name="T2" fmla="*/ 1293813 w 816"/>
              <a:gd name="T3" fmla="*/ 0 h 302"/>
              <a:gd name="T4" fmla="*/ 0 w 816"/>
              <a:gd name="T5" fmla="*/ 0 h 302"/>
              <a:gd name="T6" fmla="*/ 0 w 816"/>
              <a:gd name="T7" fmla="*/ 477838 h 302"/>
              <a:gd name="T8" fmla="*/ 1293813 w 816"/>
              <a:gd name="T9" fmla="*/ 477838 h 3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6"/>
              <a:gd name="T16" fmla="*/ 0 h 302"/>
              <a:gd name="T17" fmla="*/ 816 w 816"/>
              <a:gd name="T18" fmla="*/ 302 h 302"/>
            </a:gdLst>
            <a:ahLst/>
            <a:cxnLst/>
            <a:rect l="T15" t="T16" r="T17" b="T18"/>
            <a:pathLst>
              <a:path w="816" h="302">
                <a:moveTo>
                  <a:pt x="815" y="301"/>
                </a:moveTo>
                <a:lnTo>
                  <a:pt x="815" y="0"/>
                </a:lnTo>
                <a:lnTo>
                  <a:pt x="0" y="0"/>
                </a:lnTo>
                <a:lnTo>
                  <a:pt x="0" y="301"/>
                </a:lnTo>
                <a:lnTo>
                  <a:pt x="815" y="301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3" name="Freeform 32">
            <a:extLst>
              <a:ext uri="{FF2B5EF4-FFF2-40B4-BE49-F238E27FC236}">
                <a16:creationId xmlns:a16="http://schemas.microsoft.com/office/drawing/2014/main" id="{3979A29B-BB53-A7ED-C73B-FC3098D6E2AD}"/>
              </a:ext>
            </a:extLst>
          </p:cNvPr>
          <p:cNvSpPr>
            <a:spLocks noGrp="1"/>
          </p:cNvSpPr>
          <p:nvPr/>
        </p:nvSpPr>
        <p:spPr>
          <a:xfrm>
            <a:off x="2163763" y="2830896"/>
            <a:ext cx="1292225" cy="468311"/>
          </a:xfrm>
          <a:custGeom>
            <a:avLst/>
            <a:gdLst>
              <a:gd name="T0" fmla="*/ 813 w 814"/>
              <a:gd name="T1" fmla="*/ 294 h 295"/>
              <a:gd name="T2" fmla="*/ 813 w 814"/>
              <a:gd name="T3" fmla="*/ 0 h 295"/>
              <a:gd name="T4" fmla="*/ 0 w 814"/>
              <a:gd name="T5" fmla="*/ 0 h 295"/>
              <a:gd name="T6" fmla="*/ 0 w 814"/>
              <a:gd name="T7" fmla="*/ 294 h 295"/>
              <a:gd name="T8" fmla="*/ 813 w 814"/>
              <a:gd name="T9" fmla="*/ 294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4"/>
              <a:gd name="T16" fmla="*/ 0 h 295"/>
              <a:gd name="T17" fmla="*/ 814 w 814"/>
              <a:gd name="T18" fmla="*/ 295 h 295"/>
            </a:gdLst>
            <a:ahLst/>
            <a:cxnLst/>
            <a:rect l="T15" t="T16" r="T17" b="T18"/>
            <a:pathLst>
              <a:path w="814" h="295">
                <a:moveTo>
                  <a:pt x="813" y="294"/>
                </a:moveTo>
                <a:lnTo>
                  <a:pt x="813" y="0"/>
                </a:lnTo>
                <a:lnTo>
                  <a:pt x="0" y="0"/>
                </a:lnTo>
                <a:lnTo>
                  <a:pt x="0" y="294"/>
                </a:lnTo>
                <a:lnTo>
                  <a:pt x="813" y="294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4" name="Rectangle 33">
            <a:extLst>
              <a:ext uri="{FF2B5EF4-FFF2-40B4-BE49-F238E27FC236}">
                <a16:creationId xmlns:a16="http://schemas.microsoft.com/office/drawing/2014/main" id="{AD15257F-6F32-E2A4-4718-20AF879C2C45}"/>
              </a:ext>
            </a:extLst>
          </p:cNvPr>
          <p:cNvSpPr>
            <a:spLocks noGrp="1"/>
          </p:cNvSpPr>
          <p:nvPr/>
        </p:nvSpPr>
        <p:spPr>
          <a:xfrm>
            <a:off x="2182813" y="2900746"/>
            <a:ext cx="1252537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65" name="Rectangle 34">
            <a:extLst>
              <a:ext uri="{FF2B5EF4-FFF2-40B4-BE49-F238E27FC236}">
                <a16:creationId xmlns:a16="http://schemas.microsoft.com/office/drawing/2014/main" id="{501E6629-C4E3-717D-6D2A-7E5C418FA744}"/>
              </a:ext>
            </a:extLst>
          </p:cNvPr>
          <p:cNvSpPr>
            <a:spLocks noGrp="1"/>
          </p:cNvSpPr>
          <p:nvPr/>
        </p:nvSpPr>
        <p:spPr>
          <a:xfrm>
            <a:off x="5680135" y="2916621"/>
            <a:ext cx="14224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66" name="Line 35">
            <a:extLst>
              <a:ext uri="{FF2B5EF4-FFF2-40B4-BE49-F238E27FC236}">
                <a16:creationId xmlns:a16="http://schemas.microsoft.com/office/drawing/2014/main" id="{E964D0A3-9A36-06AF-EBEC-C22C082AFB24}"/>
              </a:ext>
            </a:extLst>
          </p:cNvPr>
          <p:cNvSpPr>
            <a:spLocks noGrp="1"/>
          </p:cNvSpPr>
          <p:nvPr/>
        </p:nvSpPr>
        <p:spPr>
          <a:xfrm flipH="1">
            <a:off x="3456665" y="3067050"/>
            <a:ext cx="546100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7" name="Line 36">
            <a:extLst>
              <a:ext uri="{FF2B5EF4-FFF2-40B4-BE49-F238E27FC236}">
                <a16:creationId xmlns:a16="http://schemas.microsoft.com/office/drawing/2014/main" id="{A7F6B67E-FDF5-5F43-554E-332BB22282A7}"/>
              </a:ext>
            </a:extLst>
          </p:cNvPr>
          <p:cNvSpPr>
            <a:spLocks noGrp="1"/>
          </p:cNvSpPr>
          <p:nvPr/>
        </p:nvSpPr>
        <p:spPr>
          <a:xfrm>
            <a:off x="5221965" y="3084806"/>
            <a:ext cx="520700" cy="0"/>
          </a:xfrm>
          <a:prstGeom prst="line">
            <a:avLst/>
          </a:prstGeom>
          <a:noFill/>
          <a:ln w="12700">
            <a:solidFill>
              <a:schemeClr val="tx2"/>
            </a:solidFill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8" name="Line 37">
            <a:extLst>
              <a:ext uri="{FF2B5EF4-FFF2-40B4-BE49-F238E27FC236}">
                <a16:creationId xmlns:a16="http://schemas.microsoft.com/office/drawing/2014/main" id="{FFA54458-37F6-28C8-887F-42BF7C2AF20B}"/>
              </a:ext>
            </a:extLst>
          </p:cNvPr>
          <p:cNvSpPr>
            <a:spLocks noGrp="1"/>
          </p:cNvSpPr>
          <p:nvPr/>
        </p:nvSpPr>
        <p:spPr>
          <a:xfrm flipH="1">
            <a:off x="3170487" y="2514042"/>
            <a:ext cx="241300" cy="292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9" name="Line 38">
            <a:extLst>
              <a:ext uri="{FF2B5EF4-FFF2-40B4-BE49-F238E27FC236}">
                <a16:creationId xmlns:a16="http://schemas.microsoft.com/office/drawing/2014/main" id="{B10DEABA-A590-40E4-3D22-9A58EB82A280}"/>
              </a:ext>
            </a:extLst>
          </p:cNvPr>
          <p:cNvSpPr>
            <a:spLocks noGrp="1"/>
          </p:cNvSpPr>
          <p:nvPr/>
        </p:nvSpPr>
        <p:spPr>
          <a:xfrm>
            <a:off x="2735262" y="2110170"/>
            <a:ext cx="6965" cy="720725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0" name="Line 39">
            <a:extLst>
              <a:ext uri="{FF2B5EF4-FFF2-40B4-BE49-F238E27FC236}">
                <a16:creationId xmlns:a16="http://schemas.microsoft.com/office/drawing/2014/main" id="{BD6DC874-B6B7-F928-BB23-C2570B5C41D6}"/>
              </a:ext>
            </a:extLst>
          </p:cNvPr>
          <p:cNvSpPr>
            <a:spLocks noGrp="1"/>
          </p:cNvSpPr>
          <p:nvPr/>
        </p:nvSpPr>
        <p:spPr>
          <a:xfrm>
            <a:off x="2208212" y="2491170"/>
            <a:ext cx="224705" cy="314971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1" name="Line 40">
            <a:extLst>
              <a:ext uri="{FF2B5EF4-FFF2-40B4-BE49-F238E27FC236}">
                <a16:creationId xmlns:a16="http://schemas.microsoft.com/office/drawing/2014/main" id="{7DF321F6-687F-4591-0C36-FCD0604A12B8}"/>
              </a:ext>
            </a:extLst>
          </p:cNvPr>
          <p:cNvSpPr>
            <a:spLocks noGrp="1"/>
          </p:cNvSpPr>
          <p:nvPr/>
        </p:nvSpPr>
        <p:spPr>
          <a:xfrm>
            <a:off x="4606015" y="1930400"/>
            <a:ext cx="0" cy="673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2" name="Line 41">
            <a:extLst>
              <a:ext uri="{FF2B5EF4-FFF2-40B4-BE49-F238E27FC236}">
                <a16:creationId xmlns:a16="http://schemas.microsoft.com/office/drawing/2014/main" id="{69F7D56B-CFB7-895B-C2E3-33E4DDF0C361}"/>
              </a:ext>
            </a:extLst>
          </p:cNvPr>
          <p:cNvSpPr>
            <a:spLocks noGrp="1"/>
          </p:cNvSpPr>
          <p:nvPr/>
        </p:nvSpPr>
        <p:spPr>
          <a:xfrm>
            <a:off x="5818248" y="2491171"/>
            <a:ext cx="215900" cy="3683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3" name="Line 42">
            <a:extLst>
              <a:ext uri="{FF2B5EF4-FFF2-40B4-BE49-F238E27FC236}">
                <a16:creationId xmlns:a16="http://schemas.microsoft.com/office/drawing/2014/main" id="{4C1E3D8E-F36E-4AD8-3CA8-331FB2A73F21}"/>
              </a:ext>
            </a:extLst>
          </p:cNvPr>
          <p:cNvSpPr>
            <a:spLocks noGrp="1"/>
          </p:cNvSpPr>
          <p:nvPr/>
        </p:nvSpPr>
        <p:spPr>
          <a:xfrm>
            <a:off x="6345298" y="2186371"/>
            <a:ext cx="0" cy="673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4" name="Line 43">
            <a:extLst>
              <a:ext uri="{FF2B5EF4-FFF2-40B4-BE49-F238E27FC236}">
                <a16:creationId xmlns:a16="http://schemas.microsoft.com/office/drawing/2014/main" id="{E71D7B0A-717C-FCC6-126C-26446F44AB0A}"/>
              </a:ext>
            </a:extLst>
          </p:cNvPr>
          <p:cNvSpPr>
            <a:spLocks noGrp="1"/>
          </p:cNvSpPr>
          <p:nvPr/>
        </p:nvSpPr>
        <p:spPr>
          <a:xfrm flipH="1">
            <a:off x="6719948" y="2491171"/>
            <a:ext cx="165100" cy="3683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5" name="Rectangle 6">
            <a:extLst>
              <a:ext uri="{FF2B5EF4-FFF2-40B4-BE49-F238E27FC236}">
                <a16:creationId xmlns:a16="http://schemas.microsoft.com/office/drawing/2014/main" id="{0D174413-0767-D96A-07C9-5A27DF1AC650}"/>
              </a:ext>
            </a:extLst>
          </p:cNvPr>
          <p:cNvSpPr>
            <a:spLocks noGrp="1"/>
          </p:cNvSpPr>
          <p:nvPr/>
        </p:nvSpPr>
        <p:spPr>
          <a:xfrm>
            <a:off x="1679736" y="3740195"/>
            <a:ext cx="5784528" cy="2859757"/>
          </a:xfrm>
          <a:prstGeom prst="rect">
            <a:avLst/>
          </a:prstGeom>
          <a:noFill/>
          <a:ln w="9525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 sz="2000">
                <a:latin typeface="Book Antiqua"/>
                <a:ea typeface="Book Antiqua"/>
                <a:cs typeface="Book Antiqua"/>
              </a:rPr>
              <a:t>CREATE TABLE Works_In(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  	ssn  CHAR(11),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 	did  INTEGER,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  	since  DATE,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  	</a:t>
            </a:r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PRIMARY KEY (ssn, did),</a:t>
            </a:r>
          </a:p>
          <a:p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  	FOREIGN KEY (ssn) </a:t>
            </a:r>
          </a:p>
          <a:p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        		REFERENCES Employees,</a:t>
            </a:r>
          </a:p>
          <a:p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  	FOREIGN KEY (did) </a:t>
            </a:r>
          </a:p>
          <a:p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        		REFERENCES Departments</a:t>
            </a:r>
            <a:r>
              <a:rPr sz="2000">
                <a:latin typeface="Book Antiqua"/>
                <a:ea typeface="Book Antiqua"/>
                <a:cs typeface="Book Antiqu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50019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82CF-D530-773B-3F37-3793FAE9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将 1:N 联系集转换为表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418C-6E4E-0B6A-A286-87E8056775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62</a:t>
            </a:fld>
            <a:endParaRPr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38AEBDFF-8AFC-9D49-9F1C-0EDDE43870FA}"/>
              </a:ext>
            </a:extLst>
          </p:cNvPr>
          <p:cNvSpPr>
            <a:spLocks noGrp="1"/>
          </p:cNvSpPr>
          <p:nvPr/>
        </p:nvSpPr>
        <p:spPr>
          <a:xfrm>
            <a:off x="322553" y="3086043"/>
            <a:ext cx="4283462" cy="2859757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 Manages(</a:t>
            </a: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</a:t>
            </a:r>
            <a:r>
              <a:rPr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ssn    CHAR(11),</a:t>
            </a:r>
          </a:p>
          <a:p>
            <a:r>
              <a:rPr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did    INTEGER,</a:t>
            </a:r>
          </a:p>
          <a:p>
            <a:r>
              <a:rPr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since  DATE,</a:t>
            </a:r>
            <a:endParaRPr>
              <a:solidFill>
                <a:schemeClr val="tx1"/>
              </a:solidFill>
              <a:latin typeface="Lucida Console"/>
              <a:ea typeface="Lucida Console"/>
              <a:cs typeface="Lucida Console"/>
            </a:endParaRP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</a:t>
            </a:r>
          </a:p>
          <a:p>
            <a:r>
              <a:rPr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 PRIMARY KEY (did)</a:t>
            </a:r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,</a:t>
            </a: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</a:t>
            </a:r>
            <a:r>
              <a:rPr>
                <a:solidFill>
                  <a:schemeClr val="accent1"/>
                </a:solidFill>
                <a:latin typeface="Lucida Console"/>
                <a:ea typeface="Lucida Console"/>
                <a:cs typeface="Lucida Console"/>
              </a:rPr>
              <a:t>FOREIGN KEY (ssn)     	REFERENCES Employees,</a:t>
            </a:r>
          </a:p>
          <a:p>
            <a:r>
              <a:rPr>
                <a:solidFill>
                  <a:schemeClr val="accent1"/>
                </a:solidFill>
                <a:latin typeface="Lucida Console"/>
                <a:ea typeface="Lucida Console"/>
                <a:cs typeface="Lucida Console"/>
              </a:rPr>
              <a:t> FOREIGN KEY (did) 	REFERENCES Departments)</a:t>
            </a:r>
          </a:p>
        </p:txBody>
      </p:sp>
      <p:sp>
        <p:nvSpPr>
          <p:cNvPr id="41" name="Rectangle 45">
            <a:extLst>
              <a:ext uri="{FF2B5EF4-FFF2-40B4-BE49-F238E27FC236}">
                <a16:creationId xmlns:a16="http://schemas.microsoft.com/office/drawing/2014/main" id="{AF7ED77B-7010-1BE4-E3D3-B6777DFF4550}"/>
              </a:ext>
            </a:extLst>
          </p:cNvPr>
          <p:cNvSpPr>
            <a:spLocks noGrp="1"/>
          </p:cNvSpPr>
          <p:nvPr/>
        </p:nvSpPr>
        <p:spPr>
          <a:xfrm>
            <a:off x="4846127" y="3559621"/>
            <a:ext cx="3911600" cy="1474763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 Departments(</a:t>
            </a: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did	 INTEGER,</a:t>
            </a:r>
          </a:p>
          <a:p>
            <a:r>
              <a:rPr>
                <a:solidFill>
                  <a:schemeClr val="accent1"/>
                </a:solidFill>
                <a:latin typeface="Lucida Console"/>
                <a:ea typeface="Lucida Console"/>
                <a:cs typeface="Lucida Console"/>
              </a:rPr>
              <a:t> 	dname	 CHAR(20),</a:t>
            </a:r>
          </a:p>
          <a:p>
            <a:r>
              <a:rPr>
                <a:solidFill>
                  <a:schemeClr val="accent1"/>
                </a:solidFill>
                <a:latin typeface="Lucida Console"/>
                <a:ea typeface="Lucida Console"/>
                <a:cs typeface="Lucida Console"/>
              </a:rPr>
              <a:t> 	budget	 REAL,</a:t>
            </a:r>
            <a:endParaRPr>
              <a:solidFill>
                <a:schemeClr val="tx1"/>
              </a:solidFill>
              <a:latin typeface="Lucida Console"/>
              <a:ea typeface="Lucida Console"/>
              <a:cs typeface="Lucida Console"/>
            </a:endParaRP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PRIMARY KEY  (did)</a:t>
            </a:r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,)</a:t>
            </a:r>
          </a:p>
        </p:txBody>
      </p:sp>
      <p:sp>
        <p:nvSpPr>
          <p:cNvPr id="42" name="Rounded Rectangle 2">
            <a:extLst>
              <a:ext uri="{FF2B5EF4-FFF2-40B4-BE49-F238E27FC236}">
                <a16:creationId xmlns:a16="http://schemas.microsoft.com/office/drawing/2014/main" id="{8DAA08E3-D35A-566A-EEB4-209339C13727}"/>
              </a:ext>
            </a:extLst>
          </p:cNvPr>
          <p:cNvSpPr>
            <a:spLocks noGrp="1"/>
          </p:cNvSpPr>
          <p:nvPr/>
        </p:nvSpPr>
        <p:spPr>
          <a:xfrm>
            <a:off x="324323" y="6051157"/>
            <a:ext cx="8465846" cy="654443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200" u="sng">
                <a:latin typeface="Arial Unicode MS"/>
                <a:ea typeface="Arial Unicode MS"/>
                <a:cs typeface="Arial Unicode MS"/>
              </a:rPr>
              <a:t>方法 1：分别为 Manages 和 Departments 建表</a:t>
            </a:r>
          </a:p>
        </p:txBody>
      </p:sp>
      <p:cxnSp>
        <p:nvCxnSpPr>
          <p:cNvPr id="91" name="Straight Arrow Connector 42"/>
          <p:cNvCxnSpPr/>
          <p:nvPr/>
        </p:nvCxnSpPr>
        <p:spPr>
          <a:xfrm flipH="1">
            <a:off x="3533482" y="2740408"/>
            <a:ext cx="657518" cy="345635"/>
          </a:xfrm>
          <a:prstGeom prst="straightConnector1">
            <a:avLst/>
          </a:prstGeom>
          <a:ln w="22225">
            <a:solidFill>
              <a:srgbClr val="0070C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43"/>
          <p:cNvCxnSpPr>
            <a:endCxn id="41" idx="0"/>
          </p:cNvCxnSpPr>
          <p:nvPr/>
        </p:nvCxnSpPr>
        <p:spPr>
          <a:xfrm>
            <a:off x="6259803" y="2884140"/>
            <a:ext cx="542124" cy="675481"/>
          </a:xfrm>
          <a:prstGeom prst="straightConnector1">
            <a:avLst/>
          </a:prstGeom>
          <a:ln w="22225">
            <a:solidFill>
              <a:srgbClr val="0070C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10">
            <a:extLst>
              <a:ext uri="{FF2B5EF4-FFF2-40B4-BE49-F238E27FC236}">
                <a16:creationId xmlns:a16="http://schemas.microsoft.com/office/drawing/2014/main" id="{C51DFA3F-06D6-6F17-C507-CC5C235DEAF1}"/>
              </a:ext>
            </a:extLst>
          </p:cNvPr>
          <p:cNvSpPr>
            <a:spLocks noGrp="1"/>
          </p:cNvSpPr>
          <p:nvPr/>
        </p:nvSpPr>
        <p:spPr>
          <a:xfrm>
            <a:off x="5343585" y="1449771"/>
            <a:ext cx="720725" cy="519112"/>
          </a:xfrm>
          <a:custGeom>
            <a:avLst/>
            <a:gdLst>
              <a:gd name="T0" fmla="*/ 715963 w 454"/>
              <a:gd name="T1" fmla="*/ 234950 h 327"/>
              <a:gd name="T2" fmla="*/ 706438 w 454"/>
              <a:gd name="T3" fmla="*/ 190500 h 327"/>
              <a:gd name="T4" fmla="*/ 684213 w 454"/>
              <a:gd name="T5" fmla="*/ 149225 h 327"/>
              <a:gd name="T6" fmla="*/ 652463 w 454"/>
              <a:gd name="T7" fmla="*/ 107950 h 327"/>
              <a:gd name="T8" fmla="*/ 612775 w 454"/>
              <a:gd name="T9" fmla="*/ 74612 h 327"/>
              <a:gd name="T10" fmla="*/ 565150 w 454"/>
              <a:gd name="T11" fmla="*/ 46037 h 327"/>
              <a:gd name="T12" fmla="*/ 511175 w 454"/>
              <a:gd name="T13" fmla="*/ 23812 h 327"/>
              <a:gd name="T14" fmla="*/ 452438 w 454"/>
              <a:gd name="T15" fmla="*/ 7937 h 327"/>
              <a:gd name="T16" fmla="*/ 390525 w 454"/>
              <a:gd name="T17" fmla="*/ 0 h 327"/>
              <a:gd name="T18" fmla="*/ 327025 w 454"/>
              <a:gd name="T19" fmla="*/ 0 h 327"/>
              <a:gd name="T20" fmla="*/ 265113 w 454"/>
              <a:gd name="T21" fmla="*/ 7937 h 327"/>
              <a:gd name="T22" fmla="*/ 206375 w 454"/>
              <a:gd name="T23" fmla="*/ 23812 h 327"/>
              <a:gd name="T24" fmla="*/ 152400 w 454"/>
              <a:gd name="T25" fmla="*/ 46037 h 327"/>
              <a:gd name="T26" fmla="*/ 103188 w 454"/>
              <a:gd name="T27" fmla="*/ 74612 h 327"/>
              <a:gd name="T28" fmla="*/ 63500 w 454"/>
              <a:gd name="T29" fmla="*/ 107950 h 327"/>
              <a:gd name="T30" fmla="*/ 33338 w 454"/>
              <a:gd name="T31" fmla="*/ 149225 h 327"/>
              <a:gd name="T32" fmla="*/ 11113 w 454"/>
              <a:gd name="T33" fmla="*/ 190500 h 327"/>
              <a:gd name="T34" fmla="*/ 1588 w 454"/>
              <a:gd name="T35" fmla="*/ 234950 h 327"/>
              <a:gd name="T36" fmla="*/ 1588 w 454"/>
              <a:gd name="T37" fmla="*/ 280987 h 327"/>
              <a:gd name="T38" fmla="*/ 11113 w 454"/>
              <a:gd name="T39" fmla="*/ 325437 h 327"/>
              <a:gd name="T40" fmla="*/ 33338 w 454"/>
              <a:gd name="T41" fmla="*/ 366712 h 327"/>
              <a:gd name="T42" fmla="*/ 63500 w 454"/>
              <a:gd name="T43" fmla="*/ 404812 h 327"/>
              <a:gd name="T44" fmla="*/ 103188 w 454"/>
              <a:gd name="T45" fmla="*/ 441325 h 327"/>
              <a:gd name="T46" fmla="*/ 152400 w 454"/>
              <a:gd name="T47" fmla="*/ 469900 h 327"/>
              <a:gd name="T48" fmla="*/ 206375 w 454"/>
              <a:gd name="T49" fmla="*/ 492125 h 327"/>
              <a:gd name="T50" fmla="*/ 265113 w 454"/>
              <a:gd name="T51" fmla="*/ 508000 h 327"/>
              <a:gd name="T52" fmla="*/ 327025 w 454"/>
              <a:gd name="T53" fmla="*/ 517525 h 327"/>
              <a:gd name="T54" fmla="*/ 390525 w 454"/>
              <a:gd name="T55" fmla="*/ 517525 h 327"/>
              <a:gd name="T56" fmla="*/ 452438 w 454"/>
              <a:gd name="T57" fmla="*/ 508000 h 327"/>
              <a:gd name="T58" fmla="*/ 511175 w 454"/>
              <a:gd name="T59" fmla="*/ 492125 h 327"/>
              <a:gd name="T60" fmla="*/ 565150 w 454"/>
              <a:gd name="T61" fmla="*/ 469900 h 327"/>
              <a:gd name="T62" fmla="*/ 612775 w 454"/>
              <a:gd name="T63" fmla="*/ 441325 h 327"/>
              <a:gd name="T64" fmla="*/ 652463 w 454"/>
              <a:gd name="T65" fmla="*/ 404812 h 327"/>
              <a:gd name="T66" fmla="*/ 684213 w 454"/>
              <a:gd name="T67" fmla="*/ 366712 h 327"/>
              <a:gd name="T68" fmla="*/ 706438 w 454"/>
              <a:gd name="T69" fmla="*/ 325437 h 327"/>
              <a:gd name="T70" fmla="*/ 715963 w 454"/>
              <a:gd name="T71" fmla="*/ 28098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453" y="163"/>
                </a:moveTo>
                <a:lnTo>
                  <a:pt x="451" y="148"/>
                </a:lnTo>
                <a:lnTo>
                  <a:pt x="448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0"/>
                </a:lnTo>
                <a:lnTo>
                  <a:pt x="411" y="68"/>
                </a:lnTo>
                <a:lnTo>
                  <a:pt x="399" y="57"/>
                </a:lnTo>
                <a:lnTo>
                  <a:pt x="386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3" y="9"/>
                </a:lnTo>
                <a:lnTo>
                  <a:pt x="285" y="5"/>
                </a:lnTo>
                <a:lnTo>
                  <a:pt x="265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5" y="47"/>
                </a:lnTo>
                <a:lnTo>
                  <a:pt x="53" y="57"/>
                </a:lnTo>
                <a:lnTo>
                  <a:pt x="40" y="68"/>
                </a:lnTo>
                <a:lnTo>
                  <a:pt x="29" y="80"/>
                </a:lnTo>
                <a:lnTo>
                  <a:pt x="21" y="94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3" y="191"/>
                </a:lnTo>
                <a:lnTo>
                  <a:pt x="7" y="205"/>
                </a:lnTo>
                <a:lnTo>
                  <a:pt x="13" y="217"/>
                </a:lnTo>
                <a:lnTo>
                  <a:pt x="21" y="231"/>
                </a:lnTo>
                <a:lnTo>
                  <a:pt x="29" y="244"/>
                </a:lnTo>
                <a:lnTo>
                  <a:pt x="40" y="255"/>
                </a:lnTo>
                <a:lnTo>
                  <a:pt x="53" y="266"/>
                </a:lnTo>
                <a:lnTo>
                  <a:pt x="65" y="278"/>
                </a:lnTo>
                <a:lnTo>
                  <a:pt x="80" y="288"/>
                </a:lnTo>
                <a:lnTo>
                  <a:pt x="96" y="296"/>
                </a:lnTo>
                <a:lnTo>
                  <a:pt x="113" y="303"/>
                </a:lnTo>
                <a:lnTo>
                  <a:pt x="130" y="310"/>
                </a:lnTo>
                <a:lnTo>
                  <a:pt x="148" y="316"/>
                </a:lnTo>
                <a:lnTo>
                  <a:pt x="167" y="320"/>
                </a:lnTo>
                <a:lnTo>
                  <a:pt x="186" y="323"/>
                </a:lnTo>
                <a:lnTo>
                  <a:pt x="206" y="326"/>
                </a:lnTo>
                <a:lnTo>
                  <a:pt x="225" y="326"/>
                </a:lnTo>
                <a:lnTo>
                  <a:pt x="246" y="326"/>
                </a:lnTo>
                <a:lnTo>
                  <a:pt x="265" y="323"/>
                </a:lnTo>
                <a:lnTo>
                  <a:pt x="285" y="320"/>
                </a:lnTo>
                <a:lnTo>
                  <a:pt x="303" y="316"/>
                </a:lnTo>
                <a:lnTo>
                  <a:pt x="322" y="310"/>
                </a:lnTo>
                <a:lnTo>
                  <a:pt x="339" y="303"/>
                </a:lnTo>
                <a:lnTo>
                  <a:pt x="356" y="296"/>
                </a:lnTo>
                <a:lnTo>
                  <a:pt x="372" y="288"/>
                </a:lnTo>
                <a:lnTo>
                  <a:pt x="386" y="278"/>
                </a:lnTo>
                <a:lnTo>
                  <a:pt x="399" y="266"/>
                </a:lnTo>
                <a:lnTo>
                  <a:pt x="411" y="255"/>
                </a:lnTo>
                <a:lnTo>
                  <a:pt x="422" y="244"/>
                </a:lnTo>
                <a:lnTo>
                  <a:pt x="431" y="231"/>
                </a:lnTo>
                <a:lnTo>
                  <a:pt x="439" y="217"/>
                </a:lnTo>
                <a:lnTo>
                  <a:pt x="445" y="205"/>
                </a:lnTo>
                <a:lnTo>
                  <a:pt x="448" y="191"/>
                </a:lnTo>
                <a:lnTo>
                  <a:pt x="451" y="177"/>
                </a:lnTo>
                <a:lnTo>
                  <a:pt x="453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6F18A355-E181-FC1F-5F70-5C0CAC71948B}"/>
              </a:ext>
            </a:extLst>
          </p:cNvPr>
          <p:cNvSpPr>
            <a:spLocks noGrp="1"/>
          </p:cNvSpPr>
          <p:nvPr/>
        </p:nvSpPr>
        <p:spPr>
          <a:xfrm>
            <a:off x="6662798" y="1471996"/>
            <a:ext cx="912812" cy="496887"/>
          </a:xfrm>
          <a:custGeom>
            <a:avLst/>
            <a:gdLst>
              <a:gd name="T0" fmla="*/ 1587 w 575"/>
              <a:gd name="T1" fmla="*/ 268287 h 313"/>
              <a:gd name="T2" fmla="*/ 14287 w 575"/>
              <a:gd name="T3" fmla="*/ 311150 h 313"/>
              <a:gd name="T4" fmla="*/ 44450 w 575"/>
              <a:gd name="T5" fmla="*/ 350837 h 313"/>
              <a:gd name="T6" fmla="*/ 82550 w 575"/>
              <a:gd name="T7" fmla="*/ 387350 h 313"/>
              <a:gd name="T8" fmla="*/ 133350 w 575"/>
              <a:gd name="T9" fmla="*/ 422275 h 313"/>
              <a:gd name="T10" fmla="*/ 195262 w 575"/>
              <a:gd name="T11" fmla="*/ 449262 h 313"/>
              <a:gd name="T12" fmla="*/ 261937 w 575"/>
              <a:gd name="T13" fmla="*/ 471487 h 313"/>
              <a:gd name="T14" fmla="*/ 338137 w 575"/>
              <a:gd name="T15" fmla="*/ 485775 h 313"/>
              <a:gd name="T16" fmla="*/ 415925 w 575"/>
              <a:gd name="T17" fmla="*/ 495300 h 313"/>
              <a:gd name="T18" fmla="*/ 493712 w 575"/>
              <a:gd name="T19" fmla="*/ 495300 h 313"/>
              <a:gd name="T20" fmla="*/ 573087 w 575"/>
              <a:gd name="T21" fmla="*/ 485775 h 313"/>
              <a:gd name="T22" fmla="*/ 647700 w 575"/>
              <a:gd name="T23" fmla="*/ 471487 h 313"/>
              <a:gd name="T24" fmla="*/ 715962 w 575"/>
              <a:gd name="T25" fmla="*/ 449262 h 313"/>
              <a:gd name="T26" fmla="*/ 777875 w 575"/>
              <a:gd name="T27" fmla="*/ 422275 h 313"/>
              <a:gd name="T28" fmla="*/ 828675 w 575"/>
              <a:gd name="T29" fmla="*/ 387350 h 313"/>
              <a:gd name="T30" fmla="*/ 868362 w 575"/>
              <a:gd name="T31" fmla="*/ 350837 h 313"/>
              <a:gd name="T32" fmla="*/ 895350 w 575"/>
              <a:gd name="T33" fmla="*/ 311150 h 313"/>
              <a:gd name="T34" fmla="*/ 908050 w 575"/>
              <a:gd name="T35" fmla="*/ 268287 h 313"/>
              <a:gd name="T36" fmla="*/ 908050 w 575"/>
              <a:gd name="T37" fmla="*/ 223837 h 313"/>
              <a:gd name="T38" fmla="*/ 895350 w 575"/>
              <a:gd name="T39" fmla="*/ 180975 h 313"/>
              <a:gd name="T40" fmla="*/ 868362 w 575"/>
              <a:gd name="T41" fmla="*/ 142875 h 313"/>
              <a:gd name="T42" fmla="*/ 828675 w 575"/>
              <a:gd name="T43" fmla="*/ 103187 h 313"/>
              <a:gd name="T44" fmla="*/ 777875 w 575"/>
              <a:gd name="T45" fmla="*/ 71437 h 313"/>
              <a:gd name="T46" fmla="*/ 715962 w 575"/>
              <a:gd name="T47" fmla="*/ 41275 h 313"/>
              <a:gd name="T48" fmla="*/ 647700 w 575"/>
              <a:gd name="T49" fmla="*/ 22225 h 313"/>
              <a:gd name="T50" fmla="*/ 573087 w 575"/>
              <a:gd name="T51" fmla="*/ 7937 h 313"/>
              <a:gd name="T52" fmla="*/ 493712 w 575"/>
              <a:gd name="T53" fmla="*/ 0 h 313"/>
              <a:gd name="T54" fmla="*/ 415925 w 575"/>
              <a:gd name="T55" fmla="*/ 0 h 313"/>
              <a:gd name="T56" fmla="*/ 336550 w 575"/>
              <a:gd name="T57" fmla="*/ 7937 h 313"/>
              <a:gd name="T58" fmla="*/ 261937 w 575"/>
              <a:gd name="T59" fmla="*/ 22225 h 313"/>
              <a:gd name="T60" fmla="*/ 195262 w 575"/>
              <a:gd name="T61" fmla="*/ 44450 h 313"/>
              <a:gd name="T62" fmla="*/ 133350 w 575"/>
              <a:gd name="T63" fmla="*/ 71437 h 313"/>
              <a:gd name="T64" fmla="*/ 82550 w 575"/>
              <a:gd name="T65" fmla="*/ 103187 h 313"/>
              <a:gd name="T66" fmla="*/ 44450 w 575"/>
              <a:gd name="T67" fmla="*/ 142875 h 313"/>
              <a:gd name="T68" fmla="*/ 14287 w 575"/>
              <a:gd name="T69" fmla="*/ 182562 h 313"/>
              <a:gd name="T70" fmla="*/ 1587 w 575"/>
              <a:gd name="T71" fmla="*/ 225425 h 31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75"/>
              <a:gd name="T109" fmla="*/ 0 h 313"/>
              <a:gd name="T110" fmla="*/ 575 w 575"/>
              <a:gd name="T111" fmla="*/ 313 h 313"/>
            </a:gdLst>
            <a:ahLst/>
            <a:cxnLst/>
            <a:rect l="T108" t="T109" r="T110" b="T111"/>
            <a:pathLst>
              <a:path w="575" h="313">
                <a:moveTo>
                  <a:pt x="0" y="156"/>
                </a:moveTo>
                <a:lnTo>
                  <a:pt x="1" y="169"/>
                </a:lnTo>
                <a:lnTo>
                  <a:pt x="5" y="182"/>
                </a:lnTo>
                <a:lnTo>
                  <a:pt x="9" y="196"/>
                </a:lnTo>
                <a:lnTo>
                  <a:pt x="17" y="208"/>
                </a:lnTo>
                <a:lnTo>
                  <a:pt x="28" y="221"/>
                </a:lnTo>
                <a:lnTo>
                  <a:pt x="38" y="234"/>
                </a:lnTo>
                <a:lnTo>
                  <a:pt x="52" y="244"/>
                </a:lnTo>
                <a:lnTo>
                  <a:pt x="67" y="255"/>
                </a:lnTo>
                <a:lnTo>
                  <a:pt x="84" y="266"/>
                </a:lnTo>
                <a:lnTo>
                  <a:pt x="103" y="275"/>
                </a:lnTo>
                <a:lnTo>
                  <a:pt x="123" y="283"/>
                </a:lnTo>
                <a:lnTo>
                  <a:pt x="143" y="290"/>
                </a:lnTo>
                <a:lnTo>
                  <a:pt x="165" y="297"/>
                </a:lnTo>
                <a:lnTo>
                  <a:pt x="189" y="302"/>
                </a:lnTo>
                <a:lnTo>
                  <a:pt x="213" y="306"/>
                </a:lnTo>
                <a:lnTo>
                  <a:pt x="237" y="309"/>
                </a:lnTo>
                <a:lnTo>
                  <a:pt x="262" y="312"/>
                </a:lnTo>
                <a:lnTo>
                  <a:pt x="287" y="312"/>
                </a:lnTo>
                <a:lnTo>
                  <a:pt x="311" y="312"/>
                </a:lnTo>
                <a:lnTo>
                  <a:pt x="337" y="309"/>
                </a:lnTo>
                <a:lnTo>
                  <a:pt x="361" y="306"/>
                </a:lnTo>
                <a:lnTo>
                  <a:pt x="385" y="302"/>
                </a:lnTo>
                <a:lnTo>
                  <a:pt x="408" y="297"/>
                </a:lnTo>
                <a:lnTo>
                  <a:pt x="431" y="290"/>
                </a:lnTo>
                <a:lnTo>
                  <a:pt x="451" y="283"/>
                </a:lnTo>
                <a:lnTo>
                  <a:pt x="471" y="275"/>
                </a:lnTo>
                <a:lnTo>
                  <a:pt x="490" y="266"/>
                </a:lnTo>
                <a:lnTo>
                  <a:pt x="506" y="255"/>
                </a:lnTo>
                <a:lnTo>
                  <a:pt x="522" y="244"/>
                </a:lnTo>
                <a:lnTo>
                  <a:pt x="536" y="234"/>
                </a:lnTo>
                <a:lnTo>
                  <a:pt x="547" y="221"/>
                </a:lnTo>
                <a:lnTo>
                  <a:pt x="556" y="208"/>
                </a:lnTo>
                <a:lnTo>
                  <a:pt x="564" y="196"/>
                </a:lnTo>
                <a:lnTo>
                  <a:pt x="569" y="182"/>
                </a:lnTo>
                <a:lnTo>
                  <a:pt x="572" y="169"/>
                </a:lnTo>
                <a:lnTo>
                  <a:pt x="574" y="156"/>
                </a:lnTo>
                <a:lnTo>
                  <a:pt x="572" y="141"/>
                </a:lnTo>
                <a:lnTo>
                  <a:pt x="569" y="129"/>
                </a:lnTo>
                <a:lnTo>
                  <a:pt x="564" y="114"/>
                </a:lnTo>
                <a:lnTo>
                  <a:pt x="556" y="102"/>
                </a:lnTo>
                <a:lnTo>
                  <a:pt x="547" y="90"/>
                </a:lnTo>
                <a:lnTo>
                  <a:pt x="536" y="76"/>
                </a:lnTo>
                <a:lnTo>
                  <a:pt x="522" y="65"/>
                </a:lnTo>
                <a:lnTo>
                  <a:pt x="506" y="55"/>
                </a:lnTo>
                <a:lnTo>
                  <a:pt x="490" y="45"/>
                </a:lnTo>
                <a:lnTo>
                  <a:pt x="471" y="36"/>
                </a:lnTo>
                <a:lnTo>
                  <a:pt x="451" y="26"/>
                </a:lnTo>
                <a:lnTo>
                  <a:pt x="431" y="20"/>
                </a:lnTo>
                <a:lnTo>
                  <a:pt x="408" y="14"/>
                </a:lnTo>
                <a:lnTo>
                  <a:pt x="385" y="8"/>
                </a:lnTo>
                <a:lnTo>
                  <a:pt x="361" y="5"/>
                </a:lnTo>
                <a:lnTo>
                  <a:pt x="337" y="1"/>
                </a:lnTo>
                <a:lnTo>
                  <a:pt x="311" y="0"/>
                </a:lnTo>
                <a:lnTo>
                  <a:pt x="287" y="0"/>
                </a:lnTo>
                <a:lnTo>
                  <a:pt x="262" y="0"/>
                </a:lnTo>
                <a:lnTo>
                  <a:pt x="237" y="1"/>
                </a:lnTo>
                <a:lnTo>
                  <a:pt x="212" y="5"/>
                </a:lnTo>
                <a:lnTo>
                  <a:pt x="189" y="9"/>
                </a:lnTo>
                <a:lnTo>
                  <a:pt x="165" y="14"/>
                </a:lnTo>
                <a:lnTo>
                  <a:pt x="143" y="20"/>
                </a:lnTo>
                <a:lnTo>
                  <a:pt x="123" y="28"/>
                </a:lnTo>
                <a:lnTo>
                  <a:pt x="102" y="36"/>
                </a:lnTo>
                <a:lnTo>
                  <a:pt x="84" y="45"/>
                </a:lnTo>
                <a:lnTo>
                  <a:pt x="67" y="55"/>
                </a:lnTo>
                <a:lnTo>
                  <a:pt x="52" y="65"/>
                </a:lnTo>
                <a:lnTo>
                  <a:pt x="38" y="78"/>
                </a:lnTo>
                <a:lnTo>
                  <a:pt x="28" y="90"/>
                </a:lnTo>
                <a:lnTo>
                  <a:pt x="17" y="102"/>
                </a:lnTo>
                <a:lnTo>
                  <a:pt x="9" y="115"/>
                </a:lnTo>
                <a:lnTo>
                  <a:pt x="5" y="129"/>
                </a:lnTo>
                <a:lnTo>
                  <a:pt x="1" y="142"/>
                </a:lnTo>
                <a:lnTo>
                  <a:pt x="0" y="156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8" name="Freeform 13">
            <a:extLst>
              <a:ext uri="{FF2B5EF4-FFF2-40B4-BE49-F238E27FC236}">
                <a16:creationId xmlns:a16="http://schemas.microsoft.com/office/drawing/2014/main" id="{1379B274-EF3D-EF2B-AD40-8D86F8F3A9DB}"/>
              </a:ext>
            </a:extLst>
          </p:cNvPr>
          <p:cNvSpPr>
            <a:spLocks noGrp="1"/>
          </p:cNvSpPr>
          <p:nvPr/>
        </p:nvSpPr>
        <p:spPr>
          <a:xfrm>
            <a:off x="5913498" y="1068771"/>
            <a:ext cx="939800" cy="519112"/>
          </a:xfrm>
          <a:custGeom>
            <a:avLst/>
            <a:gdLst>
              <a:gd name="T0" fmla="*/ 589 w 592"/>
              <a:gd name="T1" fmla="*/ 148 h 327"/>
              <a:gd name="T2" fmla="*/ 581 w 592"/>
              <a:gd name="T3" fmla="*/ 120 h 327"/>
              <a:gd name="T4" fmla="*/ 563 w 592"/>
              <a:gd name="T5" fmla="*/ 94 h 327"/>
              <a:gd name="T6" fmla="*/ 538 w 592"/>
              <a:gd name="T7" fmla="*/ 68 h 327"/>
              <a:gd name="T8" fmla="*/ 505 w 592"/>
              <a:gd name="T9" fmla="*/ 46 h 327"/>
              <a:gd name="T10" fmla="*/ 465 w 592"/>
              <a:gd name="T11" fmla="*/ 29 h 327"/>
              <a:gd name="T12" fmla="*/ 420 w 592"/>
              <a:gd name="T13" fmla="*/ 14 h 327"/>
              <a:gd name="T14" fmla="*/ 372 w 592"/>
              <a:gd name="T15" fmla="*/ 4 h 327"/>
              <a:gd name="T16" fmla="*/ 321 w 592"/>
              <a:gd name="T17" fmla="*/ 0 h 327"/>
              <a:gd name="T18" fmla="*/ 269 w 592"/>
              <a:gd name="T19" fmla="*/ 0 h 327"/>
              <a:gd name="T20" fmla="*/ 218 w 592"/>
              <a:gd name="T21" fmla="*/ 4 h 327"/>
              <a:gd name="T22" fmla="*/ 170 w 592"/>
              <a:gd name="T23" fmla="*/ 14 h 327"/>
              <a:gd name="T24" fmla="*/ 125 w 592"/>
              <a:gd name="T25" fmla="*/ 29 h 327"/>
              <a:gd name="T26" fmla="*/ 85 w 592"/>
              <a:gd name="T27" fmla="*/ 46 h 327"/>
              <a:gd name="T28" fmla="*/ 53 w 592"/>
              <a:gd name="T29" fmla="*/ 68 h 327"/>
              <a:gd name="T30" fmla="*/ 27 w 592"/>
              <a:gd name="T31" fmla="*/ 94 h 327"/>
              <a:gd name="T32" fmla="*/ 9 w 592"/>
              <a:gd name="T33" fmla="*/ 120 h 327"/>
              <a:gd name="T34" fmla="*/ 1 w 592"/>
              <a:gd name="T35" fmla="*/ 148 h 327"/>
              <a:gd name="T36" fmla="*/ 1 w 592"/>
              <a:gd name="T37" fmla="*/ 177 h 327"/>
              <a:gd name="T38" fmla="*/ 9 w 592"/>
              <a:gd name="T39" fmla="*/ 205 h 327"/>
              <a:gd name="T40" fmla="*/ 27 w 592"/>
              <a:gd name="T41" fmla="*/ 231 h 327"/>
              <a:gd name="T42" fmla="*/ 53 w 592"/>
              <a:gd name="T43" fmla="*/ 257 h 327"/>
              <a:gd name="T44" fmla="*/ 85 w 592"/>
              <a:gd name="T45" fmla="*/ 278 h 327"/>
              <a:gd name="T46" fmla="*/ 125 w 592"/>
              <a:gd name="T47" fmla="*/ 296 h 327"/>
              <a:gd name="T48" fmla="*/ 170 w 592"/>
              <a:gd name="T49" fmla="*/ 310 h 327"/>
              <a:gd name="T50" fmla="*/ 218 w 592"/>
              <a:gd name="T51" fmla="*/ 320 h 327"/>
              <a:gd name="T52" fmla="*/ 269 w 592"/>
              <a:gd name="T53" fmla="*/ 326 h 327"/>
              <a:gd name="T54" fmla="*/ 321 w 592"/>
              <a:gd name="T55" fmla="*/ 326 h 327"/>
              <a:gd name="T56" fmla="*/ 372 w 592"/>
              <a:gd name="T57" fmla="*/ 320 h 327"/>
              <a:gd name="T58" fmla="*/ 420 w 592"/>
              <a:gd name="T59" fmla="*/ 310 h 327"/>
              <a:gd name="T60" fmla="*/ 465 w 592"/>
              <a:gd name="T61" fmla="*/ 296 h 327"/>
              <a:gd name="T62" fmla="*/ 505 w 592"/>
              <a:gd name="T63" fmla="*/ 278 h 327"/>
              <a:gd name="T64" fmla="*/ 538 w 592"/>
              <a:gd name="T65" fmla="*/ 257 h 327"/>
              <a:gd name="T66" fmla="*/ 563 w 592"/>
              <a:gd name="T67" fmla="*/ 231 h 327"/>
              <a:gd name="T68" fmla="*/ 581 w 592"/>
              <a:gd name="T69" fmla="*/ 205 h 327"/>
              <a:gd name="T70" fmla="*/ 589 w 592"/>
              <a:gd name="T71" fmla="*/ 17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92"/>
              <a:gd name="T109" fmla="*/ 0 h 327"/>
              <a:gd name="T110" fmla="*/ 592 w 592"/>
              <a:gd name="T111" fmla="*/ 327 h 327"/>
            </a:gdLst>
            <a:ahLst/>
            <a:cxnLst/>
            <a:rect l="T108" t="T109" r="T110" b="T111"/>
            <a:pathLst>
              <a:path w="592" h="327">
                <a:moveTo>
                  <a:pt x="591" y="163"/>
                </a:moveTo>
                <a:lnTo>
                  <a:pt x="589" y="148"/>
                </a:lnTo>
                <a:lnTo>
                  <a:pt x="586" y="133"/>
                </a:lnTo>
                <a:lnTo>
                  <a:pt x="581" y="120"/>
                </a:lnTo>
                <a:lnTo>
                  <a:pt x="573" y="106"/>
                </a:lnTo>
                <a:lnTo>
                  <a:pt x="563" y="94"/>
                </a:lnTo>
                <a:lnTo>
                  <a:pt x="550" y="81"/>
                </a:lnTo>
                <a:lnTo>
                  <a:pt x="538" y="68"/>
                </a:lnTo>
                <a:lnTo>
                  <a:pt x="521" y="57"/>
                </a:lnTo>
                <a:lnTo>
                  <a:pt x="505" y="46"/>
                </a:lnTo>
                <a:lnTo>
                  <a:pt x="485" y="37"/>
                </a:lnTo>
                <a:lnTo>
                  <a:pt x="465" y="29"/>
                </a:lnTo>
                <a:lnTo>
                  <a:pt x="442" y="21"/>
                </a:lnTo>
                <a:lnTo>
                  <a:pt x="420" y="14"/>
                </a:lnTo>
                <a:lnTo>
                  <a:pt x="395" y="9"/>
                </a:lnTo>
                <a:lnTo>
                  <a:pt x="372" y="4"/>
                </a:lnTo>
                <a:lnTo>
                  <a:pt x="347" y="1"/>
                </a:lnTo>
                <a:lnTo>
                  <a:pt x="321" y="0"/>
                </a:lnTo>
                <a:lnTo>
                  <a:pt x="294" y="0"/>
                </a:lnTo>
                <a:lnTo>
                  <a:pt x="269" y="0"/>
                </a:lnTo>
                <a:lnTo>
                  <a:pt x="243" y="1"/>
                </a:lnTo>
                <a:lnTo>
                  <a:pt x="218" y="4"/>
                </a:lnTo>
                <a:lnTo>
                  <a:pt x="195" y="9"/>
                </a:lnTo>
                <a:lnTo>
                  <a:pt x="170" y="14"/>
                </a:lnTo>
                <a:lnTo>
                  <a:pt x="148" y="21"/>
                </a:lnTo>
                <a:lnTo>
                  <a:pt x="125" y="29"/>
                </a:lnTo>
                <a:lnTo>
                  <a:pt x="105" y="37"/>
                </a:lnTo>
                <a:lnTo>
                  <a:pt x="85" y="46"/>
                </a:lnTo>
                <a:lnTo>
                  <a:pt x="69" y="57"/>
                </a:lnTo>
                <a:lnTo>
                  <a:pt x="53" y="68"/>
                </a:lnTo>
                <a:lnTo>
                  <a:pt x="40" y="81"/>
                </a:lnTo>
                <a:lnTo>
                  <a:pt x="27" y="94"/>
                </a:lnTo>
                <a:lnTo>
                  <a:pt x="17" y="106"/>
                </a:lnTo>
                <a:lnTo>
                  <a:pt x="9" y="120"/>
                </a:lnTo>
                <a:lnTo>
                  <a:pt x="4" y="133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4" y="191"/>
                </a:lnTo>
                <a:lnTo>
                  <a:pt x="9" y="205"/>
                </a:lnTo>
                <a:lnTo>
                  <a:pt x="17" y="219"/>
                </a:lnTo>
                <a:lnTo>
                  <a:pt x="27" y="231"/>
                </a:lnTo>
                <a:lnTo>
                  <a:pt x="40" y="244"/>
                </a:lnTo>
                <a:lnTo>
                  <a:pt x="53" y="257"/>
                </a:lnTo>
                <a:lnTo>
                  <a:pt x="69" y="268"/>
                </a:lnTo>
                <a:lnTo>
                  <a:pt x="85" y="278"/>
                </a:lnTo>
                <a:lnTo>
                  <a:pt x="105" y="288"/>
                </a:lnTo>
                <a:lnTo>
                  <a:pt x="125" y="296"/>
                </a:lnTo>
                <a:lnTo>
                  <a:pt x="148" y="304"/>
                </a:lnTo>
                <a:lnTo>
                  <a:pt x="170" y="310"/>
                </a:lnTo>
                <a:lnTo>
                  <a:pt x="195" y="316"/>
                </a:lnTo>
                <a:lnTo>
                  <a:pt x="218" y="320"/>
                </a:lnTo>
                <a:lnTo>
                  <a:pt x="243" y="324"/>
                </a:lnTo>
                <a:lnTo>
                  <a:pt x="269" y="326"/>
                </a:lnTo>
                <a:lnTo>
                  <a:pt x="294" y="326"/>
                </a:lnTo>
                <a:lnTo>
                  <a:pt x="321" y="326"/>
                </a:lnTo>
                <a:lnTo>
                  <a:pt x="347" y="324"/>
                </a:lnTo>
                <a:lnTo>
                  <a:pt x="372" y="320"/>
                </a:lnTo>
                <a:lnTo>
                  <a:pt x="395" y="316"/>
                </a:lnTo>
                <a:lnTo>
                  <a:pt x="420" y="310"/>
                </a:lnTo>
                <a:lnTo>
                  <a:pt x="442" y="304"/>
                </a:lnTo>
                <a:lnTo>
                  <a:pt x="465" y="296"/>
                </a:lnTo>
                <a:lnTo>
                  <a:pt x="485" y="288"/>
                </a:lnTo>
                <a:lnTo>
                  <a:pt x="505" y="278"/>
                </a:lnTo>
                <a:lnTo>
                  <a:pt x="521" y="268"/>
                </a:lnTo>
                <a:lnTo>
                  <a:pt x="538" y="257"/>
                </a:lnTo>
                <a:lnTo>
                  <a:pt x="550" y="244"/>
                </a:lnTo>
                <a:lnTo>
                  <a:pt x="563" y="231"/>
                </a:lnTo>
                <a:lnTo>
                  <a:pt x="573" y="219"/>
                </a:lnTo>
                <a:lnTo>
                  <a:pt x="581" y="205"/>
                </a:lnTo>
                <a:lnTo>
                  <a:pt x="586" y="191"/>
                </a:lnTo>
                <a:lnTo>
                  <a:pt x="589" y="177"/>
                </a:lnTo>
                <a:lnTo>
                  <a:pt x="591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9" name="Rectangle 14">
            <a:extLst>
              <a:ext uri="{FF2B5EF4-FFF2-40B4-BE49-F238E27FC236}">
                <a16:creationId xmlns:a16="http://schemas.microsoft.com/office/drawing/2014/main" id="{7840FB03-4BFC-56C7-8416-8D836E2D1289}"/>
              </a:ext>
            </a:extLst>
          </p:cNvPr>
          <p:cNvSpPr>
            <a:spLocks noGrp="1"/>
          </p:cNvSpPr>
          <p:nvPr/>
        </p:nvSpPr>
        <p:spPr>
          <a:xfrm>
            <a:off x="5957948" y="1137033"/>
            <a:ext cx="835025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50" name="Rectangle 15">
            <a:extLst>
              <a:ext uri="{FF2B5EF4-FFF2-40B4-BE49-F238E27FC236}">
                <a16:creationId xmlns:a16="http://schemas.microsoft.com/office/drawing/2014/main" id="{F0602168-7B81-ADF0-24F4-DC4F60FC02E8}"/>
              </a:ext>
            </a:extLst>
          </p:cNvPr>
          <p:cNvSpPr>
            <a:spLocks noGrp="1"/>
          </p:cNvSpPr>
          <p:nvPr/>
        </p:nvSpPr>
        <p:spPr>
          <a:xfrm>
            <a:off x="6718360" y="1519621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1" name="Rectangle 16">
            <a:extLst>
              <a:ext uri="{FF2B5EF4-FFF2-40B4-BE49-F238E27FC236}">
                <a16:creationId xmlns:a16="http://schemas.microsoft.com/office/drawing/2014/main" id="{36173E32-2150-376F-B72B-E9A2E2F76478}"/>
              </a:ext>
            </a:extLst>
          </p:cNvPr>
          <p:cNvSpPr>
            <a:spLocks noGrp="1"/>
          </p:cNvSpPr>
          <p:nvPr/>
        </p:nvSpPr>
        <p:spPr>
          <a:xfrm>
            <a:off x="5448360" y="1533908"/>
            <a:ext cx="4857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did</a:t>
            </a:r>
          </a:p>
        </p:txBody>
      </p:sp>
      <p:sp>
        <p:nvSpPr>
          <p:cNvPr id="53" name="Freeform 18">
            <a:extLst>
              <a:ext uri="{FF2B5EF4-FFF2-40B4-BE49-F238E27FC236}">
                <a16:creationId xmlns:a16="http://schemas.microsoft.com/office/drawing/2014/main" id="{62FF0CFB-1B87-29FD-1D00-7E600F21B782}"/>
              </a:ext>
            </a:extLst>
          </p:cNvPr>
          <p:cNvSpPr>
            <a:spLocks noGrp="1"/>
          </p:cNvSpPr>
          <p:nvPr/>
        </p:nvSpPr>
        <p:spPr>
          <a:xfrm>
            <a:off x="4259940" y="849283"/>
            <a:ext cx="720725" cy="519112"/>
          </a:xfrm>
          <a:custGeom>
            <a:avLst/>
            <a:gdLst>
              <a:gd name="T0" fmla="*/ 1 w 454"/>
              <a:gd name="T1" fmla="*/ 177 h 327"/>
              <a:gd name="T2" fmla="*/ 8 w 454"/>
              <a:gd name="T3" fmla="*/ 205 h 327"/>
              <a:gd name="T4" fmla="*/ 21 w 454"/>
              <a:gd name="T5" fmla="*/ 231 h 327"/>
              <a:gd name="T6" fmla="*/ 41 w 454"/>
              <a:gd name="T7" fmla="*/ 257 h 327"/>
              <a:gd name="T8" fmla="*/ 66 w 454"/>
              <a:gd name="T9" fmla="*/ 278 h 327"/>
              <a:gd name="T10" fmla="*/ 96 w 454"/>
              <a:gd name="T11" fmla="*/ 296 h 327"/>
              <a:gd name="T12" fmla="*/ 131 w 454"/>
              <a:gd name="T13" fmla="*/ 311 h 327"/>
              <a:gd name="T14" fmla="*/ 167 w 454"/>
              <a:gd name="T15" fmla="*/ 320 h 327"/>
              <a:gd name="T16" fmla="*/ 206 w 454"/>
              <a:gd name="T17" fmla="*/ 326 h 327"/>
              <a:gd name="T18" fmla="*/ 246 w 454"/>
              <a:gd name="T19" fmla="*/ 326 h 327"/>
              <a:gd name="T20" fmla="*/ 285 w 454"/>
              <a:gd name="T21" fmla="*/ 320 h 327"/>
              <a:gd name="T22" fmla="*/ 322 w 454"/>
              <a:gd name="T23" fmla="*/ 310 h 327"/>
              <a:gd name="T24" fmla="*/ 356 w 454"/>
              <a:gd name="T25" fmla="*/ 296 h 327"/>
              <a:gd name="T26" fmla="*/ 387 w 454"/>
              <a:gd name="T27" fmla="*/ 278 h 327"/>
              <a:gd name="T28" fmla="*/ 412 w 454"/>
              <a:gd name="T29" fmla="*/ 257 h 327"/>
              <a:gd name="T30" fmla="*/ 431 w 454"/>
              <a:gd name="T31" fmla="*/ 231 h 327"/>
              <a:gd name="T32" fmla="*/ 445 w 454"/>
              <a:gd name="T33" fmla="*/ 205 h 327"/>
              <a:gd name="T34" fmla="*/ 453 w 454"/>
              <a:gd name="T35" fmla="*/ 177 h 327"/>
              <a:gd name="T36" fmla="*/ 453 w 454"/>
              <a:gd name="T37" fmla="*/ 148 h 327"/>
              <a:gd name="T38" fmla="*/ 445 w 454"/>
              <a:gd name="T39" fmla="*/ 120 h 327"/>
              <a:gd name="T40" fmla="*/ 431 w 454"/>
              <a:gd name="T41" fmla="*/ 94 h 327"/>
              <a:gd name="T42" fmla="*/ 412 w 454"/>
              <a:gd name="T43" fmla="*/ 68 h 327"/>
              <a:gd name="T44" fmla="*/ 387 w 454"/>
              <a:gd name="T45" fmla="*/ 47 h 327"/>
              <a:gd name="T46" fmla="*/ 356 w 454"/>
              <a:gd name="T47" fmla="*/ 29 h 327"/>
              <a:gd name="T48" fmla="*/ 322 w 454"/>
              <a:gd name="T49" fmla="*/ 15 h 327"/>
              <a:gd name="T50" fmla="*/ 285 w 454"/>
              <a:gd name="T51" fmla="*/ 5 h 327"/>
              <a:gd name="T52" fmla="*/ 246 w 454"/>
              <a:gd name="T53" fmla="*/ 0 h 327"/>
              <a:gd name="T54" fmla="*/ 206 w 454"/>
              <a:gd name="T55" fmla="*/ 0 h 327"/>
              <a:gd name="T56" fmla="*/ 167 w 454"/>
              <a:gd name="T57" fmla="*/ 5 h 327"/>
              <a:gd name="T58" fmla="*/ 131 w 454"/>
              <a:gd name="T59" fmla="*/ 15 h 327"/>
              <a:gd name="T60" fmla="*/ 96 w 454"/>
              <a:gd name="T61" fmla="*/ 29 h 327"/>
              <a:gd name="T62" fmla="*/ 66 w 454"/>
              <a:gd name="T63" fmla="*/ 47 h 327"/>
              <a:gd name="T64" fmla="*/ 41 w 454"/>
              <a:gd name="T65" fmla="*/ 68 h 327"/>
              <a:gd name="T66" fmla="*/ 21 w 454"/>
              <a:gd name="T67" fmla="*/ 94 h 327"/>
              <a:gd name="T68" fmla="*/ 8 w 454"/>
              <a:gd name="T69" fmla="*/ 120 h 327"/>
              <a:gd name="T70" fmla="*/ 1 w 454"/>
              <a:gd name="T71" fmla="*/ 148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0" y="163"/>
                </a:moveTo>
                <a:lnTo>
                  <a:pt x="1" y="177"/>
                </a:lnTo>
                <a:lnTo>
                  <a:pt x="3" y="192"/>
                </a:lnTo>
                <a:lnTo>
                  <a:pt x="8" y="205"/>
                </a:lnTo>
                <a:lnTo>
                  <a:pt x="13" y="219"/>
                </a:lnTo>
                <a:lnTo>
                  <a:pt x="21" y="231"/>
                </a:lnTo>
                <a:lnTo>
                  <a:pt x="30" y="244"/>
                </a:lnTo>
                <a:lnTo>
                  <a:pt x="41" y="257"/>
                </a:lnTo>
                <a:lnTo>
                  <a:pt x="53" y="268"/>
                </a:lnTo>
                <a:lnTo>
                  <a:pt x="66" y="278"/>
                </a:lnTo>
                <a:lnTo>
                  <a:pt x="80" y="288"/>
                </a:lnTo>
                <a:lnTo>
                  <a:pt x="96" y="296"/>
                </a:lnTo>
                <a:lnTo>
                  <a:pt x="113" y="304"/>
                </a:lnTo>
                <a:lnTo>
                  <a:pt x="131" y="311"/>
                </a:lnTo>
                <a:lnTo>
                  <a:pt x="149" y="316"/>
                </a:lnTo>
                <a:lnTo>
                  <a:pt x="167" y="320"/>
                </a:lnTo>
                <a:lnTo>
                  <a:pt x="186" y="324"/>
                </a:lnTo>
                <a:lnTo>
                  <a:pt x="206" y="326"/>
                </a:lnTo>
                <a:lnTo>
                  <a:pt x="227" y="326"/>
                </a:lnTo>
                <a:lnTo>
                  <a:pt x="246" y="326"/>
                </a:lnTo>
                <a:lnTo>
                  <a:pt x="266" y="323"/>
                </a:lnTo>
                <a:lnTo>
                  <a:pt x="285" y="320"/>
                </a:lnTo>
                <a:lnTo>
                  <a:pt x="304" y="316"/>
                </a:lnTo>
                <a:lnTo>
                  <a:pt x="322" y="310"/>
                </a:lnTo>
                <a:lnTo>
                  <a:pt x="340" y="304"/>
                </a:lnTo>
                <a:lnTo>
                  <a:pt x="356" y="296"/>
                </a:lnTo>
                <a:lnTo>
                  <a:pt x="372" y="288"/>
                </a:lnTo>
                <a:lnTo>
                  <a:pt x="387" y="278"/>
                </a:lnTo>
                <a:lnTo>
                  <a:pt x="399" y="266"/>
                </a:lnTo>
                <a:lnTo>
                  <a:pt x="412" y="257"/>
                </a:lnTo>
                <a:lnTo>
                  <a:pt x="423" y="244"/>
                </a:lnTo>
                <a:lnTo>
                  <a:pt x="431" y="231"/>
                </a:lnTo>
                <a:lnTo>
                  <a:pt x="439" y="219"/>
                </a:lnTo>
                <a:lnTo>
                  <a:pt x="445" y="205"/>
                </a:lnTo>
                <a:lnTo>
                  <a:pt x="449" y="191"/>
                </a:lnTo>
                <a:lnTo>
                  <a:pt x="453" y="177"/>
                </a:lnTo>
                <a:lnTo>
                  <a:pt x="453" y="163"/>
                </a:lnTo>
                <a:lnTo>
                  <a:pt x="453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1"/>
                </a:lnTo>
                <a:lnTo>
                  <a:pt x="412" y="68"/>
                </a:lnTo>
                <a:lnTo>
                  <a:pt x="399" y="57"/>
                </a:lnTo>
                <a:lnTo>
                  <a:pt x="387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6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9" y="9"/>
                </a:lnTo>
                <a:lnTo>
                  <a:pt x="131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4"/>
                </a:lnTo>
                <a:lnTo>
                  <a:pt x="13" y="106"/>
                </a:lnTo>
                <a:lnTo>
                  <a:pt x="8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4" name="Rectangle 19">
            <a:extLst>
              <a:ext uri="{FF2B5EF4-FFF2-40B4-BE49-F238E27FC236}">
                <a16:creationId xmlns:a16="http://schemas.microsoft.com/office/drawing/2014/main" id="{21BE4071-A104-DDF3-B693-6866D68BA342}"/>
              </a:ext>
            </a:extLst>
          </p:cNvPr>
          <p:cNvSpPr>
            <a:spLocks noGrp="1"/>
          </p:cNvSpPr>
          <p:nvPr/>
        </p:nvSpPr>
        <p:spPr>
          <a:xfrm>
            <a:off x="4264703" y="947708"/>
            <a:ext cx="700087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</a:t>
            </a:r>
          </a:p>
        </p:txBody>
      </p:sp>
      <p:sp>
        <p:nvSpPr>
          <p:cNvPr id="56" name="Freeform 21">
            <a:extLst>
              <a:ext uri="{FF2B5EF4-FFF2-40B4-BE49-F238E27FC236}">
                <a16:creationId xmlns:a16="http://schemas.microsoft.com/office/drawing/2014/main" id="{CC0E93DB-46CA-F21F-5332-4DDAE63A0628}"/>
              </a:ext>
            </a:extLst>
          </p:cNvPr>
          <p:cNvSpPr>
            <a:spLocks noGrp="1"/>
          </p:cNvSpPr>
          <p:nvPr/>
        </p:nvSpPr>
        <p:spPr>
          <a:xfrm>
            <a:off x="2398713" y="1052896"/>
            <a:ext cx="720725" cy="519112"/>
          </a:xfrm>
          <a:custGeom>
            <a:avLst/>
            <a:gdLst>
              <a:gd name="T0" fmla="*/ 453 w 454"/>
              <a:gd name="T1" fmla="*/ 148 h 327"/>
              <a:gd name="T2" fmla="*/ 445 w 454"/>
              <a:gd name="T3" fmla="*/ 120 h 327"/>
              <a:gd name="T4" fmla="*/ 431 w 454"/>
              <a:gd name="T5" fmla="*/ 94 h 327"/>
              <a:gd name="T6" fmla="*/ 412 w 454"/>
              <a:gd name="T7" fmla="*/ 68 h 327"/>
              <a:gd name="T8" fmla="*/ 387 w 454"/>
              <a:gd name="T9" fmla="*/ 47 h 327"/>
              <a:gd name="T10" fmla="*/ 356 w 454"/>
              <a:gd name="T11" fmla="*/ 29 h 327"/>
              <a:gd name="T12" fmla="*/ 322 w 454"/>
              <a:gd name="T13" fmla="*/ 15 h 327"/>
              <a:gd name="T14" fmla="*/ 285 w 454"/>
              <a:gd name="T15" fmla="*/ 5 h 327"/>
              <a:gd name="T16" fmla="*/ 246 w 454"/>
              <a:gd name="T17" fmla="*/ 0 h 327"/>
              <a:gd name="T18" fmla="*/ 206 w 454"/>
              <a:gd name="T19" fmla="*/ 0 h 327"/>
              <a:gd name="T20" fmla="*/ 167 w 454"/>
              <a:gd name="T21" fmla="*/ 5 h 327"/>
              <a:gd name="T22" fmla="*/ 131 w 454"/>
              <a:gd name="T23" fmla="*/ 15 h 327"/>
              <a:gd name="T24" fmla="*/ 96 w 454"/>
              <a:gd name="T25" fmla="*/ 29 h 327"/>
              <a:gd name="T26" fmla="*/ 66 w 454"/>
              <a:gd name="T27" fmla="*/ 47 h 327"/>
              <a:gd name="T28" fmla="*/ 41 w 454"/>
              <a:gd name="T29" fmla="*/ 68 h 327"/>
              <a:gd name="T30" fmla="*/ 21 w 454"/>
              <a:gd name="T31" fmla="*/ 94 h 327"/>
              <a:gd name="T32" fmla="*/ 8 w 454"/>
              <a:gd name="T33" fmla="*/ 120 h 327"/>
              <a:gd name="T34" fmla="*/ 1 w 454"/>
              <a:gd name="T35" fmla="*/ 148 h 327"/>
              <a:gd name="T36" fmla="*/ 1 w 454"/>
              <a:gd name="T37" fmla="*/ 177 h 327"/>
              <a:gd name="T38" fmla="*/ 8 w 454"/>
              <a:gd name="T39" fmla="*/ 205 h 327"/>
              <a:gd name="T40" fmla="*/ 21 w 454"/>
              <a:gd name="T41" fmla="*/ 231 h 327"/>
              <a:gd name="T42" fmla="*/ 41 w 454"/>
              <a:gd name="T43" fmla="*/ 257 h 327"/>
              <a:gd name="T44" fmla="*/ 66 w 454"/>
              <a:gd name="T45" fmla="*/ 278 h 327"/>
              <a:gd name="T46" fmla="*/ 96 w 454"/>
              <a:gd name="T47" fmla="*/ 296 h 327"/>
              <a:gd name="T48" fmla="*/ 131 w 454"/>
              <a:gd name="T49" fmla="*/ 310 h 327"/>
              <a:gd name="T50" fmla="*/ 167 w 454"/>
              <a:gd name="T51" fmla="*/ 320 h 327"/>
              <a:gd name="T52" fmla="*/ 206 w 454"/>
              <a:gd name="T53" fmla="*/ 326 h 327"/>
              <a:gd name="T54" fmla="*/ 246 w 454"/>
              <a:gd name="T55" fmla="*/ 326 h 327"/>
              <a:gd name="T56" fmla="*/ 285 w 454"/>
              <a:gd name="T57" fmla="*/ 320 h 327"/>
              <a:gd name="T58" fmla="*/ 322 w 454"/>
              <a:gd name="T59" fmla="*/ 310 h 327"/>
              <a:gd name="T60" fmla="*/ 356 w 454"/>
              <a:gd name="T61" fmla="*/ 296 h 327"/>
              <a:gd name="T62" fmla="*/ 387 w 454"/>
              <a:gd name="T63" fmla="*/ 278 h 327"/>
              <a:gd name="T64" fmla="*/ 412 w 454"/>
              <a:gd name="T65" fmla="*/ 257 h 327"/>
              <a:gd name="T66" fmla="*/ 431 w 454"/>
              <a:gd name="T67" fmla="*/ 231 h 327"/>
              <a:gd name="T68" fmla="*/ 445 w 454"/>
              <a:gd name="T69" fmla="*/ 205 h 327"/>
              <a:gd name="T70" fmla="*/ 453 w 454"/>
              <a:gd name="T71" fmla="*/ 17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453" y="163"/>
                </a:moveTo>
                <a:lnTo>
                  <a:pt x="453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1"/>
                </a:lnTo>
                <a:lnTo>
                  <a:pt x="412" y="68"/>
                </a:lnTo>
                <a:lnTo>
                  <a:pt x="399" y="57"/>
                </a:lnTo>
                <a:lnTo>
                  <a:pt x="387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6" y="2"/>
                </a:lnTo>
                <a:lnTo>
                  <a:pt x="246" y="0"/>
                </a:lnTo>
                <a:lnTo>
                  <a:pt x="227" y="0"/>
                </a:lnTo>
                <a:lnTo>
                  <a:pt x="206" y="0"/>
                </a:lnTo>
                <a:lnTo>
                  <a:pt x="187" y="2"/>
                </a:lnTo>
                <a:lnTo>
                  <a:pt x="167" y="5"/>
                </a:lnTo>
                <a:lnTo>
                  <a:pt x="149" y="9"/>
                </a:lnTo>
                <a:lnTo>
                  <a:pt x="131" y="15"/>
                </a:lnTo>
                <a:lnTo>
                  <a:pt x="113" y="21"/>
                </a:lnTo>
                <a:lnTo>
                  <a:pt x="96" y="29"/>
                </a:lnTo>
                <a:lnTo>
                  <a:pt x="81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4"/>
                </a:lnTo>
                <a:lnTo>
                  <a:pt x="13" y="106"/>
                </a:lnTo>
                <a:lnTo>
                  <a:pt x="8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3" y="191"/>
                </a:lnTo>
                <a:lnTo>
                  <a:pt x="8" y="205"/>
                </a:lnTo>
                <a:lnTo>
                  <a:pt x="13" y="219"/>
                </a:lnTo>
                <a:lnTo>
                  <a:pt x="21" y="231"/>
                </a:lnTo>
                <a:lnTo>
                  <a:pt x="30" y="244"/>
                </a:lnTo>
                <a:lnTo>
                  <a:pt x="41" y="257"/>
                </a:lnTo>
                <a:lnTo>
                  <a:pt x="53" y="268"/>
                </a:lnTo>
                <a:lnTo>
                  <a:pt x="66" y="278"/>
                </a:lnTo>
                <a:lnTo>
                  <a:pt x="81" y="288"/>
                </a:lnTo>
                <a:lnTo>
                  <a:pt x="96" y="296"/>
                </a:lnTo>
                <a:lnTo>
                  <a:pt x="113" y="304"/>
                </a:lnTo>
                <a:lnTo>
                  <a:pt x="131" y="310"/>
                </a:lnTo>
                <a:lnTo>
                  <a:pt x="149" y="316"/>
                </a:lnTo>
                <a:lnTo>
                  <a:pt x="167" y="320"/>
                </a:lnTo>
                <a:lnTo>
                  <a:pt x="187" y="324"/>
                </a:lnTo>
                <a:lnTo>
                  <a:pt x="206" y="326"/>
                </a:lnTo>
                <a:lnTo>
                  <a:pt x="227" y="326"/>
                </a:lnTo>
                <a:lnTo>
                  <a:pt x="246" y="326"/>
                </a:lnTo>
                <a:lnTo>
                  <a:pt x="266" y="324"/>
                </a:lnTo>
                <a:lnTo>
                  <a:pt x="285" y="320"/>
                </a:lnTo>
                <a:lnTo>
                  <a:pt x="304" y="316"/>
                </a:lnTo>
                <a:lnTo>
                  <a:pt x="322" y="310"/>
                </a:lnTo>
                <a:lnTo>
                  <a:pt x="339" y="304"/>
                </a:lnTo>
                <a:lnTo>
                  <a:pt x="356" y="296"/>
                </a:lnTo>
                <a:lnTo>
                  <a:pt x="372" y="288"/>
                </a:lnTo>
                <a:lnTo>
                  <a:pt x="387" y="278"/>
                </a:lnTo>
                <a:lnTo>
                  <a:pt x="399" y="268"/>
                </a:lnTo>
                <a:lnTo>
                  <a:pt x="412" y="257"/>
                </a:lnTo>
                <a:lnTo>
                  <a:pt x="422" y="244"/>
                </a:lnTo>
                <a:lnTo>
                  <a:pt x="431" y="231"/>
                </a:lnTo>
                <a:lnTo>
                  <a:pt x="439" y="219"/>
                </a:lnTo>
                <a:lnTo>
                  <a:pt x="445" y="205"/>
                </a:lnTo>
                <a:lnTo>
                  <a:pt x="449" y="191"/>
                </a:lnTo>
                <a:lnTo>
                  <a:pt x="453" y="177"/>
                </a:lnTo>
                <a:lnTo>
                  <a:pt x="453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7" name="Freeform 22">
            <a:extLst>
              <a:ext uri="{FF2B5EF4-FFF2-40B4-BE49-F238E27FC236}">
                <a16:creationId xmlns:a16="http://schemas.microsoft.com/office/drawing/2014/main" id="{95B5028C-04B7-E26A-F1D7-4034C4FF0A19}"/>
              </a:ext>
            </a:extLst>
          </p:cNvPr>
          <p:cNvSpPr>
            <a:spLocks noGrp="1"/>
          </p:cNvSpPr>
          <p:nvPr/>
        </p:nvSpPr>
        <p:spPr>
          <a:xfrm>
            <a:off x="1752600" y="1435483"/>
            <a:ext cx="720725" cy="517524"/>
          </a:xfrm>
          <a:custGeom>
            <a:avLst/>
            <a:gdLst>
              <a:gd name="T0" fmla="*/ 451 w 454"/>
              <a:gd name="T1" fmla="*/ 148 h 326"/>
              <a:gd name="T2" fmla="*/ 445 w 454"/>
              <a:gd name="T3" fmla="*/ 120 h 326"/>
              <a:gd name="T4" fmla="*/ 431 w 454"/>
              <a:gd name="T5" fmla="*/ 93 h 326"/>
              <a:gd name="T6" fmla="*/ 411 w 454"/>
              <a:gd name="T7" fmla="*/ 68 h 326"/>
              <a:gd name="T8" fmla="*/ 386 w 454"/>
              <a:gd name="T9" fmla="*/ 47 h 326"/>
              <a:gd name="T10" fmla="*/ 356 w 454"/>
              <a:gd name="T11" fmla="*/ 29 h 326"/>
              <a:gd name="T12" fmla="*/ 322 w 454"/>
              <a:gd name="T13" fmla="*/ 15 h 326"/>
              <a:gd name="T14" fmla="*/ 285 w 454"/>
              <a:gd name="T15" fmla="*/ 5 h 326"/>
              <a:gd name="T16" fmla="*/ 246 w 454"/>
              <a:gd name="T17" fmla="*/ 0 h 326"/>
              <a:gd name="T18" fmla="*/ 206 w 454"/>
              <a:gd name="T19" fmla="*/ 0 h 326"/>
              <a:gd name="T20" fmla="*/ 167 w 454"/>
              <a:gd name="T21" fmla="*/ 5 h 326"/>
              <a:gd name="T22" fmla="*/ 130 w 454"/>
              <a:gd name="T23" fmla="*/ 15 h 326"/>
              <a:gd name="T24" fmla="*/ 96 w 454"/>
              <a:gd name="T25" fmla="*/ 29 h 326"/>
              <a:gd name="T26" fmla="*/ 66 w 454"/>
              <a:gd name="T27" fmla="*/ 47 h 326"/>
              <a:gd name="T28" fmla="*/ 41 w 454"/>
              <a:gd name="T29" fmla="*/ 68 h 326"/>
              <a:gd name="T30" fmla="*/ 21 w 454"/>
              <a:gd name="T31" fmla="*/ 93 h 326"/>
              <a:gd name="T32" fmla="*/ 7 w 454"/>
              <a:gd name="T33" fmla="*/ 120 h 326"/>
              <a:gd name="T34" fmla="*/ 1 w 454"/>
              <a:gd name="T35" fmla="*/ 148 h 326"/>
              <a:gd name="T36" fmla="*/ 1 w 454"/>
              <a:gd name="T37" fmla="*/ 176 h 326"/>
              <a:gd name="T38" fmla="*/ 7 w 454"/>
              <a:gd name="T39" fmla="*/ 204 h 326"/>
              <a:gd name="T40" fmla="*/ 21 w 454"/>
              <a:gd name="T41" fmla="*/ 231 h 326"/>
              <a:gd name="T42" fmla="*/ 41 w 454"/>
              <a:gd name="T43" fmla="*/ 256 h 326"/>
              <a:gd name="T44" fmla="*/ 66 w 454"/>
              <a:gd name="T45" fmla="*/ 277 h 326"/>
              <a:gd name="T46" fmla="*/ 96 w 454"/>
              <a:gd name="T47" fmla="*/ 295 h 326"/>
              <a:gd name="T48" fmla="*/ 130 w 454"/>
              <a:gd name="T49" fmla="*/ 309 h 326"/>
              <a:gd name="T50" fmla="*/ 167 w 454"/>
              <a:gd name="T51" fmla="*/ 319 h 326"/>
              <a:gd name="T52" fmla="*/ 206 w 454"/>
              <a:gd name="T53" fmla="*/ 325 h 326"/>
              <a:gd name="T54" fmla="*/ 246 w 454"/>
              <a:gd name="T55" fmla="*/ 325 h 326"/>
              <a:gd name="T56" fmla="*/ 285 w 454"/>
              <a:gd name="T57" fmla="*/ 319 h 326"/>
              <a:gd name="T58" fmla="*/ 322 w 454"/>
              <a:gd name="T59" fmla="*/ 309 h 326"/>
              <a:gd name="T60" fmla="*/ 356 w 454"/>
              <a:gd name="T61" fmla="*/ 295 h 326"/>
              <a:gd name="T62" fmla="*/ 386 w 454"/>
              <a:gd name="T63" fmla="*/ 277 h 326"/>
              <a:gd name="T64" fmla="*/ 411 w 454"/>
              <a:gd name="T65" fmla="*/ 256 h 326"/>
              <a:gd name="T66" fmla="*/ 431 w 454"/>
              <a:gd name="T67" fmla="*/ 231 h 326"/>
              <a:gd name="T68" fmla="*/ 445 w 454"/>
              <a:gd name="T69" fmla="*/ 204 h 326"/>
              <a:gd name="T70" fmla="*/ 451 w 454"/>
              <a:gd name="T71" fmla="*/ 176 h 3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6"/>
              <a:gd name="T110" fmla="*/ 454 w 454"/>
              <a:gd name="T111" fmla="*/ 326 h 326"/>
            </a:gdLst>
            <a:ahLst/>
            <a:cxnLst/>
            <a:rect l="T108" t="T109" r="T110" b="T111"/>
            <a:pathLst>
              <a:path w="454" h="326">
                <a:moveTo>
                  <a:pt x="453" y="162"/>
                </a:moveTo>
                <a:lnTo>
                  <a:pt x="451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3"/>
                </a:lnTo>
                <a:lnTo>
                  <a:pt x="422" y="81"/>
                </a:lnTo>
                <a:lnTo>
                  <a:pt x="411" y="68"/>
                </a:lnTo>
                <a:lnTo>
                  <a:pt x="399" y="57"/>
                </a:lnTo>
                <a:lnTo>
                  <a:pt x="386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5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3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2"/>
                </a:lnTo>
                <a:lnTo>
                  <a:pt x="1" y="176"/>
                </a:lnTo>
                <a:lnTo>
                  <a:pt x="3" y="190"/>
                </a:lnTo>
                <a:lnTo>
                  <a:pt x="7" y="204"/>
                </a:lnTo>
                <a:lnTo>
                  <a:pt x="13" y="218"/>
                </a:lnTo>
                <a:lnTo>
                  <a:pt x="21" y="231"/>
                </a:lnTo>
                <a:lnTo>
                  <a:pt x="30" y="243"/>
                </a:lnTo>
                <a:lnTo>
                  <a:pt x="41" y="256"/>
                </a:lnTo>
                <a:lnTo>
                  <a:pt x="53" y="266"/>
                </a:lnTo>
                <a:lnTo>
                  <a:pt x="66" y="277"/>
                </a:lnTo>
                <a:lnTo>
                  <a:pt x="80" y="287"/>
                </a:lnTo>
                <a:lnTo>
                  <a:pt x="96" y="295"/>
                </a:lnTo>
                <a:lnTo>
                  <a:pt x="113" y="303"/>
                </a:lnTo>
                <a:lnTo>
                  <a:pt x="130" y="309"/>
                </a:lnTo>
                <a:lnTo>
                  <a:pt x="148" y="315"/>
                </a:lnTo>
                <a:lnTo>
                  <a:pt x="167" y="319"/>
                </a:lnTo>
                <a:lnTo>
                  <a:pt x="186" y="322"/>
                </a:lnTo>
                <a:lnTo>
                  <a:pt x="206" y="325"/>
                </a:lnTo>
                <a:lnTo>
                  <a:pt x="225" y="325"/>
                </a:lnTo>
                <a:lnTo>
                  <a:pt x="246" y="325"/>
                </a:lnTo>
                <a:lnTo>
                  <a:pt x="265" y="322"/>
                </a:lnTo>
                <a:lnTo>
                  <a:pt x="285" y="319"/>
                </a:lnTo>
                <a:lnTo>
                  <a:pt x="304" y="315"/>
                </a:lnTo>
                <a:lnTo>
                  <a:pt x="322" y="309"/>
                </a:lnTo>
                <a:lnTo>
                  <a:pt x="339" y="303"/>
                </a:lnTo>
                <a:lnTo>
                  <a:pt x="356" y="295"/>
                </a:lnTo>
                <a:lnTo>
                  <a:pt x="372" y="287"/>
                </a:lnTo>
                <a:lnTo>
                  <a:pt x="386" y="277"/>
                </a:lnTo>
                <a:lnTo>
                  <a:pt x="399" y="266"/>
                </a:lnTo>
                <a:lnTo>
                  <a:pt x="411" y="256"/>
                </a:lnTo>
                <a:lnTo>
                  <a:pt x="422" y="243"/>
                </a:lnTo>
                <a:lnTo>
                  <a:pt x="431" y="231"/>
                </a:lnTo>
                <a:lnTo>
                  <a:pt x="439" y="218"/>
                </a:lnTo>
                <a:lnTo>
                  <a:pt x="445" y="204"/>
                </a:lnTo>
                <a:lnTo>
                  <a:pt x="449" y="190"/>
                </a:lnTo>
                <a:lnTo>
                  <a:pt x="451" y="176"/>
                </a:lnTo>
                <a:lnTo>
                  <a:pt x="453" y="16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8" name="Freeform 23">
            <a:extLst>
              <a:ext uri="{FF2B5EF4-FFF2-40B4-BE49-F238E27FC236}">
                <a16:creationId xmlns:a16="http://schemas.microsoft.com/office/drawing/2014/main" id="{A809C841-E38A-4009-F329-06D8A2119A98}"/>
              </a:ext>
            </a:extLst>
          </p:cNvPr>
          <p:cNvSpPr>
            <a:spLocks noGrp="1"/>
          </p:cNvSpPr>
          <p:nvPr/>
        </p:nvSpPr>
        <p:spPr>
          <a:xfrm>
            <a:off x="3074988" y="1435483"/>
            <a:ext cx="717550" cy="517524"/>
          </a:xfrm>
          <a:custGeom>
            <a:avLst/>
            <a:gdLst>
              <a:gd name="T0" fmla="*/ 0 w 452"/>
              <a:gd name="T1" fmla="*/ 176 h 326"/>
              <a:gd name="T2" fmla="*/ 7 w 452"/>
              <a:gd name="T3" fmla="*/ 204 h 326"/>
              <a:gd name="T4" fmla="*/ 21 w 452"/>
              <a:gd name="T5" fmla="*/ 231 h 326"/>
              <a:gd name="T6" fmla="*/ 40 w 452"/>
              <a:gd name="T7" fmla="*/ 256 h 326"/>
              <a:gd name="T8" fmla="*/ 65 w 452"/>
              <a:gd name="T9" fmla="*/ 278 h 326"/>
              <a:gd name="T10" fmla="*/ 96 w 452"/>
              <a:gd name="T11" fmla="*/ 295 h 326"/>
              <a:gd name="T12" fmla="*/ 130 w 452"/>
              <a:gd name="T13" fmla="*/ 309 h 326"/>
              <a:gd name="T14" fmla="*/ 167 w 452"/>
              <a:gd name="T15" fmla="*/ 319 h 326"/>
              <a:gd name="T16" fmla="*/ 206 w 452"/>
              <a:gd name="T17" fmla="*/ 325 h 326"/>
              <a:gd name="T18" fmla="*/ 245 w 452"/>
              <a:gd name="T19" fmla="*/ 325 h 326"/>
              <a:gd name="T20" fmla="*/ 283 w 452"/>
              <a:gd name="T21" fmla="*/ 319 h 326"/>
              <a:gd name="T22" fmla="*/ 320 w 452"/>
              <a:gd name="T23" fmla="*/ 309 h 326"/>
              <a:gd name="T24" fmla="*/ 354 w 452"/>
              <a:gd name="T25" fmla="*/ 295 h 326"/>
              <a:gd name="T26" fmla="*/ 385 w 452"/>
              <a:gd name="T27" fmla="*/ 277 h 326"/>
              <a:gd name="T28" fmla="*/ 410 w 452"/>
              <a:gd name="T29" fmla="*/ 254 h 326"/>
              <a:gd name="T30" fmla="*/ 429 w 452"/>
              <a:gd name="T31" fmla="*/ 231 h 326"/>
              <a:gd name="T32" fmla="*/ 443 w 452"/>
              <a:gd name="T33" fmla="*/ 204 h 326"/>
              <a:gd name="T34" fmla="*/ 451 w 452"/>
              <a:gd name="T35" fmla="*/ 176 h 326"/>
              <a:gd name="T36" fmla="*/ 451 w 452"/>
              <a:gd name="T37" fmla="*/ 148 h 326"/>
              <a:gd name="T38" fmla="*/ 443 w 452"/>
              <a:gd name="T39" fmla="*/ 120 h 326"/>
              <a:gd name="T40" fmla="*/ 429 w 452"/>
              <a:gd name="T41" fmla="*/ 93 h 326"/>
              <a:gd name="T42" fmla="*/ 410 w 452"/>
              <a:gd name="T43" fmla="*/ 68 h 326"/>
              <a:gd name="T44" fmla="*/ 385 w 452"/>
              <a:gd name="T45" fmla="*/ 47 h 326"/>
              <a:gd name="T46" fmla="*/ 354 w 452"/>
              <a:gd name="T47" fmla="*/ 29 h 326"/>
              <a:gd name="T48" fmla="*/ 320 w 452"/>
              <a:gd name="T49" fmla="*/ 15 h 326"/>
              <a:gd name="T50" fmla="*/ 283 w 452"/>
              <a:gd name="T51" fmla="*/ 5 h 326"/>
              <a:gd name="T52" fmla="*/ 245 w 452"/>
              <a:gd name="T53" fmla="*/ 0 h 326"/>
              <a:gd name="T54" fmla="*/ 206 w 452"/>
              <a:gd name="T55" fmla="*/ 0 h 326"/>
              <a:gd name="T56" fmla="*/ 167 w 452"/>
              <a:gd name="T57" fmla="*/ 5 h 326"/>
              <a:gd name="T58" fmla="*/ 130 w 452"/>
              <a:gd name="T59" fmla="*/ 15 h 326"/>
              <a:gd name="T60" fmla="*/ 96 w 452"/>
              <a:gd name="T61" fmla="*/ 29 h 326"/>
              <a:gd name="T62" fmla="*/ 65 w 452"/>
              <a:gd name="T63" fmla="*/ 47 h 326"/>
              <a:gd name="T64" fmla="*/ 40 w 452"/>
              <a:gd name="T65" fmla="*/ 68 h 326"/>
              <a:gd name="T66" fmla="*/ 21 w 452"/>
              <a:gd name="T67" fmla="*/ 93 h 326"/>
              <a:gd name="T68" fmla="*/ 7 w 452"/>
              <a:gd name="T69" fmla="*/ 120 h 326"/>
              <a:gd name="T70" fmla="*/ 0 w 452"/>
              <a:gd name="T71" fmla="*/ 148 h 3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2"/>
              <a:gd name="T109" fmla="*/ 0 h 326"/>
              <a:gd name="T110" fmla="*/ 452 w 452"/>
              <a:gd name="T111" fmla="*/ 326 h 326"/>
            </a:gdLst>
            <a:ahLst/>
            <a:cxnLst/>
            <a:rect l="T108" t="T109" r="T110" b="T111"/>
            <a:pathLst>
              <a:path w="452" h="326">
                <a:moveTo>
                  <a:pt x="0" y="162"/>
                </a:moveTo>
                <a:lnTo>
                  <a:pt x="0" y="176"/>
                </a:lnTo>
                <a:lnTo>
                  <a:pt x="3" y="190"/>
                </a:lnTo>
                <a:lnTo>
                  <a:pt x="7" y="204"/>
                </a:lnTo>
                <a:lnTo>
                  <a:pt x="13" y="218"/>
                </a:lnTo>
                <a:lnTo>
                  <a:pt x="21" y="231"/>
                </a:lnTo>
                <a:lnTo>
                  <a:pt x="29" y="243"/>
                </a:lnTo>
                <a:lnTo>
                  <a:pt x="40" y="256"/>
                </a:lnTo>
                <a:lnTo>
                  <a:pt x="52" y="267"/>
                </a:lnTo>
                <a:lnTo>
                  <a:pt x="65" y="278"/>
                </a:lnTo>
                <a:lnTo>
                  <a:pt x="80" y="287"/>
                </a:lnTo>
                <a:lnTo>
                  <a:pt x="96" y="295"/>
                </a:lnTo>
                <a:lnTo>
                  <a:pt x="112" y="303"/>
                </a:lnTo>
                <a:lnTo>
                  <a:pt x="130" y="309"/>
                </a:lnTo>
                <a:lnTo>
                  <a:pt x="148" y="315"/>
                </a:lnTo>
                <a:lnTo>
                  <a:pt x="167" y="319"/>
                </a:lnTo>
                <a:lnTo>
                  <a:pt x="186" y="322"/>
                </a:lnTo>
                <a:lnTo>
                  <a:pt x="206" y="325"/>
                </a:lnTo>
                <a:lnTo>
                  <a:pt x="225" y="325"/>
                </a:lnTo>
                <a:lnTo>
                  <a:pt x="245" y="325"/>
                </a:lnTo>
                <a:lnTo>
                  <a:pt x="264" y="322"/>
                </a:lnTo>
                <a:lnTo>
                  <a:pt x="283" y="319"/>
                </a:lnTo>
                <a:lnTo>
                  <a:pt x="302" y="315"/>
                </a:lnTo>
                <a:lnTo>
                  <a:pt x="320" y="309"/>
                </a:lnTo>
                <a:lnTo>
                  <a:pt x="338" y="303"/>
                </a:lnTo>
                <a:lnTo>
                  <a:pt x="354" y="295"/>
                </a:lnTo>
                <a:lnTo>
                  <a:pt x="370" y="287"/>
                </a:lnTo>
                <a:lnTo>
                  <a:pt x="385" y="277"/>
                </a:lnTo>
                <a:lnTo>
                  <a:pt x="398" y="266"/>
                </a:lnTo>
                <a:lnTo>
                  <a:pt x="410" y="254"/>
                </a:lnTo>
                <a:lnTo>
                  <a:pt x="421" y="243"/>
                </a:lnTo>
                <a:lnTo>
                  <a:pt x="429" y="231"/>
                </a:lnTo>
                <a:lnTo>
                  <a:pt x="437" y="217"/>
                </a:lnTo>
                <a:lnTo>
                  <a:pt x="443" y="204"/>
                </a:lnTo>
                <a:lnTo>
                  <a:pt x="447" y="190"/>
                </a:lnTo>
                <a:lnTo>
                  <a:pt x="451" y="176"/>
                </a:lnTo>
                <a:lnTo>
                  <a:pt x="451" y="162"/>
                </a:lnTo>
                <a:lnTo>
                  <a:pt x="451" y="148"/>
                </a:lnTo>
                <a:lnTo>
                  <a:pt x="447" y="134"/>
                </a:lnTo>
                <a:lnTo>
                  <a:pt x="443" y="120"/>
                </a:lnTo>
                <a:lnTo>
                  <a:pt x="437" y="106"/>
                </a:lnTo>
                <a:lnTo>
                  <a:pt x="429" y="93"/>
                </a:lnTo>
                <a:lnTo>
                  <a:pt x="421" y="81"/>
                </a:lnTo>
                <a:lnTo>
                  <a:pt x="410" y="68"/>
                </a:lnTo>
                <a:lnTo>
                  <a:pt x="398" y="57"/>
                </a:lnTo>
                <a:lnTo>
                  <a:pt x="385" y="47"/>
                </a:lnTo>
                <a:lnTo>
                  <a:pt x="370" y="37"/>
                </a:lnTo>
                <a:lnTo>
                  <a:pt x="354" y="29"/>
                </a:lnTo>
                <a:lnTo>
                  <a:pt x="338" y="21"/>
                </a:lnTo>
                <a:lnTo>
                  <a:pt x="320" y="15"/>
                </a:lnTo>
                <a:lnTo>
                  <a:pt x="302" y="9"/>
                </a:lnTo>
                <a:lnTo>
                  <a:pt x="283" y="5"/>
                </a:lnTo>
                <a:lnTo>
                  <a:pt x="264" y="1"/>
                </a:lnTo>
                <a:lnTo>
                  <a:pt x="245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2" y="21"/>
                </a:lnTo>
                <a:lnTo>
                  <a:pt x="96" y="29"/>
                </a:lnTo>
                <a:lnTo>
                  <a:pt x="80" y="37"/>
                </a:lnTo>
                <a:lnTo>
                  <a:pt x="65" y="47"/>
                </a:lnTo>
                <a:lnTo>
                  <a:pt x="52" y="57"/>
                </a:lnTo>
                <a:lnTo>
                  <a:pt x="40" y="68"/>
                </a:lnTo>
                <a:lnTo>
                  <a:pt x="29" y="81"/>
                </a:lnTo>
                <a:lnTo>
                  <a:pt x="21" y="93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0" y="148"/>
                </a:lnTo>
                <a:lnTo>
                  <a:pt x="0" y="16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9" name="Rectangle 24">
            <a:extLst>
              <a:ext uri="{FF2B5EF4-FFF2-40B4-BE49-F238E27FC236}">
                <a16:creationId xmlns:a16="http://schemas.microsoft.com/office/drawing/2014/main" id="{6211F131-CEBB-16B3-5A59-1D808E7DBB2E}"/>
              </a:ext>
            </a:extLst>
          </p:cNvPr>
          <p:cNvSpPr>
            <a:spLocks noGrp="1"/>
          </p:cNvSpPr>
          <p:nvPr/>
        </p:nvSpPr>
        <p:spPr>
          <a:xfrm>
            <a:off x="3198813" y="1533908"/>
            <a:ext cx="430212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60" name="Rectangle 25">
            <a:extLst>
              <a:ext uri="{FF2B5EF4-FFF2-40B4-BE49-F238E27FC236}">
                <a16:creationId xmlns:a16="http://schemas.microsoft.com/office/drawing/2014/main" id="{15CC44D5-31EB-585E-1D19-3563DB1A1846}"/>
              </a:ext>
            </a:extLst>
          </p:cNvPr>
          <p:cNvSpPr>
            <a:spLocks noGrp="1"/>
          </p:cNvSpPr>
          <p:nvPr/>
        </p:nvSpPr>
        <p:spPr>
          <a:xfrm>
            <a:off x="2395538" y="1121158"/>
            <a:ext cx="711200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61" name="Rectangle 26">
            <a:extLst>
              <a:ext uri="{FF2B5EF4-FFF2-40B4-BE49-F238E27FC236}">
                <a16:creationId xmlns:a16="http://schemas.microsoft.com/office/drawing/2014/main" id="{78315C7B-7886-B1EB-F43E-47069D3D6C91}"/>
              </a:ext>
            </a:extLst>
          </p:cNvPr>
          <p:cNvSpPr>
            <a:spLocks noGrp="1"/>
          </p:cNvSpPr>
          <p:nvPr/>
        </p:nvSpPr>
        <p:spPr>
          <a:xfrm>
            <a:off x="1841500" y="1522795"/>
            <a:ext cx="530225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63" name="Rectangle 28">
            <a:extLst>
              <a:ext uri="{FF2B5EF4-FFF2-40B4-BE49-F238E27FC236}">
                <a16:creationId xmlns:a16="http://schemas.microsoft.com/office/drawing/2014/main" id="{D83D1539-FFD9-AE24-8D8B-5B410BF1E573}"/>
              </a:ext>
            </a:extLst>
          </p:cNvPr>
          <p:cNvSpPr>
            <a:spLocks noGrp="1"/>
          </p:cNvSpPr>
          <p:nvPr/>
        </p:nvSpPr>
        <p:spPr>
          <a:xfrm>
            <a:off x="4078965" y="2351087"/>
            <a:ext cx="1095374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Manages</a:t>
            </a:r>
          </a:p>
        </p:txBody>
      </p:sp>
      <p:sp>
        <p:nvSpPr>
          <p:cNvPr id="64" name="Freeform 29">
            <a:extLst>
              <a:ext uri="{FF2B5EF4-FFF2-40B4-BE49-F238E27FC236}">
                <a16:creationId xmlns:a16="http://schemas.microsoft.com/office/drawing/2014/main" id="{D3164B81-D73D-6E8D-3736-E636108B45A9}"/>
              </a:ext>
            </a:extLst>
          </p:cNvPr>
          <p:cNvSpPr>
            <a:spLocks noGrp="1"/>
          </p:cNvSpPr>
          <p:nvPr/>
        </p:nvSpPr>
        <p:spPr>
          <a:xfrm>
            <a:off x="3996415" y="2051050"/>
            <a:ext cx="1220787" cy="920750"/>
          </a:xfrm>
          <a:custGeom>
            <a:avLst/>
            <a:gdLst>
              <a:gd name="T0" fmla="*/ 0 w 769"/>
              <a:gd name="T1" fmla="*/ 290 h 580"/>
              <a:gd name="T2" fmla="*/ 378 w 769"/>
              <a:gd name="T3" fmla="*/ 0 h 580"/>
              <a:gd name="T4" fmla="*/ 768 w 769"/>
              <a:gd name="T5" fmla="*/ 300 h 580"/>
              <a:gd name="T6" fmla="*/ 378 w 769"/>
              <a:gd name="T7" fmla="*/ 579 h 580"/>
              <a:gd name="T8" fmla="*/ 0 w 769"/>
              <a:gd name="T9" fmla="*/ 290 h 5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9"/>
              <a:gd name="T16" fmla="*/ 0 h 580"/>
              <a:gd name="T17" fmla="*/ 769 w 769"/>
              <a:gd name="T18" fmla="*/ 580 h 580"/>
            </a:gdLst>
            <a:ahLst/>
            <a:cxnLst/>
            <a:rect l="T15" t="T16" r="T17" b="T18"/>
            <a:pathLst>
              <a:path w="769" h="580">
                <a:moveTo>
                  <a:pt x="0" y="290"/>
                </a:moveTo>
                <a:lnTo>
                  <a:pt x="378" y="0"/>
                </a:lnTo>
                <a:lnTo>
                  <a:pt x="768" y="300"/>
                </a:lnTo>
                <a:lnTo>
                  <a:pt x="378" y="579"/>
                </a:lnTo>
                <a:lnTo>
                  <a:pt x="0" y="290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5" name="Freeform 30">
            <a:extLst>
              <a:ext uri="{FF2B5EF4-FFF2-40B4-BE49-F238E27FC236}">
                <a16:creationId xmlns:a16="http://schemas.microsoft.com/office/drawing/2014/main" id="{C742DB62-F132-AC82-83EB-A30933B4014F}"/>
              </a:ext>
            </a:extLst>
          </p:cNvPr>
          <p:cNvSpPr>
            <a:spLocks noGrp="1"/>
          </p:cNvSpPr>
          <p:nvPr/>
        </p:nvSpPr>
        <p:spPr>
          <a:xfrm>
            <a:off x="5761098" y="2287971"/>
            <a:ext cx="1295400" cy="479425"/>
          </a:xfrm>
          <a:custGeom>
            <a:avLst/>
            <a:gdLst>
              <a:gd name="T0" fmla="*/ 1293813 w 816"/>
              <a:gd name="T1" fmla="*/ 477838 h 302"/>
              <a:gd name="T2" fmla="*/ 1293813 w 816"/>
              <a:gd name="T3" fmla="*/ 0 h 302"/>
              <a:gd name="T4" fmla="*/ 0 w 816"/>
              <a:gd name="T5" fmla="*/ 0 h 302"/>
              <a:gd name="T6" fmla="*/ 0 w 816"/>
              <a:gd name="T7" fmla="*/ 477838 h 302"/>
              <a:gd name="T8" fmla="*/ 1293813 w 816"/>
              <a:gd name="T9" fmla="*/ 477838 h 3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6"/>
              <a:gd name="T16" fmla="*/ 0 h 302"/>
              <a:gd name="T17" fmla="*/ 816 w 816"/>
              <a:gd name="T18" fmla="*/ 302 h 302"/>
            </a:gdLst>
            <a:ahLst/>
            <a:cxnLst/>
            <a:rect l="T15" t="T16" r="T17" b="T18"/>
            <a:pathLst>
              <a:path w="816" h="302">
                <a:moveTo>
                  <a:pt x="815" y="301"/>
                </a:moveTo>
                <a:lnTo>
                  <a:pt x="815" y="0"/>
                </a:lnTo>
                <a:lnTo>
                  <a:pt x="0" y="0"/>
                </a:lnTo>
                <a:lnTo>
                  <a:pt x="0" y="301"/>
                </a:lnTo>
                <a:lnTo>
                  <a:pt x="815" y="301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7" name="Freeform 32">
            <a:extLst>
              <a:ext uri="{FF2B5EF4-FFF2-40B4-BE49-F238E27FC236}">
                <a16:creationId xmlns:a16="http://schemas.microsoft.com/office/drawing/2014/main" id="{CF2E0F2E-F451-2510-07F1-D11CD501B190}"/>
              </a:ext>
            </a:extLst>
          </p:cNvPr>
          <p:cNvSpPr>
            <a:spLocks noGrp="1"/>
          </p:cNvSpPr>
          <p:nvPr/>
        </p:nvSpPr>
        <p:spPr>
          <a:xfrm>
            <a:off x="2163763" y="2272096"/>
            <a:ext cx="1292225" cy="468311"/>
          </a:xfrm>
          <a:custGeom>
            <a:avLst/>
            <a:gdLst>
              <a:gd name="T0" fmla="*/ 813 w 814"/>
              <a:gd name="T1" fmla="*/ 294 h 295"/>
              <a:gd name="T2" fmla="*/ 813 w 814"/>
              <a:gd name="T3" fmla="*/ 0 h 295"/>
              <a:gd name="T4" fmla="*/ 0 w 814"/>
              <a:gd name="T5" fmla="*/ 0 h 295"/>
              <a:gd name="T6" fmla="*/ 0 w 814"/>
              <a:gd name="T7" fmla="*/ 294 h 295"/>
              <a:gd name="T8" fmla="*/ 813 w 814"/>
              <a:gd name="T9" fmla="*/ 294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4"/>
              <a:gd name="T16" fmla="*/ 0 h 295"/>
              <a:gd name="T17" fmla="*/ 814 w 814"/>
              <a:gd name="T18" fmla="*/ 295 h 295"/>
            </a:gdLst>
            <a:ahLst/>
            <a:cxnLst/>
            <a:rect l="T15" t="T16" r="T17" b="T18"/>
            <a:pathLst>
              <a:path w="814" h="295">
                <a:moveTo>
                  <a:pt x="813" y="294"/>
                </a:moveTo>
                <a:lnTo>
                  <a:pt x="813" y="0"/>
                </a:lnTo>
                <a:lnTo>
                  <a:pt x="0" y="0"/>
                </a:lnTo>
                <a:lnTo>
                  <a:pt x="0" y="294"/>
                </a:lnTo>
                <a:lnTo>
                  <a:pt x="813" y="294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8" name="Rectangle 33">
            <a:extLst>
              <a:ext uri="{FF2B5EF4-FFF2-40B4-BE49-F238E27FC236}">
                <a16:creationId xmlns:a16="http://schemas.microsoft.com/office/drawing/2014/main" id="{38A42AAE-373C-5838-9748-9C7AE1AD6526}"/>
              </a:ext>
            </a:extLst>
          </p:cNvPr>
          <p:cNvSpPr>
            <a:spLocks noGrp="1"/>
          </p:cNvSpPr>
          <p:nvPr/>
        </p:nvSpPr>
        <p:spPr>
          <a:xfrm>
            <a:off x="2182813" y="2341946"/>
            <a:ext cx="1252537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69" name="Rectangle 34">
            <a:extLst>
              <a:ext uri="{FF2B5EF4-FFF2-40B4-BE49-F238E27FC236}">
                <a16:creationId xmlns:a16="http://schemas.microsoft.com/office/drawing/2014/main" id="{52327384-756E-5F4B-0396-32B62E35EB03}"/>
              </a:ext>
            </a:extLst>
          </p:cNvPr>
          <p:cNvSpPr>
            <a:spLocks noGrp="1"/>
          </p:cNvSpPr>
          <p:nvPr/>
        </p:nvSpPr>
        <p:spPr>
          <a:xfrm>
            <a:off x="5680135" y="2357821"/>
            <a:ext cx="14224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70" name="Line 35">
            <a:extLst>
              <a:ext uri="{FF2B5EF4-FFF2-40B4-BE49-F238E27FC236}">
                <a16:creationId xmlns:a16="http://schemas.microsoft.com/office/drawing/2014/main" id="{E400365E-CCB3-25D3-6088-0B21B8E37733}"/>
              </a:ext>
            </a:extLst>
          </p:cNvPr>
          <p:cNvSpPr>
            <a:spLocks noGrp="1"/>
          </p:cNvSpPr>
          <p:nvPr/>
        </p:nvSpPr>
        <p:spPr>
          <a:xfrm flipH="1">
            <a:off x="3456665" y="2508250"/>
            <a:ext cx="546100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1" name="Line 36">
            <a:extLst>
              <a:ext uri="{FF2B5EF4-FFF2-40B4-BE49-F238E27FC236}">
                <a16:creationId xmlns:a16="http://schemas.microsoft.com/office/drawing/2014/main" id="{A741B3EA-E172-785D-34C8-4318CC7CFE2E}"/>
              </a:ext>
            </a:extLst>
          </p:cNvPr>
          <p:cNvSpPr>
            <a:spLocks noGrp="1"/>
          </p:cNvSpPr>
          <p:nvPr/>
        </p:nvSpPr>
        <p:spPr>
          <a:xfrm>
            <a:off x="5221965" y="2526006"/>
            <a:ext cx="520700" cy="0"/>
          </a:xfrm>
          <a:prstGeom prst="line">
            <a:avLst/>
          </a:prstGeom>
          <a:noFill/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2" name="Line 37">
            <a:extLst>
              <a:ext uri="{FF2B5EF4-FFF2-40B4-BE49-F238E27FC236}">
                <a16:creationId xmlns:a16="http://schemas.microsoft.com/office/drawing/2014/main" id="{202A1A17-7DC0-EAF5-ACC1-4387A72A75BF}"/>
              </a:ext>
            </a:extLst>
          </p:cNvPr>
          <p:cNvSpPr>
            <a:spLocks noGrp="1"/>
          </p:cNvSpPr>
          <p:nvPr/>
        </p:nvSpPr>
        <p:spPr>
          <a:xfrm flipH="1">
            <a:off x="3170487" y="1955242"/>
            <a:ext cx="241300" cy="292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3" name="Line 38">
            <a:extLst>
              <a:ext uri="{FF2B5EF4-FFF2-40B4-BE49-F238E27FC236}">
                <a16:creationId xmlns:a16="http://schemas.microsoft.com/office/drawing/2014/main" id="{5C4E07FD-B617-ED63-188D-2A790B94FAA2}"/>
              </a:ext>
            </a:extLst>
          </p:cNvPr>
          <p:cNvSpPr>
            <a:spLocks noGrp="1"/>
          </p:cNvSpPr>
          <p:nvPr/>
        </p:nvSpPr>
        <p:spPr>
          <a:xfrm>
            <a:off x="2735262" y="1551370"/>
            <a:ext cx="6965" cy="720725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4" name="Line 39">
            <a:extLst>
              <a:ext uri="{FF2B5EF4-FFF2-40B4-BE49-F238E27FC236}">
                <a16:creationId xmlns:a16="http://schemas.microsoft.com/office/drawing/2014/main" id="{2604F516-C69D-3CB6-279C-E510A009FD13}"/>
              </a:ext>
            </a:extLst>
          </p:cNvPr>
          <p:cNvSpPr>
            <a:spLocks noGrp="1"/>
          </p:cNvSpPr>
          <p:nvPr/>
        </p:nvSpPr>
        <p:spPr>
          <a:xfrm>
            <a:off x="2208212" y="1932370"/>
            <a:ext cx="224705" cy="314971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5" name="Line 40">
            <a:extLst>
              <a:ext uri="{FF2B5EF4-FFF2-40B4-BE49-F238E27FC236}">
                <a16:creationId xmlns:a16="http://schemas.microsoft.com/office/drawing/2014/main" id="{6F904785-A673-044A-C144-7DAF7377BDF0}"/>
              </a:ext>
            </a:extLst>
          </p:cNvPr>
          <p:cNvSpPr>
            <a:spLocks noGrp="1"/>
          </p:cNvSpPr>
          <p:nvPr/>
        </p:nvSpPr>
        <p:spPr>
          <a:xfrm>
            <a:off x="4606015" y="1371600"/>
            <a:ext cx="0" cy="673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6" name="Line 41">
            <a:extLst>
              <a:ext uri="{FF2B5EF4-FFF2-40B4-BE49-F238E27FC236}">
                <a16:creationId xmlns:a16="http://schemas.microsoft.com/office/drawing/2014/main" id="{0B50054E-0D86-669E-02EA-40EFDA737AF2}"/>
              </a:ext>
            </a:extLst>
          </p:cNvPr>
          <p:cNvSpPr>
            <a:spLocks noGrp="1"/>
          </p:cNvSpPr>
          <p:nvPr/>
        </p:nvSpPr>
        <p:spPr>
          <a:xfrm>
            <a:off x="5818248" y="1932371"/>
            <a:ext cx="215900" cy="3683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7" name="Line 42">
            <a:extLst>
              <a:ext uri="{FF2B5EF4-FFF2-40B4-BE49-F238E27FC236}">
                <a16:creationId xmlns:a16="http://schemas.microsoft.com/office/drawing/2014/main" id="{0E458B75-D42D-FD90-0CA4-C6A59EB6830D}"/>
              </a:ext>
            </a:extLst>
          </p:cNvPr>
          <p:cNvSpPr>
            <a:spLocks noGrp="1"/>
          </p:cNvSpPr>
          <p:nvPr/>
        </p:nvSpPr>
        <p:spPr>
          <a:xfrm>
            <a:off x="6345298" y="1627571"/>
            <a:ext cx="0" cy="673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8" name="Line 43">
            <a:extLst>
              <a:ext uri="{FF2B5EF4-FFF2-40B4-BE49-F238E27FC236}">
                <a16:creationId xmlns:a16="http://schemas.microsoft.com/office/drawing/2014/main" id="{DD0A8275-6E1D-F1FC-A839-834495FE5340}"/>
              </a:ext>
            </a:extLst>
          </p:cNvPr>
          <p:cNvSpPr>
            <a:spLocks noGrp="1"/>
          </p:cNvSpPr>
          <p:nvPr/>
        </p:nvSpPr>
        <p:spPr>
          <a:xfrm flipH="1">
            <a:off x="6719948" y="1932371"/>
            <a:ext cx="165100" cy="3683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30134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82CF-D530-773B-3F37-3793FAE9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68362"/>
          </a:xfrm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将 1:N 联系集转换为表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9418C-6E4E-0B6A-A286-87E8056775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63</a:t>
            </a:fld>
            <a:endParaRPr/>
          </a:p>
        </p:txBody>
      </p:sp>
      <p:sp>
        <p:nvSpPr>
          <p:cNvPr id="45" name="Freeform 10">
            <a:extLst>
              <a:ext uri="{FF2B5EF4-FFF2-40B4-BE49-F238E27FC236}">
                <a16:creationId xmlns:a16="http://schemas.microsoft.com/office/drawing/2014/main" id="{C51DFA3F-06D6-6F17-C507-CC5C235DEAF1}"/>
              </a:ext>
            </a:extLst>
          </p:cNvPr>
          <p:cNvSpPr>
            <a:spLocks noGrp="1"/>
          </p:cNvSpPr>
          <p:nvPr/>
        </p:nvSpPr>
        <p:spPr>
          <a:xfrm>
            <a:off x="5343585" y="1449771"/>
            <a:ext cx="720725" cy="519112"/>
          </a:xfrm>
          <a:custGeom>
            <a:avLst/>
            <a:gdLst>
              <a:gd name="T0" fmla="*/ 715963 w 454"/>
              <a:gd name="T1" fmla="*/ 234950 h 327"/>
              <a:gd name="T2" fmla="*/ 706438 w 454"/>
              <a:gd name="T3" fmla="*/ 190500 h 327"/>
              <a:gd name="T4" fmla="*/ 684213 w 454"/>
              <a:gd name="T5" fmla="*/ 149225 h 327"/>
              <a:gd name="T6" fmla="*/ 652463 w 454"/>
              <a:gd name="T7" fmla="*/ 107950 h 327"/>
              <a:gd name="T8" fmla="*/ 612775 w 454"/>
              <a:gd name="T9" fmla="*/ 74612 h 327"/>
              <a:gd name="T10" fmla="*/ 565150 w 454"/>
              <a:gd name="T11" fmla="*/ 46037 h 327"/>
              <a:gd name="T12" fmla="*/ 511175 w 454"/>
              <a:gd name="T13" fmla="*/ 23812 h 327"/>
              <a:gd name="T14" fmla="*/ 452438 w 454"/>
              <a:gd name="T15" fmla="*/ 7937 h 327"/>
              <a:gd name="T16" fmla="*/ 390525 w 454"/>
              <a:gd name="T17" fmla="*/ 0 h 327"/>
              <a:gd name="T18" fmla="*/ 327025 w 454"/>
              <a:gd name="T19" fmla="*/ 0 h 327"/>
              <a:gd name="T20" fmla="*/ 265113 w 454"/>
              <a:gd name="T21" fmla="*/ 7937 h 327"/>
              <a:gd name="T22" fmla="*/ 206375 w 454"/>
              <a:gd name="T23" fmla="*/ 23812 h 327"/>
              <a:gd name="T24" fmla="*/ 152400 w 454"/>
              <a:gd name="T25" fmla="*/ 46037 h 327"/>
              <a:gd name="T26" fmla="*/ 103188 w 454"/>
              <a:gd name="T27" fmla="*/ 74612 h 327"/>
              <a:gd name="T28" fmla="*/ 63500 w 454"/>
              <a:gd name="T29" fmla="*/ 107950 h 327"/>
              <a:gd name="T30" fmla="*/ 33338 w 454"/>
              <a:gd name="T31" fmla="*/ 149225 h 327"/>
              <a:gd name="T32" fmla="*/ 11113 w 454"/>
              <a:gd name="T33" fmla="*/ 190500 h 327"/>
              <a:gd name="T34" fmla="*/ 1588 w 454"/>
              <a:gd name="T35" fmla="*/ 234950 h 327"/>
              <a:gd name="T36" fmla="*/ 1588 w 454"/>
              <a:gd name="T37" fmla="*/ 280987 h 327"/>
              <a:gd name="T38" fmla="*/ 11113 w 454"/>
              <a:gd name="T39" fmla="*/ 325437 h 327"/>
              <a:gd name="T40" fmla="*/ 33338 w 454"/>
              <a:gd name="T41" fmla="*/ 366712 h 327"/>
              <a:gd name="T42" fmla="*/ 63500 w 454"/>
              <a:gd name="T43" fmla="*/ 404812 h 327"/>
              <a:gd name="T44" fmla="*/ 103188 w 454"/>
              <a:gd name="T45" fmla="*/ 441325 h 327"/>
              <a:gd name="T46" fmla="*/ 152400 w 454"/>
              <a:gd name="T47" fmla="*/ 469900 h 327"/>
              <a:gd name="T48" fmla="*/ 206375 w 454"/>
              <a:gd name="T49" fmla="*/ 492125 h 327"/>
              <a:gd name="T50" fmla="*/ 265113 w 454"/>
              <a:gd name="T51" fmla="*/ 508000 h 327"/>
              <a:gd name="T52" fmla="*/ 327025 w 454"/>
              <a:gd name="T53" fmla="*/ 517525 h 327"/>
              <a:gd name="T54" fmla="*/ 390525 w 454"/>
              <a:gd name="T55" fmla="*/ 517525 h 327"/>
              <a:gd name="T56" fmla="*/ 452438 w 454"/>
              <a:gd name="T57" fmla="*/ 508000 h 327"/>
              <a:gd name="T58" fmla="*/ 511175 w 454"/>
              <a:gd name="T59" fmla="*/ 492125 h 327"/>
              <a:gd name="T60" fmla="*/ 565150 w 454"/>
              <a:gd name="T61" fmla="*/ 469900 h 327"/>
              <a:gd name="T62" fmla="*/ 612775 w 454"/>
              <a:gd name="T63" fmla="*/ 441325 h 327"/>
              <a:gd name="T64" fmla="*/ 652463 w 454"/>
              <a:gd name="T65" fmla="*/ 404812 h 327"/>
              <a:gd name="T66" fmla="*/ 684213 w 454"/>
              <a:gd name="T67" fmla="*/ 366712 h 327"/>
              <a:gd name="T68" fmla="*/ 706438 w 454"/>
              <a:gd name="T69" fmla="*/ 325437 h 327"/>
              <a:gd name="T70" fmla="*/ 715963 w 454"/>
              <a:gd name="T71" fmla="*/ 28098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453" y="163"/>
                </a:moveTo>
                <a:lnTo>
                  <a:pt x="451" y="148"/>
                </a:lnTo>
                <a:lnTo>
                  <a:pt x="448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0"/>
                </a:lnTo>
                <a:lnTo>
                  <a:pt x="411" y="68"/>
                </a:lnTo>
                <a:lnTo>
                  <a:pt x="399" y="57"/>
                </a:lnTo>
                <a:lnTo>
                  <a:pt x="386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3" y="9"/>
                </a:lnTo>
                <a:lnTo>
                  <a:pt x="285" y="5"/>
                </a:lnTo>
                <a:lnTo>
                  <a:pt x="265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5" y="47"/>
                </a:lnTo>
                <a:lnTo>
                  <a:pt x="53" y="57"/>
                </a:lnTo>
                <a:lnTo>
                  <a:pt x="40" y="68"/>
                </a:lnTo>
                <a:lnTo>
                  <a:pt x="29" y="80"/>
                </a:lnTo>
                <a:lnTo>
                  <a:pt x="21" y="94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3" y="191"/>
                </a:lnTo>
                <a:lnTo>
                  <a:pt x="7" y="205"/>
                </a:lnTo>
                <a:lnTo>
                  <a:pt x="13" y="217"/>
                </a:lnTo>
                <a:lnTo>
                  <a:pt x="21" y="231"/>
                </a:lnTo>
                <a:lnTo>
                  <a:pt x="29" y="244"/>
                </a:lnTo>
                <a:lnTo>
                  <a:pt x="40" y="255"/>
                </a:lnTo>
                <a:lnTo>
                  <a:pt x="53" y="266"/>
                </a:lnTo>
                <a:lnTo>
                  <a:pt x="65" y="278"/>
                </a:lnTo>
                <a:lnTo>
                  <a:pt x="80" y="288"/>
                </a:lnTo>
                <a:lnTo>
                  <a:pt x="96" y="296"/>
                </a:lnTo>
                <a:lnTo>
                  <a:pt x="113" y="303"/>
                </a:lnTo>
                <a:lnTo>
                  <a:pt x="130" y="310"/>
                </a:lnTo>
                <a:lnTo>
                  <a:pt x="148" y="316"/>
                </a:lnTo>
                <a:lnTo>
                  <a:pt x="167" y="320"/>
                </a:lnTo>
                <a:lnTo>
                  <a:pt x="186" y="323"/>
                </a:lnTo>
                <a:lnTo>
                  <a:pt x="206" y="326"/>
                </a:lnTo>
                <a:lnTo>
                  <a:pt x="225" y="326"/>
                </a:lnTo>
                <a:lnTo>
                  <a:pt x="246" y="326"/>
                </a:lnTo>
                <a:lnTo>
                  <a:pt x="265" y="323"/>
                </a:lnTo>
                <a:lnTo>
                  <a:pt x="285" y="320"/>
                </a:lnTo>
                <a:lnTo>
                  <a:pt x="303" y="316"/>
                </a:lnTo>
                <a:lnTo>
                  <a:pt x="322" y="310"/>
                </a:lnTo>
                <a:lnTo>
                  <a:pt x="339" y="303"/>
                </a:lnTo>
                <a:lnTo>
                  <a:pt x="356" y="296"/>
                </a:lnTo>
                <a:lnTo>
                  <a:pt x="372" y="288"/>
                </a:lnTo>
                <a:lnTo>
                  <a:pt x="386" y="278"/>
                </a:lnTo>
                <a:lnTo>
                  <a:pt x="399" y="266"/>
                </a:lnTo>
                <a:lnTo>
                  <a:pt x="411" y="255"/>
                </a:lnTo>
                <a:lnTo>
                  <a:pt x="422" y="244"/>
                </a:lnTo>
                <a:lnTo>
                  <a:pt x="431" y="231"/>
                </a:lnTo>
                <a:lnTo>
                  <a:pt x="439" y="217"/>
                </a:lnTo>
                <a:lnTo>
                  <a:pt x="445" y="205"/>
                </a:lnTo>
                <a:lnTo>
                  <a:pt x="448" y="191"/>
                </a:lnTo>
                <a:lnTo>
                  <a:pt x="451" y="177"/>
                </a:lnTo>
                <a:lnTo>
                  <a:pt x="453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6F18A355-E181-FC1F-5F70-5C0CAC71948B}"/>
              </a:ext>
            </a:extLst>
          </p:cNvPr>
          <p:cNvSpPr>
            <a:spLocks noGrp="1"/>
          </p:cNvSpPr>
          <p:nvPr/>
        </p:nvSpPr>
        <p:spPr>
          <a:xfrm>
            <a:off x="6662798" y="1471996"/>
            <a:ext cx="912812" cy="496887"/>
          </a:xfrm>
          <a:custGeom>
            <a:avLst/>
            <a:gdLst>
              <a:gd name="T0" fmla="*/ 1587 w 575"/>
              <a:gd name="T1" fmla="*/ 268287 h 313"/>
              <a:gd name="T2" fmla="*/ 14287 w 575"/>
              <a:gd name="T3" fmla="*/ 311150 h 313"/>
              <a:gd name="T4" fmla="*/ 44450 w 575"/>
              <a:gd name="T5" fmla="*/ 350837 h 313"/>
              <a:gd name="T6" fmla="*/ 82550 w 575"/>
              <a:gd name="T7" fmla="*/ 387350 h 313"/>
              <a:gd name="T8" fmla="*/ 133350 w 575"/>
              <a:gd name="T9" fmla="*/ 422275 h 313"/>
              <a:gd name="T10" fmla="*/ 195262 w 575"/>
              <a:gd name="T11" fmla="*/ 449262 h 313"/>
              <a:gd name="T12" fmla="*/ 261937 w 575"/>
              <a:gd name="T13" fmla="*/ 471487 h 313"/>
              <a:gd name="T14" fmla="*/ 338137 w 575"/>
              <a:gd name="T15" fmla="*/ 485775 h 313"/>
              <a:gd name="T16" fmla="*/ 415925 w 575"/>
              <a:gd name="T17" fmla="*/ 495300 h 313"/>
              <a:gd name="T18" fmla="*/ 493712 w 575"/>
              <a:gd name="T19" fmla="*/ 495300 h 313"/>
              <a:gd name="T20" fmla="*/ 573087 w 575"/>
              <a:gd name="T21" fmla="*/ 485775 h 313"/>
              <a:gd name="T22" fmla="*/ 647700 w 575"/>
              <a:gd name="T23" fmla="*/ 471487 h 313"/>
              <a:gd name="T24" fmla="*/ 715962 w 575"/>
              <a:gd name="T25" fmla="*/ 449262 h 313"/>
              <a:gd name="T26" fmla="*/ 777875 w 575"/>
              <a:gd name="T27" fmla="*/ 422275 h 313"/>
              <a:gd name="T28" fmla="*/ 828675 w 575"/>
              <a:gd name="T29" fmla="*/ 387350 h 313"/>
              <a:gd name="T30" fmla="*/ 868362 w 575"/>
              <a:gd name="T31" fmla="*/ 350837 h 313"/>
              <a:gd name="T32" fmla="*/ 895350 w 575"/>
              <a:gd name="T33" fmla="*/ 311150 h 313"/>
              <a:gd name="T34" fmla="*/ 908050 w 575"/>
              <a:gd name="T35" fmla="*/ 268287 h 313"/>
              <a:gd name="T36" fmla="*/ 908050 w 575"/>
              <a:gd name="T37" fmla="*/ 223837 h 313"/>
              <a:gd name="T38" fmla="*/ 895350 w 575"/>
              <a:gd name="T39" fmla="*/ 180975 h 313"/>
              <a:gd name="T40" fmla="*/ 868362 w 575"/>
              <a:gd name="T41" fmla="*/ 142875 h 313"/>
              <a:gd name="T42" fmla="*/ 828675 w 575"/>
              <a:gd name="T43" fmla="*/ 103187 h 313"/>
              <a:gd name="T44" fmla="*/ 777875 w 575"/>
              <a:gd name="T45" fmla="*/ 71437 h 313"/>
              <a:gd name="T46" fmla="*/ 715962 w 575"/>
              <a:gd name="T47" fmla="*/ 41275 h 313"/>
              <a:gd name="T48" fmla="*/ 647700 w 575"/>
              <a:gd name="T49" fmla="*/ 22225 h 313"/>
              <a:gd name="T50" fmla="*/ 573087 w 575"/>
              <a:gd name="T51" fmla="*/ 7937 h 313"/>
              <a:gd name="T52" fmla="*/ 493712 w 575"/>
              <a:gd name="T53" fmla="*/ 0 h 313"/>
              <a:gd name="T54" fmla="*/ 415925 w 575"/>
              <a:gd name="T55" fmla="*/ 0 h 313"/>
              <a:gd name="T56" fmla="*/ 336550 w 575"/>
              <a:gd name="T57" fmla="*/ 7937 h 313"/>
              <a:gd name="T58" fmla="*/ 261937 w 575"/>
              <a:gd name="T59" fmla="*/ 22225 h 313"/>
              <a:gd name="T60" fmla="*/ 195262 w 575"/>
              <a:gd name="T61" fmla="*/ 44450 h 313"/>
              <a:gd name="T62" fmla="*/ 133350 w 575"/>
              <a:gd name="T63" fmla="*/ 71437 h 313"/>
              <a:gd name="T64" fmla="*/ 82550 w 575"/>
              <a:gd name="T65" fmla="*/ 103187 h 313"/>
              <a:gd name="T66" fmla="*/ 44450 w 575"/>
              <a:gd name="T67" fmla="*/ 142875 h 313"/>
              <a:gd name="T68" fmla="*/ 14287 w 575"/>
              <a:gd name="T69" fmla="*/ 182562 h 313"/>
              <a:gd name="T70" fmla="*/ 1587 w 575"/>
              <a:gd name="T71" fmla="*/ 225425 h 31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75"/>
              <a:gd name="T109" fmla="*/ 0 h 313"/>
              <a:gd name="T110" fmla="*/ 575 w 575"/>
              <a:gd name="T111" fmla="*/ 313 h 313"/>
            </a:gdLst>
            <a:ahLst/>
            <a:cxnLst/>
            <a:rect l="T108" t="T109" r="T110" b="T111"/>
            <a:pathLst>
              <a:path w="575" h="313">
                <a:moveTo>
                  <a:pt x="0" y="156"/>
                </a:moveTo>
                <a:lnTo>
                  <a:pt x="1" y="169"/>
                </a:lnTo>
                <a:lnTo>
                  <a:pt x="5" y="182"/>
                </a:lnTo>
                <a:lnTo>
                  <a:pt x="9" y="196"/>
                </a:lnTo>
                <a:lnTo>
                  <a:pt x="17" y="208"/>
                </a:lnTo>
                <a:lnTo>
                  <a:pt x="28" y="221"/>
                </a:lnTo>
                <a:lnTo>
                  <a:pt x="38" y="234"/>
                </a:lnTo>
                <a:lnTo>
                  <a:pt x="52" y="244"/>
                </a:lnTo>
                <a:lnTo>
                  <a:pt x="67" y="255"/>
                </a:lnTo>
                <a:lnTo>
                  <a:pt x="84" y="266"/>
                </a:lnTo>
                <a:lnTo>
                  <a:pt x="103" y="275"/>
                </a:lnTo>
                <a:lnTo>
                  <a:pt x="123" y="283"/>
                </a:lnTo>
                <a:lnTo>
                  <a:pt x="143" y="290"/>
                </a:lnTo>
                <a:lnTo>
                  <a:pt x="165" y="297"/>
                </a:lnTo>
                <a:lnTo>
                  <a:pt x="189" y="302"/>
                </a:lnTo>
                <a:lnTo>
                  <a:pt x="213" y="306"/>
                </a:lnTo>
                <a:lnTo>
                  <a:pt x="237" y="309"/>
                </a:lnTo>
                <a:lnTo>
                  <a:pt x="262" y="312"/>
                </a:lnTo>
                <a:lnTo>
                  <a:pt x="287" y="312"/>
                </a:lnTo>
                <a:lnTo>
                  <a:pt x="311" y="312"/>
                </a:lnTo>
                <a:lnTo>
                  <a:pt x="337" y="309"/>
                </a:lnTo>
                <a:lnTo>
                  <a:pt x="361" y="306"/>
                </a:lnTo>
                <a:lnTo>
                  <a:pt x="385" y="302"/>
                </a:lnTo>
                <a:lnTo>
                  <a:pt x="408" y="297"/>
                </a:lnTo>
                <a:lnTo>
                  <a:pt x="431" y="290"/>
                </a:lnTo>
                <a:lnTo>
                  <a:pt x="451" y="283"/>
                </a:lnTo>
                <a:lnTo>
                  <a:pt x="471" y="275"/>
                </a:lnTo>
                <a:lnTo>
                  <a:pt x="490" y="266"/>
                </a:lnTo>
                <a:lnTo>
                  <a:pt x="506" y="255"/>
                </a:lnTo>
                <a:lnTo>
                  <a:pt x="522" y="244"/>
                </a:lnTo>
                <a:lnTo>
                  <a:pt x="536" y="234"/>
                </a:lnTo>
                <a:lnTo>
                  <a:pt x="547" y="221"/>
                </a:lnTo>
                <a:lnTo>
                  <a:pt x="556" y="208"/>
                </a:lnTo>
                <a:lnTo>
                  <a:pt x="564" y="196"/>
                </a:lnTo>
                <a:lnTo>
                  <a:pt x="569" y="182"/>
                </a:lnTo>
                <a:lnTo>
                  <a:pt x="572" y="169"/>
                </a:lnTo>
                <a:lnTo>
                  <a:pt x="574" y="156"/>
                </a:lnTo>
                <a:lnTo>
                  <a:pt x="572" y="141"/>
                </a:lnTo>
                <a:lnTo>
                  <a:pt x="569" y="129"/>
                </a:lnTo>
                <a:lnTo>
                  <a:pt x="564" y="114"/>
                </a:lnTo>
                <a:lnTo>
                  <a:pt x="556" y="102"/>
                </a:lnTo>
                <a:lnTo>
                  <a:pt x="547" y="90"/>
                </a:lnTo>
                <a:lnTo>
                  <a:pt x="536" y="76"/>
                </a:lnTo>
                <a:lnTo>
                  <a:pt x="522" y="65"/>
                </a:lnTo>
                <a:lnTo>
                  <a:pt x="506" y="55"/>
                </a:lnTo>
                <a:lnTo>
                  <a:pt x="490" y="45"/>
                </a:lnTo>
                <a:lnTo>
                  <a:pt x="471" y="36"/>
                </a:lnTo>
                <a:lnTo>
                  <a:pt x="451" y="26"/>
                </a:lnTo>
                <a:lnTo>
                  <a:pt x="431" y="20"/>
                </a:lnTo>
                <a:lnTo>
                  <a:pt x="408" y="14"/>
                </a:lnTo>
                <a:lnTo>
                  <a:pt x="385" y="8"/>
                </a:lnTo>
                <a:lnTo>
                  <a:pt x="361" y="5"/>
                </a:lnTo>
                <a:lnTo>
                  <a:pt x="337" y="1"/>
                </a:lnTo>
                <a:lnTo>
                  <a:pt x="311" y="0"/>
                </a:lnTo>
                <a:lnTo>
                  <a:pt x="287" y="0"/>
                </a:lnTo>
                <a:lnTo>
                  <a:pt x="262" y="0"/>
                </a:lnTo>
                <a:lnTo>
                  <a:pt x="237" y="1"/>
                </a:lnTo>
                <a:lnTo>
                  <a:pt x="212" y="5"/>
                </a:lnTo>
                <a:lnTo>
                  <a:pt x="189" y="9"/>
                </a:lnTo>
                <a:lnTo>
                  <a:pt x="165" y="14"/>
                </a:lnTo>
                <a:lnTo>
                  <a:pt x="143" y="20"/>
                </a:lnTo>
                <a:lnTo>
                  <a:pt x="123" y="28"/>
                </a:lnTo>
                <a:lnTo>
                  <a:pt x="102" y="36"/>
                </a:lnTo>
                <a:lnTo>
                  <a:pt x="84" y="45"/>
                </a:lnTo>
                <a:lnTo>
                  <a:pt x="67" y="55"/>
                </a:lnTo>
                <a:lnTo>
                  <a:pt x="52" y="65"/>
                </a:lnTo>
                <a:lnTo>
                  <a:pt x="38" y="78"/>
                </a:lnTo>
                <a:lnTo>
                  <a:pt x="28" y="90"/>
                </a:lnTo>
                <a:lnTo>
                  <a:pt x="17" y="102"/>
                </a:lnTo>
                <a:lnTo>
                  <a:pt x="9" y="115"/>
                </a:lnTo>
                <a:lnTo>
                  <a:pt x="5" y="129"/>
                </a:lnTo>
                <a:lnTo>
                  <a:pt x="1" y="142"/>
                </a:lnTo>
                <a:lnTo>
                  <a:pt x="0" y="156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8" name="Freeform 13">
            <a:extLst>
              <a:ext uri="{FF2B5EF4-FFF2-40B4-BE49-F238E27FC236}">
                <a16:creationId xmlns:a16="http://schemas.microsoft.com/office/drawing/2014/main" id="{1379B274-EF3D-EF2B-AD40-8D86F8F3A9DB}"/>
              </a:ext>
            </a:extLst>
          </p:cNvPr>
          <p:cNvSpPr>
            <a:spLocks noGrp="1"/>
          </p:cNvSpPr>
          <p:nvPr/>
        </p:nvSpPr>
        <p:spPr>
          <a:xfrm>
            <a:off x="5913498" y="1068771"/>
            <a:ext cx="939800" cy="519112"/>
          </a:xfrm>
          <a:custGeom>
            <a:avLst/>
            <a:gdLst>
              <a:gd name="T0" fmla="*/ 589 w 592"/>
              <a:gd name="T1" fmla="*/ 148 h 327"/>
              <a:gd name="T2" fmla="*/ 581 w 592"/>
              <a:gd name="T3" fmla="*/ 120 h 327"/>
              <a:gd name="T4" fmla="*/ 563 w 592"/>
              <a:gd name="T5" fmla="*/ 94 h 327"/>
              <a:gd name="T6" fmla="*/ 538 w 592"/>
              <a:gd name="T7" fmla="*/ 68 h 327"/>
              <a:gd name="T8" fmla="*/ 505 w 592"/>
              <a:gd name="T9" fmla="*/ 46 h 327"/>
              <a:gd name="T10" fmla="*/ 465 w 592"/>
              <a:gd name="T11" fmla="*/ 29 h 327"/>
              <a:gd name="T12" fmla="*/ 420 w 592"/>
              <a:gd name="T13" fmla="*/ 14 h 327"/>
              <a:gd name="T14" fmla="*/ 372 w 592"/>
              <a:gd name="T15" fmla="*/ 4 h 327"/>
              <a:gd name="T16" fmla="*/ 321 w 592"/>
              <a:gd name="T17" fmla="*/ 0 h 327"/>
              <a:gd name="T18" fmla="*/ 269 w 592"/>
              <a:gd name="T19" fmla="*/ 0 h 327"/>
              <a:gd name="T20" fmla="*/ 218 w 592"/>
              <a:gd name="T21" fmla="*/ 4 h 327"/>
              <a:gd name="T22" fmla="*/ 170 w 592"/>
              <a:gd name="T23" fmla="*/ 14 h 327"/>
              <a:gd name="T24" fmla="*/ 125 w 592"/>
              <a:gd name="T25" fmla="*/ 29 h 327"/>
              <a:gd name="T26" fmla="*/ 85 w 592"/>
              <a:gd name="T27" fmla="*/ 46 h 327"/>
              <a:gd name="T28" fmla="*/ 53 w 592"/>
              <a:gd name="T29" fmla="*/ 68 h 327"/>
              <a:gd name="T30" fmla="*/ 27 w 592"/>
              <a:gd name="T31" fmla="*/ 94 h 327"/>
              <a:gd name="T32" fmla="*/ 9 w 592"/>
              <a:gd name="T33" fmla="*/ 120 h 327"/>
              <a:gd name="T34" fmla="*/ 1 w 592"/>
              <a:gd name="T35" fmla="*/ 148 h 327"/>
              <a:gd name="T36" fmla="*/ 1 w 592"/>
              <a:gd name="T37" fmla="*/ 177 h 327"/>
              <a:gd name="T38" fmla="*/ 9 w 592"/>
              <a:gd name="T39" fmla="*/ 205 h 327"/>
              <a:gd name="T40" fmla="*/ 27 w 592"/>
              <a:gd name="T41" fmla="*/ 231 h 327"/>
              <a:gd name="T42" fmla="*/ 53 w 592"/>
              <a:gd name="T43" fmla="*/ 257 h 327"/>
              <a:gd name="T44" fmla="*/ 85 w 592"/>
              <a:gd name="T45" fmla="*/ 278 h 327"/>
              <a:gd name="T46" fmla="*/ 125 w 592"/>
              <a:gd name="T47" fmla="*/ 296 h 327"/>
              <a:gd name="T48" fmla="*/ 170 w 592"/>
              <a:gd name="T49" fmla="*/ 310 h 327"/>
              <a:gd name="T50" fmla="*/ 218 w 592"/>
              <a:gd name="T51" fmla="*/ 320 h 327"/>
              <a:gd name="T52" fmla="*/ 269 w 592"/>
              <a:gd name="T53" fmla="*/ 326 h 327"/>
              <a:gd name="T54" fmla="*/ 321 w 592"/>
              <a:gd name="T55" fmla="*/ 326 h 327"/>
              <a:gd name="T56" fmla="*/ 372 w 592"/>
              <a:gd name="T57" fmla="*/ 320 h 327"/>
              <a:gd name="T58" fmla="*/ 420 w 592"/>
              <a:gd name="T59" fmla="*/ 310 h 327"/>
              <a:gd name="T60" fmla="*/ 465 w 592"/>
              <a:gd name="T61" fmla="*/ 296 h 327"/>
              <a:gd name="T62" fmla="*/ 505 w 592"/>
              <a:gd name="T63" fmla="*/ 278 h 327"/>
              <a:gd name="T64" fmla="*/ 538 w 592"/>
              <a:gd name="T65" fmla="*/ 257 h 327"/>
              <a:gd name="T66" fmla="*/ 563 w 592"/>
              <a:gd name="T67" fmla="*/ 231 h 327"/>
              <a:gd name="T68" fmla="*/ 581 w 592"/>
              <a:gd name="T69" fmla="*/ 205 h 327"/>
              <a:gd name="T70" fmla="*/ 589 w 592"/>
              <a:gd name="T71" fmla="*/ 17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592"/>
              <a:gd name="T109" fmla="*/ 0 h 327"/>
              <a:gd name="T110" fmla="*/ 592 w 592"/>
              <a:gd name="T111" fmla="*/ 327 h 327"/>
            </a:gdLst>
            <a:ahLst/>
            <a:cxnLst/>
            <a:rect l="T108" t="T109" r="T110" b="T111"/>
            <a:pathLst>
              <a:path w="592" h="327">
                <a:moveTo>
                  <a:pt x="591" y="163"/>
                </a:moveTo>
                <a:lnTo>
                  <a:pt x="589" y="148"/>
                </a:lnTo>
                <a:lnTo>
                  <a:pt x="586" y="133"/>
                </a:lnTo>
                <a:lnTo>
                  <a:pt x="581" y="120"/>
                </a:lnTo>
                <a:lnTo>
                  <a:pt x="573" y="106"/>
                </a:lnTo>
                <a:lnTo>
                  <a:pt x="563" y="94"/>
                </a:lnTo>
                <a:lnTo>
                  <a:pt x="550" y="81"/>
                </a:lnTo>
                <a:lnTo>
                  <a:pt x="538" y="68"/>
                </a:lnTo>
                <a:lnTo>
                  <a:pt x="521" y="57"/>
                </a:lnTo>
                <a:lnTo>
                  <a:pt x="505" y="46"/>
                </a:lnTo>
                <a:lnTo>
                  <a:pt x="485" y="37"/>
                </a:lnTo>
                <a:lnTo>
                  <a:pt x="465" y="29"/>
                </a:lnTo>
                <a:lnTo>
                  <a:pt x="442" y="21"/>
                </a:lnTo>
                <a:lnTo>
                  <a:pt x="420" y="14"/>
                </a:lnTo>
                <a:lnTo>
                  <a:pt x="395" y="9"/>
                </a:lnTo>
                <a:lnTo>
                  <a:pt x="372" y="4"/>
                </a:lnTo>
                <a:lnTo>
                  <a:pt x="347" y="1"/>
                </a:lnTo>
                <a:lnTo>
                  <a:pt x="321" y="0"/>
                </a:lnTo>
                <a:lnTo>
                  <a:pt x="294" y="0"/>
                </a:lnTo>
                <a:lnTo>
                  <a:pt x="269" y="0"/>
                </a:lnTo>
                <a:lnTo>
                  <a:pt x="243" y="1"/>
                </a:lnTo>
                <a:lnTo>
                  <a:pt x="218" y="4"/>
                </a:lnTo>
                <a:lnTo>
                  <a:pt x="195" y="9"/>
                </a:lnTo>
                <a:lnTo>
                  <a:pt x="170" y="14"/>
                </a:lnTo>
                <a:lnTo>
                  <a:pt x="148" y="21"/>
                </a:lnTo>
                <a:lnTo>
                  <a:pt x="125" y="29"/>
                </a:lnTo>
                <a:lnTo>
                  <a:pt x="105" y="37"/>
                </a:lnTo>
                <a:lnTo>
                  <a:pt x="85" y="46"/>
                </a:lnTo>
                <a:lnTo>
                  <a:pt x="69" y="57"/>
                </a:lnTo>
                <a:lnTo>
                  <a:pt x="53" y="68"/>
                </a:lnTo>
                <a:lnTo>
                  <a:pt x="40" y="81"/>
                </a:lnTo>
                <a:lnTo>
                  <a:pt x="27" y="94"/>
                </a:lnTo>
                <a:lnTo>
                  <a:pt x="17" y="106"/>
                </a:lnTo>
                <a:lnTo>
                  <a:pt x="9" y="120"/>
                </a:lnTo>
                <a:lnTo>
                  <a:pt x="4" y="133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4" y="191"/>
                </a:lnTo>
                <a:lnTo>
                  <a:pt x="9" y="205"/>
                </a:lnTo>
                <a:lnTo>
                  <a:pt x="17" y="219"/>
                </a:lnTo>
                <a:lnTo>
                  <a:pt x="27" y="231"/>
                </a:lnTo>
                <a:lnTo>
                  <a:pt x="40" y="244"/>
                </a:lnTo>
                <a:lnTo>
                  <a:pt x="53" y="257"/>
                </a:lnTo>
                <a:lnTo>
                  <a:pt x="69" y="268"/>
                </a:lnTo>
                <a:lnTo>
                  <a:pt x="85" y="278"/>
                </a:lnTo>
                <a:lnTo>
                  <a:pt x="105" y="288"/>
                </a:lnTo>
                <a:lnTo>
                  <a:pt x="125" y="296"/>
                </a:lnTo>
                <a:lnTo>
                  <a:pt x="148" y="304"/>
                </a:lnTo>
                <a:lnTo>
                  <a:pt x="170" y="310"/>
                </a:lnTo>
                <a:lnTo>
                  <a:pt x="195" y="316"/>
                </a:lnTo>
                <a:lnTo>
                  <a:pt x="218" y="320"/>
                </a:lnTo>
                <a:lnTo>
                  <a:pt x="243" y="324"/>
                </a:lnTo>
                <a:lnTo>
                  <a:pt x="269" y="326"/>
                </a:lnTo>
                <a:lnTo>
                  <a:pt x="294" y="326"/>
                </a:lnTo>
                <a:lnTo>
                  <a:pt x="321" y="326"/>
                </a:lnTo>
                <a:lnTo>
                  <a:pt x="347" y="324"/>
                </a:lnTo>
                <a:lnTo>
                  <a:pt x="372" y="320"/>
                </a:lnTo>
                <a:lnTo>
                  <a:pt x="395" y="316"/>
                </a:lnTo>
                <a:lnTo>
                  <a:pt x="420" y="310"/>
                </a:lnTo>
                <a:lnTo>
                  <a:pt x="442" y="304"/>
                </a:lnTo>
                <a:lnTo>
                  <a:pt x="465" y="296"/>
                </a:lnTo>
                <a:lnTo>
                  <a:pt x="485" y="288"/>
                </a:lnTo>
                <a:lnTo>
                  <a:pt x="505" y="278"/>
                </a:lnTo>
                <a:lnTo>
                  <a:pt x="521" y="268"/>
                </a:lnTo>
                <a:lnTo>
                  <a:pt x="538" y="257"/>
                </a:lnTo>
                <a:lnTo>
                  <a:pt x="550" y="244"/>
                </a:lnTo>
                <a:lnTo>
                  <a:pt x="563" y="231"/>
                </a:lnTo>
                <a:lnTo>
                  <a:pt x="573" y="219"/>
                </a:lnTo>
                <a:lnTo>
                  <a:pt x="581" y="205"/>
                </a:lnTo>
                <a:lnTo>
                  <a:pt x="586" y="191"/>
                </a:lnTo>
                <a:lnTo>
                  <a:pt x="589" y="177"/>
                </a:lnTo>
                <a:lnTo>
                  <a:pt x="591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9" name="Rectangle 14">
            <a:extLst>
              <a:ext uri="{FF2B5EF4-FFF2-40B4-BE49-F238E27FC236}">
                <a16:creationId xmlns:a16="http://schemas.microsoft.com/office/drawing/2014/main" id="{7840FB03-4BFC-56C7-8416-8D836E2D1289}"/>
              </a:ext>
            </a:extLst>
          </p:cNvPr>
          <p:cNvSpPr>
            <a:spLocks noGrp="1"/>
          </p:cNvSpPr>
          <p:nvPr/>
        </p:nvSpPr>
        <p:spPr>
          <a:xfrm>
            <a:off x="5957948" y="1137033"/>
            <a:ext cx="835025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50" name="Rectangle 15">
            <a:extLst>
              <a:ext uri="{FF2B5EF4-FFF2-40B4-BE49-F238E27FC236}">
                <a16:creationId xmlns:a16="http://schemas.microsoft.com/office/drawing/2014/main" id="{F0602168-7B81-ADF0-24F4-DC4F60FC02E8}"/>
              </a:ext>
            </a:extLst>
          </p:cNvPr>
          <p:cNvSpPr>
            <a:spLocks noGrp="1"/>
          </p:cNvSpPr>
          <p:nvPr/>
        </p:nvSpPr>
        <p:spPr>
          <a:xfrm>
            <a:off x="6718360" y="1519621"/>
            <a:ext cx="85725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51" name="Rectangle 16">
            <a:extLst>
              <a:ext uri="{FF2B5EF4-FFF2-40B4-BE49-F238E27FC236}">
                <a16:creationId xmlns:a16="http://schemas.microsoft.com/office/drawing/2014/main" id="{36173E32-2150-376F-B72B-E9A2E2F76478}"/>
              </a:ext>
            </a:extLst>
          </p:cNvPr>
          <p:cNvSpPr>
            <a:spLocks noGrp="1"/>
          </p:cNvSpPr>
          <p:nvPr/>
        </p:nvSpPr>
        <p:spPr>
          <a:xfrm>
            <a:off x="5448360" y="1533908"/>
            <a:ext cx="4857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did</a:t>
            </a:r>
          </a:p>
        </p:txBody>
      </p:sp>
      <p:sp>
        <p:nvSpPr>
          <p:cNvPr id="53" name="Freeform 18">
            <a:extLst>
              <a:ext uri="{FF2B5EF4-FFF2-40B4-BE49-F238E27FC236}">
                <a16:creationId xmlns:a16="http://schemas.microsoft.com/office/drawing/2014/main" id="{62FF0CFB-1B87-29FD-1D00-7E600F21B782}"/>
              </a:ext>
            </a:extLst>
          </p:cNvPr>
          <p:cNvSpPr>
            <a:spLocks noGrp="1"/>
          </p:cNvSpPr>
          <p:nvPr/>
        </p:nvSpPr>
        <p:spPr>
          <a:xfrm>
            <a:off x="4259940" y="849283"/>
            <a:ext cx="720725" cy="519112"/>
          </a:xfrm>
          <a:custGeom>
            <a:avLst/>
            <a:gdLst>
              <a:gd name="T0" fmla="*/ 1 w 454"/>
              <a:gd name="T1" fmla="*/ 177 h 327"/>
              <a:gd name="T2" fmla="*/ 8 w 454"/>
              <a:gd name="T3" fmla="*/ 205 h 327"/>
              <a:gd name="T4" fmla="*/ 21 w 454"/>
              <a:gd name="T5" fmla="*/ 231 h 327"/>
              <a:gd name="T6" fmla="*/ 41 w 454"/>
              <a:gd name="T7" fmla="*/ 257 h 327"/>
              <a:gd name="T8" fmla="*/ 66 w 454"/>
              <a:gd name="T9" fmla="*/ 278 h 327"/>
              <a:gd name="T10" fmla="*/ 96 w 454"/>
              <a:gd name="T11" fmla="*/ 296 h 327"/>
              <a:gd name="T12" fmla="*/ 131 w 454"/>
              <a:gd name="T13" fmla="*/ 311 h 327"/>
              <a:gd name="T14" fmla="*/ 167 w 454"/>
              <a:gd name="T15" fmla="*/ 320 h 327"/>
              <a:gd name="T16" fmla="*/ 206 w 454"/>
              <a:gd name="T17" fmla="*/ 326 h 327"/>
              <a:gd name="T18" fmla="*/ 246 w 454"/>
              <a:gd name="T19" fmla="*/ 326 h 327"/>
              <a:gd name="T20" fmla="*/ 285 w 454"/>
              <a:gd name="T21" fmla="*/ 320 h 327"/>
              <a:gd name="T22" fmla="*/ 322 w 454"/>
              <a:gd name="T23" fmla="*/ 310 h 327"/>
              <a:gd name="T24" fmla="*/ 356 w 454"/>
              <a:gd name="T25" fmla="*/ 296 h 327"/>
              <a:gd name="T26" fmla="*/ 387 w 454"/>
              <a:gd name="T27" fmla="*/ 278 h 327"/>
              <a:gd name="T28" fmla="*/ 412 w 454"/>
              <a:gd name="T29" fmla="*/ 257 h 327"/>
              <a:gd name="T30" fmla="*/ 431 w 454"/>
              <a:gd name="T31" fmla="*/ 231 h 327"/>
              <a:gd name="T32" fmla="*/ 445 w 454"/>
              <a:gd name="T33" fmla="*/ 205 h 327"/>
              <a:gd name="T34" fmla="*/ 453 w 454"/>
              <a:gd name="T35" fmla="*/ 177 h 327"/>
              <a:gd name="T36" fmla="*/ 453 w 454"/>
              <a:gd name="T37" fmla="*/ 148 h 327"/>
              <a:gd name="T38" fmla="*/ 445 w 454"/>
              <a:gd name="T39" fmla="*/ 120 h 327"/>
              <a:gd name="T40" fmla="*/ 431 w 454"/>
              <a:gd name="T41" fmla="*/ 94 h 327"/>
              <a:gd name="T42" fmla="*/ 412 w 454"/>
              <a:gd name="T43" fmla="*/ 68 h 327"/>
              <a:gd name="T44" fmla="*/ 387 w 454"/>
              <a:gd name="T45" fmla="*/ 47 h 327"/>
              <a:gd name="T46" fmla="*/ 356 w 454"/>
              <a:gd name="T47" fmla="*/ 29 h 327"/>
              <a:gd name="T48" fmla="*/ 322 w 454"/>
              <a:gd name="T49" fmla="*/ 15 h 327"/>
              <a:gd name="T50" fmla="*/ 285 w 454"/>
              <a:gd name="T51" fmla="*/ 5 h 327"/>
              <a:gd name="T52" fmla="*/ 246 w 454"/>
              <a:gd name="T53" fmla="*/ 0 h 327"/>
              <a:gd name="T54" fmla="*/ 206 w 454"/>
              <a:gd name="T55" fmla="*/ 0 h 327"/>
              <a:gd name="T56" fmla="*/ 167 w 454"/>
              <a:gd name="T57" fmla="*/ 5 h 327"/>
              <a:gd name="T58" fmla="*/ 131 w 454"/>
              <a:gd name="T59" fmla="*/ 15 h 327"/>
              <a:gd name="T60" fmla="*/ 96 w 454"/>
              <a:gd name="T61" fmla="*/ 29 h 327"/>
              <a:gd name="T62" fmla="*/ 66 w 454"/>
              <a:gd name="T63" fmla="*/ 47 h 327"/>
              <a:gd name="T64" fmla="*/ 41 w 454"/>
              <a:gd name="T65" fmla="*/ 68 h 327"/>
              <a:gd name="T66" fmla="*/ 21 w 454"/>
              <a:gd name="T67" fmla="*/ 94 h 327"/>
              <a:gd name="T68" fmla="*/ 8 w 454"/>
              <a:gd name="T69" fmla="*/ 120 h 327"/>
              <a:gd name="T70" fmla="*/ 1 w 454"/>
              <a:gd name="T71" fmla="*/ 148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0" y="163"/>
                </a:moveTo>
                <a:lnTo>
                  <a:pt x="1" y="177"/>
                </a:lnTo>
                <a:lnTo>
                  <a:pt x="3" y="192"/>
                </a:lnTo>
                <a:lnTo>
                  <a:pt x="8" y="205"/>
                </a:lnTo>
                <a:lnTo>
                  <a:pt x="13" y="219"/>
                </a:lnTo>
                <a:lnTo>
                  <a:pt x="21" y="231"/>
                </a:lnTo>
                <a:lnTo>
                  <a:pt x="30" y="244"/>
                </a:lnTo>
                <a:lnTo>
                  <a:pt x="41" y="257"/>
                </a:lnTo>
                <a:lnTo>
                  <a:pt x="53" y="268"/>
                </a:lnTo>
                <a:lnTo>
                  <a:pt x="66" y="278"/>
                </a:lnTo>
                <a:lnTo>
                  <a:pt x="80" y="288"/>
                </a:lnTo>
                <a:lnTo>
                  <a:pt x="96" y="296"/>
                </a:lnTo>
                <a:lnTo>
                  <a:pt x="113" y="304"/>
                </a:lnTo>
                <a:lnTo>
                  <a:pt x="131" y="311"/>
                </a:lnTo>
                <a:lnTo>
                  <a:pt x="149" y="316"/>
                </a:lnTo>
                <a:lnTo>
                  <a:pt x="167" y="320"/>
                </a:lnTo>
                <a:lnTo>
                  <a:pt x="186" y="324"/>
                </a:lnTo>
                <a:lnTo>
                  <a:pt x="206" y="326"/>
                </a:lnTo>
                <a:lnTo>
                  <a:pt x="227" y="326"/>
                </a:lnTo>
                <a:lnTo>
                  <a:pt x="246" y="326"/>
                </a:lnTo>
                <a:lnTo>
                  <a:pt x="266" y="323"/>
                </a:lnTo>
                <a:lnTo>
                  <a:pt x="285" y="320"/>
                </a:lnTo>
                <a:lnTo>
                  <a:pt x="304" y="316"/>
                </a:lnTo>
                <a:lnTo>
                  <a:pt x="322" y="310"/>
                </a:lnTo>
                <a:lnTo>
                  <a:pt x="340" y="304"/>
                </a:lnTo>
                <a:lnTo>
                  <a:pt x="356" y="296"/>
                </a:lnTo>
                <a:lnTo>
                  <a:pt x="372" y="288"/>
                </a:lnTo>
                <a:lnTo>
                  <a:pt x="387" y="278"/>
                </a:lnTo>
                <a:lnTo>
                  <a:pt x="399" y="266"/>
                </a:lnTo>
                <a:lnTo>
                  <a:pt x="412" y="257"/>
                </a:lnTo>
                <a:lnTo>
                  <a:pt x="423" y="244"/>
                </a:lnTo>
                <a:lnTo>
                  <a:pt x="431" y="231"/>
                </a:lnTo>
                <a:lnTo>
                  <a:pt x="439" y="219"/>
                </a:lnTo>
                <a:lnTo>
                  <a:pt x="445" y="205"/>
                </a:lnTo>
                <a:lnTo>
                  <a:pt x="449" y="191"/>
                </a:lnTo>
                <a:lnTo>
                  <a:pt x="453" y="177"/>
                </a:lnTo>
                <a:lnTo>
                  <a:pt x="453" y="163"/>
                </a:lnTo>
                <a:lnTo>
                  <a:pt x="453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1"/>
                </a:lnTo>
                <a:lnTo>
                  <a:pt x="412" y="68"/>
                </a:lnTo>
                <a:lnTo>
                  <a:pt x="399" y="57"/>
                </a:lnTo>
                <a:lnTo>
                  <a:pt x="387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6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9" y="9"/>
                </a:lnTo>
                <a:lnTo>
                  <a:pt x="131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4"/>
                </a:lnTo>
                <a:lnTo>
                  <a:pt x="13" y="106"/>
                </a:lnTo>
                <a:lnTo>
                  <a:pt x="8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4" name="Rectangle 19">
            <a:extLst>
              <a:ext uri="{FF2B5EF4-FFF2-40B4-BE49-F238E27FC236}">
                <a16:creationId xmlns:a16="http://schemas.microsoft.com/office/drawing/2014/main" id="{21BE4071-A104-DDF3-B693-6866D68BA342}"/>
              </a:ext>
            </a:extLst>
          </p:cNvPr>
          <p:cNvSpPr>
            <a:spLocks noGrp="1"/>
          </p:cNvSpPr>
          <p:nvPr/>
        </p:nvSpPr>
        <p:spPr>
          <a:xfrm>
            <a:off x="4264703" y="947708"/>
            <a:ext cx="700087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</a:t>
            </a:r>
          </a:p>
        </p:txBody>
      </p:sp>
      <p:sp>
        <p:nvSpPr>
          <p:cNvPr id="56" name="Freeform 21">
            <a:extLst>
              <a:ext uri="{FF2B5EF4-FFF2-40B4-BE49-F238E27FC236}">
                <a16:creationId xmlns:a16="http://schemas.microsoft.com/office/drawing/2014/main" id="{CC0E93DB-46CA-F21F-5332-4DDAE63A0628}"/>
              </a:ext>
            </a:extLst>
          </p:cNvPr>
          <p:cNvSpPr>
            <a:spLocks noGrp="1"/>
          </p:cNvSpPr>
          <p:nvPr/>
        </p:nvSpPr>
        <p:spPr>
          <a:xfrm>
            <a:off x="2398713" y="1052896"/>
            <a:ext cx="720725" cy="519112"/>
          </a:xfrm>
          <a:custGeom>
            <a:avLst/>
            <a:gdLst>
              <a:gd name="T0" fmla="*/ 453 w 454"/>
              <a:gd name="T1" fmla="*/ 148 h 327"/>
              <a:gd name="T2" fmla="*/ 445 w 454"/>
              <a:gd name="T3" fmla="*/ 120 h 327"/>
              <a:gd name="T4" fmla="*/ 431 w 454"/>
              <a:gd name="T5" fmla="*/ 94 h 327"/>
              <a:gd name="T6" fmla="*/ 412 w 454"/>
              <a:gd name="T7" fmla="*/ 68 h 327"/>
              <a:gd name="T8" fmla="*/ 387 w 454"/>
              <a:gd name="T9" fmla="*/ 47 h 327"/>
              <a:gd name="T10" fmla="*/ 356 w 454"/>
              <a:gd name="T11" fmla="*/ 29 h 327"/>
              <a:gd name="T12" fmla="*/ 322 w 454"/>
              <a:gd name="T13" fmla="*/ 15 h 327"/>
              <a:gd name="T14" fmla="*/ 285 w 454"/>
              <a:gd name="T15" fmla="*/ 5 h 327"/>
              <a:gd name="T16" fmla="*/ 246 w 454"/>
              <a:gd name="T17" fmla="*/ 0 h 327"/>
              <a:gd name="T18" fmla="*/ 206 w 454"/>
              <a:gd name="T19" fmla="*/ 0 h 327"/>
              <a:gd name="T20" fmla="*/ 167 w 454"/>
              <a:gd name="T21" fmla="*/ 5 h 327"/>
              <a:gd name="T22" fmla="*/ 131 w 454"/>
              <a:gd name="T23" fmla="*/ 15 h 327"/>
              <a:gd name="T24" fmla="*/ 96 w 454"/>
              <a:gd name="T25" fmla="*/ 29 h 327"/>
              <a:gd name="T26" fmla="*/ 66 w 454"/>
              <a:gd name="T27" fmla="*/ 47 h 327"/>
              <a:gd name="T28" fmla="*/ 41 w 454"/>
              <a:gd name="T29" fmla="*/ 68 h 327"/>
              <a:gd name="T30" fmla="*/ 21 w 454"/>
              <a:gd name="T31" fmla="*/ 94 h 327"/>
              <a:gd name="T32" fmla="*/ 8 w 454"/>
              <a:gd name="T33" fmla="*/ 120 h 327"/>
              <a:gd name="T34" fmla="*/ 1 w 454"/>
              <a:gd name="T35" fmla="*/ 148 h 327"/>
              <a:gd name="T36" fmla="*/ 1 w 454"/>
              <a:gd name="T37" fmla="*/ 177 h 327"/>
              <a:gd name="T38" fmla="*/ 8 w 454"/>
              <a:gd name="T39" fmla="*/ 205 h 327"/>
              <a:gd name="T40" fmla="*/ 21 w 454"/>
              <a:gd name="T41" fmla="*/ 231 h 327"/>
              <a:gd name="T42" fmla="*/ 41 w 454"/>
              <a:gd name="T43" fmla="*/ 257 h 327"/>
              <a:gd name="T44" fmla="*/ 66 w 454"/>
              <a:gd name="T45" fmla="*/ 278 h 327"/>
              <a:gd name="T46" fmla="*/ 96 w 454"/>
              <a:gd name="T47" fmla="*/ 296 h 327"/>
              <a:gd name="T48" fmla="*/ 131 w 454"/>
              <a:gd name="T49" fmla="*/ 310 h 327"/>
              <a:gd name="T50" fmla="*/ 167 w 454"/>
              <a:gd name="T51" fmla="*/ 320 h 327"/>
              <a:gd name="T52" fmla="*/ 206 w 454"/>
              <a:gd name="T53" fmla="*/ 326 h 327"/>
              <a:gd name="T54" fmla="*/ 246 w 454"/>
              <a:gd name="T55" fmla="*/ 326 h 327"/>
              <a:gd name="T56" fmla="*/ 285 w 454"/>
              <a:gd name="T57" fmla="*/ 320 h 327"/>
              <a:gd name="T58" fmla="*/ 322 w 454"/>
              <a:gd name="T59" fmla="*/ 310 h 327"/>
              <a:gd name="T60" fmla="*/ 356 w 454"/>
              <a:gd name="T61" fmla="*/ 296 h 327"/>
              <a:gd name="T62" fmla="*/ 387 w 454"/>
              <a:gd name="T63" fmla="*/ 278 h 327"/>
              <a:gd name="T64" fmla="*/ 412 w 454"/>
              <a:gd name="T65" fmla="*/ 257 h 327"/>
              <a:gd name="T66" fmla="*/ 431 w 454"/>
              <a:gd name="T67" fmla="*/ 231 h 327"/>
              <a:gd name="T68" fmla="*/ 445 w 454"/>
              <a:gd name="T69" fmla="*/ 205 h 327"/>
              <a:gd name="T70" fmla="*/ 453 w 454"/>
              <a:gd name="T71" fmla="*/ 177 h 327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7"/>
              <a:gd name="T110" fmla="*/ 454 w 454"/>
              <a:gd name="T111" fmla="*/ 327 h 327"/>
            </a:gdLst>
            <a:ahLst/>
            <a:cxnLst/>
            <a:rect l="T108" t="T109" r="T110" b="T111"/>
            <a:pathLst>
              <a:path w="454" h="327">
                <a:moveTo>
                  <a:pt x="453" y="163"/>
                </a:moveTo>
                <a:lnTo>
                  <a:pt x="453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4"/>
                </a:lnTo>
                <a:lnTo>
                  <a:pt x="422" y="81"/>
                </a:lnTo>
                <a:lnTo>
                  <a:pt x="412" y="68"/>
                </a:lnTo>
                <a:lnTo>
                  <a:pt x="399" y="57"/>
                </a:lnTo>
                <a:lnTo>
                  <a:pt x="387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6" y="2"/>
                </a:lnTo>
                <a:lnTo>
                  <a:pt x="246" y="0"/>
                </a:lnTo>
                <a:lnTo>
                  <a:pt x="227" y="0"/>
                </a:lnTo>
                <a:lnTo>
                  <a:pt x="206" y="0"/>
                </a:lnTo>
                <a:lnTo>
                  <a:pt x="187" y="2"/>
                </a:lnTo>
                <a:lnTo>
                  <a:pt x="167" y="5"/>
                </a:lnTo>
                <a:lnTo>
                  <a:pt x="149" y="9"/>
                </a:lnTo>
                <a:lnTo>
                  <a:pt x="131" y="15"/>
                </a:lnTo>
                <a:lnTo>
                  <a:pt x="113" y="21"/>
                </a:lnTo>
                <a:lnTo>
                  <a:pt x="96" y="29"/>
                </a:lnTo>
                <a:lnTo>
                  <a:pt x="81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4"/>
                </a:lnTo>
                <a:lnTo>
                  <a:pt x="13" y="106"/>
                </a:lnTo>
                <a:lnTo>
                  <a:pt x="8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3"/>
                </a:lnTo>
                <a:lnTo>
                  <a:pt x="1" y="177"/>
                </a:lnTo>
                <a:lnTo>
                  <a:pt x="3" y="191"/>
                </a:lnTo>
                <a:lnTo>
                  <a:pt x="8" y="205"/>
                </a:lnTo>
                <a:lnTo>
                  <a:pt x="13" y="219"/>
                </a:lnTo>
                <a:lnTo>
                  <a:pt x="21" y="231"/>
                </a:lnTo>
                <a:lnTo>
                  <a:pt x="30" y="244"/>
                </a:lnTo>
                <a:lnTo>
                  <a:pt x="41" y="257"/>
                </a:lnTo>
                <a:lnTo>
                  <a:pt x="53" y="268"/>
                </a:lnTo>
                <a:lnTo>
                  <a:pt x="66" y="278"/>
                </a:lnTo>
                <a:lnTo>
                  <a:pt x="81" y="288"/>
                </a:lnTo>
                <a:lnTo>
                  <a:pt x="96" y="296"/>
                </a:lnTo>
                <a:lnTo>
                  <a:pt x="113" y="304"/>
                </a:lnTo>
                <a:lnTo>
                  <a:pt x="131" y="310"/>
                </a:lnTo>
                <a:lnTo>
                  <a:pt x="149" y="316"/>
                </a:lnTo>
                <a:lnTo>
                  <a:pt x="167" y="320"/>
                </a:lnTo>
                <a:lnTo>
                  <a:pt x="187" y="324"/>
                </a:lnTo>
                <a:lnTo>
                  <a:pt x="206" y="326"/>
                </a:lnTo>
                <a:lnTo>
                  <a:pt x="227" y="326"/>
                </a:lnTo>
                <a:lnTo>
                  <a:pt x="246" y="326"/>
                </a:lnTo>
                <a:lnTo>
                  <a:pt x="266" y="324"/>
                </a:lnTo>
                <a:lnTo>
                  <a:pt x="285" y="320"/>
                </a:lnTo>
                <a:lnTo>
                  <a:pt x="304" y="316"/>
                </a:lnTo>
                <a:lnTo>
                  <a:pt x="322" y="310"/>
                </a:lnTo>
                <a:lnTo>
                  <a:pt x="339" y="304"/>
                </a:lnTo>
                <a:lnTo>
                  <a:pt x="356" y="296"/>
                </a:lnTo>
                <a:lnTo>
                  <a:pt x="372" y="288"/>
                </a:lnTo>
                <a:lnTo>
                  <a:pt x="387" y="278"/>
                </a:lnTo>
                <a:lnTo>
                  <a:pt x="399" y="268"/>
                </a:lnTo>
                <a:lnTo>
                  <a:pt x="412" y="257"/>
                </a:lnTo>
                <a:lnTo>
                  <a:pt x="422" y="244"/>
                </a:lnTo>
                <a:lnTo>
                  <a:pt x="431" y="231"/>
                </a:lnTo>
                <a:lnTo>
                  <a:pt x="439" y="219"/>
                </a:lnTo>
                <a:lnTo>
                  <a:pt x="445" y="205"/>
                </a:lnTo>
                <a:lnTo>
                  <a:pt x="449" y="191"/>
                </a:lnTo>
                <a:lnTo>
                  <a:pt x="453" y="177"/>
                </a:lnTo>
                <a:lnTo>
                  <a:pt x="453" y="163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7" name="Freeform 22">
            <a:extLst>
              <a:ext uri="{FF2B5EF4-FFF2-40B4-BE49-F238E27FC236}">
                <a16:creationId xmlns:a16="http://schemas.microsoft.com/office/drawing/2014/main" id="{95B5028C-04B7-E26A-F1D7-4034C4FF0A19}"/>
              </a:ext>
            </a:extLst>
          </p:cNvPr>
          <p:cNvSpPr>
            <a:spLocks noGrp="1"/>
          </p:cNvSpPr>
          <p:nvPr/>
        </p:nvSpPr>
        <p:spPr>
          <a:xfrm>
            <a:off x="1752600" y="1435483"/>
            <a:ext cx="720725" cy="517524"/>
          </a:xfrm>
          <a:custGeom>
            <a:avLst/>
            <a:gdLst>
              <a:gd name="T0" fmla="*/ 451 w 454"/>
              <a:gd name="T1" fmla="*/ 148 h 326"/>
              <a:gd name="T2" fmla="*/ 445 w 454"/>
              <a:gd name="T3" fmla="*/ 120 h 326"/>
              <a:gd name="T4" fmla="*/ 431 w 454"/>
              <a:gd name="T5" fmla="*/ 93 h 326"/>
              <a:gd name="T6" fmla="*/ 411 w 454"/>
              <a:gd name="T7" fmla="*/ 68 h 326"/>
              <a:gd name="T8" fmla="*/ 386 w 454"/>
              <a:gd name="T9" fmla="*/ 47 h 326"/>
              <a:gd name="T10" fmla="*/ 356 w 454"/>
              <a:gd name="T11" fmla="*/ 29 h 326"/>
              <a:gd name="T12" fmla="*/ 322 w 454"/>
              <a:gd name="T13" fmla="*/ 15 h 326"/>
              <a:gd name="T14" fmla="*/ 285 w 454"/>
              <a:gd name="T15" fmla="*/ 5 h 326"/>
              <a:gd name="T16" fmla="*/ 246 w 454"/>
              <a:gd name="T17" fmla="*/ 0 h 326"/>
              <a:gd name="T18" fmla="*/ 206 w 454"/>
              <a:gd name="T19" fmla="*/ 0 h 326"/>
              <a:gd name="T20" fmla="*/ 167 w 454"/>
              <a:gd name="T21" fmla="*/ 5 h 326"/>
              <a:gd name="T22" fmla="*/ 130 w 454"/>
              <a:gd name="T23" fmla="*/ 15 h 326"/>
              <a:gd name="T24" fmla="*/ 96 w 454"/>
              <a:gd name="T25" fmla="*/ 29 h 326"/>
              <a:gd name="T26" fmla="*/ 66 w 454"/>
              <a:gd name="T27" fmla="*/ 47 h 326"/>
              <a:gd name="T28" fmla="*/ 41 w 454"/>
              <a:gd name="T29" fmla="*/ 68 h 326"/>
              <a:gd name="T30" fmla="*/ 21 w 454"/>
              <a:gd name="T31" fmla="*/ 93 h 326"/>
              <a:gd name="T32" fmla="*/ 7 w 454"/>
              <a:gd name="T33" fmla="*/ 120 h 326"/>
              <a:gd name="T34" fmla="*/ 1 w 454"/>
              <a:gd name="T35" fmla="*/ 148 h 326"/>
              <a:gd name="T36" fmla="*/ 1 w 454"/>
              <a:gd name="T37" fmla="*/ 176 h 326"/>
              <a:gd name="T38" fmla="*/ 7 w 454"/>
              <a:gd name="T39" fmla="*/ 204 h 326"/>
              <a:gd name="T40" fmla="*/ 21 w 454"/>
              <a:gd name="T41" fmla="*/ 231 h 326"/>
              <a:gd name="T42" fmla="*/ 41 w 454"/>
              <a:gd name="T43" fmla="*/ 256 h 326"/>
              <a:gd name="T44" fmla="*/ 66 w 454"/>
              <a:gd name="T45" fmla="*/ 277 h 326"/>
              <a:gd name="T46" fmla="*/ 96 w 454"/>
              <a:gd name="T47" fmla="*/ 295 h 326"/>
              <a:gd name="T48" fmla="*/ 130 w 454"/>
              <a:gd name="T49" fmla="*/ 309 h 326"/>
              <a:gd name="T50" fmla="*/ 167 w 454"/>
              <a:gd name="T51" fmla="*/ 319 h 326"/>
              <a:gd name="T52" fmla="*/ 206 w 454"/>
              <a:gd name="T53" fmla="*/ 325 h 326"/>
              <a:gd name="T54" fmla="*/ 246 w 454"/>
              <a:gd name="T55" fmla="*/ 325 h 326"/>
              <a:gd name="T56" fmla="*/ 285 w 454"/>
              <a:gd name="T57" fmla="*/ 319 h 326"/>
              <a:gd name="T58" fmla="*/ 322 w 454"/>
              <a:gd name="T59" fmla="*/ 309 h 326"/>
              <a:gd name="T60" fmla="*/ 356 w 454"/>
              <a:gd name="T61" fmla="*/ 295 h 326"/>
              <a:gd name="T62" fmla="*/ 386 w 454"/>
              <a:gd name="T63" fmla="*/ 277 h 326"/>
              <a:gd name="T64" fmla="*/ 411 w 454"/>
              <a:gd name="T65" fmla="*/ 256 h 326"/>
              <a:gd name="T66" fmla="*/ 431 w 454"/>
              <a:gd name="T67" fmla="*/ 231 h 326"/>
              <a:gd name="T68" fmla="*/ 445 w 454"/>
              <a:gd name="T69" fmla="*/ 204 h 326"/>
              <a:gd name="T70" fmla="*/ 451 w 454"/>
              <a:gd name="T71" fmla="*/ 176 h 3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4"/>
              <a:gd name="T109" fmla="*/ 0 h 326"/>
              <a:gd name="T110" fmla="*/ 454 w 454"/>
              <a:gd name="T111" fmla="*/ 326 h 326"/>
            </a:gdLst>
            <a:ahLst/>
            <a:cxnLst/>
            <a:rect l="T108" t="T109" r="T110" b="T111"/>
            <a:pathLst>
              <a:path w="454" h="326">
                <a:moveTo>
                  <a:pt x="453" y="162"/>
                </a:moveTo>
                <a:lnTo>
                  <a:pt x="451" y="148"/>
                </a:lnTo>
                <a:lnTo>
                  <a:pt x="449" y="134"/>
                </a:lnTo>
                <a:lnTo>
                  <a:pt x="445" y="120"/>
                </a:lnTo>
                <a:lnTo>
                  <a:pt x="439" y="106"/>
                </a:lnTo>
                <a:lnTo>
                  <a:pt x="431" y="93"/>
                </a:lnTo>
                <a:lnTo>
                  <a:pt x="422" y="81"/>
                </a:lnTo>
                <a:lnTo>
                  <a:pt x="411" y="68"/>
                </a:lnTo>
                <a:lnTo>
                  <a:pt x="399" y="57"/>
                </a:lnTo>
                <a:lnTo>
                  <a:pt x="386" y="47"/>
                </a:lnTo>
                <a:lnTo>
                  <a:pt x="372" y="37"/>
                </a:lnTo>
                <a:lnTo>
                  <a:pt x="356" y="29"/>
                </a:lnTo>
                <a:lnTo>
                  <a:pt x="339" y="21"/>
                </a:lnTo>
                <a:lnTo>
                  <a:pt x="322" y="15"/>
                </a:lnTo>
                <a:lnTo>
                  <a:pt x="304" y="9"/>
                </a:lnTo>
                <a:lnTo>
                  <a:pt x="285" y="5"/>
                </a:lnTo>
                <a:lnTo>
                  <a:pt x="265" y="1"/>
                </a:lnTo>
                <a:lnTo>
                  <a:pt x="246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3" y="21"/>
                </a:lnTo>
                <a:lnTo>
                  <a:pt x="96" y="29"/>
                </a:lnTo>
                <a:lnTo>
                  <a:pt x="80" y="37"/>
                </a:lnTo>
                <a:lnTo>
                  <a:pt x="66" y="47"/>
                </a:lnTo>
                <a:lnTo>
                  <a:pt x="53" y="57"/>
                </a:lnTo>
                <a:lnTo>
                  <a:pt x="41" y="68"/>
                </a:lnTo>
                <a:lnTo>
                  <a:pt x="30" y="81"/>
                </a:lnTo>
                <a:lnTo>
                  <a:pt x="21" y="93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1" y="148"/>
                </a:lnTo>
                <a:lnTo>
                  <a:pt x="0" y="162"/>
                </a:lnTo>
                <a:lnTo>
                  <a:pt x="1" y="176"/>
                </a:lnTo>
                <a:lnTo>
                  <a:pt x="3" y="190"/>
                </a:lnTo>
                <a:lnTo>
                  <a:pt x="7" y="204"/>
                </a:lnTo>
                <a:lnTo>
                  <a:pt x="13" y="218"/>
                </a:lnTo>
                <a:lnTo>
                  <a:pt x="21" y="231"/>
                </a:lnTo>
                <a:lnTo>
                  <a:pt x="30" y="243"/>
                </a:lnTo>
                <a:lnTo>
                  <a:pt x="41" y="256"/>
                </a:lnTo>
                <a:lnTo>
                  <a:pt x="53" y="266"/>
                </a:lnTo>
                <a:lnTo>
                  <a:pt x="66" y="277"/>
                </a:lnTo>
                <a:lnTo>
                  <a:pt x="80" y="287"/>
                </a:lnTo>
                <a:lnTo>
                  <a:pt x="96" y="295"/>
                </a:lnTo>
                <a:lnTo>
                  <a:pt x="113" y="303"/>
                </a:lnTo>
                <a:lnTo>
                  <a:pt x="130" y="309"/>
                </a:lnTo>
                <a:lnTo>
                  <a:pt x="148" y="315"/>
                </a:lnTo>
                <a:lnTo>
                  <a:pt x="167" y="319"/>
                </a:lnTo>
                <a:lnTo>
                  <a:pt x="186" y="322"/>
                </a:lnTo>
                <a:lnTo>
                  <a:pt x="206" y="325"/>
                </a:lnTo>
                <a:lnTo>
                  <a:pt x="225" y="325"/>
                </a:lnTo>
                <a:lnTo>
                  <a:pt x="246" y="325"/>
                </a:lnTo>
                <a:lnTo>
                  <a:pt x="265" y="322"/>
                </a:lnTo>
                <a:lnTo>
                  <a:pt x="285" y="319"/>
                </a:lnTo>
                <a:lnTo>
                  <a:pt x="304" y="315"/>
                </a:lnTo>
                <a:lnTo>
                  <a:pt x="322" y="309"/>
                </a:lnTo>
                <a:lnTo>
                  <a:pt x="339" y="303"/>
                </a:lnTo>
                <a:lnTo>
                  <a:pt x="356" y="295"/>
                </a:lnTo>
                <a:lnTo>
                  <a:pt x="372" y="287"/>
                </a:lnTo>
                <a:lnTo>
                  <a:pt x="386" y="277"/>
                </a:lnTo>
                <a:lnTo>
                  <a:pt x="399" y="266"/>
                </a:lnTo>
                <a:lnTo>
                  <a:pt x="411" y="256"/>
                </a:lnTo>
                <a:lnTo>
                  <a:pt x="422" y="243"/>
                </a:lnTo>
                <a:lnTo>
                  <a:pt x="431" y="231"/>
                </a:lnTo>
                <a:lnTo>
                  <a:pt x="439" y="218"/>
                </a:lnTo>
                <a:lnTo>
                  <a:pt x="445" y="204"/>
                </a:lnTo>
                <a:lnTo>
                  <a:pt x="449" y="190"/>
                </a:lnTo>
                <a:lnTo>
                  <a:pt x="451" y="176"/>
                </a:lnTo>
                <a:lnTo>
                  <a:pt x="453" y="16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8" name="Freeform 23">
            <a:extLst>
              <a:ext uri="{FF2B5EF4-FFF2-40B4-BE49-F238E27FC236}">
                <a16:creationId xmlns:a16="http://schemas.microsoft.com/office/drawing/2014/main" id="{A809C841-E38A-4009-F329-06D8A2119A98}"/>
              </a:ext>
            </a:extLst>
          </p:cNvPr>
          <p:cNvSpPr>
            <a:spLocks noGrp="1"/>
          </p:cNvSpPr>
          <p:nvPr/>
        </p:nvSpPr>
        <p:spPr>
          <a:xfrm>
            <a:off x="3074988" y="1435483"/>
            <a:ext cx="717550" cy="517524"/>
          </a:xfrm>
          <a:custGeom>
            <a:avLst/>
            <a:gdLst>
              <a:gd name="T0" fmla="*/ 0 w 452"/>
              <a:gd name="T1" fmla="*/ 176 h 326"/>
              <a:gd name="T2" fmla="*/ 7 w 452"/>
              <a:gd name="T3" fmla="*/ 204 h 326"/>
              <a:gd name="T4" fmla="*/ 21 w 452"/>
              <a:gd name="T5" fmla="*/ 231 h 326"/>
              <a:gd name="T6" fmla="*/ 40 w 452"/>
              <a:gd name="T7" fmla="*/ 256 h 326"/>
              <a:gd name="T8" fmla="*/ 65 w 452"/>
              <a:gd name="T9" fmla="*/ 278 h 326"/>
              <a:gd name="T10" fmla="*/ 96 w 452"/>
              <a:gd name="T11" fmla="*/ 295 h 326"/>
              <a:gd name="T12" fmla="*/ 130 w 452"/>
              <a:gd name="T13" fmla="*/ 309 h 326"/>
              <a:gd name="T14" fmla="*/ 167 w 452"/>
              <a:gd name="T15" fmla="*/ 319 h 326"/>
              <a:gd name="T16" fmla="*/ 206 w 452"/>
              <a:gd name="T17" fmla="*/ 325 h 326"/>
              <a:gd name="T18" fmla="*/ 245 w 452"/>
              <a:gd name="T19" fmla="*/ 325 h 326"/>
              <a:gd name="T20" fmla="*/ 283 w 452"/>
              <a:gd name="T21" fmla="*/ 319 h 326"/>
              <a:gd name="T22" fmla="*/ 320 w 452"/>
              <a:gd name="T23" fmla="*/ 309 h 326"/>
              <a:gd name="T24" fmla="*/ 354 w 452"/>
              <a:gd name="T25" fmla="*/ 295 h 326"/>
              <a:gd name="T26" fmla="*/ 385 w 452"/>
              <a:gd name="T27" fmla="*/ 277 h 326"/>
              <a:gd name="T28" fmla="*/ 410 w 452"/>
              <a:gd name="T29" fmla="*/ 254 h 326"/>
              <a:gd name="T30" fmla="*/ 429 w 452"/>
              <a:gd name="T31" fmla="*/ 231 h 326"/>
              <a:gd name="T32" fmla="*/ 443 w 452"/>
              <a:gd name="T33" fmla="*/ 204 h 326"/>
              <a:gd name="T34" fmla="*/ 451 w 452"/>
              <a:gd name="T35" fmla="*/ 176 h 326"/>
              <a:gd name="T36" fmla="*/ 451 w 452"/>
              <a:gd name="T37" fmla="*/ 148 h 326"/>
              <a:gd name="T38" fmla="*/ 443 w 452"/>
              <a:gd name="T39" fmla="*/ 120 h 326"/>
              <a:gd name="T40" fmla="*/ 429 w 452"/>
              <a:gd name="T41" fmla="*/ 93 h 326"/>
              <a:gd name="T42" fmla="*/ 410 w 452"/>
              <a:gd name="T43" fmla="*/ 68 h 326"/>
              <a:gd name="T44" fmla="*/ 385 w 452"/>
              <a:gd name="T45" fmla="*/ 47 h 326"/>
              <a:gd name="T46" fmla="*/ 354 w 452"/>
              <a:gd name="T47" fmla="*/ 29 h 326"/>
              <a:gd name="T48" fmla="*/ 320 w 452"/>
              <a:gd name="T49" fmla="*/ 15 h 326"/>
              <a:gd name="T50" fmla="*/ 283 w 452"/>
              <a:gd name="T51" fmla="*/ 5 h 326"/>
              <a:gd name="T52" fmla="*/ 245 w 452"/>
              <a:gd name="T53" fmla="*/ 0 h 326"/>
              <a:gd name="T54" fmla="*/ 206 w 452"/>
              <a:gd name="T55" fmla="*/ 0 h 326"/>
              <a:gd name="T56" fmla="*/ 167 w 452"/>
              <a:gd name="T57" fmla="*/ 5 h 326"/>
              <a:gd name="T58" fmla="*/ 130 w 452"/>
              <a:gd name="T59" fmla="*/ 15 h 326"/>
              <a:gd name="T60" fmla="*/ 96 w 452"/>
              <a:gd name="T61" fmla="*/ 29 h 326"/>
              <a:gd name="T62" fmla="*/ 65 w 452"/>
              <a:gd name="T63" fmla="*/ 47 h 326"/>
              <a:gd name="T64" fmla="*/ 40 w 452"/>
              <a:gd name="T65" fmla="*/ 68 h 326"/>
              <a:gd name="T66" fmla="*/ 21 w 452"/>
              <a:gd name="T67" fmla="*/ 93 h 326"/>
              <a:gd name="T68" fmla="*/ 7 w 452"/>
              <a:gd name="T69" fmla="*/ 120 h 326"/>
              <a:gd name="T70" fmla="*/ 0 w 452"/>
              <a:gd name="T71" fmla="*/ 148 h 32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452"/>
              <a:gd name="T109" fmla="*/ 0 h 326"/>
              <a:gd name="T110" fmla="*/ 452 w 452"/>
              <a:gd name="T111" fmla="*/ 326 h 326"/>
            </a:gdLst>
            <a:ahLst/>
            <a:cxnLst/>
            <a:rect l="T108" t="T109" r="T110" b="T111"/>
            <a:pathLst>
              <a:path w="452" h="326">
                <a:moveTo>
                  <a:pt x="0" y="162"/>
                </a:moveTo>
                <a:lnTo>
                  <a:pt x="0" y="176"/>
                </a:lnTo>
                <a:lnTo>
                  <a:pt x="3" y="190"/>
                </a:lnTo>
                <a:lnTo>
                  <a:pt x="7" y="204"/>
                </a:lnTo>
                <a:lnTo>
                  <a:pt x="13" y="218"/>
                </a:lnTo>
                <a:lnTo>
                  <a:pt x="21" y="231"/>
                </a:lnTo>
                <a:lnTo>
                  <a:pt x="29" y="243"/>
                </a:lnTo>
                <a:lnTo>
                  <a:pt x="40" y="256"/>
                </a:lnTo>
                <a:lnTo>
                  <a:pt x="52" y="267"/>
                </a:lnTo>
                <a:lnTo>
                  <a:pt x="65" y="278"/>
                </a:lnTo>
                <a:lnTo>
                  <a:pt x="80" y="287"/>
                </a:lnTo>
                <a:lnTo>
                  <a:pt x="96" y="295"/>
                </a:lnTo>
                <a:lnTo>
                  <a:pt x="112" y="303"/>
                </a:lnTo>
                <a:lnTo>
                  <a:pt x="130" y="309"/>
                </a:lnTo>
                <a:lnTo>
                  <a:pt x="148" y="315"/>
                </a:lnTo>
                <a:lnTo>
                  <a:pt x="167" y="319"/>
                </a:lnTo>
                <a:lnTo>
                  <a:pt x="186" y="322"/>
                </a:lnTo>
                <a:lnTo>
                  <a:pt x="206" y="325"/>
                </a:lnTo>
                <a:lnTo>
                  <a:pt x="225" y="325"/>
                </a:lnTo>
                <a:lnTo>
                  <a:pt x="245" y="325"/>
                </a:lnTo>
                <a:lnTo>
                  <a:pt x="264" y="322"/>
                </a:lnTo>
                <a:lnTo>
                  <a:pt x="283" y="319"/>
                </a:lnTo>
                <a:lnTo>
                  <a:pt x="302" y="315"/>
                </a:lnTo>
                <a:lnTo>
                  <a:pt x="320" y="309"/>
                </a:lnTo>
                <a:lnTo>
                  <a:pt x="338" y="303"/>
                </a:lnTo>
                <a:lnTo>
                  <a:pt x="354" y="295"/>
                </a:lnTo>
                <a:lnTo>
                  <a:pt x="370" y="287"/>
                </a:lnTo>
                <a:lnTo>
                  <a:pt x="385" y="277"/>
                </a:lnTo>
                <a:lnTo>
                  <a:pt x="398" y="266"/>
                </a:lnTo>
                <a:lnTo>
                  <a:pt x="410" y="254"/>
                </a:lnTo>
                <a:lnTo>
                  <a:pt x="421" y="243"/>
                </a:lnTo>
                <a:lnTo>
                  <a:pt x="429" y="231"/>
                </a:lnTo>
                <a:lnTo>
                  <a:pt x="437" y="217"/>
                </a:lnTo>
                <a:lnTo>
                  <a:pt x="443" y="204"/>
                </a:lnTo>
                <a:lnTo>
                  <a:pt x="447" y="190"/>
                </a:lnTo>
                <a:lnTo>
                  <a:pt x="451" y="176"/>
                </a:lnTo>
                <a:lnTo>
                  <a:pt x="451" y="162"/>
                </a:lnTo>
                <a:lnTo>
                  <a:pt x="451" y="148"/>
                </a:lnTo>
                <a:lnTo>
                  <a:pt x="447" y="134"/>
                </a:lnTo>
                <a:lnTo>
                  <a:pt x="443" y="120"/>
                </a:lnTo>
                <a:lnTo>
                  <a:pt x="437" y="106"/>
                </a:lnTo>
                <a:lnTo>
                  <a:pt x="429" y="93"/>
                </a:lnTo>
                <a:lnTo>
                  <a:pt x="421" y="81"/>
                </a:lnTo>
                <a:lnTo>
                  <a:pt x="410" y="68"/>
                </a:lnTo>
                <a:lnTo>
                  <a:pt x="398" y="57"/>
                </a:lnTo>
                <a:lnTo>
                  <a:pt x="385" y="47"/>
                </a:lnTo>
                <a:lnTo>
                  <a:pt x="370" y="37"/>
                </a:lnTo>
                <a:lnTo>
                  <a:pt x="354" y="29"/>
                </a:lnTo>
                <a:lnTo>
                  <a:pt x="338" y="21"/>
                </a:lnTo>
                <a:lnTo>
                  <a:pt x="320" y="15"/>
                </a:lnTo>
                <a:lnTo>
                  <a:pt x="302" y="9"/>
                </a:lnTo>
                <a:lnTo>
                  <a:pt x="283" y="5"/>
                </a:lnTo>
                <a:lnTo>
                  <a:pt x="264" y="1"/>
                </a:lnTo>
                <a:lnTo>
                  <a:pt x="245" y="0"/>
                </a:lnTo>
                <a:lnTo>
                  <a:pt x="225" y="0"/>
                </a:lnTo>
                <a:lnTo>
                  <a:pt x="206" y="0"/>
                </a:lnTo>
                <a:lnTo>
                  <a:pt x="186" y="1"/>
                </a:lnTo>
                <a:lnTo>
                  <a:pt x="167" y="5"/>
                </a:lnTo>
                <a:lnTo>
                  <a:pt x="148" y="9"/>
                </a:lnTo>
                <a:lnTo>
                  <a:pt x="130" y="15"/>
                </a:lnTo>
                <a:lnTo>
                  <a:pt x="112" y="21"/>
                </a:lnTo>
                <a:lnTo>
                  <a:pt x="96" y="29"/>
                </a:lnTo>
                <a:lnTo>
                  <a:pt x="80" y="37"/>
                </a:lnTo>
                <a:lnTo>
                  <a:pt x="65" y="47"/>
                </a:lnTo>
                <a:lnTo>
                  <a:pt x="52" y="57"/>
                </a:lnTo>
                <a:lnTo>
                  <a:pt x="40" y="68"/>
                </a:lnTo>
                <a:lnTo>
                  <a:pt x="29" y="81"/>
                </a:lnTo>
                <a:lnTo>
                  <a:pt x="21" y="93"/>
                </a:lnTo>
                <a:lnTo>
                  <a:pt x="13" y="106"/>
                </a:lnTo>
                <a:lnTo>
                  <a:pt x="7" y="120"/>
                </a:lnTo>
                <a:lnTo>
                  <a:pt x="3" y="134"/>
                </a:lnTo>
                <a:lnTo>
                  <a:pt x="0" y="148"/>
                </a:lnTo>
                <a:lnTo>
                  <a:pt x="0" y="16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9" name="Rectangle 24">
            <a:extLst>
              <a:ext uri="{FF2B5EF4-FFF2-40B4-BE49-F238E27FC236}">
                <a16:creationId xmlns:a16="http://schemas.microsoft.com/office/drawing/2014/main" id="{6211F131-CEBB-16B3-5A59-1D808E7DBB2E}"/>
              </a:ext>
            </a:extLst>
          </p:cNvPr>
          <p:cNvSpPr>
            <a:spLocks noGrp="1"/>
          </p:cNvSpPr>
          <p:nvPr/>
        </p:nvSpPr>
        <p:spPr>
          <a:xfrm>
            <a:off x="3198813" y="1533908"/>
            <a:ext cx="430212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60" name="Rectangle 25">
            <a:extLst>
              <a:ext uri="{FF2B5EF4-FFF2-40B4-BE49-F238E27FC236}">
                <a16:creationId xmlns:a16="http://schemas.microsoft.com/office/drawing/2014/main" id="{15CC44D5-31EB-585E-1D19-3563DB1A1846}"/>
              </a:ext>
            </a:extLst>
          </p:cNvPr>
          <p:cNvSpPr>
            <a:spLocks noGrp="1"/>
          </p:cNvSpPr>
          <p:nvPr/>
        </p:nvSpPr>
        <p:spPr>
          <a:xfrm>
            <a:off x="2395538" y="1121158"/>
            <a:ext cx="711200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61" name="Rectangle 26">
            <a:extLst>
              <a:ext uri="{FF2B5EF4-FFF2-40B4-BE49-F238E27FC236}">
                <a16:creationId xmlns:a16="http://schemas.microsoft.com/office/drawing/2014/main" id="{78315C7B-7886-B1EB-F43E-47069D3D6C91}"/>
              </a:ext>
            </a:extLst>
          </p:cNvPr>
          <p:cNvSpPr>
            <a:spLocks noGrp="1"/>
          </p:cNvSpPr>
          <p:nvPr/>
        </p:nvSpPr>
        <p:spPr>
          <a:xfrm>
            <a:off x="1841500" y="1522795"/>
            <a:ext cx="530225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63" name="Rectangle 28">
            <a:extLst>
              <a:ext uri="{FF2B5EF4-FFF2-40B4-BE49-F238E27FC236}">
                <a16:creationId xmlns:a16="http://schemas.microsoft.com/office/drawing/2014/main" id="{D83D1539-FFD9-AE24-8D8B-5B410BF1E573}"/>
              </a:ext>
            </a:extLst>
          </p:cNvPr>
          <p:cNvSpPr>
            <a:spLocks noGrp="1"/>
          </p:cNvSpPr>
          <p:nvPr/>
        </p:nvSpPr>
        <p:spPr>
          <a:xfrm>
            <a:off x="4078965" y="2351087"/>
            <a:ext cx="1095374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Manages</a:t>
            </a:r>
          </a:p>
        </p:txBody>
      </p:sp>
      <p:sp>
        <p:nvSpPr>
          <p:cNvPr id="64" name="Freeform 29">
            <a:extLst>
              <a:ext uri="{FF2B5EF4-FFF2-40B4-BE49-F238E27FC236}">
                <a16:creationId xmlns:a16="http://schemas.microsoft.com/office/drawing/2014/main" id="{D3164B81-D73D-6E8D-3736-E636108B45A9}"/>
              </a:ext>
            </a:extLst>
          </p:cNvPr>
          <p:cNvSpPr>
            <a:spLocks noGrp="1"/>
          </p:cNvSpPr>
          <p:nvPr/>
        </p:nvSpPr>
        <p:spPr>
          <a:xfrm>
            <a:off x="3996415" y="2051050"/>
            <a:ext cx="1220787" cy="920750"/>
          </a:xfrm>
          <a:custGeom>
            <a:avLst/>
            <a:gdLst>
              <a:gd name="T0" fmla="*/ 0 w 769"/>
              <a:gd name="T1" fmla="*/ 290 h 580"/>
              <a:gd name="T2" fmla="*/ 378 w 769"/>
              <a:gd name="T3" fmla="*/ 0 h 580"/>
              <a:gd name="T4" fmla="*/ 768 w 769"/>
              <a:gd name="T5" fmla="*/ 300 h 580"/>
              <a:gd name="T6" fmla="*/ 378 w 769"/>
              <a:gd name="T7" fmla="*/ 579 h 580"/>
              <a:gd name="T8" fmla="*/ 0 w 769"/>
              <a:gd name="T9" fmla="*/ 290 h 5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9"/>
              <a:gd name="T16" fmla="*/ 0 h 580"/>
              <a:gd name="T17" fmla="*/ 769 w 769"/>
              <a:gd name="T18" fmla="*/ 580 h 580"/>
            </a:gdLst>
            <a:ahLst/>
            <a:cxnLst/>
            <a:rect l="T15" t="T16" r="T17" b="T18"/>
            <a:pathLst>
              <a:path w="769" h="580">
                <a:moveTo>
                  <a:pt x="0" y="290"/>
                </a:moveTo>
                <a:lnTo>
                  <a:pt x="378" y="0"/>
                </a:lnTo>
                <a:lnTo>
                  <a:pt x="768" y="300"/>
                </a:lnTo>
                <a:lnTo>
                  <a:pt x="378" y="579"/>
                </a:lnTo>
                <a:lnTo>
                  <a:pt x="0" y="290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5" name="Freeform 30">
            <a:extLst>
              <a:ext uri="{FF2B5EF4-FFF2-40B4-BE49-F238E27FC236}">
                <a16:creationId xmlns:a16="http://schemas.microsoft.com/office/drawing/2014/main" id="{C742DB62-F132-AC82-83EB-A30933B4014F}"/>
              </a:ext>
            </a:extLst>
          </p:cNvPr>
          <p:cNvSpPr>
            <a:spLocks noGrp="1"/>
          </p:cNvSpPr>
          <p:nvPr/>
        </p:nvSpPr>
        <p:spPr>
          <a:xfrm>
            <a:off x="5761098" y="2287971"/>
            <a:ext cx="1295400" cy="479425"/>
          </a:xfrm>
          <a:custGeom>
            <a:avLst/>
            <a:gdLst>
              <a:gd name="T0" fmla="*/ 1293813 w 816"/>
              <a:gd name="T1" fmla="*/ 477838 h 302"/>
              <a:gd name="T2" fmla="*/ 1293813 w 816"/>
              <a:gd name="T3" fmla="*/ 0 h 302"/>
              <a:gd name="T4" fmla="*/ 0 w 816"/>
              <a:gd name="T5" fmla="*/ 0 h 302"/>
              <a:gd name="T6" fmla="*/ 0 w 816"/>
              <a:gd name="T7" fmla="*/ 477838 h 302"/>
              <a:gd name="T8" fmla="*/ 1293813 w 816"/>
              <a:gd name="T9" fmla="*/ 477838 h 30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6"/>
              <a:gd name="T16" fmla="*/ 0 h 302"/>
              <a:gd name="T17" fmla="*/ 816 w 816"/>
              <a:gd name="T18" fmla="*/ 302 h 302"/>
            </a:gdLst>
            <a:ahLst/>
            <a:cxnLst/>
            <a:rect l="T15" t="T16" r="T17" b="T18"/>
            <a:pathLst>
              <a:path w="816" h="302">
                <a:moveTo>
                  <a:pt x="815" y="301"/>
                </a:moveTo>
                <a:lnTo>
                  <a:pt x="815" y="0"/>
                </a:lnTo>
                <a:lnTo>
                  <a:pt x="0" y="0"/>
                </a:lnTo>
                <a:lnTo>
                  <a:pt x="0" y="301"/>
                </a:lnTo>
                <a:lnTo>
                  <a:pt x="815" y="301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7" name="Freeform 32">
            <a:extLst>
              <a:ext uri="{FF2B5EF4-FFF2-40B4-BE49-F238E27FC236}">
                <a16:creationId xmlns:a16="http://schemas.microsoft.com/office/drawing/2014/main" id="{CF2E0F2E-F451-2510-07F1-D11CD501B190}"/>
              </a:ext>
            </a:extLst>
          </p:cNvPr>
          <p:cNvSpPr>
            <a:spLocks noGrp="1"/>
          </p:cNvSpPr>
          <p:nvPr/>
        </p:nvSpPr>
        <p:spPr>
          <a:xfrm>
            <a:off x="2163763" y="2272096"/>
            <a:ext cx="1292225" cy="468311"/>
          </a:xfrm>
          <a:custGeom>
            <a:avLst/>
            <a:gdLst>
              <a:gd name="T0" fmla="*/ 813 w 814"/>
              <a:gd name="T1" fmla="*/ 294 h 295"/>
              <a:gd name="T2" fmla="*/ 813 w 814"/>
              <a:gd name="T3" fmla="*/ 0 h 295"/>
              <a:gd name="T4" fmla="*/ 0 w 814"/>
              <a:gd name="T5" fmla="*/ 0 h 295"/>
              <a:gd name="T6" fmla="*/ 0 w 814"/>
              <a:gd name="T7" fmla="*/ 294 h 295"/>
              <a:gd name="T8" fmla="*/ 813 w 814"/>
              <a:gd name="T9" fmla="*/ 294 h 2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14"/>
              <a:gd name="T16" fmla="*/ 0 h 295"/>
              <a:gd name="T17" fmla="*/ 814 w 814"/>
              <a:gd name="T18" fmla="*/ 295 h 295"/>
            </a:gdLst>
            <a:ahLst/>
            <a:cxnLst/>
            <a:rect l="T15" t="T16" r="T17" b="T18"/>
            <a:pathLst>
              <a:path w="814" h="295">
                <a:moveTo>
                  <a:pt x="813" y="294"/>
                </a:moveTo>
                <a:lnTo>
                  <a:pt x="813" y="0"/>
                </a:lnTo>
                <a:lnTo>
                  <a:pt x="0" y="0"/>
                </a:lnTo>
                <a:lnTo>
                  <a:pt x="0" y="294"/>
                </a:lnTo>
                <a:lnTo>
                  <a:pt x="813" y="294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8" name="Rectangle 33">
            <a:extLst>
              <a:ext uri="{FF2B5EF4-FFF2-40B4-BE49-F238E27FC236}">
                <a16:creationId xmlns:a16="http://schemas.microsoft.com/office/drawing/2014/main" id="{38A42AAE-373C-5838-9748-9C7AE1AD6526}"/>
              </a:ext>
            </a:extLst>
          </p:cNvPr>
          <p:cNvSpPr>
            <a:spLocks noGrp="1"/>
          </p:cNvSpPr>
          <p:nvPr/>
        </p:nvSpPr>
        <p:spPr>
          <a:xfrm>
            <a:off x="2182813" y="2341946"/>
            <a:ext cx="1252537" cy="333374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69" name="Rectangle 34">
            <a:extLst>
              <a:ext uri="{FF2B5EF4-FFF2-40B4-BE49-F238E27FC236}">
                <a16:creationId xmlns:a16="http://schemas.microsoft.com/office/drawing/2014/main" id="{52327384-756E-5F4B-0396-32B62E35EB03}"/>
              </a:ext>
            </a:extLst>
          </p:cNvPr>
          <p:cNvSpPr>
            <a:spLocks noGrp="1"/>
          </p:cNvSpPr>
          <p:nvPr/>
        </p:nvSpPr>
        <p:spPr>
          <a:xfrm>
            <a:off x="5680135" y="2357821"/>
            <a:ext cx="14224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70" name="Line 35">
            <a:extLst>
              <a:ext uri="{FF2B5EF4-FFF2-40B4-BE49-F238E27FC236}">
                <a16:creationId xmlns:a16="http://schemas.microsoft.com/office/drawing/2014/main" id="{E400365E-CCB3-25D3-6088-0B21B8E37733}"/>
              </a:ext>
            </a:extLst>
          </p:cNvPr>
          <p:cNvSpPr>
            <a:spLocks noGrp="1"/>
          </p:cNvSpPr>
          <p:nvPr/>
        </p:nvSpPr>
        <p:spPr>
          <a:xfrm flipH="1">
            <a:off x="3456665" y="2508250"/>
            <a:ext cx="546100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1" name="Line 36">
            <a:extLst>
              <a:ext uri="{FF2B5EF4-FFF2-40B4-BE49-F238E27FC236}">
                <a16:creationId xmlns:a16="http://schemas.microsoft.com/office/drawing/2014/main" id="{A741B3EA-E172-785D-34C8-4318CC7CFE2E}"/>
              </a:ext>
            </a:extLst>
          </p:cNvPr>
          <p:cNvSpPr>
            <a:spLocks noGrp="1"/>
          </p:cNvSpPr>
          <p:nvPr/>
        </p:nvSpPr>
        <p:spPr>
          <a:xfrm>
            <a:off x="5221965" y="2526006"/>
            <a:ext cx="520700" cy="0"/>
          </a:xfrm>
          <a:prstGeom prst="line">
            <a:avLst/>
          </a:prstGeom>
          <a:noFill/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2" name="Line 37">
            <a:extLst>
              <a:ext uri="{FF2B5EF4-FFF2-40B4-BE49-F238E27FC236}">
                <a16:creationId xmlns:a16="http://schemas.microsoft.com/office/drawing/2014/main" id="{202A1A17-7DC0-EAF5-ACC1-4387A72A75BF}"/>
              </a:ext>
            </a:extLst>
          </p:cNvPr>
          <p:cNvSpPr>
            <a:spLocks noGrp="1"/>
          </p:cNvSpPr>
          <p:nvPr/>
        </p:nvSpPr>
        <p:spPr>
          <a:xfrm flipH="1">
            <a:off x="3170487" y="1955242"/>
            <a:ext cx="241300" cy="292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3" name="Line 38">
            <a:extLst>
              <a:ext uri="{FF2B5EF4-FFF2-40B4-BE49-F238E27FC236}">
                <a16:creationId xmlns:a16="http://schemas.microsoft.com/office/drawing/2014/main" id="{5C4E07FD-B617-ED63-188D-2A790B94FAA2}"/>
              </a:ext>
            </a:extLst>
          </p:cNvPr>
          <p:cNvSpPr>
            <a:spLocks noGrp="1"/>
          </p:cNvSpPr>
          <p:nvPr/>
        </p:nvSpPr>
        <p:spPr>
          <a:xfrm>
            <a:off x="2735262" y="1551370"/>
            <a:ext cx="6965" cy="720725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4" name="Line 39">
            <a:extLst>
              <a:ext uri="{FF2B5EF4-FFF2-40B4-BE49-F238E27FC236}">
                <a16:creationId xmlns:a16="http://schemas.microsoft.com/office/drawing/2014/main" id="{2604F516-C69D-3CB6-279C-E510A009FD13}"/>
              </a:ext>
            </a:extLst>
          </p:cNvPr>
          <p:cNvSpPr>
            <a:spLocks noGrp="1"/>
          </p:cNvSpPr>
          <p:nvPr/>
        </p:nvSpPr>
        <p:spPr>
          <a:xfrm>
            <a:off x="2208212" y="1932370"/>
            <a:ext cx="224705" cy="314971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5" name="Line 40">
            <a:extLst>
              <a:ext uri="{FF2B5EF4-FFF2-40B4-BE49-F238E27FC236}">
                <a16:creationId xmlns:a16="http://schemas.microsoft.com/office/drawing/2014/main" id="{6F904785-A673-044A-C144-7DAF7377BDF0}"/>
              </a:ext>
            </a:extLst>
          </p:cNvPr>
          <p:cNvSpPr>
            <a:spLocks noGrp="1"/>
          </p:cNvSpPr>
          <p:nvPr/>
        </p:nvSpPr>
        <p:spPr>
          <a:xfrm>
            <a:off x="4606015" y="1371600"/>
            <a:ext cx="0" cy="673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6" name="Line 41">
            <a:extLst>
              <a:ext uri="{FF2B5EF4-FFF2-40B4-BE49-F238E27FC236}">
                <a16:creationId xmlns:a16="http://schemas.microsoft.com/office/drawing/2014/main" id="{0B50054E-0D86-669E-02EA-40EFDA737AF2}"/>
              </a:ext>
            </a:extLst>
          </p:cNvPr>
          <p:cNvSpPr>
            <a:spLocks noGrp="1"/>
          </p:cNvSpPr>
          <p:nvPr/>
        </p:nvSpPr>
        <p:spPr>
          <a:xfrm>
            <a:off x="5818248" y="1932371"/>
            <a:ext cx="215900" cy="3683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7" name="Line 42">
            <a:extLst>
              <a:ext uri="{FF2B5EF4-FFF2-40B4-BE49-F238E27FC236}">
                <a16:creationId xmlns:a16="http://schemas.microsoft.com/office/drawing/2014/main" id="{0E458B75-D42D-FD90-0CA4-C6A59EB6830D}"/>
              </a:ext>
            </a:extLst>
          </p:cNvPr>
          <p:cNvSpPr>
            <a:spLocks noGrp="1"/>
          </p:cNvSpPr>
          <p:nvPr/>
        </p:nvSpPr>
        <p:spPr>
          <a:xfrm>
            <a:off x="6345298" y="1627571"/>
            <a:ext cx="0" cy="6731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78" name="Line 43">
            <a:extLst>
              <a:ext uri="{FF2B5EF4-FFF2-40B4-BE49-F238E27FC236}">
                <a16:creationId xmlns:a16="http://schemas.microsoft.com/office/drawing/2014/main" id="{DD0A8275-6E1D-F1FC-A839-834495FE5340}"/>
              </a:ext>
            </a:extLst>
          </p:cNvPr>
          <p:cNvSpPr>
            <a:spLocks noGrp="1"/>
          </p:cNvSpPr>
          <p:nvPr/>
        </p:nvSpPr>
        <p:spPr>
          <a:xfrm flipH="1">
            <a:off x="6719948" y="1932371"/>
            <a:ext cx="165100" cy="3683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B5DB8C-E408-9E52-C49D-062AAC0F18F4}"/>
              </a:ext>
            </a:extLst>
          </p:cNvPr>
          <p:cNvSpPr>
            <a:spLocks noGrp="1"/>
          </p:cNvSpPr>
          <p:nvPr/>
        </p:nvSpPr>
        <p:spPr>
          <a:xfrm>
            <a:off x="679501" y="5884823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FB4982C-1479-C0EF-2EC1-B22C4DCAB561}"/>
              </a:ext>
            </a:extLst>
          </p:cNvPr>
          <p:cNvSpPr>
            <a:spLocks noGrp="1"/>
          </p:cNvSpPr>
          <p:nvPr/>
        </p:nvSpPr>
        <p:spPr>
          <a:xfrm>
            <a:off x="3117901" y="5884823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endParaRPr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FB818D-990E-5BF9-C389-A32C381BD4B6}"/>
              </a:ext>
            </a:extLst>
          </p:cNvPr>
          <p:cNvSpPr>
            <a:spLocks noGrp="1"/>
          </p:cNvSpPr>
          <p:nvPr/>
        </p:nvSpPr>
        <p:spPr>
          <a:xfrm>
            <a:off x="2590800" y="3138209"/>
            <a:ext cx="4958090" cy="2582758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none" lIns="90488" tIns="44450" rIns="90488" bIns="44450">
            <a:spAutoFit/>
          </a:bodyPr>
          <a:lstStyle/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 Dept_Mgr(</a:t>
            </a: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chemeClr val="folHlink"/>
                </a:solidFill>
                <a:latin typeface="Lucida Console"/>
                <a:ea typeface="Lucida Console"/>
                <a:cs typeface="Lucida Console"/>
              </a:rPr>
              <a:t>ssn    CHAR(11),</a:t>
            </a:r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</a:t>
            </a: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chemeClr val="accent1"/>
                </a:solidFill>
                <a:latin typeface="Lucida Console"/>
                <a:ea typeface="Lucida Console"/>
                <a:cs typeface="Lucida Console"/>
              </a:rPr>
              <a:t>did    INTEGER,</a:t>
            </a:r>
          </a:p>
          <a:p>
            <a:r>
              <a:rPr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chemeClr val="folHlink"/>
                </a:solidFill>
                <a:latin typeface="Lucida Console"/>
                <a:ea typeface="Lucida Console"/>
                <a:cs typeface="Lucida Console"/>
              </a:rPr>
              <a:t>since  DATE,</a:t>
            </a: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chemeClr val="accent1"/>
                </a:solidFill>
                <a:latin typeface="Lucida Console"/>
                <a:ea typeface="Lucida Console"/>
                <a:cs typeface="Lucida Console"/>
              </a:rPr>
              <a:t>dname  CHAR(20),</a:t>
            </a:r>
          </a:p>
          <a:p>
            <a:r>
              <a:rPr>
                <a:solidFill>
                  <a:schemeClr val="accent1"/>
                </a:solidFill>
                <a:latin typeface="Lucida Console"/>
                <a:ea typeface="Lucida Console"/>
                <a:cs typeface="Lucida Console"/>
              </a:rPr>
              <a:t> 	budget REAL,</a:t>
            </a:r>
          </a:p>
          <a:p>
            <a:r>
              <a:rPr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PRIMARY KEY (did),</a:t>
            </a:r>
          </a:p>
          <a:p>
            <a:r>
              <a:rPr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	</a:t>
            </a:r>
            <a:r>
              <a:rPr>
                <a:solidFill>
                  <a:schemeClr val="folHlink"/>
                </a:solidFill>
                <a:latin typeface="Lucida Console"/>
                <a:ea typeface="Lucida Console"/>
                <a:cs typeface="Lucida Console"/>
              </a:rPr>
              <a:t>FOREIGN KEY (ssn) </a:t>
            </a:r>
          </a:p>
          <a:p>
            <a:r>
              <a:rPr>
                <a:solidFill>
                  <a:schemeClr val="folHlink"/>
                </a:solidFill>
                <a:latin typeface="Lucida Console"/>
                <a:ea typeface="Lucida Console"/>
                <a:cs typeface="Lucida Console"/>
              </a:rPr>
              <a:t>  		REFERENCES Employees)</a:t>
            </a:r>
          </a:p>
        </p:txBody>
      </p:sp>
      <p:sp>
        <p:nvSpPr>
          <p:cNvPr id="7" name="Rounded Rectangle 80">
            <a:extLst>
              <a:ext uri="{FF2B5EF4-FFF2-40B4-BE49-F238E27FC236}">
                <a16:creationId xmlns:a16="http://schemas.microsoft.com/office/drawing/2014/main" id="{0A3AAE1B-E995-B04F-FB26-D565EE80E46E}"/>
              </a:ext>
            </a:extLst>
          </p:cNvPr>
          <p:cNvSpPr>
            <a:spLocks noGrp="1"/>
          </p:cNvSpPr>
          <p:nvPr/>
        </p:nvSpPr>
        <p:spPr>
          <a:xfrm>
            <a:off x="663601" y="5791200"/>
            <a:ext cx="7816799" cy="707579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2200" u="sng">
                <a:latin typeface="Arial Unicode MS"/>
                <a:ea typeface="Arial Unicode MS"/>
                <a:cs typeface="Arial Unicode MS"/>
              </a:rPr>
              <a:t>方法 2：</a:t>
            </a:r>
            <a:r>
              <a:rPr sz="2200">
                <a:latin typeface="Arial Unicode MS"/>
                <a:ea typeface="Arial Unicode MS"/>
                <a:cs typeface="Arial Unicode MS"/>
              </a:rPr>
              <a:t> 只为 Departments 实体集建表</a:t>
            </a:r>
          </a:p>
          <a:p>
            <a:pPr algn="ctr">
              <a:buNone/>
            </a:pPr>
            <a:r>
              <a:rPr sz="2200">
                <a:latin typeface="Arial Unicode MS"/>
                <a:ea typeface="Arial Unicode MS"/>
                <a:cs typeface="Arial Unicode MS"/>
              </a:rPr>
              <a:t> 也就是利用键约束</a:t>
            </a:r>
          </a:p>
        </p:txBody>
      </p:sp>
      <p:cxnSp>
        <p:nvCxnSpPr>
          <p:cNvPr id="150" name="Straight Arrow Connector 7"/>
          <p:cNvCxnSpPr/>
          <p:nvPr/>
        </p:nvCxnSpPr>
        <p:spPr>
          <a:xfrm flipH="1">
            <a:off x="5188291" y="2843728"/>
            <a:ext cx="1065213" cy="21828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3">
            <a:extLst>
              <a:ext uri="{FF2B5EF4-FFF2-40B4-BE49-F238E27FC236}">
                <a16:creationId xmlns:a16="http://schemas.microsoft.com/office/drawing/2014/main" id="{BD3B8DDC-3970-EE79-4265-5F1AC4D8C248}"/>
              </a:ext>
            </a:extLst>
          </p:cNvPr>
          <p:cNvSpPr>
            <a:spLocks noGrp="1"/>
          </p:cNvSpPr>
          <p:nvPr/>
        </p:nvSpPr>
        <p:spPr>
          <a:xfrm>
            <a:off x="3229390" y="3465095"/>
            <a:ext cx="2605378" cy="304800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58B234-EF50-DB71-D377-8E9F9EA278EC}"/>
              </a:ext>
            </a:extLst>
          </p:cNvPr>
          <p:cNvSpPr>
            <a:spLocks noGrp="1"/>
          </p:cNvSpPr>
          <p:nvPr/>
        </p:nvSpPr>
        <p:spPr>
          <a:xfrm>
            <a:off x="5913499" y="3366809"/>
            <a:ext cx="17065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ssn 可以取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 sz="2000" i="1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 NULL 吗？</a:t>
            </a:r>
          </a:p>
        </p:txBody>
      </p:sp>
    </p:spTree>
    <p:extLst>
      <p:ext uri="{BB962C8B-B14F-4D97-AF65-F5344CB8AC3E}">
        <p14:creationId xmlns:p14="http://schemas.microsoft.com/office/powerpoint/2010/main" val="27056117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A0A6C-34D6-9AD4-7582-7E4C67C7D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单表方法与双表方法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5AA88-AD86-A2F2-11C0-2F3272DE4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/>
              <a:buChar char="§"/>
            </a:pPr>
            <a:r>
              <a:rPr sz="2800" dirty="0" err="1">
                <a:latin typeface="Arial Unicode MS"/>
                <a:ea typeface="Arial Unicode MS"/>
                <a:cs typeface="Arial Unicode MS"/>
              </a:rPr>
              <a:t>单表方法</a:t>
            </a:r>
            <a:r>
              <a:rPr sz="2800" dirty="0">
                <a:latin typeface="Arial Unicode MS"/>
                <a:ea typeface="Arial Unicode MS"/>
                <a:cs typeface="Arial Unicode MS"/>
              </a:rPr>
              <a:t>：</a:t>
            </a:r>
          </a:p>
          <a:p>
            <a:pPr marL="457200" lvl="1" indent="0">
              <a:buNone/>
            </a:pPr>
            <a:r>
              <a:rPr dirty="0">
                <a:latin typeface="Arial Unicode MS"/>
                <a:ea typeface="Arial Unicode MS"/>
                <a:cs typeface="Arial Unicode MS"/>
              </a:rPr>
              <a:t>(</a:t>
            </a:r>
            <a:r>
              <a:rPr b="1" dirty="0"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+</a:t>
            </a:r>
            <a:r>
              <a:rPr dirty="0">
                <a:latin typeface="Arial Unicode MS"/>
                <a:ea typeface="Arial Unicode MS"/>
                <a:cs typeface="Arial Unicode MS"/>
              </a:rPr>
              <a:t>) </a:t>
            </a:r>
            <a:r>
              <a:rPr dirty="0" err="1">
                <a:latin typeface="Arial Unicode MS"/>
                <a:ea typeface="Arial Unicode MS"/>
                <a:cs typeface="Arial Unicode MS"/>
              </a:rPr>
              <a:t>无需为相关联系集单独建表，例如</a:t>
            </a:r>
            <a:r>
              <a:rPr dirty="0">
                <a:latin typeface="Arial Unicode MS"/>
                <a:ea typeface="Arial Unicode MS"/>
                <a:cs typeface="Arial Unicode MS"/>
              </a:rPr>
              <a:t> Manages</a:t>
            </a:r>
          </a:p>
          <a:p>
            <a:pPr marL="457200" lvl="1" indent="0">
              <a:buNone/>
            </a:pPr>
            <a:r>
              <a:rPr dirty="0">
                <a:latin typeface="Arial Unicode MS"/>
                <a:ea typeface="Arial Unicode MS"/>
                <a:cs typeface="Arial Unicode MS"/>
              </a:rPr>
              <a:t>(</a:t>
            </a:r>
            <a:r>
              <a:rPr b="1" dirty="0">
                <a:solidFill>
                  <a:srgbClr val="0070C0"/>
                </a:solidFill>
                <a:latin typeface="Arial Unicode MS"/>
                <a:ea typeface="Arial Unicode MS"/>
                <a:cs typeface="Arial Unicode MS"/>
              </a:rPr>
              <a:t>+</a:t>
            </a:r>
            <a:r>
              <a:rPr dirty="0">
                <a:latin typeface="Arial Unicode MS"/>
                <a:ea typeface="Arial Unicode MS"/>
                <a:cs typeface="Arial Unicode MS"/>
              </a:rPr>
              <a:t>) </a:t>
            </a:r>
            <a:r>
              <a:rPr dirty="0" err="1">
                <a:latin typeface="Arial Unicode MS"/>
                <a:ea typeface="Arial Unicode MS"/>
                <a:cs typeface="Arial Unicode MS"/>
              </a:rPr>
              <a:t>查询时无需合并两个关系中的信息</a:t>
            </a:r>
            <a:endParaRPr dirty="0">
              <a:latin typeface="Arial Unicode MS"/>
              <a:ea typeface="Arial Unicode MS"/>
              <a:cs typeface="Arial Unicode MS"/>
            </a:endParaRPr>
          </a:p>
          <a:p>
            <a:pPr marL="457200" lvl="1" indent="0">
              <a:buNone/>
            </a:pPr>
            <a:r>
              <a:rPr dirty="0">
                <a:latin typeface="Arial Unicode MS"/>
                <a:ea typeface="Arial Unicode MS"/>
                <a:cs typeface="Arial Unicode MS"/>
              </a:rPr>
              <a:t>(</a:t>
            </a:r>
            <a:r>
              <a:rPr b="1" dirty="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-</a:t>
            </a:r>
            <a:r>
              <a:rPr dirty="0">
                <a:latin typeface="Arial Unicode MS"/>
                <a:ea typeface="Arial Unicode MS"/>
                <a:cs typeface="Arial Unicode MS"/>
              </a:rPr>
              <a:t>) </a:t>
            </a:r>
            <a:r>
              <a:rPr dirty="0" err="1">
                <a:latin typeface="Arial Unicode MS"/>
                <a:ea typeface="Arial Unicode MS"/>
                <a:cs typeface="Arial Unicode MS"/>
              </a:rPr>
              <a:t>可能浪费存储空间</a:t>
            </a:r>
            <a:r>
              <a:rPr dirty="0">
                <a:latin typeface="Arial Unicode MS"/>
                <a:ea typeface="Arial Unicode MS"/>
                <a:cs typeface="Arial Unicode MS"/>
              </a:rPr>
              <a:t>。</a:t>
            </a:r>
          </a:p>
          <a:p>
            <a:pPr lvl="2"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如果多个部门没有经理，会怎样</a:t>
            </a:r>
            <a:r>
              <a:rPr dirty="0">
                <a:latin typeface="Arial Unicode MS"/>
                <a:ea typeface="Arial Unicode MS"/>
                <a:cs typeface="Arial Unicode MS"/>
              </a:rPr>
              <a:t>？</a:t>
            </a:r>
          </a:p>
          <a:p>
            <a:pPr lvl="2">
              <a:buNone/>
            </a:pPr>
            <a:endParaRPr dirty="0"/>
          </a:p>
          <a:p>
            <a:pPr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双表方法</a:t>
            </a:r>
            <a:r>
              <a:rPr dirty="0">
                <a:latin typeface="Arial Unicode MS"/>
                <a:ea typeface="Arial Unicode MS"/>
                <a:cs typeface="Arial Unicode MS"/>
              </a:rPr>
              <a:t>：</a:t>
            </a:r>
          </a:p>
          <a:p>
            <a:pPr lvl="1">
              <a:buFont typeface="Wingdings"/>
              <a:buChar char="§"/>
            </a:pPr>
            <a:r>
              <a:rPr dirty="0" err="1">
                <a:latin typeface="Arial Unicode MS"/>
                <a:ea typeface="Arial Unicode MS"/>
                <a:cs typeface="Arial Unicode MS"/>
              </a:rPr>
              <a:t>其特点与单表方法相反</a:t>
            </a:r>
            <a:r>
              <a:rPr dirty="0">
                <a:latin typeface="Arial Unicode MS"/>
                <a:ea typeface="Arial Unicode MS"/>
                <a:cs typeface="Arial Unicode MS"/>
              </a:rPr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8B112-33B1-AE08-55D3-2D1305A655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64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21014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FCF4D1B-1B81-4DDF-A1B8-21773042A564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一对一联系中的外键位置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F5BB67C-5432-4BDB-8C49-33D17947C63D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F666EA-FE71-449E-89C5-C8159E70FBE6}"/>
              </a:ext>
            </a:extLst>
          </p:cNvPr>
          <p:cNvSpPr>
            <a:spLocks noGrp="1"/>
          </p:cNvSpPr>
          <p:nvPr/>
        </p:nvSpPr>
        <p:spPr>
          <a:xfrm>
            <a:off x="742950" y="1066800"/>
            <a:ext cx="76581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800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示例：Person 与 Passport</a:t>
            </a:r>
          </a:p>
        </p:txBody>
      </p:sp>
      <p:sp>
        <p:nvSpPr>
          <p:cNvPr id="4" name="sql-code">
            <a:extLst>
              <a:ext uri="{FF2B5EF4-FFF2-40B4-BE49-F238E27FC236}">
                <a16:creationId xmlns:a16="http://schemas.microsoft.com/office/drawing/2014/main" id="{58EADA65-1309-477C-AA69-57195C299508}"/>
              </a:ext>
            </a:extLst>
          </p:cNvPr>
          <p:cNvSpPr>
            <a:spLocks noGrp="1"/>
          </p:cNvSpPr>
          <p:nvPr/>
        </p:nvSpPr>
        <p:spPr>
          <a:xfrm>
            <a:off x="1866900" y="1752600"/>
            <a:ext cx="5410200" cy="25717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Passport (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passport_no PRIMARY KEY,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person_id UNIQUE NOT NULL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          REFERENCES Person(person_id),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issue_date, expiry_date</a:t>
            </a:r>
          </a:p>
          <a:p>
            <a:pPr>
              <a:buNone/>
              <a:def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35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)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F3A8A5C-FFBA-402C-979A-DCB583436348}"/>
              </a:ext>
            </a:extLst>
          </p:cNvPr>
          <p:cNvSpPr>
            <a:spLocks noGrp="1"/>
          </p:cNvSpPr>
          <p:nvPr/>
        </p:nvSpPr>
        <p:spPr>
          <a:xfrm>
            <a:off x="819150" y="4591050"/>
            <a:ext cx="7505700" cy="1428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UNIQUE 保证每个人最多对应一条护照记录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NOT NULL 表示 Passport 一侧为全参与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当联系本身有属性，或两侧都是可选参与时，可单独建立联系表</a:t>
            </a:r>
          </a:p>
        </p:txBody>
      </p:sp>
    </p:spTree>
    <p:extLst>
      <p:ext uri="{BB962C8B-B14F-4D97-AF65-F5344CB8AC3E}">
        <p14:creationId xmlns:p14="http://schemas.microsoft.com/office/powerpoint/2010/main" val="21010650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5B03804F-A1BE-42E8-B4DE-3E83DDBDBE42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递归联系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8485A80-7268-4952-9826-6AFB72CF8D6E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66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EC39A3E9-1027-4226-9284-16FB2CA7C5E2}"/>
              </a:ext>
            </a:extLst>
          </p:cNvPr>
          <p:cNvSpPr>
            <a:spLocks noGrp="1"/>
          </p:cNvSpPr>
          <p:nvPr/>
        </p:nvSpPr>
        <p:spPr>
          <a:xfrm>
            <a:off x="4572000" y="1295400"/>
            <a:ext cx="0" cy="3257550"/>
          </a:xfrm>
          <a:prstGeom prst="line">
            <a:avLst/>
          </a:prstGeom>
          <a:noFill/>
          <a:ln w="1143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1EF2C3B-0C23-4C77-8E53-50C3BA2530E2}"/>
              </a:ext>
            </a:extLst>
          </p:cNvPr>
          <p:cNvSpPr>
            <a:spLocks noGrp="1"/>
          </p:cNvSpPr>
          <p:nvPr/>
        </p:nvSpPr>
        <p:spPr>
          <a:xfrm>
            <a:off x="552450" y="12573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4F81B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4F81BD"/>
                </a:solidFill>
                <a:latin typeface="Arial Unicode MS"/>
                <a:ea typeface="Arial Unicode MS"/>
                <a:cs typeface="Arial Unicode MS"/>
              </a:rPr>
              <a:t>一对多递归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1CDCDC-04BA-4A73-921D-30B9A8C8A646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C0504D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0504D"/>
                </a:solidFill>
                <a:latin typeface="Arial Unicode MS"/>
                <a:ea typeface="Arial Unicode MS"/>
                <a:cs typeface="Arial Unicode MS"/>
              </a:rPr>
              <a:t>多对多递归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00DECC-B7C5-48F5-A309-4BE3F7339127}"/>
              </a:ext>
            </a:extLst>
          </p:cNvPr>
          <p:cNvSpPr>
            <a:spLocks noGrp="1"/>
          </p:cNvSpPr>
          <p:nvPr/>
        </p:nvSpPr>
        <p:spPr>
          <a:xfrm>
            <a:off x="590550" y="1752600"/>
            <a:ext cx="3638550" cy="2819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Employee 管理 Employee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manager_id 引用 Employee(emp_id)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最高层经理的 manager_id 可以为 NULL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034E5B-CD0A-4383-B5E0-18989526EEB1}"/>
              </a:ext>
            </a:extLst>
          </p:cNvPr>
          <p:cNvSpPr>
            <a:spLocks noGrp="1"/>
          </p:cNvSpPr>
          <p:nvPr/>
        </p:nvSpPr>
        <p:spPr>
          <a:xfrm>
            <a:off x="4895850" y="1752600"/>
            <a:ext cx="3638550" cy="2819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Course 的先修课也是 Course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使用 Prerequisite(course_id, prereq_id)</a:t>
            </a:r>
          </a:p>
          <a:p>
            <a:pPr marL="266700" indent="-127000">
              <a:spcAft>
                <a:spcPts val="1000"/>
              </a:spcAft>
              <a:buChar char="•"/>
              <a:defRPr sz="15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两个外键都引用同一个父关系</a:t>
            </a:r>
          </a:p>
        </p:txBody>
      </p:sp>
      <p:sp>
        <p:nvSpPr>
          <p:cNvPr id="8" name="sql-code">
            <a:extLst>
              <a:ext uri="{FF2B5EF4-FFF2-40B4-BE49-F238E27FC236}">
                <a16:creationId xmlns:a16="http://schemas.microsoft.com/office/drawing/2014/main" id="{F774A3F4-4505-43AE-9C3D-304F934A16D0}"/>
              </a:ext>
            </a:extLst>
          </p:cNvPr>
          <p:cNvSpPr>
            <a:spLocks noGrp="1"/>
          </p:cNvSpPr>
          <p:nvPr/>
        </p:nvSpPr>
        <p:spPr>
          <a:xfrm>
            <a:off x="2000250" y="5029200"/>
            <a:ext cx="5143500" cy="8953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Prerequisite (course_id, prereq_id,</a:t>
            </a:r>
          </a:p>
          <a:p>
            <a:pPr>
              <a:buNone/>
              <a:def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75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  PRIMARY KEY (course_id, prereq_id))</a:t>
            </a:r>
          </a:p>
        </p:txBody>
      </p:sp>
    </p:spTree>
    <p:extLst>
      <p:ext uri="{BB962C8B-B14F-4D97-AF65-F5344CB8AC3E}">
        <p14:creationId xmlns:p14="http://schemas.microsoft.com/office/powerpoint/2010/main" val="4927290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2CF1AA2E-02E7-4759-B7E7-A749118199AD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三元联系与 ISA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6F1C806C-D203-445A-8502-A0BD98CD3009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67</a:t>
            </a:r>
          </a:p>
        </p:txBody>
      </p:sp>
      <p:sp>
        <p:nvSpPr>
          <p:cNvPr id="3" name="直线连接符 2">
            <a:extLst>
              <a:ext uri="{FF2B5EF4-FFF2-40B4-BE49-F238E27FC236}">
                <a16:creationId xmlns:a16="http://schemas.microsoft.com/office/drawing/2014/main" id="{CEF4F7A0-BDC6-4A74-A5B4-E35987C22889}"/>
              </a:ext>
            </a:extLst>
          </p:cNvPr>
          <p:cNvSpPr>
            <a:spLocks noGrp="1"/>
          </p:cNvSpPr>
          <p:nvPr/>
        </p:nvSpPr>
        <p:spPr>
          <a:xfrm>
            <a:off x="4572000" y="1238250"/>
            <a:ext cx="0" cy="3619500"/>
          </a:xfrm>
          <a:prstGeom prst="line">
            <a:avLst/>
          </a:prstGeom>
          <a:noFill/>
          <a:ln w="1143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2869EA-6E07-40BF-9E8F-9E520838CA1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三元联系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042917-3002-4E21-8EF0-59D4CD49243C}"/>
              </a:ext>
            </a:extLst>
          </p:cNvPr>
          <p:cNvSpPr>
            <a:spLocks noGrp="1"/>
          </p:cNvSpPr>
          <p:nvPr/>
        </p:nvSpPr>
        <p:spPr>
          <a:xfrm>
            <a:off x="4857750" y="1200150"/>
            <a:ext cx="37338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800" b="1">
                <a:solidFill>
                  <a:srgbClr val="9BBB5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9BBB59"/>
                </a:solidFill>
                <a:latin typeface="Arial Unicode MS"/>
                <a:ea typeface="Arial Unicode MS"/>
                <a:cs typeface="Arial Unicode MS"/>
              </a:rPr>
              <a:t>ISA 层次结构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27E9EA1-0DC9-4DCA-81EA-08681EA8ABCE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3638550" cy="31813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Supply 连接 Supplier、Part 与 Project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创建 Supply，包含三个外键以及 quantity 等联系属性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根据明确的业务约束确定键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AA9ED8-CB33-4A93-91CC-1E29B8E11A74}"/>
              </a:ext>
            </a:extLst>
          </p:cNvPr>
          <p:cNvSpPr>
            <a:spLocks noGrp="1"/>
          </p:cNvSpPr>
          <p:nvPr/>
        </p:nvSpPr>
        <p:spPr>
          <a:xfrm>
            <a:off x="4895850" y="1695450"/>
            <a:ext cx="3638550" cy="31813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父类表与子类型表能够清晰保留共享属性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对于互斥且结构简单的子类型，可以使用带 type 列的单表</a:t>
            </a:r>
          </a:p>
          <a:p>
            <a:pPr marL="266700" indent="-127000">
              <a:spcAft>
                <a:spcPts val="1000"/>
              </a:spcAft>
              <a:buChar char="•"/>
              <a:defRPr sz="14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选择能够保留互斥、重叠与完备性规则的策略</a:t>
            </a:r>
          </a:p>
        </p:txBody>
      </p:sp>
      <p:sp>
        <p:nvSpPr>
          <p:cNvPr id="8" name="sql-code">
            <a:extLst>
              <a:ext uri="{FF2B5EF4-FFF2-40B4-BE49-F238E27FC236}">
                <a16:creationId xmlns:a16="http://schemas.microsoft.com/office/drawing/2014/main" id="{57E7B494-CB61-49C4-B768-054ADD88B61A}"/>
              </a:ext>
            </a:extLst>
          </p:cNvPr>
          <p:cNvSpPr>
            <a:spLocks noGrp="1"/>
          </p:cNvSpPr>
          <p:nvPr/>
        </p:nvSpPr>
        <p:spPr>
          <a:xfrm>
            <a:off x="1047750" y="5219700"/>
            <a:ext cx="7048500" cy="857250"/>
          </a:xfrm>
          <a:prstGeom prst="rect">
            <a:avLst/>
          </a:prstGeom>
          <a:solidFill>
            <a:srgbClr val="EAF2F8"/>
          </a:solidFill>
          <a:ln w="13335">
            <a:solidFill>
              <a:srgbClr val="4F81BD"/>
            </a:solidFill>
            <a:prstDash val="solid"/>
          </a:ln>
        </p:spPr>
        <p:txBody>
          <a:bodyPr lIns="114300" tIns="95250" rIns="114300" bIns="95250" anchor="ctr">
            <a:normAutofit/>
          </a:bodyPr>
          <a:lstStyle/>
          <a:p>
            <a:pPr>
              <a:buNone/>
              <a:defRPr sz="120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0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Supply(supplier_id, part_id, project_id, quantity)</a:t>
            </a:r>
          </a:p>
          <a:p>
            <a:pPr>
              <a:buNone/>
              <a:defRPr sz="120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defRPr>
            </a:pPr>
            <a:r>
              <a:rPr sz="1200">
                <a:solidFill>
                  <a:srgbClr val="17365D"/>
                </a:solidFill>
                <a:latin typeface="Lucida Console"/>
                <a:ea typeface="Lucida Console"/>
                <a:cs typeface="Lucida Console"/>
              </a:rPr>
              <a:t>Student(person_id PK/FK, programme)</a:t>
            </a:r>
          </a:p>
        </p:txBody>
      </p:sp>
    </p:spTree>
    <p:extLst>
      <p:ext uri="{BB962C8B-B14F-4D97-AF65-F5344CB8AC3E}">
        <p14:creationId xmlns:p14="http://schemas.microsoft.com/office/powerpoint/2010/main" val="24828873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4D35-B960-373C-D809-7CB3DBDA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转换带参与约束的联系集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01A8-37AD-2372-DCBC-C20D6306E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下列 ER 图对 Departments 和 Managers 有何约束含义？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4F9D0-191E-FE24-2CC0-C21412E900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68</a:t>
            </a:fld>
            <a:endParaRPr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4DAEE6B0-4F78-88F4-50B7-E01BE1AF8712}"/>
              </a:ext>
            </a:extLst>
          </p:cNvPr>
          <p:cNvSpPr>
            <a:spLocks noGrp="1"/>
          </p:cNvSpPr>
          <p:nvPr/>
        </p:nvSpPr>
        <p:spPr>
          <a:xfrm>
            <a:off x="5130006" y="2764547"/>
            <a:ext cx="1057275" cy="371475"/>
          </a:xfrm>
          <a:custGeom>
            <a:avLst/>
            <a:gdLst>
              <a:gd name="T0" fmla="*/ 662 w 666"/>
              <a:gd name="T1" fmla="*/ 106 h 234"/>
              <a:gd name="T2" fmla="*/ 652 w 666"/>
              <a:gd name="T3" fmla="*/ 86 h 234"/>
              <a:gd name="T4" fmla="*/ 633 w 666"/>
              <a:gd name="T5" fmla="*/ 68 h 234"/>
              <a:gd name="T6" fmla="*/ 604 w 666"/>
              <a:gd name="T7" fmla="*/ 50 h 234"/>
              <a:gd name="T8" fmla="*/ 566 w 666"/>
              <a:gd name="T9" fmla="*/ 34 h 234"/>
              <a:gd name="T10" fmla="*/ 522 w 666"/>
              <a:gd name="T11" fmla="*/ 21 h 234"/>
              <a:gd name="T12" fmla="*/ 472 w 666"/>
              <a:gd name="T13" fmla="*/ 11 h 234"/>
              <a:gd name="T14" fmla="*/ 419 w 666"/>
              <a:gd name="T15" fmla="*/ 4 h 234"/>
              <a:gd name="T16" fmla="*/ 360 w 666"/>
              <a:gd name="T17" fmla="*/ 1 h 234"/>
              <a:gd name="T18" fmla="*/ 304 w 666"/>
              <a:gd name="T19" fmla="*/ 1 h 234"/>
              <a:gd name="T20" fmla="*/ 247 w 666"/>
              <a:gd name="T21" fmla="*/ 4 h 234"/>
              <a:gd name="T22" fmla="*/ 191 w 666"/>
              <a:gd name="T23" fmla="*/ 11 h 234"/>
              <a:gd name="T24" fmla="*/ 141 w 666"/>
              <a:gd name="T25" fmla="*/ 21 h 234"/>
              <a:gd name="T26" fmla="*/ 98 w 666"/>
              <a:gd name="T27" fmla="*/ 34 h 234"/>
              <a:gd name="T28" fmla="*/ 60 w 666"/>
              <a:gd name="T29" fmla="*/ 50 h 234"/>
              <a:gd name="T30" fmla="*/ 31 w 666"/>
              <a:gd name="T31" fmla="*/ 68 h 234"/>
              <a:gd name="T32" fmla="*/ 10 w 666"/>
              <a:gd name="T33" fmla="*/ 86 h 234"/>
              <a:gd name="T34" fmla="*/ 1 w 666"/>
              <a:gd name="T35" fmla="*/ 106 h 234"/>
              <a:gd name="T36" fmla="*/ 1 w 666"/>
              <a:gd name="T37" fmla="*/ 127 h 234"/>
              <a:gd name="T38" fmla="*/ 10 w 666"/>
              <a:gd name="T39" fmla="*/ 147 h 234"/>
              <a:gd name="T40" fmla="*/ 31 w 666"/>
              <a:gd name="T41" fmla="*/ 166 h 234"/>
              <a:gd name="T42" fmla="*/ 60 w 666"/>
              <a:gd name="T43" fmla="*/ 183 h 234"/>
              <a:gd name="T44" fmla="*/ 98 w 666"/>
              <a:gd name="T45" fmla="*/ 199 h 234"/>
              <a:gd name="T46" fmla="*/ 141 w 666"/>
              <a:gd name="T47" fmla="*/ 212 h 234"/>
              <a:gd name="T48" fmla="*/ 191 w 666"/>
              <a:gd name="T49" fmla="*/ 222 h 234"/>
              <a:gd name="T50" fmla="*/ 247 w 666"/>
              <a:gd name="T51" fmla="*/ 229 h 234"/>
              <a:gd name="T52" fmla="*/ 304 w 666"/>
              <a:gd name="T53" fmla="*/ 232 h 234"/>
              <a:gd name="T54" fmla="*/ 360 w 666"/>
              <a:gd name="T55" fmla="*/ 232 h 234"/>
              <a:gd name="T56" fmla="*/ 419 w 666"/>
              <a:gd name="T57" fmla="*/ 229 h 234"/>
              <a:gd name="T58" fmla="*/ 472 w 666"/>
              <a:gd name="T59" fmla="*/ 222 h 234"/>
              <a:gd name="T60" fmla="*/ 522 w 666"/>
              <a:gd name="T61" fmla="*/ 212 h 234"/>
              <a:gd name="T62" fmla="*/ 566 w 666"/>
              <a:gd name="T63" fmla="*/ 199 h 234"/>
              <a:gd name="T64" fmla="*/ 604 w 666"/>
              <a:gd name="T65" fmla="*/ 183 h 234"/>
              <a:gd name="T66" fmla="*/ 633 w 666"/>
              <a:gd name="T67" fmla="*/ 166 h 234"/>
              <a:gd name="T68" fmla="*/ 652 w 666"/>
              <a:gd name="T69" fmla="*/ 147 h 234"/>
              <a:gd name="T70" fmla="*/ 662 w 666"/>
              <a:gd name="T71" fmla="*/ 127 h 234"/>
            </a:gdLst>
            <a:ahLst/>
            <a:cxnLst/>
            <a:rect l="0" t="0" r="r" b="b"/>
            <a:pathLst>
              <a:path w="666" h="234">
                <a:moveTo>
                  <a:pt x="665" y="117"/>
                </a:moveTo>
                <a:lnTo>
                  <a:pt x="662" y="106"/>
                </a:lnTo>
                <a:lnTo>
                  <a:pt x="658" y="96"/>
                </a:lnTo>
                <a:lnTo>
                  <a:pt x="652" y="86"/>
                </a:lnTo>
                <a:lnTo>
                  <a:pt x="644" y="77"/>
                </a:lnTo>
                <a:lnTo>
                  <a:pt x="633" y="68"/>
                </a:lnTo>
                <a:lnTo>
                  <a:pt x="620" y="58"/>
                </a:lnTo>
                <a:lnTo>
                  <a:pt x="604" y="50"/>
                </a:lnTo>
                <a:lnTo>
                  <a:pt x="586" y="42"/>
                </a:lnTo>
                <a:lnTo>
                  <a:pt x="566" y="34"/>
                </a:lnTo>
                <a:lnTo>
                  <a:pt x="546" y="27"/>
                </a:lnTo>
                <a:lnTo>
                  <a:pt x="522" y="21"/>
                </a:lnTo>
                <a:lnTo>
                  <a:pt x="497" y="16"/>
                </a:lnTo>
                <a:lnTo>
                  <a:pt x="472" y="11"/>
                </a:lnTo>
                <a:lnTo>
                  <a:pt x="445" y="7"/>
                </a:lnTo>
                <a:lnTo>
                  <a:pt x="419" y="4"/>
                </a:lnTo>
                <a:lnTo>
                  <a:pt x="390" y="2"/>
                </a:lnTo>
                <a:lnTo>
                  <a:pt x="360" y="1"/>
                </a:lnTo>
                <a:lnTo>
                  <a:pt x="331" y="0"/>
                </a:lnTo>
                <a:lnTo>
                  <a:pt x="304" y="1"/>
                </a:lnTo>
                <a:lnTo>
                  <a:pt x="274" y="2"/>
                </a:lnTo>
                <a:lnTo>
                  <a:pt x="247" y="4"/>
                </a:lnTo>
                <a:lnTo>
                  <a:pt x="218" y="7"/>
                </a:lnTo>
                <a:lnTo>
                  <a:pt x="191" y="11"/>
                </a:lnTo>
                <a:lnTo>
                  <a:pt x="165" y="16"/>
                </a:lnTo>
                <a:lnTo>
                  <a:pt x="141" y="21"/>
                </a:lnTo>
                <a:lnTo>
                  <a:pt x="118" y="27"/>
                </a:lnTo>
                <a:lnTo>
                  <a:pt x="98" y="34"/>
                </a:lnTo>
                <a:lnTo>
                  <a:pt x="77" y="42"/>
                </a:lnTo>
                <a:lnTo>
                  <a:pt x="60" y="50"/>
                </a:lnTo>
                <a:lnTo>
                  <a:pt x="44" y="58"/>
                </a:lnTo>
                <a:lnTo>
                  <a:pt x="31" y="68"/>
                </a:lnTo>
                <a:lnTo>
                  <a:pt x="20" y="77"/>
                </a:lnTo>
                <a:lnTo>
                  <a:pt x="10" y="86"/>
                </a:lnTo>
                <a:lnTo>
                  <a:pt x="6" y="96"/>
                </a:lnTo>
                <a:lnTo>
                  <a:pt x="1" y="106"/>
                </a:lnTo>
                <a:lnTo>
                  <a:pt x="0" y="117"/>
                </a:lnTo>
                <a:lnTo>
                  <a:pt x="1" y="127"/>
                </a:lnTo>
                <a:lnTo>
                  <a:pt x="6" y="137"/>
                </a:lnTo>
                <a:lnTo>
                  <a:pt x="10" y="147"/>
                </a:lnTo>
                <a:lnTo>
                  <a:pt x="20" y="156"/>
                </a:lnTo>
                <a:lnTo>
                  <a:pt x="31" y="166"/>
                </a:lnTo>
                <a:lnTo>
                  <a:pt x="44" y="175"/>
                </a:lnTo>
                <a:lnTo>
                  <a:pt x="60" y="183"/>
                </a:lnTo>
                <a:lnTo>
                  <a:pt x="77" y="191"/>
                </a:lnTo>
                <a:lnTo>
                  <a:pt x="98" y="199"/>
                </a:lnTo>
                <a:lnTo>
                  <a:pt x="118" y="205"/>
                </a:lnTo>
                <a:lnTo>
                  <a:pt x="141" y="212"/>
                </a:lnTo>
                <a:lnTo>
                  <a:pt x="165" y="217"/>
                </a:lnTo>
                <a:lnTo>
                  <a:pt x="191" y="222"/>
                </a:lnTo>
                <a:lnTo>
                  <a:pt x="218" y="226"/>
                </a:lnTo>
                <a:lnTo>
                  <a:pt x="247" y="229"/>
                </a:lnTo>
                <a:lnTo>
                  <a:pt x="274" y="231"/>
                </a:lnTo>
                <a:lnTo>
                  <a:pt x="304" y="232"/>
                </a:lnTo>
                <a:lnTo>
                  <a:pt x="331" y="233"/>
                </a:lnTo>
                <a:lnTo>
                  <a:pt x="360" y="232"/>
                </a:lnTo>
                <a:lnTo>
                  <a:pt x="390" y="231"/>
                </a:lnTo>
                <a:lnTo>
                  <a:pt x="419" y="229"/>
                </a:lnTo>
                <a:lnTo>
                  <a:pt x="445" y="226"/>
                </a:lnTo>
                <a:lnTo>
                  <a:pt x="472" y="222"/>
                </a:lnTo>
                <a:lnTo>
                  <a:pt x="497" y="217"/>
                </a:lnTo>
                <a:lnTo>
                  <a:pt x="522" y="212"/>
                </a:lnTo>
                <a:lnTo>
                  <a:pt x="546" y="205"/>
                </a:lnTo>
                <a:lnTo>
                  <a:pt x="566" y="199"/>
                </a:lnTo>
                <a:lnTo>
                  <a:pt x="586" y="191"/>
                </a:lnTo>
                <a:lnTo>
                  <a:pt x="604" y="183"/>
                </a:lnTo>
                <a:lnTo>
                  <a:pt x="620" y="175"/>
                </a:lnTo>
                <a:lnTo>
                  <a:pt x="633" y="166"/>
                </a:lnTo>
                <a:lnTo>
                  <a:pt x="644" y="156"/>
                </a:lnTo>
                <a:lnTo>
                  <a:pt x="652" y="147"/>
                </a:lnTo>
                <a:lnTo>
                  <a:pt x="658" y="137"/>
                </a:lnTo>
                <a:lnTo>
                  <a:pt x="662" y="127"/>
                </a:lnTo>
                <a:lnTo>
                  <a:pt x="665" y="11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F958D1C4-8D94-A588-7062-837E7EB5EF86}"/>
              </a:ext>
            </a:extLst>
          </p:cNvPr>
          <p:cNvSpPr>
            <a:spLocks noGrp="1"/>
          </p:cNvSpPr>
          <p:nvPr/>
        </p:nvSpPr>
        <p:spPr>
          <a:xfrm>
            <a:off x="7069931" y="2764547"/>
            <a:ext cx="1185863" cy="371475"/>
          </a:xfrm>
          <a:custGeom>
            <a:avLst/>
            <a:gdLst>
              <a:gd name="T0" fmla="*/ 1 w 747"/>
              <a:gd name="T1" fmla="*/ 127 h 234"/>
              <a:gd name="T2" fmla="*/ 12 w 747"/>
              <a:gd name="T3" fmla="*/ 147 h 234"/>
              <a:gd name="T4" fmla="*/ 35 w 747"/>
              <a:gd name="T5" fmla="*/ 166 h 234"/>
              <a:gd name="T6" fmla="*/ 66 w 747"/>
              <a:gd name="T7" fmla="*/ 183 h 234"/>
              <a:gd name="T8" fmla="*/ 108 w 747"/>
              <a:gd name="T9" fmla="*/ 199 h 234"/>
              <a:gd name="T10" fmla="*/ 159 w 747"/>
              <a:gd name="T11" fmla="*/ 212 h 234"/>
              <a:gd name="T12" fmla="*/ 215 w 747"/>
              <a:gd name="T13" fmla="*/ 222 h 234"/>
              <a:gd name="T14" fmla="*/ 276 w 747"/>
              <a:gd name="T15" fmla="*/ 229 h 234"/>
              <a:gd name="T16" fmla="*/ 340 w 747"/>
              <a:gd name="T17" fmla="*/ 232 h 234"/>
              <a:gd name="T18" fmla="*/ 405 w 747"/>
              <a:gd name="T19" fmla="*/ 232 h 234"/>
              <a:gd name="T20" fmla="*/ 469 w 747"/>
              <a:gd name="T21" fmla="*/ 229 h 234"/>
              <a:gd name="T22" fmla="*/ 530 w 747"/>
              <a:gd name="T23" fmla="*/ 222 h 234"/>
              <a:gd name="T24" fmla="*/ 586 w 747"/>
              <a:gd name="T25" fmla="*/ 212 h 234"/>
              <a:gd name="T26" fmla="*/ 637 w 747"/>
              <a:gd name="T27" fmla="*/ 198 h 234"/>
              <a:gd name="T28" fmla="*/ 677 w 747"/>
              <a:gd name="T29" fmla="*/ 183 h 234"/>
              <a:gd name="T30" fmla="*/ 710 w 747"/>
              <a:gd name="T31" fmla="*/ 166 h 234"/>
              <a:gd name="T32" fmla="*/ 733 w 747"/>
              <a:gd name="T33" fmla="*/ 146 h 234"/>
              <a:gd name="T34" fmla="*/ 744 w 747"/>
              <a:gd name="T35" fmla="*/ 126 h 234"/>
              <a:gd name="T36" fmla="*/ 744 w 747"/>
              <a:gd name="T37" fmla="*/ 106 h 234"/>
              <a:gd name="T38" fmla="*/ 733 w 747"/>
              <a:gd name="T39" fmla="*/ 86 h 234"/>
              <a:gd name="T40" fmla="*/ 710 w 747"/>
              <a:gd name="T41" fmla="*/ 67 h 234"/>
              <a:gd name="T42" fmla="*/ 677 w 747"/>
              <a:gd name="T43" fmla="*/ 50 h 234"/>
              <a:gd name="T44" fmla="*/ 637 w 747"/>
              <a:gd name="T45" fmla="*/ 34 h 234"/>
              <a:gd name="T46" fmla="*/ 586 w 747"/>
              <a:gd name="T47" fmla="*/ 21 h 234"/>
              <a:gd name="T48" fmla="*/ 530 w 747"/>
              <a:gd name="T49" fmla="*/ 11 h 234"/>
              <a:gd name="T50" fmla="*/ 469 w 747"/>
              <a:gd name="T51" fmla="*/ 4 h 234"/>
              <a:gd name="T52" fmla="*/ 405 w 747"/>
              <a:gd name="T53" fmla="*/ 1 h 234"/>
              <a:gd name="T54" fmla="*/ 340 w 747"/>
              <a:gd name="T55" fmla="*/ 1 h 234"/>
              <a:gd name="T56" fmla="*/ 276 w 747"/>
              <a:gd name="T57" fmla="*/ 4 h 234"/>
              <a:gd name="T58" fmla="*/ 215 w 747"/>
              <a:gd name="T59" fmla="*/ 11 h 234"/>
              <a:gd name="T60" fmla="*/ 159 w 747"/>
              <a:gd name="T61" fmla="*/ 21 h 234"/>
              <a:gd name="T62" fmla="*/ 108 w 747"/>
              <a:gd name="T63" fmla="*/ 34 h 234"/>
              <a:gd name="T64" fmla="*/ 66 w 747"/>
              <a:gd name="T65" fmla="*/ 50 h 234"/>
              <a:gd name="T66" fmla="*/ 35 w 747"/>
              <a:gd name="T67" fmla="*/ 68 h 234"/>
              <a:gd name="T68" fmla="*/ 12 w 747"/>
              <a:gd name="T69" fmla="*/ 86 h 234"/>
              <a:gd name="T70" fmla="*/ 1 w 747"/>
              <a:gd name="T71" fmla="*/ 106 h 234"/>
            </a:gdLst>
            <a:ahLst/>
            <a:cxnLst/>
            <a:rect l="0" t="0" r="r" b="b"/>
            <a:pathLst>
              <a:path w="747" h="234">
                <a:moveTo>
                  <a:pt x="0" y="117"/>
                </a:moveTo>
                <a:lnTo>
                  <a:pt x="1" y="127"/>
                </a:lnTo>
                <a:lnTo>
                  <a:pt x="5" y="137"/>
                </a:lnTo>
                <a:lnTo>
                  <a:pt x="12" y="147"/>
                </a:lnTo>
                <a:lnTo>
                  <a:pt x="21" y="156"/>
                </a:lnTo>
                <a:lnTo>
                  <a:pt x="35" y="166"/>
                </a:lnTo>
                <a:lnTo>
                  <a:pt x="49" y="175"/>
                </a:lnTo>
                <a:lnTo>
                  <a:pt x="66" y="183"/>
                </a:lnTo>
                <a:lnTo>
                  <a:pt x="87" y="191"/>
                </a:lnTo>
                <a:lnTo>
                  <a:pt x="108" y="199"/>
                </a:lnTo>
                <a:lnTo>
                  <a:pt x="133" y="205"/>
                </a:lnTo>
                <a:lnTo>
                  <a:pt x="159" y="212"/>
                </a:lnTo>
                <a:lnTo>
                  <a:pt x="186" y="217"/>
                </a:lnTo>
                <a:lnTo>
                  <a:pt x="215" y="222"/>
                </a:lnTo>
                <a:lnTo>
                  <a:pt x="245" y="226"/>
                </a:lnTo>
                <a:lnTo>
                  <a:pt x="276" y="229"/>
                </a:lnTo>
                <a:lnTo>
                  <a:pt x="307" y="231"/>
                </a:lnTo>
                <a:lnTo>
                  <a:pt x="340" y="232"/>
                </a:lnTo>
                <a:lnTo>
                  <a:pt x="373" y="233"/>
                </a:lnTo>
                <a:lnTo>
                  <a:pt x="405" y="232"/>
                </a:lnTo>
                <a:lnTo>
                  <a:pt x="436" y="231"/>
                </a:lnTo>
                <a:lnTo>
                  <a:pt x="469" y="229"/>
                </a:lnTo>
                <a:lnTo>
                  <a:pt x="500" y="226"/>
                </a:lnTo>
                <a:lnTo>
                  <a:pt x="530" y="222"/>
                </a:lnTo>
                <a:lnTo>
                  <a:pt x="559" y="217"/>
                </a:lnTo>
                <a:lnTo>
                  <a:pt x="586" y="212"/>
                </a:lnTo>
                <a:lnTo>
                  <a:pt x="612" y="205"/>
                </a:lnTo>
                <a:lnTo>
                  <a:pt x="637" y="198"/>
                </a:lnTo>
                <a:lnTo>
                  <a:pt x="658" y="191"/>
                </a:lnTo>
                <a:lnTo>
                  <a:pt x="677" y="183"/>
                </a:lnTo>
                <a:lnTo>
                  <a:pt x="695" y="175"/>
                </a:lnTo>
                <a:lnTo>
                  <a:pt x="710" y="166"/>
                </a:lnTo>
                <a:lnTo>
                  <a:pt x="722" y="156"/>
                </a:lnTo>
                <a:lnTo>
                  <a:pt x="733" y="146"/>
                </a:lnTo>
                <a:lnTo>
                  <a:pt x="740" y="137"/>
                </a:lnTo>
                <a:lnTo>
                  <a:pt x="744" y="126"/>
                </a:lnTo>
                <a:lnTo>
                  <a:pt x="746" y="117"/>
                </a:lnTo>
                <a:lnTo>
                  <a:pt x="744" y="106"/>
                </a:lnTo>
                <a:lnTo>
                  <a:pt x="740" y="96"/>
                </a:lnTo>
                <a:lnTo>
                  <a:pt x="733" y="86"/>
                </a:lnTo>
                <a:lnTo>
                  <a:pt x="722" y="77"/>
                </a:lnTo>
                <a:lnTo>
                  <a:pt x="710" y="67"/>
                </a:lnTo>
                <a:lnTo>
                  <a:pt x="695" y="58"/>
                </a:lnTo>
                <a:lnTo>
                  <a:pt x="677" y="50"/>
                </a:lnTo>
                <a:lnTo>
                  <a:pt x="658" y="42"/>
                </a:lnTo>
                <a:lnTo>
                  <a:pt x="637" y="34"/>
                </a:lnTo>
                <a:lnTo>
                  <a:pt x="612" y="27"/>
                </a:lnTo>
                <a:lnTo>
                  <a:pt x="586" y="21"/>
                </a:lnTo>
                <a:lnTo>
                  <a:pt x="559" y="16"/>
                </a:lnTo>
                <a:lnTo>
                  <a:pt x="530" y="11"/>
                </a:lnTo>
                <a:lnTo>
                  <a:pt x="500" y="7"/>
                </a:lnTo>
                <a:lnTo>
                  <a:pt x="469" y="4"/>
                </a:lnTo>
                <a:lnTo>
                  <a:pt x="436" y="2"/>
                </a:lnTo>
                <a:lnTo>
                  <a:pt x="405" y="1"/>
                </a:lnTo>
                <a:lnTo>
                  <a:pt x="373" y="0"/>
                </a:lnTo>
                <a:lnTo>
                  <a:pt x="340" y="1"/>
                </a:lnTo>
                <a:lnTo>
                  <a:pt x="307" y="2"/>
                </a:lnTo>
                <a:lnTo>
                  <a:pt x="276" y="4"/>
                </a:lnTo>
                <a:lnTo>
                  <a:pt x="245" y="7"/>
                </a:lnTo>
                <a:lnTo>
                  <a:pt x="215" y="11"/>
                </a:lnTo>
                <a:lnTo>
                  <a:pt x="186" y="16"/>
                </a:lnTo>
                <a:lnTo>
                  <a:pt x="159" y="21"/>
                </a:lnTo>
                <a:lnTo>
                  <a:pt x="132" y="28"/>
                </a:lnTo>
                <a:lnTo>
                  <a:pt x="108" y="34"/>
                </a:lnTo>
                <a:lnTo>
                  <a:pt x="87" y="42"/>
                </a:lnTo>
                <a:lnTo>
                  <a:pt x="66" y="50"/>
                </a:lnTo>
                <a:lnTo>
                  <a:pt x="49" y="58"/>
                </a:lnTo>
                <a:lnTo>
                  <a:pt x="35" y="68"/>
                </a:lnTo>
                <a:lnTo>
                  <a:pt x="21" y="77"/>
                </a:lnTo>
                <a:lnTo>
                  <a:pt x="12" y="86"/>
                </a:lnTo>
                <a:lnTo>
                  <a:pt x="5" y="97"/>
                </a:lnTo>
                <a:lnTo>
                  <a:pt x="1" y="106"/>
                </a:lnTo>
                <a:lnTo>
                  <a:pt x="0" y="11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50BD0FCC-FDDF-E51F-1DF0-A9A9BEAD806F}"/>
              </a:ext>
            </a:extLst>
          </p:cNvPr>
          <p:cNvSpPr>
            <a:spLocks noGrp="1"/>
          </p:cNvSpPr>
          <p:nvPr/>
        </p:nvSpPr>
        <p:spPr>
          <a:xfrm>
            <a:off x="910431" y="2753434"/>
            <a:ext cx="1055688" cy="371475"/>
          </a:xfrm>
          <a:custGeom>
            <a:avLst/>
            <a:gdLst>
              <a:gd name="T0" fmla="*/ 662 w 665"/>
              <a:gd name="T1" fmla="*/ 106 h 234"/>
              <a:gd name="T2" fmla="*/ 653 w 665"/>
              <a:gd name="T3" fmla="*/ 86 h 234"/>
              <a:gd name="T4" fmla="*/ 633 w 665"/>
              <a:gd name="T5" fmla="*/ 68 h 234"/>
              <a:gd name="T6" fmla="*/ 604 w 665"/>
              <a:gd name="T7" fmla="*/ 50 h 234"/>
              <a:gd name="T8" fmla="*/ 567 w 665"/>
              <a:gd name="T9" fmla="*/ 34 h 234"/>
              <a:gd name="T10" fmla="*/ 522 w 665"/>
              <a:gd name="T11" fmla="*/ 21 h 234"/>
              <a:gd name="T12" fmla="*/ 472 w 665"/>
              <a:gd name="T13" fmla="*/ 11 h 234"/>
              <a:gd name="T14" fmla="*/ 418 w 665"/>
              <a:gd name="T15" fmla="*/ 5 h 234"/>
              <a:gd name="T16" fmla="*/ 361 w 665"/>
              <a:gd name="T17" fmla="*/ 1 h 234"/>
              <a:gd name="T18" fmla="*/ 302 w 665"/>
              <a:gd name="T19" fmla="*/ 1 h 234"/>
              <a:gd name="T20" fmla="*/ 247 w 665"/>
              <a:gd name="T21" fmla="*/ 5 h 234"/>
              <a:gd name="T22" fmla="*/ 191 w 665"/>
              <a:gd name="T23" fmla="*/ 11 h 234"/>
              <a:gd name="T24" fmla="*/ 141 w 665"/>
              <a:gd name="T25" fmla="*/ 21 h 234"/>
              <a:gd name="T26" fmla="*/ 96 w 665"/>
              <a:gd name="T27" fmla="*/ 34 h 234"/>
              <a:gd name="T28" fmla="*/ 60 w 665"/>
              <a:gd name="T29" fmla="*/ 50 h 234"/>
              <a:gd name="T30" fmla="*/ 31 w 665"/>
              <a:gd name="T31" fmla="*/ 68 h 234"/>
              <a:gd name="T32" fmla="*/ 10 w 665"/>
              <a:gd name="T33" fmla="*/ 86 h 234"/>
              <a:gd name="T34" fmla="*/ 1 w 665"/>
              <a:gd name="T35" fmla="*/ 106 h 234"/>
              <a:gd name="T36" fmla="*/ 1 w 665"/>
              <a:gd name="T37" fmla="*/ 127 h 234"/>
              <a:gd name="T38" fmla="*/ 10 w 665"/>
              <a:gd name="T39" fmla="*/ 147 h 234"/>
              <a:gd name="T40" fmla="*/ 31 w 665"/>
              <a:gd name="T41" fmla="*/ 166 h 234"/>
              <a:gd name="T42" fmla="*/ 60 w 665"/>
              <a:gd name="T43" fmla="*/ 183 h 234"/>
              <a:gd name="T44" fmla="*/ 96 w 665"/>
              <a:gd name="T45" fmla="*/ 199 h 234"/>
              <a:gd name="T46" fmla="*/ 141 w 665"/>
              <a:gd name="T47" fmla="*/ 212 h 234"/>
              <a:gd name="T48" fmla="*/ 191 w 665"/>
              <a:gd name="T49" fmla="*/ 222 h 234"/>
              <a:gd name="T50" fmla="*/ 247 w 665"/>
              <a:gd name="T51" fmla="*/ 229 h 234"/>
              <a:gd name="T52" fmla="*/ 302 w 665"/>
              <a:gd name="T53" fmla="*/ 232 h 234"/>
              <a:gd name="T54" fmla="*/ 361 w 665"/>
              <a:gd name="T55" fmla="*/ 232 h 234"/>
              <a:gd name="T56" fmla="*/ 418 w 665"/>
              <a:gd name="T57" fmla="*/ 229 h 234"/>
              <a:gd name="T58" fmla="*/ 472 w 665"/>
              <a:gd name="T59" fmla="*/ 222 h 234"/>
              <a:gd name="T60" fmla="*/ 522 w 665"/>
              <a:gd name="T61" fmla="*/ 212 h 234"/>
              <a:gd name="T62" fmla="*/ 567 w 665"/>
              <a:gd name="T63" fmla="*/ 199 h 234"/>
              <a:gd name="T64" fmla="*/ 604 w 665"/>
              <a:gd name="T65" fmla="*/ 183 h 234"/>
              <a:gd name="T66" fmla="*/ 633 w 665"/>
              <a:gd name="T67" fmla="*/ 166 h 234"/>
              <a:gd name="T68" fmla="*/ 653 w 665"/>
              <a:gd name="T69" fmla="*/ 147 h 234"/>
              <a:gd name="T70" fmla="*/ 662 w 665"/>
              <a:gd name="T71" fmla="*/ 127 h 234"/>
            </a:gdLst>
            <a:ahLst/>
            <a:cxnLst/>
            <a:rect l="0" t="0" r="r" b="b"/>
            <a:pathLst>
              <a:path w="665" h="234">
                <a:moveTo>
                  <a:pt x="664" y="117"/>
                </a:moveTo>
                <a:lnTo>
                  <a:pt x="662" y="106"/>
                </a:lnTo>
                <a:lnTo>
                  <a:pt x="659" y="97"/>
                </a:lnTo>
                <a:lnTo>
                  <a:pt x="653" y="86"/>
                </a:lnTo>
                <a:lnTo>
                  <a:pt x="644" y="77"/>
                </a:lnTo>
                <a:lnTo>
                  <a:pt x="633" y="68"/>
                </a:lnTo>
                <a:lnTo>
                  <a:pt x="620" y="58"/>
                </a:lnTo>
                <a:lnTo>
                  <a:pt x="604" y="50"/>
                </a:lnTo>
                <a:lnTo>
                  <a:pt x="586" y="42"/>
                </a:lnTo>
                <a:lnTo>
                  <a:pt x="567" y="34"/>
                </a:lnTo>
                <a:lnTo>
                  <a:pt x="546" y="28"/>
                </a:lnTo>
                <a:lnTo>
                  <a:pt x="522" y="21"/>
                </a:lnTo>
                <a:lnTo>
                  <a:pt x="498" y="16"/>
                </a:lnTo>
                <a:lnTo>
                  <a:pt x="472" y="11"/>
                </a:lnTo>
                <a:lnTo>
                  <a:pt x="445" y="7"/>
                </a:lnTo>
                <a:lnTo>
                  <a:pt x="418" y="5"/>
                </a:lnTo>
                <a:lnTo>
                  <a:pt x="390" y="2"/>
                </a:lnTo>
                <a:lnTo>
                  <a:pt x="361" y="1"/>
                </a:lnTo>
                <a:lnTo>
                  <a:pt x="332" y="0"/>
                </a:lnTo>
                <a:lnTo>
                  <a:pt x="302" y="1"/>
                </a:lnTo>
                <a:lnTo>
                  <a:pt x="275" y="2"/>
                </a:lnTo>
                <a:lnTo>
                  <a:pt x="247" y="5"/>
                </a:lnTo>
                <a:lnTo>
                  <a:pt x="218" y="7"/>
                </a:lnTo>
                <a:lnTo>
                  <a:pt x="191" y="11"/>
                </a:lnTo>
                <a:lnTo>
                  <a:pt x="166" y="16"/>
                </a:lnTo>
                <a:lnTo>
                  <a:pt x="141" y="21"/>
                </a:lnTo>
                <a:lnTo>
                  <a:pt x="118" y="28"/>
                </a:lnTo>
                <a:lnTo>
                  <a:pt x="96" y="34"/>
                </a:lnTo>
                <a:lnTo>
                  <a:pt x="77" y="42"/>
                </a:lnTo>
                <a:lnTo>
                  <a:pt x="60" y="50"/>
                </a:lnTo>
                <a:lnTo>
                  <a:pt x="44" y="58"/>
                </a:lnTo>
                <a:lnTo>
                  <a:pt x="31" y="68"/>
                </a:lnTo>
                <a:lnTo>
                  <a:pt x="20" y="77"/>
                </a:lnTo>
                <a:lnTo>
                  <a:pt x="10" y="86"/>
                </a:lnTo>
                <a:lnTo>
                  <a:pt x="4" y="97"/>
                </a:lnTo>
                <a:lnTo>
                  <a:pt x="1" y="106"/>
                </a:lnTo>
                <a:lnTo>
                  <a:pt x="0" y="117"/>
                </a:lnTo>
                <a:lnTo>
                  <a:pt x="1" y="127"/>
                </a:lnTo>
                <a:lnTo>
                  <a:pt x="4" y="137"/>
                </a:lnTo>
                <a:lnTo>
                  <a:pt x="10" y="147"/>
                </a:lnTo>
                <a:lnTo>
                  <a:pt x="20" y="156"/>
                </a:lnTo>
                <a:lnTo>
                  <a:pt x="31" y="166"/>
                </a:lnTo>
                <a:lnTo>
                  <a:pt x="44" y="175"/>
                </a:lnTo>
                <a:lnTo>
                  <a:pt x="60" y="183"/>
                </a:lnTo>
                <a:lnTo>
                  <a:pt x="77" y="191"/>
                </a:lnTo>
                <a:lnTo>
                  <a:pt x="96" y="199"/>
                </a:lnTo>
                <a:lnTo>
                  <a:pt x="118" y="206"/>
                </a:lnTo>
                <a:lnTo>
                  <a:pt x="141" y="212"/>
                </a:lnTo>
                <a:lnTo>
                  <a:pt x="166" y="217"/>
                </a:lnTo>
                <a:lnTo>
                  <a:pt x="191" y="222"/>
                </a:lnTo>
                <a:lnTo>
                  <a:pt x="218" y="226"/>
                </a:lnTo>
                <a:lnTo>
                  <a:pt x="247" y="229"/>
                </a:lnTo>
                <a:lnTo>
                  <a:pt x="275" y="231"/>
                </a:lnTo>
                <a:lnTo>
                  <a:pt x="302" y="232"/>
                </a:lnTo>
                <a:lnTo>
                  <a:pt x="332" y="233"/>
                </a:lnTo>
                <a:lnTo>
                  <a:pt x="361" y="232"/>
                </a:lnTo>
                <a:lnTo>
                  <a:pt x="390" y="231"/>
                </a:lnTo>
                <a:lnTo>
                  <a:pt x="418" y="229"/>
                </a:lnTo>
                <a:lnTo>
                  <a:pt x="445" y="226"/>
                </a:lnTo>
                <a:lnTo>
                  <a:pt x="472" y="222"/>
                </a:lnTo>
                <a:lnTo>
                  <a:pt x="498" y="217"/>
                </a:lnTo>
                <a:lnTo>
                  <a:pt x="522" y="212"/>
                </a:lnTo>
                <a:lnTo>
                  <a:pt x="546" y="206"/>
                </a:lnTo>
                <a:lnTo>
                  <a:pt x="567" y="199"/>
                </a:lnTo>
                <a:lnTo>
                  <a:pt x="586" y="191"/>
                </a:lnTo>
                <a:lnTo>
                  <a:pt x="604" y="183"/>
                </a:lnTo>
                <a:lnTo>
                  <a:pt x="620" y="175"/>
                </a:lnTo>
                <a:lnTo>
                  <a:pt x="633" y="166"/>
                </a:lnTo>
                <a:lnTo>
                  <a:pt x="644" y="156"/>
                </a:lnTo>
                <a:lnTo>
                  <a:pt x="653" y="147"/>
                </a:lnTo>
                <a:lnTo>
                  <a:pt x="659" y="137"/>
                </a:lnTo>
                <a:lnTo>
                  <a:pt x="662" y="127"/>
                </a:lnTo>
                <a:lnTo>
                  <a:pt x="664" y="11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266094DE-EC19-4D3C-A537-2E641438BE13}"/>
              </a:ext>
            </a:extLst>
          </p:cNvPr>
          <p:cNvSpPr>
            <a:spLocks noGrp="1"/>
          </p:cNvSpPr>
          <p:nvPr/>
        </p:nvSpPr>
        <p:spPr>
          <a:xfrm>
            <a:off x="1859756" y="2483559"/>
            <a:ext cx="1057275" cy="369888"/>
          </a:xfrm>
          <a:custGeom>
            <a:avLst/>
            <a:gdLst>
              <a:gd name="T0" fmla="*/ 663 w 666"/>
              <a:gd name="T1" fmla="*/ 106 h 233"/>
              <a:gd name="T2" fmla="*/ 652 w 666"/>
              <a:gd name="T3" fmla="*/ 86 h 233"/>
              <a:gd name="T4" fmla="*/ 633 w 666"/>
              <a:gd name="T5" fmla="*/ 66 h 233"/>
              <a:gd name="T6" fmla="*/ 605 w 666"/>
              <a:gd name="T7" fmla="*/ 49 h 233"/>
              <a:gd name="T8" fmla="*/ 568 w 666"/>
              <a:gd name="T9" fmla="*/ 34 h 233"/>
              <a:gd name="T10" fmla="*/ 523 w 666"/>
              <a:gd name="T11" fmla="*/ 21 h 233"/>
              <a:gd name="T12" fmla="*/ 472 w 666"/>
              <a:gd name="T13" fmla="*/ 10 h 233"/>
              <a:gd name="T14" fmla="*/ 419 w 666"/>
              <a:gd name="T15" fmla="*/ 3 h 233"/>
              <a:gd name="T16" fmla="*/ 362 w 666"/>
              <a:gd name="T17" fmla="*/ 0 h 233"/>
              <a:gd name="T18" fmla="*/ 304 w 666"/>
              <a:gd name="T19" fmla="*/ 0 h 233"/>
              <a:gd name="T20" fmla="*/ 247 w 666"/>
              <a:gd name="T21" fmla="*/ 3 h 233"/>
              <a:gd name="T22" fmla="*/ 192 w 666"/>
              <a:gd name="T23" fmla="*/ 10 h 233"/>
              <a:gd name="T24" fmla="*/ 141 w 666"/>
              <a:gd name="T25" fmla="*/ 21 h 233"/>
              <a:gd name="T26" fmla="*/ 98 w 666"/>
              <a:gd name="T27" fmla="*/ 34 h 233"/>
              <a:gd name="T28" fmla="*/ 60 w 666"/>
              <a:gd name="T29" fmla="*/ 49 h 233"/>
              <a:gd name="T30" fmla="*/ 31 w 666"/>
              <a:gd name="T31" fmla="*/ 66 h 233"/>
              <a:gd name="T32" fmla="*/ 12 w 666"/>
              <a:gd name="T33" fmla="*/ 86 h 233"/>
              <a:gd name="T34" fmla="*/ 1 w 666"/>
              <a:gd name="T35" fmla="*/ 106 h 233"/>
              <a:gd name="T36" fmla="*/ 1 w 666"/>
              <a:gd name="T37" fmla="*/ 126 h 233"/>
              <a:gd name="T38" fmla="*/ 12 w 666"/>
              <a:gd name="T39" fmla="*/ 146 h 233"/>
              <a:gd name="T40" fmla="*/ 31 w 666"/>
              <a:gd name="T41" fmla="*/ 165 h 233"/>
              <a:gd name="T42" fmla="*/ 60 w 666"/>
              <a:gd name="T43" fmla="*/ 182 h 233"/>
              <a:gd name="T44" fmla="*/ 98 w 666"/>
              <a:gd name="T45" fmla="*/ 198 h 233"/>
              <a:gd name="T46" fmla="*/ 141 w 666"/>
              <a:gd name="T47" fmla="*/ 211 h 233"/>
              <a:gd name="T48" fmla="*/ 192 w 666"/>
              <a:gd name="T49" fmla="*/ 221 h 233"/>
              <a:gd name="T50" fmla="*/ 247 w 666"/>
              <a:gd name="T51" fmla="*/ 228 h 233"/>
              <a:gd name="T52" fmla="*/ 304 w 666"/>
              <a:gd name="T53" fmla="*/ 232 h 233"/>
              <a:gd name="T54" fmla="*/ 362 w 666"/>
              <a:gd name="T55" fmla="*/ 232 h 233"/>
              <a:gd name="T56" fmla="*/ 419 w 666"/>
              <a:gd name="T57" fmla="*/ 228 h 233"/>
              <a:gd name="T58" fmla="*/ 472 w 666"/>
              <a:gd name="T59" fmla="*/ 221 h 233"/>
              <a:gd name="T60" fmla="*/ 523 w 666"/>
              <a:gd name="T61" fmla="*/ 211 h 233"/>
              <a:gd name="T62" fmla="*/ 568 w 666"/>
              <a:gd name="T63" fmla="*/ 198 h 233"/>
              <a:gd name="T64" fmla="*/ 605 w 666"/>
              <a:gd name="T65" fmla="*/ 182 h 233"/>
              <a:gd name="T66" fmla="*/ 633 w 666"/>
              <a:gd name="T67" fmla="*/ 165 h 233"/>
              <a:gd name="T68" fmla="*/ 652 w 666"/>
              <a:gd name="T69" fmla="*/ 146 h 233"/>
              <a:gd name="T70" fmla="*/ 663 w 666"/>
              <a:gd name="T71" fmla="*/ 126 h 233"/>
            </a:gdLst>
            <a:ahLst/>
            <a:cxnLst/>
            <a:rect l="0" t="0" r="r" b="b"/>
            <a:pathLst>
              <a:path w="666" h="233">
                <a:moveTo>
                  <a:pt x="665" y="116"/>
                </a:moveTo>
                <a:lnTo>
                  <a:pt x="663" y="106"/>
                </a:lnTo>
                <a:lnTo>
                  <a:pt x="660" y="95"/>
                </a:lnTo>
                <a:lnTo>
                  <a:pt x="652" y="86"/>
                </a:lnTo>
                <a:lnTo>
                  <a:pt x="644" y="76"/>
                </a:lnTo>
                <a:lnTo>
                  <a:pt x="633" y="66"/>
                </a:lnTo>
                <a:lnTo>
                  <a:pt x="620" y="58"/>
                </a:lnTo>
                <a:lnTo>
                  <a:pt x="605" y="49"/>
                </a:lnTo>
                <a:lnTo>
                  <a:pt x="587" y="41"/>
                </a:lnTo>
                <a:lnTo>
                  <a:pt x="568" y="34"/>
                </a:lnTo>
                <a:lnTo>
                  <a:pt x="546" y="27"/>
                </a:lnTo>
                <a:lnTo>
                  <a:pt x="523" y="21"/>
                </a:lnTo>
                <a:lnTo>
                  <a:pt x="499" y="15"/>
                </a:lnTo>
                <a:lnTo>
                  <a:pt x="472" y="10"/>
                </a:lnTo>
                <a:lnTo>
                  <a:pt x="445" y="7"/>
                </a:lnTo>
                <a:lnTo>
                  <a:pt x="419" y="3"/>
                </a:lnTo>
                <a:lnTo>
                  <a:pt x="391" y="1"/>
                </a:lnTo>
                <a:lnTo>
                  <a:pt x="362" y="0"/>
                </a:lnTo>
                <a:lnTo>
                  <a:pt x="331" y="0"/>
                </a:lnTo>
                <a:lnTo>
                  <a:pt x="304" y="0"/>
                </a:lnTo>
                <a:lnTo>
                  <a:pt x="274" y="1"/>
                </a:lnTo>
                <a:lnTo>
                  <a:pt x="247" y="3"/>
                </a:lnTo>
                <a:lnTo>
                  <a:pt x="219" y="7"/>
                </a:lnTo>
                <a:lnTo>
                  <a:pt x="192" y="10"/>
                </a:lnTo>
                <a:lnTo>
                  <a:pt x="165" y="15"/>
                </a:lnTo>
                <a:lnTo>
                  <a:pt x="141" y="21"/>
                </a:lnTo>
                <a:lnTo>
                  <a:pt x="119" y="27"/>
                </a:lnTo>
                <a:lnTo>
                  <a:pt x="98" y="34"/>
                </a:lnTo>
                <a:lnTo>
                  <a:pt x="78" y="41"/>
                </a:lnTo>
                <a:lnTo>
                  <a:pt x="60" y="49"/>
                </a:lnTo>
                <a:lnTo>
                  <a:pt x="46" y="58"/>
                </a:lnTo>
                <a:lnTo>
                  <a:pt x="31" y="66"/>
                </a:lnTo>
                <a:lnTo>
                  <a:pt x="20" y="76"/>
                </a:lnTo>
                <a:lnTo>
                  <a:pt x="12" y="86"/>
                </a:lnTo>
                <a:lnTo>
                  <a:pt x="6" y="95"/>
                </a:lnTo>
                <a:lnTo>
                  <a:pt x="1" y="106"/>
                </a:lnTo>
                <a:lnTo>
                  <a:pt x="0" y="116"/>
                </a:lnTo>
                <a:lnTo>
                  <a:pt x="1" y="126"/>
                </a:lnTo>
                <a:lnTo>
                  <a:pt x="6" y="136"/>
                </a:lnTo>
                <a:lnTo>
                  <a:pt x="12" y="146"/>
                </a:lnTo>
                <a:lnTo>
                  <a:pt x="20" y="155"/>
                </a:lnTo>
                <a:lnTo>
                  <a:pt x="31" y="165"/>
                </a:lnTo>
                <a:lnTo>
                  <a:pt x="46" y="174"/>
                </a:lnTo>
                <a:lnTo>
                  <a:pt x="60" y="182"/>
                </a:lnTo>
                <a:lnTo>
                  <a:pt x="78" y="190"/>
                </a:lnTo>
                <a:lnTo>
                  <a:pt x="98" y="198"/>
                </a:lnTo>
                <a:lnTo>
                  <a:pt x="119" y="205"/>
                </a:lnTo>
                <a:lnTo>
                  <a:pt x="141" y="211"/>
                </a:lnTo>
                <a:lnTo>
                  <a:pt x="165" y="217"/>
                </a:lnTo>
                <a:lnTo>
                  <a:pt x="192" y="221"/>
                </a:lnTo>
                <a:lnTo>
                  <a:pt x="219" y="225"/>
                </a:lnTo>
                <a:lnTo>
                  <a:pt x="247" y="228"/>
                </a:lnTo>
                <a:lnTo>
                  <a:pt x="274" y="230"/>
                </a:lnTo>
                <a:lnTo>
                  <a:pt x="304" y="232"/>
                </a:lnTo>
                <a:lnTo>
                  <a:pt x="331" y="232"/>
                </a:lnTo>
                <a:lnTo>
                  <a:pt x="362" y="232"/>
                </a:lnTo>
                <a:lnTo>
                  <a:pt x="391" y="230"/>
                </a:lnTo>
                <a:lnTo>
                  <a:pt x="419" y="228"/>
                </a:lnTo>
                <a:lnTo>
                  <a:pt x="445" y="225"/>
                </a:lnTo>
                <a:lnTo>
                  <a:pt x="472" y="221"/>
                </a:lnTo>
                <a:lnTo>
                  <a:pt x="499" y="217"/>
                </a:lnTo>
                <a:lnTo>
                  <a:pt x="523" y="211"/>
                </a:lnTo>
                <a:lnTo>
                  <a:pt x="546" y="205"/>
                </a:lnTo>
                <a:lnTo>
                  <a:pt x="568" y="198"/>
                </a:lnTo>
                <a:lnTo>
                  <a:pt x="587" y="190"/>
                </a:lnTo>
                <a:lnTo>
                  <a:pt x="605" y="182"/>
                </a:lnTo>
                <a:lnTo>
                  <a:pt x="620" y="174"/>
                </a:lnTo>
                <a:lnTo>
                  <a:pt x="633" y="165"/>
                </a:lnTo>
                <a:lnTo>
                  <a:pt x="644" y="155"/>
                </a:lnTo>
                <a:lnTo>
                  <a:pt x="652" y="146"/>
                </a:lnTo>
                <a:lnTo>
                  <a:pt x="660" y="136"/>
                </a:lnTo>
                <a:lnTo>
                  <a:pt x="663" y="126"/>
                </a:lnTo>
                <a:lnTo>
                  <a:pt x="665" y="116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E4265BDD-D7F5-A201-BD9D-5BBE9F03BCAB}"/>
              </a:ext>
            </a:extLst>
          </p:cNvPr>
          <p:cNvSpPr>
            <a:spLocks noGrp="1"/>
          </p:cNvSpPr>
          <p:nvPr/>
        </p:nvSpPr>
        <p:spPr>
          <a:xfrm>
            <a:off x="4076347" y="4990222"/>
            <a:ext cx="1055687" cy="369887"/>
          </a:xfrm>
          <a:custGeom>
            <a:avLst/>
            <a:gdLst>
              <a:gd name="T0" fmla="*/ 1 w 665"/>
              <a:gd name="T1" fmla="*/ 126 h 233"/>
              <a:gd name="T2" fmla="*/ 12 w 665"/>
              <a:gd name="T3" fmla="*/ 146 h 233"/>
              <a:gd name="T4" fmla="*/ 31 w 665"/>
              <a:gd name="T5" fmla="*/ 165 h 233"/>
              <a:gd name="T6" fmla="*/ 60 w 665"/>
              <a:gd name="T7" fmla="*/ 183 h 233"/>
              <a:gd name="T8" fmla="*/ 96 w 665"/>
              <a:gd name="T9" fmla="*/ 198 h 233"/>
              <a:gd name="T10" fmla="*/ 141 w 665"/>
              <a:gd name="T11" fmla="*/ 211 h 233"/>
              <a:gd name="T12" fmla="*/ 192 w 665"/>
              <a:gd name="T13" fmla="*/ 221 h 233"/>
              <a:gd name="T14" fmla="*/ 245 w 665"/>
              <a:gd name="T15" fmla="*/ 228 h 233"/>
              <a:gd name="T16" fmla="*/ 302 w 665"/>
              <a:gd name="T17" fmla="*/ 232 h 233"/>
              <a:gd name="T18" fmla="*/ 361 w 665"/>
              <a:gd name="T19" fmla="*/ 232 h 233"/>
              <a:gd name="T20" fmla="*/ 418 w 665"/>
              <a:gd name="T21" fmla="*/ 228 h 233"/>
              <a:gd name="T22" fmla="*/ 472 w 665"/>
              <a:gd name="T23" fmla="*/ 221 h 233"/>
              <a:gd name="T24" fmla="*/ 523 w 665"/>
              <a:gd name="T25" fmla="*/ 211 h 233"/>
              <a:gd name="T26" fmla="*/ 567 w 665"/>
              <a:gd name="T27" fmla="*/ 198 h 233"/>
              <a:gd name="T28" fmla="*/ 604 w 665"/>
              <a:gd name="T29" fmla="*/ 183 h 233"/>
              <a:gd name="T30" fmla="*/ 633 w 665"/>
              <a:gd name="T31" fmla="*/ 165 h 233"/>
              <a:gd name="T32" fmla="*/ 653 w 665"/>
              <a:gd name="T33" fmla="*/ 146 h 233"/>
              <a:gd name="T34" fmla="*/ 664 w 665"/>
              <a:gd name="T35" fmla="*/ 126 h 233"/>
              <a:gd name="T36" fmla="*/ 664 w 665"/>
              <a:gd name="T37" fmla="*/ 106 h 233"/>
              <a:gd name="T38" fmla="*/ 653 w 665"/>
              <a:gd name="T39" fmla="*/ 86 h 233"/>
              <a:gd name="T40" fmla="*/ 633 w 665"/>
              <a:gd name="T41" fmla="*/ 67 h 233"/>
              <a:gd name="T42" fmla="*/ 604 w 665"/>
              <a:gd name="T43" fmla="*/ 49 h 233"/>
              <a:gd name="T44" fmla="*/ 567 w 665"/>
              <a:gd name="T45" fmla="*/ 34 h 233"/>
              <a:gd name="T46" fmla="*/ 523 w 665"/>
              <a:gd name="T47" fmla="*/ 21 h 233"/>
              <a:gd name="T48" fmla="*/ 472 w 665"/>
              <a:gd name="T49" fmla="*/ 11 h 233"/>
              <a:gd name="T50" fmla="*/ 418 w 665"/>
              <a:gd name="T51" fmla="*/ 4 h 233"/>
              <a:gd name="T52" fmla="*/ 361 w 665"/>
              <a:gd name="T53" fmla="*/ 0 h 233"/>
              <a:gd name="T54" fmla="*/ 302 w 665"/>
              <a:gd name="T55" fmla="*/ 0 h 233"/>
              <a:gd name="T56" fmla="*/ 245 w 665"/>
              <a:gd name="T57" fmla="*/ 4 h 233"/>
              <a:gd name="T58" fmla="*/ 192 w 665"/>
              <a:gd name="T59" fmla="*/ 11 h 233"/>
              <a:gd name="T60" fmla="*/ 141 w 665"/>
              <a:gd name="T61" fmla="*/ 21 h 233"/>
              <a:gd name="T62" fmla="*/ 96 w 665"/>
              <a:gd name="T63" fmla="*/ 34 h 233"/>
              <a:gd name="T64" fmla="*/ 60 w 665"/>
              <a:gd name="T65" fmla="*/ 50 h 233"/>
              <a:gd name="T66" fmla="*/ 31 w 665"/>
              <a:gd name="T67" fmla="*/ 67 h 233"/>
              <a:gd name="T68" fmla="*/ 12 w 665"/>
              <a:gd name="T69" fmla="*/ 86 h 233"/>
              <a:gd name="T70" fmla="*/ 1 w 665"/>
              <a:gd name="T71" fmla="*/ 106 h 233"/>
            </a:gdLst>
            <a:ahLst/>
            <a:cxnLst/>
            <a:rect l="0" t="0" r="r" b="b"/>
            <a:pathLst>
              <a:path w="665" h="233">
                <a:moveTo>
                  <a:pt x="0" y="116"/>
                </a:moveTo>
                <a:lnTo>
                  <a:pt x="1" y="126"/>
                </a:lnTo>
                <a:lnTo>
                  <a:pt x="4" y="136"/>
                </a:lnTo>
                <a:lnTo>
                  <a:pt x="12" y="146"/>
                </a:lnTo>
                <a:lnTo>
                  <a:pt x="20" y="156"/>
                </a:lnTo>
                <a:lnTo>
                  <a:pt x="31" y="165"/>
                </a:lnTo>
                <a:lnTo>
                  <a:pt x="44" y="174"/>
                </a:lnTo>
                <a:lnTo>
                  <a:pt x="60" y="183"/>
                </a:lnTo>
                <a:lnTo>
                  <a:pt x="77" y="191"/>
                </a:lnTo>
                <a:lnTo>
                  <a:pt x="96" y="198"/>
                </a:lnTo>
                <a:lnTo>
                  <a:pt x="118" y="205"/>
                </a:lnTo>
                <a:lnTo>
                  <a:pt x="141" y="211"/>
                </a:lnTo>
                <a:lnTo>
                  <a:pt x="167" y="217"/>
                </a:lnTo>
                <a:lnTo>
                  <a:pt x="192" y="221"/>
                </a:lnTo>
                <a:lnTo>
                  <a:pt x="219" y="225"/>
                </a:lnTo>
                <a:lnTo>
                  <a:pt x="245" y="228"/>
                </a:lnTo>
                <a:lnTo>
                  <a:pt x="275" y="231"/>
                </a:lnTo>
                <a:lnTo>
                  <a:pt x="302" y="232"/>
                </a:lnTo>
                <a:lnTo>
                  <a:pt x="333" y="232"/>
                </a:lnTo>
                <a:lnTo>
                  <a:pt x="361" y="232"/>
                </a:lnTo>
                <a:lnTo>
                  <a:pt x="390" y="231"/>
                </a:lnTo>
                <a:lnTo>
                  <a:pt x="418" y="228"/>
                </a:lnTo>
                <a:lnTo>
                  <a:pt x="445" y="225"/>
                </a:lnTo>
                <a:lnTo>
                  <a:pt x="472" y="221"/>
                </a:lnTo>
                <a:lnTo>
                  <a:pt x="499" y="217"/>
                </a:lnTo>
                <a:lnTo>
                  <a:pt x="523" y="211"/>
                </a:lnTo>
                <a:lnTo>
                  <a:pt x="546" y="205"/>
                </a:lnTo>
                <a:lnTo>
                  <a:pt x="567" y="198"/>
                </a:lnTo>
                <a:lnTo>
                  <a:pt x="587" y="191"/>
                </a:lnTo>
                <a:lnTo>
                  <a:pt x="604" y="183"/>
                </a:lnTo>
                <a:lnTo>
                  <a:pt x="620" y="174"/>
                </a:lnTo>
                <a:lnTo>
                  <a:pt x="633" y="165"/>
                </a:lnTo>
                <a:lnTo>
                  <a:pt x="644" y="156"/>
                </a:lnTo>
                <a:lnTo>
                  <a:pt x="653" y="146"/>
                </a:lnTo>
                <a:lnTo>
                  <a:pt x="659" y="136"/>
                </a:lnTo>
                <a:lnTo>
                  <a:pt x="664" y="126"/>
                </a:lnTo>
                <a:lnTo>
                  <a:pt x="664" y="116"/>
                </a:lnTo>
                <a:lnTo>
                  <a:pt x="664" y="106"/>
                </a:lnTo>
                <a:lnTo>
                  <a:pt x="659" y="96"/>
                </a:lnTo>
                <a:lnTo>
                  <a:pt x="653" y="86"/>
                </a:lnTo>
                <a:lnTo>
                  <a:pt x="644" y="76"/>
                </a:lnTo>
                <a:lnTo>
                  <a:pt x="633" y="67"/>
                </a:lnTo>
                <a:lnTo>
                  <a:pt x="619" y="58"/>
                </a:lnTo>
                <a:lnTo>
                  <a:pt x="604" y="49"/>
                </a:lnTo>
                <a:lnTo>
                  <a:pt x="587" y="41"/>
                </a:lnTo>
                <a:lnTo>
                  <a:pt x="567" y="34"/>
                </a:lnTo>
                <a:lnTo>
                  <a:pt x="546" y="27"/>
                </a:lnTo>
                <a:lnTo>
                  <a:pt x="523" y="21"/>
                </a:lnTo>
                <a:lnTo>
                  <a:pt x="498" y="15"/>
                </a:lnTo>
                <a:lnTo>
                  <a:pt x="472" y="11"/>
                </a:lnTo>
                <a:lnTo>
                  <a:pt x="445" y="7"/>
                </a:lnTo>
                <a:lnTo>
                  <a:pt x="418" y="4"/>
                </a:lnTo>
                <a:lnTo>
                  <a:pt x="390" y="2"/>
                </a:lnTo>
                <a:lnTo>
                  <a:pt x="361" y="0"/>
                </a:lnTo>
                <a:lnTo>
                  <a:pt x="332" y="0"/>
                </a:lnTo>
                <a:lnTo>
                  <a:pt x="302" y="0"/>
                </a:lnTo>
                <a:lnTo>
                  <a:pt x="275" y="2"/>
                </a:lnTo>
                <a:lnTo>
                  <a:pt x="245" y="4"/>
                </a:lnTo>
                <a:lnTo>
                  <a:pt x="219" y="7"/>
                </a:lnTo>
                <a:lnTo>
                  <a:pt x="192" y="11"/>
                </a:lnTo>
                <a:lnTo>
                  <a:pt x="166" y="15"/>
                </a:lnTo>
                <a:lnTo>
                  <a:pt x="141" y="21"/>
                </a:lnTo>
                <a:lnTo>
                  <a:pt x="118" y="27"/>
                </a:lnTo>
                <a:lnTo>
                  <a:pt x="96" y="34"/>
                </a:lnTo>
                <a:lnTo>
                  <a:pt x="77" y="42"/>
                </a:lnTo>
                <a:lnTo>
                  <a:pt x="60" y="50"/>
                </a:lnTo>
                <a:lnTo>
                  <a:pt x="44" y="58"/>
                </a:lnTo>
                <a:lnTo>
                  <a:pt x="31" y="67"/>
                </a:lnTo>
                <a:lnTo>
                  <a:pt x="20" y="77"/>
                </a:lnTo>
                <a:lnTo>
                  <a:pt x="12" y="86"/>
                </a:lnTo>
                <a:lnTo>
                  <a:pt x="4" y="96"/>
                </a:lnTo>
                <a:lnTo>
                  <a:pt x="1" y="106"/>
                </a:lnTo>
                <a:lnTo>
                  <a:pt x="0" y="116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BBAB2D0B-3E59-98A9-FEA8-84D1023C5852}"/>
              </a:ext>
            </a:extLst>
          </p:cNvPr>
          <p:cNvSpPr>
            <a:spLocks noGrp="1"/>
          </p:cNvSpPr>
          <p:nvPr/>
        </p:nvSpPr>
        <p:spPr>
          <a:xfrm>
            <a:off x="3969544" y="2209800"/>
            <a:ext cx="1055687" cy="371475"/>
          </a:xfrm>
          <a:custGeom>
            <a:avLst/>
            <a:gdLst>
              <a:gd name="T0" fmla="*/ 1 w 665"/>
              <a:gd name="T1" fmla="*/ 127 h 234"/>
              <a:gd name="T2" fmla="*/ 12 w 665"/>
              <a:gd name="T3" fmla="*/ 147 h 234"/>
              <a:gd name="T4" fmla="*/ 31 w 665"/>
              <a:gd name="T5" fmla="*/ 166 h 234"/>
              <a:gd name="T6" fmla="*/ 60 w 665"/>
              <a:gd name="T7" fmla="*/ 183 h 234"/>
              <a:gd name="T8" fmla="*/ 96 w 665"/>
              <a:gd name="T9" fmla="*/ 199 h 234"/>
              <a:gd name="T10" fmla="*/ 141 w 665"/>
              <a:gd name="T11" fmla="*/ 212 h 234"/>
              <a:gd name="T12" fmla="*/ 192 w 665"/>
              <a:gd name="T13" fmla="*/ 222 h 234"/>
              <a:gd name="T14" fmla="*/ 245 w 665"/>
              <a:gd name="T15" fmla="*/ 229 h 234"/>
              <a:gd name="T16" fmla="*/ 302 w 665"/>
              <a:gd name="T17" fmla="*/ 232 h 234"/>
              <a:gd name="T18" fmla="*/ 361 w 665"/>
              <a:gd name="T19" fmla="*/ 232 h 234"/>
              <a:gd name="T20" fmla="*/ 418 w 665"/>
              <a:gd name="T21" fmla="*/ 229 h 234"/>
              <a:gd name="T22" fmla="*/ 472 w 665"/>
              <a:gd name="T23" fmla="*/ 222 h 234"/>
              <a:gd name="T24" fmla="*/ 523 w 665"/>
              <a:gd name="T25" fmla="*/ 212 h 234"/>
              <a:gd name="T26" fmla="*/ 567 w 665"/>
              <a:gd name="T27" fmla="*/ 199 h 234"/>
              <a:gd name="T28" fmla="*/ 604 w 665"/>
              <a:gd name="T29" fmla="*/ 183 h 234"/>
              <a:gd name="T30" fmla="*/ 633 w 665"/>
              <a:gd name="T31" fmla="*/ 166 h 234"/>
              <a:gd name="T32" fmla="*/ 653 w 665"/>
              <a:gd name="T33" fmla="*/ 147 h 234"/>
              <a:gd name="T34" fmla="*/ 664 w 665"/>
              <a:gd name="T35" fmla="*/ 127 h 234"/>
              <a:gd name="T36" fmla="*/ 664 w 665"/>
              <a:gd name="T37" fmla="*/ 106 h 234"/>
              <a:gd name="T38" fmla="*/ 653 w 665"/>
              <a:gd name="T39" fmla="*/ 87 h 234"/>
              <a:gd name="T40" fmla="*/ 633 w 665"/>
              <a:gd name="T41" fmla="*/ 68 h 234"/>
              <a:gd name="T42" fmla="*/ 604 w 665"/>
              <a:gd name="T43" fmla="*/ 50 h 234"/>
              <a:gd name="T44" fmla="*/ 567 w 665"/>
              <a:gd name="T45" fmla="*/ 34 h 234"/>
              <a:gd name="T46" fmla="*/ 523 w 665"/>
              <a:gd name="T47" fmla="*/ 21 h 234"/>
              <a:gd name="T48" fmla="*/ 472 w 665"/>
              <a:gd name="T49" fmla="*/ 12 h 234"/>
              <a:gd name="T50" fmla="*/ 418 w 665"/>
              <a:gd name="T51" fmla="*/ 5 h 234"/>
              <a:gd name="T52" fmla="*/ 361 w 665"/>
              <a:gd name="T53" fmla="*/ 1 h 234"/>
              <a:gd name="T54" fmla="*/ 302 w 665"/>
              <a:gd name="T55" fmla="*/ 1 h 234"/>
              <a:gd name="T56" fmla="*/ 245 w 665"/>
              <a:gd name="T57" fmla="*/ 5 h 234"/>
              <a:gd name="T58" fmla="*/ 192 w 665"/>
              <a:gd name="T59" fmla="*/ 12 h 234"/>
              <a:gd name="T60" fmla="*/ 141 w 665"/>
              <a:gd name="T61" fmla="*/ 22 h 234"/>
              <a:gd name="T62" fmla="*/ 96 w 665"/>
              <a:gd name="T63" fmla="*/ 35 h 234"/>
              <a:gd name="T64" fmla="*/ 60 w 665"/>
              <a:gd name="T65" fmla="*/ 50 h 234"/>
              <a:gd name="T66" fmla="*/ 31 w 665"/>
              <a:gd name="T67" fmla="*/ 68 h 234"/>
              <a:gd name="T68" fmla="*/ 12 w 665"/>
              <a:gd name="T69" fmla="*/ 87 h 234"/>
              <a:gd name="T70" fmla="*/ 1 w 665"/>
              <a:gd name="T71" fmla="*/ 107 h 234"/>
            </a:gdLst>
            <a:ahLst/>
            <a:cxnLst/>
            <a:rect l="0" t="0" r="r" b="b"/>
            <a:pathLst>
              <a:path w="665" h="234">
                <a:moveTo>
                  <a:pt x="0" y="117"/>
                </a:moveTo>
                <a:lnTo>
                  <a:pt x="1" y="127"/>
                </a:lnTo>
                <a:lnTo>
                  <a:pt x="4" y="137"/>
                </a:lnTo>
                <a:lnTo>
                  <a:pt x="12" y="147"/>
                </a:lnTo>
                <a:lnTo>
                  <a:pt x="20" y="157"/>
                </a:lnTo>
                <a:lnTo>
                  <a:pt x="31" y="166"/>
                </a:lnTo>
                <a:lnTo>
                  <a:pt x="44" y="175"/>
                </a:lnTo>
                <a:lnTo>
                  <a:pt x="60" y="183"/>
                </a:lnTo>
                <a:lnTo>
                  <a:pt x="77" y="191"/>
                </a:lnTo>
                <a:lnTo>
                  <a:pt x="96" y="199"/>
                </a:lnTo>
                <a:lnTo>
                  <a:pt x="118" y="206"/>
                </a:lnTo>
                <a:lnTo>
                  <a:pt x="141" y="212"/>
                </a:lnTo>
                <a:lnTo>
                  <a:pt x="167" y="217"/>
                </a:lnTo>
                <a:lnTo>
                  <a:pt x="192" y="222"/>
                </a:lnTo>
                <a:lnTo>
                  <a:pt x="219" y="226"/>
                </a:lnTo>
                <a:lnTo>
                  <a:pt x="245" y="229"/>
                </a:lnTo>
                <a:lnTo>
                  <a:pt x="275" y="231"/>
                </a:lnTo>
                <a:lnTo>
                  <a:pt x="302" y="232"/>
                </a:lnTo>
                <a:lnTo>
                  <a:pt x="333" y="233"/>
                </a:lnTo>
                <a:lnTo>
                  <a:pt x="361" y="232"/>
                </a:lnTo>
                <a:lnTo>
                  <a:pt x="390" y="231"/>
                </a:lnTo>
                <a:lnTo>
                  <a:pt x="418" y="229"/>
                </a:lnTo>
                <a:lnTo>
                  <a:pt x="445" y="226"/>
                </a:lnTo>
                <a:lnTo>
                  <a:pt x="472" y="222"/>
                </a:lnTo>
                <a:lnTo>
                  <a:pt x="499" y="217"/>
                </a:lnTo>
                <a:lnTo>
                  <a:pt x="523" y="212"/>
                </a:lnTo>
                <a:lnTo>
                  <a:pt x="546" y="206"/>
                </a:lnTo>
                <a:lnTo>
                  <a:pt x="567" y="199"/>
                </a:lnTo>
                <a:lnTo>
                  <a:pt x="587" y="191"/>
                </a:lnTo>
                <a:lnTo>
                  <a:pt x="604" y="183"/>
                </a:lnTo>
                <a:lnTo>
                  <a:pt x="620" y="175"/>
                </a:lnTo>
                <a:lnTo>
                  <a:pt x="633" y="166"/>
                </a:lnTo>
                <a:lnTo>
                  <a:pt x="644" y="157"/>
                </a:lnTo>
                <a:lnTo>
                  <a:pt x="653" y="147"/>
                </a:lnTo>
                <a:lnTo>
                  <a:pt x="659" y="137"/>
                </a:lnTo>
                <a:lnTo>
                  <a:pt x="664" y="127"/>
                </a:lnTo>
                <a:lnTo>
                  <a:pt x="664" y="117"/>
                </a:lnTo>
                <a:lnTo>
                  <a:pt x="664" y="106"/>
                </a:lnTo>
                <a:lnTo>
                  <a:pt x="659" y="97"/>
                </a:lnTo>
                <a:lnTo>
                  <a:pt x="653" y="87"/>
                </a:lnTo>
                <a:lnTo>
                  <a:pt x="644" y="77"/>
                </a:lnTo>
                <a:lnTo>
                  <a:pt x="633" y="68"/>
                </a:lnTo>
                <a:lnTo>
                  <a:pt x="619" y="59"/>
                </a:lnTo>
                <a:lnTo>
                  <a:pt x="604" y="50"/>
                </a:lnTo>
                <a:lnTo>
                  <a:pt x="587" y="42"/>
                </a:lnTo>
                <a:lnTo>
                  <a:pt x="567" y="34"/>
                </a:lnTo>
                <a:lnTo>
                  <a:pt x="546" y="28"/>
                </a:lnTo>
                <a:lnTo>
                  <a:pt x="523" y="21"/>
                </a:lnTo>
                <a:lnTo>
                  <a:pt x="498" y="16"/>
                </a:lnTo>
                <a:lnTo>
                  <a:pt x="472" y="12"/>
                </a:lnTo>
                <a:lnTo>
                  <a:pt x="445" y="7"/>
                </a:lnTo>
                <a:lnTo>
                  <a:pt x="418" y="5"/>
                </a:lnTo>
                <a:lnTo>
                  <a:pt x="390" y="3"/>
                </a:lnTo>
                <a:lnTo>
                  <a:pt x="361" y="1"/>
                </a:lnTo>
                <a:lnTo>
                  <a:pt x="332" y="0"/>
                </a:lnTo>
                <a:lnTo>
                  <a:pt x="302" y="1"/>
                </a:lnTo>
                <a:lnTo>
                  <a:pt x="275" y="3"/>
                </a:lnTo>
                <a:lnTo>
                  <a:pt x="245" y="5"/>
                </a:lnTo>
                <a:lnTo>
                  <a:pt x="219" y="8"/>
                </a:lnTo>
                <a:lnTo>
                  <a:pt x="192" y="12"/>
                </a:lnTo>
                <a:lnTo>
                  <a:pt x="166" y="16"/>
                </a:lnTo>
                <a:lnTo>
                  <a:pt x="141" y="22"/>
                </a:lnTo>
                <a:lnTo>
                  <a:pt x="118" y="28"/>
                </a:lnTo>
                <a:lnTo>
                  <a:pt x="96" y="35"/>
                </a:lnTo>
                <a:lnTo>
                  <a:pt x="77" y="42"/>
                </a:lnTo>
                <a:lnTo>
                  <a:pt x="60" y="50"/>
                </a:lnTo>
                <a:lnTo>
                  <a:pt x="44" y="59"/>
                </a:lnTo>
                <a:lnTo>
                  <a:pt x="31" y="68"/>
                </a:lnTo>
                <a:lnTo>
                  <a:pt x="20" y="77"/>
                </a:lnTo>
                <a:lnTo>
                  <a:pt x="12" y="87"/>
                </a:lnTo>
                <a:lnTo>
                  <a:pt x="4" y="97"/>
                </a:lnTo>
                <a:lnTo>
                  <a:pt x="1" y="107"/>
                </a:lnTo>
                <a:lnTo>
                  <a:pt x="0" y="11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005B1CD9-2F22-1ADD-C766-379EBF5E1BBF}"/>
              </a:ext>
            </a:extLst>
          </p:cNvPr>
          <p:cNvSpPr>
            <a:spLocks noGrp="1"/>
          </p:cNvSpPr>
          <p:nvPr/>
        </p:nvSpPr>
        <p:spPr>
          <a:xfrm>
            <a:off x="2850356" y="2753434"/>
            <a:ext cx="1055688" cy="371475"/>
          </a:xfrm>
          <a:custGeom>
            <a:avLst/>
            <a:gdLst>
              <a:gd name="T0" fmla="*/ 1 w 665"/>
              <a:gd name="T1" fmla="*/ 127 h 234"/>
              <a:gd name="T2" fmla="*/ 10 w 665"/>
              <a:gd name="T3" fmla="*/ 147 h 234"/>
              <a:gd name="T4" fmla="*/ 31 w 665"/>
              <a:gd name="T5" fmla="*/ 166 h 234"/>
              <a:gd name="T6" fmla="*/ 59 w 665"/>
              <a:gd name="T7" fmla="*/ 183 h 234"/>
              <a:gd name="T8" fmla="*/ 96 w 665"/>
              <a:gd name="T9" fmla="*/ 199 h 234"/>
              <a:gd name="T10" fmla="*/ 141 w 665"/>
              <a:gd name="T11" fmla="*/ 212 h 234"/>
              <a:gd name="T12" fmla="*/ 191 w 665"/>
              <a:gd name="T13" fmla="*/ 222 h 234"/>
              <a:gd name="T14" fmla="*/ 245 w 665"/>
              <a:gd name="T15" fmla="*/ 229 h 234"/>
              <a:gd name="T16" fmla="*/ 302 w 665"/>
              <a:gd name="T17" fmla="*/ 232 h 234"/>
              <a:gd name="T18" fmla="*/ 361 w 665"/>
              <a:gd name="T19" fmla="*/ 232 h 234"/>
              <a:gd name="T20" fmla="*/ 418 w 665"/>
              <a:gd name="T21" fmla="*/ 229 h 234"/>
              <a:gd name="T22" fmla="*/ 472 w 665"/>
              <a:gd name="T23" fmla="*/ 222 h 234"/>
              <a:gd name="T24" fmla="*/ 522 w 665"/>
              <a:gd name="T25" fmla="*/ 212 h 234"/>
              <a:gd name="T26" fmla="*/ 565 w 665"/>
              <a:gd name="T27" fmla="*/ 199 h 234"/>
              <a:gd name="T28" fmla="*/ 603 w 665"/>
              <a:gd name="T29" fmla="*/ 183 h 234"/>
              <a:gd name="T30" fmla="*/ 632 w 665"/>
              <a:gd name="T31" fmla="*/ 166 h 234"/>
              <a:gd name="T32" fmla="*/ 653 w 665"/>
              <a:gd name="T33" fmla="*/ 147 h 234"/>
              <a:gd name="T34" fmla="*/ 662 w 665"/>
              <a:gd name="T35" fmla="*/ 127 h 234"/>
              <a:gd name="T36" fmla="*/ 662 w 665"/>
              <a:gd name="T37" fmla="*/ 106 h 234"/>
              <a:gd name="T38" fmla="*/ 653 w 665"/>
              <a:gd name="T39" fmla="*/ 86 h 234"/>
              <a:gd name="T40" fmla="*/ 632 w 665"/>
              <a:gd name="T41" fmla="*/ 68 h 234"/>
              <a:gd name="T42" fmla="*/ 603 w 665"/>
              <a:gd name="T43" fmla="*/ 50 h 234"/>
              <a:gd name="T44" fmla="*/ 565 w 665"/>
              <a:gd name="T45" fmla="*/ 34 h 234"/>
              <a:gd name="T46" fmla="*/ 522 w 665"/>
              <a:gd name="T47" fmla="*/ 21 h 234"/>
              <a:gd name="T48" fmla="*/ 472 w 665"/>
              <a:gd name="T49" fmla="*/ 11 h 234"/>
              <a:gd name="T50" fmla="*/ 416 w 665"/>
              <a:gd name="T51" fmla="*/ 5 h 234"/>
              <a:gd name="T52" fmla="*/ 361 w 665"/>
              <a:gd name="T53" fmla="*/ 1 h 234"/>
              <a:gd name="T54" fmla="*/ 302 w 665"/>
              <a:gd name="T55" fmla="*/ 1 h 234"/>
              <a:gd name="T56" fmla="*/ 245 w 665"/>
              <a:gd name="T57" fmla="*/ 5 h 234"/>
              <a:gd name="T58" fmla="*/ 191 w 665"/>
              <a:gd name="T59" fmla="*/ 12 h 234"/>
              <a:gd name="T60" fmla="*/ 141 w 665"/>
              <a:gd name="T61" fmla="*/ 21 h 234"/>
              <a:gd name="T62" fmla="*/ 96 w 665"/>
              <a:gd name="T63" fmla="*/ 35 h 234"/>
              <a:gd name="T64" fmla="*/ 59 w 665"/>
              <a:gd name="T65" fmla="*/ 50 h 234"/>
              <a:gd name="T66" fmla="*/ 31 w 665"/>
              <a:gd name="T67" fmla="*/ 68 h 234"/>
              <a:gd name="T68" fmla="*/ 10 w 665"/>
              <a:gd name="T69" fmla="*/ 86 h 234"/>
              <a:gd name="T70" fmla="*/ 1 w 665"/>
              <a:gd name="T71" fmla="*/ 107 h 234"/>
            </a:gdLst>
            <a:ahLst/>
            <a:cxnLst/>
            <a:rect l="0" t="0" r="r" b="b"/>
            <a:pathLst>
              <a:path w="665" h="234">
                <a:moveTo>
                  <a:pt x="0" y="117"/>
                </a:moveTo>
                <a:lnTo>
                  <a:pt x="1" y="127"/>
                </a:lnTo>
                <a:lnTo>
                  <a:pt x="4" y="137"/>
                </a:lnTo>
                <a:lnTo>
                  <a:pt x="10" y="147"/>
                </a:lnTo>
                <a:lnTo>
                  <a:pt x="19" y="156"/>
                </a:lnTo>
                <a:lnTo>
                  <a:pt x="31" y="166"/>
                </a:lnTo>
                <a:lnTo>
                  <a:pt x="43" y="175"/>
                </a:lnTo>
                <a:lnTo>
                  <a:pt x="59" y="183"/>
                </a:lnTo>
                <a:lnTo>
                  <a:pt x="77" y="191"/>
                </a:lnTo>
                <a:lnTo>
                  <a:pt x="96" y="199"/>
                </a:lnTo>
                <a:lnTo>
                  <a:pt x="118" y="206"/>
                </a:lnTo>
                <a:lnTo>
                  <a:pt x="141" y="212"/>
                </a:lnTo>
                <a:lnTo>
                  <a:pt x="166" y="217"/>
                </a:lnTo>
                <a:lnTo>
                  <a:pt x="191" y="222"/>
                </a:lnTo>
                <a:lnTo>
                  <a:pt x="218" y="226"/>
                </a:lnTo>
                <a:lnTo>
                  <a:pt x="245" y="229"/>
                </a:lnTo>
                <a:lnTo>
                  <a:pt x="273" y="231"/>
                </a:lnTo>
                <a:lnTo>
                  <a:pt x="302" y="232"/>
                </a:lnTo>
                <a:lnTo>
                  <a:pt x="332" y="233"/>
                </a:lnTo>
                <a:lnTo>
                  <a:pt x="361" y="232"/>
                </a:lnTo>
                <a:lnTo>
                  <a:pt x="388" y="231"/>
                </a:lnTo>
                <a:lnTo>
                  <a:pt x="418" y="229"/>
                </a:lnTo>
                <a:lnTo>
                  <a:pt x="445" y="226"/>
                </a:lnTo>
                <a:lnTo>
                  <a:pt x="472" y="222"/>
                </a:lnTo>
                <a:lnTo>
                  <a:pt x="498" y="217"/>
                </a:lnTo>
                <a:lnTo>
                  <a:pt x="522" y="212"/>
                </a:lnTo>
                <a:lnTo>
                  <a:pt x="545" y="205"/>
                </a:lnTo>
                <a:lnTo>
                  <a:pt x="565" y="199"/>
                </a:lnTo>
                <a:lnTo>
                  <a:pt x="586" y="191"/>
                </a:lnTo>
                <a:lnTo>
                  <a:pt x="603" y="183"/>
                </a:lnTo>
                <a:lnTo>
                  <a:pt x="619" y="175"/>
                </a:lnTo>
                <a:lnTo>
                  <a:pt x="632" y="166"/>
                </a:lnTo>
                <a:lnTo>
                  <a:pt x="643" y="156"/>
                </a:lnTo>
                <a:lnTo>
                  <a:pt x="653" y="147"/>
                </a:lnTo>
                <a:lnTo>
                  <a:pt x="659" y="137"/>
                </a:lnTo>
                <a:lnTo>
                  <a:pt x="662" y="127"/>
                </a:lnTo>
                <a:lnTo>
                  <a:pt x="664" y="117"/>
                </a:lnTo>
                <a:lnTo>
                  <a:pt x="662" y="106"/>
                </a:lnTo>
                <a:lnTo>
                  <a:pt x="659" y="96"/>
                </a:lnTo>
                <a:lnTo>
                  <a:pt x="653" y="86"/>
                </a:lnTo>
                <a:lnTo>
                  <a:pt x="643" y="77"/>
                </a:lnTo>
                <a:lnTo>
                  <a:pt x="632" y="68"/>
                </a:lnTo>
                <a:lnTo>
                  <a:pt x="619" y="58"/>
                </a:lnTo>
                <a:lnTo>
                  <a:pt x="603" y="50"/>
                </a:lnTo>
                <a:lnTo>
                  <a:pt x="586" y="42"/>
                </a:lnTo>
                <a:lnTo>
                  <a:pt x="565" y="34"/>
                </a:lnTo>
                <a:lnTo>
                  <a:pt x="545" y="28"/>
                </a:lnTo>
                <a:lnTo>
                  <a:pt x="522" y="21"/>
                </a:lnTo>
                <a:lnTo>
                  <a:pt x="498" y="16"/>
                </a:lnTo>
                <a:lnTo>
                  <a:pt x="472" y="11"/>
                </a:lnTo>
                <a:lnTo>
                  <a:pt x="445" y="7"/>
                </a:lnTo>
                <a:lnTo>
                  <a:pt x="416" y="5"/>
                </a:lnTo>
                <a:lnTo>
                  <a:pt x="388" y="2"/>
                </a:lnTo>
                <a:lnTo>
                  <a:pt x="361" y="1"/>
                </a:lnTo>
                <a:lnTo>
                  <a:pt x="332" y="0"/>
                </a:lnTo>
                <a:lnTo>
                  <a:pt x="302" y="1"/>
                </a:lnTo>
                <a:lnTo>
                  <a:pt x="273" y="2"/>
                </a:lnTo>
                <a:lnTo>
                  <a:pt x="245" y="5"/>
                </a:lnTo>
                <a:lnTo>
                  <a:pt x="218" y="7"/>
                </a:lnTo>
                <a:lnTo>
                  <a:pt x="191" y="12"/>
                </a:lnTo>
                <a:lnTo>
                  <a:pt x="166" y="16"/>
                </a:lnTo>
                <a:lnTo>
                  <a:pt x="141" y="21"/>
                </a:lnTo>
                <a:lnTo>
                  <a:pt x="117" y="28"/>
                </a:lnTo>
                <a:lnTo>
                  <a:pt x="96" y="35"/>
                </a:lnTo>
                <a:lnTo>
                  <a:pt x="77" y="42"/>
                </a:lnTo>
                <a:lnTo>
                  <a:pt x="59" y="50"/>
                </a:lnTo>
                <a:lnTo>
                  <a:pt x="43" y="58"/>
                </a:lnTo>
                <a:lnTo>
                  <a:pt x="31" y="68"/>
                </a:lnTo>
                <a:lnTo>
                  <a:pt x="19" y="77"/>
                </a:lnTo>
                <a:lnTo>
                  <a:pt x="10" y="86"/>
                </a:lnTo>
                <a:lnTo>
                  <a:pt x="4" y="97"/>
                </a:lnTo>
                <a:lnTo>
                  <a:pt x="1" y="107"/>
                </a:lnTo>
                <a:lnTo>
                  <a:pt x="0" y="11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C8B5AB33-779A-4D61-442A-95306A517B35}"/>
              </a:ext>
            </a:extLst>
          </p:cNvPr>
          <p:cNvSpPr>
            <a:spLocks noGrp="1"/>
          </p:cNvSpPr>
          <p:nvPr/>
        </p:nvSpPr>
        <p:spPr>
          <a:xfrm>
            <a:off x="3917156" y="3210634"/>
            <a:ext cx="1176338" cy="609600"/>
          </a:xfrm>
          <a:custGeom>
            <a:avLst/>
            <a:gdLst>
              <a:gd name="T0" fmla="*/ 0 w 741"/>
              <a:gd name="T1" fmla="*/ 191 h 384"/>
              <a:gd name="T2" fmla="*/ 365 w 741"/>
              <a:gd name="T3" fmla="*/ 0 h 384"/>
              <a:gd name="T4" fmla="*/ 740 w 741"/>
              <a:gd name="T5" fmla="*/ 198 h 384"/>
              <a:gd name="T6" fmla="*/ 365 w 741"/>
              <a:gd name="T7" fmla="*/ 383 h 384"/>
              <a:gd name="T8" fmla="*/ 0 w 741"/>
              <a:gd name="T9" fmla="*/ 191 h 384"/>
            </a:gdLst>
            <a:ahLst/>
            <a:cxnLst/>
            <a:rect l="0" t="0" r="r" b="b"/>
            <a:pathLst>
              <a:path w="741" h="384">
                <a:moveTo>
                  <a:pt x="0" y="191"/>
                </a:moveTo>
                <a:lnTo>
                  <a:pt x="365" y="0"/>
                </a:lnTo>
                <a:lnTo>
                  <a:pt x="740" y="198"/>
                </a:lnTo>
                <a:lnTo>
                  <a:pt x="365" y="383"/>
                </a:lnTo>
                <a:lnTo>
                  <a:pt x="0" y="191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Freeform 14">
            <a:extLst>
              <a:ext uri="{FF2B5EF4-FFF2-40B4-BE49-F238E27FC236}">
                <a16:creationId xmlns:a16="http://schemas.microsoft.com/office/drawing/2014/main" id="{9D1FB6E0-11D6-5DC8-3C18-7F3A0F1F9D2A}"/>
              </a:ext>
            </a:extLst>
          </p:cNvPr>
          <p:cNvSpPr>
            <a:spLocks noGrp="1"/>
          </p:cNvSpPr>
          <p:nvPr/>
        </p:nvSpPr>
        <p:spPr>
          <a:xfrm>
            <a:off x="1859756" y="3351922"/>
            <a:ext cx="1249363" cy="331787"/>
          </a:xfrm>
          <a:custGeom>
            <a:avLst/>
            <a:gdLst>
              <a:gd name="T0" fmla="*/ 786 w 787"/>
              <a:gd name="T1" fmla="*/ 208 h 209"/>
              <a:gd name="T2" fmla="*/ 786 w 787"/>
              <a:gd name="T3" fmla="*/ 0 h 209"/>
              <a:gd name="T4" fmla="*/ 0 w 787"/>
              <a:gd name="T5" fmla="*/ 0 h 209"/>
              <a:gd name="T6" fmla="*/ 0 w 787"/>
              <a:gd name="T7" fmla="*/ 208 h 209"/>
              <a:gd name="T8" fmla="*/ 786 w 787"/>
              <a:gd name="T9" fmla="*/ 208 h 209"/>
            </a:gdLst>
            <a:ahLst/>
            <a:cxnLst/>
            <a:rect l="0" t="0" r="r" b="b"/>
            <a:pathLst>
              <a:path w="787" h="209">
                <a:moveTo>
                  <a:pt x="786" y="208"/>
                </a:moveTo>
                <a:lnTo>
                  <a:pt x="786" y="0"/>
                </a:lnTo>
                <a:lnTo>
                  <a:pt x="0" y="0"/>
                </a:lnTo>
                <a:lnTo>
                  <a:pt x="0" y="208"/>
                </a:lnTo>
                <a:lnTo>
                  <a:pt x="786" y="208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BDC84DC9-A882-2A01-0776-1C8CEE0EB9EA}"/>
              </a:ext>
            </a:extLst>
          </p:cNvPr>
          <p:cNvSpPr>
            <a:spLocks noGrp="1"/>
          </p:cNvSpPr>
          <p:nvPr/>
        </p:nvSpPr>
        <p:spPr>
          <a:xfrm>
            <a:off x="6077744" y="2493084"/>
            <a:ext cx="1058862" cy="371475"/>
          </a:xfrm>
          <a:custGeom>
            <a:avLst/>
            <a:gdLst>
              <a:gd name="T0" fmla="*/ 664 w 667"/>
              <a:gd name="T1" fmla="*/ 107 h 234"/>
              <a:gd name="T2" fmla="*/ 655 w 667"/>
              <a:gd name="T3" fmla="*/ 86 h 234"/>
              <a:gd name="T4" fmla="*/ 634 w 667"/>
              <a:gd name="T5" fmla="*/ 67 h 234"/>
              <a:gd name="T6" fmla="*/ 606 w 667"/>
              <a:gd name="T7" fmla="*/ 50 h 234"/>
              <a:gd name="T8" fmla="*/ 568 w 667"/>
              <a:gd name="T9" fmla="*/ 35 h 234"/>
              <a:gd name="T10" fmla="*/ 524 w 667"/>
              <a:gd name="T11" fmla="*/ 21 h 234"/>
              <a:gd name="T12" fmla="*/ 474 w 667"/>
              <a:gd name="T13" fmla="*/ 11 h 234"/>
              <a:gd name="T14" fmla="*/ 419 w 667"/>
              <a:gd name="T15" fmla="*/ 4 h 234"/>
              <a:gd name="T16" fmla="*/ 362 w 667"/>
              <a:gd name="T17" fmla="*/ 1 h 234"/>
              <a:gd name="T18" fmla="*/ 304 w 667"/>
              <a:gd name="T19" fmla="*/ 1 h 234"/>
              <a:gd name="T20" fmla="*/ 247 w 667"/>
              <a:gd name="T21" fmla="*/ 4 h 234"/>
              <a:gd name="T22" fmla="*/ 192 w 667"/>
              <a:gd name="T23" fmla="*/ 11 h 234"/>
              <a:gd name="T24" fmla="*/ 143 w 667"/>
              <a:gd name="T25" fmla="*/ 21 h 234"/>
              <a:gd name="T26" fmla="*/ 98 w 667"/>
              <a:gd name="T27" fmla="*/ 35 h 234"/>
              <a:gd name="T28" fmla="*/ 60 w 667"/>
              <a:gd name="T29" fmla="*/ 50 h 234"/>
              <a:gd name="T30" fmla="*/ 31 w 667"/>
              <a:gd name="T31" fmla="*/ 67 h 234"/>
              <a:gd name="T32" fmla="*/ 12 w 667"/>
              <a:gd name="T33" fmla="*/ 86 h 234"/>
              <a:gd name="T34" fmla="*/ 2 w 667"/>
              <a:gd name="T35" fmla="*/ 107 h 234"/>
              <a:gd name="T36" fmla="*/ 2 w 667"/>
              <a:gd name="T37" fmla="*/ 127 h 234"/>
              <a:gd name="T38" fmla="*/ 12 w 667"/>
              <a:gd name="T39" fmla="*/ 147 h 234"/>
              <a:gd name="T40" fmla="*/ 31 w 667"/>
              <a:gd name="T41" fmla="*/ 166 h 234"/>
              <a:gd name="T42" fmla="*/ 60 w 667"/>
              <a:gd name="T43" fmla="*/ 183 h 234"/>
              <a:gd name="T44" fmla="*/ 98 w 667"/>
              <a:gd name="T45" fmla="*/ 199 h 234"/>
              <a:gd name="T46" fmla="*/ 143 w 667"/>
              <a:gd name="T47" fmla="*/ 212 h 234"/>
              <a:gd name="T48" fmla="*/ 192 w 667"/>
              <a:gd name="T49" fmla="*/ 222 h 234"/>
              <a:gd name="T50" fmla="*/ 247 w 667"/>
              <a:gd name="T51" fmla="*/ 229 h 234"/>
              <a:gd name="T52" fmla="*/ 304 w 667"/>
              <a:gd name="T53" fmla="*/ 232 h 234"/>
              <a:gd name="T54" fmla="*/ 362 w 667"/>
              <a:gd name="T55" fmla="*/ 232 h 234"/>
              <a:gd name="T56" fmla="*/ 419 w 667"/>
              <a:gd name="T57" fmla="*/ 229 h 234"/>
              <a:gd name="T58" fmla="*/ 474 w 667"/>
              <a:gd name="T59" fmla="*/ 222 h 234"/>
              <a:gd name="T60" fmla="*/ 524 w 667"/>
              <a:gd name="T61" fmla="*/ 212 h 234"/>
              <a:gd name="T62" fmla="*/ 568 w 667"/>
              <a:gd name="T63" fmla="*/ 199 h 234"/>
              <a:gd name="T64" fmla="*/ 606 w 667"/>
              <a:gd name="T65" fmla="*/ 183 h 234"/>
              <a:gd name="T66" fmla="*/ 634 w 667"/>
              <a:gd name="T67" fmla="*/ 166 h 234"/>
              <a:gd name="T68" fmla="*/ 655 w 667"/>
              <a:gd name="T69" fmla="*/ 147 h 234"/>
              <a:gd name="T70" fmla="*/ 664 w 667"/>
              <a:gd name="T71" fmla="*/ 127 h 234"/>
            </a:gdLst>
            <a:ahLst/>
            <a:cxnLst/>
            <a:rect l="0" t="0" r="r" b="b"/>
            <a:pathLst>
              <a:path w="667" h="234">
                <a:moveTo>
                  <a:pt x="666" y="116"/>
                </a:moveTo>
                <a:lnTo>
                  <a:pt x="664" y="107"/>
                </a:lnTo>
                <a:lnTo>
                  <a:pt x="661" y="96"/>
                </a:lnTo>
                <a:lnTo>
                  <a:pt x="655" y="86"/>
                </a:lnTo>
                <a:lnTo>
                  <a:pt x="646" y="77"/>
                </a:lnTo>
                <a:lnTo>
                  <a:pt x="634" y="67"/>
                </a:lnTo>
                <a:lnTo>
                  <a:pt x="621" y="58"/>
                </a:lnTo>
                <a:lnTo>
                  <a:pt x="606" y="50"/>
                </a:lnTo>
                <a:lnTo>
                  <a:pt x="588" y="42"/>
                </a:lnTo>
                <a:lnTo>
                  <a:pt x="568" y="35"/>
                </a:lnTo>
                <a:lnTo>
                  <a:pt x="547" y="28"/>
                </a:lnTo>
                <a:lnTo>
                  <a:pt x="524" y="21"/>
                </a:lnTo>
                <a:lnTo>
                  <a:pt x="499" y="16"/>
                </a:lnTo>
                <a:lnTo>
                  <a:pt x="474" y="11"/>
                </a:lnTo>
                <a:lnTo>
                  <a:pt x="447" y="7"/>
                </a:lnTo>
                <a:lnTo>
                  <a:pt x="419" y="4"/>
                </a:lnTo>
                <a:lnTo>
                  <a:pt x="391" y="2"/>
                </a:lnTo>
                <a:lnTo>
                  <a:pt x="362" y="1"/>
                </a:lnTo>
                <a:lnTo>
                  <a:pt x="333" y="0"/>
                </a:lnTo>
                <a:lnTo>
                  <a:pt x="304" y="1"/>
                </a:lnTo>
                <a:lnTo>
                  <a:pt x="275" y="2"/>
                </a:lnTo>
                <a:lnTo>
                  <a:pt x="247" y="4"/>
                </a:lnTo>
                <a:lnTo>
                  <a:pt x="219" y="7"/>
                </a:lnTo>
                <a:lnTo>
                  <a:pt x="192" y="11"/>
                </a:lnTo>
                <a:lnTo>
                  <a:pt x="167" y="16"/>
                </a:lnTo>
                <a:lnTo>
                  <a:pt x="143" y="21"/>
                </a:lnTo>
                <a:lnTo>
                  <a:pt x="120" y="28"/>
                </a:lnTo>
                <a:lnTo>
                  <a:pt x="98" y="35"/>
                </a:lnTo>
                <a:lnTo>
                  <a:pt x="78" y="42"/>
                </a:lnTo>
                <a:lnTo>
                  <a:pt x="60" y="50"/>
                </a:lnTo>
                <a:lnTo>
                  <a:pt x="46" y="58"/>
                </a:lnTo>
                <a:lnTo>
                  <a:pt x="31" y="67"/>
                </a:lnTo>
                <a:lnTo>
                  <a:pt x="20" y="77"/>
                </a:lnTo>
                <a:lnTo>
                  <a:pt x="12" y="86"/>
                </a:lnTo>
                <a:lnTo>
                  <a:pt x="6" y="96"/>
                </a:lnTo>
                <a:lnTo>
                  <a:pt x="2" y="107"/>
                </a:lnTo>
                <a:lnTo>
                  <a:pt x="0" y="116"/>
                </a:lnTo>
                <a:lnTo>
                  <a:pt x="2" y="127"/>
                </a:lnTo>
                <a:lnTo>
                  <a:pt x="6" y="137"/>
                </a:lnTo>
                <a:lnTo>
                  <a:pt x="12" y="147"/>
                </a:lnTo>
                <a:lnTo>
                  <a:pt x="20" y="156"/>
                </a:lnTo>
                <a:lnTo>
                  <a:pt x="31" y="166"/>
                </a:lnTo>
                <a:lnTo>
                  <a:pt x="46" y="175"/>
                </a:lnTo>
                <a:lnTo>
                  <a:pt x="60" y="183"/>
                </a:lnTo>
                <a:lnTo>
                  <a:pt x="78" y="191"/>
                </a:lnTo>
                <a:lnTo>
                  <a:pt x="98" y="199"/>
                </a:lnTo>
                <a:lnTo>
                  <a:pt x="120" y="206"/>
                </a:lnTo>
                <a:lnTo>
                  <a:pt x="143" y="212"/>
                </a:lnTo>
                <a:lnTo>
                  <a:pt x="167" y="217"/>
                </a:lnTo>
                <a:lnTo>
                  <a:pt x="192" y="222"/>
                </a:lnTo>
                <a:lnTo>
                  <a:pt x="219" y="226"/>
                </a:lnTo>
                <a:lnTo>
                  <a:pt x="247" y="229"/>
                </a:lnTo>
                <a:lnTo>
                  <a:pt x="275" y="231"/>
                </a:lnTo>
                <a:lnTo>
                  <a:pt x="304" y="232"/>
                </a:lnTo>
                <a:lnTo>
                  <a:pt x="333" y="233"/>
                </a:lnTo>
                <a:lnTo>
                  <a:pt x="362" y="232"/>
                </a:lnTo>
                <a:lnTo>
                  <a:pt x="391" y="231"/>
                </a:lnTo>
                <a:lnTo>
                  <a:pt x="419" y="229"/>
                </a:lnTo>
                <a:lnTo>
                  <a:pt x="447" y="226"/>
                </a:lnTo>
                <a:lnTo>
                  <a:pt x="474" y="222"/>
                </a:lnTo>
                <a:lnTo>
                  <a:pt x="499" y="217"/>
                </a:lnTo>
                <a:lnTo>
                  <a:pt x="524" y="212"/>
                </a:lnTo>
                <a:lnTo>
                  <a:pt x="547" y="206"/>
                </a:lnTo>
                <a:lnTo>
                  <a:pt x="568" y="199"/>
                </a:lnTo>
                <a:lnTo>
                  <a:pt x="588" y="191"/>
                </a:lnTo>
                <a:lnTo>
                  <a:pt x="606" y="183"/>
                </a:lnTo>
                <a:lnTo>
                  <a:pt x="621" y="175"/>
                </a:lnTo>
                <a:lnTo>
                  <a:pt x="634" y="166"/>
                </a:lnTo>
                <a:lnTo>
                  <a:pt x="646" y="156"/>
                </a:lnTo>
                <a:lnTo>
                  <a:pt x="655" y="147"/>
                </a:lnTo>
                <a:lnTo>
                  <a:pt x="661" y="137"/>
                </a:lnTo>
                <a:lnTo>
                  <a:pt x="664" y="127"/>
                </a:lnTo>
                <a:lnTo>
                  <a:pt x="666" y="116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66D2F616-C631-8E26-2AA3-FA3C2A919EFF}"/>
              </a:ext>
            </a:extLst>
          </p:cNvPr>
          <p:cNvSpPr>
            <a:spLocks noGrp="1"/>
          </p:cNvSpPr>
          <p:nvPr/>
        </p:nvSpPr>
        <p:spPr>
          <a:xfrm>
            <a:off x="3169444" y="2755022"/>
            <a:ext cx="4286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14902CF6-AD00-B862-F798-943523795736}"/>
              </a:ext>
            </a:extLst>
          </p:cNvPr>
          <p:cNvSpPr>
            <a:spLocks noGrp="1"/>
          </p:cNvSpPr>
          <p:nvPr/>
        </p:nvSpPr>
        <p:spPr>
          <a:xfrm>
            <a:off x="6077744" y="3361447"/>
            <a:ext cx="1474787" cy="361950"/>
          </a:xfrm>
          <a:custGeom>
            <a:avLst/>
            <a:gdLst>
              <a:gd name="T0" fmla="*/ 928 w 929"/>
              <a:gd name="T1" fmla="*/ 227 h 228"/>
              <a:gd name="T2" fmla="*/ 928 w 929"/>
              <a:gd name="T3" fmla="*/ 0 h 228"/>
              <a:gd name="T4" fmla="*/ 0 w 929"/>
              <a:gd name="T5" fmla="*/ 0 h 228"/>
              <a:gd name="T6" fmla="*/ 0 w 929"/>
              <a:gd name="T7" fmla="*/ 227 h 228"/>
              <a:gd name="T8" fmla="*/ 928 w 929"/>
              <a:gd name="T9" fmla="*/ 227 h 228"/>
            </a:gdLst>
            <a:ahLst/>
            <a:cxnLst/>
            <a:rect l="0" t="0" r="r" b="b"/>
            <a:pathLst>
              <a:path w="929" h="228">
                <a:moveTo>
                  <a:pt x="928" y="227"/>
                </a:moveTo>
                <a:lnTo>
                  <a:pt x="928" y="0"/>
                </a:lnTo>
                <a:lnTo>
                  <a:pt x="0" y="0"/>
                </a:lnTo>
                <a:lnTo>
                  <a:pt x="0" y="227"/>
                </a:lnTo>
                <a:lnTo>
                  <a:pt x="928" y="22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Freeform 18">
            <a:extLst>
              <a:ext uri="{FF2B5EF4-FFF2-40B4-BE49-F238E27FC236}">
                <a16:creationId xmlns:a16="http://schemas.microsoft.com/office/drawing/2014/main" id="{04CAD1EA-F6F1-2496-1970-BB8A64D415EB}"/>
              </a:ext>
            </a:extLst>
          </p:cNvPr>
          <p:cNvSpPr>
            <a:spLocks noGrp="1"/>
          </p:cNvSpPr>
          <p:nvPr/>
        </p:nvSpPr>
        <p:spPr>
          <a:xfrm>
            <a:off x="3917156" y="4023434"/>
            <a:ext cx="1404938" cy="609600"/>
          </a:xfrm>
          <a:custGeom>
            <a:avLst/>
            <a:gdLst>
              <a:gd name="T0" fmla="*/ 0 w 885"/>
              <a:gd name="T1" fmla="*/ 192 h 384"/>
              <a:gd name="T2" fmla="*/ 436 w 885"/>
              <a:gd name="T3" fmla="*/ 0 h 384"/>
              <a:gd name="T4" fmla="*/ 884 w 885"/>
              <a:gd name="T5" fmla="*/ 198 h 384"/>
              <a:gd name="T6" fmla="*/ 436 w 885"/>
              <a:gd name="T7" fmla="*/ 383 h 384"/>
              <a:gd name="T8" fmla="*/ 0 w 885"/>
              <a:gd name="T9" fmla="*/ 192 h 384"/>
            </a:gdLst>
            <a:ahLst/>
            <a:cxnLst/>
            <a:rect l="0" t="0" r="r" b="b"/>
            <a:pathLst>
              <a:path w="885" h="384">
                <a:moveTo>
                  <a:pt x="0" y="192"/>
                </a:moveTo>
                <a:lnTo>
                  <a:pt x="436" y="0"/>
                </a:lnTo>
                <a:lnTo>
                  <a:pt x="884" y="198"/>
                </a:lnTo>
                <a:lnTo>
                  <a:pt x="436" y="383"/>
                </a:lnTo>
                <a:lnTo>
                  <a:pt x="0" y="192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00C664BC-C790-A1B3-08D7-E6CCEC15D3B0}"/>
              </a:ext>
            </a:extLst>
          </p:cNvPr>
          <p:cNvSpPr>
            <a:spLocks noGrp="1"/>
          </p:cNvSpPr>
          <p:nvPr/>
        </p:nvSpPr>
        <p:spPr>
          <a:xfrm>
            <a:off x="2099469" y="2461334"/>
            <a:ext cx="7112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69F7C80B-8883-E7D7-CFDC-410039F89CDC}"/>
              </a:ext>
            </a:extLst>
          </p:cNvPr>
          <p:cNvSpPr>
            <a:spLocks noGrp="1"/>
          </p:cNvSpPr>
          <p:nvPr/>
        </p:nvSpPr>
        <p:spPr>
          <a:xfrm>
            <a:off x="6280944" y="2470859"/>
            <a:ext cx="836612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24E5F081-9794-A599-DB75-3542FDED5D25}"/>
              </a:ext>
            </a:extLst>
          </p:cNvPr>
          <p:cNvSpPr>
            <a:spLocks noGrp="1"/>
          </p:cNvSpPr>
          <p:nvPr/>
        </p:nvSpPr>
        <p:spPr>
          <a:xfrm>
            <a:off x="7296944" y="2753434"/>
            <a:ext cx="858837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DBE0791F-A356-4B7C-1DE9-8F626276DFD4}"/>
              </a:ext>
            </a:extLst>
          </p:cNvPr>
          <p:cNvSpPr>
            <a:spLocks noGrp="1"/>
          </p:cNvSpPr>
          <p:nvPr/>
        </p:nvSpPr>
        <p:spPr>
          <a:xfrm>
            <a:off x="5422106" y="2753434"/>
            <a:ext cx="4857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did</a:t>
            </a: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6B207051-6510-8A22-BB64-9D57A4BBD87C}"/>
              </a:ext>
            </a:extLst>
          </p:cNvPr>
          <p:cNvSpPr>
            <a:spLocks noGrp="1"/>
          </p:cNvSpPr>
          <p:nvPr/>
        </p:nvSpPr>
        <p:spPr>
          <a:xfrm>
            <a:off x="4176712" y="2209800"/>
            <a:ext cx="700088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</a:t>
            </a:r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99EE04D0-B3BF-E5C6-AFC6-D4FED2E804E4}"/>
              </a:ext>
            </a:extLst>
          </p:cNvPr>
          <p:cNvSpPr>
            <a:spLocks noGrp="1"/>
          </p:cNvSpPr>
          <p:nvPr/>
        </p:nvSpPr>
        <p:spPr>
          <a:xfrm>
            <a:off x="2099469" y="2461334"/>
            <a:ext cx="7112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24" name="Rectangle 25">
            <a:extLst>
              <a:ext uri="{FF2B5EF4-FFF2-40B4-BE49-F238E27FC236}">
                <a16:creationId xmlns:a16="http://schemas.microsoft.com/office/drawing/2014/main" id="{07531E40-62AD-90AE-B3F7-46B42989C9E9}"/>
              </a:ext>
            </a:extLst>
          </p:cNvPr>
          <p:cNvSpPr>
            <a:spLocks noGrp="1"/>
          </p:cNvSpPr>
          <p:nvPr/>
        </p:nvSpPr>
        <p:spPr>
          <a:xfrm>
            <a:off x="6280944" y="2470859"/>
            <a:ext cx="836612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25" name="Rectangle 26">
            <a:extLst>
              <a:ext uri="{FF2B5EF4-FFF2-40B4-BE49-F238E27FC236}">
                <a16:creationId xmlns:a16="http://schemas.microsoft.com/office/drawing/2014/main" id="{87D55ECA-00E7-F89F-FD1E-668F820C0B3D}"/>
              </a:ext>
            </a:extLst>
          </p:cNvPr>
          <p:cNvSpPr>
            <a:spLocks noGrp="1"/>
          </p:cNvSpPr>
          <p:nvPr/>
        </p:nvSpPr>
        <p:spPr>
          <a:xfrm>
            <a:off x="7296944" y="2753434"/>
            <a:ext cx="858837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3163411C-0643-C430-7E6A-1829F71562D5}"/>
              </a:ext>
            </a:extLst>
          </p:cNvPr>
          <p:cNvSpPr>
            <a:spLocks noGrp="1"/>
          </p:cNvSpPr>
          <p:nvPr/>
        </p:nvSpPr>
        <p:spPr>
          <a:xfrm>
            <a:off x="5422106" y="2753434"/>
            <a:ext cx="4857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did</a:t>
            </a:r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C24BCB8C-C0AF-3953-DC60-FB5842FC1CC0}"/>
              </a:ext>
            </a:extLst>
          </p:cNvPr>
          <p:cNvSpPr>
            <a:spLocks noGrp="1"/>
          </p:cNvSpPr>
          <p:nvPr/>
        </p:nvSpPr>
        <p:spPr>
          <a:xfrm>
            <a:off x="3961606" y="3367797"/>
            <a:ext cx="10509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Manages</a:t>
            </a:r>
          </a:p>
        </p:txBody>
      </p:sp>
      <p:sp>
        <p:nvSpPr>
          <p:cNvPr id="29" name="Rectangle 30">
            <a:extLst>
              <a:ext uri="{FF2B5EF4-FFF2-40B4-BE49-F238E27FC236}">
                <a16:creationId xmlns:a16="http://schemas.microsoft.com/office/drawing/2014/main" id="{BE005958-ED90-A8FE-2EA0-A735B0214379}"/>
              </a:ext>
            </a:extLst>
          </p:cNvPr>
          <p:cNvSpPr>
            <a:spLocks noGrp="1"/>
          </p:cNvSpPr>
          <p:nvPr/>
        </p:nvSpPr>
        <p:spPr>
          <a:xfrm>
            <a:off x="4254146" y="4975195"/>
            <a:ext cx="700087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</a:t>
            </a:r>
          </a:p>
        </p:txBody>
      </p:sp>
      <p:sp>
        <p:nvSpPr>
          <p:cNvPr id="30" name="Rectangle 31">
            <a:extLst>
              <a:ext uri="{FF2B5EF4-FFF2-40B4-BE49-F238E27FC236}">
                <a16:creationId xmlns:a16="http://schemas.microsoft.com/office/drawing/2014/main" id="{C69407DD-0216-6F65-22CB-E603F4333DB0}"/>
              </a:ext>
            </a:extLst>
          </p:cNvPr>
          <p:cNvSpPr>
            <a:spLocks noGrp="1"/>
          </p:cNvSpPr>
          <p:nvPr/>
        </p:nvSpPr>
        <p:spPr>
          <a:xfrm>
            <a:off x="6136481" y="3350334"/>
            <a:ext cx="14224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31" name="Rectangle 32">
            <a:extLst>
              <a:ext uri="{FF2B5EF4-FFF2-40B4-BE49-F238E27FC236}">
                <a16:creationId xmlns:a16="http://schemas.microsoft.com/office/drawing/2014/main" id="{80BC41C6-C08D-E291-14A4-75C3D6B2BEEC}"/>
              </a:ext>
            </a:extLst>
          </p:cNvPr>
          <p:cNvSpPr>
            <a:spLocks noGrp="1"/>
          </p:cNvSpPr>
          <p:nvPr/>
        </p:nvSpPr>
        <p:spPr>
          <a:xfrm>
            <a:off x="1942306" y="3351922"/>
            <a:ext cx="12541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32" name="Rectangle 33">
            <a:extLst>
              <a:ext uri="{FF2B5EF4-FFF2-40B4-BE49-F238E27FC236}">
                <a16:creationId xmlns:a16="http://schemas.microsoft.com/office/drawing/2014/main" id="{A07ACEBB-4072-125D-1FBD-37385B2FEF21}"/>
              </a:ext>
            </a:extLst>
          </p:cNvPr>
          <p:cNvSpPr>
            <a:spLocks noGrp="1"/>
          </p:cNvSpPr>
          <p:nvPr/>
        </p:nvSpPr>
        <p:spPr>
          <a:xfrm>
            <a:off x="1177131" y="2743909"/>
            <a:ext cx="531813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33" name="Rectangle 34">
            <a:extLst>
              <a:ext uri="{FF2B5EF4-FFF2-40B4-BE49-F238E27FC236}">
                <a16:creationId xmlns:a16="http://schemas.microsoft.com/office/drawing/2014/main" id="{91C9C3FF-BF99-68EB-D027-B8DBA598AA3F}"/>
              </a:ext>
            </a:extLst>
          </p:cNvPr>
          <p:cNvSpPr>
            <a:spLocks noGrp="1"/>
          </p:cNvSpPr>
          <p:nvPr/>
        </p:nvSpPr>
        <p:spPr>
          <a:xfrm>
            <a:off x="4131469" y="4153609"/>
            <a:ext cx="10953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Works_In</a:t>
            </a:r>
          </a:p>
        </p:txBody>
      </p:sp>
      <p:sp>
        <p:nvSpPr>
          <p:cNvPr id="34" name="Line 35">
            <a:extLst>
              <a:ext uri="{FF2B5EF4-FFF2-40B4-BE49-F238E27FC236}">
                <a16:creationId xmlns:a16="http://schemas.microsoft.com/office/drawing/2014/main" id="{A1ACD864-D021-A446-D552-EAD03809C955}"/>
              </a:ext>
            </a:extLst>
          </p:cNvPr>
          <p:cNvSpPr>
            <a:spLocks noGrp="1"/>
          </p:cNvSpPr>
          <p:nvPr/>
        </p:nvSpPr>
        <p:spPr>
          <a:xfrm>
            <a:off x="1435894" y="3147134"/>
            <a:ext cx="646112" cy="2079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1098A38F-1239-3D72-F7A2-B14D5E01104E}"/>
              </a:ext>
            </a:extLst>
          </p:cNvPr>
          <p:cNvSpPr>
            <a:spLocks noGrp="1"/>
          </p:cNvSpPr>
          <p:nvPr/>
        </p:nvSpPr>
        <p:spPr>
          <a:xfrm>
            <a:off x="2378869" y="2866147"/>
            <a:ext cx="0" cy="48895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03B1A6DF-A69F-42B0-1B49-795A38F49351}"/>
              </a:ext>
            </a:extLst>
          </p:cNvPr>
          <p:cNvSpPr>
            <a:spLocks noGrp="1"/>
          </p:cNvSpPr>
          <p:nvPr/>
        </p:nvSpPr>
        <p:spPr>
          <a:xfrm flipH="1">
            <a:off x="2690019" y="3147134"/>
            <a:ext cx="668337" cy="2079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FF1FC2E3-DF83-A73C-D834-8726BF15C748}"/>
              </a:ext>
            </a:extLst>
          </p:cNvPr>
          <p:cNvSpPr>
            <a:spLocks noGrp="1"/>
          </p:cNvSpPr>
          <p:nvPr/>
        </p:nvSpPr>
        <p:spPr>
          <a:xfrm flipV="1">
            <a:off x="4495006" y="2599447"/>
            <a:ext cx="0" cy="595312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21D7853E-4DE0-F49F-BBB6-B50962F2E641}"/>
              </a:ext>
            </a:extLst>
          </p:cNvPr>
          <p:cNvSpPr>
            <a:spLocks noGrp="1"/>
          </p:cNvSpPr>
          <p:nvPr/>
        </p:nvSpPr>
        <p:spPr>
          <a:xfrm>
            <a:off x="5644356" y="3147134"/>
            <a:ext cx="838200" cy="2079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9" name="Line 40">
            <a:extLst>
              <a:ext uri="{FF2B5EF4-FFF2-40B4-BE49-F238E27FC236}">
                <a16:creationId xmlns:a16="http://schemas.microsoft.com/office/drawing/2014/main" id="{0F6DA48E-ADF8-AF74-566B-BF5B284A15C0}"/>
              </a:ext>
            </a:extLst>
          </p:cNvPr>
          <p:cNvSpPr>
            <a:spLocks noGrp="1"/>
          </p:cNvSpPr>
          <p:nvPr/>
        </p:nvSpPr>
        <p:spPr>
          <a:xfrm>
            <a:off x="6609556" y="2866147"/>
            <a:ext cx="0" cy="48895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0" name="Line 41">
            <a:extLst>
              <a:ext uri="{FF2B5EF4-FFF2-40B4-BE49-F238E27FC236}">
                <a16:creationId xmlns:a16="http://schemas.microsoft.com/office/drawing/2014/main" id="{8959B020-7AC2-AA11-1EA4-DBC36E4E7526}"/>
              </a:ext>
            </a:extLst>
          </p:cNvPr>
          <p:cNvSpPr>
            <a:spLocks noGrp="1"/>
          </p:cNvSpPr>
          <p:nvPr/>
        </p:nvSpPr>
        <p:spPr>
          <a:xfrm flipH="1">
            <a:off x="7065169" y="3147134"/>
            <a:ext cx="547687" cy="22701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1" name="Line 42">
            <a:extLst>
              <a:ext uri="{FF2B5EF4-FFF2-40B4-BE49-F238E27FC236}">
                <a16:creationId xmlns:a16="http://schemas.microsoft.com/office/drawing/2014/main" id="{7B7B2945-B46D-FE01-1C63-366EA132CE2B}"/>
              </a:ext>
            </a:extLst>
          </p:cNvPr>
          <p:cNvSpPr>
            <a:spLocks noGrp="1"/>
          </p:cNvSpPr>
          <p:nvPr/>
        </p:nvSpPr>
        <p:spPr>
          <a:xfrm flipH="1">
            <a:off x="4608249" y="4633034"/>
            <a:ext cx="0" cy="3556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2" name="Line 43">
            <a:extLst>
              <a:ext uri="{FF2B5EF4-FFF2-40B4-BE49-F238E27FC236}">
                <a16:creationId xmlns:a16="http://schemas.microsoft.com/office/drawing/2014/main" id="{FABC9BA3-0A63-8AB7-05D7-EB29FC6F6701}"/>
              </a:ext>
            </a:extLst>
          </p:cNvPr>
          <p:cNvSpPr>
            <a:spLocks noGrp="1"/>
          </p:cNvSpPr>
          <p:nvPr/>
        </p:nvSpPr>
        <p:spPr>
          <a:xfrm>
            <a:off x="5103018" y="3521784"/>
            <a:ext cx="968375" cy="0"/>
          </a:xfrm>
          <a:prstGeom prst="line">
            <a:avLst/>
          </a:prstGeom>
          <a:noFill/>
          <a:ln w="50800">
            <a:solidFill>
              <a:schemeClr val="tx2"/>
            </a:solidFill>
            <a:headEnd type="stealth" w="med" len="med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3" name="Line 44">
            <a:extLst>
              <a:ext uri="{FF2B5EF4-FFF2-40B4-BE49-F238E27FC236}">
                <a16:creationId xmlns:a16="http://schemas.microsoft.com/office/drawing/2014/main" id="{25CA667F-B7AE-659E-4105-F850EA36B4CE}"/>
              </a:ext>
            </a:extLst>
          </p:cNvPr>
          <p:cNvSpPr>
            <a:spLocks noGrp="1"/>
          </p:cNvSpPr>
          <p:nvPr/>
        </p:nvSpPr>
        <p:spPr>
          <a:xfrm flipH="1">
            <a:off x="3126581" y="3521784"/>
            <a:ext cx="766763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4" name="Line 45">
            <a:extLst>
              <a:ext uri="{FF2B5EF4-FFF2-40B4-BE49-F238E27FC236}">
                <a16:creationId xmlns:a16="http://schemas.microsoft.com/office/drawing/2014/main" id="{9C122BB3-7CB4-DB21-B634-A364A68BFAF6}"/>
              </a:ext>
            </a:extLst>
          </p:cNvPr>
          <p:cNvSpPr>
            <a:spLocks noGrp="1"/>
          </p:cNvSpPr>
          <p:nvPr/>
        </p:nvSpPr>
        <p:spPr>
          <a:xfrm flipH="1" flipV="1">
            <a:off x="3109118" y="3648782"/>
            <a:ext cx="790575" cy="687389"/>
          </a:xfrm>
          <a:prstGeom prst="line">
            <a:avLst/>
          </a:prstGeom>
          <a:noFill/>
          <a:ln w="508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5" name="Line 46">
            <a:extLst>
              <a:ext uri="{FF2B5EF4-FFF2-40B4-BE49-F238E27FC236}">
                <a16:creationId xmlns:a16="http://schemas.microsoft.com/office/drawing/2014/main" id="{6B3EC553-E342-EE47-9E78-0CB2DE9CCB08}"/>
              </a:ext>
            </a:extLst>
          </p:cNvPr>
          <p:cNvSpPr>
            <a:spLocks noGrp="1"/>
          </p:cNvSpPr>
          <p:nvPr/>
        </p:nvSpPr>
        <p:spPr>
          <a:xfrm flipV="1">
            <a:off x="5339556" y="3720221"/>
            <a:ext cx="1404938" cy="602369"/>
          </a:xfrm>
          <a:prstGeom prst="line">
            <a:avLst/>
          </a:prstGeom>
          <a:noFill/>
          <a:ln w="508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6" name="Rounded Rectangle 1">
            <a:extLst>
              <a:ext uri="{FF2B5EF4-FFF2-40B4-BE49-F238E27FC236}">
                <a16:creationId xmlns:a16="http://schemas.microsoft.com/office/drawing/2014/main" id="{07F44961-B707-958E-D48D-ECF27890A095}"/>
              </a:ext>
            </a:extLst>
          </p:cNvPr>
          <p:cNvSpPr>
            <a:spLocks noGrp="1"/>
          </p:cNvSpPr>
          <p:nvPr/>
        </p:nvSpPr>
        <p:spPr>
          <a:xfrm>
            <a:off x="342900" y="5562600"/>
            <a:ext cx="8458200" cy="947735"/>
          </a:xfrm>
          <a:prstGeom prst="round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2" algn="ctr">
              <a:buNone/>
            </a:pPr>
            <a:r>
              <a:rPr sz="2400">
                <a:latin typeface="Arial Unicode MS"/>
                <a:ea typeface="Arial Unicode MS"/>
                <a:cs typeface="Arial Unicode MS"/>
              </a:rPr>
              <a:t>Departments 表中的每个 did 都必须出现在 Manages 表的一行中，并且对应的 ssn 不能为 NULL。</a:t>
            </a:r>
          </a:p>
        </p:txBody>
      </p:sp>
    </p:spTree>
    <p:extLst>
      <p:ext uri="{BB962C8B-B14F-4D97-AF65-F5344CB8AC3E}">
        <p14:creationId xmlns:p14="http://schemas.microsoft.com/office/powerpoint/2010/main" val="23791522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4D35-B960-373C-D809-7CB3DBDAC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转换带参与约束的联系集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B01A8-37AD-2372-DCBC-C20D6306E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以下使用单表方法创建“Dept_Mgr”表：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4F9D0-191E-FE24-2CC0-C21412E900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69</a:t>
            </a:fld>
            <a:endParaRPr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BBDDE643-4C1C-8DEA-643B-E8A7D7134CFA}"/>
              </a:ext>
            </a:extLst>
          </p:cNvPr>
          <p:cNvSpPr>
            <a:spLocks noGrp="1"/>
          </p:cNvSpPr>
          <p:nvPr/>
        </p:nvSpPr>
        <p:spPr>
          <a:xfrm>
            <a:off x="1453549" y="2782019"/>
            <a:ext cx="6689333" cy="255198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none" lIns="90488" tIns="44450" rIns="90488" bIns="44450">
            <a:spAutoFit/>
          </a:bodyPr>
          <a:lstStyle/>
          <a:p>
            <a:r>
              <a:rPr sz="2000">
                <a:latin typeface="Book Antiqua"/>
                <a:ea typeface="Book Antiqua"/>
                <a:cs typeface="Book Antiqua"/>
              </a:rPr>
              <a:t>CREATE TABLE  Dept_Mgr(</a:t>
            </a:r>
          </a:p>
          <a:p>
            <a:r>
              <a:rPr sz="2000">
                <a:latin typeface="Book Antiqua"/>
                <a:ea typeface="Book Antiqua"/>
                <a:cs typeface="Book Antiqua"/>
              </a:rPr>
              <a:t>   	</a:t>
            </a:r>
            <a:r>
              <a:rPr sz="2000">
                <a:solidFill>
                  <a:srgbClr val="434FD6"/>
                </a:solidFill>
                <a:latin typeface="Book Antiqua"/>
                <a:ea typeface="Book Antiqua"/>
                <a:cs typeface="Book Antiqua"/>
              </a:rPr>
              <a:t>did  INTEGER,</a:t>
            </a:r>
          </a:p>
          <a:p>
            <a:r>
              <a:rPr sz="2000">
                <a:solidFill>
                  <a:srgbClr val="434FD6"/>
                </a:solidFill>
                <a:latin typeface="Book Antiqua"/>
                <a:ea typeface="Book Antiqua"/>
                <a:cs typeface="Book Antiqua"/>
              </a:rPr>
              <a:t>   	dname  CHAR(20),</a:t>
            </a:r>
          </a:p>
          <a:p>
            <a:r>
              <a:rPr sz="2000">
                <a:solidFill>
                  <a:srgbClr val="434FD6"/>
                </a:solidFill>
                <a:latin typeface="Book Antiqua"/>
                <a:ea typeface="Book Antiqua"/>
                <a:cs typeface="Book Antiqua"/>
              </a:rPr>
              <a:t>   	budget  REAL,</a:t>
            </a:r>
          </a:p>
          <a:p>
            <a:r>
              <a:rPr sz="2000">
                <a:solidFill>
                  <a:srgbClr val="434FD6"/>
                </a:solidFill>
                <a:latin typeface="Book Antiqua"/>
                <a:ea typeface="Book Antiqua"/>
                <a:cs typeface="Book Antiqua"/>
              </a:rPr>
              <a:t>   	ssn  CHAR(11) </a:t>
            </a:r>
            <a:r>
              <a:rPr sz="2000">
                <a:solidFill>
                  <a:schemeClr val="accent2"/>
                </a:solidFill>
                <a:latin typeface="Book Antiqua"/>
                <a:ea typeface="Book Antiqua"/>
                <a:cs typeface="Book Antiqua"/>
              </a:rPr>
              <a:t>NOT NULL</a:t>
            </a:r>
            <a:r>
              <a:rPr sz="2000">
                <a:solidFill>
                  <a:srgbClr val="434FD6"/>
                </a:solidFill>
                <a:latin typeface="Book Antiqua"/>
                <a:ea typeface="Book Antiqua"/>
                <a:cs typeface="Book Antiqua"/>
              </a:rPr>
              <a:t>,</a:t>
            </a:r>
          </a:p>
          <a:p>
            <a:r>
              <a:rPr sz="2000">
                <a:solidFill>
                  <a:srgbClr val="434FD6"/>
                </a:solidFill>
                <a:latin typeface="Book Antiqua"/>
                <a:ea typeface="Book Antiqua"/>
                <a:cs typeface="Book Antiqua"/>
              </a:rPr>
              <a:t>   	since  DATE,</a:t>
            </a:r>
          </a:p>
          <a:p>
            <a:r>
              <a:rPr sz="2000">
                <a:solidFill>
                  <a:srgbClr val="434FD6"/>
                </a:solidFill>
                <a:latin typeface="Book Antiqua"/>
                <a:ea typeface="Book Antiqua"/>
                <a:cs typeface="Book Antiqua"/>
              </a:rPr>
              <a:t>   	</a:t>
            </a:r>
            <a:r>
              <a:rPr sz="2000">
                <a:solidFill>
                  <a:schemeClr val="folHlink"/>
                </a:solidFill>
                <a:latin typeface="Book Antiqua"/>
                <a:ea typeface="Book Antiqua"/>
                <a:cs typeface="Book Antiqua"/>
              </a:rPr>
              <a:t>PRIMARY KEY  (did),</a:t>
            </a:r>
          </a:p>
          <a:p>
            <a:r>
              <a:rPr sz="2000">
                <a:solidFill>
                  <a:schemeClr val="folHlink"/>
                </a:solidFill>
                <a:latin typeface="Book Antiqua"/>
                <a:ea typeface="Book Antiqua"/>
                <a:cs typeface="Book Antiqua"/>
              </a:rPr>
              <a:t>   	FOREIGN KEY  (ssn) REFERENCES Employees,</a:t>
            </a:r>
            <a:r>
              <a:rPr sz="2000">
                <a:latin typeface="Book Antiqua"/>
                <a:ea typeface="Book Antiqua"/>
                <a:cs typeface="Book Antiqua"/>
              </a:rPr>
              <a:t>)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5E09092-6BF3-AAC3-0740-DDB4E036E2D8}"/>
              </a:ext>
            </a:extLst>
          </p:cNvPr>
          <p:cNvSpPr>
            <a:spLocks noGrp="1"/>
          </p:cNvSpPr>
          <p:nvPr/>
        </p:nvSpPr>
        <p:spPr>
          <a:xfrm>
            <a:off x="4120549" y="3925019"/>
            <a:ext cx="1600200" cy="567479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2AB3B9E-9431-D55C-0282-F2D15127397D}"/>
              </a:ext>
            </a:extLst>
          </p:cNvPr>
          <p:cNvSpPr>
            <a:spLocks noGrp="1"/>
          </p:cNvSpPr>
          <p:nvPr/>
        </p:nvSpPr>
        <p:spPr>
          <a:xfrm>
            <a:off x="5720749" y="3848819"/>
            <a:ext cx="2983806" cy="707886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强制该列不接受 NULL 值</a:t>
            </a:r>
            <a:endParaRPr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4017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937A-DB0A-F430-29D2-46966F3CD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转换弱实体集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FAC36-3563-3AAF-493A-14FCA4A59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弱实体集总是具有以下特征：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参与一个一对多二元联系 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具有键约束和全参与约束</a:t>
            </a:r>
          </a:p>
          <a:p>
            <a:pPr lvl="1">
              <a:buNone/>
            </a:pPr>
            <a:endParaRPr sz="2400"/>
          </a:p>
          <a:p>
            <a:endParaRPr/>
          </a:p>
          <a:p>
            <a:endParaRPr/>
          </a:p>
          <a:p>
            <a:endParaRPr/>
          </a:p>
          <a:p>
            <a:pPr>
              <a:buFont typeface="Wingdings"/>
              <a:buChar char="§"/>
            </a:pPr>
            <a:endParaRPr/>
          </a:p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哪一种转换方法最合适？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单表方法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3B8E3-C7C1-06AE-5188-AA2BAB2F10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70</a:t>
            </a:fld>
            <a:endParaRPr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EFFD4458-E663-8735-58EB-B39C0706857C}"/>
              </a:ext>
            </a:extLst>
          </p:cNvPr>
          <p:cNvSpPr>
            <a:spLocks noGrp="1"/>
          </p:cNvSpPr>
          <p:nvPr/>
        </p:nvSpPr>
        <p:spPr>
          <a:xfrm>
            <a:off x="5806967" y="3258491"/>
            <a:ext cx="1254125" cy="530225"/>
          </a:xfrm>
          <a:custGeom>
            <a:avLst/>
            <a:gdLst>
              <a:gd name="T0" fmla="*/ 1250950 w 790"/>
              <a:gd name="T1" fmla="*/ 242888 h 334"/>
              <a:gd name="T2" fmla="*/ 1230313 w 790"/>
              <a:gd name="T3" fmla="*/ 196850 h 334"/>
              <a:gd name="T4" fmla="*/ 1193800 w 790"/>
              <a:gd name="T5" fmla="*/ 153988 h 334"/>
              <a:gd name="T6" fmla="*/ 1139825 w 790"/>
              <a:gd name="T7" fmla="*/ 112713 h 334"/>
              <a:gd name="T8" fmla="*/ 1069975 w 790"/>
              <a:gd name="T9" fmla="*/ 79375 h 334"/>
              <a:gd name="T10" fmla="*/ 985838 w 790"/>
              <a:gd name="T11" fmla="*/ 47625 h 334"/>
              <a:gd name="T12" fmla="*/ 890588 w 790"/>
              <a:gd name="T13" fmla="*/ 26988 h 334"/>
              <a:gd name="T14" fmla="*/ 788988 w 790"/>
              <a:gd name="T15" fmla="*/ 9525 h 334"/>
              <a:gd name="T16" fmla="*/ 681038 w 790"/>
              <a:gd name="T17" fmla="*/ 1588 h 334"/>
              <a:gd name="T18" fmla="*/ 571500 w 790"/>
              <a:gd name="T19" fmla="*/ 1588 h 334"/>
              <a:gd name="T20" fmla="*/ 465138 w 790"/>
              <a:gd name="T21" fmla="*/ 9525 h 334"/>
              <a:gd name="T22" fmla="*/ 361950 w 790"/>
              <a:gd name="T23" fmla="*/ 26988 h 334"/>
              <a:gd name="T24" fmla="*/ 268288 w 790"/>
              <a:gd name="T25" fmla="*/ 47625 h 334"/>
              <a:gd name="T26" fmla="*/ 184150 w 790"/>
              <a:gd name="T27" fmla="*/ 79375 h 334"/>
              <a:gd name="T28" fmla="*/ 114300 w 790"/>
              <a:gd name="T29" fmla="*/ 112713 h 334"/>
              <a:gd name="T30" fmla="*/ 60325 w 790"/>
              <a:gd name="T31" fmla="*/ 153988 h 334"/>
              <a:gd name="T32" fmla="*/ 22225 w 790"/>
              <a:gd name="T33" fmla="*/ 196850 h 334"/>
              <a:gd name="T34" fmla="*/ 3175 w 790"/>
              <a:gd name="T35" fmla="*/ 242888 h 334"/>
              <a:gd name="T36" fmla="*/ 3175 w 790"/>
              <a:gd name="T37" fmla="*/ 287338 h 334"/>
              <a:gd name="T38" fmla="*/ 22225 w 790"/>
              <a:gd name="T39" fmla="*/ 333375 h 334"/>
              <a:gd name="T40" fmla="*/ 60325 w 790"/>
              <a:gd name="T41" fmla="*/ 376238 h 334"/>
              <a:gd name="T42" fmla="*/ 114300 w 790"/>
              <a:gd name="T43" fmla="*/ 415925 h 334"/>
              <a:gd name="T44" fmla="*/ 184150 w 790"/>
              <a:gd name="T45" fmla="*/ 450850 h 334"/>
              <a:gd name="T46" fmla="*/ 268288 w 790"/>
              <a:gd name="T47" fmla="*/ 481013 h 334"/>
              <a:gd name="T48" fmla="*/ 361950 w 790"/>
              <a:gd name="T49" fmla="*/ 503238 h 334"/>
              <a:gd name="T50" fmla="*/ 465138 w 790"/>
              <a:gd name="T51" fmla="*/ 519113 h 334"/>
              <a:gd name="T52" fmla="*/ 571500 w 790"/>
              <a:gd name="T53" fmla="*/ 527050 h 334"/>
              <a:gd name="T54" fmla="*/ 681038 w 790"/>
              <a:gd name="T55" fmla="*/ 527050 h 334"/>
              <a:gd name="T56" fmla="*/ 788988 w 790"/>
              <a:gd name="T57" fmla="*/ 519113 h 334"/>
              <a:gd name="T58" fmla="*/ 890588 w 790"/>
              <a:gd name="T59" fmla="*/ 503238 h 334"/>
              <a:gd name="T60" fmla="*/ 985838 w 790"/>
              <a:gd name="T61" fmla="*/ 481013 h 334"/>
              <a:gd name="T62" fmla="*/ 1069975 w 790"/>
              <a:gd name="T63" fmla="*/ 450850 h 334"/>
              <a:gd name="T64" fmla="*/ 1139825 w 790"/>
              <a:gd name="T65" fmla="*/ 415925 h 334"/>
              <a:gd name="T66" fmla="*/ 1193800 w 790"/>
              <a:gd name="T67" fmla="*/ 376238 h 334"/>
              <a:gd name="T68" fmla="*/ 1230313 w 790"/>
              <a:gd name="T69" fmla="*/ 333375 h 334"/>
              <a:gd name="T70" fmla="*/ 1250950 w 790"/>
              <a:gd name="T71" fmla="*/ 287338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0"/>
              <a:gd name="T109" fmla="*/ 0 h 334"/>
              <a:gd name="T110" fmla="*/ 790 w 790"/>
              <a:gd name="T111" fmla="*/ 334 h 334"/>
            </a:gdLst>
            <a:ahLst/>
            <a:cxnLst/>
            <a:rect l="T108" t="T109" r="T110" b="T111"/>
            <a:pathLst>
              <a:path w="790" h="334">
                <a:moveTo>
                  <a:pt x="789" y="167"/>
                </a:moveTo>
                <a:lnTo>
                  <a:pt x="788" y="153"/>
                </a:lnTo>
                <a:lnTo>
                  <a:pt x="783" y="138"/>
                </a:lnTo>
                <a:lnTo>
                  <a:pt x="775" y="124"/>
                </a:lnTo>
                <a:lnTo>
                  <a:pt x="765" y="110"/>
                </a:lnTo>
                <a:lnTo>
                  <a:pt x="752" y="97"/>
                </a:lnTo>
                <a:lnTo>
                  <a:pt x="736" y="83"/>
                </a:lnTo>
                <a:lnTo>
                  <a:pt x="718" y="71"/>
                </a:lnTo>
                <a:lnTo>
                  <a:pt x="697" y="60"/>
                </a:lnTo>
                <a:lnTo>
                  <a:pt x="674" y="50"/>
                </a:lnTo>
                <a:lnTo>
                  <a:pt x="648" y="40"/>
                </a:lnTo>
                <a:lnTo>
                  <a:pt x="621" y="30"/>
                </a:lnTo>
                <a:lnTo>
                  <a:pt x="592" y="23"/>
                </a:lnTo>
                <a:lnTo>
                  <a:pt x="561" y="17"/>
                </a:lnTo>
                <a:lnTo>
                  <a:pt x="529" y="10"/>
                </a:lnTo>
                <a:lnTo>
                  <a:pt x="497" y="6"/>
                </a:lnTo>
                <a:lnTo>
                  <a:pt x="463" y="3"/>
                </a:lnTo>
                <a:lnTo>
                  <a:pt x="429" y="1"/>
                </a:lnTo>
                <a:lnTo>
                  <a:pt x="394" y="0"/>
                </a:lnTo>
                <a:lnTo>
                  <a:pt x="360" y="1"/>
                </a:lnTo>
                <a:lnTo>
                  <a:pt x="326" y="3"/>
                </a:lnTo>
                <a:lnTo>
                  <a:pt x="293" y="6"/>
                </a:lnTo>
                <a:lnTo>
                  <a:pt x="260" y="10"/>
                </a:lnTo>
                <a:lnTo>
                  <a:pt x="228" y="17"/>
                </a:lnTo>
                <a:lnTo>
                  <a:pt x="197" y="23"/>
                </a:lnTo>
                <a:lnTo>
                  <a:pt x="169" y="30"/>
                </a:lnTo>
                <a:lnTo>
                  <a:pt x="142" y="40"/>
                </a:lnTo>
                <a:lnTo>
                  <a:pt x="116" y="50"/>
                </a:lnTo>
                <a:lnTo>
                  <a:pt x="93" y="60"/>
                </a:lnTo>
                <a:lnTo>
                  <a:pt x="72" y="71"/>
                </a:lnTo>
                <a:lnTo>
                  <a:pt x="54" y="83"/>
                </a:lnTo>
                <a:lnTo>
                  <a:pt x="38" y="97"/>
                </a:lnTo>
                <a:lnTo>
                  <a:pt x="24" y="110"/>
                </a:lnTo>
                <a:lnTo>
                  <a:pt x="14" y="124"/>
                </a:lnTo>
                <a:lnTo>
                  <a:pt x="7" y="138"/>
                </a:lnTo>
                <a:lnTo>
                  <a:pt x="2" y="153"/>
                </a:lnTo>
                <a:lnTo>
                  <a:pt x="0" y="167"/>
                </a:lnTo>
                <a:lnTo>
                  <a:pt x="2" y="181"/>
                </a:lnTo>
                <a:lnTo>
                  <a:pt x="7" y="196"/>
                </a:lnTo>
                <a:lnTo>
                  <a:pt x="14" y="210"/>
                </a:lnTo>
                <a:lnTo>
                  <a:pt x="24" y="224"/>
                </a:lnTo>
                <a:lnTo>
                  <a:pt x="38" y="237"/>
                </a:lnTo>
                <a:lnTo>
                  <a:pt x="54" y="250"/>
                </a:lnTo>
                <a:lnTo>
                  <a:pt x="72" y="262"/>
                </a:lnTo>
                <a:lnTo>
                  <a:pt x="93" y="274"/>
                </a:lnTo>
                <a:lnTo>
                  <a:pt x="116" y="284"/>
                </a:lnTo>
                <a:lnTo>
                  <a:pt x="142" y="294"/>
                </a:lnTo>
                <a:lnTo>
                  <a:pt x="169" y="303"/>
                </a:lnTo>
                <a:lnTo>
                  <a:pt x="197" y="311"/>
                </a:lnTo>
                <a:lnTo>
                  <a:pt x="228" y="317"/>
                </a:lnTo>
                <a:lnTo>
                  <a:pt x="260" y="323"/>
                </a:lnTo>
                <a:lnTo>
                  <a:pt x="293" y="327"/>
                </a:lnTo>
                <a:lnTo>
                  <a:pt x="326" y="331"/>
                </a:lnTo>
                <a:lnTo>
                  <a:pt x="360" y="332"/>
                </a:lnTo>
                <a:lnTo>
                  <a:pt x="394" y="333"/>
                </a:lnTo>
                <a:lnTo>
                  <a:pt x="429" y="332"/>
                </a:lnTo>
                <a:lnTo>
                  <a:pt x="463" y="331"/>
                </a:lnTo>
                <a:lnTo>
                  <a:pt x="497" y="327"/>
                </a:lnTo>
                <a:lnTo>
                  <a:pt x="529" y="323"/>
                </a:lnTo>
                <a:lnTo>
                  <a:pt x="561" y="317"/>
                </a:lnTo>
                <a:lnTo>
                  <a:pt x="592" y="311"/>
                </a:lnTo>
                <a:lnTo>
                  <a:pt x="621" y="303"/>
                </a:lnTo>
                <a:lnTo>
                  <a:pt x="648" y="294"/>
                </a:lnTo>
                <a:lnTo>
                  <a:pt x="674" y="284"/>
                </a:lnTo>
                <a:lnTo>
                  <a:pt x="697" y="274"/>
                </a:lnTo>
                <a:lnTo>
                  <a:pt x="718" y="262"/>
                </a:lnTo>
                <a:lnTo>
                  <a:pt x="736" y="250"/>
                </a:lnTo>
                <a:lnTo>
                  <a:pt x="752" y="237"/>
                </a:lnTo>
                <a:lnTo>
                  <a:pt x="765" y="224"/>
                </a:lnTo>
                <a:lnTo>
                  <a:pt x="775" y="210"/>
                </a:lnTo>
                <a:lnTo>
                  <a:pt x="783" y="196"/>
                </a:lnTo>
                <a:lnTo>
                  <a:pt x="788" y="181"/>
                </a:lnTo>
                <a:lnTo>
                  <a:pt x="789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C6E522AD-8D09-E442-EE46-ABF34412E40D}"/>
              </a:ext>
            </a:extLst>
          </p:cNvPr>
          <p:cNvSpPr>
            <a:spLocks noGrp="1"/>
          </p:cNvSpPr>
          <p:nvPr/>
        </p:nvSpPr>
        <p:spPr>
          <a:xfrm>
            <a:off x="7340492" y="3274366"/>
            <a:ext cx="1254125" cy="530225"/>
          </a:xfrm>
          <a:custGeom>
            <a:avLst/>
            <a:gdLst>
              <a:gd name="T0" fmla="*/ 3175 w 790"/>
              <a:gd name="T1" fmla="*/ 287338 h 334"/>
              <a:gd name="T2" fmla="*/ 20638 w 790"/>
              <a:gd name="T3" fmla="*/ 333375 h 334"/>
              <a:gd name="T4" fmla="*/ 60325 w 790"/>
              <a:gd name="T5" fmla="*/ 376238 h 334"/>
              <a:gd name="T6" fmla="*/ 114300 w 790"/>
              <a:gd name="T7" fmla="*/ 415925 h 334"/>
              <a:gd name="T8" fmla="*/ 184150 w 790"/>
              <a:gd name="T9" fmla="*/ 450850 h 334"/>
              <a:gd name="T10" fmla="*/ 268288 w 790"/>
              <a:gd name="T11" fmla="*/ 481013 h 334"/>
              <a:gd name="T12" fmla="*/ 361950 w 790"/>
              <a:gd name="T13" fmla="*/ 503238 h 334"/>
              <a:gd name="T14" fmla="*/ 465138 w 790"/>
              <a:gd name="T15" fmla="*/ 519113 h 334"/>
              <a:gd name="T16" fmla="*/ 571500 w 790"/>
              <a:gd name="T17" fmla="*/ 527050 h 334"/>
              <a:gd name="T18" fmla="*/ 681038 w 790"/>
              <a:gd name="T19" fmla="*/ 527050 h 334"/>
              <a:gd name="T20" fmla="*/ 788988 w 790"/>
              <a:gd name="T21" fmla="*/ 519113 h 334"/>
              <a:gd name="T22" fmla="*/ 890588 w 790"/>
              <a:gd name="T23" fmla="*/ 503238 h 334"/>
              <a:gd name="T24" fmla="*/ 985838 w 790"/>
              <a:gd name="T25" fmla="*/ 481013 h 334"/>
              <a:gd name="T26" fmla="*/ 1068388 w 790"/>
              <a:gd name="T27" fmla="*/ 450850 h 334"/>
              <a:gd name="T28" fmla="*/ 1138238 w 790"/>
              <a:gd name="T29" fmla="*/ 415925 h 334"/>
              <a:gd name="T30" fmla="*/ 1193800 w 790"/>
              <a:gd name="T31" fmla="*/ 376238 h 334"/>
              <a:gd name="T32" fmla="*/ 1230313 w 790"/>
              <a:gd name="T33" fmla="*/ 333375 h 334"/>
              <a:gd name="T34" fmla="*/ 1249363 w 790"/>
              <a:gd name="T35" fmla="*/ 287338 h 334"/>
              <a:gd name="T36" fmla="*/ 1249363 w 790"/>
              <a:gd name="T37" fmla="*/ 241300 h 334"/>
              <a:gd name="T38" fmla="*/ 1230313 w 790"/>
              <a:gd name="T39" fmla="*/ 196850 h 334"/>
              <a:gd name="T40" fmla="*/ 1192213 w 790"/>
              <a:gd name="T41" fmla="*/ 153988 h 334"/>
              <a:gd name="T42" fmla="*/ 1138238 w 790"/>
              <a:gd name="T43" fmla="*/ 112713 h 334"/>
              <a:gd name="T44" fmla="*/ 1068388 w 790"/>
              <a:gd name="T45" fmla="*/ 77788 h 334"/>
              <a:gd name="T46" fmla="*/ 984250 w 790"/>
              <a:gd name="T47" fmla="*/ 47625 h 334"/>
              <a:gd name="T48" fmla="*/ 890588 w 790"/>
              <a:gd name="T49" fmla="*/ 25400 h 334"/>
              <a:gd name="T50" fmla="*/ 787400 w 790"/>
              <a:gd name="T51" fmla="*/ 9525 h 334"/>
              <a:gd name="T52" fmla="*/ 681038 w 790"/>
              <a:gd name="T53" fmla="*/ 1588 h 334"/>
              <a:gd name="T54" fmla="*/ 571500 w 790"/>
              <a:gd name="T55" fmla="*/ 1588 h 334"/>
              <a:gd name="T56" fmla="*/ 465138 w 790"/>
              <a:gd name="T57" fmla="*/ 11113 h 334"/>
              <a:gd name="T58" fmla="*/ 361950 w 790"/>
              <a:gd name="T59" fmla="*/ 25400 h 334"/>
              <a:gd name="T60" fmla="*/ 268288 w 790"/>
              <a:gd name="T61" fmla="*/ 47625 h 334"/>
              <a:gd name="T62" fmla="*/ 184150 w 790"/>
              <a:gd name="T63" fmla="*/ 79375 h 334"/>
              <a:gd name="T64" fmla="*/ 114300 w 790"/>
              <a:gd name="T65" fmla="*/ 112713 h 334"/>
              <a:gd name="T66" fmla="*/ 60325 w 790"/>
              <a:gd name="T67" fmla="*/ 153988 h 334"/>
              <a:gd name="T68" fmla="*/ 20638 w 790"/>
              <a:gd name="T69" fmla="*/ 196850 h 334"/>
              <a:gd name="T70" fmla="*/ 3175 w 790"/>
              <a:gd name="T71" fmla="*/ 241300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0"/>
              <a:gd name="T109" fmla="*/ 0 h 334"/>
              <a:gd name="T110" fmla="*/ 790 w 790"/>
              <a:gd name="T111" fmla="*/ 334 h 334"/>
            </a:gdLst>
            <a:ahLst/>
            <a:cxnLst/>
            <a:rect l="T108" t="T109" r="T110" b="T111"/>
            <a:pathLst>
              <a:path w="790" h="334">
                <a:moveTo>
                  <a:pt x="0" y="167"/>
                </a:moveTo>
                <a:lnTo>
                  <a:pt x="2" y="181"/>
                </a:lnTo>
                <a:lnTo>
                  <a:pt x="6" y="196"/>
                </a:lnTo>
                <a:lnTo>
                  <a:pt x="13" y="210"/>
                </a:lnTo>
                <a:lnTo>
                  <a:pt x="24" y="224"/>
                </a:lnTo>
                <a:lnTo>
                  <a:pt x="38" y="237"/>
                </a:lnTo>
                <a:lnTo>
                  <a:pt x="53" y="250"/>
                </a:lnTo>
                <a:lnTo>
                  <a:pt x="72" y="262"/>
                </a:lnTo>
                <a:lnTo>
                  <a:pt x="93" y="274"/>
                </a:lnTo>
                <a:lnTo>
                  <a:pt x="116" y="284"/>
                </a:lnTo>
                <a:lnTo>
                  <a:pt x="141" y="294"/>
                </a:lnTo>
                <a:lnTo>
                  <a:pt x="169" y="303"/>
                </a:lnTo>
                <a:lnTo>
                  <a:pt x="197" y="311"/>
                </a:lnTo>
                <a:lnTo>
                  <a:pt x="228" y="317"/>
                </a:lnTo>
                <a:lnTo>
                  <a:pt x="259" y="323"/>
                </a:lnTo>
                <a:lnTo>
                  <a:pt x="293" y="327"/>
                </a:lnTo>
                <a:lnTo>
                  <a:pt x="326" y="331"/>
                </a:lnTo>
                <a:lnTo>
                  <a:pt x="360" y="332"/>
                </a:lnTo>
                <a:lnTo>
                  <a:pt x="394" y="333"/>
                </a:lnTo>
                <a:lnTo>
                  <a:pt x="429" y="332"/>
                </a:lnTo>
                <a:lnTo>
                  <a:pt x="463" y="331"/>
                </a:lnTo>
                <a:lnTo>
                  <a:pt x="497" y="327"/>
                </a:lnTo>
                <a:lnTo>
                  <a:pt x="529" y="323"/>
                </a:lnTo>
                <a:lnTo>
                  <a:pt x="561" y="317"/>
                </a:lnTo>
                <a:lnTo>
                  <a:pt x="591" y="311"/>
                </a:lnTo>
                <a:lnTo>
                  <a:pt x="621" y="303"/>
                </a:lnTo>
                <a:lnTo>
                  <a:pt x="648" y="294"/>
                </a:lnTo>
                <a:lnTo>
                  <a:pt x="673" y="284"/>
                </a:lnTo>
                <a:lnTo>
                  <a:pt x="696" y="274"/>
                </a:lnTo>
                <a:lnTo>
                  <a:pt x="717" y="262"/>
                </a:lnTo>
                <a:lnTo>
                  <a:pt x="736" y="250"/>
                </a:lnTo>
                <a:lnTo>
                  <a:pt x="752" y="237"/>
                </a:lnTo>
                <a:lnTo>
                  <a:pt x="765" y="224"/>
                </a:lnTo>
                <a:lnTo>
                  <a:pt x="775" y="210"/>
                </a:lnTo>
                <a:lnTo>
                  <a:pt x="782" y="195"/>
                </a:lnTo>
                <a:lnTo>
                  <a:pt x="787" y="181"/>
                </a:lnTo>
                <a:lnTo>
                  <a:pt x="789" y="167"/>
                </a:lnTo>
                <a:lnTo>
                  <a:pt x="787" y="152"/>
                </a:lnTo>
                <a:lnTo>
                  <a:pt x="782" y="137"/>
                </a:lnTo>
                <a:lnTo>
                  <a:pt x="775" y="124"/>
                </a:lnTo>
                <a:lnTo>
                  <a:pt x="765" y="110"/>
                </a:lnTo>
                <a:lnTo>
                  <a:pt x="751" y="97"/>
                </a:lnTo>
                <a:lnTo>
                  <a:pt x="736" y="83"/>
                </a:lnTo>
                <a:lnTo>
                  <a:pt x="717" y="71"/>
                </a:lnTo>
                <a:lnTo>
                  <a:pt x="696" y="60"/>
                </a:lnTo>
                <a:lnTo>
                  <a:pt x="673" y="49"/>
                </a:lnTo>
                <a:lnTo>
                  <a:pt x="648" y="40"/>
                </a:lnTo>
                <a:lnTo>
                  <a:pt x="620" y="30"/>
                </a:lnTo>
                <a:lnTo>
                  <a:pt x="591" y="23"/>
                </a:lnTo>
                <a:lnTo>
                  <a:pt x="561" y="16"/>
                </a:lnTo>
                <a:lnTo>
                  <a:pt x="529" y="10"/>
                </a:lnTo>
                <a:lnTo>
                  <a:pt x="496" y="6"/>
                </a:lnTo>
                <a:lnTo>
                  <a:pt x="463" y="3"/>
                </a:lnTo>
                <a:lnTo>
                  <a:pt x="429" y="1"/>
                </a:lnTo>
                <a:lnTo>
                  <a:pt x="394" y="0"/>
                </a:lnTo>
                <a:lnTo>
                  <a:pt x="360" y="1"/>
                </a:lnTo>
                <a:lnTo>
                  <a:pt x="326" y="3"/>
                </a:lnTo>
                <a:lnTo>
                  <a:pt x="293" y="7"/>
                </a:lnTo>
                <a:lnTo>
                  <a:pt x="259" y="10"/>
                </a:lnTo>
                <a:lnTo>
                  <a:pt x="228" y="16"/>
                </a:lnTo>
                <a:lnTo>
                  <a:pt x="197" y="23"/>
                </a:lnTo>
                <a:lnTo>
                  <a:pt x="169" y="30"/>
                </a:lnTo>
                <a:lnTo>
                  <a:pt x="141" y="40"/>
                </a:lnTo>
                <a:lnTo>
                  <a:pt x="116" y="50"/>
                </a:lnTo>
                <a:lnTo>
                  <a:pt x="93" y="60"/>
                </a:lnTo>
                <a:lnTo>
                  <a:pt x="72" y="71"/>
                </a:lnTo>
                <a:lnTo>
                  <a:pt x="53" y="83"/>
                </a:lnTo>
                <a:lnTo>
                  <a:pt x="38" y="97"/>
                </a:lnTo>
                <a:lnTo>
                  <a:pt x="24" y="110"/>
                </a:lnTo>
                <a:lnTo>
                  <a:pt x="13" y="124"/>
                </a:lnTo>
                <a:lnTo>
                  <a:pt x="6" y="138"/>
                </a:lnTo>
                <a:lnTo>
                  <a:pt x="2" y="152"/>
                </a:lnTo>
                <a:lnTo>
                  <a:pt x="0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F2A692B9-F23F-56C1-F930-76678C0817A7}"/>
              </a:ext>
            </a:extLst>
          </p:cNvPr>
          <p:cNvSpPr>
            <a:spLocks noGrp="1"/>
          </p:cNvSpPr>
          <p:nvPr/>
        </p:nvSpPr>
        <p:spPr>
          <a:xfrm>
            <a:off x="458680" y="3290241"/>
            <a:ext cx="1254125" cy="530225"/>
          </a:xfrm>
          <a:custGeom>
            <a:avLst/>
            <a:gdLst>
              <a:gd name="T0" fmla="*/ 1249363 w 790"/>
              <a:gd name="T1" fmla="*/ 241300 h 334"/>
              <a:gd name="T2" fmla="*/ 1231900 w 790"/>
              <a:gd name="T3" fmla="*/ 196850 h 334"/>
              <a:gd name="T4" fmla="*/ 1193800 w 790"/>
              <a:gd name="T5" fmla="*/ 152400 h 334"/>
              <a:gd name="T6" fmla="*/ 1138238 w 790"/>
              <a:gd name="T7" fmla="*/ 112713 h 334"/>
              <a:gd name="T8" fmla="*/ 1068388 w 790"/>
              <a:gd name="T9" fmla="*/ 77788 h 334"/>
              <a:gd name="T10" fmla="*/ 984250 w 790"/>
              <a:gd name="T11" fmla="*/ 47625 h 334"/>
              <a:gd name="T12" fmla="*/ 890588 w 790"/>
              <a:gd name="T13" fmla="*/ 25400 h 334"/>
              <a:gd name="T14" fmla="*/ 788988 w 790"/>
              <a:gd name="T15" fmla="*/ 9525 h 334"/>
              <a:gd name="T16" fmla="*/ 681038 w 790"/>
              <a:gd name="T17" fmla="*/ 1588 h 334"/>
              <a:gd name="T18" fmla="*/ 571500 w 790"/>
              <a:gd name="T19" fmla="*/ 1588 h 334"/>
              <a:gd name="T20" fmla="*/ 465138 w 790"/>
              <a:gd name="T21" fmla="*/ 9525 h 334"/>
              <a:gd name="T22" fmla="*/ 361950 w 790"/>
              <a:gd name="T23" fmla="*/ 25400 h 334"/>
              <a:gd name="T24" fmla="*/ 268288 w 790"/>
              <a:gd name="T25" fmla="*/ 47625 h 334"/>
              <a:gd name="T26" fmla="*/ 184150 w 790"/>
              <a:gd name="T27" fmla="*/ 77788 h 334"/>
              <a:gd name="T28" fmla="*/ 114300 w 790"/>
              <a:gd name="T29" fmla="*/ 112713 h 334"/>
              <a:gd name="T30" fmla="*/ 60325 w 790"/>
              <a:gd name="T31" fmla="*/ 152400 h 334"/>
              <a:gd name="T32" fmla="*/ 22225 w 790"/>
              <a:gd name="T33" fmla="*/ 196850 h 334"/>
              <a:gd name="T34" fmla="*/ 3175 w 790"/>
              <a:gd name="T35" fmla="*/ 241300 h 334"/>
              <a:gd name="T36" fmla="*/ 3175 w 790"/>
              <a:gd name="T37" fmla="*/ 287338 h 334"/>
              <a:gd name="T38" fmla="*/ 22225 w 790"/>
              <a:gd name="T39" fmla="*/ 333375 h 334"/>
              <a:gd name="T40" fmla="*/ 60325 w 790"/>
              <a:gd name="T41" fmla="*/ 376238 h 334"/>
              <a:gd name="T42" fmla="*/ 114300 w 790"/>
              <a:gd name="T43" fmla="*/ 415925 h 334"/>
              <a:gd name="T44" fmla="*/ 184150 w 790"/>
              <a:gd name="T45" fmla="*/ 450850 h 334"/>
              <a:gd name="T46" fmla="*/ 268288 w 790"/>
              <a:gd name="T47" fmla="*/ 481013 h 334"/>
              <a:gd name="T48" fmla="*/ 361950 w 790"/>
              <a:gd name="T49" fmla="*/ 503238 h 334"/>
              <a:gd name="T50" fmla="*/ 465138 w 790"/>
              <a:gd name="T51" fmla="*/ 519113 h 334"/>
              <a:gd name="T52" fmla="*/ 571500 w 790"/>
              <a:gd name="T53" fmla="*/ 527050 h 334"/>
              <a:gd name="T54" fmla="*/ 681038 w 790"/>
              <a:gd name="T55" fmla="*/ 527050 h 334"/>
              <a:gd name="T56" fmla="*/ 788988 w 790"/>
              <a:gd name="T57" fmla="*/ 519113 h 334"/>
              <a:gd name="T58" fmla="*/ 890588 w 790"/>
              <a:gd name="T59" fmla="*/ 503238 h 334"/>
              <a:gd name="T60" fmla="*/ 984250 w 790"/>
              <a:gd name="T61" fmla="*/ 481013 h 334"/>
              <a:gd name="T62" fmla="*/ 1068388 w 790"/>
              <a:gd name="T63" fmla="*/ 450850 h 334"/>
              <a:gd name="T64" fmla="*/ 1138238 w 790"/>
              <a:gd name="T65" fmla="*/ 415925 h 334"/>
              <a:gd name="T66" fmla="*/ 1193800 w 790"/>
              <a:gd name="T67" fmla="*/ 376238 h 334"/>
              <a:gd name="T68" fmla="*/ 1231900 w 790"/>
              <a:gd name="T69" fmla="*/ 333375 h 334"/>
              <a:gd name="T70" fmla="*/ 1249363 w 790"/>
              <a:gd name="T71" fmla="*/ 287338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0"/>
              <a:gd name="T109" fmla="*/ 0 h 334"/>
              <a:gd name="T110" fmla="*/ 790 w 790"/>
              <a:gd name="T111" fmla="*/ 334 h 334"/>
            </a:gdLst>
            <a:ahLst/>
            <a:cxnLst/>
            <a:rect l="T108" t="T109" r="T110" b="T111"/>
            <a:pathLst>
              <a:path w="790" h="334">
                <a:moveTo>
                  <a:pt x="789" y="167"/>
                </a:moveTo>
                <a:lnTo>
                  <a:pt x="787" y="152"/>
                </a:lnTo>
                <a:lnTo>
                  <a:pt x="783" y="137"/>
                </a:lnTo>
                <a:lnTo>
                  <a:pt x="776" y="124"/>
                </a:lnTo>
                <a:lnTo>
                  <a:pt x="765" y="110"/>
                </a:lnTo>
                <a:lnTo>
                  <a:pt x="752" y="96"/>
                </a:lnTo>
                <a:lnTo>
                  <a:pt x="736" y="83"/>
                </a:lnTo>
                <a:lnTo>
                  <a:pt x="717" y="71"/>
                </a:lnTo>
                <a:lnTo>
                  <a:pt x="696" y="60"/>
                </a:lnTo>
                <a:lnTo>
                  <a:pt x="673" y="49"/>
                </a:lnTo>
                <a:lnTo>
                  <a:pt x="648" y="39"/>
                </a:lnTo>
                <a:lnTo>
                  <a:pt x="620" y="30"/>
                </a:lnTo>
                <a:lnTo>
                  <a:pt x="592" y="23"/>
                </a:lnTo>
                <a:lnTo>
                  <a:pt x="561" y="16"/>
                </a:lnTo>
                <a:lnTo>
                  <a:pt x="530" y="10"/>
                </a:lnTo>
                <a:lnTo>
                  <a:pt x="497" y="6"/>
                </a:lnTo>
                <a:lnTo>
                  <a:pt x="463" y="3"/>
                </a:lnTo>
                <a:lnTo>
                  <a:pt x="429" y="1"/>
                </a:lnTo>
                <a:lnTo>
                  <a:pt x="395" y="0"/>
                </a:lnTo>
                <a:lnTo>
                  <a:pt x="360" y="1"/>
                </a:lnTo>
                <a:lnTo>
                  <a:pt x="326" y="3"/>
                </a:lnTo>
                <a:lnTo>
                  <a:pt x="293" y="6"/>
                </a:lnTo>
                <a:lnTo>
                  <a:pt x="260" y="10"/>
                </a:lnTo>
                <a:lnTo>
                  <a:pt x="228" y="16"/>
                </a:lnTo>
                <a:lnTo>
                  <a:pt x="198" y="23"/>
                </a:lnTo>
                <a:lnTo>
                  <a:pt x="169" y="30"/>
                </a:lnTo>
                <a:lnTo>
                  <a:pt x="142" y="39"/>
                </a:lnTo>
                <a:lnTo>
                  <a:pt x="116" y="49"/>
                </a:lnTo>
                <a:lnTo>
                  <a:pt x="93" y="60"/>
                </a:lnTo>
                <a:lnTo>
                  <a:pt x="72" y="71"/>
                </a:lnTo>
                <a:lnTo>
                  <a:pt x="53" y="83"/>
                </a:lnTo>
                <a:lnTo>
                  <a:pt x="38" y="96"/>
                </a:lnTo>
                <a:lnTo>
                  <a:pt x="24" y="110"/>
                </a:lnTo>
                <a:lnTo>
                  <a:pt x="14" y="124"/>
                </a:lnTo>
                <a:lnTo>
                  <a:pt x="7" y="137"/>
                </a:lnTo>
                <a:lnTo>
                  <a:pt x="2" y="152"/>
                </a:lnTo>
                <a:lnTo>
                  <a:pt x="0" y="167"/>
                </a:lnTo>
                <a:lnTo>
                  <a:pt x="2" y="181"/>
                </a:lnTo>
                <a:lnTo>
                  <a:pt x="7" y="195"/>
                </a:lnTo>
                <a:lnTo>
                  <a:pt x="14" y="210"/>
                </a:lnTo>
                <a:lnTo>
                  <a:pt x="24" y="224"/>
                </a:lnTo>
                <a:lnTo>
                  <a:pt x="38" y="237"/>
                </a:lnTo>
                <a:lnTo>
                  <a:pt x="53" y="250"/>
                </a:lnTo>
                <a:lnTo>
                  <a:pt x="72" y="262"/>
                </a:lnTo>
                <a:lnTo>
                  <a:pt x="93" y="273"/>
                </a:lnTo>
                <a:lnTo>
                  <a:pt x="116" y="284"/>
                </a:lnTo>
                <a:lnTo>
                  <a:pt x="142" y="294"/>
                </a:lnTo>
                <a:lnTo>
                  <a:pt x="169" y="303"/>
                </a:lnTo>
                <a:lnTo>
                  <a:pt x="198" y="311"/>
                </a:lnTo>
                <a:lnTo>
                  <a:pt x="228" y="317"/>
                </a:lnTo>
                <a:lnTo>
                  <a:pt x="260" y="323"/>
                </a:lnTo>
                <a:lnTo>
                  <a:pt x="293" y="327"/>
                </a:lnTo>
                <a:lnTo>
                  <a:pt x="326" y="330"/>
                </a:lnTo>
                <a:lnTo>
                  <a:pt x="360" y="332"/>
                </a:lnTo>
                <a:lnTo>
                  <a:pt x="395" y="333"/>
                </a:lnTo>
                <a:lnTo>
                  <a:pt x="429" y="332"/>
                </a:lnTo>
                <a:lnTo>
                  <a:pt x="463" y="330"/>
                </a:lnTo>
                <a:lnTo>
                  <a:pt x="497" y="327"/>
                </a:lnTo>
                <a:lnTo>
                  <a:pt x="530" y="323"/>
                </a:lnTo>
                <a:lnTo>
                  <a:pt x="561" y="317"/>
                </a:lnTo>
                <a:lnTo>
                  <a:pt x="592" y="311"/>
                </a:lnTo>
                <a:lnTo>
                  <a:pt x="620" y="303"/>
                </a:lnTo>
                <a:lnTo>
                  <a:pt x="648" y="294"/>
                </a:lnTo>
                <a:lnTo>
                  <a:pt x="673" y="284"/>
                </a:lnTo>
                <a:lnTo>
                  <a:pt x="696" y="273"/>
                </a:lnTo>
                <a:lnTo>
                  <a:pt x="717" y="262"/>
                </a:lnTo>
                <a:lnTo>
                  <a:pt x="736" y="250"/>
                </a:lnTo>
                <a:lnTo>
                  <a:pt x="752" y="237"/>
                </a:lnTo>
                <a:lnTo>
                  <a:pt x="765" y="224"/>
                </a:lnTo>
                <a:lnTo>
                  <a:pt x="776" y="210"/>
                </a:lnTo>
                <a:lnTo>
                  <a:pt x="783" y="195"/>
                </a:lnTo>
                <a:lnTo>
                  <a:pt x="787" y="181"/>
                </a:lnTo>
                <a:lnTo>
                  <a:pt x="789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F9D2EE48-87D9-3C06-3051-D2DBC459AF82}"/>
              </a:ext>
            </a:extLst>
          </p:cNvPr>
          <p:cNvSpPr>
            <a:spLocks noGrp="1"/>
          </p:cNvSpPr>
          <p:nvPr/>
        </p:nvSpPr>
        <p:spPr>
          <a:xfrm>
            <a:off x="2758967" y="3290241"/>
            <a:ext cx="1252538" cy="530225"/>
          </a:xfrm>
          <a:custGeom>
            <a:avLst/>
            <a:gdLst>
              <a:gd name="T0" fmla="*/ 3175 w 789"/>
              <a:gd name="T1" fmla="*/ 287338 h 334"/>
              <a:gd name="T2" fmla="*/ 20638 w 789"/>
              <a:gd name="T3" fmla="*/ 333375 h 334"/>
              <a:gd name="T4" fmla="*/ 58738 w 789"/>
              <a:gd name="T5" fmla="*/ 376238 h 334"/>
              <a:gd name="T6" fmla="*/ 112713 w 789"/>
              <a:gd name="T7" fmla="*/ 415925 h 334"/>
              <a:gd name="T8" fmla="*/ 184150 w 789"/>
              <a:gd name="T9" fmla="*/ 450850 h 334"/>
              <a:gd name="T10" fmla="*/ 266700 w 789"/>
              <a:gd name="T11" fmla="*/ 481013 h 334"/>
              <a:gd name="T12" fmla="*/ 360363 w 789"/>
              <a:gd name="T13" fmla="*/ 503238 h 334"/>
              <a:gd name="T14" fmla="*/ 465138 w 789"/>
              <a:gd name="T15" fmla="*/ 519113 h 334"/>
              <a:gd name="T16" fmla="*/ 571500 w 789"/>
              <a:gd name="T17" fmla="*/ 527050 h 334"/>
              <a:gd name="T18" fmla="*/ 679450 w 789"/>
              <a:gd name="T19" fmla="*/ 527050 h 334"/>
              <a:gd name="T20" fmla="*/ 788988 w 789"/>
              <a:gd name="T21" fmla="*/ 519113 h 334"/>
              <a:gd name="T22" fmla="*/ 890588 w 789"/>
              <a:gd name="T23" fmla="*/ 503238 h 334"/>
              <a:gd name="T24" fmla="*/ 984250 w 789"/>
              <a:gd name="T25" fmla="*/ 479425 h 334"/>
              <a:gd name="T26" fmla="*/ 1068388 w 789"/>
              <a:gd name="T27" fmla="*/ 450850 h 334"/>
              <a:gd name="T28" fmla="*/ 1138238 w 789"/>
              <a:gd name="T29" fmla="*/ 414338 h 334"/>
              <a:gd name="T30" fmla="*/ 1192213 w 789"/>
              <a:gd name="T31" fmla="*/ 376238 h 334"/>
              <a:gd name="T32" fmla="*/ 1230313 w 789"/>
              <a:gd name="T33" fmla="*/ 331788 h 334"/>
              <a:gd name="T34" fmla="*/ 1249363 w 789"/>
              <a:gd name="T35" fmla="*/ 285750 h 334"/>
              <a:gd name="T36" fmla="*/ 1249363 w 789"/>
              <a:gd name="T37" fmla="*/ 241300 h 334"/>
              <a:gd name="T38" fmla="*/ 1230313 w 789"/>
              <a:gd name="T39" fmla="*/ 196850 h 334"/>
              <a:gd name="T40" fmla="*/ 1192213 w 789"/>
              <a:gd name="T41" fmla="*/ 152400 h 334"/>
              <a:gd name="T42" fmla="*/ 1138238 w 789"/>
              <a:gd name="T43" fmla="*/ 112713 h 334"/>
              <a:gd name="T44" fmla="*/ 1068388 w 789"/>
              <a:gd name="T45" fmla="*/ 77788 h 334"/>
              <a:gd name="T46" fmla="*/ 984250 w 789"/>
              <a:gd name="T47" fmla="*/ 47625 h 334"/>
              <a:gd name="T48" fmla="*/ 890588 w 789"/>
              <a:gd name="T49" fmla="*/ 25400 h 334"/>
              <a:gd name="T50" fmla="*/ 787400 w 789"/>
              <a:gd name="T51" fmla="*/ 9525 h 334"/>
              <a:gd name="T52" fmla="*/ 679450 w 789"/>
              <a:gd name="T53" fmla="*/ 1588 h 334"/>
              <a:gd name="T54" fmla="*/ 571500 w 789"/>
              <a:gd name="T55" fmla="*/ 1588 h 334"/>
              <a:gd name="T56" fmla="*/ 463550 w 789"/>
              <a:gd name="T57" fmla="*/ 9525 h 334"/>
              <a:gd name="T58" fmla="*/ 360363 w 789"/>
              <a:gd name="T59" fmla="*/ 25400 h 334"/>
              <a:gd name="T60" fmla="*/ 266700 w 789"/>
              <a:gd name="T61" fmla="*/ 47625 h 334"/>
              <a:gd name="T62" fmla="*/ 184150 w 789"/>
              <a:gd name="T63" fmla="*/ 77788 h 334"/>
              <a:gd name="T64" fmla="*/ 112713 w 789"/>
              <a:gd name="T65" fmla="*/ 112713 h 334"/>
              <a:gd name="T66" fmla="*/ 58738 w 789"/>
              <a:gd name="T67" fmla="*/ 153988 h 334"/>
              <a:gd name="T68" fmla="*/ 20638 w 789"/>
              <a:gd name="T69" fmla="*/ 196850 h 334"/>
              <a:gd name="T70" fmla="*/ 3175 w 789"/>
              <a:gd name="T71" fmla="*/ 241300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89"/>
              <a:gd name="T109" fmla="*/ 0 h 334"/>
              <a:gd name="T110" fmla="*/ 789 w 789"/>
              <a:gd name="T111" fmla="*/ 334 h 334"/>
            </a:gdLst>
            <a:ahLst/>
            <a:cxnLst/>
            <a:rect l="T108" t="T109" r="T110" b="T111"/>
            <a:pathLst>
              <a:path w="789" h="334">
                <a:moveTo>
                  <a:pt x="0" y="167"/>
                </a:moveTo>
                <a:lnTo>
                  <a:pt x="2" y="181"/>
                </a:lnTo>
                <a:lnTo>
                  <a:pt x="6" y="195"/>
                </a:lnTo>
                <a:lnTo>
                  <a:pt x="13" y="210"/>
                </a:lnTo>
                <a:lnTo>
                  <a:pt x="24" y="224"/>
                </a:lnTo>
                <a:lnTo>
                  <a:pt x="37" y="237"/>
                </a:lnTo>
                <a:lnTo>
                  <a:pt x="53" y="250"/>
                </a:lnTo>
                <a:lnTo>
                  <a:pt x="71" y="262"/>
                </a:lnTo>
                <a:lnTo>
                  <a:pt x="92" y="274"/>
                </a:lnTo>
                <a:lnTo>
                  <a:pt x="116" y="284"/>
                </a:lnTo>
                <a:lnTo>
                  <a:pt x="141" y="294"/>
                </a:lnTo>
                <a:lnTo>
                  <a:pt x="168" y="303"/>
                </a:lnTo>
                <a:lnTo>
                  <a:pt x="197" y="311"/>
                </a:lnTo>
                <a:lnTo>
                  <a:pt x="227" y="317"/>
                </a:lnTo>
                <a:lnTo>
                  <a:pt x="259" y="323"/>
                </a:lnTo>
                <a:lnTo>
                  <a:pt x="293" y="327"/>
                </a:lnTo>
                <a:lnTo>
                  <a:pt x="326" y="330"/>
                </a:lnTo>
                <a:lnTo>
                  <a:pt x="360" y="332"/>
                </a:lnTo>
                <a:lnTo>
                  <a:pt x="394" y="333"/>
                </a:lnTo>
                <a:lnTo>
                  <a:pt x="428" y="332"/>
                </a:lnTo>
                <a:lnTo>
                  <a:pt x="462" y="330"/>
                </a:lnTo>
                <a:lnTo>
                  <a:pt x="497" y="327"/>
                </a:lnTo>
                <a:lnTo>
                  <a:pt x="529" y="323"/>
                </a:lnTo>
                <a:lnTo>
                  <a:pt x="561" y="317"/>
                </a:lnTo>
                <a:lnTo>
                  <a:pt x="591" y="311"/>
                </a:lnTo>
                <a:lnTo>
                  <a:pt x="620" y="302"/>
                </a:lnTo>
                <a:lnTo>
                  <a:pt x="648" y="294"/>
                </a:lnTo>
                <a:lnTo>
                  <a:pt x="673" y="284"/>
                </a:lnTo>
                <a:lnTo>
                  <a:pt x="696" y="273"/>
                </a:lnTo>
                <a:lnTo>
                  <a:pt x="717" y="261"/>
                </a:lnTo>
                <a:lnTo>
                  <a:pt x="736" y="250"/>
                </a:lnTo>
                <a:lnTo>
                  <a:pt x="751" y="237"/>
                </a:lnTo>
                <a:lnTo>
                  <a:pt x="764" y="223"/>
                </a:lnTo>
                <a:lnTo>
                  <a:pt x="775" y="209"/>
                </a:lnTo>
                <a:lnTo>
                  <a:pt x="782" y="195"/>
                </a:lnTo>
                <a:lnTo>
                  <a:pt x="787" y="180"/>
                </a:lnTo>
                <a:lnTo>
                  <a:pt x="788" y="167"/>
                </a:lnTo>
                <a:lnTo>
                  <a:pt x="787" y="152"/>
                </a:lnTo>
                <a:lnTo>
                  <a:pt x="782" y="137"/>
                </a:lnTo>
                <a:lnTo>
                  <a:pt x="775" y="124"/>
                </a:lnTo>
                <a:lnTo>
                  <a:pt x="764" y="110"/>
                </a:lnTo>
                <a:lnTo>
                  <a:pt x="751" y="96"/>
                </a:lnTo>
                <a:lnTo>
                  <a:pt x="736" y="83"/>
                </a:lnTo>
                <a:lnTo>
                  <a:pt x="717" y="71"/>
                </a:lnTo>
                <a:lnTo>
                  <a:pt x="696" y="60"/>
                </a:lnTo>
                <a:lnTo>
                  <a:pt x="673" y="49"/>
                </a:lnTo>
                <a:lnTo>
                  <a:pt x="647" y="39"/>
                </a:lnTo>
                <a:lnTo>
                  <a:pt x="620" y="30"/>
                </a:lnTo>
                <a:lnTo>
                  <a:pt x="591" y="23"/>
                </a:lnTo>
                <a:lnTo>
                  <a:pt x="561" y="16"/>
                </a:lnTo>
                <a:lnTo>
                  <a:pt x="529" y="10"/>
                </a:lnTo>
                <a:lnTo>
                  <a:pt x="496" y="6"/>
                </a:lnTo>
                <a:lnTo>
                  <a:pt x="462" y="3"/>
                </a:lnTo>
                <a:lnTo>
                  <a:pt x="428" y="1"/>
                </a:lnTo>
                <a:lnTo>
                  <a:pt x="394" y="0"/>
                </a:lnTo>
                <a:lnTo>
                  <a:pt x="360" y="1"/>
                </a:lnTo>
                <a:lnTo>
                  <a:pt x="326" y="3"/>
                </a:lnTo>
                <a:lnTo>
                  <a:pt x="292" y="6"/>
                </a:lnTo>
                <a:lnTo>
                  <a:pt x="259" y="10"/>
                </a:lnTo>
                <a:lnTo>
                  <a:pt x="227" y="16"/>
                </a:lnTo>
                <a:lnTo>
                  <a:pt x="197" y="23"/>
                </a:lnTo>
                <a:lnTo>
                  <a:pt x="168" y="30"/>
                </a:lnTo>
                <a:lnTo>
                  <a:pt x="140" y="39"/>
                </a:lnTo>
                <a:lnTo>
                  <a:pt x="116" y="49"/>
                </a:lnTo>
                <a:lnTo>
                  <a:pt x="92" y="60"/>
                </a:lnTo>
                <a:lnTo>
                  <a:pt x="71" y="71"/>
                </a:lnTo>
                <a:lnTo>
                  <a:pt x="53" y="83"/>
                </a:lnTo>
                <a:lnTo>
                  <a:pt x="37" y="97"/>
                </a:lnTo>
                <a:lnTo>
                  <a:pt x="24" y="110"/>
                </a:lnTo>
                <a:lnTo>
                  <a:pt x="13" y="124"/>
                </a:lnTo>
                <a:lnTo>
                  <a:pt x="6" y="137"/>
                </a:lnTo>
                <a:lnTo>
                  <a:pt x="2" y="152"/>
                </a:lnTo>
                <a:lnTo>
                  <a:pt x="0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66E15A6-7990-4A68-D761-7C28F44C0150}"/>
              </a:ext>
            </a:extLst>
          </p:cNvPr>
          <p:cNvSpPr>
            <a:spLocks noGrp="1"/>
          </p:cNvSpPr>
          <p:nvPr/>
        </p:nvSpPr>
        <p:spPr>
          <a:xfrm>
            <a:off x="4306780" y="3166416"/>
            <a:ext cx="1252537" cy="528637"/>
          </a:xfrm>
          <a:custGeom>
            <a:avLst/>
            <a:gdLst>
              <a:gd name="T0" fmla="*/ 3175 w 789"/>
              <a:gd name="T1" fmla="*/ 287337 h 333"/>
              <a:gd name="T2" fmla="*/ 22225 w 789"/>
              <a:gd name="T3" fmla="*/ 331787 h 333"/>
              <a:gd name="T4" fmla="*/ 60325 w 789"/>
              <a:gd name="T5" fmla="*/ 376237 h 333"/>
              <a:gd name="T6" fmla="*/ 114300 w 789"/>
              <a:gd name="T7" fmla="*/ 415925 h 333"/>
              <a:gd name="T8" fmla="*/ 184150 w 789"/>
              <a:gd name="T9" fmla="*/ 450850 h 333"/>
              <a:gd name="T10" fmla="*/ 268287 w 789"/>
              <a:gd name="T11" fmla="*/ 479425 h 333"/>
              <a:gd name="T12" fmla="*/ 361950 w 789"/>
              <a:gd name="T13" fmla="*/ 503237 h 333"/>
              <a:gd name="T14" fmla="*/ 463550 w 789"/>
              <a:gd name="T15" fmla="*/ 519112 h 333"/>
              <a:gd name="T16" fmla="*/ 571500 w 789"/>
              <a:gd name="T17" fmla="*/ 527050 h 333"/>
              <a:gd name="T18" fmla="*/ 681037 w 789"/>
              <a:gd name="T19" fmla="*/ 527050 h 333"/>
              <a:gd name="T20" fmla="*/ 787400 w 789"/>
              <a:gd name="T21" fmla="*/ 519112 h 333"/>
              <a:gd name="T22" fmla="*/ 889000 w 789"/>
              <a:gd name="T23" fmla="*/ 503237 h 333"/>
              <a:gd name="T24" fmla="*/ 984250 w 789"/>
              <a:gd name="T25" fmla="*/ 479425 h 333"/>
              <a:gd name="T26" fmla="*/ 1068387 w 789"/>
              <a:gd name="T27" fmla="*/ 450850 h 333"/>
              <a:gd name="T28" fmla="*/ 1136650 w 789"/>
              <a:gd name="T29" fmla="*/ 415925 h 333"/>
              <a:gd name="T30" fmla="*/ 1192212 w 789"/>
              <a:gd name="T31" fmla="*/ 374650 h 333"/>
              <a:gd name="T32" fmla="*/ 1230312 w 789"/>
              <a:gd name="T33" fmla="*/ 331787 h 333"/>
              <a:gd name="T34" fmla="*/ 1247775 w 789"/>
              <a:gd name="T35" fmla="*/ 287337 h 333"/>
              <a:gd name="T36" fmla="*/ 1247775 w 789"/>
              <a:gd name="T37" fmla="*/ 239712 h 333"/>
              <a:gd name="T38" fmla="*/ 1230312 w 789"/>
              <a:gd name="T39" fmla="*/ 195262 h 333"/>
              <a:gd name="T40" fmla="*/ 1192212 w 789"/>
              <a:gd name="T41" fmla="*/ 152400 h 333"/>
              <a:gd name="T42" fmla="*/ 1136650 w 789"/>
              <a:gd name="T43" fmla="*/ 112712 h 333"/>
              <a:gd name="T44" fmla="*/ 1066800 w 789"/>
              <a:gd name="T45" fmla="*/ 76200 h 333"/>
              <a:gd name="T46" fmla="*/ 984250 w 789"/>
              <a:gd name="T47" fmla="*/ 47625 h 333"/>
              <a:gd name="T48" fmla="*/ 889000 w 789"/>
              <a:gd name="T49" fmla="*/ 23812 h 333"/>
              <a:gd name="T50" fmla="*/ 787400 w 789"/>
              <a:gd name="T51" fmla="*/ 9525 h 333"/>
              <a:gd name="T52" fmla="*/ 679450 w 789"/>
              <a:gd name="T53" fmla="*/ 1587 h 333"/>
              <a:gd name="T54" fmla="*/ 571500 w 789"/>
              <a:gd name="T55" fmla="*/ 1587 h 333"/>
              <a:gd name="T56" fmla="*/ 463550 w 789"/>
              <a:gd name="T57" fmla="*/ 9525 h 333"/>
              <a:gd name="T58" fmla="*/ 361950 w 789"/>
              <a:gd name="T59" fmla="*/ 25400 h 333"/>
              <a:gd name="T60" fmla="*/ 268287 w 789"/>
              <a:gd name="T61" fmla="*/ 47625 h 333"/>
              <a:gd name="T62" fmla="*/ 184150 w 789"/>
              <a:gd name="T63" fmla="*/ 77787 h 333"/>
              <a:gd name="T64" fmla="*/ 114300 w 789"/>
              <a:gd name="T65" fmla="*/ 112712 h 333"/>
              <a:gd name="T66" fmla="*/ 60325 w 789"/>
              <a:gd name="T67" fmla="*/ 152400 h 333"/>
              <a:gd name="T68" fmla="*/ 22225 w 789"/>
              <a:gd name="T69" fmla="*/ 195262 h 333"/>
              <a:gd name="T70" fmla="*/ 3175 w 789"/>
              <a:gd name="T71" fmla="*/ 241300 h 33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89"/>
              <a:gd name="T109" fmla="*/ 0 h 333"/>
              <a:gd name="T110" fmla="*/ 789 w 789"/>
              <a:gd name="T111" fmla="*/ 333 h 333"/>
            </a:gdLst>
            <a:ahLst/>
            <a:cxnLst/>
            <a:rect l="T108" t="T109" r="T110" b="T111"/>
            <a:pathLst>
              <a:path w="789" h="333">
                <a:moveTo>
                  <a:pt x="0" y="166"/>
                </a:moveTo>
                <a:lnTo>
                  <a:pt x="2" y="181"/>
                </a:lnTo>
                <a:lnTo>
                  <a:pt x="6" y="195"/>
                </a:lnTo>
                <a:lnTo>
                  <a:pt x="14" y="209"/>
                </a:lnTo>
                <a:lnTo>
                  <a:pt x="24" y="223"/>
                </a:lnTo>
                <a:lnTo>
                  <a:pt x="38" y="237"/>
                </a:lnTo>
                <a:lnTo>
                  <a:pt x="53" y="249"/>
                </a:lnTo>
                <a:lnTo>
                  <a:pt x="72" y="262"/>
                </a:lnTo>
                <a:lnTo>
                  <a:pt x="93" y="273"/>
                </a:lnTo>
                <a:lnTo>
                  <a:pt x="116" y="284"/>
                </a:lnTo>
                <a:lnTo>
                  <a:pt x="141" y="294"/>
                </a:lnTo>
                <a:lnTo>
                  <a:pt x="169" y="302"/>
                </a:lnTo>
                <a:lnTo>
                  <a:pt x="197" y="310"/>
                </a:lnTo>
                <a:lnTo>
                  <a:pt x="228" y="317"/>
                </a:lnTo>
                <a:lnTo>
                  <a:pt x="259" y="322"/>
                </a:lnTo>
                <a:lnTo>
                  <a:pt x="292" y="327"/>
                </a:lnTo>
                <a:lnTo>
                  <a:pt x="325" y="330"/>
                </a:lnTo>
                <a:lnTo>
                  <a:pt x="360" y="332"/>
                </a:lnTo>
                <a:lnTo>
                  <a:pt x="394" y="332"/>
                </a:lnTo>
                <a:lnTo>
                  <a:pt x="429" y="332"/>
                </a:lnTo>
                <a:lnTo>
                  <a:pt x="463" y="330"/>
                </a:lnTo>
                <a:lnTo>
                  <a:pt x="496" y="327"/>
                </a:lnTo>
                <a:lnTo>
                  <a:pt x="529" y="322"/>
                </a:lnTo>
                <a:lnTo>
                  <a:pt x="560" y="317"/>
                </a:lnTo>
                <a:lnTo>
                  <a:pt x="591" y="310"/>
                </a:lnTo>
                <a:lnTo>
                  <a:pt x="620" y="302"/>
                </a:lnTo>
                <a:lnTo>
                  <a:pt x="647" y="293"/>
                </a:lnTo>
                <a:lnTo>
                  <a:pt x="673" y="284"/>
                </a:lnTo>
                <a:lnTo>
                  <a:pt x="696" y="273"/>
                </a:lnTo>
                <a:lnTo>
                  <a:pt x="716" y="262"/>
                </a:lnTo>
                <a:lnTo>
                  <a:pt x="735" y="249"/>
                </a:lnTo>
                <a:lnTo>
                  <a:pt x="751" y="236"/>
                </a:lnTo>
                <a:lnTo>
                  <a:pt x="765" y="223"/>
                </a:lnTo>
                <a:lnTo>
                  <a:pt x="775" y="209"/>
                </a:lnTo>
                <a:lnTo>
                  <a:pt x="782" y="195"/>
                </a:lnTo>
                <a:lnTo>
                  <a:pt x="786" y="181"/>
                </a:lnTo>
                <a:lnTo>
                  <a:pt x="788" y="166"/>
                </a:lnTo>
                <a:lnTo>
                  <a:pt x="786" y="151"/>
                </a:lnTo>
                <a:lnTo>
                  <a:pt x="782" y="137"/>
                </a:lnTo>
                <a:lnTo>
                  <a:pt x="775" y="123"/>
                </a:lnTo>
                <a:lnTo>
                  <a:pt x="765" y="109"/>
                </a:lnTo>
                <a:lnTo>
                  <a:pt x="751" y="96"/>
                </a:lnTo>
                <a:lnTo>
                  <a:pt x="735" y="83"/>
                </a:lnTo>
                <a:lnTo>
                  <a:pt x="716" y="71"/>
                </a:lnTo>
                <a:lnTo>
                  <a:pt x="695" y="59"/>
                </a:lnTo>
                <a:lnTo>
                  <a:pt x="672" y="48"/>
                </a:lnTo>
                <a:lnTo>
                  <a:pt x="647" y="39"/>
                </a:lnTo>
                <a:lnTo>
                  <a:pt x="620" y="30"/>
                </a:lnTo>
                <a:lnTo>
                  <a:pt x="591" y="22"/>
                </a:lnTo>
                <a:lnTo>
                  <a:pt x="560" y="15"/>
                </a:lnTo>
                <a:lnTo>
                  <a:pt x="529" y="10"/>
                </a:lnTo>
                <a:lnTo>
                  <a:pt x="496" y="6"/>
                </a:lnTo>
                <a:lnTo>
                  <a:pt x="462" y="2"/>
                </a:lnTo>
                <a:lnTo>
                  <a:pt x="428" y="1"/>
                </a:lnTo>
                <a:lnTo>
                  <a:pt x="394" y="0"/>
                </a:lnTo>
                <a:lnTo>
                  <a:pt x="360" y="1"/>
                </a:lnTo>
                <a:lnTo>
                  <a:pt x="325" y="3"/>
                </a:lnTo>
                <a:lnTo>
                  <a:pt x="292" y="6"/>
                </a:lnTo>
                <a:lnTo>
                  <a:pt x="259" y="10"/>
                </a:lnTo>
                <a:lnTo>
                  <a:pt x="228" y="16"/>
                </a:lnTo>
                <a:lnTo>
                  <a:pt x="197" y="22"/>
                </a:lnTo>
                <a:lnTo>
                  <a:pt x="169" y="30"/>
                </a:lnTo>
                <a:lnTo>
                  <a:pt x="141" y="39"/>
                </a:lnTo>
                <a:lnTo>
                  <a:pt x="116" y="49"/>
                </a:lnTo>
                <a:lnTo>
                  <a:pt x="93" y="60"/>
                </a:lnTo>
                <a:lnTo>
                  <a:pt x="72" y="71"/>
                </a:lnTo>
                <a:lnTo>
                  <a:pt x="53" y="83"/>
                </a:lnTo>
                <a:lnTo>
                  <a:pt x="38" y="96"/>
                </a:lnTo>
                <a:lnTo>
                  <a:pt x="24" y="109"/>
                </a:lnTo>
                <a:lnTo>
                  <a:pt x="14" y="123"/>
                </a:lnTo>
                <a:lnTo>
                  <a:pt x="6" y="138"/>
                </a:lnTo>
                <a:lnTo>
                  <a:pt x="2" y="152"/>
                </a:lnTo>
                <a:lnTo>
                  <a:pt x="0" y="166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42BC52FE-5101-1B94-9ECB-916B43287525}"/>
              </a:ext>
            </a:extLst>
          </p:cNvPr>
          <p:cNvSpPr>
            <a:spLocks noGrp="1"/>
          </p:cNvSpPr>
          <p:nvPr/>
        </p:nvSpPr>
        <p:spPr>
          <a:xfrm>
            <a:off x="6589605" y="4160191"/>
            <a:ext cx="1449387" cy="544512"/>
          </a:xfrm>
          <a:custGeom>
            <a:avLst/>
            <a:gdLst>
              <a:gd name="T0" fmla="*/ 1447800 w 913"/>
              <a:gd name="T1" fmla="*/ 542925 h 343"/>
              <a:gd name="T2" fmla="*/ 1447800 w 913"/>
              <a:gd name="T3" fmla="*/ 0 h 343"/>
              <a:gd name="T4" fmla="*/ 0 w 913"/>
              <a:gd name="T5" fmla="*/ 0 h 343"/>
              <a:gd name="T6" fmla="*/ 0 w 913"/>
              <a:gd name="T7" fmla="*/ 542925 h 343"/>
              <a:gd name="T8" fmla="*/ 1447800 w 913"/>
              <a:gd name="T9" fmla="*/ 542925 h 3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3"/>
              <a:gd name="T16" fmla="*/ 0 h 343"/>
              <a:gd name="T17" fmla="*/ 913 w 913"/>
              <a:gd name="T18" fmla="*/ 343 h 343"/>
            </a:gdLst>
            <a:ahLst/>
            <a:cxnLst/>
            <a:rect l="T15" t="T16" r="T17" b="T18"/>
            <a:pathLst>
              <a:path w="913" h="343">
                <a:moveTo>
                  <a:pt x="912" y="342"/>
                </a:moveTo>
                <a:lnTo>
                  <a:pt x="912" y="0"/>
                </a:lnTo>
                <a:lnTo>
                  <a:pt x="0" y="0"/>
                </a:lnTo>
                <a:lnTo>
                  <a:pt x="0" y="342"/>
                </a:lnTo>
                <a:lnTo>
                  <a:pt x="912" y="342"/>
                </a:lnTo>
              </a:path>
            </a:pathLst>
          </a:custGeom>
          <a:noFill/>
          <a:ln w="508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294F1D50-C625-459D-8611-E2BF358D5124}"/>
              </a:ext>
            </a:extLst>
          </p:cNvPr>
          <p:cNvSpPr>
            <a:spLocks noGrp="1"/>
          </p:cNvSpPr>
          <p:nvPr/>
        </p:nvSpPr>
        <p:spPr>
          <a:xfrm>
            <a:off x="1585805" y="4144316"/>
            <a:ext cx="1252537" cy="544512"/>
          </a:xfrm>
          <a:custGeom>
            <a:avLst/>
            <a:gdLst>
              <a:gd name="T0" fmla="*/ 1250950 w 789"/>
              <a:gd name="T1" fmla="*/ 542925 h 343"/>
              <a:gd name="T2" fmla="*/ 1250950 w 789"/>
              <a:gd name="T3" fmla="*/ 0 h 343"/>
              <a:gd name="T4" fmla="*/ 0 w 789"/>
              <a:gd name="T5" fmla="*/ 0 h 343"/>
              <a:gd name="T6" fmla="*/ 0 w 789"/>
              <a:gd name="T7" fmla="*/ 542925 h 343"/>
              <a:gd name="T8" fmla="*/ 1250950 w 789"/>
              <a:gd name="T9" fmla="*/ 542925 h 3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43"/>
              <a:gd name="T17" fmla="*/ 789 w 789"/>
              <a:gd name="T18" fmla="*/ 343 h 343"/>
            </a:gdLst>
            <a:ahLst/>
            <a:cxnLst/>
            <a:rect l="T15" t="T16" r="T17" b="T18"/>
            <a:pathLst>
              <a:path w="789" h="343">
                <a:moveTo>
                  <a:pt x="788" y="342"/>
                </a:moveTo>
                <a:lnTo>
                  <a:pt x="788" y="0"/>
                </a:lnTo>
                <a:lnTo>
                  <a:pt x="0" y="0"/>
                </a:lnTo>
                <a:lnTo>
                  <a:pt x="0" y="342"/>
                </a:lnTo>
                <a:lnTo>
                  <a:pt x="788" y="34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507E6ABB-B0B0-116E-AE93-13211FF96A79}"/>
              </a:ext>
            </a:extLst>
          </p:cNvPr>
          <p:cNvSpPr>
            <a:spLocks noGrp="1"/>
          </p:cNvSpPr>
          <p:nvPr/>
        </p:nvSpPr>
        <p:spPr>
          <a:xfrm>
            <a:off x="1585805" y="2902891"/>
            <a:ext cx="1252537" cy="528637"/>
          </a:xfrm>
          <a:custGeom>
            <a:avLst/>
            <a:gdLst>
              <a:gd name="T0" fmla="*/ 1249362 w 789"/>
              <a:gd name="T1" fmla="*/ 239712 h 333"/>
              <a:gd name="T2" fmla="*/ 1230312 w 789"/>
              <a:gd name="T3" fmla="*/ 195262 h 333"/>
              <a:gd name="T4" fmla="*/ 1192212 w 789"/>
              <a:gd name="T5" fmla="*/ 152400 h 333"/>
              <a:gd name="T6" fmla="*/ 1138237 w 789"/>
              <a:gd name="T7" fmla="*/ 111125 h 333"/>
              <a:gd name="T8" fmla="*/ 1068387 w 789"/>
              <a:gd name="T9" fmla="*/ 77787 h 333"/>
              <a:gd name="T10" fmla="*/ 984250 w 789"/>
              <a:gd name="T11" fmla="*/ 47625 h 333"/>
              <a:gd name="T12" fmla="*/ 890587 w 789"/>
              <a:gd name="T13" fmla="*/ 25400 h 333"/>
              <a:gd name="T14" fmla="*/ 787400 w 789"/>
              <a:gd name="T15" fmla="*/ 9525 h 333"/>
              <a:gd name="T16" fmla="*/ 681037 w 789"/>
              <a:gd name="T17" fmla="*/ 0 h 333"/>
              <a:gd name="T18" fmla="*/ 571500 w 789"/>
              <a:gd name="T19" fmla="*/ 0 h 333"/>
              <a:gd name="T20" fmla="*/ 463550 w 789"/>
              <a:gd name="T21" fmla="*/ 9525 h 333"/>
              <a:gd name="T22" fmla="*/ 361950 w 789"/>
              <a:gd name="T23" fmla="*/ 25400 h 333"/>
              <a:gd name="T24" fmla="*/ 266700 w 789"/>
              <a:gd name="T25" fmla="*/ 47625 h 333"/>
              <a:gd name="T26" fmla="*/ 182562 w 789"/>
              <a:gd name="T27" fmla="*/ 77787 h 333"/>
              <a:gd name="T28" fmla="*/ 112712 w 789"/>
              <a:gd name="T29" fmla="*/ 111125 h 333"/>
              <a:gd name="T30" fmla="*/ 58737 w 789"/>
              <a:gd name="T31" fmla="*/ 152400 h 333"/>
              <a:gd name="T32" fmla="*/ 22225 w 789"/>
              <a:gd name="T33" fmla="*/ 195262 h 333"/>
              <a:gd name="T34" fmla="*/ 1587 w 789"/>
              <a:gd name="T35" fmla="*/ 239712 h 333"/>
              <a:gd name="T36" fmla="*/ 1587 w 789"/>
              <a:gd name="T37" fmla="*/ 285750 h 333"/>
              <a:gd name="T38" fmla="*/ 22225 w 789"/>
              <a:gd name="T39" fmla="*/ 331787 h 333"/>
              <a:gd name="T40" fmla="*/ 58737 w 789"/>
              <a:gd name="T41" fmla="*/ 374650 h 333"/>
              <a:gd name="T42" fmla="*/ 112712 w 789"/>
              <a:gd name="T43" fmla="*/ 414337 h 333"/>
              <a:gd name="T44" fmla="*/ 182562 w 789"/>
              <a:gd name="T45" fmla="*/ 450850 h 333"/>
              <a:gd name="T46" fmla="*/ 266700 w 789"/>
              <a:gd name="T47" fmla="*/ 479425 h 333"/>
              <a:gd name="T48" fmla="*/ 361950 w 789"/>
              <a:gd name="T49" fmla="*/ 503237 h 333"/>
              <a:gd name="T50" fmla="*/ 463550 w 789"/>
              <a:gd name="T51" fmla="*/ 519112 h 333"/>
              <a:gd name="T52" fmla="*/ 571500 w 789"/>
              <a:gd name="T53" fmla="*/ 525462 h 333"/>
              <a:gd name="T54" fmla="*/ 681037 w 789"/>
              <a:gd name="T55" fmla="*/ 525462 h 333"/>
              <a:gd name="T56" fmla="*/ 787400 w 789"/>
              <a:gd name="T57" fmla="*/ 519112 h 333"/>
              <a:gd name="T58" fmla="*/ 890587 w 789"/>
              <a:gd name="T59" fmla="*/ 503237 h 333"/>
              <a:gd name="T60" fmla="*/ 984250 w 789"/>
              <a:gd name="T61" fmla="*/ 479425 h 333"/>
              <a:gd name="T62" fmla="*/ 1068387 w 789"/>
              <a:gd name="T63" fmla="*/ 450850 h 333"/>
              <a:gd name="T64" fmla="*/ 1138237 w 789"/>
              <a:gd name="T65" fmla="*/ 414337 h 333"/>
              <a:gd name="T66" fmla="*/ 1192212 w 789"/>
              <a:gd name="T67" fmla="*/ 374650 h 333"/>
              <a:gd name="T68" fmla="*/ 1230312 w 789"/>
              <a:gd name="T69" fmla="*/ 331787 h 333"/>
              <a:gd name="T70" fmla="*/ 1249362 w 789"/>
              <a:gd name="T71" fmla="*/ 285750 h 33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89"/>
              <a:gd name="T109" fmla="*/ 0 h 333"/>
              <a:gd name="T110" fmla="*/ 789 w 789"/>
              <a:gd name="T111" fmla="*/ 333 h 333"/>
            </a:gdLst>
            <a:ahLst/>
            <a:cxnLst/>
            <a:rect l="T108" t="T109" r="T110" b="T111"/>
            <a:pathLst>
              <a:path w="789" h="333">
                <a:moveTo>
                  <a:pt x="788" y="166"/>
                </a:moveTo>
                <a:lnTo>
                  <a:pt x="787" y="151"/>
                </a:lnTo>
                <a:lnTo>
                  <a:pt x="782" y="137"/>
                </a:lnTo>
                <a:lnTo>
                  <a:pt x="775" y="123"/>
                </a:lnTo>
                <a:lnTo>
                  <a:pt x="765" y="109"/>
                </a:lnTo>
                <a:lnTo>
                  <a:pt x="751" y="96"/>
                </a:lnTo>
                <a:lnTo>
                  <a:pt x="735" y="83"/>
                </a:lnTo>
                <a:lnTo>
                  <a:pt x="717" y="70"/>
                </a:lnTo>
                <a:lnTo>
                  <a:pt x="696" y="59"/>
                </a:lnTo>
                <a:lnTo>
                  <a:pt x="673" y="49"/>
                </a:lnTo>
                <a:lnTo>
                  <a:pt x="647" y="39"/>
                </a:lnTo>
                <a:lnTo>
                  <a:pt x="620" y="30"/>
                </a:lnTo>
                <a:lnTo>
                  <a:pt x="591" y="22"/>
                </a:lnTo>
                <a:lnTo>
                  <a:pt x="561" y="16"/>
                </a:lnTo>
                <a:lnTo>
                  <a:pt x="529" y="10"/>
                </a:lnTo>
                <a:lnTo>
                  <a:pt x="496" y="6"/>
                </a:lnTo>
                <a:lnTo>
                  <a:pt x="463" y="3"/>
                </a:lnTo>
                <a:lnTo>
                  <a:pt x="429" y="0"/>
                </a:lnTo>
                <a:lnTo>
                  <a:pt x="394" y="0"/>
                </a:lnTo>
                <a:lnTo>
                  <a:pt x="360" y="0"/>
                </a:lnTo>
                <a:lnTo>
                  <a:pt x="325" y="3"/>
                </a:lnTo>
                <a:lnTo>
                  <a:pt x="292" y="6"/>
                </a:lnTo>
                <a:lnTo>
                  <a:pt x="260" y="10"/>
                </a:lnTo>
                <a:lnTo>
                  <a:pt x="228" y="16"/>
                </a:lnTo>
                <a:lnTo>
                  <a:pt x="197" y="22"/>
                </a:lnTo>
                <a:lnTo>
                  <a:pt x="168" y="30"/>
                </a:lnTo>
                <a:lnTo>
                  <a:pt x="141" y="39"/>
                </a:lnTo>
                <a:lnTo>
                  <a:pt x="115" y="49"/>
                </a:lnTo>
                <a:lnTo>
                  <a:pt x="92" y="59"/>
                </a:lnTo>
                <a:lnTo>
                  <a:pt x="71" y="70"/>
                </a:lnTo>
                <a:lnTo>
                  <a:pt x="53" y="83"/>
                </a:lnTo>
                <a:lnTo>
                  <a:pt x="37" y="96"/>
                </a:lnTo>
                <a:lnTo>
                  <a:pt x="24" y="109"/>
                </a:lnTo>
                <a:lnTo>
                  <a:pt x="14" y="123"/>
                </a:lnTo>
                <a:lnTo>
                  <a:pt x="6" y="137"/>
                </a:lnTo>
                <a:lnTo>
                  <a:pt x="1" y="151"/>
                </a:lnTo>
                <a:lnTo>
                  <a:pt x="0" y="166"/>
                </a:lnTo>
                <a:lnTo>
                  <a:pt x="1" y="180"/>
                </a:lnTo>
                <a:lnTo>
                  <a:pt x="6" y="195"/>
                </a:lnTo>
                <a:lnTo>
                  <a:pt x="14" y="209"/>
                </a:lnTo>
                <a:lnTo>
                  <a:pt x="24" y="223"/>
                </a:lnTo>
                <a:lnTo>
                  <a:pt x="37" y="236"/>
                </a:lnTo>
                <a:lnTo>
                  <a:pt x="53" y="249"/>
                </a:lnTo>
                <a:lnTo>
                  <a:pt x="71" y="261"/>
                </a:lnTo>
                <a:lnTo>
                  <a:pt x="92" y="273"/>
                </a:lnTo>
                <a:lnTo>
                  <a:pt x="115" y="284"/>
                </a:lnTo>
                <a:lnTo>
                  <a:pt x="141" y="294"/>
                </a:lnTo>
                <a:lnTo>
                  <a:pt x="168" y="302"/>
                </a:lnTo>
                <a:lnTo>
                  <a:pt x="197" y="310"/>
                </a:lnTo>
                <a:lnTo>
                  <a:pt x="228" y="317"/>
                </a:lnTo>
                <a:lnTo>
                  <a:pt x="260" y="322"/>
                </a:lnTo>
                <a:lnTo>
                  <a:pt x="292" y="327"/>
                </a:lnTo>
                <a:lnTo>
                  <a:pt x="325" y="330"/>
                </a:lnTo>
                <a:lnTo>
                  <a:pt x="360" y="331"/>
                </a:lnTo>
                <a:lnTo>
                  <a:pt x="394" y="332"/>
                </a:lnTo>
                <a:lnTo>
                  <a:pt x="429" y="331"/>
                </a:lnTo>
                <a:lnTo>
                  <a:pt x="463" y="330"/>
                </a:lnTo>
                <a:lnTo>
                  <a:pt x="496" y="327"/>
                </a:lnTo>
                <a:lnTo>
                  <a:pt x="529" y="322"/>
                </a:lnTo>
                <a:lnTo>
                  <a:pt x="561" y="317"/>
                </a:lnTo>
                <a:lnTo>
                  <a:pt x="591" y="310"/>
                </a:lnTo>
                <a:lnTo>
                  <a:pt x="620" y="302"/>
                </a:lnTo>
                <a:lnTo>
                  <a:pt x="647" y="294"/>
                </a:lnTo>
                <a:lnTo>
                  <a:pt x="673" y="284"/>
                </a:lnTo>
                <a:lnTo>
                  <a:pt x="696" y="273"/>
                </a:lnTo>
                <a:lnTo>
                  <a:pt x="717" y="261"/>
                </a:lnTo>
                <a:lnTo>
                  <a:pt x="735" y="249"/>
                </a:lnTo>
                <a:lnTo>
                  <a:pt x="751" y="236"/>
                </a:lnTo>
                <a:lnTo>
                  <a:pt x="765" y="223"/>
                </a:lnTo>
                <a:lnTo>
                  <a:pt x="775" y="209"/>
                </a:lnTo>
                <a:lnTo>
                  <a:pt x="782" y="195"/>
                </a:lnTo>
                <a:lnTo>
                  <a:pt x="787" y="180"/>
                </a:lnTo>
                <a:lnTo>
                  <a:pt x="788" y="166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5F2ACCAE-EE61-9939-9D80-EA66B615DF7A}"/>
              </a:ext>
            </a:extLst>
          </p:cNvPr>
          <p:cNvSpPr>
            <a:spLocks noGrp="1"/>
          </p:cNvSpPr>
          <p:nvPr/>
        </p:nvSpPr>
        <p:spPr>
          <a:xfrm>
            <a:off x="3201880" y="3402953"/>
            <a:ext cx="430212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5CEF7A76-7A02-8CDC-2F67-CC10931415C1}"/>
              </a:ext>
            </a:extLst>
          </p:cNvPr>
          <p:cNvSpPr>
            <a:spLocks noGrp="1"/>
          </p:cNvSpPr>
          <p:nvPr/>
        </p:nvSpPr>
        <p:spPr>
          <a:xfrm>
            <a:off x="4322655" y="4082403"/>
            <a:ext cx="1252537" cy="622300"/>
          </a:xfrm>
          <a:custGeom>
            <a:avLst/>
            <a:gdLst>
              <a:gd name="T0" fmla="*/ 0 w 789"/>
              <a:gd name="T1" fmla="*/ 311150 h 392"/>
              <a:gd name="T2" fmla="*/ 625475 w 789"/>
              <a:gd name="T3" fmla="*/ 0 h 392"/>
              <a:gd name="T4" fmla="*/ 1250950 w 789"/>
              <a:gd name="T5" fmla="*/ 311150 h 392"/>
              <a:gd name="T6" fmla="*/ 625475 w 789"/>
              <a:gd name="T7" fmla="*/ 620713 h 392"/>
              <a:gd name="T8" fmla="*/ 0 w 789"/>
              <a:gd name="T9" fmla="*/ 311150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92"/>
              <a:gd name="T17" fmla="*/ 789 w 789"/>
              <a:gd name="T18" fmla="*/ 392 h 392"/>
            </a:gdLst>
            <a:ahLst/>
            <a:cxnLst/>
            <a:rect l="T15" t="T16" r="T17" b="T18"/>
            <a:pathLst>
              <a:path w="789" h="392">
                <a:moveTo>
                  <a:pt x="0" y="196"/>
                </a:moveTo>
                <a:lnTo>
                  <a:pt x="394" y="0"/>
                </a:lnTo>
                <a:lnTo>
                  <a:pt x="788" y="196"/>
                </a:lnTo>
                <a:lnTo>
                  <a:pt x="394" y="391"/>
                </a:lnTo>
                <a:lnTo>
                  <a:pt x="0" y="196"/>
                </a:lnTo>
              </a:path>
            </a:pathLst>
          </a:custGeom>
          <a:noFill/>
          <a:ln w="508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027209E8-A1E7-9771-9A3F-8BFA0A108B67}"/>
              </a:ext>
            </a:extLst>
          </p:cNvPr>
          <p:cNvSpPr>
            <a:spLocks noGrp="1"/>
          </p:cNvSpPr>
          <p:nvPr/>
        </p:nvSpPr>
        <p:spPr>
          <a:xfrm>
            <a:off x="1935055" y="2983853"/>
            <a:ext cx="7112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AB78BF81-9020-8BE2-3FA0-9A9A0C83E8CB}"/>
              </a:ext>
            </a:extLst>
          </p:cNvPr>
          <p:cNvSpPr>
            <a:spLocks noGrp="1"/>
          </p:cNvSpPr>
          <p:nvPr/>
        </p:nvSpPr>
        <p:spPr>
          <a:xfrm>
            <a:off x="7765942" y="3356916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</a:t>
            </a: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158882A3-8BF5-256F-6CFF-A26D80AEB280}"/>
              </a:ext>
            </a:extLst>
          </p:cNvPr>
          <p:cNvSpPr>
            <a:spLocks noGrp="1"/>
          </p:cNvSpPr>
          <p:nvPr/>
        </p:nvSpPr>
        <p:spPr>
          <a:xfrm>
            <a:off x="6108592" y="3341041"/>
            <a:ext cx="8350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3EB67766-D853-4D8D-F584-7CD111196EC9}"/>
              </a:ext>
            </a:extLst>
          </p:cNvPr>
          <p:cNvSpPr>
            <a:spLocks noGrp="1"/>
          </p:cNvSpPr>
          <p:nvPr/>
        </p:nvSpPr>
        <p:spPr>
          <a:xfrm>
            <a:off x="6703905" y="4241153"/>
            <a:ext cx="1341437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Dependents</a:t>
            </a: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230F9599-32DF-2C29-7FAD-118B4D66ACDB}"/>
              </a:ext>
            </a:extLst>
          </p:cNvPr>
          <p:cNvSpPr>
            <a:spLocks noGrp="1"/>
          </p:cNvSpPr>
          <p:nvPr/>
        </p:nvSpPr>
        <p:spPr>
          <a:xfrm>
            <a:off x="1581042" y="4258616"/>
            <a:ext cx="1252538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5A44343C-ED1B-A896-5E60-BA7EA47FD9A5}"/>
              </a:ext>
            </a:extLst>
          </p:cNvPr>
          <p:cNvSpPr>
            <a:spLocks noGrp="1"/>
          </p:cNvSpPr>
          <p:nvPr/>
        </p:nvSpPr>
        <p:spPr>
          <a:xfrm>
            <a:off x="839680" y="3388666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2AE7CD1A-1333-B6EF-34D6-02C50EFD6DC9}"/>
              </a:ext>
            </a:extLst>
          </p:cNvPr>
          <p:cNvSpPr>
            <a:spLocks noGrp="1"/>
          </p:cNvSpPr>
          <p:nvPr/>
        </p:nvSpPr>
        <p:spPr>
          <a:xfrm>
            <a:off x="4556017" y="4241153"/>
            <a:ext cx="779463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CBAEA34F-E3EE-20C8-1B04-B3767BFF0207}"/>
              </a:ext>
            </a:extLst>
          </p:cNvPr>
          <p:cNvSpPr>
            <a:spLocks noGrp="1"/>
          </p:cNvSpPr>
          <p:nvPr/>
        </p:nvSpPr>
        <p:spPr>
          <a:xfrm>
            <a:off x="4670317" y="3279128"/>
            <a:ext cx="598488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C0CD4854-3FE1-1938-55D4-B38AD45C1C83}"/>
              </a:ext>
            </a:extLst>
          </p:cNvPr>
          <p:cNvSpPr>
            <a:spLocks noGrp="1"/>
          </p:cNvSpPr>
          <p:nvPr/>
        </p:nvSpPr>
        <p:spPr>
          <a:xfrm flipH="1">
            <a:off x="6199080" y="3644253"/>
            <a:ext cx="6096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DF404997-D8AA-4992-64ED-DFCD9EDC42B2}"/>
              </a:ext>
            </a:extLst>
          </p:cNvPr>
          <p:cNvSpPr>
            <a:spLocks noGrp="1"/>
          </p:cNvSpPr>
          <p:nvPr/>
        </p:nvSpPr>
        <p:spPr>
          <a:xfrm>
            <a:off x="2227155" y="3455341"/>
            <a:ext cx="0" cy="668337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5" name="Line 26">
            <a:extLst>
              <a:ext uri="{FF2B5EF4-FFF2-40B4-BE49-F238E27FC236}">
                <a16:creationId xmlns:a16="http://schemas.microsoft.com/office/drawing/2014/main" id="{DEC51B4E-17AA-6187-7A2A-ED7FD9A4CEFC}"/>
              </a:ext>
            </a:extLst>
          </p:cNvPr>
          <p:cNvSpPr>
            <a:spLocks noGrp="1"/>
          </p:cNvSpPr>
          <p:nvPr/>
        </p:nvSpPr>
        <p:spPr>
          <a:xfrm>
            <a:off x="1069867" y="3834753"/>
            <a:ext cx="809625" cy="3095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82E8617-281F-D6C4-E833-538C138C4DBC}"/>
              </a:ext>
            </a:extLst>
          </p:cNvPr>
          <p:cNvSpPr>
            <a:spLocks noGrp="1"/>
          </p:cNvSpPr>
          <p:nvPr/>
        </p:nvSpPr>
        <p:spPr>
          <a:xfrm flipH="1">
            <a:off x="2562117" y="3815703"/>
            <a:ext cx="814388" cy="32861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ACBF1E99-D497-BB98-C37F-6DBD3D607138}"/>
              </a:ext>
            </a:extLst>
          </p:cNvPr>
          <p:cNvSpPr>
            <a:spLocks noGrp="1"/>
          </p:cNvSpPr>
          <p:nvPr/>
        </p:nvSpPr>
        <p:spPr>
          <a:xfrm flipV="1">
            <a:off x="4935430" y="3680766"/>
            <a:ext cx="0" cy="414337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C8FF880A-9E6E-6F9C-9C33-EB18CA329552}"/>
              </a:ext>
            </a:extLst>
          </p:cNvPr>
          <p:cNvSpPr>
            <a:spLocks noGrp="1"/>
          </p:cNvSpPr>
          <p:nvPr/>
        </p:nvSpPr>
        <p:spPr>
          <a:xfrm>
            <a:off x="6445142" y="3815703"/>
            <a:ext cx="369888" cy="3476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C559C224-A9FD-CBE2-F09E-9385170354CB}"/>
              </a:ext>
            </a:extLst>
          </p:cNvPr>
          <p:cNvSpPr>
            <a:spLocks noGrp="1"/>
          </p:cNvSpPr>
          <p:nvPr/>
        </p:nvSpPr>
        <p:spPr>
          <a:xfrm flipH="1">
            <a:off x="7435742" y="3815703"/>
            <a:ext cx="514350" cy="3476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8D65BABD-3ECA-3C19-DE1F-3716B6A2AC75}"/>
              </a:ext>
            </a:extLst>
          </p:cNvPr>
          <p:cNvSpPr>
            <a:spLocks noGrp="1"/>
          </p:cNvSpPr>
          <p:nvPr/>
        </p:nvSpPr>
        <p:spPr>
          <a:xfrm flipH="1">
            <a:off x="2843105" y="4390378"/>
            <a:ext cx="1416050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9CC2D096-D600-BD32-B5C8-588F95D15128}"/>
              </a:ext>
            </a:extLst>
          </p:cNvPr>
          <p:cNvSpPr>
            <a:spLocks noGrp="1"/>
          </p:cNvSpPr>
          <p:nvPr/>
        </p:nvSpPr>
        <p:spPr>
          <a:xfrm>
            <a:off x="5602180" y="4390378"/>
            <a:ext cx="931862" cy="0"/>
          </a:xfrm>
          <a:prstGeom prst="line">
            <a:avLst/>
          </a:prstGeom>
          <a:noFill/>
          <a:ln w="50800">
            <a:solidFill>
              <a:schemeClr val="tx2"/>
            </a:solidFill>
            <a:headEnd type="stealth" w="med" len="med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9527250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937A-DB0A-F430-29D2-46966F3C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155"/>
            <a:ext cx="8229600" cy="868362"/>
          </a:xfrm>
        </p:spPr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转换弱实体集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FAC36-3563-3AAF-493A-14FCA4A59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863" y="2667000"/>
            <a:ext cx="8229600" cy="1467496"/>
          </a:xfrm>
        </p:spPr>
        <p:txBody>
          <a:bodyPr/>
          <a:lstStyle/>
          <a:p>
            <a:pPr>
              <a:buFont typeface="Wingdings"/>
              <a:buChar char="§"/>
            </a:pPr>
            <a:r>
              <a:rPr sz="2800">
                <a:latin typeface="Arial Unicode MS"/>
                <a:ea typeface="Arial Unicode MS"/>
                <a:cs typeface="Arial Unicode MS"/>
              </a:rPr>
              <a:t>以下使用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 sz="2800">
                <a:latin typeface="Arial Unicode MS"/>
                <a:ea typeface="Arial Unicode MS"/>
                <a:cs typeface="Arial Unicode MS"/>
              </a:rPr>
              <a:t>单表方法创建“Dep_Policy”</a:t>
            </a: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3B8E3-C7C1-06AE-5188-AA2BAB2F10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71</a:t>
            </a:fld>
            <a:endParaRPr/>
          </a:p>
        </p:txBody>
      </p:sp>
      <p:sp>
        <p:nvSpPr>
          <p:cNvPr id="5" name="Freeform 6">
            <a:extLst>
              <a:ext uri="{FF2B5EF4-FFF2-40B4-BE49-F238E27FC236}">
                <a16:creationId xmlns:a16="http://schemas.microsoft.com/office/drawing/2014/main" id="{EFFD4458-E663-8735-58EB-B39C0706857C}"/>
              </a:ext>
            </a:extLst>
          </p:cNvPr>
          <p:cNvSpPr>
            <a:spLocks noGrp="1"/>
          </p:cNvSpPr>
          <p:nvPr/>
        </p:nvSpPr>
        <p:spPr>
          <a:xfrm>
            <a:off x="5806967" y="1201091"/>
            <a:ext cx="1254125" cy="530225"/>
          </a:xfrm>
          <a:custGeom>
            <a:avLst/>
            <a:gdLst>
              <a:gd name="T0" fmla="*/ 1250950 w 790"/>
              <a:gd name="T1" fmla="*/ 242888 h 334"/>
              <a:gd name="T2" fmla="*/ 1230313 w 790"/>
              <a:gd name="T3" fmla="*/ 196850 h 334"/>
              <a:gd name="T4" fmla="*/ 1193800 w 790"/>
              <a:gd name="T5" fmla="*/ 153988 h 334"/>
              <a:gd name="T6" fmla="*/ 1139825 w 790"/>
              <a:gd name="T7" fmla="*/ 112713 h 334"/>
              <a:gd name="T8" fmla="*/ 1069975 w 790"/>
              <a:gd name="T9" fmla="*/ 79375 h 334"/>
              <a:gd name="T10" fmla="*/ 985838 w 790"/>
              <a:gd name="T11" fmla="*/ 47625 h 334"/>
              <a:gd name="T12" fmla="*/ 890588 w 790"/>
              <a:gd name="T13" fmla="*/ 26988 h 334"/>
              <a:gd name="T14" fmla="*/ 788988 w 790"/>
              <a:gd name="T15" fmla="*/ 9525 h 334"/>
              <a:gd name="T16" fmla="*/ 681038 w 790"/>
              <a:gd name="T17" fmla="*/ 1588 h 334"/>
              <a:gd name="T18" fmla="*/ 571500 w 790"/>
              <a:gd name="T19" fmla="*/ 1588 h 334"/>
              <a:gd name="T20" fmla="*/ 465138 w 790"/>
              <a:gd name="T21" fmla="*/ 9525 h 334"/>
              <a:gd name="T22" fmla="*/ 361950 w 790"/>
              <a:gd name="T23" fmla="*/ 26988 h 334"/>
              <a:gd name="T24" fmla="*/ 268288 w 790"/>
              <a:gd name="T25" fmla="*/ 47625 h 334"/>
              <a:gd name="T26" fmla="*/ 184150 w 790"/>
              <a:gd name="T27" fmla="*/ 79375 h 334"/>
              <a:gd name="T28" fmla="*/ 114300 w 790"/>
              <a:gd name="T29" fmla="*/ 112713 h 334"/>
              <a:gd name="T30" fmla="*/ 60325 w 790"/>
              <a:gd name="T31" fmla="*/ 153988 h 334"/>
              <a:gd name="T32" fmla="*/ 22225 w 790"/>
              <a:gd name="T33" fmla="*/ 196850 h 334"/>
              <a:gd name="T34" fmla="*/ 3175 w 790"/>
              <a:gd name="T35" fmla="*/ 242888 h 334"/>
              <a:gd name="T36" fmla="*/ 3175 w 790"/>
              <a:gd name="T37" fmla="*/ 287338 h 334"/>
              <a:gd name="T38" fmla="*/ 22225 w 790"/>
              <a:gd name="T39" fmla="*/ 333375 h 334"/>
              <a:gd name="T40" fmla="*/ 60325 w 790"/>
              <a:gd name="T41" fmla="*/ 376238 h 334"/>
              <a:gd name="T42" fmla="*/ 114300 w 790"/>
              <a:gd name="T43" fmla="*/ 415925 h 334"/>
              <a:gd name="T44" fmla="*/ 184150 w 790"/>
              <a:gd name="T45" fmla="*/ 450850 h 334"/>
              <a:gd name="T46" fmla="*/ 268288 w 790"/>
              <a:gd name="T47" fmla="*/ 481013 h 334"/>
              <a:gd name="T48" fmla="*/ 361950 w 790"/>
              <a:gd name="T49" fmla="*/ 503238 h 334"/>
              <a:gd name="T50" fmla="*/ 465138 w 790"/>
              <a:gd name="T51" fmla="*/ 519113 h 334"/>
              <a:gd name="T52" fmla="*/ 571500 w 790"/>
              <a:gd name="T53" fmla="*/ 527050 h 334"/>
              <a:gd name="T54" fmla="*/ 681038 w 790"/>
              <a:gd name="T55" fmla="*/ 527050 h 334"/>
              <a:gd name="T56" fmla="*/ 788988 w 790"/>
              <a:gd name="T57" fmla="*/ 519113 h 334"/>
              <a:gd name="T58" fmla="*/ 890588 w 790"/>
              <a:gd name="T59" fmla="*/ 503238 h 334"/>
              <a:gd name="T60" fmla="*/ 985838 w 790"/>
              <a:gd name="T61" fmla="*/ 481013 h 334"/>
              <a:gd name="T62" fmla="*/ 1069975 w 790"/>
              <a:gd name="T63" fmla="*/ 450850 h 334"/>
              <a:gd name="T64" fmla="*/ 1139825 w 790"/>
              <a:gd name="T65" fmla="*/ 415925 h 334"/>
              <a:gd name="T66" fmla="*/ 1193800 w 790"/>
              <a:gd name="T67" fmla="*/ 376238 h 334"/>
              <a:gd name="T68" fmla="*/ 1230313 w 790"/>
              <a:gd name="T69" fmla="*/ 333375 h 334"/>
              <a:gd name="T70" fmla="*/ 1250950 w 790"/>
              <a:gd name="T71" fmla="*/ 287338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0"/>
              <a:gd name="T109" fmla="*/ 0 h 334"/>
              <a:gd name="T110" fmla="*/ 790 w 790"/>
              <a:gd name="T111" fmla="*/ 334 h 334"/>
            </a:gdLst>
            <a:ahLst/>
            <a:cxnLst/>
            <a:rect l="T108" t="T109" r="T110" b="T111"/>
            <a:pathLst>
              <a:path w="790" h="334">
                <a:moveTo>
                  <a:pt x="789" y="167"/>
                </a:moveTo>
                <a:lnTo>
                  <a:pt x="788" y="153"/>
                </a:lnTo>
                <a:lnTo>
                  <a:pt x="783" y="138"/>
                </a:lnTo>
                <a:lnTo>
                  <a:pt x="775" y="124"/>
                </a:lnTo>
                <a:lnTo>
                  <a:pt x="765" y="110"/>
                </a:lnTo>
                <a:lnTo>
                  <a:pt x="752" y="97"/>
                </a:lnTo>
                <a:lnTo>
                  <a:pt x="736" y="83"/>
                </a:lnTo>
                <a:lnTo>
                  <a:pt x="718" y="71"/>
                </a:lnTo>
                <a:lnTo>
                  <a:pt x="697" y="60"/>
                </a:lnTo>
                <a:lnTo>
                  <a:pt x="674" y="50"/>
                </a:lnTo>
                <a:lnTo>
                  <a:pt x="648" y="40"/>
                </a:lnTo>
                <a:lnTo>
                  <a:pt x="621" y="30"/>
                </a:lnTo>
                <a:lnTo>
                  <a:pt x="592" y="23"/>
                </a:lnTo>
                <a:lnTo>
                  <a:pt x="561" y="17"/>
                </a:lnTo>
                <a:lnTo>
                  <a:pt x="529" y="10"/>
                </a:lnTo>
                <a:lnTo>
                  <a:pt x="497" y="6"/>
                </a:lnTo>
                <a:lnTo>
                  <a:pt x="463" y="3"/>
                </a:lnTo>
                <a:lnTo>
                  <a:pt x="429" y="1"/>
                </a:lnTo>
                <a:lnTo>
                  <a:pt x="394" y="0"/>
                </a:lnTo>
                <a:lnTo>
                  <a:pt x="360" y="1"/>
                </a:lnTo>
                <a:lnTo>
                  <a:pt x="326" y="3"/>
                </a:lnTo>
                <a:lnTo>
                  <a:pt x="293" y="6"/>
                </a:lnTo>
                <a:lnTo>
                  <a:pt x="260" y="10"/>
                </a:lnTo>
                <a:lnTo>
                  <a:pt x="228" y="17"/>
                </a:lnTo>
                <a:lnTo>
                  <a:pt x="197" y="23"/>
                </a:lnTo>
                <a:lnTo>
                  <a:pt x="169" y="30"/>
                </a:lnTo>
                <a:lnTo>
                  <a:pt x="142" y="40"/>
                </a:lnTo>
                <a:lnTo>
                  <a:pt x="116" y="50"/>
                </a:lnTo>
                <a:lnTo>
                  <a:pt x="93" y="60"/>
                </a:lnTo>
                <a:lnTo>
                  <a:pt x="72" y="71"/>
                </a:lnTo>
                <a:lnTo>
                  <a:pt x="54" y="83"/>
                </a:lnTo>
                <a:lnTo>
                  <a:pt x="38" y="97"/>
                </a:lnTo>
                <a:lnTo>
                  <a:pt x="24" y="110"/>
                </a:lnTo>
                <a:lnTo>
                  <a:pt x="14" y="124"/>
                </a:lnTo>
                <a:lnTo>
                  <a:pt x="7" y="138"/>
                </a:lnTo>
                <a:lnTo>
                  <a:pt x="2" y="153"/>
                </a:lnTo>
                <a:lnTo>
                  <a:pt x="0" y="167"/>
                </a:lnTo>
                <a:lnTo>
                  <a:pt x="2" y="181"/>
                </a:lnTo>
                <a:lnTo>
                  <a:pt x="7" y="196"/>
                </a:lnTo>
                <a:lnTo>
                  <a:pt x="14" y="210"/>
                </a:lnTo>
                <a:lnTo>
                  <a:pt x="24" y="224"/>
                </a:lnTo>
                <a:lnTo>
                  <a:pt x="38" y="237"/>
                </a:lnTo>
                <a:lnTo>
                  <a:pt x="54" y="250"/>
                </a:lnTo>
                <a:lnTo>
                  <a:pt x="72" y="262"/>
                </a:lnTo>
                <a:lnTo>
                  <a:pt x="93" y="274"/>
                </a:lnTo>
                <a:lnTo>
                  <a:pt x="116" y="284"/>
                </a:lnTo>
                <a:lnTo>
                  <a:pt x="142" y="294"/>
                </a:lnTo>
                <a:lnTo>
                  <a:pt x="169" y="303"/>
                </a:lnTo>
                <a:lnTo>
                  <a:pt x="197" y="311"/>
                </a:lnTo>
                <a:lnTo>
                  <a:pt x="228" y="317"/>
                </a:lnTo>
                <a:lnTo>
                  <a:pt x="260" y="323"/>
                </a:lnTo>
                <a:lnTo>
                  <a:pt x="293" y="327"/>
                </a:lnTo>
                <a:lnTo>
                  <a:pt x="326" y="331"/>
                </a:lnTo>
                <a:lnTo>
                  <a:pt x="360" y="332"/>
                </a:lnTo>
                <a:lnTo>
                  <a:pt x="394" y="333"/>
                </a:lnTo>
                <a:lnTo>
                  <a:pt x="429" y="332"/>
                </a:lnTo>
                <a:lnTo>
                  <a:pt x="463" y="331"/>
                </a:lnTo>
                <a:lnTo>
                  <a:pt x="497" y="327"/>
                </a:lnTo>
                <a:lnTo>
                  <a:pt x="529" y="323"/>
                </a:lnTo>
                <a:lnTo>
                  <a:pt x="561" y="317"/>
                </a:lnTo>
                <a:lnTo>
                  <a:pt x="592" y="311"/>
                </a:lnTo>
                <a:lnTo>
                  <a:pt x="621" y="303"/>
                </a:lnTo>
                <a:lnTo>
                  <a:pt x="648" y="294"/>
                </a:lnTo>
                <a:lnTo>
                  <a:pt x="674" y="284"/>
                </a:lnTo>
                <a:lnTo>
                  <a:pt x="697" y="274"/>
                </a:lnTo>
                <a:lnTo>
                  <a:pt x="718" y="262"/>
                </a:lnTo>
                <a:lnTo>
                  <a:pt x="736" y="250"/>
                </a:lnTo>
                <a:lnTo>
                  <a:pt x="752" y="237"/>
                </a:lnTo>
                <a:lnTo>
                  <a:pt x="765" y="224"/>
                </a:lnTo>
                <a:lnTo>
                  <a:pt x="775" y="210"/>
                </a:lnTo>
                <a:lnTo>
                  <a:pt x="783" y="196"/>
                </a:lnTo>
                <a:lnTo>
                  <a:pt x="788" y="181"/>
                </a:lnTo>
                <a:lnTo>
                  <a:pt x="789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C6E522AD-8D09-E442-EE46-ABF34412E40D}"/>
              </a:ext>
            </a:extLst>
          </p:cNvPr>
          <p:cNvSpPr>
            <a:spLocks noGrp="1"/>
          </p:cNvSpPr>
          <p:nvPr/>
        </p:nvSpPr>
        <p:spPr>
          <a:xfrm>
            <a:off x="7340492" y="1216966"/>
            <a:ext cx="1254125" cy="530225"/>
          </a:xfrm>
          <a:custGeom>
            <a:avLst/>
            <a:gdLst>
              <a:gd name="T0" fmla="*/ 3175 w 790"/>
              <a:gd name="T1" fmla="*/ 287338 h 334"/>
              <a:gd name="T2" fmla="*/ 20638 w 790"/>
              <a:gd name="T3" fmla="*/ 333375 h 334"/>
              <a:gd name="T4" fmla="*/ 60325 w 790"/>
              <a:gd name="T5" fmla="*/ 376238 h 334"/>
              <a:gd name="T6" fmla="*/ 114300 w 790"/>
              <a:gd name="T7" fmla="*/ 415925 h 334"/>
              <a:gd name="T8" fmla="*/ 184150 w 790"/>
              <a:gd name="T9" fmla="*/ 450850 h 334"/>
              <a:gd name="T10" fmla="*/ 268288 w 790"/>
              <a:gd name="T11" fmla="*/ 481013 h 334"/>
              <a:gd name="T12" fmla="*/ 361950 w 790"/>
              <a:gd name="T13" fmla="*/ 503238 h 334"/>
              <a:gd name="T14" fmla="*/ 465138 w 790"/>
              <a:gd name="T15" fmla="*/ 519113 h 334"/>
              <a:gd name="T16" fmla="*/ 571500 w 790"/>
              <a:gd name="T17" fmla="*/ 527050 h 334"/>
              <a:gd name="T18" fmla="*/ 681038 w 790"/>
              <a:gd name="T19" fmla="*/ 527050 h 334"/>
              <a:gd name="T20" fmla="*/ 788988 w 790"/>
              <a:gd name="T21" fmla="*/ 519113 h 334"/>
              <a:gd name="T22" fmla="*/ 890588 w 790"/>
              <a:gd name="T23" fmla="*/ 503238 h 334"/>
              <a:gd name="T24" fmla="*/ 985838 w 790"/>
              <a:gd name="T25" fmla="*/ 481013 h 334"/>
              <a:gd name="T26" fmla="*/ 1068388 w 790"/>
              <a:gd name="T27" fmla="*/ 450850 h 334"/>
              <a:gd name="T28" fmla="*/ 1138238 w 790"/>
              <a:gd name="T29" fmla="*/ 415925 h 334"/>
              <a:gd name="T30" fmla="*/ 1193800 w 790"/>
              <a:gd name="T31" fmla="*/ 376238 h 334"/>
              <a:gd name="T32" fmla="*/ 1230313 w 790"/>
              <a:gd name="T33" fmla="*/ 333375 h 334"/>
              <a:gd name="T34" fmla="*/ 1249363 w 790"/>
              <a:gd name="T35" fmla="*/ 287338 h 334"/>
              <a:gd name="T36" fmla="*/ 1249363 w 790"/>
              <a:gd name="T37" fmla="*/ 241300 h 334"/>
              <a:gd name="T38" fmla="*/ 1230313 w 790"/>
              <a:gd name="T39" fmla="*/ 196850 h 334"/>
              <a:gd name="T40" fmla="*/ 1192213 w 790"/>
              <a:gd name="T41" fmla="*/ 153988 h 334"/>
              <a:gd name="T42" fmla="*/ 1138238 w 790"/>
              <a:gd name="T43" fmla="*/ 112713 h 334"/>
              <a:gd name="T44" fmla="*/ 1068388 w 790"/>
              <a:gd name="T45" fmla="*/ 77788 h 334"/>
              <a:gd name="T46" fmla="*/ 984250 w 790"/>
              <a:gd name="T47" fmla="*/ 47625 h 334"/>
              <a:gd name="T48" fmla="*/ 890588 w 790"/>
              <a:gd name="T49" fmla="*/ 25400 h 334"/>
              <a:gd name="T50" fmla="*/ 787400 w 790"/>
              <a:gd name="T51" fmla="*/ 9525 h 334"/>
              <a:gd name="T52" fmla="*/ 681038 w 790"/>
              <a:gd name="T53" fmla="*/ 1588 h 334"/>
              <a:gd name="T54" fmla="*/ 571500 w 790"/>
              <a:gd name="T55" fmla="*/ 1588 h 334"/>
              <a:gd name="T56" fmla="*/ 465138 w 790"/>
              <a:gd name="T57" fmla="*/ 11113 h 334"/>
              <a:gd name="T58" fmla="*/ 361950 w 790"/>
              <a:gd name="T59" fmla="*/ 25400 h 334"/>
              <a:gd name="T60" fmla="*/ 268288 w 790"/>
              <a:gd name="T61" fmla="*/ 47625 h 334"/>
              <a:gd name="T62" fmla="*/ 184150 w 790"/>
              <a:gd name="T63" fmla="*/ 79375 h 334"/>
              <a:gd name="T64" fmla="*/ 114300 w 790"/>
              <a:gd name="T65" fmla="*/ 112713 h 334"/>
              <a:gd name="T66" fmla="*/ 60325 w 790"/>
              <a:gd name="T67" fmla="*/ 153988 h 334"/>
              <a:gd name="T68" fmla="*/ 20638 w 790"/>
              <a:gd name="T69" fmla="*/ 196850 h 334"/>
              <a:gd name="T70" fmla="*/ 3175 w 790"/>
              <a:gd name="T71" fmla="*/ 241300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0"/>
              <a:gd name="T109" fmla="*/ 0 h 334"/>
              <a:gd name="T110" fmla="*/ 790 w 790"/>
              <a:gd name="T111" fmla="*/ 334 h 334"/>
            </a:gdLst>
            <a:ahLst/>
            <a:cxnLst/>
            <a:rect l="T108" t="T109" r="T110" b="T111"/>
            <a:pathLst>
              <a:path w="790" h="334">
                <a:moveTo>
                  <a:pt x="0" y="167"/>
                </a:moveTo>
                <a:lnTo>
                  <a:pt x="2" y="181"/>
                </a:lnTo>
                <a:lnTo>
                  <a:pt x="6" y="196"/>
                </a:lnTo>
                <a:lnTo>
                  <a:pt x="13" y="210"/>
                </a:lnTo>
                <a:lnTo>
                  <a:pt x="24" y="224"/>
                </a:lnTo>
                <a:lnTo>
                  <a:pt x="38" y="237"/>
                </a:lnTo>
                <a:lnTo>
                  <a:pt x="53" y="250"/>
                </a:lnTo>
                <a:lnTo>
                  <a:pt x="72" y="262"/>
                </a:lnTo>
                <a:lnTo>
                  <a:pt x="93" y="274"/>
                </a:lnTo>
                <a:lnTo>
                  <a:pt x="116" y="284"/>
                </a:lnTo>
                <a:lnTo>
                  <a:pt x="141" y="294"/>
                </a:lnTo>
                <a:lnTo>
                  <a:pt x="169" y="303"/>
                </a:lnTo>
                <a:lnTo>
                  <a:pt x="197" y="311"/>
                </a:lnTo>
                <a:lnTo>
                  <a:pt x="228" y="317"/>
                </a:lnTo>
                <a:lnTo>
                  <a:pt x="259" y="323"/>
                </a:lnTo>
                <a:lnTo>
                  <a:pt x="293" y="327"/>
                </a:lnTo>
                <a:lnTo>
                  <a:pt x="326" y="331"/>
                </a:lnTo>
                <a:lnTo>
                  <a:pt x="360" y="332"/>
                </a:lnTo>
                <a:lnTo>
                  <a:pt x="394" y="333"/>
                </a:lnTo>
                <a:lnTo>
                  <a:pt x="429" y="332"/>
                </a:lnTo>
                <a:lnTo>
                  <a:pt x="463" y="331"/>
                </a:lnTo>
                <a:lnTo>
                  <a:pt x="497" y="327"/>
                </a:lnTo>
                <a:lnTo>
                  <a:pt x="529" y="323"/>
                </a:lnTo>
                <a:lnTo>
                  <a:pt x="561" y="317"/>
                </a:lnTo>
                <a:lnTo>
                  <a:pt x="591" y="311"/>
                </a:lnTo>
                <a:lnTo>
                  <a:pt x="621" y="303"/>
                </a:lnTo>
                <a:lnTo>
                  <a:pt x="648" y="294"/>
                </a:lnTo>
                <a:lnTo>
                  <a:pt x="673" y="284"/>
                </a:lnTo>
                <a:lnTo>
                  <a:pt x="696" y="274"/>
                </a:lnTo>
                <a:lnTo>
                  <a:pt x="717" y="262"/>
                </a:lnTo>
                <a:lnTo>
                  <a:pt x="736" y="250"/>
                </a:lnTo>
                <a:lnTo>
                  <a:pt x="752" y="237"/>
                </a:lnTo>
                <a:lnTo>
                  <a:pt x="765" y="224"/>
                </a:lnTo>
                <a:lnTo>
                  <a:pt x="775" y="210"/>
                </a:lnTo>
                <a:lnTo>
                  <a:pt x="782" y="195"/>
                </a:lnTo>
                <a:lnTo>
                  <a:pt x="787" y="181"/>
                </a:lnTo>
                <a:lnTo>
                  <a:pt x="789" y="167"/>
                </a:lnTo>
                <a:lnTo>
                  <a:pt x="787" y="152"/>
                </a:lnTo>
                <a:lnTo>
                  <a:pt x="782" y="137"/>
                </a:lnTo>
                <a:lnTo>
                  <a:pt x="775" y="124"/>
                </a:lnTo>
                <a:lnTo>
                  <a:pt x="765" y="110"/>
                </a:lnTo>
                <a:lnTo>
                  <a:pt x="751" y="97"/>
                </a:lnTo>
                <a:lnTo>
                  <a:pt x="736" y="83"/>
                </a:lnTo>
                <a:lnTo>
                  <a:pt x="717" y="71"/>
                </a:lnTo>
                <a:lnTo>
                  <a:pt x="696" y="60"/>
                </a:lnTo>
                <a:lnTo>
                  <a:pt x="673" y="49"/>
                </a:lnTo>
                <a:lnTo>
                  <a:pt x="648" y="40"/>
                </a:lnTo>
                <a:lnTo>
                  <a:pt x="620" y="30"/>
                </a:lnTo>
                <a:lnTo>
                  <a:pt x="591" y="23"/>
                </a:lnTo>
                <a:lnTo>
                  <a:pt x="561" y="16"/>
                </a:lnTo>
                <a:lnTo>
                  <a:pt x="529" y="10"/>
                </a:lnTo>
                <a:lnTo>
                  <a:pt x="496" y="6"/>
                </a:lnTo>
                <a:lnTo>
                  <a:pt x="463" y="3"/>
                </a:lnTo>
                <a:lnTo>
                  <a:pt x="429" y="1"/>
                </a:lnTo>
                <a:lnTo>
                  <a:pt x="394" y="0"/>
                </a:lnTo>
                <a:lnTo>
                  <a:pt x="360" y="1"/>
                </a:lnTo>
                <a:lnTo>
                  <a:pt x="326" y="3"/>
                </a:lnTo>
                <a:lnTo>
                  <a:pt x="293" y="7"/>
                </a:lnTo>
                <a:lnTo>
                  <a:pt x="259" y="10"/>
                </a:lnTo>
                <a:lnTo>
                  <a:pt x="228" y="16"/>
                </a:lnTo>
                <a:lnTo>
                  <a:pt x="197" y="23"/>
                </a:lnTo>
                <a:lnTo>
                  <a:pt x="169" y="30"/>
                </a:lnTo>
                <a:lnTo>
                  <a:pt x="141" y="40"/>
                </a:lnTo>
                <a:lnTo>
                  <a:pt x="116" y="50"/>
                </a:lnTo>
                <a:lnTo>
                  <a:pt x="93" y="60"/>
                </a:lnTo>
                <a:lnTo>
                  <a:pt x="72" y="71"/>
                </a:lnTo>
                <a:lnTo>
                  <a:pt x="53" y="83"/>
                </a:lnTo>
                <a:lnTo>
                  <a:pt x="38" y="97"/>
                </a:lnTo>
                <a:lnTo>
                  <a:pt x="24" y="110"/>
                </a:lnTo>
                <a:lnTo>
                  <a:pt x="13" y="124"/>
                </a:lnTo>
                <a:lnTo>
                  <a:pt x="6" y="138"/>
                </a:lnTo>
                <a:lnTo>
                  <a:pt x="2" y="152"/>
                </a:lnTo>
                <a:lnTo>
                  <a:pt x="0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F2A692B9-F23F-56C1-F930-76678C0817A7}"/>
              </a:ext>
            </a:extLst>
          </p:cNvPr>
          <p:cNvSpPr>
            <a:spLocks noGrp="1"/>
          </p:cNvSpPr>
          <p:nvPr/>
        </p:nvSpPr>
        <p:spPr>
          <a:xfrm>
            <a:off x="458680" y="1232841"/>
            <a:ext cx="1254125" cy="530225"/>
          </a:xfrm>
          <a:custGeom>
            <a:avLst/>
            <a:gdLst>
              <a:gd name="T0" fmla="*/ 1249363 w 790"/>
              <a:gd name="T1" fmla="*/ 241300 h 334"/>
              <a:gd name="T2" fmla="*/ 1231900 w 790"/>
              <a:gd name="T3" fmla="*/ 196850 h 334"/>
              <a:gd name="T4" fmla="*/ 1193800 w 790"/>
              <a:gd name="T5" fmla="*/ 152400 h 334"/>
              <a:gd name="T6" fmla="*/ 1138238 w 790"/>
              <a:gd name="T7" fmla="*/ 112713 h 334"/>
              <a:gd name="T8" fmla="*/ 1068388 w 790"/>
              <a:gd name="T9" fmla="*/ 77788 h 334"/>
              <a:gd name="T10" fmla="*/ 984250 w 790"/>
              <a:gd name="T11" fmla="*/ 47625 h 334"/>
              <a:gd name="T12" fmla="*/ 890588 w 790"/>
              <a:gd name="T13" fmla="*/ 25400 h 334"/>
              <a:gd name="T14" fmla="*/ 788988 w 790"/>
              <a:gd name="T15" fmla="*/ 9525 h 334"/>
              <a:gd name="T16" fmla="*/ 681038 w 790"/>
              <a:gd name="T17" fmla="*/ 1588 h 334"/>
              <a:gd name="T18" fmla="*/ 571500 w 790"/>
              <a:gd name="T19" fmla="*/ 1588 h 334"/>
              <a:gd name="T20" fmla="*/ 465138 w 790"/>
              <a:gd name="T21" fmla="*/ 9525 h 334"/>
              <a:gd name="T22" fmla="*/ 361950 w 790"/>
              <a:gd name="T23" fmla="*/ 25400 h 334"/>
              <a:gd name="T24" fmla="*/ 268288 w 790"/>
              <a:gd name="T25" fmla="*/ 47625 h 334"/>
              <a:gd name="T26" fmla="*/ 184150 w 790"/>
              <a:gd name="T27" fmla="*/ 77788 h 334"/>
              <a:gd name="T28" fmla="*/ 114300 w 790"/>
              <a:gd name="T29" fmla="*/ 112713 h 334"/>
              <a:gd name="T30" fmla="*/ 60325 w 790"/>
              <a:gd name="T31" fmla="*/ 152400 h 334"/>
              <a:gd name="T32" fmla="*/ 22225 w 790"/>
              <a:gd name="T33" fmla="*/ 196850 h 334"/>
              <a:gd name="T34" fmla="*/ 3175 w 790"/>
              <a:gd name="T35" fmla="*/ 241300 h 334"/>
              <a:gd name="T36" fmla="*/ 3175 w 790"/>
              <a:gd name="T37" fmla="*/ 287338 h 334"/>
              <a:gd name="T38" fmla="*/ 22225 w 790"/>
              <a:gd name="T39" fmla="*/ 333375 h 334"/>
              <a:gd name="T40" fmla="*/ 60325 w 790"/>
              <a:gd name="T41" fmla="*/ 376238 h 334"/>
              <a:gd name="T42" fmla="*/ 114300 w 790"/>
              <a:gd name="T43" fmla="*/ 415925 h 334"/>
              <a:gd name="T44" fmla="*/ 184150 w 790"/>
              <a:gd name="T45" fmla="*/ 450850 h 334"/>
              <a:gd name="T46" fmla="*/ 268288 w 790"/>
              <a:gd name="T47" fmla="*/ 481013 h 334"/>
              <a:gd name="T48" fmla="*/ 361950 w 790"/>
              <a:gd name="T49" fmla="*/ 503238 h 334"/>
              <a:gd name="T50" fmla="*/ 465138 w 790"/>
              <a:gd name="T51" fmla="*/ 519113 h 334"/>
              <a:gd name="T52" fmla="*/ 571500 w 790"/>
              <a:gd name="T53" fmla="*/ 527050 h 334"/>
              <a:gd name="T54" fmla="*/ 681038 w 790"/>
              <a:gd name="T55" fmla="*/ 527050 h 334"/>
              <a:gd name="T56" fmla="*/ 788988 w 790"/>
              <a:gd name="T57" fmla="*/ 519113 h 334"/>
              <a:gd name="T58" fmla="*/ 890588 w 790"/>
              <a:gd name="T59" fmla="*/ 503238 h 334"/>
              <a:gd name="T60" fmla="*/ 984250 w 790"/>
              <a:gd name="T61" fmla="*/ 481013 h 334"/>
              <a:gd name="T62" fmla="*/ 1068388 w 790"/>
              <a:gd name="T63" fmla="*/ 450850 h 334"/>
              <a:gd name="T64" fmla="*/ 1138238 w 790"/>
              <a:gd name="T65" fmla="*/ 415925 h 334"/>
              <a:gd name="T66" fmla="*/ 1193800 w 790"/>
              <a:gd name="T67" fmla="*/ 376238 h 334"/>
              <a:gd name="T68" fmla="*/ 1231900 w 790"/>
              <a:gd name="T69" fmla="*/ 333375 h 334"/>
              <a:gd name="T70" fmla="*/ 1249363 w 790"/>
              <a:gd name="T71" fmla="*/ 287338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90"/>
              <a:gd name="T109" fmla="*/ 0 h 334"/>
              <a:gd name="T110" fmla="*/ 790 w 790"/>
              <a:gd name="T111" fmla="*/ 334 h 334"/>
            </a:gdLst>
            <a:ahLst/>
            <a:cxnLst/>
            <a:rect l="T108" t="T109" r="T110" b="T111"/>
            <a:pathLst>
              <a:path w="790" h="334">
                <a:moveTo>
                  <a:pt x="789" y="167"/>
                </a:moveTo>
                <a:lnTo>
                  <a:pt x="787" y="152"/>
                </a:lnTo>
                <a:lnTo>
                  <a:pt x="783" y="137"/>
                </a:lnTo>
                <a:lnTo>
                  <a:pt x="776" y="124"/>
                </a:lnTo>
                <a:lnTo>
                  <a:pt x="765" y="110"/>
                </a:lnTo>
                <a:lnTo>
                  <a:pt x="752" y="96"/>
                </a:lnTo>
                <a:lnTo>
                  <a:pt x="736" y="83"/>
                </a:lnTo>
                <a:lnTo>
                  <a:pt x="717" y="71"/>
                </a:lnTo>
                <a:lnTo>
                  <a:pt x="696" y="60"/>
                </a:lnTo>
                <a:lnTo>
                  <a:pt x="673" y="49"/>
                </a:lnTo>
                <a:lnTo>
                  <a:pt x="648" y="39"/>
                </a:lnTo>
                <a:lnTo>
                  <a:pt x="620" y="30"/>
                </a:lnTo>
                <a:lnTo>
                  <a:pt x="592" y="23"/>
                </a:lnTo>
                <a:lnTo>
                  <a:pt x="561" y="16"/>
                </a:lnTo>
                <a:lnTo>
                  <a:pt x="530" y="10"/>
                </a:lnTo>
                <a:lnTo>
                  <a:pt x="497" y="6"/>
                </a:lnTo>
                <a:lnTo>
                  <a:pt x="463" y="3"/>
                </a:lnTo>
                <a:lnTo>
                  <a:pt x="429" y="1"/>
                </a:lnTo>
                <a:lnTo>
                  <a:pt x="395" y="0"/>
                </a:lnTo>
                <a:lnTo>
                  <a:pt x="360" y="1"/>
                </a:lnTo>
                <a:lnTo>
                  <a:pt x="326" y="3"/>
                </a:lnTo>
                <a:lnTo>
                  <a:pt x="293" y="6"/>
                </a:lnTo>
                <a:lnTo>
                  <a:pt x="260" y="10"/>
                </a:lnTo>
                <a:lnTo>
                  <a:pt x="228" y="16"/>
                </a:lnTo>
                <a:lnTo>
                  <a:pt x="198" y="23"/>
                </a:lnTo>
                <a:lnTo>
                  <a:pt x="169" y="30"/>
                </a:lnTo>
                <a:lnTo>
                  <a:pt x="142" y="39"/>
                </a:lnTo>
                <a:lnTo>
                  <a:pt x="116" y="49"/>
                </a:lnTo>
                <a:lnTo>
                  <a:pt x="93" y="60"/>
                </a:lnTo>
                <a:lnTo>
                  <a:pt x="72" y="71"/>
                </a:lnTo>
                <a:lnTo>
                  <a:pt x="53" y="83"/>
                </a:lnTo>
                <a:lnTo>
                  <a:pt x="38" y="96"/>
                </a:lnTo>
                <a:lnTo>
                  <a:pt x="24" y="110"/>
                </a:lnTo>
                <a:lnTo>
                  <a:pt x="14" y="124"/>
                </a:lnTo>
                <a:lnTo>
                  <a:pt x="7" y="137"/>
                </a:lnTo>
                <a:lnTo>
                  <a:pt x="2" y="152"/>
                </a:lnTo>
                <a:lnTo>
                  <a:pt x="0" y="167"/>
                </a:lnTo>
                <a:lnTo>
                  <a:pt x="2" y="181"/>
                </a:lnTo>
                <a:lnTo>
                  <a:pt x="7" y="195"/>
                </a:lnTo>
                <a:lnTo>
                  <a:pt x="14" y="210"/>
                </a:lnTo>
                <a:lnTo>
                  <a:pt x="24" y="224"/>
                </a:lnTo>
                <a:lnTo>
                  <a:pt x="38" y="237"/>
                </a:lnTo>
                <a:lnTo>
                  <a:pt x="53" y="250"/>
                </a:lnTo>
                <a:lnTo>
                  <a:pt x="72" y="262"/>
                </a:lnTo>
                <a:lnTo>
                  <a:pt x="93" y="273"/>
                </a:lnTo>
                <a:lnTo>
                  <a:pt x="116" y="284"/>
                </a:lnTo>
                <a:lnTo>
                  <a:pt x="142" y="294"/>
                </a:lnTo>
                <a:lnTo>
                  <a:pt x="169" y="303"/>
                </a:lnTo>
                <a:lnTo>
                  <a:pt x="198" y="311"/>
                </a:lnTo>
                <a:lnTo>
                  <a:pt x="228" y="317"/>
                </a:lnTo>
                <a:lnTo>
                  <a:pt x="260" y="323"/>
                </a:lnTo>
                <a:lnTo>
                  <a:pt x="293" y="327"/>
                </a:lnTo>
                <a:lnTo>
                  <a:pt x="326" y="330"/>
                </a:lnTo>
                <a:lnTo>
                  <a:pt x="360" y="332"/>
                </a:lnTo>
                <a:lnTo>
                  <a:pt x="395" y="333"/>
                </a:lnTo>
                <a:lnTo>
                  <a:pt x="429" y="332"/>
                </a:lnTo>
                <a:lnTo>
                  <a:pt x="463" y="330"/>
                </a:lnTo>
                <a:lnTo>
                  <a:pt x="497" y="327"/>
                </a:lnTo>
                <a:lnTo>
                  <a:pt x="530" y="323"/>
                </a:lnTo>
                <a:lnTo>
                  <a:pt x="561" y="317"/>
                </a:lnTo>
                <a:lnTo>
                  <a:pt x="592" y="311"/>
                </a:lnTo>
                <a:lnTo>
                  <a:pt x="620" y="303"/>
                </a:lnTo>
                <a:lnTo>
                  <a:pt x="648" y="294"/>
                </a:lnTo>
                <a:lnTo>
                  <a:pt x="673" y="284"/>
                </a:lnTo>
                <a:lnTo>
                  <a:pt x="696" y="273"/>
                </a:lnTo>
                <a:lnTo>
                  <a:pt x="717" y="262"/>
                </a:lnTo>
                <a:lnTo>
                  <a:pt x="736" y="250"/>
                </a:lnTo>
                <a:lnTo>
                  <a:pt x="752" y="237"/>
                </a:lnTo>
                <a:lnTo>
                  <a:pt x="765" y="224"/>
                </a:lnTo>
                <a:lnTo>
                  <a:pt x="776" y="210"/>
                </a:lnTo>
                <a:lnTo>
                  <a:pt x="783" y="195"/>
                </a:lnTo>
                <a:lnTo>
                  <a:pt x="787" y="181"/>
                </a:lnTo>
                <a:lnTo>
                  <a:pt x="789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9">
            <a:extLst>
              <a:ext uri="{FF2B5EF4-FFF2-40B4-BE49-F238E27FC236}">
                <a16:creationId xmlns:a16="http://schemas.microsoft.com/office/drawing/2014/main" id="{F9D2EE48-87D9-3C06-3051-D2DBC459AF82}"/>
              </a:ext>
            </a:extLst>
          </p:cNvPr>
          <p:cNvSpPr>
            <a:spLocks noGrp="1"/>
          </p:cNvSpPr>
          <p:nvPr/>
        </p:nvSpPr>
        <p:spPr>
          <a:xfrm>
            <a:off x="2758967" y="1232841"/>
            <a:ext cx="1252538" cy="530225"/>
          </a:xfrm>
          <a:custGeom>
            <a:avLst/>
            <a:gdLst>
              <a:gd name="T0" fmla="*/ 3175 w 789"/>
              <a:gd name="T1" fmla="*/ 287338 h 334"/>
              <a:gd name="T2" fmla="*/ 20638 w 789"/>
              <a:gd name="T3" fmla="*/ 333375 h 334"/>
              <a:gd name="T4" fmla="*/ 58738 w 789"/>
              <a:gd name="T5" fmla="*/ 376238 h 334"/>
              <a:gd name="T6" fmla="*/ 112713 w 789"/>
              <a:gd name="T7" fmla="*/ 415925 h 334"/>
              <a:gd name="T8" fmla="*/ 184150 w 789"/>
              <a:gd name="T9" fmla="*/ 450850 h 334"/>
              <a:gd name="T10" fmla="*/ 266700 w 789"/>
              <a:gd name="T11" fmla="*/ 481013 h 334"/>
              <a:gd name="T12" fmla="*/ 360363 w 789"/>
              <a:gd name="T13" fmla="*/ 503238 h 334"/>
              <a:gd name="T14" fmla="*/ 465138 w 789"/>
              <a:gd name="T15" fmla="*/ 519113 h 334"/>
              <a:gd name="T16" fmla="*/ 571500 w 789"/>
              <a:gd name="T17" fmla="*/ 527050 h 334"/>
              <a:gd name="T18" fmla="*/ 679450 w 789"/>
              <a:gd name="T19" fmla="*/ 527050 h 334"/>
              <a:gd name="T20" fmla="*/ 788988 w 789"/>
              <a:gd name="T21" fmla="*/ 519113 h 334"/>
              <a:gd name="T22" fmla="*/ 890588 w 789"/>
              <a:gd name="T23" fmla="*/ 503238 h 334"/>
              <a:gd name="T24" fmla="*/ 984250 w 789"/>
              <a:gd name="T25" fmla="*/ 479425 h 334"/>
              <a:gd name="T26" fmla="*/ 1068388 w 789"/>
              <a:gd name="T27" fmla="*/ 450850 h 334"/>
              <a:gd name="T28" fmla="*/ 1138238 w 789"/>
              <a:gd name="T29" fmla="*/ 414338 h 334"/>
              <a:gd name="T30" fmla="*/ 1192213 w 789"/>
              <a:gd name="T31" fmla="*/ 376238 h 334"/>
              <a:gd name="T32" fmla="*/ 1230313 w 789"/>
              <a:gd name="T33" fmla="*/ 331788 h 334"/>
              <a:gd name="T34" fmla="*/ 1249363 w 789"/>
              <a:gd name="T35" fmla="*/ 285750 h 334"/>
              <a:gd name="T36" fmla="*/ 1249363 w 789"/>
              <a:gd name="T37" fmla="*/ 241300 h 334"/>
              <a:gd name="T38" fmla="*/ 1230313 w 789"/>
              <a:gd name="T39" fmla="*/ 196850 h 334"/>
              <a:gd name="T40" fmla="*/ 1192213 w 789"/>
              <a:gd name="T41" fmla="*/ 152400 h 334"/>
              <a:gd name="T42" fmla="*/ 1138238 w 789"/>
              <a:gd name="T43" fmla="*/ 112713 h 334"/>
              <a:gd name="T44" fmla="*/ 1068388 w 789"/>
              <a:gd name="T45" fmla="*/ 77788 h 334"/>
              <a:gd name="T46" fmla="*/ 984250 w 789"/>
              <a:gd name="T47" fmla="*/ 47625 h 334"/>
              <a:gd name="T48" fmla="*/ 890588 w 789"/>
              <a:gd name="T49" fmla="*/ 25400 h 334"/>
              <a:gd name="T50" fmla="*/ 787400 w 789"/>
              <a:gd name="T51" fmla="*/ 9525 h 334"/>
              <a:gd name="T52" fmla="*/ 679450 w 789"/>
              <a:gd name="T53" fmla="*/ 1588 h 334"/>
              <a:gd name="T54" fmla="*/ 571500 w 789"/>
              <a:gd name="T55" fmla="*/ 1588 h 334"/>
              <a:gd name="T56" fmla="*/ 463550 w 789"/>
              <a:gd name="T57" fmla="*/ 9525 h 334"/>
              <a:gd name="T58" fmla="*/ 360363 w 789"/>
              <a:gd name="T59" fmla="*/ 25400 h 334"/>
              <a:gd name="T60" fmla="*/ 266700 w 789"/>
              <a:gd name="T61" fmla="*/ 47625 h 334"/>
              <a:gd name="T62" fmla="*/ 184150 w 789"/>
              <a:gd name="T63" fmla="*/ 77788 h 334"/>
              <a:gd name="T64" fmla="*/ 112713 w 789"/>
              <a:gd name="T65" fmla="*/ 112713 h 334"/>
              <a:gd name="T66" fmla="*/ 58738 w 789"/>
              <a:gd name="T67" fmla="*/ 153988 h 334"/>
              <a:gd name="T68" fmla="*/ 20638 w 789"/>
              <a:gd name="T69" fmla="*/ 196850 h 334"/>
              <a:gd name="T70" fmla="*/ 3175 w 789"/>
              <a:gd name="T71" fmla="*/ 241300 h 33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89"/>
              <a:gd name="T109" fmla="*/ 0 h 334"/>
              <a:gd name="T110" fmla="*/ 789 w 789"/>
              <a:gd name="T111" fmla="*/ 334 h 334"/>
            </a:gdLst>
            <a:ahLst/>
            <a:cxnLst/>
            <a:rect l="T108" t="T109" r="T110" b="T111"/>
            <a:pathLst>
              <a:path w="789" h="334">
                <a:moveTo>
                  <a:pt x="0" y="167"/>
                </a:moveTo>
                <a:lnTo>
                  <a:pt x="2" y="181"/>
                </a:lnTo>
                <a:lnTo>
                  <a:pt x="6" y="195"/>
                </a:lnTo>
                <a:lnTo>
                  <a:pt x="13" y="210"/>
                </a:lnTo>
                <a:lnTo>
                  <a:pt x="24" y="224"/>
                </a:lnTo>
                <a:lnTo>
                  <a:pt x="37" y="237"/>
                </a:lnTo>
                <a:lnTo>
                  <a:pt x="53" y="250"/>
                </a:lnTo>
                <a:lnTo>
                  <a:pt x="71" y="262"/>
                </a:lnTo>
                <a:lnTo>
                  <a:pt x="92" y="274"/>
                </a:lnTo>
                <a:lnTo>
                  <a:pt x="116" y="284"/>
                </a:lnTo>
                <a:lnTo>
                  <a:pt x="141" y="294"/>
                </a:lnTo>
                <a:lnTo>
                  <a:pt x="168" y="303"/>
                </a:lnTo>
                <a:lnTo>
                  <a:pt x="197" y="311"/>
                </a:lnTo>
                <a:lnTo>
                  <a:pt x="227" y="317"/>
                </a:lnTo>
                <a:lnTo>
                  <a:pt x="259" y="323"/>
                </a:lnTo>
                <a:lnTo>
                  <a:pt x="293" y="327"/>
                </a:lnTo>
                <a:lnTo>
                  <a:pt x="326" y="330"/>
                </a:lnTo>
                <a:lnTo>
                  <a:pt x="360" y="332"/>
                </a:lnTo>
                <a:lnTo>
                  <a:pt x="394" y="333"/>
                </a:lnTo>
                <a:lnTo>
                  <a:pt x="428" y="332"/>
                </a:lnTo>
                <a:lnTo>
                  <a:pt x="462" y="330"/>
                </a:lnTo>
                <a:lnTo>
                  <a:pt x="497" y="327"/>
                </a:lnTo>
                <a:lnTo>
                  <a:pt x="529" y="323"/>
                </a:lnTo>
                <a:lnTo>
                  <a:pt x="561" y="317"/>
                </a:lnTo>
                <a:lnTo>
                  <a:pt x="591" y="311"/>
                </a:lnTo>
                <a:lnTo>
                  <a:pt x="620" y="302"/>
                </a:lnTo>
                <a:lnTo>
                  <a:pt x="648" y="294"/>
                </a:lnTo>
                <a:lnTo>
                  <a:pt x="673" y="284"/>
                </a:lnTo>
                <a:lnTo>
                  <a:pt x="696" y="273"/>
                </a:lnTo>
                <a:lnTo>
                  <a:pt x="717" y="261"/>
                </a:lnTo>
                <a:lnTo>
                  <a:pt x="736" y="250"/>
                </a:lnTo>
                <a:lnTo>
                  <a:pt x="751" y="237"/>
                </a:lnTo>
                <a:lnTo>
                  <a:pt x="764" y="223"/>
                </a:lnTo>
                <a:lnTo>
                  <a:pt x="775" y="209"/>
                </a:lnTo>
                <a:lnTo>
                  <a:pt x="782" y="195"/>
                </a:lnTo>
                <a:lnTo>
                  <a:pt x="787" y="180"/>
                </a:lnTo>
                <a:lnTo>
                  <a:pt x="788" y="167"/>
                </a:lnTo>
                <a:lnTo>
                  <a:pt x="787" y="152"/>
                </a:lnTo>
                <a:lnTo>
                  <a:pt x="782" y="137"/>
                </a:lnTo>
                <a:lnTo>
                  <a:pt x="775" y="124"/>
                </a:lnTo>
                <a:lnTo>
                  <a:pt x="764" y="110"/>
                </a:lnTo>
                <a:lnTo>
                  <a:pt x="751" y="96"/>
                </a:lnTo>
                <a:lnTo>
                  <a:pt x="736" y="83"/>
                </a:lnTo>
                <a:lnTo>
                  <a:pt x="717" y="71"/>
                </a:lnTo>
                <a:lnTo>
                  <a:pt x="696" y="60"/>
                </a:lnTo>
                <a:lnTo>
                  <a:pt x="673" y="49"/>
                </a:lnTo>
                <a:lnTo>
                  <a:pt x="647" y="39"/>
                </a:lnTo>
                <a:lnTo>
                  <a:pt x="620" y="30"/>
                </a:lnTo>
                <a:lnTo>
                  <a:pt x="591" y="23"/>
                </a:lnTo>
                <a:lnTo>
                  <a:pt x="561" y="16"/>
                </a:lnTo>
                <a:lnTo>
                  <a:pt x="529" y="10"/>
                </a:lnTo>
                <a:lnTo>
                  <a:pt x="496" y="6"/>
                </a:lnTo>
                <a:lnTo>
                  <a:pt x="462" y="3"/>
                </a:lnTo>
                <a:lnTo>
                  <a:pt x="428" y="1"/>
                </a:lnTo>
                <a:lnTo>
                  <a:pt x="394" y="0"/>
                </a:lnTo>
                <a:lnTo>
                  <a:pt x="360" y="1"/>
                </a:lnTo>
                <a:lnTo>
                  <a:pt x="326" y="3"/>
                </a:lnTo>
                <a:lnTo>
                  <a:pt x="292" y="6"/>
                </a:lnTo>
                <a:lnTo>
                  <a:pt x="259" y="10"/>
                </a:lnTo>
                <a:lnTo>
                  <a:pt x="227" y="16"/>
                </a:lnTo>
                <a:lnTo>
                  <a:pt x="197" y="23"/>
                </a:lnTo>
                <a:lnTo>
                  <a:pt x="168" y="30"/>
                </a:lnTo>
                <a:lnTo>
                  <a:pt x="140" y="39"/>
                </a:lnTo>
                <a:lnTo>
                  <a:pt x="116" y="49"/>
                </a:lnTo>
                <a:lnTo>
                  <a:pt x="92" y="60"/>
                </a:lnTo>
                <a:lnTo>
                  <a:pt x="71" y="71"/>
                </a:lnTo>
                <a:lnTo>
                  <a:pt x="53" y="83"/>
                </a:lnTo>
                <a:lnTo>
                  <a:pt x="37" y="97"/>
                </a:lnTo>
                <a:lnTo>
                  <a:pt x="24" y="110"/>
                </a:lnTo>
                <a:lnTo>
                  <a:pt x="13" y="124"/>
                </a:lnTo>
                <a:lnTo>
                  <a:pt x="6" y="137"/>
                </a:lnTo>
                <a:lnTo>
                  <a:pt x="2" y="152"/>
                </a:lnTo>
                <a:lnTo>
                  <a:pt x="0" y="167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666E15A6-7990-4A68-D761-7C28F44C0150}"/>
              </a:ext>
            </a:extLst>
          </p:cNvPr>
          <p:cNvSpPr>
            <a:spLocks noGrp="1"/>
          </p:cNvSpPr>
          <p:nvPr/>
        </p:nvSpPr>
        <p:spPr>
          <a:xfrm>
            <a:off x="4306780" y="1109016"/>
            <a:ext cx="1252537" cy="528637"/>
          </a:xfrm>
          <a:custGeom>
            <a:avLst/>
            <a:gdLst>
              <a:gd name="T0" fmla="*/ 3175 w 789"/>
              <a:gd name="T1" fmla="*/ 287337 h 333"/>
              <a:gd name="T2" fmla="*/ 22225 w 789"/>
              <a:gd name="T3" fmla="*/ 331787 h 333"/>
              <a:gd name="T4" fmla="*/ 60325 w 789"/>
              <a:gd name="T5" fmla="*/ 376237 h 333"/>
              <a:gd name="T6" fmla="*/ 114300 w 789"/>
              <a:gd name="T7" fmla="*/ 415925 h 333"/>
              <a:gd name="T8" fmla="*/ 184150 w 789"/>
              <a:gd name="T9" fmla="*/ 450850 h 333"/>
              <a:gd name="T10" fmla="*/ 268287 w 789"/>
              <a:gd name="T11" fmla="*/ 479425 h 333"/>
              <a:gd name="T12" fmla="*/ 361950 w 789"/>
              <a:gd name="T13" fmla="*/ 503237 h 333"/>
              <a:gd name="T14" fmla="*/ 463550 w 789"/>
              <a:gd name="T15" fmla="*/ 519112 h 333"/>
              <a:gd name="T16" fmla="*/ 571500 w 789"/>
              <a:gd name="T17" fmla="*/ 527050 h 333"/>
              <a:gd name="T18" fmla="*/ 681037 w 789"/>
              <a:gd name="T19" fmla="*/ 527050 h 333"/>
              <a:gd name="T20" fmla="*/ 787400 w 789"/>
              <a:gd name="T21" fmla="*/ 519112 h 333"/>
              <a:gd name="T22" fmla="*/ 889000 w 789"/>
              <a:gd name="T23" fmla="*/ 503237 h 333"/>
              <a:gd name="T24" fmla="*/ 984250 w 789"/>
              <a:gd name="T25" fmla="*/ 479425 h 333"/>
              <a:gd name="T26" fmla="*/ 1068387 w 789"/>
              <a:gd name="T27" fmla="*/ 450850 h 333"/>
              <a:gd name="T28" fmla="*/ 1136650 w 789"/>
              <a:gd name="T29" fmla="*/ 415925 h 333"/>
              <a:gd name="T30" fmla="*/ 1192212 w 789"/>
              <a:gd name="T31" fmla="*/ 374650 h 333"/>
              <a:gd name="T32" fmla="*/ 1230312 w 789"/>
              <a:gd name="T33" fmla="*/ 331787 h 333"/>
              <a:gd name="T34" fmla="*/ 1247775 w 789"/>
              <a:gd name="T35" fmla="*/ 287337 h 333"/>
              <a:gd name="T36" fmla="*/ 1247775 w 789"/>
              <a:gd name="T37" fmla="*/ 239712 h 333"/>
              <a:gd name="T38" fmla="*/ 1230312 w 789"/>
              <a:gd name="T39" fmla="*/ 195262 h 333"/>
              <a:gd name="T40" fmla="*/ 1192212 w 789"/>
              <a:gd name="T41" fmla="*/ 152400 h 333"/>
              <a:gd name="T42" fmla="*/ 1136650 w 789"/>
              <a:gd name="T43" fmla="*/ 112712 h 333"/>
              <a:gd name="T44" fmla="*/ 1066800 w 789"/>
              <a:gd name="T45" fmla="*/ 76200 h 333"/>
              <a:gd name="T46" fmla="*/ 984250 w 789"/>
              <a:gd name="T47" fmla="*/ 47625 h 333"/>
              <a:gd name="T48" fmla="*/ 889000 w 789"/>
              <a:gd name="T49" fmla="*/ 23812 h 333"/>
              <a:gd name="T50" fmla="*/ 787400 w 789"/>
              <a:gd name="T51" fmla="*/ 9525 h 333"/>
              <a:gd name="T52" fmla="*/ 679450 w 789"/>
              <a:gd name="T53" fmla="*/ 1587 h 333"/>
              <a:gd name="T54" fmla="*/ 571500 w 789"/>
              <a:gd name="T55" fmla="*/ 1587 h 333"/>
              <a:gd name="T56" fmla="*/ 463550 w 789"/>
              <a:gd name="T57" fmla="*/ 9525 h 333"/>
              <a:gd name="T58" fmla="*/ 361950 w 789"/>
              <a:gd name="T59" fmla="*/ 25400 h 333"/>
              <a:gd name="T60" fmla="*/ 268287 w 789"/>
              <a:gd name="T61" fmla="*/ 47625 h 333"/>
              <a:gd name="T62" fmla="*/ 184150 w 789"/>
              <a:gd name="T63" fmla="*/ 77787 h 333"/>
              <a:gd name="T64" fmla="*/ 114300 w 789"/>
              <a:gd name="T65" fmla="*/ 112712 h 333"/>
              <a:gd name="T66" fmla="*/ 60325 w 789"/>
              <a:gd name="T67" fmla="*/ 152400 h 333"/>
              <a:gd name="T68" fmla="*/ 22225 w 789"/>
              <a:gd name="T69" fmla="*/ 195262 h 333"/>
              <a:gd name="T70" fmla="*/ 3175 w 789"/>
              <a:gd name="T71" fmla="*/ 241300 h 33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89"/>
              <a:gd name="T109" fmla="*/ 0 h 333"/>
              <a:gd name="T110" fmla="*/ 789 w 789"/>
              <a:gd name="T111" fmla="*/ 333 h 333"/>
            </a:gdLst>
            <a:ahLst/>
            <a:cxnLst/>
            <a:rect l="T108" t="T109" r="T110" b="T111"/>
            <a:pathLst>
              <a:path w="789" h="333">
                <a:moveTo>
                  <a:pt x="0" y="166"/>
                </a:moveTo>
                <a:lnTo>
                  <a:pt x="2" y="181"/>
                </a:lnTo>
                <a:lnTo>
                  <a:pt x="6" y="195"/>
                </a:lnTo>
                <a:lnTo>
                  <a:pt x="14" y="209"/>
                </a:lnTo>
                <a:lnTo>
                  <a:pt x="24" y="223"/>
                </a:lnTo>
                <a:lnTo>
                  <a:pt x="38" y="237"/>
                </a:lnTo>
                <a:lnTo>
                  <a:pt x="53" y="249"/>
                </a:lnTo>
                <a:lnTo>
                  <a:pt x="72" y="262"/>
                </a:lnTo>
                <a:lnTo>
                  <a:pt x="93" y="273"/>
                </a:lnTo>
                <a:lnTo>
                  <a:pt x="116" y="284"/>
                </a:lnTo>
                <a:lnTo>
                  <a:pt x="141" y="294"/>
                </a:lnTo>
                <a:lnTo>
                  <a:pt x="169" y="302"/>
                </a:lnTo>
                <a:lnTo>
                  <a:pt x="197" y="310"/>
                </a:lnTo>
                <a:lnTo>
                  <a:pt x="228" y="317"/>
                </a:lnTo>
                <a:lnTo>
                  <a:pt x="259" y="322"/>
                </a:lnTo>
                <a:lnTo>
                  <a:pt x="292" y="327"/>
                </a:lnTo>
                <a:lnTo>
                  <a:pt x="325" y="330"/>
                </a:lnTo>
                <a:lnTo>
                  <a:pt x="360" y="332"/>
                </a:lnTo>
                <a:lnTo>
                  <a:pt x="394" y="332"/>
                </a:lnTo>
                <a:lnTo>
                  <a:pt x="429" y="332"/>
                </a:lnTo>
                <a:lnTo>
                  <a:pt x="463" y="330"/>
                </a:lnTo>
                <a:lnTo>
                  <a:pt x="496" y="327"/>
                </a:lnTo>
                <a:lnTo>
                  <a:pt x="529" y="322"/>
                </a:lnTo>
                <a:lnTo>
                  <a:pt x="560" y="317"/>
                </a:lnTo>
                <a:lnTo>
                  <a:pt x="591" y="310"/>
                </a:lnTo>
                <a:lnTo>
                  <a:pt x="620" y="302"/>
                </a:lnTo>
                <a:lnTo>
                  <a:pt x="647" y="293"/>
                </a:lnTo>
                <a:lnTo>
                  <a:pt x="673" y="284"/>
                </a:lnTo>
                <a:lnTo>
                  <a:pt x="696" y="273"/>
                </a:lnTo>
                <a:lnTo>
                  <a:pt x="716" y="262"/>
                </a:lnTo>
                <a:lnTo>
                  <a:pt x="735" y="249"/>
                </a:lnTo>
                <a:lnTo>
                  <a:pt x="751" y="236"/>
                </a:lnTo>
                <a:lnTo>
                  <a:pt x="765" y="223"/>
                </a:lnTo>
                <a:lnTo>
                  <a:pt x="775" y="209"/>
                </a:lnTo>
                <a:lnTo>
                  <a:pt x="782" y="195"/>
                </a:lnTo>
                <a:lnTo>
                  <a:pt x="786" y="181"/>
                </a:lnTo>
                <a:lnTo>
                  <a:pt x="788" y="166"/>
                </a:lnTo>
                <a:lnTo>
                  <a:pt x="786" y="151"/>
                </a:lnTo>
                <a:lnTo>
                  <a:pt x="782" y="137"/>
                </a:lnTo>
                <a:lnTo>
                  <a:pt x="775" y="123"/>
                </a:lnTo>
                <a:lnTo>
                  <a:pt x="765" y="109"/>
                </a:lnTo>
                <a:lnTo>
                  <a:pt x="751" y="96"/>
                </a:lnTo>
                <a:lnTo>
                  <a:pt x="735" y="83"/>
                </a:lnTo>
                <a:lnTo>
                  <a:pt x="716" y="71"/>
                </a:lnTo>
                <a:lnTo>
                  <a:pt x="695" y="59"/>
                </a:lnTo>
                <a:lnTo>
                  <a:pt x="672" y="48"/>
                </a:lnTo>
                <a:lnTo>
                  <a:pt x="647" y="39"/>
                </a:lnTo>
                <a:lnTo>
                  <a:pt x="620" y="30"/>
                </a:lnTo>
                <a:lnTo>
                  <a:pt x="591" y="22"/>
                </a:lnTo>
                <a:lnTo>
                  <a:pt x="560" y="15"/>
                </a:lnTo>
                <a:lnTo>
                  <a:pt x="529" y="10"/>
                </a:lnTo>
                <a:lnTo>
                  <a:pt x="496" y="6"/>
                </a:lnTo>
                <a:lnTo>
                  <a:pt x="462" y="2"/>
                </a:lnTo>
                <a:lnTo>
                  <a:pt x="428" y="1"/>
                </a:lnTo>
                <a:lnTo>
                  <a:pt x="394" y="0"/>
                </a:lnTo>
                <a:lnTo>
                  <a:pt x="360" y="1"/>
                </a:lnTo>
                <a:lnTo>
                  <a:pt x="325" y="3"/>
                </a:lnTo>
                <a:lnTo>
                  <a:pt x="292" y="6"/>
                </a:lnTo>
                <a:lnTo>
                  <a:pt x="259" y="10"/>
                </a:lnTo>
                <a:lnTo>
                  <a:pt x="228" y="16"/>
                </a:lnTo>
                <a:lnTo>
                  <a:pt x="197" y="22"/>
                </a:lnTo>
                <a:lnTo>
                  <a:pt x="169" y="30"/>
                </a:lnTo>
                <a:lnTo>
                  <a:pt x="141" y="39"/>
                </a:lnTo>
                <a:lnTo>
                  <a:pt x="116" y="49"/>
                </a:lnTo>
                <a:lnTo>
                  <a:pt x="93" y="60"/>
                </a:lnTo>
                <a:lnTo>
                  <a:pt x="72" y="71"/>
                </a:lnTo>
                <a:lnTo>
                  <a:pt x="53" y="83"/>
                </a:lnTo>
                <a:lnTo>
                  <a:pt x="38" y="96"/>
                </a:lnTo>
                <a:lnTo>
                  <a:pt x="24" y="109"/>
                </a:lnTo>
                <a:lnTo>
                  <a:pt x="14" y="123"/>
                </a:lnTo>
                <a:lnTo>
                  <a:pt x="6" y="138"/>
                </a:lnTo>
                <a:lnTo>
                  <a:pt x="2" y="152"/>
                </a:lnTo>
                <a:lnTo>
                  <a:pt x="0" y="166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42BC52FE-5101-1B94-9ECB-916B43287525}"/>
              </a:ext>
            </a:extLst>
          </p:cNvPr>
          <p:cNvSpPr>
            <a:spLocks noGrp="1"/>
          </p:cNvSpPr>
          <p:nvPr/>
        </p:nvSpPr>
        <p:spPr>
          <a:xfrm>
            <a:off x="6589605" y="2102791"/>
            <a:ext cx="1449387" cy="544512"/>
          </a:xfrm>
          <a:custGeom>
            <a:avLst/>
            <a:gdLst>
              <a:gd name="T0" fmla="*/ 1447800 w 913"/>
              <a:gd name="T1" fmla="*/ 542925 h 343"/>
              <a:gd name="T2" fmla="*/ 1447800 w 913"/>
              <a:gd name="T3" fmla="*/ 0 h 343"/>
              <a:gd name="T4" fmla="*/ 0 w 913"/>
              <a:gd name="T5" fmla="*/ 0 h 343"/>
              <a:gd name="T6" fmla="*/ 0 w 913"/>
              <a:gd name="T7" fmla="*/ 542925 h 343"/>
              <a:gd name="T8" fmla="*/ 1447800 w 913"/>
              <a:gd name="T9" fmla="*/ 542925 h 3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13"/>
              <a:gd name="T16" fmla="*/ 0 h 343"/>
              <a:gd name="T17" fmla="*/ 913 w 913"/>
              <a:gd name="T18" fmla="*/ 343 h 343"/>
            </a:gdLst>
            <a:ahLst/>
            <a:cxnLst/>
            <a:rect l="T15" t="T16" r="T17" b="T18"/>
            <a:pathLst>
              <a:path w="913" h="343">
                <a:moveTo>
                  <a:pt x="912" y="342"/>
                </a:moveTo>
                <a:lnTo>
                  <a:pt x="912" y="0"/>
                </a:lnTo>
                <a:lnTo>
                  <a:pt x="0" y="0"/>
                </a:lnTo>
                <a:lnTo>
                  <a:pt x="0" y="342"/>
                </a:lnTo>
                <a:lnTo>
                  <a:pt x="912" y="342"/>
                </a:lnTo>
              </a:path>
            </a:pathLst>
          </a:custGeom>
          <a:noFill/>
          <a:ln w="508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294F1D50-C625-459D-8611-E2BF358D5124}"/>
              </a:ext>
            </a:extLst>
          </p:cNvPr>
          <p:cNvSpPr>
            <a:spLocks noGrp="1"/>
          </p:cNvSpPr>
          <p:nvPr/>
        </p:nvSpPr>
        <p:spPr>
          <a:xfrm>
            <a:off x="1585805" y="2086916"/>
            <a:ext cx="1252537" cy="544512"/>
          </a:xfrm>
          <a:custGeom>
            <a:avLst/>
            <a:gdLst>
              <a:gd name="T0" fmla="*/ 1250950 w 789"/>
              <a:gd name="T1" fmla="*/ 542925 h 343"/>
              <a:gd name="T2" fmla="*/ 1250950 w 789"/>
              <a:gd name="T3" fmla="*/ 0 h 343"/>
              <a:gd name="T4" fmla="*/ 0 w 789"/>
              <a:gd name="T5" fmla="*/ 0 h 343"/>
              <a:gd name="T6" fmla="*/ 0 w 789"/>
              <a:gd name="T7" fmla="*/ 542925 h 343"/>
              <a:gd name="T8" fmla="*/ 1250950 w 789"/>
              <a:gd name="T9" fmla="*/ 542925 h 3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43"/>
              <a:gd name="T17" fmla="*/ 789 w 789"/>
              <a:gd name="T18" fmla="*/ 343 h 343"/>
            </a:gdLst>
            <a:ahLst/>
            <a:cxnLst/>
            <a:rect l="T15" t="T16" r="T17" b="T18"/>
            <a:pathLst>
              <a:path w="789" h="343">
                <a:moveTo>
                  <a:pt x="788" y="342"/>
                </a:moveTo>
                <a:lnTo>
                  <a:pt x="788" y="0"/>
                </a:lnTo>
                <a:lnTo>
                  <a:pt x="0" y="0"/>
                </a:lnTo>
                <a:lnTo>
                  <a:pt x="0" y="342"/>
                </a:lnTo>
                <a:lnTo>
                  <a:pt x="788" y="342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507E6ABB-B0B0-116E-AE93-13211FF96A79}"/>
              </a:ext>
            </a:extLst>
          </p:cNvPr>
          <p:cNvSpPr>
            <a:spLocks noGrp="1"/>
          </p:cNvSpPr>
          <p:nvPr/>
        </p:nvSpPr>
        <p:spPr>
          <a:xfrm>
            <a:off x="1585805" y="845491"/>
            <a:ext cx="1252537" cy="528637"/>
          </a:xfrm>
          <a:custGeom>
            <a:avLst/>
            <a:gdLst>
              <a:gd name="T0" fmla="*/ 1249362 w 789"/>
              <a:gd name="T1" fmla="*/ 239712 h 333"/>
              <a:gd name="T2" fmla="*/ 1230312 w 789"/>
              <a:gd name="T3" fmla="*/ 195262 h 333"/>
              <a:gd name="T4" fmla="*/ 1192212 w 789"/>
              <a:gd name="T5" fmla="*/ 152400 h 333"/>
              <a:gd name="T6" fmla="*/ 1138237 w 789"/>
              <a:gd name="T7" fmla="*/ 111125 h 333"/>
              <a:gd name="T8" fmla="*/ 1068387 w 789"/>
              <a:gd name="T9" fmla="*/ 77787 h 333"/>
              <a:gd name="T10" fmla="*/ 984250 w 789"/>
              <a:gd name="T11" fmla="*/ 47625 h 333"/>
              <a:gd name="T12" fmla="*/ 890587 w 789"/>
              <a:gd name="T13" fmla="*/ 25400 h 333"/>
              <a:gd name="T14" fmla="*/ 787400 w 789"/>
              <a:gd name="T15" fmla="*/ 9525 h 333"/>
              <a:gd name="T16" fmla="*/ 681037 w 789"/>
              <a:gd name="T17" fmla="*/ 0 h 333"/>
              <a:gd name="T18" fmla="*/ 571500 w 789"/>
              <a:gd name="T19" fmla="*/ 0 h 333"/>
              <a:gd name="T20" fmla="*/ 463550 w 789"/>
              <a:gd name="T21" fmla="*/ 9525 h 333"/>
              <a:gd name="T22" fmla="*/ 361950 w 789"/>
              <a:gd name="T23" fmla="*/ 25400 h 333"/>
              <a:gd name="T24" fmla="*/ 266700 w 789"/>
              <a:gd name="T25" fmla="*/ 47625 h 333"/>
              <a:gd name="T26" fmla="*/ 182562 w 789"/>
              <a:gd name="T27" fmla="*/ 77787 h 333"/>
              <a:gd name="T28" fmla="*/ 112712 w 789"/>
              <a:gd name="T29" fmla="*/ 111125 h 333"/>
              <a:gd name="T30" fmla="*/ 58737 w 789"/>
              <a:gd name="T31" fmla="*/ 152400 h 333"/>
              <a:gd name="T32" fmla="*/ 22225 w 789"/>
              <a:gd name="T33" fmla="*/ 195262 h 333"/>
              <a:gd name="T34" fmla="*/ 1587 w 789"/>
              <a:gd name="T35" fmla="*/ 239712 h 333"/>
              <a:gd name="T36" fmla="*/ 1587 w 789"/>
              <a:gd name="T37" fmla="*/ 285750 h 333"/>
              <a:gd name="T38" fmla="*/ 22225 w 789"/>
              <a:gd name="T39" fmla="*/ 331787 h 333"/>
              <a:gd name="T40" fmla="*/ 58737 w 789"/>
              <a:gd name="T41" fmla="*/ 374650 h 333"/>
              <a:gd name="T42" fmla="*/ 112712 w 789"/>
              <a:gd name="T43" fmla="*/ 414337 h 333"/>
              <a:gd name="T44" fmla="*/ 182562 w 789"/>
              <a:gd name="T45" fmla="*/ 450850 h 333"/>
              <a:gd name="T46" fmla="*/ 266700 w 789"/>
              <a:gd name="T47" fmla="*/ 479425 h 333"/>
              <a:gd name="T48" fmla="*/ 361950 w 789"/>
              <a:gd name="T49" fmla="*/ 503237 h 333"/>
              <a:gd name="T50" fmla="*/ 463550 w 789"/>
              <a:gd name="T51" fmla="*/ 519112 h 333"/>
              <a:gd name="T52" fmla="*/ 571500 w 789"/>
              <a:gd name="T53" fmla="*/ 525462 h 333"/>
              <a:gd name="T54" fmla="*/ 681037 w 789"/>
              <a:gd name="T55" fmla="*/ 525462 h 333"/>
              <a:gd name="T56" fmla="*/ 787400 w 789"/>
              <a:gd name="T57" fmla="*/ 519112 h 333"/>
              <a:gd name="T58" fmla="*/ 890587 w 789"/>
              <a:gd name="T59" fmla="*/ 503237 h 333"/>
              <a:gd name="T60" fmla="*/ 984250 w 789"/>
              <a:gd name="T61" fmla="*/ 479425 h 333"/>
              <a:gd name="T62" fmla="*/ 1068387 w 789"/>
              <a:gd name="T63" fmla="*/ 450850 h 333"/>
              <a:gd name="T64" fmla="*/ 1138237 w 789"/>
              <a:gd name="T65" fmla="*/ 414337 h 333"/>
              <a:gd name="T66" fmla="*/ 1192212 w 789"/>
              <a:gd name="T67" fmla="*/ 374650 h 333"/>
              <a:gd name="T68" fmla="*/ 1230312 w 789"/>
              <a:gd name="T69" fmla="*/ 331787 h 333"/>
              <a:gd name="T70" fmla="*/ 1249362 w 789"/>
              <a:gd name="T71" fmla="*/ 285750 h 33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789"/>
              <a:gd name="T109" fmla="*/ 0 h 333"/>
              <a:gd name="T110" fmla="*/ 789 w 789"/>
              <a:gd name="T111" fmla="*/ 333 h 333"/>
            </a:gdLst>
            <a:ahLst/>
            <a:cxnLst/>
            <a:rect l="T108" t="T109" r="T110" b="T111"/>
            <a:pathLst>
              <a:path w="789" h="333">
                <a:moveTo>
                  <a:pt x="788" y="166"/>
                </a:moveTo>
                <a:lnTo>
                  <a:pt x="787" y="151"/>
                </a:lnTo>
                <a:lnTo>
                  <a:pt x="782" y="137"/>
                </a:lnTo>
                <a:lnTo>
                  <a:pt x="775" y="123"/>
                </a:lnTo>
                <a:lnTo>
                  <a:pt x="765" y="109"/>
                </a:lnTo>
                <a:lnTo>
                  <a:pt x="751" y="96"/>
                </a:lnTo>
                <a:lnTo>
                  <a:pt x="735" y="83"/>
                </a:lnTo>
                <a:lnTo>
                  <a:pt x="717" y="70"/>
                </a:lnTo>
                <a:lnTo>
                  <a:pt x="696" y="59"/>
                </a:lnTo>
                <a:lnTo>
                  <a:pt x="673" y="49"/>
                </a:lnTo>
                <a:lnTo>
                  <a:pt x="647" y="39"/>
                </a:lnTo>
                <a:lnTo>
                  <a:pt x="620" y="30"/>
                </a:lnTo>
                <a:lnTo>
                  <a:pt x="591" y="22"/>
                </a:lnTo>
                <a:lnTo>
                  <a:pt x="561" y="16"/>
                </a:lnTo>
                <a:lnTo>
                  <a:pt x="529" y="10"/>
                </a:lnTo>
                <a:lnTo>
                  <a:pt x="496" y="6"/>
                </a:lnTo>
                <a:lnTo>
                  <a:pt x="463" y="3"/>
                </a:lnTo>
                <a:lnTo>
                  <a:pt x="429" y="0"/>
                </a:lnTo>
                <a:lnTo>
                  <a:pt x="394" y="0"/>
                </a:lnTo>
                <a:lnTo>
                  <a:pt x="360" y="0"/>
                </a:lnTo>
                <a:lnTo>
                  <a:pt x="325" y="3"/>
                </a:lnTo>
                <a:lnTo>
                  <a:pt x="292" y="6"/>
                </a:lnTo>
                <a:lnTo>
                  <a:pt x="260" y="10"/>
                </a:lnTo>
                <a:lnTo>
                  <a:pt x="228" y="16"/>
                </a:lnTo>
                <a:lnTo>
                  <a:pt x="197" y="22"/>
                </a:lnTo>
                <a:lnTo>
                  <a:pt x="168" y="30"/>
                </a:lnTo>
                <a:lnTo>
                  <a:pt x="141" y="39"/>
                </a:lnTo>
                <a:lnTo>
                  <a:pt x="115" y="49"/>
                </a:lnTo>
                <a:lnTo>
                  <a:pt x="92" y="59"/>
                </a:lnTo>
                <a:lnTo>
                  <a:pt x="71" y="70"/>
                </a:lnTo>
                <a:lnTo>
                  <a:pt x="53" y="83"/>
                </a:lnTo>
                <a:lnTo>
                  <a:pt x="37" y="96"/>
                </a:lnTo>
                <a:lnTo>
                  <a:pt x="24" y="109"/>
                </a:lnTo>
                <a:lnTo>
                  <a:pt x="14" y="123"/>
                </a:lnTo>
                <a:lnTo>
                  <a:pt x="6" y="137"/>
                </a:lnTo>
                <a:lnTo>
                  <a:pt x="1" y="151"/>
                </a:lnTo>
                <a:lnTo>
                  <a:pt x="0" y="166"/>
                </a:lnTo>
                <a:lnTo>
                  <a:pt x="1" y="180"/>
                </a:lnTo>
                <a:lnTo>
                  <a:pt x="6" y="195"/>
                </a:lnTo>
                <a:lnTo>
                  <a:pt x="14" y="209"/>
                </a:lnTo>
                <a:lnTo>
                  <a:pt x="24" y="223"/>
                </a:lnTo>
                <a:lnTo>
                  <a:pt x="37" y="236"/>
                </a:lnTo>
                <a:lnTo>
                  <a:pt x="53" y="249"/>
                </a:lnTo>
                <a:lnTo>
                  <a:pt x="71" y="261"/>
                </a:lnTo>
                <a:lnTo>
                  <a:pt x="92" y="273"/>
                </a:lnTo>
                <a:lnTo>
                  <a:pt x="115" y="284"/>
                </a:lnTo>
                <a:lnTo>
                  <a:pt x="141" y="294"/>
                </a:lnTo>
                <a:lnTo>
                  <a:pt x="168" y="302"/>
                </a:lnTo>
                <a:lnTo>
                  <a:pt x="197" y="310"/>
                </a:lnTo>
                <a:lnTo>
                  <a:pt x="228" y="317"/>
                </a:lnTo>
                <a:lnTo>
                  <a:pt x="260" y="322"/>
                </a:lnTo>
                <a:lnTo>
                  <a:pt x="292" y="327"/>
                </a:lnTo>
                <a:lnTo>
                  <a:pt x="325" y="330"/>
                </a:lnTo>
                <a:lnTo>
                  <a:pt x="360" y="331"/>
                </a:lnTo>
                <a:lnTo>
                  <a:pt x="394" y="332"/>
                </a:lnTo>
                <a:lnTo>
                  <a:pt x="429" y="331"/>
                </a:lnTo>
                <a:lnTo>
                  <a:pt x="463" y="330"/>
                </a:lnTo>
                <a:lnTo>
                  <a:pt x="496" y="327"/>
                </a:lnTo>
                <a:lnTo>
                  <a:pt x="529" y="322"/>
                </a:lnTo>
                <a:lnTo>
                  <a:pt x="561" y="317"/>
                </a:lnTo>
                <a:lnTo>
                  <a:pt x="591" y="310"/>
                </a:lnTo>
                <a:lnTo>
                  <a:pt x="620" y="302"/>
                </a:lnTo>
                <a:lnTo>
                  <a:pt x="647" y="294"/>
                </a:lnTo>
                <a:lnTo>
                  <a:pt x="673" y="284"/>
                </a:lnTo>
                <a:lnTo>
                  <a:pt x="696" y="273"/>
                </a:lnTo>
                <a:lnTo>
                  <a:pt x="717" y="261"/>
                </a:lnTo>
                <a:lnTo>
                  <a:pt x="735" y="249"/>
                </a:lnTo>
                <a:lnTo>
                  <a:pt x="751" y="236"/>
                </a:lnTo>
                <a:lnTo>
                  <a:pt x="765" y="223"/>
                </a:lnTo>
                <a:lnTo>
                  <a:pt x="775" y="209"/>
                </a:lnTo>
                <a:lnTo>
                  <a:pt x="782" y="195"/>
                </a:lnTo>
                <a:lnTo>
                  <a:pt x="787" y="180"/>
                </a:lnTo>
                <a:lnTo>
                  <a:pt x="788" y="166"/>
                </a:lnTo>
              </a:path>
            </a:pathLst>
          </a:custGeom>
          <a:noFill/>
          <a:ln w="127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5F2ACCAE-EE61-9939-9D80-EA66B615DF7A}"/>
              </a:ext>
            </a:extLst>
          </p:cNvPr>
          <p:cNvSpPr>
            <a:spLocks noGrp="1"/>
          </p:cNvSpPr>
          <p:nvPr/>
        </p:nvSpPr>
        <p:spPr>
          <a:xfrm>
            <a:off x="3201880" y="1345553"/>
            <a:ext cx="430212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14" name="Freeform 15">
            <a:extLst>
              <a:ext uri="{FF2B5EF4-FFF2-40B4-BE49-F238E27FC236}">
                <a16:creationId xmlns:a16="http://schemas.microsoft.com/office/drawing/2014/main" id="{5CEF7A76-7A02-8CDC-2F67-CC10931415C1}"/>
              </a:ext>
            </a:extLst>
          </p:cNvPr>
          <p:cNvSpPr>
            <a:spLocks noGrp="1"/>
          </p:cNvSpPr>
          <p:nvPr/>
        </p:nvSpPr>
        <p:spPr>
          <a:xfrm>
            <a:off x="4322655" y="2025003"/>
            <a:ext cx="1252537" cy="622300"/>
          </a:xfrm>
          <a:custGeom>
            <a:avLst/>
            <a:gdLst>
              <a:gd name="T0" fmla="*/ 0 w 789"/>
              <a:gd name="T1" fmla="*/ 311150 h 392"/>
              <a:gd name="T2" fmla="*/ 625475 w 789"/>
              <a:gd name="T3" fmla="*/ 0 h 392"/>
              <a:gd name="T4" fmla="*/ 1250950 w 789"/>
              <a:gd name="T5" fmla="*/ 311150 h 392"/>
              <a:gd name="T6" fmla="*/ 625475 w 789"/>
              <a:gd name="T7" fmla="*/ 620713 h 392"/>
              <a:gd name="T8" fmla="*/ 0 w 789"/>
              <a:gd name="T9" fmla="*/ 311150 h 3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89"/>
              <a:gd name="T16" fmla="*/ 0 h 392"/>
              <a:gd name="T17" fmla="*/ 789 w 789"/>
              <a:gd name="T18" fmla="*/ 392 h 392"/>
            </a:gdLst>
            <a:ahLst/>
            <a:cxnLst/>
            <a:rect l="T15" t="T16" r="T17" b="T18"/>
            <a:pathLst>
              <a:path w="789" h="392">
                <a:moveTo>
                  <a:pt x="0" y="196"/>
                </a:moveTo>
                <a:lnTo>
                  <a:pt x="394" y="0"/>
                </a:lnTo>
                <a:lnTo>
                  <a:pt x="788" y="196"/>
                </a:lnTo>
                <a:lnTo>
                  <a:pt x="394" y="391"/>
                </a:lnTo>
                <a:lnTo>
                  <a:pt x="0" y="196"/>
                </a:lnTo>
              </a:path>
            </a:pathLst>
          </a:custGeom>
          <a:noFill/>
          <a:ln w="50800">
            <a:solidFill>
              <a:srgbClr val="000000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027209E8-A1E7-9771-9A3F-8BFA0A108B67}"/>
              </a:ext>
            </a:extLst>
          </p:cNvPr>
          <p:cNvSpPr>
            <a:spLocks noGrp="1"/>
          </p:cNvSpPr>
          <p:nvPr/>
        </p:nvSpPr>
        <p:spPr>
          <a:xfrm>
            <a:off x="1935055" y="926453"/>
            <a:ext cx="7112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AB78BF81-9020-8BE2-3FA0-9A9A0C83E8CB}"/>
              </a:ext>
            </a:extLst>
          </p:cNvPr>
          <p:cNvSpPr>
            <a:spLocks noGrp="1"/>
          </p:cNvSpPr>
          <p:nvPr/>
        </p:nvSpPr>
        <p:spPr>
          <a:xfrm>
            <a:off x="7765942" y="1299516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age</a:t>
            </a: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158882A3-8BF5-256F-6CFF-A26D80AEB280}"/>
              </a:ext>
            </a:extLst>
          </p:cNvPr>
          <p:cNvSpPr>
            <a:spLocks noGrp="1"/>
          </p:cNvSpPr>
          <p:nvPr/>
        </p:nvSpPr>
        <p:spPr>
          <a:xfrm>
            <a:off x="6108592" y="1283641"/>
            <a:ext cx="8350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3EB67766-D853-4D8D-F584-7CD111196EC9}"/>
              </a:ext>
            </a:extLst>
          </p:cNvPr>
          <p:cNvSpPr>
            <a:spLocks noGrp="1"/>
          </p:cNvSpPr>
          <p:nvPr/>
        </p:nvSpPr>
        <p:spPr>
          <a:xfrm>
            <a:off x="6703905" y="2183753"/>
            <a:ext cx="1341437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Dependents</a:t>
            </a:r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230F9599-32DF-2C29-7FAD-118B4D66ACDB}"/>
              </a:ext>
            </a:extLst>
          </p:cNvPr>
          <p:cNvSpPr>
            <a:spLocks noGrp="1"/>
          </p:cNvSpPr>
          <p:nvPr/>
        </p:nvSpPr>
        <p:spPr>
          <a:xfrm>
            <a:off x="1581042" y="2201216"/>
            <a:ext cx="1252538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5A44343C-ED1B-A896-5E60-BA7EA47FD9A5}"/>
              </a:ext>
            </a:extLst>
          </p:cNvPr>
          <p:cNvSpPr>
            <a:spLocks noGrp="1"/>
          </p:cNvSpPr>
          <p:nvPr/>
        </p:nvSpPr>
        <p:spPr>
          <a:xfrm>
            <a:off x="839680" y="1331266"/>
            <a:ext cx="5302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2AE7CD1A-1333-B6EF-34D6-02C50EFD6DC9}"/>
              </a:ext>
            </a:extLst>
          </p:cNvPr>
          <p:cNvSpPr>
            <a:spLocks noGrp="1"/>
          </p:cNvSpPr>
          <p:nvPr/>
        </p:nvSpPr>
        <p:spPr>
          <a:xfrm>
            <a:off x="4556017" y="2183753"/>
            <a:ext cx="779463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CBAEA34F-E3EE-20C8-1B04-B3767BFF0207}"/>
              </a:ext>
            </a:extLst>
          </p:cNvPr>
          <p:cNvSpPr>
            <a:spLocks noGrp="1"/>
          </p:cNvSpPr>
          <p:nvPr/>
        </p:nvSpPr>
        <p:spPr>
          <a:xfrm>
            <a:off x="4670317" y="1221728"/>
            <a:ext cx="598488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C0CD4854-3FE1-1938-55D4-B38AD45C1C83}"/>
              </a:ext>
            </a:extLst>
          </p:cNvPr>
          <p:cNvSpPr>
            <a:spLocks noGrp="1"/>
          </p:cNvSpPr>
          <p:nvPr/>
        </p:nvSpPr>
        <p:spPr>
          <a:xfrm flipH="1">
            <a:off x="6199080" y="1586853"/>
            <a:ext cx="6096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dash"/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DF404997-D8AA-4992-64ED-DFCD9EDC42B2}"/>
              </a:ext>
            </a:extLst>
          </p:cNvPr>
          <p:cNvSpPr>
            <a:spLocks noGrp="1"/>
          </p:cNvSpPr>
          <p:nvPr/>
        </p:nvSpPr>
        <p:spPr>
          <a:xfrm>
            <a:off x="2227155" y="1397941"/>
            <a:ext cx="0" cy="668337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5" name="Line 26">
            <a:extLst>
              <a:ext uri="{FF2B5EF4-FFF2-40B4-BE49-F238E27FC236}">
                <a16:creationId xmlns:a16="http://schemas.microsoft.com/office/drawing/2014/main" id="{DEC51B4E-17AA-6187-7A2A-ED7FD9A4CEFC}"/>
              </a:ext>
            </a:extLst>
          </p:cNvPr>
          <p:cNvSpPr>
            <a:spLocks noGrp="1"/>
          </p:cNvSpPr>
          <p:nvPr/>
        </p:nvSpPr>
        <p:spPr>
          <a:xfrm>
            <a:off x="1069867" y="1777353"/>
            <a:ext cx="809625" cy="3095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6" name="Line 27">
            <a:extLst>
              <a:ext uri="{FF2B5EF4-FFF2-40B4-BE49-F238E27FC236}">
                <a16:creationId xmlns:a16="http://schemas.microsoft.com/office/drawing/2014/main" id="{782E8617-281F-D6C4-E833-538C138C4DBC}"/>
              </a:ext>
            </a:extLst>
          </p:cNvPr>
          <p:cNvSpPr>
            <a:spLocks noGrp="1"/>
          </p:cNvSpPr>
          <p:nvPr/>
        </p:nvSpPr>
        <p:spPr>
          <a:xfrm flipH="1">
            <a:off x="2562117" y="1758303"/>
            <a:ext cx="814388" cy="32861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ACBF1E99-D497-BB98-C37F-6DBD3D607138}"/>
              </a:ext>
            </a:extLst>
          </p:cNvPr>
          <p:cNvSpPr>
            <a:spLocks noGrp="1"/>
          </p:cNvSpPr>
          <p:nvPr/>
        </p:nvSpPr>
        <p:spPr>
          <a:xfrm flipV="1">
            <a:off x="4935430" y="1623366"/>
            <a:ext cx="0" cy="414337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C8FF880A-9E6E-6F9C-9C33-EB18CA329552}"/>
              </a:ext>
            </a:extLst>
          </p:cNvPr>
          <p:cNvSpPr>
            <a:spLocks noGrp="1"/>
          </p:cNvSpPr>
          <p:nvPr/>
        </p:nvSpPr>
        <p:spPr>
          <a:xfrm>
            <a:off x="6445142" y="1758303"/>
            <a:ext cx="369888" cy="3476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C559C224-A9FD-CBE2-F09E-9385170354CB}"/>
              </a:ext>
            </a:extLst>
          </p:cNvPr>
          <p:cNvSpPr>
            <a:spLocks noGrp="1"/>
          </p:cNvSpPr>
          <p:nvPr/>
        </p:nvSpPr>
        <p:spPr>
          <a:xfrm flipH="1">
            <a:off x="7435742" y="1758303"/>
            <a:ext cx="514350" cy="347663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8D65BABD-3ECA-3C19-DE1F-3716B6A2AC75}"/>
              </a:ext>
            </a:extLst>
          </p:cNvPr>
          <p:cNvSpPr>
            <a:spLocks noGrp="1"/>
          </p:cNvSpPr>
          <p:nvPr/>
        </p:nvSpPr>
        <p:spPr>
          <a:xfrm flipH="1">
            <a:off x="2843105" y="2332978"/>
            <a:ext cx="1416050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9CC2D096-D600-BD32-B5C8-588F95D15128}"/>
              </a:ext>
            </a:extLst>
          </p:cNvPr>
          <p:cNvSpPr>
            <a:spLocks noGrp="1"/>
          </p:cNvSpPr>
          <p:nvPr/>
        </p:nvSpPr>
        <p:spPr>
          <a:xfrm>
            <a:off x="5602180" y="2332978"/>
            <a:ext cx="931862" cy="0"/>
          </a:xfrm>
          <a:prstGeom prst="line">
            <a:avLst/>
          </a:prstGeom>
          <a:noFill/>
          <a:ln w="50800">
            <a:solidFill>
              <a:schemeClr val="tx2"/>
            </a:solidFill>
            <a:headEnd type="stealth" w="med" len="med"/>
            <a:tailEnd type="none" w="sm" len="sm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DE913C10-0FE0-0E1A-9F46-A7E075161E71}"/>
              </a:ext>
            </a:extLst>
          </p:cNvPr>
          <p:cNvSpPr>
            <a:spLocks noGrp="1"/>
          </p:cNvSpPr>
          <p:nvPr/>
        </p:nvSpPr>
        <p:spPr>
          <a:xfrm>
            <a:off x="1069867" y="3581400"/>
            <a:ext cx="7464533" cy="255198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lIns="90488" tIns="44450" rIns="90488" bIns="44450">
            <a:spAutoFit/>
          </a:bodyPr>
          <a:lstStyle/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CREATE TABLE  Dep_Policy (</a:t>
            </a:r>
          </a:p>
          <a:p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   	</a:t>
            </a:r>
            <a:r>
              <a:rPr sz="2000"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dname  CHAR(20),</a:t>
            </a:r>
          </a:p>
          <a:p>
            <a:r>
              <a:rPr sz="2000"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  	age    INTEGER,</a:t>
            </a:r>
          </a:p>
          <a:p>
            <a:r>
              <a:rPr sz="2000"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  	cost   REAL,</a:t>
            </a:r>
          </a:p>
          <a:p>
            <a:r>
              <a:rPr sz="2000"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  	ssn    CHAR(11) </a:t>
            </a:r>
            <a:r>
              <a:rPr sz="200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NOT NULL</a:t>
            </a:r>
            <a:r>
              <a:rPr sz="2000"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,</a:t>
            </a:r>
          </a:p>
          <a:p>
            <a:r>
              <a:rPr sz="2000">
                <a:solidFill>
                  <a:srgbClr val="434FD6"/>
                </a:solidFill>
                <a:latin typeface="Lucida Console"/>
                <a:ea typeface="Lucida Console"/>
                <a:cs typeface="Lucida Console"/>
              </a:rPr>
              <a:t>   	</a:t>
            </a:r>
            <a:r>
              <a:rPr sz="2000">
                <a:solidFill>
                  <a:schemeClr val="folHlink"/>
                </a:solidFill>
                <a:latin typeface="Lucida Console"/>
                <a:ea typeface="Lucida Console"/>
                <a:cs typeface="Lucida Console"/>
              </a:rPr>
              <a:t>PRIMARY KEY  (dname, ssn),</a:t>
            </a:r>
          </a:p>
          <a:p>
            <a:r>
              <a:rPr sz="2000">
                <a:solidFill>
                  <a:schemeClr val="folHlink"/>
                </a:solidFill>
                <a:latin typeface="Lucida Console"/>
                <a:ea typeface="Lucida Console"/>
                <a:cs typeface="Lucida Console"/>
              </a:rPr>
              <a:t>   	FOREIGN KEY  (ssn) REFERENCES Employees,</a:t>
            </a:r>
          </a:p>
          <a:p>
            <a:r>
              <a:rPr sz="2000">
                <a:solidFill>
                  <a:schemeClr val="folHlink"/>
                </a:solidFill>
                <a:latin typeface="Lucida Console"/>
                <a:ea typeface="Lucida Console"/>
                <a:cs typeface="Lucida Console"/>
              </a:rPr>
              <a:t>      	</a:t>
            </a:r>
            <a:r>
              <a:rPr sz="2000">
                <a:solidFill>
                  <a:schemeClr val="accent2"/>
                </a:solidFill>
                <a:latin typeface="Lucida Console"/>
                <a:ea typeface="Lucida Console"/>
                <a:cs typeface="Lucida Console"/>
              </a:rPr>
              <a:t>ON DELETE CASCADE</a:t>
            </a:r>
            <a:r>
              <a:rPr sz="2000">
                <a:solidFill>
                  <a:schemeClr val="tx1"/>
                </a:solidFill>
                <a:latin typeface="Lucida Console"/>
                <a:ea typeface="Lucida Console"/>
                <a:cs typeface="Lucida Console"/>
              </a:rPr>
              <a:t>)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290000A-744D-54C6-A9C6-AC7A1F243A4E}"/>
              </a:ext>
            </a:extLst>
          </p:cNvPr>
          <p:cNvSpPr>
            <a:spLocks noGrp="1"/>
          </p:cNvSpPr>
          <p:nvPr/>
        </p:nvSpPr>
        <p:spPr>
          <a:xfrm>
            <a:off x="2809012" y="5693005"/>
            <a:ext cx="3058388" cy="533400"/>
          </a:xfrm>
          <a:prstGeom prst="ellipse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9ED887-F039-90DA-8AF3-12C9616B642B}"/>
              </a:ext>
            </a:extLst>
          </p:cNvPr>
          <p:cNvSpPr>
            <a:spLocks noGrp="1"/>
          </p:cNvSpPr>
          <p:nvPr/>
        </p:nvSpPr>
        <p:spPr>
          <a:xfrm>
            <a:off x="1280395" y="6172200"/>
            <a:ext cx="67726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FF0000"/>
                </a:solidFill>
                <a:latin typeface="Arial Unicode MS"/>
                <a:ea typeface="Arial Unicode MS"/>
                <a:cs typeface="Arial Unicode MS"/>
              </a:rPr>
              <a:t>用于指定删除父表记录时，是否同时删除子表中的对应记录。</a:t>
            </a:r>
            <a:endParaRPr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4098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F7671F32-DE7E-4568-B272-AB57CD9DEE29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弱实体练习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8825C251-34BE-436E-9123-AB6EE4CE94DA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7F744A-9276-4C1D-A41C-86AE7D38AFC5}"/>
              </a:ext>
            </a:extLst>
          </p:cNvPr>
          <p:cNvSpPr>
            <a:spLocks noGrp="1"/>
          </p:cNvSpPr>
          <p:nvPr/>
        </p:nvSpPr>
        <p:spPr>
          <a:xfrm>
            <a:off x="723900" y="1143000"/>
            <a:ext cx="7696200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95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一家酒店有多个房间，房间号只在同一家酒店内唯一。</a:t>
            </a:r>
          </a:p>
        </p:txBody>
      </p:sp>
      <p:graphicFrame>
        <p:nvGraphicFramePr>
          <p:cNvPr id="12" name="表格 11"/>
          <p:cNvGraphicFramePr/>
          <p:nvPr/>
        </p:nvGraphicFramePr>
        <p:xfrm>
          <a:off x="1524000" y="2133600"/>
          <a:ext cx="6096000" cy="1809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实体</a:t>
                      </a:r>
                    </a:p>
                  </a:txBody>
                  <a:tcPr anchor="ctr"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属性</a:t>
                      </a:r>
                    </a:p>
                  </a:txBody>
                  <a:tcPr anchor="ctr">
                    <a:solidFill>
                      <a:srgbClr val="8064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Hotel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hotel_id, name, address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Room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room_no, floor, capacity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77B13650-5111-45CB-AD77-80CF888E62A6}"/>
              </a:ext>
            </a:extLst>
          </p:cNvPr>
          <p:cNvSpPr>
            <a:spLocks noGrp="1"/>
          </p:cNvSpPr>
          <p:nvPr/>
        </p:nvSpPr>
        <p:spPr>
          <a:xfrm>
            <a:off x="1104900" y="4362450"/>
            <a:ext cx="6934200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875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写出 Room 关系，并包含其主键和外键。</a:t>
            </a:r>
          </a:p>
        </p:txBody>
      </p:sp>
      <p:sp>
        <p:nvSpPr>
          <p:cNvPr id="6" name="callout">
            <a:extLst>
              <a:ext uri="{FF2B5EF4-FFF2-40B4-BE49-F238E27FC236}">
                <a16:creationId xmlns:a16="http://schemas.microsoft.com/office/drawing/2014/main" id="{75D160DE-6CFD-4939-8573-13F9EB33734C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独立完成：3 分钟</a:t>
            </a:r>
          </a:p>
        </p:txBody>
      </p:sp>
    </p:spTree>
    <p:extLst>
      <p:ext uri="{BB962C8B-B14F-4D97-AF65-F5344CB8AC3E}">
        <p14:creationId xmlns:p14="http://schemas.microsoft.com/office/powerpoint/2010/main" val="142828762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4434-1F77-B7F2-2A08-90AA815D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转换聚合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7364-3E03-3E9E-C356-5DAA29ECF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>
                <a:latin typeface="Arial Unicode MS"/>
                <a:ea typeface="Arial Unicode MS"/>
                <a:cs typeface="Arial Unicode MS"/>
              </a:rPr>
              <a:t>请看以下示例：</a:t>
            </a:r>
            <a:endParaRPr/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04FE3-7883-F861-8E84-276CADAF5E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73</a:t>
            </a:fld>
            <a:endParaRPr/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393E6530-C99B-96C4-8557-EAB22525FBEE}"/>
              </a:ext>
            </a:extLst>
          </p:cNvPr>
          <p:cNvSpPr>
            <a:spLocks noGrp="1"/>
          </p:cNvSpPr>
          <p:nvPr/>
        </p:nvSpPr>
        <p:spPr>
          <a:xfrm>
            <a:off x="4808537" y="5184775"/>
            <a:ext cx="896938" cy="381000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2 w 565"/>
              <a:gd name="T9" fmla="*/ 35 h 240"/>
              <a:gd name="T10" fmla="*/ 444 w 565"/>
              <a:gd name="T11" fmla="*/ 21 h 240"/>
              <a:gd name="T12" fmla="*/ 402 w 565"/>
              <a:gd name="T13" fmla="*/ 11 h 240"/>
              <a:gd name="T14" fmla="*/ 356 w 565"/>
              <a:gd name="T15" fmla="*/ 4 h 240"/>
              <a:gd name="T16" fmla="*/ 307 w 565"/>
              <a:gd name="T17" fmla="*/ 0 h 240"/>
              <a:gd name="T18" fmla="*/ 258 w 565"/>
              <a:gd name="T19" fmla="*/ 0 h 240"/>
              <a:gd name="T20" fmla="*/ 210 w 565"/>
              <a:gd name="T21" fmla="*/ 4 h 240"/>
              <a:gd name="T22" fmla="*/ 163 w 565"/>
              <a:gd name="T23" fmla="*/ 11 h 240"/>
              <a:gd name="T24" fmla="*/ 121 w 565"/>
              <a:gd name="T25" fmla="*/ 21 h 240"/>
              <a:gd name="T26" fmla="*/ 83 w 565"/>
              <a:gd name="T27" fmla="*/ 35 h 240"/>
              <a:gd name="T28" fmla="*/ 52 w 565"/>
              <a:gd name="T29" fmla="*/ 51 h 240"/>
              <a:gd name="T30" fmla="*/ 27 w 565"/>
              <a:gd name="T31" fmla="*/ 68 h 240"/>
              <a:gd name="T32" fmla="*/ 10 w 565"/>
              <a:gd name="T33" fmla="*/ 88 h 240"/>
              <a:gd name="T34" fmla="*/ 2 w 565"/>
              <a:gd name="T35" fmla="*/ 109 h 240"/>
              <a:gd name="T36" fmla="*/ 2 w 565"/>
              <a:gd name="T37" fmla="*/ 129 h 240"/>
              <a:gd name="T38" fmla="*/ 10 w 565"/>
              <a:gd name="T39" fmla="*/ 150 h 240"/>
              <a:gd name="T40" fmla="*/ 27 w 565"/>
              <a:gd name="T41" fmla="*/ 170 h 240"/>
              <a:gd name="T42" fmla="*/ 52 w 565"/>
              <a:gd name="T43" fmla="*/ 188 h 240"/>
              <a:gd name="T44" fmla="*/ 83 w 565"/>
              <a:gd name="T45" fmla="*/ 204 h 240"/>
              <a:gd name="T46" fmla="*/ 121 w 565"/>
              <a:gd name="T47" fmla="*/ 217 h 240"/>
              <a:gd name="T48" fmla="*/ 163 w 565"/>
              <a:gd name="T49" fmla="*/ 227 h 240"/>
              <a:gd name="T50" fmla="*/ 210 w 565"/>
              <a:gd name="T51" fmla="*/ 235 h 240"/>
              <a:gd name="T52" fmla="*/ 258 w 565"/>
              <a:gd name="T53" fmla="*/ 239 h 240"/>
              <a:gd name="T54" fmla="*/ 307 w 565"/>
              <a:gd name="T55" fmla="*/ 239 h 240"/>
              <a:gd name="T56" fmla="*/ 356 w 565"/>
              <a:gd name="T57" fmla="*/ 235 h 240"/>
              <a:gd name="T58" fmla="*/ 402 w 565"/>
              <a:gd name="T59" fmla="*/ 227 h 240"/>
              <a:gd name="T60" fmla="*/ 444 w 565"/>
              <a:gd name="T61" fmla="*/ 217 h 240"/>
              <a:gd name="T62" fmla="*/ 482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0 h 240"/>
              <a:gd name="T70" fmla="*/ 563 w 565"/>
              <a:gd name="T71" fmla="*/ 129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7" y="60"/>
                </a:lnTo>
                <a:lnTo>
                  <a:pt x="513" y="51"/>
                </a:lnTo>
                <a:lnTo>
                  <a:pt x="498" y="42"/>
                </a:lnTo>
                <a:lnTo>
                  <a:pt x="482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5"/>
                </a:lnTo>
                <a:lnTo>
                  <a:pt x="402" y="11"/>
                </a:lnTo>
                <a:lnTo>
                  <a:pt x="379" y="7"/>
                </a:lnTo>
                <a:lnTo>
                  <a:pt x="356" y="4"/>
                </a:lnTo>
                <a:lnTo>
                  <a:pt x="331" y="1"/>
                </a:lnTo>
                <a:lnTo>
                  <a:pt x="307" y="0"/>
                </a:lnTo>
                <a:lnTo>
                  <a:pt x="282" y="0"/>
                </a:lnTo>
                <a:lnTo>
                  <a:pt x="258" y="0"/>
                </a:lnTo>
                <a:lnTo>
                  <a:pt x="234" y="1"/>
                </a:lnTo>
                <a:lnTo>
                  <a:pt x="210" y="4"/>
                </a:lnTo>
                <a:lnTo>
                  <a:pt x="186" y="7"/>
                </a:lnTo>
                <a:lnTo>
                  <a:pt x="163" y="11"/>
                </a:lnTo>
                <a:lnTo>
                  <a:pt x="141" y="15"/>
                </a:lnTo>
                <a:lnTo>
                  <a:pt x="121" y="21"/>
                </a:lnTo>
                <a:lnTo>
                  <a:pt x="101" y="27"/>
                </a:lnTo>
                <a:lnTo>
                  <a:pt x="83" y="35"/>
                </a:lnTo>
                <a:lnTo>
                  <a:pt x="67" y="42"/>
                </a:lnTo>
                <a:lnTo>
                  <a:pt x="52" y="51"/>
                </a:lnTo>
                <a:lnTo>
                  <a:pt x="38" y="60"/>
                </a:lnTo>
                <a:lnTo>
                  <a:pt x="27" y="68"/>
                </a:lnTo>
                <a:lnTo>
                  <a:pt x="18" y="78"/>
                </a:lnTo>
                <a:lnTo>
                  <a:pt x="10" y="88"/>
                </a:lnTo>
                <a:lnTo>
                  <a:pt x="5" y="98"/>
                </a:lnTo>
                <a:lnTo>
                  <a:pt x="2" y="109"/>
                </a:lnTo>
                <a:lnTo>
                  <a:pt x="0" y="119"/>
                </a:lnTo>
                <a:lnTo>
                  <a:pt x="2" y="129"/>
                </a:lnTo>
                <a:lnTo>
                  <a:pt x="5" y="140"/>
                </a:lnTo>
                <a:lnTo>
                  <a:pt x="10" y="150"/>
                </a:lnTo>
                <a:lnTo>
                  <a:pt x="18" y="160"/>
                </a:lnTo>
                <a:lnTo>
                  <a:pt x="27" y="170"/>
                </a:lnTo>
                <a:lnTo>
                  <a:pt x="38" y="179"/>
                </a:lnTo>
                <a:lnTo>
                  <a:pt x="52" y="188"/>
                </a:lnTo>
                <a:lnTo>
                  <a:pt x="67" y="196"/>
                </a:lnTo>
                <a:lnTo>
                  <a:pt x="83" y="204"/>
                </a:lnTo>
                <a:lnTo>
                  <a:pt x="101" y="211"/>
                </a:lnTo>
                <a:lnTo>
                  <a:pt x="121" y="217"/>
                </a:lnTo>
                <a:lnTo>
                  <a:pt x="141" y="223"/>
                </a:lnTo>
                <a:lnTo>
                  <a:pt x="163" y="227"/>
                </a:lnTo>
                <a:lnTo>
                  <a:pt x="186" y="231"/>
                </a:lnTo>
                <a:lnTo>
                  <a:pt x="210" y="235"/>
                </a:lnTo>
                <a:lnTo>
                  <a:pt x="234" y="237"/>
                </a:lnTo>
                <a:lnTo>
                  <a:pt x="258" y="239"/>
                </a:lnTo>
                <a:lnTo>
                  <a:pt x="282" y="239"/>
                </a:lnTo>
                <a:lnTo>
                  <a:pt x="307" y="239"/>
                </a:lnTo>
                <a:lnTo>
                  <a:pt x="331" y="237"/>
                </a:lnTo>
                <a:lnTo>
                  <a:pt x="356" y="235"/>
                </a:lnTo>
                <a:lnTo>
                  <a:pt x="379" y="231"/>
                </a:lnTo>
                <a:lnTo>
                  <a:pt x="402" y="227"/>
                </a:lnTo>
                <a:lnTo>
                  <a:pt x="423" y="223"/>
                </a:lnTo>
                <a:lnTo>
                  <a:pt x="444" y="217"/>
                </a:lnTo>
                <a:lnTo>
                  <a:pt x="464" y="211"/>
                </a:lnTo>
                <a:lnTo>
                  <a:pt x="482" y="204"/>
                </a:lnTo>
                <a:lnTo>
                  <a:pt x="498" y="196"/>
                </a:lnTo>
                <a:lnTo>
                  <a:pt x="513" y="188"/>
                </a:lnTo>
                <a:lnTo>
                  <a:pt x="527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0"/>
                </a:lnTo>
                <a:lnTo>
                  <a:pt x="560" y="140"/>
                </a:lnTo>
                <a:lnTo>
                  <a:pt x="563" y="129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3F83ED2E-E8E4-E477-8209-C2BE1B3218BF}"/>
              </a:ext>
            </a:extLst>
          </p:cNvPr>
          <p:cNvSpPr>
            <a:spLocks noGrp="1"/>
          </p:cNvSpPr>
          <p:nvPr/>
        </p:nvSpPr>
        <p:spPr>
          <a:xfrm>
            <a:off x="6454775" y="5184775"/>
            <a:ext cx="896937" cy="381000"/>
          </a:xfrm>
          <a:custGeom>
            <a:avLst/>
            <a:gdLst>
              <a:gd name="T0" fmla="*/ 1 w 565"/>
              <a:gd name="T1" fmla="*/ 129 h 240"/>
              <a:gd name="T2" fmla="*/ 9 w 565"/>
              <a:gd name="T3" fmla="*/ 150 h 240"/>
              <a:gd name="T4" fmla="*/ 27 w 565"/>
              <a:gd name="T5" fmla="*/ 170 h 240"/>
              <a:gd name="T6" fmla="*/ 51 w 565"/>
              <a:gd name="T7" fmla="*/ 188 h 240"/>
              <a:gd name="T8" fmla="*/ 83 w 565"/>
              <a:gd name="T9" fmla="*/ 204 h 240"/>
              <a:gd name="T10" fmla="*/ 120 w 565"/>
              <a:gd name="T11" fmla="*/ 217 h 240"/>
              <a:gd name="T12" fmla="*/ 163 w 565"/>
              <a:gd name="T13" fmla="*/ 227 h 240"/>
              <a:gd name="T14" fmla="*/ 209 w 565"/>
              <a:gd name="T15" fmla="*/ 235 h 240"/>
              <a:gd name="T16" fmla="*/ 257 w 565"/>
              <a:gd name="T17" fmla="*/ 239 h 240"/>
              <a:gd name="T18" fmla="*/ 306 w 565"/>
              <a:gd name="T19" fmla="*/ 239 h 240"/>
              <a:gd name="T20" fmla="*/ 355 w 565"/>
              <a:gd name="T21" fmla="*/ 235 h 240"/>
              <a:gd name="T22" fmla="*/ 401 w 565"/>
              <a:gd name="T23" fmla="*/ 227 h 240"/>
              <a:gd name="T24" fmla="*/ 443 w 565"/>
              <a:gd name="T25" fmla="*/ 217 h 240"/>
              <a:gd name="T26" fmla="*/ 481 w 565"/>
              <a:gd name="T27" fmla="*/ 204 h 240"/>
              <a:gd name="T28" fmla="*/ 513 w 565"/>
              <a:gd name="T29" fmla="*/ 188 h 240"/>
              <a:gd name="T30" fmla="*/ 537 w 565"/>
              <a:gd name="T31" fmla="*/ 169 h 240"/>
              <a:gd name="T32" fmla="*/ 554 w 565"/>
              <a:gd name="T33" fmla="*/ 150 h 240"/>
              <a:gd name="T34" fmla="*/ 563 w 565"/>
              <a:gd name="T35" fmla="*/ 129 h 240"/>
              <a:gd name="T36" fmla="*/ 563 w 565"/>
              <a:gd name="T37" fmla="*/ 108 h 240"/>
              <a:gd name="T38" fmla="*/ 554 w 565"/>
              <a:gd name="T39" fmla="*/ 88 h 240"/>
              <a:gd name="T40" fmla="*/ 537 w 565"/>
              <a:gd name="T41" fmla="*/ 68 h 240"/>
              <a:gd name="T42" fmla="*/ 513 w 565"/>
              <a:gd name="T43" fmla="*/ 50 h 240"/>
              <a:gd name="T44" fmla="*/ 481 w 565"/>
              <a:gd name="T45" fmla="*/ 35 h 240"/>
              <a:gd name="T46" fmla="*/ 443 w 565"/>
              <a:gd name="T47" fmla="*/ 21 h 240"/>
              <a:gd name="T48" fmla="*/ 401 w 565"/>
              <a:gd name="T49" fmla="*/ 11 h 240"/>
              <a:gd name="T50" fmla="*/ 355 w 565"/>
              <a:gd name="T51" fmla="*/ 4 h 240"/>
              <a:gd name="T52" fmla="*/ 306 w 565"/>
              <a:gd name="T53" fmla="*/ 0 h 240"/>
              <a:gd name="T54" fmla="*/ 257 w 565"/>
              <a:gd name="T55" fmla="*/ 0 h 240"/>
              <a:gd name="T56" fmla="*/ 209 w 565"/>
              <a:gd name="T57" fmla="*/ 4 h 240"/>
              <a:gd name="T58" fmla="*/ 163 w 565"/>
              <a:gd name="T59" fmla="*/ 11 h 240"/>
              <a:gd name="T60" fmla="*/ 120 w 565"/>
              <a:gd name="T61" fmla="*/ 21 h 240"/>
              <a:gd name="T62" fmla="*/ 83 w 565"/>
              <a:gd name="T63" fmla="*/ 35 h 240"/>
              <a:gd name="T64" fmla="*/ 51 w 565"/>
              <a:gd name="T65" fmla="*/ 51 h 240"/>
              <a:gd name="T66" fmla="*/ 27 w 565"/>
              <a:gd name="T67" fmla="*/ 68 h 240"/>
              <a:gd name="T68" fmla="*/ 9 w 565"/>
              <a:gd name="T69" fmla="*/ 88 h 240"/>
              <a:gd name="T70" fmla="*/ 1 w 565"/>
              <a:gd name="T71" fmla="*/ 109 h 240"/>
            </a:gdLst>
            <a:ahLst/>
            <a:cxnLst/>
            <a:rect l="0" t="0" r="r" b="b"/>
            <a:pathLst>
              <a:path w="565" h="240">
                <a:moveTo>
                  <a:pt x="0" y="119"/>
                </a:moveTo>
                <a:lnTo>
                  <a:pt x="1" y="129"/>
                </a:lnTo>
                <a:lnTo>
                  <a:pt x="4" y="140"/>
                </a:lnTo>
                <a:lnTo>
                  <a:pt x="9" y="150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6"/>
                </a:lnTo>
                <a:lnTo>
                  <a:pt x="83" y="204"/>
                </a:lnTo>
                <a:lnTo>
                  <a:pt x="101" y="211"/>
                </a:lnTo>
                <a:lnTo>
                  <a:pt x="120" y="217"/>
                </a:lnTo>
                <a:lnTo>
                  <a:pt x="141" y="223"/>
                </a:lnTo>
                <a:lnTo>
                  <a:pt x="163" y="227"/>
                </a:lnTo>
                <a:lnTo>
                  <a:pt x="185" y="231"/>
                </a:lnTo>
                <a:lnTo>
                  <a:pt x="209" y="235"/>
                </a:lnTo>
                <a:lnTo>
                  <a:pt x="233" y="237"/>
                </a:lnTo>
                <a:lnTo>
                  <a:pt x="257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8" y="231"/>
                </a:lnTo>
                <a:lnTo>
                  <a:pt x="401" y="227"/>
                </a:lnTo>
                <a:lnTo>
                  <a:pt x="423" y="223"/>
                </a:lnTo>
                <a:lnTo>
                  <a:pt x="443" y="217"/>
                </a:lnTo>
                <a:lnTo>
                  <a:pt x="463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7" y="169"/>
                </a:lnTo>
                <a:lnTo>
                  <a:pt x="547" y="160"/>
                </a:lnTo>
                <a:lnTo>
                  <a:pt x="554" y="150"/>
                </a:lnTo>
                <a:lnTo>
                  <a:pt x="559" y="140"/>
                </a:lnTo>
                <a:lnTo>
                  <a:pt x="563" y="129"/>
                </a:lnTo>
                <a:lnTo>
                  <a:pt x="564" y="119"/>
                </a:lnTo>
                <a:lnTo>
                  <a:pt x="563" y="108"/>
                </a:lnTo>
                <a:lnTo>
                  <a:pt x="559" y="98"/>
                </a:lnTo>
                <a:lnTo>
                  <a:pt x="554" y="88"/>
                </a:lnTo>
                <a:lnTo>
                  <a:pt x="547" y="78"/>
                </a:lnTo>
                <a:lnTo>
                  <a:pt x="537" y="68"/>
                </a:lnTo>
                <a:lnTo>
                  <a:pt x="526" y="59"/>
                </a:lnTo>
                <a:lnTo>
                  <a:pt x="513" y="50"/>
                </a:lnTo>
                <a:lnTo>
                  <a:pt x="498" y="42"/>
                </a:lnTo>
                <a:lnTo>
                  <a:pt x="481" y="35"/>
                </a:lnTo>
                <a:lnTo>
                  <a:pt x="463" y="27"/>
                </a:lnTo>
                <a:lnTo>
                  <a:pt x="443" y="21"/>
                </a:lnTo>
                <a:lnTo>
                  <a:pt x="423" y="15"/>
                </a:lnTo>
                <a:lnTo>
                  <a:pt x="401" y="11"/>
                </a:lnTo>
                <a:lnTo>
                  <a:pt x="378" y="6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7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6"/>
                </a:lnTo>
                <a:lnTo>
                  <a:pt x="120" y="21"/>
                </a:lnTo>
                <a:lnTo>
                  <a:pt x="100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8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8999E4F3-E3FE-C57B-0602-18CB5A685E7B}"/>
              </a:ext>
            </a:extLst>
          </p:cNvPr>
          <p:cNvSpPr>
            <a:spLocks noGrp="1"/>
          </p:cNvSpPr>
          <p:nvPr/>
        </p:nvSpPr>
        <p:spPr>
          <a:xfrm>
            <a:off x="2489200" y="4811712"/>
            <a:ext cx="1169987" cy="366713"/>
          </a:xfrm>
          <a:custGeom>
            <a:avLst/>
            <a:gdLst>
              <a:gd name="T0" fmla="*/ 736 w 737"/>
              <a:gd name="T1" fmla="*/ 105 h 231"/>
              <a:gd name="T2" fmla="*/ 724 w 737"/>
              <a:gd name="T3" fmla="*/ 85 h 231"/>
              <a:gd name="T4" fmla="*/ 702 w 737"/>
              <a:gd name="T5" fmla="*/ 67 h 231"/>
              <a:gd name="T6" fmla="*/ 670 w 737"/>
              <a:gd name="T7" fmla="*/ 48 h 231"/>
              <a:gd name="T8" fmla="*/ 628 w 737"/>
              <a:gd name="T9" fmla="*/ 33 h 231"/>
              <a:gd name="T10" fmla="*/ 579 w 737"/>
              <a:gd name="T11" fmla="*/ 21 h 231"/>
              <a:gd name="T12" fmla="*/ 524 w 737"/>
              <a:gd name="T13" fmla="*/ 10 h 231"/>
              <a:gd name="T14" fmla="*/ 464 w 737"/>
              <a:gd name="T15" fmla="*/ 3 h 231"/>
              <a:gd name="T16" fmla="*/ 400 w 737"/>
              <a:gd name="T17" fmla="*/ 0 h 231"/>
              <a:gd name="T18" fmla="*/ 336 w 737"/>
              <a:gd name="T19" fmla="*/ 0 h 231"/>
              <a:gd name="T20" fmla="*/ 274 w 737"/>
              <a:gd name="T21" fmla="*/ 3 h 231"/>
              <a:gd name="T22" fmla="*/ 214 w 737"/>
              <a:gd name="T23" fmla="*/ 10 h 231"/>
              <a:gd name="T24" fmla="*/ 157 w 737"/>
              <a:gd name="T25" fmla="*/ 21 h 231"/>
              <a:gd name="T26" fmla="*/ 108 w 737"/>
              <a:gd name="T27" fmla="*/ 33 h 231"/>
              <a:gd name="T28" fmla="*/ 66 w 737"/>
              <a:gd name="T29" fmla="*/ 48 h 231"/>
              <a:gd name="T30" fmla="*/ 35 w 737"/>
              <a:gd name="T31" fmla="*/ 67 h 231"/>
              <a:gd name="T32" fmla="*/ 13 w 737"/>
              <a:gd name="T33" fmla="*/ 85 h 231"/>
              <a:gd name="T34" fmla="*/ 1 w 737"/>
              <a:gd name="T35" fmla="*/ 105 h 231"/>
              <a:gd name="T36" fmla="*/ 1 w 737"/>
              <a:gd name="T37" fmla="*/ 125 h 231"/>
              <a:gd name="T38" fmla="*/ 13 w 737"/>
              <a:gd name="T39" fmla="*/ 144 h 231"/>
              <a:gd name="T40" fmla="*/ 35 w 737"/>
              <a:gd name="T41" fmla="*/ 163 h 231"/>
              <a:gd name="T42" fmla="*/ 66 w 737"/>
              <a:gd name="T43" fmla="*/ 181 h 231"/>
              <a:gd name="T44" fmla="*/ 108 w 737"/>
              <a:gd name="T45" fmla="*/ 196 h 231"/>
              <a:gd name="T46" fmla="*/ 157 w 737"/>
              <a:gd name="T47" fmla="*/ 208 h 231"/>
              <a:gd name="T48" fmla="*/ 214 w 737"/>
              <a:gd name="T49" fmla="*/ 219 h 231"/>
              <a:gd name="T50" fmla="*/ 274 w 737"/>
              <a:gd name="T51" fmla="*/ 226 h 231"/>
              <a:gd name="T52" fmla="*/ 336 w 737"/>
              <a:gd name="T53" fmla="*/ 229 h 231"/>
              <a:gd name="T54" fmla="*/ 400 w 737"/>
              <a:gd name="T55" fmla="*/ 229 h 231"/>
              <a:gd name="T56" fmla="*/ 464 w 737"/>
              <a:gd name="T57" fmla="*/ 226 h 231"/>
              <a:gd name="T58" fmla="*/ 524 w 737"/>
              <a:gd name="T59" fmla="*/ 219 h 231"/>
              <a:gd name="T60" fmla="*/ 579 w 737"/>
              <a:gd name="T61" fmla="*/ 208 h 231"/>
              <a:gd name="T62" fmla="*/ 628 w 737"/>
              <a:gd name="T63" fmla="*/ 196 h 231"/>
              <a:gd name="T64" fmla="*/ 670 w 737"/>
              <a:gd name="T65" fmla="*/ 181 h 231"/>
              <a:gd name="T66" fmla="*/ 702 w 737"/>
              <a:gd name="T67" fmla="*/ 163 h 231"/>
              <a:gd name="T68" fmla="*/ 724 w 737"/>
              <a:gd name="T69" fmla="*/ 144 h 231"/>
              <a:gd name="T70" fmla="*/ 736 w 737"/>
              <a:gd name="T71" fmla="*/ 125 h 231"/>
            </a:gdLst>
            <a:ahLst/>
            <a:cxnLst/>
            <a:rect l="0" t="0" r="r" b="b"/>
            <a:pathLst>
              <a:path w="737" h="231">
                <a:moveTo>
                  <a:pt x="736" y="115"/>
                </a:moveTo>
                <a:lnTo>
                  <a:pt x="736" y="105"/>
                </a:lnTo>
                <a:lnTo>
                  <a:pt x="730" y="94"/>
                </a:lnTo>
                <a:lnTo>
                  <a:pt x="724" y="85"/>
                </a:lnTo>
                <a:lnTo>
                  <a:pt x="715" y="75"/>
                </a:lnTo>
                <a:lnTo>
                  <a:pt x="702" y="67"/>
                </a:lnTo>
                <a:lnTo>
                  <a:pt x="687" y="57"/>
                </a:lnTo>
                <a:lnTo>
                  <a:pt x="670" y="48"/>
                </a:lnTo>
                <a:lnTo>
                  <a:pt x="651" y="41"/>
                </a:lnTo>
                <a:lnTo>
                  <a:pt x="628" y="33"/>
                </a:lnTo>
                <a:lnTo>
                  <a:pt x="605" y="27"/>
                </a:lnTo>
                <a:lnTo>
                  <a:pt x="579" y="21"/>
                </a:lnTo>
                <a:lnTo>
                  <a:pt x="552" y="15"/>
                </a:lnTo>
                <a:lnTo>
                  <a:pt x="524" y="10"/>
                </a:lnTo>
                <a:lnTo>
                  <a:pt x="494" y="7"/>
                </a:lnTo>
                <a:lnTo>
                  <a:pt x="464" y="3"/>
                </a:lnTo>
                <a:lnTo>
                  <a:pt x="433" y="1"/>
                </a:lnTo>
                <a:lnTo>
                  <a:pt x="400" y="0"/>
                </a:lnTo>
                <a:lnTo>
                  <a:pt x="368" y="0"/>
                </a:lnTo>
                <a:lnTo>
                  <a:pt x="336" y="0"/>
                </a:lnTo>
                <a:lnTo>
                  <a:pt x="305" y="1"/>
                </a:lnTo>
                <a:lnTo>
                  <a:pt x="274" y="3"/>
                </a:lnTo>
                <a:lnTo>
                  <a:pt x="242" y="7"/>
                </a:lnTo>
                <a:lnTo>
                  <a:pt x="214" y="10"/>
                </a:lnTo>
                <a:lnTo>
                  <a:pt x="184" y="15"/>
                </a:lnTo>
                <a:lnTo>
                  <a:pt x="157" y="21"/>
                </a:lnTo>
                <a:lnTo>
                  <a:pt x="131" y="27"/>
                </a:lnTo>
                <a:lnTo>
                  <a:pt x="108" y="33"/>
                </a:lnTo>
                <a:lnTo>
                  <a:pt x="86" y="41"/>
                </a:lnTo>
                <a:lnTo>
                  <a:pt x="66" y="48"/>
                </a:lnTo>
                <a:lnTo>
                  <a:pt x="50" y="57"/>
                </a:lnTo>
                <a:lnTo>
                  <a:pt x="35" y="67"/>
                </a:lnTo>
                <a:lnTo>
                  <a:pt x="23" y="75"/>
                </a:lnTo>
                <a:lnTo>
                  <a:pt x="13" y="85"/>
                </a:lnTo>
                <a:lnTo>
                  <a:pt x="6" y="94"/>
                </a:lnTo>
                <a:lnTo>
                  <a:pt x="1" y="105"/>
                </a:lnTo>
                <a:lnTo>
                  <a:pt x="0" y="115"/>
                </a:lnTo>
                <a:lnTo>
                  <a:pt x="1" y="125"/>
                </a:lnTo>
                <a:lnTo>
                  <a:pt x="6" y="135"/>
                </a:lnTo>
                <a:lnTo>
                  <a:pt x="13" y="144"/>
                </a:lnTo>
                <a:lnTo>
                  <a:pt x="23" y="154"/>
                </a:lnTo>
                <a:lnTo>
                  <a:pt x="35" y="163"/>
                </a:lnTo>
                <a:lnTo>
                  <a:pt x="50" y="172"/>
                </a:lnTo>
                <a:lnTo>
                  <a:pt x="66" y="181"/>
                </a:lnTo>
                <a:lnTo>
                  <a:pt x="86" y="188"/>
                </a:lnTo>
                <a:lnTo>
                  <a:pt x="108" y="196"/>
                </a:lnTo>
                <a:lnTo>
                  <a:pt x="131" y="203"/>
                </a:lnTo>
                <a:lnTo>
                  <a:pt x="157" y="208"/>
                </a:lnTo>
                <a:lnTo>
                  <a:pt x="184" y="214"/>
                </a:lnTo>
                <a:lnTo>
                  <a:pt x="214" y="219"/>
                </a:lnTo>
                <a:lnTo>
                  <a:pt x="242" y="223"/>
                </a:lnTo>
                <a:lnTo>
                  <a:pt x="274" y="226"/>
                </a:lnTo>
                <a:lnTo>
                  <a:pt x="305" y="228"/>
                </a:lnTo>
                <a:lnTo>
                  <a:pt x="336" y="229"/>
                </a:lnTo>
                <a:lnTo>
                  <a:pt x="368" y="230"/>
                </a:lnTo>
                <a:lnTo>
                  <a:pt x="400" y="229"/>
                </a:lnTo>
                <a:lnTo>
                  <a:pt x="433" y="228"/>
                </a:lnTo>
                <a:lnTo>
                  <a:pt x="464" y="226"/>
                </a:lnTo>
                <a:lnTo>
                  <a:pt x="494" y="223"/>
                </a:lnTo>
                <a:lnTo>
                  <a:pt x="524" y="219"/>
                </a:lnTo>
                <a:lnTo>
                  <a:pt x="552" y="214"/>
                </a:lnTo>
                <a:lnTo>
                  <a:pt x="579" y="208"/>
                </a:lnTo>
                <a:lnTo>
                  <a:pt x="605" y="203"/>
                </a:lnTo>
                <a:lnTo>
                  <a:pt x="628" y="196"/>
                </a:lnTo>
                <a:lnTo>
                  <a:pt x="651" y="188"/>
                </a:lnTo>
                <a:lnTo>
                  <a:pt x="670" y="181"/>
                </a:lnTo>
                <a:lnTo>
                  <a:pt x="687" y="172"/>
                </a:lnTo>
                <a:lnTo>
                  <a:pt x="702" y="163"/>
                </a:lnTo>
                <a:lnTo>
                  <a:pt x="715" y="154"/>
                </a:lnTo>
                <a:lnTo>
                  <a:pt x="724" y="144"/>
                </a:lnTo>
                <a:lnTo>
                  <a:pt x="730" y="135"/>
                </a:lnTo>
                <a:lnTo>
                  <a:pt x="736" y="125"/>
                </a:lnTo>
                <a:lnTo>
                  <a:pt x="736" y="115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8" name="Freeform 10">
            <a:extLst>
              <a:ext uri="{FF2B5EF4-FFF2-40B4-BE49-F238E27FC236}">
                <a16:creationId xmlns:a16="http://schemas.microsoft.com/office/drawing/2014/main" id="{0067E0CA-BB1E-BC66-E302-299D2E0947A2}"/>
              </a:ext>
            </a:extLst>
          </p:cNvPr>
          <p:cNvSpPr>
            <a:spLocks noGrp="1"/>
          </p:cNvSpPr>
          <p:nvPr/>
        </p:nvSpPr>
        <p:spPr>
          <a:xfrm>
            <a:off x="1676400" y="5184775"/>
            <a:ext cx="896937" cy="381000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1 w 565"/>
              <a:gd name="T9" fmla="*/ 35 h 240"/>
              <a:gd name="T10" fmla="*/ 444 w 565"/>
              <a:gd name="T11" fmla="*/ 21 h 240"/>
              <a:gd name="T12" fmla="*/ 401 w 565"/>
              <a:gd name="T13" fmla="*/ 11 h 240"/>
              <a:gd name="T14" fmla="*/ 355 w 565"/>
              <a:gd name="T15" fmla="*/ 4 h 240"/>
              <a:gd name="T16" fmla="*/ 306 w 565"/>
              <a:gd name="T17" fmla="*/ 0 h 240"/>
              <a:gd name="T18" fmla="*/ 258 w 565"/>
              <a:gd name="T19" fmla="*/ 0 h 240"/>
              <a:gd name="T20" fmla="*/ 209 w 565"/>
              <a:gd name="T21" fmla="*/ 4 h 240"/>
              <a:gd name="T22" fmla="*/ 163 w 565"/>
              <a:gd name="T23" fmla="*/ 11 h 240"/>
              <a:gd name="T24" fmla="*/ 120 w 565"/>
              <a:gd name="T25" fmla="*/ 21 h 240"/>
              <a:gd name="T26" fmla="*/ 83 w 565"/>
              <a:gd name="T27" fmla="*/ 35 h 240"/>
              <a:gd name="T28" fmla="*/ 51 w 565"/>
              <a:gd name="T29" fmla="*/ 51 h 240"/>
              <a:gd name="T30" fmla="*/ 27 w 565"/>
              <a:gd name="T31" fmla="*/ 68 h 240"/>
              <a:gd name="T32" fmla="*/ 9 w 565"/>
              <a:gd name="T33" fmla="*/ 88 h 240"/>
              <a:gd name="T34" fmla="*/ 1 w 565"/>
              <a:gd name="T35" fmla="*/ 109 h 240"/>
              <a:gd name="T36" fmla="*/ 1 w 565"/>
              <a:gd name="T37" fmla="*/ 129 h 240"/>
              <a:gd name="T38" fmla="*/ 9 w 565"/>
              <a:gd name="T39" fmla="*/ 150 h 240"/>
              <a:gd name="T40" fmla="*/ 27 w 565"/>
              <a:gd name="T41" fmla="*/ 170 h 240"/>
              <a:gd name="T42" fmla="*/ 51 w 565"/>
              <a:gd name="T43" fmla="*/ 188 h 240"/>
              <a:gd name="T44" fmla="*/ 83 w 565"/>
              <a:gd name="T45" fmla="*/ 204 h 240"/>
              <a:gd name="T46" fmla="*/ 120 w 565"/>
              <a:gd name="T47" fmla="*/ 217 h 240"/>
              <a:gd name="T48" fmla="*/ 163 w 565"/>
              <a:gd name="T49" fmla="*/ 227 h 240"/>
              <a:gd name="T50" fmla="*/ 209 w 565"/>
              <a:gd name="T51" fmla="*/ 235 h 240"/>
              <a:gd name="T52" fmla="*/ 258 w 565"/>
              <a:gd name="T53" fmla="*/ 239 h 240"/>
              <a:gd name="T54" fmla="*/ 306 w 565"/>
              <a:gd name="T55" fmla="*/ 239 h 240"/>
              <a:gd name="T56" fmla="*/ 355 w 565"/>
              <a:gd name="T57" fmla="*/ 235 h 240"/>
              <a:gd name="T58" fmla="*/ 401 w 565"/>
              <a:gd name="T59" fmla="*/ 227 h 240"/>
              <a:gd name="T60" fmla="*/ 444 w 565"/>
              <a:gd name="T61" fmla="*/ 217 h 240"/>
              <a:gd name="T62" fmla="*/ 481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0 h 240"/>
              <a:gd name="T70" fmla="*/ 563 w 565"/>
              <a:gd name="T71" fmla="*/ 129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6" y="60"/>
                </a:lnTo>
                <a:lnTo>
                  <a:pt x="513" y="51"/>
                </a:lnTo>
                <a:lnTo>
                  <a:pt x="498" y="42"/>
                </a:lnTo>
                <a:lnTo>
                  <a:pt x="481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5"/>
                </a:lnTo>
                <a:lnTo>
                  <a:pt x="401" y="11"/>
                </a:lnTo>
                <a:lnTo>
                  <a:pt x="379" y="7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8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5"/>
                </a:lnTo>
                <a:lnTo>
                  <a:pt x="120" y="21"/>
                </a:lnTo>
                <a:lnTo>
                  <a:pt x="101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8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  <a:lnTo>
                  <a:pt x="1" y="129"/>
                </a:lnTo>
                <a:lnTo>
                  <a:pt x="4" y="140"/>
                </a:lnTo>
                <a:lnTo>
                  <a:pt x="9" y="150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6"/>
                </a:lnTo>
                <a:lnTo>
                  <a:pt x="83" y="204"/>
                </a:lnTo>
                <a:lnTo>
                  <a:pt x="101" y="211"/>
                </a:lnTo>
                <a:lnTo>
                  <a:pt x="120" y="217"/>
                </a:lnTo>
                <a:lnTo>
                  <a:pt x="141" y="223"/>
                </a:lnTo>
                <a:lnTo>
                  <a:pt x="163" y="227"/>
                </a:lnTo>
                <a:lnTo>
                  <a:pt x="185" y="231"/>
                </a:lnTo>
                <a:lnTo>
                  <a:pt x="209" y="235"/>
                </a:lnTo>
                <a:lnTo>
                  <a:pt x="233" y="237"/>
                </a:lnTo>
                <a:lnTo>
                  <a:pt x="258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9" y="231"/>
                </a:lnTo>
                <a:lnTo>
                  <a:pt x="401" y="227"/>
                </a:lnTo>
                <a:lnTo>
                  <a:pt x="423" y="223"/>
                </a:lnTo>
                <a:lnTo>
                  <a:pt x="444" y="217"/>
                </a:lnTo>
                <a:lnTo>
                  <a:pt x="464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0"/>
                </a:lnTo>
                <a:lnTo>
                  <a:pt x="560" y="140"/>
                </a:lnTo>
                <a:lnTo>
                  <a:pt x="563" y="129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9" name="Freeform 11">
            <a:extLst>
              <a:ext uri="{FF2B5EF4-FFF2-40B4-BE49-F238E27FC236}">
                <a16:creationId xmlns:a16="http://schemas.microsoft.com/office/drawing/2014/main" id="{461FEC43-E945-1607-C42B-E5D4A673D87C}"/>
              </a:ext>
            </a:extLst>
          </p:cNvPr>
          <p:cNvSpPr>
            <a:spLocks noGrp="1"/>
          </p:cNvSpPr>
          <p:nvPr/>
        </p:nvSpPr>
        <p:spPr>
          <a:xfrm>
            <a:off x="3321050" y="5184775"/>
            <a:ext cx="1133475" cy="381000"/>
          </a:xfrm>
          <a:custGeom>
            <a:avLst/>
            <a:gdLst>
              <a:gd name="T0" fmla="*/ 2 w 714"/>
              <a:gd name="T1" fmla="*/ 129 h 240"/>
              <a:gd name="T2" fmla="*/ 12 w 714"/>
              <a:gd name="T3" fmla="*/ 150 h 240"/>
              <a:gd name="T4" fmla="*/ 34 w 714"/>
              <a:gd name="T5" fmla="*/ 170 h 240"/>
              <a:gd name="T6" fmla="*/ 64 w 714"/>
              <a:gd name="T7" fmla="*/ 188 h 240"/>
              <a:gd name="T8" fmla="*/ 104 w 714"/>
              <a:gd name="T9" fmla="*/ 204 h 240"/>
              <a:gd name="T10" fmla="*/ 152 w 714"/>
              <a:gd name="T11" fmla="*/ 217 h 240"/>
              <a:gd name="T12" fmla="*/ 206 w 714"/>
              <a:gd name="T13" fmla="*/ 227 h 240"/>
              <a:gd name="T14" fmla="*/ 265 w 714"/>
              <a:gd name="T15" fmla="*/ 235 h 240"/>
              <a:gd name="T16" fmla="*/ 326 w 714"/>
              <a:gd name="T17" fmla="*/ 239 h 240"/>
              <a:gd name="T18" fmla="*/ 388 w 714"/>
              <a:gd name="T19" fmla="*/ 239 h 240"/>
              <a:gd name="T20" fmla="*/ 450 w 714"/>
              <a:gd name="T21" fmla="*/ 235 h 240"/>
              <a:gd name="T22" fmla="*/ 508 w 714"/>
              <a:gd name="T23" fmla="*/ 227 h 240"/>
              <a:gd name="T24" fmla="*/ 561 w 714"/>
              <a:gd name="T25" fmla="*/ 217 h 240"/>
              <a:gd name="T26" fmla="*/ 609 w 714"/>
              <a:gd name="T27" fmla="*/ 204 h 240"/>
              <a:gd name="T28" fmla="*/ 648 w 714"/>
              <a:gd name="T29" fmla="*/ 188 h 240"/>
              <a:gd name="T30" fmla="*/ 680 w 714"/>
              <a:gd name="T31" fmla="*/ 169 h 240"/>
              <a:gd name="T32" fmla="*/ 701 w 714"/>
              <a:gd name="T33" fmla="*/ 150 h 240"/>
              <a:gd name="T34" fmla="*/ 711 w 714"/>
              <a:gd name="T35" fmla="*/ 129 h 240"/>
              <a:gd name="T36" fmla="*/ 711 w 714"/>
              <a:gd name="T37" fmla="*/ 108 h 240"/>
              <a:gd name="T38" fmla="*/ 701 w 714"/>
              <a:gd name="T39" fmla="*/ 88 h 240"/>
              <a:gd name="T40" fmla="*/ 680 w 714"/>
              <a:gd name="T41" fmla="*/ 68 h 240"/>
              <a:gd name="T42" fmla="*/ 648 w 714"/>
              <a:gd name="T43" fmla="*/ 50 h 240"/>
              <a:gd name="T44" fmla="*/ 609 w 714"/>
              <a:gd name="T45" fmla="*/ 35 h 240"/>
              <a:gd name="T46" fmla="*/ 561 w 714"/>
              <a:gd name="T47" fmla="*/ 21 h 240"/>
              <a:gd name="T48" fmla="*/ 508 w 714"/>
              <a:gd name="T49" fmla="*/ 11 h 240"/>
              <a:gd name="T50" fmla="*/ 448 w 714"/>
              <a:gd name="T51" fmla="*/ 4 h 240"/>
              <a:gd name="T52" fmla="*/ 388 w 714"/>
              <a:gd name="T53" fmla="*/ 0 h 240"/>
              <a:gd name="T54" fmla="*/ 326 w 714"/>
              <a:gd name="T55" fmla="*/ 0 h 240"/>
              <a:gd name="T56" fmla="*/ 264 w 714"/>
              <a:gd name="T57" fmla="*/ 4 h 240"/>
              <a:gd name="T58" fmla="*/ 206 w 714"/>
              <a:gd name="T59" fmla="*/ 11 h 240"/>
              <a:gd name="T60" fmla="*/ 152 w 714"/>
              <a:gd name="T61" fmla="*/ 21 h 240"/>
              <a:gd name="T62" fmla="*/ 104 w 714"/>
              <a:gd name="T63" fmla="*/ 35 h 240"/>
              <a:gd name="T64" fmla="*/ 64 w 714"/>
              <a:gd name="T65" fmla="*/ 51 h 240"/>
              <a:gd name="T66" fmla="*/ 34 w 714"/>
              <a:gd name="T67" fmla="*/ 68 h 240"/>
              <a:gd name="T68" fmla="*/ 12 w 714"/>
              <a:gd name="T69" fmla="*/ 88 h 240"/>
              <a:gd name="T70" fmla="*/ 2 w 714"/>
              <a:gd name="T71" fmla="*/ 109 h 240"/>
            </a:gdLst>
            <a:ahLst/>
            <a:cxnLst/>
            <a:rect l="0" t="0" r="r" b="b"/>
            <a:pathLst>
              <a:path w="714" h="240">
                <a:moveTo>
                  <a:pt x="0" y="119"/>
                </a:moveTo>
                <a:lnTo>
                  <a:pt x="2" y="129"/>
                </a:lnTo>
                <a:lnTo>
                  <a:pt x="6" y="140"/>
                </a:lnTo>
                <a:lnTo>
                  <a:pt x="12" y="150"/>
                </a:lnTo>
                <a:lnTo>
                  <a:pt x="22" y="160"/>
                </a:lnTo>
                <a:lnTo>
                  <a:pt x="34" y="170"/>
                </a:lnTo>
                <a:lnTo>
                  <a:pt x="48" y="179"/>
                </a:lnTo>
                <a:lnTo>
                  <a:pt x="64" y="188"/>
                </a:lnTo>
                <a:lnTo>
                  <a:pt x="83" y="196"/>
                </a:lnTo>
                <a:lnTo>
                  <a:pt x="104" y="204"/>
                </a:lnTo>
                <a:lnTo>
                  <a:pt x="127" y="211"/>
                </a:lnTo>
                <a:lnTo>
                  <a:pt x="152" y="217"/>
                </a:lnTo>
                <a:lnTo>
                  <a:pt x="178" y="223"/>
                </a:lnTo>
                <a:lnTo>
                  <a:pt x="206" y="227"/>
                </a:lnTo>
                <a:lnTo>
                  <a:pt x="235" y="231"/>
                </a:lnTo>
                <a:lnTo>
                  <a:pt x="265" y="235"/>
                </a:lnTo>
                <a:lnTo>
                  <a:pt x="295" y="237"/>
                </a:lnTo>
                <a:lnTo>
                  <a:pt x="326" y="239"/>
                </a:lnTo>
                <a:lnTo>
                  <a:pt x="356" y="239"/>
                </a:lnTo>
                <a:lnTo>
                  <a:pt x="388" y="239"/>
                </a:lnTo>
                <a:lnTo>
                  <a:pt x="418" y="237"/>
                </a:lnTo>
                <a:lnTo>
                  <a:pt x="450" y="235"/>
                </a:lnTo>
                <a:lnTo>
                  <a:pt x="479" y="231"/>
                </a:lnTo>
                <a:lnTo>
                  <a:pt x="508" y="227"/>
                </a:lnTo>
                <a:lnTo>
                  <a:pt x="534" y="223"/>
                </a:lnTo>
                <a:lnTo>
                  <a:pt x="561" y="217"/>
                </a:lnTo>
                <a:lnTo>
                  <a:pt x="586" y="211"/>
                </a:lnTo>
                <a:lnTo>
                  <a:pt x="609" y="204"/>
                </a:lnTo>
                <a:lnTo>
                  <a:pt x="629" y="196"/>
                </a:lnTo>
                <a:lnTo>
                  <a:pt x="648" y="188"/>
                </a:lnTo>
                <a:lnTo>
                  <a:pt x="666" y="179"/>
                </a:lnTo>
                <a:lnTo>
                  <a:pt x="680" y="169"/>
                </a:lnTo>
                <a:lnTo>
                  <a:pt x="691" y="160"/>
                </a:lnTo>
                <a:lnTo>
                  <a:pt x="701" y="150"/>
                </a:lnTo>
                <a:lnTo>
                  <a:pt x="707" y="140"/>
                </a:lnTo>
                <a:lnTo>
                  <a:pt x="711" y="129"/>
                </a:lnTo>
                <a:lnTo>
                  <a:pt x="713" y="119"/>
                </a:lnTo>
                <a:lnTo>
                  <a:pt x="711" y="108"/>
                </a:lnTo>
                <a:lnTo>
                  <a:pt x="707" y="98"/>
                </a:lnTo>
                <a:lnTo>
                  <a:pt x="701" y="88"/>
                </a:lnTo>
                <a:lnTo>
                  <a:pt x="691" y="78"/>
                </a:lnTo>
                <a:lnTo>
                  <a:pt x="680" y="68"/>
                </a:lnTo>
                <a:lnTo>
                  <a:pt x="666" y="59"/>
                </a:lnTo>
                <a:lnTo>
                  <a:pt x="648" y="50"/>
                </a:lnTo>
                <a:lnTo>
                  <a:pt x="629" y="42"/>
                </a:lnTo>
                <a:lnTo>
                  <a:pt x="609" y="35"/>
                </a:lnTo>
                <a:lnTo>
                  <a:pt x="585" y="27"/>
                </a:lnTo>
                <a:lnTo>
                  <a:pt x="561" y="21"/>
                </a:lnTo>
                <a:lnTo>
                  <a:pt x="534" y="15"/>
                </a:lnTo>
                <a:lnTo>
                  <a:pt x="508" y="11"/>
                </a:lnTo>
                <a:lnTo>
                  <a:pt x="479" y="6"/>
                </a:lnTo>
                <a:lnTo>
                  <a:pt x="448" y="4"/>
                </a:lnTo>
                <a:lnTo>
                  <a:pt x="418" y="1"/>
                </a:lnTo>
                <a:lnTo>
                  <a:pt x="388" y="0"/>
                </a:lnTo>
                <a:lnTo>
                  <a:pt x="356" y="0"/>
                </a:lnTo>
                <a:lnTo>
                  <a:pt x="326" y="0"/>
                </a:lnTo>
                <a:lnTo>
                  <a:pt x="295" y="1"/>
                </a:lnTo>
                <a:lnTo>
                  <a:pt x="264" y="4"/>
                </a:lnTo>
                <a:lnTo>
                  <a:pt x="235" y="7"/>
                </a:lnTo>
                <a:lnTo>
                  <a:pt x="206" y="11"/>
                </a:lnTo>
                <a:lnTo>
                  <a:pt x="178" y="16"/>
                </a:lnTo>
                <a:lnTo>
                  <a:pt x="152" y="21"/>
                </a:lnTo>
                <a:lnTo>
                  <a:pt x="127" y="27"/>
                </a:lnTo>
                <a:lnTo>
                  <a:pt x="104" y="35"/>
                </a:lnTo>
                <a:lnTo>
                  <a:pt x="83" y="42"/>
                </a:lnTo>
                <a:lnTo>
                  <a:pt x="64" y="51"/>
                </a:lnTo>
                <a:lnTo>
                  <a:pt x="48" y="60"/>
                </a:lnTo>
                <a:lnTo>
                  <a:pt x="34" y="68"/>
                </a:lnTo>
                <a:lnTo>
                  <a:pt x="22" y="78"/>
                </a:lnTo>
                <a:lnTo>
                  <a:pt x="12" y="88"/>
                </a:lnTo>
                <a:lnTo>
                  <a:pt x="6" y="98"/>
                </a:lnTo>
                <a:lnTo>
                  <a:pt x="2" y="109"/>
                </a:lnTo>
                <a:lnTo>
                  <a:pt x="0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F83B6609-412B-0864-52EA-6A9085B46478}"/>
              </a:ext>
            </a:extLst>
          </p:cNvPr>
          <p:cNvSpPr>
            <a:spLocks noGrp="1"/>
          </p:cNvSpPr>
          <p:nvPr/>
        </p:nvSpPr>
        <p:spPr>
          <a:xfrm>
            <a:off x="5614987" y="4903787"/>
            <a:ext cx="896938" cy="382588"/>
          </a:xfrm>
          <a:custGeom>
            <a:avLst/>
            <a:gdLst>
              <a:gd name="T0" fmla="*/ 563 w 565"/>
              <a:gd name="T1" fmla="*/ 110 h 241"/>
              <a:gd name="T2" fmla="*/ 554 w 565"/>
              <a:gd name="T3" fmla="*/ 89 h 241"/>
              <a:gd name="T4" fmla="*/ 538 w 565"/>
              <a:gd name="T5" fmla="*/ 70 h 241"/>
              <a:gd name="T6" fmla="*/ 513 w 565"/>
              <a:gd name="T7" fmla="*/ 51 h 241"/>
              <a:gd name="T8" fmla="*/ 482 w 565"/>
              <a:gd name="T9" fmla="*/ 35 h 241"/>
              <a:gd name="T10" fmla="*/ 444 w 565"/>
              <a:gd name="T11" fmla="*/ 22 h 241"/>
              <a:gd name="T12" fmla="*/ 401 w 565"/>
              <a:gd name="T13" fmla="*/ 11 h 241"/>
              <a:gd name="T14" fmla="*/ 355 w 565"/>
              <a:gd name="T15" fmla="*/ 4 h 241"/>
              <a:gd name="T16" fmla="*/ 307 w 565"/>
              <a:gd name="T17" fmla="*/ 1 h 241"/>
              <a:gd name="T18" fmla="*/ 257 w 565"/>
              <a:gd name="T19" fmla="*/ 1 h 241"/>
              <a:gd name="T20" fmla="*/ 209 w 565"/>
              <a:gd name="T21" fmla="*/ 4 h 241"/>
              <a:gd name="T22" fmla="*/ 163 w 565"/>
              <a:gd name="T23" fmla="*/ 11 h 241"/>
              <a:gd name="T24" fmla="*/ 120 w 565"/>
              <a:gd name="T25" fmla="*/ 22 h 241"/>
              <a:gd name="T26" fmla="*/ 83 w 565"/>
              <a:gd name="T27" fmla="*/ 35 h 241"/>
              <a:gd name="T28" fmla="*/ 51 w 565"/>
              <a:gd name="T29" fmla="*/ 51 h 241"/>
              <a:gd name="T30" fmla="*/ 26 w 565"/>
              <a:gd name="T31" fmla="*/ 70 h 241"/>
              <a:gd name="T32" fmla="*/ 10 w 565"/>
              <a:gd name="T33" fmla="*/ 89 h 241"/>
              <a:gd name="T34" fmla="*/ 1 w 565"/>
              <a:gd name="T35" fmla="*/ 110 h 241"/>
              <a:gd name="T36" fmla="*/ 1 w 565"/>
              <a:gd name="T37" fmla="*/ 131 h 241"/>
              <a:gd name="T38" fmla="*/ 10 w 565"/>
              <a:gd name="T39" fmla="*/ 151 h 241"/>
              <a:gd name="T40" fmla="*/ 26 w 565"/>
              <a:gd name="T41" fmla="*/ 171 h 241"/>
              <a:gd name="T42" fmla="*/ 51 w 565"/>
              <a:gd name="T43" fmla="*/ 189 h 241"/>
              <a:gd name="T44" fmla="*/ 83 w 565"/>
              <a:gd name="T45" fmla="*/ 205 h 241"/>
              <a:gd name="T46" fmla="*/ 120 w 565"/>
              <a:gd name="T47" fmla="*/ 218 h 241"/>
              <a:gd name="T48" fmla="*/ 163 w 565"/>
              <a:gd name="T49" fmla="*/ 229 h 241"/>
              <a:gd name="T50" fmla="*/ 209 w 565"/>
              <a:gd name="T51" fmla="*/ 236 h 241"/>
              <a:gd name="T52" fmla="*/ 257 w 565"/>
              <a:gd name="T53" fmla="*/ 239 h 241"/>
              <a:gd name="T54" fmla="*/ 307 w 565"/>
              <a:gd name="T55" fmla="*/ 239 h 241"/>
              <a:gd name="T56" fmla="*/ 355 w 565"/>
              <a:gd name="T57" fmla="*/ 236 h 241"/>
              <a:gd name="T58" fmla="*/ 401 w 565"/>
              <a:gd name="T59" fmla="*/ 229 h 241"/>
              <a:gd name="T60" fmla="*/ 444 w 565"/>
              <a:gd name="T61" fmla="*/ 218 h 241"/>
              <a:gd name="T62" fmla="*/ 482 w 565"/>
              <a:gd name="T63" fmla="*/ 205 h 241"/>
              <a:gd name="T64" fmla="*/ 513 w 565"/>
              <a:gd name="T65" fmla="*/ 189 h 241"/>
              <a:gd name="T66" fmla="*/ 538 w 565"/>
              <a:gd name="T67" fmla="*/ 171 h 241"/>
              <a:gd name="T68" fmla="*/ 554 w 565"/>
              <a:gd name="T69" fmla="*/ 151 h 241"/>
              <a:gd name="T70" fmla="*/ 563 w 565"/>
              <a:gd name="T71" fmla="*/ 131 h 241"/>
            </a:gdLst>
            <a:ahLst/>
            <a:cxnLst/>
            <a:rect l="0" t="0" r="r" b="b"/>
            <a:pathLst>
              <a:path w="565" h="241">
                <a:moveTo>
                  <a:pt x="564" y="120"/>
                </a:moveTo>
                <a:lnTo>
                  <a:pt x="563" y="110"/>
                </a:lnTo>
                <a:lnTo>
                  <a:pt x="560" y="99"/>
                </a:lnTo>
                <a:lnTo>
                  <a:pt x="554" y="89"/>
                </a:lnTo>
                <a:lnTo>
                  <a:pt x="547" y="79"/>
                </a:lnTo>
                <a:lnTo>
                  <a:pt x="538" y="70"/>
                </a:lnTo>
                <a:lnTo>
                  <a:pt x="526" y="60"/>
                </a:lnTo>
                <a:lnTo>
                  <a:pt x="513" y="51"/>
                </a:lnTo>
                <a:lnTo>
                  <a:pt x="498" y="43"/>
                </a:lnTo>
                <a:lnTo>
                  <a:pt x="482" y="35"/>
                </a:lnTo>
                <a:lnTo>
                  <a:pt x="463" y="29"/>
                </a:lnTo>
                <a:lnTo>
                  <a:pt x="444" y="22"/>
                </a:lnTo>
                <a:lnTo>
                  <a:pt x="423" y="16"/>
                </a:lnTo>
                <a:lnTo>
                  <a:pt x="401" y="11"/>
                </a:lnTo>
                <a:lnTo>
                  <a:pt x="378" y="8"/>
                </a:lnTo>
                <a:lnTo>
                  <a:pt x="355" y="4"/>
                </a:lnTo>
                <a:lnTo>
                  <a:pt x="331" y="2"/>
                </a:lnTo>
                <a:lnTo>
                  <a:pt x="307" y="1"/>
                </a:lnTo>
                <a:lnTo>
                  <a:pt x="282" y="0"/>
                </a:lnTo>
                <a:lnTo>
                  <a:pt x="257" y="1"/>
                </a:lnTo>
                <a:lnTo>
                  <a:pt x="233" y="2"/>
                </a:lnTo>
                <a:lnTo>
                  <a:pt x="209" y="4"/>
                </a:lnTo>
                <a:lnTo>
                  <a:pt x="186" y="8"/>
                </a:lnTo>
                <a:lnTo>
                  <a:pt x="163" y="11"/>
                </a:lnTo>
                <a:lnTo>
                  <a:pt x="141" y="16"/>
                </a:lnTo>
                <a:lnTo>
                  <a:pt x="120" y="22"/>
                </a:lnTo>
                <a:lnTo>
                  <a:pt x="101" y="29"/>
                </a:lnTo>
                <a:lnTo>
                  <a:pt x="83" y="35"/>
                </a:lnTo>
                <a:lnTo>
                  <a:pt x="66" y="43"/>
                </a:lnTo>
                <a:lnTo>
                  <a:pt x="51" y="51"/>
                </a:lnTo>
                <a:lnTo>
                  <a:pt x="38" y="60"/>
                </a:lnTo>
                <a:lnTo>
                  <a:pt x="26" y="70"/>
                </a:lnTo>
                <a:lnTo>
                  <a:pt x="17" y="79"/>
                </a:lnTo>
                <a:lnTo>
                  <a:pt x="10" y="89"/>
                </a:lnTo>
                <a:lnTo>
                  <a:pt x="4" y="99"/>
                </a:lnTo>
                <a:lnTo>
                  <a:pt x="1" y="110"/>
                </a:lnTo>
                <a:lnTo>
                  <a:pt x="0" y="120"/>
                </a:lnTo>
                <a:lnTo>
                  <a:pt x="1" y="131"/>
                </a:lnTo>
                <a:lnTo>
                  <a:pt x="4" y="141"/>
                </a:lnTo>
                <a:lnTo>
                  <a:pt x="10" y="151"/>
                </a:lnTo>
                <a:lnTo>
                  <a:pt x="17" y="161"/>
                </a:lnTo>
                <a:lnTo>
                  <a:pt x="26" y="171"/>
                </a:lnTo>
                <a:lnTo>
                  <a:pt x="38" y="180"/>
                </a:lnTo>
                <a:lnTo>
                  <a:pt x="51" y="189"/>
                </a:lnTo>
                <a:lnTo>
                  <a:pt x="66" y="197"/>
                </a:lnTo>
                <a:lnTo>
                  <a:pt x="83" y="205"/>
                </a:lnTo>
                <a:lnTo>
                  <a:pt x="101" y="212"/>
                </a:lnTo>
                <a:lnTo>
                  <a:pt x="120" y="218"/>
                </a:lnTo>
                <a:lnTo>
                  <a:pt x="141" y="224"/>
                </a:lnTo>
                <a:lnTo>
                  <a:pt x="163" y="229"/>
                </a:lnTo>
                <a:lnTo>
                  <a:pt x="186" y="233"/>
                </a:lnTo>
                <a:lnTo>
                  <a:pt x="209" y="236"/>
                </a:lnTo>
                <a:lnTo>
                  <a:pt x="233" y="238"/>
                </a:lnTo>
                <a:lnTo>
                  <a:pt x="257" y="239"/>
                </a:lnTo>
                <a:lnTo>
                  <a:pt x="282" y="240"/>
                </a:lnTo>
                <a:lnTo>
                  <a:pt x="307" y="239"/>
                </a:lnTo>
                <a:lnTo>
                  <a:pt x="331" y="238"/>
                </a:lnTo>
                <a:lnTo>
                  <a:pt x="355" y="236"/>
                </a:lnTo>
                <a:lnTo>
                  <a:pt x="378" y="233"/>
                </a:lnTo>
                <a:lnTo>
                  <a:pt x="401" y="229"/>
                </a:lnTo>
                <a:lnTo>
                  <a:pt x="423" y="224"/>
                </a:lnTo>
                <a:lnTo>
                  <a:pt x="444" y="218"/>
                </a:lnTo>
                <a:lnTo>
                  <a:pt x="463" y="212"/>
                </a:lnTo>
                <a:lnTo>
                  <a:pt x="482" y="205"/>
                </a:lnTo>
                <a:lnTo>
                  <a:pt x="498" y="197"/>
                </a:lnTo>
                <a:lnTo>
                  <a:pt x="513" y="189"/>
                </a:lnTo>
                <a:lnTo>
                  <a:pt x="526" y="180"/>
                </a:lnTo>
                <a:lnTo>
                  <a:pt x="538" y="171"/>
                </a:lnTo>
                <a:lnTo>
                  <a:pt x="547" y="161"/>
                </a:lnTo>
                <a:lnTo>
                  <a:pt x="554" y="151"/>
                </a:lnTo>
                <a:lnTo>
                  <a:pt x="560" y="141"/>
                </a:lnTo>
                <a:lnTo>
                  <a:pt x="563" y="131"/>
                </a:lnTo>
                <a:lnTo>
                  <a:pt x="564" y="12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319C084F-1CAC-B1E6-BCF5-668DA34CA242}"/>
              </a:ext>
            </a:extLst>
          </p:cNvPr>
          <p:cNvSpPr>
            <a:spLocks noGrp="1"/>
          </p:cNvSpPr>
          <p:nvPr/>
        </p:nvSpPr>
        <p:spPr>
          <a:xfrm>
            <a:off x="5353050" y="3775075"/>
            <a:ext cx="898525" cy="382587"/>
          </a:xfrm>
          <a:custGeom>
            <a:avLst/>
            <a:gdLst>
              <a:gd name="T0" fmla="*/ 563 w 566"/>
              <a:gd name="T1" fmla="*/ 109 h 241"/>
              <a:gd name="T2" fmla="*/ 555 w 566"/>
              <a:gd name="T3" fmla="*/ 89 h 241"/>
              <a:gd name="T4" fmla="*/ 538 w 566"/>
              <a:gd name="T5" fmla="*/ 69 h 241"/>
              <a:gd name="T6" fmla="*/ 513 w 566"/>
              <a:gd name="T7" fmla="*/ 51 h 241"/>
              <a:gd name="T8" fmla="*/ 482 w 566"/>
              <a:gd name="T9" fmla="*/ 35 h 241"/>
              <a:gd name="T10" fmla="*/ 444 w 566"/>
              <a:gd name="T11" fmla="*/ 22 h 241"/>
              <a:gd name="T12" fmla="*/ 401 w 566"/>
              <a:gd name="T13" fmla="*/ 12 h 241"/>
              <a:gd name="T14" fmla="*/ 355 w 566"/>
              <a:gd name="T15" fmla="*/ 4 h 241"/>
              <a:gd name="T16" fmla="*/ 307 w 566"/>
              <a:gd name="T17" fmla="*/ 1 h 241"/>
              <a:gd name="T18" fmla="*/ 258 w 566"/>
              <a:gd name="T19" fmla="*/ 1 h 241"/>
              <a:gd name="T20" fmla="*/ 209 w 566"/>
              <a:gd name="T21" fmla="*/ 4 h 241"/>
              <a:gd name="T22" fmla="*/ 163 w 566"/>
              <a:gd name="T23" fmla="*/ 12 h 241"/>
              <a:gd name="T24" fmla="*/ 120 w 566"/>
              <a:gd name="T25" fmla="*/ 22 h 241"/>
              <a:gd name="T26" fmla="*/ 83 w 566"/>
              <a:gd name="T27" fmla="*/ 35 h 241"/>
              <a:gd name="T28" fmla="*/ 51 w 566"/>
              <a:gd name="T29" fmla="*/ 51 h 241"/>
              <a:gd name="T30" fmla="*/ 27 w 566"/>
              <a:gd name="T31" fmla="*/ 69 h 241"/>
              <a:gd name="T32" fmla="*/ 10 w 566"/>
              <a:gd name="T33" fmla="*/ 89 h 241"/>
              <a:gd name="T34" fmla="*/ 2 w 566"/>
              <a:gd name="T35" fmla="*/ 109 h 241"/>
              <a:gd name="T36" fmla="*/ 2 w 566"/>
              <a:gd name="T37" fmla="*/ 130 h 241"/>
              <a:gd name="T38" fmla="*/ 10 w 566"/>
              <a:gd name="T39" fmla="*/ 151 h 241"/>
              <a:gd name="T40" fmla="*/ 27 w 566"/>
              <a:gd name="T41" fmla="*/ 170 h 241"/>
              <a:gd name="T42" fmla="*/ 51 w 566"/>
              <a:gd name="T43" fmla="*/ 188 h 241"/>
              <a:gd name="T44" fmla="*/ 83 w 566"/>
              <a:gd name="T45" fmla="*/ 205 h 241"/>
              <a:gd name="T46" fmla="*/ 120 w 566"/>
              <a:gd name="T47" fmla="*/ 218 h 241"/>
              <a:gd name="T48" fmla="*/ 163 w 566"/>
              <a:gd name="T49" fmla="*/ 228 h 241"/>
              <a:gd name="T50" fmla="*/ 209 w 566"/>
              <a:gd name="T51" fmla="*/ 236 h 241"/>
              <a:gd name="T52" fmla="*/ 258 w 566"/>
              <a:gd name="T53" fmla="*/ 239 h 241"/>
              <a:gd name="T54" fmla="*/ 307 w 566"/>
              <a:gd name="T55" fmla="*/ 239 h 241"/>
              <a:gd name="T56" fmla="*/ 355 w 566"/>
              <a:gd name="T57" fmla="*/ 236 h 241"/>
              <a:gd name="T58" fmla="*/ 401 w 566"/>
              <a:gd name="T59" fmla="*/ 228 h 241"/>
              <a:gd name="T60" fmla="*/ 444 w 566"/>
              <a:gd name="T61" fmla="*/ 218 h 241"/>
              <a:gd name="T62" fmla="*/ 482 w 566"/>
              <a:gd name="T63" fmla="*/ 205 h 241"/>
              <a:gd name="T64" fmla="*/ 513 w 566"/>
              <a:gd name="T65" fmla="*/ 188 h 241"/>
              <a:gd name="T66" fmla="*/ 538 w 566"/>
              <a:gd name="T67" fmla="*/ 170 h 241"/>
              <a:gd name="T68" fmla="*/ 555 w 566"/>
              <a:gd name="T69" fmla="*/ 151 h 241"/>
              <a:gd name="T70" fmla="*/ 563 w 566"/>
              <a:gd name="T71" fmla="*/ 130 h 241"/>
            </a:gdLst>
            <a:ahLst/>
            <a:cxnLst/>
            <a:rect l="0" t="0" r="r" b="b"/>
            <a:pathLst>
              <a:path w="566" h="241">
                <a:moveTo>
                  <a:pt x="565" y="120"/>
                </a:moveTo>
                <a:lnTo>
                  <a:pt x="563" y="109"/>
                </a:lnTo>
                <a:lnTo>
                  <a:pt x="560" y="99"/>
                </a:lnTo>
                <a:lnTo>
                  <a:pt x="555" y="89"/>
                </a:lnTo>
                <a:lnTo>
                  <a:pt x="547" y="79"/>
                </a:lnTo>
                <a:lnTo>
                  <a:pt x="538" y="69"/>
                </a:lnTo>
                <a:lnTo>
                  <a:pt x="527" y="60"/>
                </a:lnTo>
                <a:lnTo>
                  <a:pt x="513" y="51"/>
                </a:lnTo>
                <a:lnTo>
                  <a:pt x="498" y="43"/>
                </a:lnTo>
                <a:lnTo>
                  <a:pt x="482" y="35"/>
                </a:lnTo>
                <a:lnTo>
                  <a:pt x="463" y="28"/>
                </a:lnTo>
                <a:lnTo>
                  <a:pt x="444" y="22"/>
                </a:lnTo>
                <a:lnTo>
                  <a:pt x="424" y="16"/>
                </a:lnTo>
                <a:lnTo>
                  <a:pt x="401" y="12"/>
                </a:lnTo>
                <a:lnTo>
                  <a:pt x="379" y="7"/>
                </a:lnTo>
                <a:lnTo>
                  <a:pt x="355" y="4"/>
                </a:lnTo>
                <a:lnTo>
                  <a:pt x="331" y="2"/>
                </a:lnTo>
                <a:lnTo>
                  <a:pt x="307" y="1"/>
                </a:lnTo>
                <a:lnTo>
                  <a:pt x="282" y="0"/>
                </a:lnTo>
                <a:lnTo>
                  <a:pt x="258" y="1"/>
                </a:lnTo>
                <a:lnTo>
                  <a:pt x="233" y="2"/>
                </a:lnTo>
                <a:lnTo>
                  <a:pt x="209" y="4"/>
                </a:lnTo>
                <a:lnTo>
                  <a:pt x="186" y="7"/>
                </a:lnTo>
                <a:lnTo>
                  <a:pt x="163" y="12"/>
                </a:lnTo>
                <a:lnTo>
                  <a:pt x="141" y="16"/>
                </a:lnTo>
                <a:lnTo>
                  <a:pt x="120" y="22"/>
                </a:lnTo>
                <a:lnTo>
                  <a:pt x="101" y="28"/>
                </a:lnTo>
                <a:lnTo>
                  <a:pt x="83" y="35"/>
                </a:lnTo>
                <a:lnTo>
                  <a:pt x="66" y="43"/>
                </a:lnTo>
                <a:lnTo>
                  <a:pt x="51" y="51"/>
                </a:lnTo>
                <a:lnTo>
                  <a:pt x="38" y="60"/>
                </a:lnTo>
                <a:lnTo>
                  <a:pt x="27" y="69"/>
                </a:lnTo>
                <a:lnTo>
                  <a:pt x="17" y="79"/>
                </a:lnTo>
                <a:lnTo>
                  <a:pt x="10" y="89"/>
                </a:lnTo>
                <a:lnTo>
                  <a:pt x="4" y="99"/>
                </a:lnTo>
                <a:lnTo>
                  <a:pt x="2" y="109"/>
                </a:lnTo>
                <a:lnTo>
                  <a:pt x="0" y="120"/>
                </a:lnTo>
                <a:lnTo>
                  <a:pt x="2" y="130"/>
                </a:lnTo>
                <a:lnTo>
                  <a:pt x="4" y="141"/>
                </a:lnTo>
                <a:lnTo>
                  <a:pt x="10" y="151"/>
                </a:lnTo>
                <a:lnTo>
                  <a:pt x="17" y="161"/>
                </a:lnTo>
                <a:lnTo>
                  <a:pt x="27" y="170"/>
                </a:lnTo>
                <a:lnTo>
                  <a:pt x="38" y="180"/>
                </a:lnTo>
                <a:lnTo>
                  <a:pt x="51" y="188"/>
                </a:lnTo>
                <a:lnTo>
                  <a:pt x="66" y="197"/>
                </a:lnTo>
                <a:lnTo>
                  <a:pt x="83" y="205"/>
                </a:lnTo>
                <a:lnTo>
                  <a:pt x="101" y="212"/>
                </a:lnTo>
                <a:lnTo>
                  <a:pt x="120" y="218"/>
                </a:lnTo>
                <a:lnTo>
                  <a:pt x="141" y="223"/>
                </a:lnTo>
                <a:lnTo>
                  <a:pt x="163" y="228"/>
                </a:lnTo>
                <a:lnTo>
                  <a:pt x="186" y="232"/>
                </a:lnTo>
                <a:lnTo>
                  <a:pt x="209" y="236"/>
                </a:lnTo>
                <a:lnTo>
                  <a:pt x="233" y="238"/>
                </a:lnTo>
                <a:lnTo>
                  <a:pt x="258" y="239"/>
                </a:lnTo>
                <a:lnTo>
                  <a:pt x="282" y="240"/>
                </a:lnTo>
                <a:lnTo>
                  <a:pt x="307" y="239"/>
                </a:lnTo>
                <a:lnTo>
                  <a:pt x="331" y="238"/>
                </a:lnTo>
                <a:lnTo>
                  <a:pt x="355" y="236"/>
                </a:lnTo>
                <a:lnTo>
                  <a:pt x="379" y="232"/>
                </a:lnTo>
                <a:lnTo>
                  <a:pt x="401" y="228"/>
                </a:lnTo>
                <a:lnTo>
                  <a:pt x="424" y="223"/>
                </a:lnTo>
                <a:lnTo>
                  <a:pt x="444" y="218"/>
                </a:lnTo>
                <a:lnTo>
                  <a:pt x="463" y="212"/>
                </a:lnTo>
                <a:lnTo>
                  <a:pt x="482" y="205"/>
                </a:lnTo>
                <a:lnTo>
                  <a:pt x="498" y="197"/>
                </a:lnTo>
                <a:lnTo>
                  <a:pt x="513" y="188"/>
                </a:lnTo>
                <a:lnTo>
                  <a:pt x="527" y="180"/>
                </a:lnTo>
                <a:lnTo>
                  <a:pt x="538" y="170"/>
                </a:lnTo>
                <a:lnTo>
                  <a:pt x="547" y="161"/>
                </a:lnTo>
                <a:lnTo>
                  <a:pt x="555" y="151"/>
                </a:lnTo>
                <a:lnTo>
                  <a:pt x="560" y="141"/>
                </a:lnTo>
                <a:lnTo>
                  <a:pt x="563" y="130"/>
                </a:lnTo>
                <a:lnTo>
                  <a:pt x="565" y="12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2" name="Freeform 14">
            <a:extLst>
              <a:ext uri="{FF2B5EF4-FFF2-40B4-BE49-F238E27FC236}">
                <a16:creationId xmlns:a16="http://schemas.microsoft.com/office/drawing/2014/main" id="{1A79E8D0-9CB0-4DE3-634D-21F465687841}"/>
              </a:ext>
            </a:extLst>
          </p:cNvPr>
          <p:cNvSpPr>
            <a:spLocks noGrp="1"/>
          </p:cNvSpPr>
          <p:nvPr/>
        </p:nvSpPr>
        <p:spPr>
          <a:xfrm>
            <a:off x="5614987" y="5799137"/>
            <a:ext cx="1355725" cy="387350"/>
          </a:xfrm>
          <a:custGeom>
            <a:avLst/>
            <a:gdLst>
              <a:gd name="T0" fmla="*/ 853 w 854"/>
              <a:gd name="T1" fmla="*/ 243 h 244"/>
              <a:gd name="T2" fmla="*/ 853 w 854"/>
              <a:gd name="T3" fmla="*/ 0 h 244"/>
              <a:gd name="T4" fmla="*/ 0 w 854"/>
              <a:gd name="T5" fmla="*/ 0 h 244"/>
              <a:gd name="T6" fmla="*/ 0 w 854"/>
              <a:gd name="T7" fmla="*/ 243 h 244"/>
              <a:gd name="T8" fmla="*/ 853 w 854"/>
              <a:gd name="T9" fmla="*/ 243 h 244"/>
            </a:gdLst>
            <a:ahLst/>
            <a:cxnLst/>
            <a:rect l="0" t="0" r="r" b="b"/>
            <a:pathLst>
              <a:path w="854" h="244">
                <a:moveTo>
                  <a:pt x="853" y="243"/>
                </a:moveTo>
                <a:lnTo>
                  <a:pt x="853" y="0"/>
                </a:lnTo>
                <a:lnTo>
                  <a:pt x="0" y="0"/>
                </a:lnTo>
                <a:lnTo>
                  <a:pt x="0" y="243"/>
                </a:lnTo>
                <a:lnTo>
                  <a:pt x="853" y="243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3" name="Freeform 15">
            <a:extLst>
              <a:ext uri="{FF2B5EF4-FFF2-40B4-BE49-F238E27FC236}">
                <a16:creationId xmlns:a16="http://schemas.microsoft.com/office/drawing/2014/main" id="{599339ED-7EAF-F90E-F4BF-4F1DC9E02325}"/>
              </a:ext>
            </a:extLst>
          </p:cNvPr>
          <p:cNvSpPr>
            <a:spLocks noGrp="1"/>
          </p:cNvSpPr>
          <p:nvPr/>
        </p:nvSpPr>
        <p:spPr>
          <a:xfrm>
            <a:off x="2481262" y="5799137"/>
            <a:ext cx="896938" cy="392113"/>
          </a:xfrm>
          <a:custGeom>
            <a:avLst/>
            <a:gdLst>
              <a:gd name="T0" fmla="*/ 564 w 565"/>
              <a:gd name="T1" fmla="*/ 246 h 247"/>
              <a:gd name="T2" fmla="*/ 564 w 565"/>
              <a:gd name="T3" fmla="*/ 0 h 247"/>
              <a:gd name="T4" fmla="*/ 0 w 565"/>
              <a:gd name="T5" fmla="*/ 0 h 247"/>
              <a:gd name="T6" fmla="*/ 0 w 565"/>
              <a:gd name="T7" fmla="*/ 246 h 247"/>
              <a:gd name="T8" fmla="*/ 564 w 565"/>
              <a:gd name="T9" fmla="*/ 246 h 247"/>
            </a:gdLst>
            <a:ahLst/>
            <a:cxnLst/>
            <a:rect l="0" t="0" r="r" b="b"/>
            <a:pathLst>
              <a:path w="565" h="247">
                <a:moveTo>
                  <a:pt x="564" y="246"/>
                </a:moveTo>
                <a:lnTo>
                  <a:pt x="564" y="0"/>
                </a:lnTo>
                <a:lnTo>
                  <a:pt x="0" y="0"/>
                </a:lnTo>
                <a:lnTo>
                  <a:pt x="0" y="246"/>
                </a:lnTo>
                <a:lnTo>
                  <a:pt x="564" y="246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4" name="Freeform 16">
            <a:extLst>
              <a:ext uri="{FF2B5EF4-FFF2-40B4-BE49-F238E27FC236}">
                <a16:creationId xmlns:a16="http://schemas.microsoft.com/office/drawing/2014/main" id="{27F35126-2A54-050F-FCA8-E36614AA21EA}"/>
              </a:ext>
            </a:extLst>
          </p:cNvPr>
          <p:cNvSpPr>
            <a:spLocks noGrp="1"/>
          </p:cNvSpPr>
          <p:nvPr/>
        </p:nvSpPr>
        <p:spPr>
          <a:xfrm>
            <a:off x="3876675" y="3641725"/>
            <a:ext cx="1276350" cy="627062"/>
          </a:xfrm>
          <a:custGeom>
            <a:avLst/>
            <a:gdLst>
              <a:gd name="T0" fmla="*/ 0 w 804"/>
              <a:gd name="T1" fmla="*/ 197 h 395"/>
              <a:gd name="T2" fmla="*/ 396 w 804"/>
              <a:gd name="T3" fmla="*/ 0 h 395"/>
              <a:gd name="T4" fmla="*/ 803 w 804"/>
              <a:gd name="T5" fmla="*/ 204 h 395"/>
              <a:gd name="T6" fmla="*/ 396 w 804"/>
              <a:gd name="T7" fmla="*/ 394 h 395"/>
              <a:gd name="T8" fmla="*/ 0 w 804"/>
              <a:gd name="T9" fmla="*/ 197 h 395"/>
            </a:gdLst>
            <a:ahLst/>
            <a:cxnLst/>
            <a:rect l="0" t="0" r="r" b="b"/>
            <a:pathLst>
              <a:path w="804" h="395">
                <a:moveTo>
                  <a:pt x="0" y="197"/>
                </a:moveTo>
                <a:lnTo>
                  <a:pt x="396" y="0"/>
                </a:lnTo>
                <a:lnTo>
                  <a:pt x="803" y="204"/>
                </a:lnTo>
                <a:lnTo>
                  <a:pt x="396" y="394"/>
                </a:lnTo>
                <a:lnTo>
                  <a:pt x="0" y="19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3954D4BC-0E62-F793-78FA-C050EA7B8F23}"/>
              </a:ext>
            </a:extLst>
          </p:cNvPr>
          <p:cNvSpPr>
            <a:spLocks noGrp="1"/>
          </p:cNvSpPr>
          <p:nvPr/>
        </p:nvSpPr>
        <p:spPr>
          <a:xfrm>
            <a:off x="4005262" y="5621337"/>
            <a:ext cx="1371600" cy="658813"/>
          </a:xfrm>
          <a:custGeom>
            <a:avLst/>
            <a:gdLst>
              <a:gd name="T0" fmla="*/ 0 w 864"/>
              <a:gd name="T1" fmla="*/ 208 h 415"/>
              <a:gd name="T2" fmla="*/ 426 w 864"/>
              <a:gd name="T3" fmla="*/ 0 h 415"/>
              <a:gd name="T4" fmla="*/ 863 w 864"/>
              <a:gd name="T5" fmla="*/ 214 h 415"/>
              <a:gd name="T6" fmla="*/ 426 w 864"/>
              <a:gd name="T7" fmla="*/ 414 h 415"/>
              <a:gd name="T8" fmla="*/ 0 w 864"/>
              <a:gd name="T9" fmla="*/ 208 h 415"/>
            </a:gdLst>
            <a:ahLst/>
            <a:cxnLst/>
            <a:rect l="0" t="0" r="r" b="b"/>
            <a:pathLst>
              <a:path w="864" h="415">
                <a:moveTo>
                  <a:pt x="0" y="208"/>
                </a:moveTo>
                <a:lnTo>
                  <a:pt x="426" y="0"/>
                </a:lnTo>
                <a:lnTo>
                  <a:pt x="863" y="214"/>
                </a:lnTo>
                <a:lnTo>
                  <a:pt x="426" y="414"/>
                </a:lnTo>
                <a:lnTo>
                  <a:pt x="0" y="208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B4E4C94D-144C-5941-7BD3-B531A1C41035}"/>
              </a:ext>
            </a:extLst>
          </p:cNvPr>
          <p:cNvSpPr>
            <a:spLocks noGrp="1"/>
          </p:cNvSpPr>
          <p:nvPr/>
        </p:nvSpPr>
        <p:spPr>
          <a:xfrm>
            <a:off x="6473825" y="5211762"/>
            <a:ext cx="858837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3C4737ED-2BC0-A4BB-7FD8-99E9A6BA890F}"/>
              </a:ext>
            </a:extLst>
          </p:cNvPr>
          <p:cNvSpPr>
            <a:spLocks noGrp="1"/>
          </p:cNvSpPr>
          <p:nvPr/>
        </p:nvSpPr>
        <p:spPr>
          <a:xfrm>
            <a:off x="4957762" y="5194300"/>
            <a:ext cx="4857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did</a:t>
            </a: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38627854-3C27-6A1C-6B86-84050CB2162C}"/>
              </a:ext>
            </a:extLst>
          </p:cNvPr>
          <p:cNvSpPr>
            <a:spLocks noGrp="1"/>
          </p:cNvSpPr>
          <p:nvPr/>
        </p:nvSpPr>
        <p:spPr>
          <a:xfrm>
            <a:off x="1924050" y="5173662"/>
            <a:ext cx="48577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pid</a:t>
            </a:r>
          </a:p>
        </p:txBody>
      </p:sp>
      <p:sp>
        <p:nvSpPr>
          <p:cNvPr id="19" name="Rectangle 21">
            <a:extLst>
              <a:ext uri="{FF2B5EF4-FFF2-40B4-BE49-F238E27FC236}">
                <a16:creationId xmlns:a16="http://schemas.microsoft.com/office/drawing/2014/main" id="{C72CB452-3CE3-F7D9-2FF5-5992772D4A1F}"/>
              </a:ext>
            </a:extLst>
          </p:cNvPr>
          <p:cNvSpPr>
            <a:spLocks noGrp="1"/>
          </p:cNvSpPr>
          <p:nvPr/>
        </p:nvSpPr>
        <p:spPr>
          <a:xfrm>
            <a:off x="2462212" y="4810125"/>
            <a:ext cx="12192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started_on</a:t>
            </a:r>
          </a:p>
        </p:txBody>
      </p:sp>
      <p:sp>
        <p:nvSpPr>
          <p:cNvPr id="20" name="Rectangle 22">
            <a:extLst>
              <a:ext uri="{FF2B5EF4-FFF2-40B4-BE49-F238E27FC236}">
                <a16:creationId xmlns:a16="http://schemas.microsoft.com/office/drawing/2014/main" id="{C51BD1AA-6CF0-4322-B90F-01CC444ED0DD}"/>
              </a:ext>
            </a:extLst>
          </p:cNvPr>
          <p:cNvSpPr>
            <a:spLocks noGrp="1"/>
          </p:cNvSpPr>
          <p:nvPr/>
        </p:nvSpPr>
        <p:spPr>
          <a:xfrm>
            <a:off x="3448050" y="5183187"/>
            <a:ext cx="982662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pbudget</a:t>
            </a:r>
          </a:p>
        </p:txBody>
      </p:sp>
      <p:sp>
        <p:nvSpPr>
          <p:cNvPr id="21" name="Rectangle 23">
            <a:extLst>
              <a:ext uri="{FF2B5EF4-FFF2-40B4-BE49-F238E27FC236}">
                <a16:creationId xmlns:a16="http://schemas.microsoft.com/office/drawing/2014/main" id="{C521F06D-B84C-2F97-C6E9-A5B6C720A86A}"/>
              </a:ext>
            </a:extLst>
          </p:cNvPr>
          <p:cNvSpPr>
            <a:spLocks noGrp="1"/>
          </p:cNvSpPr>
          <p:nvPr/>
        </p:nvSpPr>
        <p:spPr>
          <a:xfrm>
            <a:off x="5649912" y="4929187"/>
            <a:ext cx="836613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CFF914F4-0134-FD74-9505-DE2F4AF5135B}"/>
              </a:ext>
            </a:extLst>
          </p:cNvPr>
          <p:cNvSpPr>
            <a:spLocks noGrp="1"/>
          </p:cNvSpPr>
          <p:nvPr/>
        </p:nvSpPr>
        <p:spPr>
          <a:xfrm>
            <a:off x="5484812" y="3795712"/>
            <a:ext cx="6096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until</a:t>
            </a: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19A8D89C-60D5-BB24-6E5A-81A61F05AFDB}"/>
              </a:ext>
            </a:extLst>
          </p:cNvPr>
          <p:cNvSpPr>
            <a:spLocks noGrp="1"/>
          </p:cNvSpPr>
          <p:nvPr/>
        </p:nvSpPr>
        <p:spPr>
          <a:xfrm>
            <a:off x="5529262" y="5811837"/>
            <a:ext cx="14224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24" name="Rectangle 26">
            <a:extLst>
              <a:ext uri="{FF2B5EF4-FFF2-40B4-BE49-F238E27FC236}">
                <a16:creationId xmlns:a16="http://schemas.microsoft.com/office/drawing/2014/main" id="{052E83A8-4E81-17A4-3E79-D84E40BA849C}"/>
              </a:ext>
            </a:extLst>
          </p:cNvPr>
          <p:cNvSpPr>
            <a:spLocks noGrp="1"/>
          </p:cNvSpPr>
          <p:nvPr/>
        </p:nvSpPr>
        <p:spPr>
          <a:xfrm>
            <a:off x="2428875" y="5829300"/>
            <a:ext cx="982662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25" name="Rectangle 27">
            <a:extLst>
              <a:ext uri="{FF2B5EF4-FFF2-40B4-BE49-F238E27FC236}">
                <a16:creationId xmlns:a16="http://schemas.microsoft.com/office/drawing/2014/main" id="{F08F2CC4-989A-B0F0-7689-FF73D9AC9188}"/>
              </a:ext>
            </a:extLst>
          </p:cNvPr>
          <p:cNvSpPr>
            <a:spLocks noGrp="1"/>
          </p:cNvSpPr>
          <p:nvPr/>
        </p:nvSpPr>
        <p:spPr>
          <a:xfrm>
            <a:off x="4100512" y="5788025"/>
            <a:ext cx="11176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Sponsors</a:t>
            </a:r>
          </a:p>
        </p:txBody>
      </p:sp>
      <p:sp>
        <p:nvSpPr>
          <p:cNvPr id="27" name="Freeform 28">
            <a:extLst>
              <a:ext uri="{FF2B5EF4-FFF2-40B4-BE49-F238E27FC236}">
                <a16:creationId xmlns:a16="http://schemas.microsoft.com/office/drawing/2014/main" id="{BE453FEC-8B24-E101-E9A6-62B8FBF783A5}"/>
              </a:ext>
            </a:extLst>
          </p:cNvPr>
          <p:cNvSpPr>
            <a:spLocks noGrp="1"/>
          </p:cNvSpPr>
          <p:nvPr/>
        </p:nvSpPr>
        <p:spPr>
          <a:xfrm>
            <a:off x="3895725" y="2881313"/>
            <a:ext cx="1333500" cy="392112"/>
          </a:xfrm>
          <a:custGeom>
            <a:avLst/>
            <a:gdLst>
              <a:gd name="T0" fmla="*/ 839 w 840"/>
              <a:gd name="T1" fmla="*/ 246 h 247"/>
              <a:gd name="T2" fmla="*/ 839 w 840"/>
              <a:gd name="T3" fmla="*/ 0 h 247"/>
              <a:gd name="T4" fmla="*/ 0 w 840"/>
              <a:gd name="T5" fmla="*/ 0 h 247"/>
              <a:gd name="T6" fmla="*/ 0 w 840"/>
              <a:gd name="T7" fmla="*/ 246 h 247"/>
              <a:gd name="T8" fmla="*/ 839 w 840"/>
              <a:gd name="T9" fmla="*/ 246 h 247"/>
            </a:gdLst>
            <a:ahLst/>
            <a:cxnLst/>
            <a:rect l="0" t="0" r="r" b="b"/>
            <a:pathLst>
              <a:path w="840" h="247">
                <a:moveTo>
                  <a:pt x="839" y="246"/>
                </a:moveTo>
                <a:lnTo>
                  <a:pt x="839" y="0"/>
                </a:lnTo>
                <a:lnTo>
                  <a:pt x="0" y="0"/>
                </a:lnTo>
                <a:lnTo>
                  <a:pt x="0" y="246"/>
                </a:lnTo>
                <a:lnTo>
                  <a:pt x="839" y="246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8" name="Rectangle 29">
            <a:extLst>
              <a:ext uri="{FF2B5EF4-FFF2-40B4-BE49-F238E27FC236}">
                <a16:creationId xmlns:a16="http://schemas.microsoft.com/office/drawing/2014/main" id="{97EDD380-F97F-AA6E-A67A-BACC9187A4A3}"/>
              </a:ext>
            </a:extLst>
          </p:cNvPr>
          <p:cNvSpPr>
            <a:spLocks noGrp="1"/>
          </p:cNvSpPr>
          <p:nvPr/>
        </p:nvSpPr>
        <p:spPr>
          <a:xfrm>
            <a:off x="3952875" y="2870200"/>
            <a:ext cx="12541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41F30342-50C6-3E64-A4B3-EF2C89A52A38}"/>
              </a:ext>
            </a:extLst>
          </p:cNvPr>
          <p:cNvSpPr>
            <a:spLocks noGrp="1"/>
          </p:cNvSpPr>
          <p:nvPr/>
        </p:nvSpPr>
        <p:spPr>
          <a:xfrm>
            <a:off x="3989387" y="3762375"/>
            <a:ext cx="1038225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Monitors</a:t>
            </a:r>
          </a:p>
        </p:txBody>
      </p:sp>
      <p:sp>
        <p:nvSpPr>
          <p:cNvPr id="30" name="Rectangle 32">
            <a:extLst>
              <a:ext uri="{FF2B5EF4-FFF2-40B4-BE49-F238E27FC236}">
                <a16:creationId xmlns:a16="http://schemas.microsoft.com/office/drawing/2014/main" id="{B2D9FA40-EE8A-F2E0-DEC5-D2FC2C6541F0}"/>
              </a:ext>
            </a:extLst>
          </p:cNvPr>
          <p:cNvSpPr>
            <a:spLocks noGrp="1"/>
          </p:cNvSpPr>
          <p:nvPr/>
        </p:nvSpPr>
        <p:spPr>
          <a:xfrm>
            <a:off x="1609725" y="4659312"/>
            <a:ext cx="5781675" cy="1741488"/>
          </a:xfrm>
          <a:prstGeom prst="rect">
            <a:avLst/>
          </a:prstGeom>
          <a:noFill/>
          <a:ln w="25400">
            <a:solidFill>
              <a:schemeClr val="tx2"/>
            </a:solidFill>
            <a:prstDash val="sysDot"/>
          </a:ln>
        </p:spPr>
        <p:txBody>
          <a:bodyPr wrap="none" anchor="ctr"/>
          <a:lstStyle/>
          <a:p>
            <a:endParaRPr/>
          </a:p>
        </p:txBody>
      </p:sp>
      <p:sp>
        <p:nvSpPr>
          <p:cNvPr id="31" name="Line 33">
            <a:extLst>
              <a:ext uri="{FF2B5EF4-FFF2-40B4-BE49-F238E27FC236}">
                <a16:creationId xmlns:a16="http://schemas.microsoft.com/office/drawing/2014/main" id="{16EB3105-4655-8E23-98D2-C7B177CFE09A}"/>
              </a:ext>
            </a:extLst>
          </p:cNvPr>
          <p:cNvSpPr>
            <a:spLocks noGrp="1"/>
          </p:cNvSpPr>
          <p:nvPr/>
        </p:nvSpPr>
        <p:spPr>
          <a:xfrm>
            <a:off x="2122487" y="5581650"/>
            <a:ext cx="611188" cy="2159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2" name="Line 34">
            <a:extLst>
              <a:ext uri="{FF2B5EF4-FFF2-40B4-BE49-F238E27FC236}">
                <a16:creationId xmlns:a16="http://schemas.microsoft.com/office/drawing/2014/main" id="{79D28218-2010-FD10-C324-E04F62ACE60B}"/>
              </a:ext>
            </a:extLst>
          </p:cNvPr>
          <p:cNvSpPr>
            <a:spLocks noGrp="1"/>
          </p:cNvSpPr>
          <p:nvPr/>
        </p:nvSpPr>
        <p:spPr>
          <a:xfrm>
            <a:off x="3011487" y="5181600"/>
            <a:ext cx="9525" cy="593725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3" name="Line 35">
            <a:extLst>
              <a:ext uri="{FF2B5EF4-FFF2-40B4-BE49-F238E27FC236}">
                <a16:creationId xmlns:a16="http://schemas.microsoft.com/office/drawing/2014/main" id="{C357EBA9-7CEE-70BF-9ABC-68A5EF0B384C}"/>
              </a:ext>
            </a:extLst>
          </p:cNvPr>
          <p:cNvSpPr>
            <a:spLocks noGrp="1"/>
          </p:cNvSpPr>
          <p:nvPr/>
        </p:nvSpPr>
        <p:spPr>
          <a:xfrm flipH="1">
            <a:off x="3236912" y="5581650"/>
            <a:ext cx="606425" cy="2159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4" name="Line 36">
            <a:extLst>
              <a:ext uri="{FF2B5EF4-FFF2-40B4-BE49-F238E27FC236}">
                <a16:creationId xmlns:a16="http://schemas.microsoft.com/office/drawing/2014/main" id="{A68ECFC8-349A-ABBC-B0A9-BBCE06C95A6B}"/>
              </a:ext>
            </a:extLst>
          </p:cNvPr>
          <p:cNvSpPr>
            <a:spLocks noGrp="1"/>
          </p:cNvSpPr>
          <p:nvPr/>
        </p:nvSpPr>
        <p:spPr>
          <a:xfrm>
            <a:off x="5260975" y="5567362"/>
            <a:ext cx="490537" cy="230188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5" name="Line 37">
            <a:extLst>
              <a:ext uri="{FF2B5EF4-FFF2-40B4-BE49-F238E27FC236}">
                <a16:creationId xmlns:a16="http://schemas.microsoft.com/office/drawing/2014/main" id="{9F5F2EF1-7507-7304-1680-54388575998F}"/>
              </a:ext>
            </a:extLst>
          </p:cNvPr>
          <p:cNvSpPr>
            <a:spLocks noGrp="1"/>
          </p:cNvSpPr>
          <p:nvPr/>
        </p:nvSpPr>
        <p:spPr>
          <a:xfrm>
            <a:off x="6046787" y="5292725"/>
            <a:ext cx="0" cy="5207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6" name="Line 38">
            <a:extLst>
              <a:ext uri="{FF2B5EF4-FFF2-40B4-BE49-F238E27FC236}">
                <a16:creationId xmlns:a16="http://schemas.microsoft.com/office/drawing/2014/main" id="{A0512156-00DF-109B-D9E2-382C640F0AE8}"/>
              </a:ext>
            </a:extLst>
          </p:cNvPr>
          <p:cNvSpPr>
            <a:spLocks noGrp="1"/>
          </p:cNvSpPr>
          <p:nvPr/>
        </p:nvSpPr>
        <p:spPr>
          <a:xfrm flipH="1">
            <a:off x="6437312" y="5581650"/>
            <a:ext cx="347663" cy="231775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7" name="Line 39">
            <a:extLst>
              <a:ext uri="{FF2B5EF4-FFF2-40B4-BE49-F238E27FC236}">
                <a16:creationId xmlns:a16="http://schemas.microsoft.com/office/drawing/2014/main" id="{6D4EF922-39EA-8C35-712C-EA33C446B207}"/>
              </a:ext>
            </a:extLst>
          </p:cNvPr>
          <p:cNvSpPr>
            <a:spLocks noGrp="1"/>
          </p:cNvSpPr>
          <p:nvPr/>
        </p:nvSpPr>
        <p:spPr>
          <a:xfrm>
            <a:off x="4506912" y="4286250"/>
            <a:ext cx="0" cy="354012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8" name="Line 40">
            <a:extLst>
              <a:ext uri="{FF2B5EF4-FFF2-40B4-BE49-F238E27FC236}">
                <a16:creationId xmlns:a16="http://schemas.microsoft.com/office/drawing/2014/main" id="{C8BA3FE2-233D-5368-8EA2-208E72DFC34D}"/>
              </a:ext>
            </a:extLst>
          </p:cNvPr>
          <p:cNvSpPr>
            <a:spLocks noGrp="1"/>
          </p:cNvSpPr>
          <p:nvPr/>
        </p:nvSpPr>
        <p:spPr>
          <a:xfrm>
            <a:off x="5154612" y="3960812"/>
            <a:ext cx="200025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39" name="Line 41">
            <a:extLst>
              <a:ext uri="{FF2B5EF4-FFF2-40B4-BE49-F238E27FC236}">
                <a16:creationId xmlns:a16="http://schemas.microsoft.com/office/drawing/2014/main" id="{D81707DF-BCD7-7AE4-73E3-04082AACB4C0}"/>
              </a:ext>
            </a:extLst>
          </p:cNvPr>
          <p:cNvSpPr>
            <a:spLocks noGrp="1"/>
          </p:cNvSpPr>
          <p:nvPr/>
        </p:nvSpPr>
        <p:spPr>
          <a:xfrm flipV="1">
            <a:off x="4505325" y="3268662"/>
            <a:ext cx="0" cy="36195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0" name="Freeform 42">
            <a:extLst>
              <a:ext uri="{FF2B5EF4-FFF2-40B4-BE49-F238E27FC236}">
                <a16:creationId xmlns:a16="http://schemas.microsoft.com/office/drawing/2014/main" id="{341070EF-31F6-85EE-2B67-4F3C8CC21B8F}"/>
              </a:ext>
            </a:extLst>
          </p:cNvPr>
          <p:cNvSpPr>
            <a:spLocks noGrp="1"/>
          </p:cNvSpPr>
          <p:nvPr/>
        </p:nvSpPr>
        <p:spPr>
          <a:xfrm>
            <a:off x="4887912" y="2266950"/>
            <a:ext cx="896938" cy="381000"/>
          </a:xfrm>
          <a:custGeom>
            <a:avLst/>
            <a:gdLst>
              <a:gd name="T0" fmla="*/ 1 w 565"/>
              <a:gd name="T1" fmla="*/ 130 h 240"/>
              <a:gd name="T2" fmla="*/ 9 w 565"/>
              <a:gd name="T3" fmla="*/ 151 h 240"/>
              <a:gd name="T4" fmla="*/ 27 w 565"/>
              <a:gd name="T5" fmla="*/ 170 h 240"/>
              <a:gd name="T6" fmla="*/ 51 w 565"/>
              <a:gd name="T7" fmla="*/ 188 h 240"/>
              <a:gd name="T8" fmla="*/ 83 w 565"/>
              <a:gd name="T9" fmla="*/ 204 h 240"/>
              <a:gd name="T10" fmla="*/ 120 w 565"/>
              <a:gd name="T11" fmla="*/ 218 h 240"/>
              <a:gd name="T12" fmla="*/ 163 w 565"/>
              <a:gd name="T13" fmla="*/ 228 h 240"/>
              <a:gd name="T14" fmla="*/ 209 w 565"/>
              <a:gd name="T15" fmla="*/ 235 h 240"/>
              <a:gd name="T16" fmla="*/ 257 w 565"/>
              <a:gd name="T17" fmla="*/ 239 h 240"/>
              <a:gd name="T18" fmla="*/ 306 w 565"/>
              <a:gd name="T19" fmla="*/ 239 h 240"/>
              <a:gd name="T20" fmla="*/ 355 w 565"/>
              <a:gd name="T21" fmla="*/ 235 h 240"/>
              <a:gd name="T22" fmla="*/ 401 w 565"/>
              <a:gd name="T23" fmla="*/ 228 h 240"/>
              <a:gd name="T24" fmla="*/ 443 w 565"/>
              <a:gd name="T25" fmla="*/ 217 h 240"/>
              <a:gd name="T26" fmla="*/ 481 w 565"/>
              <a:gd name="T27" fmla="*/ 204 h 240"/>
              <a:gd name="T28" fmla="*/ 513 w 565"/>
              <a:gd name="T29" fmla="*/ 188 h 240"/>
              <a:gd name="T30" fmla="*/ 537 w 565"/>
              <a:gd name="T31" fmla="*/ 170 h 240"/>
              <a:gd name="T32" fmla="*/ 554 w 565"/>
              <a:gd name="T33" fmla="*/ 150 h 240"/>
              <a:gd name="T34" fmla="*/ 563 w 565"/>
              <a:gd name="T35" fmla="*/ 129 h 240"/>
              <a:gd name="T36" fmla="*/ 563 w 565"/>
              <a:gd name="T37" fmla="*/ 109 h 240"/>
              <a:gd name="T38" fmla="*/ 554 w 565"/>
              <a:gd name="T39" fmla="*/ 88 h 240"/>
              <a:gd name="T40" fmla="*/ 537 w 565"/>
              <a:gd name="T41" fmla="*/ 68 h 240"/>
              <a:gd name="T42" fmla="*/ 513 w 565"/>
              <a:gd name="T43" fmla="*/ 51 h 240"/>
              <a:gd name="T44" fmla="*/ 481 w 565"/>
              <a:gd name="T45" fmla="*/ 35 h 240"/>
              <a:gd name="T46" fmla="*/ 443 w 565"/>
              <a:gd name="T47" fmla="*/ 21 h 240"/>
              <a:gd name="T48" fmla="*/ 401 w 565"/>
              <a:gd name="T49" fmla="*/ 11 h 240"/>
              <a:gd name="T50" fmla="*/ 355 w 565"/>
              <a:gd name="T51" fmla="*/ 4 h 240"/>
              <a:gd name="T52" fmla="*/ 306 w 565"/>
              <a:gd name="T53" fmla="*/ 0 h 240"/>
              <a:gd name="T54" fmla="*/ 257 w 565"/>
              <a:gd name="T55" fmla="*/ 0 h 240"/>
              <a:gd name="T56" fmla="*/ 209 w 565"/>
              <a:gd name="T57" fmla="*/ 4 h 240"/>
              <a:gd name="T58" fmla="*/ 163 w 565"/>
              <a:gd name="T59" fmla="*/ 11 h 240"/>
              <a:gd name="T60" fmla="*/ 120 w 565"/>
              <a:gd name="T61" fmla="*/ 21 h 240"/>
              <a:gd name="T62" fmla="*/ 83 w 565"/>
              <a:gd name="T63" fmla="*/ 35 h 240"/>
              <a:gd name="T64" fmla="*/ 51 w 565"/>
              <a:gd name="T65" fmla="*/ 51 h 240"/>
              <a:gd name="T66" fmla="*/ 27 w 565"/>
              <a:gd name="T67" fmla="*/ 69 h 240"/>
              <a:gd name="T68" fmla="*/ 9 w 565"/>
              <a:gd name="T69" fmla="*/ 88 h 240"/>
              <a:gd name="T70" fmla="*/ 1 w 565"/>
              <a:gd name="T71" fmla="*/ 109 h 240"/>
            </a:gdLst>
            <a:ahLst/>
            <a:cxnLst/>
            <a:rect l="0" t="0" r="r" b="b"/>
            <a:pathLst>
              <a:path w="565" h="240">
                <a:moveTo>
                  <a:pt x="0" y="119"/>
                </a:moveTo>
                <a:lnTo>
                  <a:pt x="1" y="130"/>
                </a:lnTo>
                <a:lnTo>
                  <a:pt x="4" y="140"/>
                </a:lnTo>
                <a:lnTo>
                  <a:pt x="9" y="151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7"/>
                </a:lnTo>
                <a:lnTo>
                  <a:pt x="83" y="204"/>
                </a:lnTo>
                <a:lnTo>
                  <a:pt x="101" y="211"/>
                </a:lnTo>
                <a:lnTo>
                  <a:pt x="120" y="218"/>
                </a:lnTo>
                <a:lnTo>
                  <a:pt x="141" y="223"/>
                </a:lnTo>
                <a:lnTo>
                  <a:pt x="163" y="228"/>
                </a:lnTo>
                <a:lnTo>
                  <a:pt x="185" y="232"/>
                </a:lnTo>
                <a:lnTo>
                  <a:pt x="209" y="235"/>
                </a:lnTo>
                <a:lnTo>
                  <a:pt x="233" y="237"/>
                </a:lnTo>
                <a:lnTo>
                  <a:pt x="257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8" y="231"/>
                </a:lnTo>
                <a:lnTo>
                  <a:pt x="401" y="228"/>
                </a:lnTo>
                <a:lnTo>
                  <a:pt x="423" y="223"/>
                </a:lnTo>
                <a:lnTo>
                  <a:pt x="443" y="217"/>
                </a:lnTo>
                <a:lnTo>
                  <a:pt x="463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7" y="170"/>
                </a:lnTo>
                <a:lnTo>
                  <a:pt x="547" y="160"/>
                </a:lnTo>
                <a:lnTo>
                  <a:pt x="554" y="150"/>
                </a:lnTo>
                <a:lnTo>
                  <a:pt x="559" y="140"/>
                </a:lnTo>
                <a:lnTo>
                  <a:pt x="563" y="129"/>
                </a:lnTo>
                <a:lnTo>
                  <a:pt x="564" y="119"/>
                </a:lnTo>
                <a:lnTo>
                  <a:pt x="563" y="109"/>
                </a:lnTo>
                <a:lnTo>
                  <a:pt x="559" y="98"/>
                </a:lnTo>
                <a:lnTo>
                  <a:pt x="554" y="88"/>
                </a:lnTo>
                <a:lnTo>
                  <a:pt x="547" y="78"/>
                </a:lnTo>
                <a:lnTo>
                  <a:pt x="537" y="68"/>
                </a:lnTo>
                <a:lnTo>
                  <a:pt x="526" y="60"/>
                </a:lnTo>
                <a:lnTo>
                  <a:pt x="513" y="51"/>
                </a:lnTo>
                <a:lnTo>
                  <a:pt x="498" y="42"/>
                </a:lnTo>
                <a:lnTo>
                  <a:pt x="481" y="35"/>
                </a:lnTo>
                <a:lnTo>
                  <a:pt x="463" y="27"/>
                </a:lnTo>
                <a:lnTo>
                  <a:pt x="443" y="21"/>
                </a:lnTo>
                <a:lnTo>
                  <a:pt x="423" y="16"/>
                </a:lnTo>
                <a:lnTo>
                  <a:pt x="401" y="11"/>
                </a:lnTo>
                <a:lnTo>
                  <a:pt x="378" y="7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7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6"/>
                </a:lnTo>
                <a:lnTo>
                  <a:pt x="120" y="21"/>
                </a:lnTo>
                <a:lnTo>
                  <a:pt x="100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9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1" name="Freeform 43">
            <a:extLst>
              <a:ext uri="{FF2B5EF4-FFF2-40B4-BE49-F238E27FC236}">
                <a16:creationId xmlns:a16="http://schemas.microsoft.com/office/drawing/2014/main" id="{62764DFF-73F6-C8F2-3CBD-93D7D90212BA}"/>
              </a:ext>
            </a:extLst>
          </p:cNvPr>
          <p:cNvSpPr>
            <a:spLocks noGrp="1"/>
          </p:cNvSpPr>
          <p:nvPr/>
        </p:nvSpPr>
        <p:spPr>
          <a:xfrm>
            <a:off x="3243262" y="2266950"/>
            <a:ext cx="896938" cy="381000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1 w 565"/>
              <a:gd name="T9" fmla="*/ 35 h 240"/>
              <a:gd name="T10" fmla="*/ 444 w 565"/>
              <a:gd name="T11" fmla="*/ 21 h 240"/>
              <a:gd name="T12" fmla="*/ 401 w 565"/>
              <a:gd name="T13" fmla="*/ 11 h 240"/>
              <a:gd name="T14" fmla="*/ 355 w 565"/>
              <a:gd name="T15" fmla="*/ 4 h 240"/>
              <a:gd name="T16" fmla="*/ 306 w 565"/>
              <a:gd name="T17" fmla="*/ 0 h 240"/>
              <a:gd name="T18" fmla="*/ 258 w 565"/>
              <a:gd name="T19" fmla="*/ 0 h 240"/>
              <a:gd name="T20" fmla="*/ 209 w 565"/>
              <a:gd name="T21" fmla="*/ 4 h 240"/>
              <a:gd name="T22" fmla="*/ 163 w 565"/>
              <a:gd name="T23" fmla="*/ 11 h 240"/>
              <a:gd name="T24" fmla="*/ 120 w 565"/>
              <a:gd name="T25" fmla="*/ 21 h 240"/>
              <a:gd name="T26" fmla="*/ 83 w 565"/>
              <a:gd name="T27" fmla="*/ 35 h 240"/>
              <a:gd name="T28" fmla="*/ 51 w 565"/>
              <a:gd name="T29" fmla="*/ 51 h 240"/>
              <a:gd name="T30" fmla="*/ 27 w 565"/>
              <a:gd name="T31" fmla="*/ 68 h 240"/>
              <a:gd name="T32" fmla="*/ 9 w 565"/>
              <a:gd name="T33" fmla="*/ 88 h 240"/>
              <a:gd name="T34" fmla="*/ 1 w 565"/>
              <a:gd name="T35" fmla="*/ 109 h 240"/>
              <a:gd name="T36" fmla="*/ 1 w 565"/>
              <a:gd name="T37" fmla="*/ 130 h 240"/>
              <a:gd name="T38" fmla="*/ 9 w 565"/>
              <a:gd name="T39" fmla="*/ 151 h 240"/>
              <a:gd name="T40" fmla="*/ 27 w 565"/>
              <a:gd name="T41" fmla="*/ 170 h 240"/>
              <a:gd name="T42" fmla="*/ 51 w 565"/>
              <a:gd name="T43" fmla="*/ 188 h 240"/>
              <a:gd name="T44" fmla="*/ 83 w 565"/>
              <a:gd name="T45" fmla="*/ 204 h 240"/>
              <a:gd name="T46" fmla="*/ 120 w 565"/>
              <a:gd name="T47" fmla="*/ 218 h 240"/>
              <a:gd name="T48" fmla="*/ 163 w 565"/>
              <a:gd name="T49" fmla="*/ 228 h 240"/>
              <a:gd name="T50" fmla="*/ 209 w 565"/>
              <a:gd name="T51" fmla="*/ 235 h 240"/>
              <a:gd name="T52" fmla="*/ 258 w 565"/>
              <a:gd name="T53" fmla="*/ 239 h 240"/>
              <a:gd name="T54" fmla="*/ 306 w 565"/>
              <a:gd name="T55" fmla="*/ 239 h 240"/>
              <a:gd name="T56" fmla="*/ 355 w 565"/>
              <a:gd name="T57" fmla="*/ 235 h 240"/>
              <a:gd name="T58" fmla="*/ 401 w 565"/>
              <a:gd name="T59" fmla="*/ 228 h 240"/>
              <a:gd name="T60" fmla="*/ 444 w 565"/>
              <a:gd name="T61" fmla="*/ 218 h 240"/>
              <a:gd name="T62" fmla="*/ 481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1 h 240"/>
              <a:gd name="T70" fmla="*/ 563 w 565"/>
              <a:gd name="T71" fmla="*/ 130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6" y="60"/>
                </a:lnTo>
                <a:lnTo>
                  <a:pt x="513" y="51"/>
                </a:lnTo>
                <a:lnTo>
                  <a:pt x="498" y="42"/>
                </a:lnTo>
                <a:lnTo>
                  <a:pt x="481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6"/>
                </a:lnTo>
                <a:lnTo>
                  <a:pt x="401" y="11"/>
                </a:lnTo>
                <a:lnTo>
                  <a:pt x="379" y="7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8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6"/>
                </a:lnTo>
                <a:lnTo>
                  <a:pt x="120" y="21"/>
                </a:lnTo>
                <a:lnTo>
                  <a:pt x="101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8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  <a:lnTo>
                  <a:pt x="1" y="130"/>
                </a:lnTo>
                <a:lnTo>
                  <a:pt x="4" y="140"/>
                </a:lnTo>
                <a:lnTo>
                  <a:pt x="9" y="151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6"/>
                </a:lnTo>
                <a:lnTo>
                  <a:pt x="83" y="204"/>
                </a:lnTo>
                <a:lnTo>
                  <a:pt x="101" y="211"/>
                </a:lnTo>
                <a:lnTo>
                  <a:pt x="120" y="218"/>
                </a:lnTo>
                <a:lnTo>
                  <a:pt x="141" y="223"/>
                </a:lnTo>
                <a:lnTo>
                  <a:pt x="163" y="228"/>
                </a:lnTo>
                <a:lnTo>
                  <a:pt x="185" y="232"/>
                </a:lnTo>
                <a:lnTo>
                  <a:pt x="209" y="235"/>
                </a:lnTo>
                <a:lnTo>
                  <a:pt x="233" y="237"/>
                </a:lnTo>
                <a:lnTo>
                  <a:pt x="258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9" y="232"/>
                </a:lnTo>
                <a:lnTo>
                  <a:pt x="401" y="228"/>
                </a:lnTo>
                <a:lnTo>
                  <a:pt x="423" y="223"/>
                </a:lnTo>
                <a:lnTo>
                  <a:pt x="444" y="218"/>
                </a:lnTo>
                <a:lnTo>
                  <a:pt x="464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1"/>
                </a:lnTo>
                <a:lnTo>
                  <a:pt x="560" y="140"/>
                </a:lnTo>
                <a:lnTo>
                  <a:pt x="563" y="130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2" name="Freeform 44">
            <a:extLst>
              <a:ext uri="{FF2B5EF4-FFF2-40B4-BE49-F238E27FC236}">
                <a16:creationId xmlns:a16="http://schemas.microsoft.com/office/drawing/2014/main" id="{882C2D0A-703C-CFF3-E75B-B1950C83A48B}"/>
              </a:ext>
            </a:extLst>
          </p:cNvPr>
          <p:cNvSpPr>
            <a:spLocks noGrp="1"/>
          </p:cNvSpPr>
          <p:nvPr/>
        </p:nvSpPr>
        <p:spPr>
          <a:xfrm>
            <a:off x="4048125" y="1985962"/>
            <a:ext cx="896937" cy="382588"/>
          </a:xfrm>
          <a:custGeom>
            <a:avLst/>
            <a:gdLst>
              <a:gd name="T0" fmla="*/ 563 w 565"/>
              <a:gd name="T1" fmla="*/ 110 h 241"/>
              <a:gd name="T2" fmla="*/ 554 w 565"/>
              <a:gd name="T3" fmla="*/ 89 h 241"/>
              <a:gd name="T4" fmla="*/ 538 w 565"/>
              <a:gd name="T5" fmla="*/ 70 h 241"/>
              <a:gd name="T6" fmla="*/ 513 w 565"/>
              <a:gd name="T7" fmla="*/ 51 h 241"/>
              <a:gd name="T8" fmla="*/ 482 w 565"/>
              <a:gd name="T9" fmla="*/ 35 h 241"/>
              <a:gd name="T10" fmla="*/ 444 w 565"/>
              <a:gd name="T11" fmla="*/ 22 h 241"/>
              <a:gd name="T12" fmla="*/ 401 w 565"/>
              <a:gd name="T13" fmla="*/ 12 h 241"/>
              <a:gd name="T14" fmla="*/ 355 w 565"/>
              <a:gd name="T15" fmla="*/ 5 h 241"/>
              <a:gd name="T16" fmla="*/ 307 w 565"/>
              <a:gd name="T17" fmla="*/ 1 h 241"/>
              <a:gd name="T18" fmla="*/ 258 w 565"/>
              <a:gd name="T19" fmla="*/ 1 h 241"/>
              <a:gd name="T20" fmla="*/ 210 w 565"/>
              <a:gd name="T21" fmla="*/ 5 h 241"/>
              <a:gd name="T22" fmla="*/ 164 w 565"/>
              <a:gd name="T23" fmla="*/ 12 h 241"/>
              <a:gd name="T24" fmla="*/ 121 w 565"/>
              <a:gd name="T25" fmla="*/ 22 h 241"/>
              <a:gd name="T26" fmla="*/ 83 w 565"/>
              <a:gd name="T27" fmla="*/ 35 h 241"/>
              <a:gd name="T28" fmla="*/ 51 w 565"/>
              <a:gd name="T29" fmla="*/ 51 h 241"/>
              <a:gd name="T30" fmla="*/ 27 w 565"/>
              <a:gd name="T31" fmla="*/ 70 h 241"/>
              <a:gd name="T32" fmla="*/ 10 w 565"/>
              <a:gd name="T33" fmla="*/ 89 h 241"/>
              <a:gd name="T34" fmla="*/ 1 w 565"/>
              <a:gd name="T35" fmla="*/ 110 h 241"/>
              <a:gd name="T36" fmla="*/ 1 w 565"/>
              <a:gd name="T37" fmla="*/ 131 h 241"/>
              <a:gd name="T38" fmla="*/ 10 w 565"/>
              <a:gd name="T39" fmla="*/ 151 h 241"/>
              <a:gd name="T40" fmla="*/ 27 w 565"/>
              <a:gd name="T41" fmla="*/ 171 h 241"/>
              <a:gd name="T42" fmla="*/ 51 w 565"/>
              <a:gd name="T43" fmla="*/ 189 h 241"/>
              <a:gd name="T44" fmla="*/ 83 w 565"/>
              <a:gd name="T45" fmla="*/ 205 h 241"/>
              <a:gd name="T46" fmla="*/ 121 w 565"/>
              <a:gd name="T47" fmla="*/ 218 h 241"/>
              <a:gd name="T48" fmla="*/ 164 w 565"/>
              <a:gd name="T49" fmla="*/ 229 h 241"/>
              <a:gd name="T50" fmla="*/ 210 w 565"/>
              <a:gd name="T51" fmla="*/ 236 h 241"/>
              <a:gd name="T52" fmla="*/ 258 w 565"/>
              <a:gd name="T53" fmla="*/ 239 h 241"/>
              <a:gd name="T54" fmla="*/ 307 w 565"/>
              <a:gd name="T55" fmla="*/ 239 h 241"/>
              <a:gd name="T56" fmla="*/ 355 w 565"/>
              <a:gd name="T57" fmla="*/ 236 h 241"/>
              <a:gd name="T58" fmla="*/ 401 w 565"/>
              <a:gd name="T59" fmla="*/ 229 h 241"/>
              <a:gd name="T60" fmla="*/ 444 w 565"/>
              <a:gd name="T61" fmla="*/ 218 h 241"/>
              <a:gd name="T62" fmla="*/ 482 w 565"/>
              <a:gd name="T63" fmla="*/ 205 h 241"/>
              <a:gd name="T64" fmla="*/ 513 w 565"/>
              <a:gd name="T65" fmla="*/ 189 h 241"/>
              <a:gd name="T66" fmla="*/ 538 w 565"/>
              <a:gd name="T67" fmla="*/ 171 h 241"/>
              <a:gd name="T68" fmla="*/ 554 w 565"/>
              <a:gd name="T69" fmla="*/ 151 h 241"/>
              <a:gd name="T70" fmla="*/ 563 w 565"/>
              <a:gd name="T71" fmla="*/ 131 h 241"/>
            </a:gdLst>
            <a:ahLst/>
            <a:cxnLst/>
            <a:rect l="0" t="0" r="r" b="b"/>
            <a:pathLst>
              <a:path w="565" h="241">
                <a:moveTo>
                  <a:pt x="564" y="120"/>
                </a:moveTo>
                <a:lnTo>
                  <a:pt x="563" y="110"/>
                </a:lnTo>
                <a:lnTo>
                  <a:pt x="560" y="100"/>
                </a:lnTo>
                <a:lnTo>
                  <a:pt x="554" y="89"/>
                </a:lnTo>
                <a:lnTo>
                  <a:pt x="547" y="79"/>
                </a:lnTo>
                <a:lnTo>
                  <a:pt x="538" y="70"/>
                </a:lnTo>
                <a:lnTo>
                  <a:pt x="526" y="60"/>
                </a:lnTo>
                <a:lnTo>
                  <a:pt x="513" y="51"/>
                </a:lnTo>
                <a:lnTo>
                  <a:pt x="498" y="43"/>
                </a:lnTo>
                <a:lnTo>
                  <a:pt x="482" y="35"/>
                </a:lnTo>
                <a:lnTo>
                  <a:pt x="463" y="29"/>
                </a:lnTo>
                <a:lnTo>
                  <a:pt x="444" y="22"/>
                </a:lnTo>
                <a:lnTo>
                  <a:pt x="423" y="16"/>
                </a:lnTo>
                <a:lnTo>
                  <a:pt x="401" y="12"/>
                </a:lnTo>
                <a:lnTo>
                  <a:pt x="378" y="8"/>
                </a:lnTo>
                <a:lnTo>
                  <a:pt x="355" y="5"/>
                </a:lnTo>
                <a:lnTo>
                  <a:pt x="332" y="3"/>
                </a:lnTo>
                <a:lnTo>
                  <a:pt x="307" y="1"/>
                </a:lnTo>
                <a:lnTo>
                  <a:pt x="282" y="0"/>
                </a:lnTo>
                <a:lnTo>
                  <a:pt x="258" y="1"/>
                </a:lnTo>
                <a:lnTo>
                  <a:pt x="234" y="3"/>
                </a:lnTo>
                <a:lnTo>
                  <a:pt x="210" y="5"/>
                </a:lnTo>
                <a:lnTo>
                  <a:pt x="186" y="8"/>
                </a:lnTo>
                <a:lnTo>
                  <a:pt x="164" y="12"/>
                </a:lnTo>
                <a:lnTo>
                  <a:pt x="141" y="16"/>
                </a:lnTo>
                <a:lnTo>
                  <a:pt x="121" y="22"/>
                </a:lnTo>
                <a:lnTo>
                  <a:pt x="101" y="29"/>
                </a:lnTo>
                <a:lnTo>
                  <a:pt x="83" y="35"/>
                </a:lnTo>
                <a:lnTo>
                  <a:pt x="66" y="43"/>
                </a:lnTo>
                <a:lnTo>
                  <a:pt x="51" y="51"/>
                </a:lnTo>
                <a:lnTo>
                  <a:pt x="39" y="60"/>
                </a:lnTo>
                <a:lnTo>
                  <a:pt x="27" y="70"/>
                </a:lnTo>
                <a:lnTo>
                  <a:pt x="18" y="79"/>
                </a:lnTo>
                <a:lnTo>
                  <a:pt x="10" y="89"/>
                </a:lnTo>
                <a:lnTo>
                  <a:pt x="5" y="100"/>
                </a:lnTo>
                <a:lnTo>
                  <a:pt x="1" y="110"/>
                </a:lnTo>
                <a:lnTo>
                  <a:pt x="0" y="120"/>
                </a:lnTo>
                <a:lnTo>
                  <a:pt x="1" y="131"/>
                </a:lnTo>
                <a:lnTo>
                  <a:pt x="5" y="141"/>
                </a:lnTo>
                <a:lnTo>
                  <a:pt x="10" y="151"/>
                </a:lnTo>
                <a:lnTo>
                  <a:pt x="18" y="161"/>
                </a:lnTo>
                <a:lnTo>
                  <a:pt x="27" y="171"/>
                </a:lnTo>
                <a:lnTo>
                  <a:pt x="39" y="180"/>
                </a:lnTo>
                <a:lnTo>
                  <a:pt x="51" y="189"/>
                </a:lnTo>
                <a:lnTo>
                  <a:pt x="66" y="197"/>
                </a:lnTo>
                <a:lnTo>
                  <a:pt x="83" y="205"/>
                </a:lnTo>
                <a:lnTo>
                  <a:pt x="101" y="212"/>
                </a:lnTo>
                <a:lnTo>
                  <a:pt x="121" y="218"/>
                </a:lnTo>
                <a:lnTo>
                  <a:pt x="141" y="224"/>
                </a:lnTo>
                <a:lnTo>
                  <a:pt x="164" y="229"/>
                </a:lnTo>
                <a:lnTo>
                  <a:pt x="186" y="233"/>
                </a:lnTo>
                <a:lnTo>
                  <a:pt x="210" y="236"/>
                </a:lnTo>
                <a:lnTo>
                  <a:pt x="234" y="238"/>
                </a:lnTo>
                <a:lnTo>
                  <a:pt x="258" y="239"/>
                </a:lnTo>
                <a:lnTo>
                  <a:pt x="282" y="240"/>
                </a:lnTo>
                <a:lnTo>
                  <a:pt x="307" y="239"/>
                </a:lnTo>
                <a:lnTo>
                  <a:pt x="332" y="238"/>
                </a:lnTo>
                <a:lnTo>
                  <a:pt x="355" y="236"/>
                </a:lnTo>
                <a:lnTo>
                  <a:pt x="378" y="233"/>
                </a:lnTo>
                <a:lnTo>
                  <a:pt x="401" y="229"/>
                </a:lnTo>
                <a:lnTo>
                  <a:pt x="423" y="224"/>
                </a:lnTo>
                <a:lnTo>
                  <a:pt x="444" y="218"/>
                </a:lnTo>
                <a:lnTo>
                  <a:pt x="463" y="212"/>
                </a:lnTo>
                <a:lnTo>
                  <a:pt x="482" y="205"/>
                </a:lnTo>
                <a:lnTo>
                  <a:pt x="498" y="197"/>
                </a:lnTo>
                <a:lnTo>
                  <a:pt x="513" y="189"/>
                </a:lnTo>
                <a:lnTo>
                  <a:pt x="526" y="180"/>
                </a:lnTo>
                <a:lnTo>
                  <a:pt x="538" y="171"/>
                </a:lnTo>
                <a:lnTo>
                  <a:pt x="547" y="161"/>
                </a:lnTo>
                <a:lnTo>
                  <a:pt x="554" y="151"/>
                </a:lnTo>
                <a:lnTo>
                  <a:pt x="560" y="141"/>
                </a:lnTo>
                <a:lnTo>
                  <a:pt x="563" y="131"/>
                </a:lnTo>
                <a:lnTo>
                  <a:pt x="564" y="12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3" name="Rectangle 45">
            <a:extLst>
              <a:ext uri="{FF2B5EF4-FFF2-40B4-BE49-F238E27FC236}">
                <a16:creationId xmlns:a16="http://schemas.microsoft.com/office/drawing/2014/main" id="{8AC022E3-51CE-8DDD-5705-E229F49EAECE}"/>
              </a:ext>
            </a:extLst>
          </p:cNvPr>
          <p:cNvSpPr>
            <a:spLocks noGrp="1"/>
          </p:cNvSpPr>
          <p:nvPr/>
        </p:nvSpPr>
        <p:spPr>
          <a:xfrm>
            <a:off x="5181600" y="2265362"/>
            <a:ext cx="434415" cy="335989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44" name="Rectangle 46">
            <a:extLst>
              <a:ext uri="{FF2B5EF4-FFF2-40B4-BE49-F238E27FC236}">
                <a16:creationId xmlns:a16="http://schemas.microsoft.com/office/drawing/2014/main" id="{F64CA04F-1CE9-DF8F-44A2-AE26FBADCAAC}"/>
              </a:ext>
            </a:extLst>
          </p:cNvPr>
          <p:cNvSpPr>
            <a:spLocks noGrp="1"/>
          </p:cNvSpPr>
          <p:nvPr/>
        </p:nvSpPr>
        <p:spPr>
          <a:xfrm>
            <a:off x="4175125" y="2039937"/>
            <a:ext cx="711200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D7904CDC-78A3-91E3-0C1E-1400723EABFA}"/>
              </a:ext>
            </a:extLst>
          </p:cNvPr>
          <p:cNvSpPr>
            <a:spLocks noGrp="1"/>
          </p:cNvSpPr>
          <p:nvPr/>
        </p:nvSpPr>
        <p:spPr>
          <a:xfrm>
            <a:off x="3392487" y="2255837"/>
            <a:ext cx="531813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46" name="Line 48">
            <a:extLst>
              <a:ext uri="{FF2B5EF4-FFF2-40B4-BE49-F238E27FC236}">
                <a16:creationId xmlns:a16="http://schemas.microsoft.com/office/drawing/2014/main" id="{D7F20088-21F3-7E92-2F72-2E2A56371EC2}"/>
              </a:ext>
            </a:extLst>
          </p:cNvPr>
          <p:cNvSpPr>
            <a:spLocks noGrp="1"/>
          </p:cNvSpPr>
          <p:nvPr/>
        </p:nvSpPr>
        <p:spPr>
          <a:xfrm>
            <a:off x="3690937" y="2671762"/>
            <a:ext cx="552450" cy="200025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7" name="Line 49">
            <a:extLst>
              <a:ext uri="{FF2B5EF4-FFF2-40B4-BE49-F238E27FC236}">
                <a16:creationId xmlns:a16="http://schemas.microsoft.com/office/drawing/2014/main" id="{9BDEE1B3-0473-1C91-BC19-8B734D1128A8}"/>
              </a:ext>
            </a:extLst>
          </p:cNvPr>
          <p:cNvSpPr>
            <a:spLocks noGrp="1"/>
          </p:cNvSpPr>
          <p:nvPr/>
        </p:nvSpPr>
        <p:spPr>
          <a:xfrm>
            <a:off x="4508500" y="2366962"/>
            <a:ext cx="0" cy="48895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8" name="Line 50">
            <a:extLst>
              <a:ext uri="{FF2B5EF4-FFF2-40B4-BE49-F238E27FC236}">
                <a16:creationId xmlns:a16="http://schemas.microsoft.com/office/drawing/2014/main" id="{AF35BACB-BCB8-CA9B-674F-04C0CD7B8513}"/>
              </a:ext>
            </a:extLst>
          </p:cNvPr>
          <p:cNvSpPr>
            <a:spLocks noGrp="1"/>
          </p:cNvSpPr>
          <p:nvPr/>
        </p:nvSpPr>
        <p:spPr>
          <a:xfrm flipH="1">
            <a:off x="4806950" y="2655887"/>
            <a:ext cx="530225" cy="2159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49" name="Line 51">
            <a:extLst>
              <a:ext uri="{FF2B5EF4-FFF2-40B4-BE49-F238E27FC236}">
                <a16:creationId xmlns:a16="http://schemas.microsoft.com/office/drawing/2014/main" id="{BA2F18C5-A7D6-7646-AC16-9F9BAA61E8C9}"/>
              </a:ext>
            </a:extLst>
          </p:cNvPr>
          <p:cNvSpPr>
            <a:spLocks noGrp="1"/>
          </p:cNvSpPr>
          <p:nvPr/>
        </p:nvSpPr>
        <p:spPr>
          <a:xfrm flipH="1">
            <a:off x="5376861" y="5957486"/>
            <a:ext cx="255588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0" name="Freeform 53">
            <a:extLst>
              <a:ext uri="{FF2B5EF4-FFF2-40B4-BE49-F238E27FC236}">
                <a16:creationId xmlns:a16="http://schemas.microsoft.com/office/drawing/2014/main" id="{2F6F31DC-0260-698A-4C19-AED7054C02AE}"/>
              </a:ext>
            </a:extLst>
          </p:cNvPr>
          <p:cNvSpPr>
            <a:spLocks noGrp="1"/>
          </p:cNvSpPr>
          <p:nvPr/>
        </p:nvSpPr>
        <p:spPr>
          <a:xfrm>
            <a:off x="4233862" y="4783137"/>
            <a:ext cx="896938" cy="381000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2 w 565"/>
              <a:gd name="T9" fmla="*/ 35 h 240"/>
              <a:gd name="T10" fmla="*/ 444 w 565"/>
              <a:gd name="T11" fmla="*/ 21 h 240"/>
              <a:gd name="T12" fmla="*/ 402 w 565"/>
              <a:gd name="T13" fmla="*/ 11 h 240"/>
              <a:gd name="T14" fmla="*/ 356 w 565"/>
              <a:gd name="T15" fmla="*/ 4 h 240"/>
              <a:gd name="T16" fmla="*/ 307 w 565"/>
              <a:gd name="T17" fmla="*/ 0 h 240"/>
              <a:gd name="T18" fmla="*/ 258 w 565"/>
              <a:gd name="T19" fmla="*/ 0 h 240"/>
              <a:gd name="T20" fmla="*/ 210 w 565"/>
              <a:gd name="T21" fmla="*/ 4 h 240"/>
              <a:gd name="T22" fmla="*/ 163 w 565"/>
              <a:gd name="T23" fmla="*/ 11 h 240"/>
              <a:gd name="T24" fmla="*/ 121 w 565"/>
              <a:gd name="T25" fmla="*/ 21 h 240"/>
              <a:gd name="T26" fmla="*/ 83 w 565"/>
              <a:gd name="T27" fmla="*/ 35 h 240"/>
              <a:gd name="T28" fmla="*/ 52 w 565"/>
              <a:gd name="T29" fmla="*/ 51 h 240"/>
              <a:gd name="T30" fmla="*/ 27 w 565"/>
              <a:gd name="T31" fmla="*/ 68 h 240"/>
              <a:gd name="T32" fmla="*/ 10 w 565"/>
              <a:gd name="T33" fmla="*/ 88 h 240"/>
              <a:gd name="T34" fmla="*/ 2 w 565"/>
              <a:gd name="T35" fmla="*/ 109 h 240"/>
              <a:gd name="T36" fmla="*/ 2 w 565"/>
              <a:gd name="T37" fmla="*/ 129 h 240"/>
              <a:gd name="T38" fmla="*/ 10 w 565"/>
              <a:gd name="T39" fmla="*/ 150 h 240"/>
              <a:gd name="T40" fmla="*/ 27 w 565"/>
              <a:gd name="T41" fmla="*/ 170 h 240"/>
              <a:gd name="T42" fmla="*/ 52 w 565"/>
              <a:gd name="T43" fmla="*/ 188 h 240"/>
              <a:gd name="T44" fmla="*/ 83 w 565"/>
              <a:gd name="T45" fmla="*/ 204 h 240"/>
              <a:gd name="T46" fmla="*/ 121 w 565"/>
              <a:gd name="T47" fmla="*/ 217 h 240"/>
              <a:gd name="T48" fmla="*/ 163 w 565"/>
              <a:gd name="T49" fmla="*/ 227 h 240"/>
              <a:gd name="T50" fmla="*/ 210 w 565"/>
              <a:gd name="T51" fmla="*/ 235 h 240"/>
              <a:gd name="T52" fmla="*/ 258 w 565"/>
              <a:gd name="T53" fmla="*/ 239 h 240"/>
              <a:gd name="T54" fmla="*/ 307 w 565"/>
              <a:gd name="T55" fmla="*/ 239 h 240"/>
              <a:gd name="T56" fmla="*/ 356 w 565"/>
              <a:gd name="T57" fmla="*/ 235 h 240"/>
              <a:gd name="T58" fmla="*/ 402 w 565"/>
              <a:gd name="T59" fmla="*/ 227 h 240"/>
              <a:gd name="T60" fmla="*/ 444 w 565"/>
              <a:gd name="T61" fmla="*/ 217 h 240"/>
              <a:gd name="T62" fmla="*/ 482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0 h 240"/>
              <a:gd name="T70" fmla="*/ 563 w 565"/>
              <a:gd name="T71" fmla="*/ 129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7" y="60"/>
                </a:lnTo>
                <a:lnTo>
                  <a:pt x="513" y="51"/>
                </a:lnTo>
                <a:lnTo>
                  <a:pt x="498" y="42"/>
                </a:lnTo>
                <a:lnTo>
                  <a:pt x="482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5"/>
                </a:lnTo>
                <a:lnTo>
                  <a:pt x="402" y="11"/>
                </a:lnTo>
                <a:lnTo>
                  <a:pt x="379" y="7"/>
                </a:lnTo>
                <a:lnTo>
                  <a:pt x="356" y="4"/>
                </a:lnTo>
                <a:lnTo>
                  <a:pt x="331" y="1"/>
                </a:lnTo>
                <a:lnTo>
                  <a:pt x="307" y="0"/>
                </a:lnTo>
                <a:lnTo>
                  <a:pt x="282" y="0"/>
                </a:lnTo>
                <a:lnTo>
                  <a:pt x="258" y="0"/>
                </a:lnTo>
                <a:lnTo>
                  <a:pt x="234" y="1"/>
                </a:lnTo>
                <a:lnTo>
                  <a:pt x="210" y="4"/>
                </a:lnTo>
                <a:lnTo>
                  <a:pt x="186" y="7"/>
                </a:lnTo>
                <a:lnTo>
                  <a:pt x="163" y="11"/>
                </a:lnTo>
                <a:lnTo>
                  <a:pt x="141" y="15"/>
                </a:lnTo>
                <a:lnTo>
                  <a:pt x="121" y="21"/>
                </a:lnTo>
                <a:lnTo>
                  <a:pt x="101" y="27"/>
                </a:lnTo>
                <a:lnTo>
                  <a:pt x="83" y="35"/>
                </a:lnTo>
                <a:lnTo>
                  <a:pt x="67" y="42"/>
                </a:lnTo>
                <a:lnTo>
                  <a:pt x="52" y="51"/>
                </a:lnTo>
                <a:lnTo>
                  <a:pt x="38" y="60"/>
                </a:lnTo>
                <a:lnTo>
                  <a:pt x="27" y="68"/>
                </a:lnTo>
                <a:lnTo>
                  <a:pt x="18" y="78"/>
                </a:lnTo>
                <a:lnTo>
                  <a:pt x="10" y="88"/>
                </a:lnTo>
                <a:lnTo>
                  <a:pt x="5" y="98"/>
                </a:lnTo>
                <a:lnTo>
                  <a:pt x="2" y="109"/>
                </a:lnTo>
                <a:lnTo>
                  <a:pt x="0" y="119"/>
                </a:lnTo>
                <a:lnTo>
                  <a:pt x="2" y="129"/>
                </a:lnTo>
                <a:lnTo>
                  <a:pt x="5" y="140"/>
                </a:lnTo>
                <a:lnTo>
                  <a:pt x="10" y="150"/>
                </a:lnTo>
                <a:lnTo>
                  <a:pt x="18" y="160"/>
                </a:lnTo>
                <a:lnTo>
                  <a:pt x="27" y="170"/>
                </a:lnTo>
                <a:lnTo>
                  <a:pt x="38" y="179"/>
                </a:lnTo>
                <a:lnTo>
                  <a:pt x="52" y="188"/>
                </a:lnTo>
                <a:lnTo>
                  <a:pt x="67" y="196"/>
                </a:lnTo>
                <a:lnTo>
                  <a:pt x="83" y="204"/>
                </a:lnTo>
                <a:lnTo>
                  <a:pt x="101" y="211"/>
                </a:lnTo>
                <a:lnTo>
                  <a:pt x="121" y="217"/>
                </a:lnTo>
                <a:lnTo>
                  <a:pt x="141" y="223"/>
                </a:lnTo>
                <a:lnTo>
                  <a:pt x="163" y="227"/>
                </a:lnTo>
                <a:lnTo>
                  <a:pt x="186" y="231"/>
                </a:lnTo>
                <a:lnTo>
                  <a:pt x="210" y="235"/>
                </a:lnTo>
                <a:lnTo>
                  <a:pt x="234" y="237"/>
                </a:lnTo>
                <a:lnTo>
                  <a:pt x="258" y="239"/>
                </a:lnTo>
                <a:lnTo>
                  <a:pt x="282" y="239"/>
                </a:lnTo>
                <a:lnTo>
                  <a:pt x="307" y="239"/>
                </a:lnTo>
                <a:lnTo>
                  <a:pt x="331" y="237"/>
                </a:lnTo>
                <a:lnTo>
                  <a:pt x="356" y="235"/>
                </a:lnTo>
                <a:lnTo>
                  <a:pt x="379" y="231"/>
                </a:lnTo>
                <a:lnTo>
                  <a:pt x="402" y="227"/>
                </a:lnTo>
                <a:lnTo>
                  <a:pt x="423" y="223"/>
                </a:lnTo>
                <a:lnTo>
                  <a:pt x="444" y="217"/>
                </a:lnTo>
                <a:lnTo>
                  <a:pt x="464" y="211"/>
                </a:lnTo>
                <a:lnTo>
                  <a:pt x="482" y="204"/>
                </a:lnTo>
                <a:lnTo>
                  <a:pt x="498" y="196"/>
                </a:lnTo>
                <a:lnTo>
                  <a:pt x="513" y="188"/>
                </a:lnTo>
                <a:lnTo>
                  <a:pt x="527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0"/>
                </a:lnTo>
                <a:lnTo>
                  <a:pt x="560" y="140"/>
                </a:lnTo>
                <a:lnTo>
                  <a:pt x="563" y="129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1" name="Rectangle 54">
            <a:extLst>
              <a:ext uri="{FF2B5EF4-FFF2-40B4-BE49-F238E27FC236}">
                <a16:creationId xmlns:a16="http://schemas.microsoft.com/office/drawing/2014/main" id="{307627CF-2AD6-DDB7-AF29-7590DC45513B}"/>
              </a:ext>
            </a:extLst>
          </p:cNvPr>
          <p:cNvSpPr>
            <a:spLocks noGrp="1"/>
          </p:cNvSpPr>
          <p:nvPr/>
        </p:nvSpPr>
        <p:spPr>
          <a:xfrm>
            <a:off x="4310062" y="4783137"/>
            <a:ext cx="700088" cy="333375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</a:t>
            </a:r>
          </a:p>
        </p:txBody>
      </p:sp>
      <p:sp>
        <p:nvSpPr>
          <p:cNvPr id="52" name="Line 55">
            <a:extLst>
              <a:ext uri="{FF2B5EF4-FFF2-40B4-BE49-F238E27FC236}">
                <a16:creationId xmlns:a16="http://schemas.microsoft.com/office/drawing/2014/main" id="{DBC3BC07-6E7D-2F53-925D-FD61A5DDA8E4}"/>
              </a:ext>
            </a:extLst>
          </p:cNvPr>
          <p:cNvSpPr>
            <a:spLocks noGrp="1"/>
          </p:cNvSpPr>
          <p:nvPr/>
        </p:nvSpPr>
        <p:spPr>
          <a:xfrm flipV="1">
            <a:off x="4691062" y="5164137"/>
            <a:ext cx="0" cy="45720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53" name="Line 52">
            <a:extLst>
              <a:ext uri="{FF2B5EF4-FFF2-40B4-BE49-F238E27FC236}">
                <a16:creationId xmlns:a16="http://schemas.microsoft.com/office/drawing/2014/main" id="{F399048D-A2DF-3B15-7819-1EA578DC6206}"/>
              </a:ext>
            </a:extLst>
          </p:cNvPr>
          <p:cNvSpPr>
            <a:spLocks noGrp="1"/>
          </p:cNvSpPr>
          <p:nvPr/>
        </p:nvSpPr>
        <p:spPr>
          <a:xfrm>
            <a:off x="3378200" y="5957486"/>
            <a:ext cx="644525" cy="0"/>
          </a:xfrm>
          <a:prstGeom prst="line">
            <a:avLst/>
          </a:prstGeom>
          <a:noFill/>
          <a:ln w="508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182805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04434-1F77-B7F2-2A08-90AA815D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转换聚合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7364-3E03-3E9E-C356-5DAA29ECF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295400"/>
            <a:ext cx="8382000" cy="5029200"/>
          </a:xfrm>
        </p:spPr>
        <p:txBody>
          <a:bodyPr/>
          <a:lstStyle/>
          <a:p>
            <a:pPr marL="0" indent="0">
              <a:buNone/>
            </a:pPr>
            <a:r>
              <a:rPr sz="2400">
                <a:latin typeface="Arial Unicode MS"/>
                <a:ea typeface="Arial Unicode MS"/>
                <a:cs typeface="Arial Unicode MS"/>
              </a:rPr>
              <a:t>标准方法：</a:t>
            </a:r>
          </a:p>
          <a:p>
            <a:pPr marL="457200"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Employees、Projects 与 Departments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 sz="2400">
                <a:latin typeface="Arial Unicode MS"/>
                <a:ea typeface="Arial Unicode MS"/>
                <a:cs typeface="Arial Unicode MS"/>
              </a:rPr>
              <a:t>实体集及 Sponsors 联系集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 sz="2400">
                <a:latin typeface="Arial Unicode MS"/>
                <a:ea typeface="Arial Unicode MS"/>
                <a:cs typeface="Arial Unicode MS"/>
              </a:rPr>
              <a:t>按前述方法转换</a:t>
            </a:r>
          </a:p>
          <a:p>
            <a:pPr lvl="1">
              <a:buFont typeface="Wingdings"/>
              <a:buChar char="§"/>
            </a:pPr>
            <a:endParaRPr sz="2400"/>
          </a:p>
          <a:p>
            <a:pPr marL="457200"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对于 Monitors 联系，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 sz="2400">
                <a:latin typeface="Arial Unicode MS"/>
                <a:ea typeface="Arial Unicode MS"/>
                <a:cs typeface="Arial Unicode MS"/>
              </a:rPr>
              <a:t>创建一个关系，包含 </a:t>
            </a:r>
            <a:br>
              <a:rPr>
                <a:latin typeface="Arial Unicode MS"/>
                <a:ea typeface="Arial Unicode MS"/>
                <a:cs typeface="Arial Unicode MS"/>
              </a:rPr>
            </a:br>
            <a:r>
              <a:rPr sz="2400">
                <a:latin typeface="Arial Unicode MS"/>
                <a:ea typeface="Arial Unicode MS"/>
                <a:cs typeface="Arial Unicode MS"/>
              </a:rPr>
              <a:t>以下属性：</a:t>
            </a:r>
          </a:p>
          <a:p>
            <a:pPr marL="914400" lvl="2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Employees 的键属性，即 ssn</a:t>
            </a:r>
          </a:p>
          <a:p>
            <a:pPr marL="914400" lvl="2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Sponsors 的键属性，即 did 和 pid</a:t>
            </a:r>
          </a:p>
          <a:p>
            <a:pPr marL="914400" lvl="2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Monitors 的描述性属性，即 until</a:t>
            </a:r>
          </a:p>
          <a:p>
            <a:pPr lvl="2">
              <a:buFont typeface="Wingdings"/>
              <a:buChar char="§"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04FE3-7883-F861-8E84-276CADAF5E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74</a:t>
            </a:fld>
            <a:endParaRPr/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F76904B-9370-3AC6-E27F-BF1F6C62566D}"/>
              </a:ext>
            </a:extLst>
          </p:cNvPr>
          <p:cNvSpPr>
            <a:spLocks noGrp="1"/>
          </p:cNvSpPr>
          <p:nvPr/>
        </p:nvSpPr>
        <p:spPr>
          <a:xfrm>
            <a:off x="7491160" y="3612302"/>
            <a:ext cx="519396" cy="239654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2 w 565"/>
              <a:gd name="T9" fmla="*/ 35 h 240"/>
              <a:gd name="T10" fmla="*/ 444 w 565"/>
              <a:gd name="T11" fmla="*/ 21 h 240"/>
              <a:gd name="T12" fmla="*/ 402 w 565"/>
              <a:gd name="T13" fmla="*/ 11 h 240"/>
              <a:gd name="T14" fmla="*/ 356 w 565"/>
              <a:gd name="T15" fmla="*/ 4 h 240"/>
              <a:gd name="T16" fmla="*/ 307 w 565"/>
              <a:gd name="T17" fmla="*/ 0 h 240"/>
              <a:gd name="T18" fmla="*/ 258 w 565"/>
              <a:gd name="T19" fmla="*/ 0 h 240"/>
              <a:gd name="T20" fmla="*/ 210 w 565"/>
              <a:gd name="T21" fmla="*/ 4 h 240"/>
              <a:gd name="T22" fmla="*/ 163 w 565"/>
              <a:gd name="T23" fmla="*/ 11 h 240"/>
              <a:gd name="T24" fmla="*/ 121 w 565"/>
              <a:gd name="T25" fmla="*/ 21 h 240"/>
              <a:gd name="T26" fmla="*/ 83 w 565"/>
              <a:gd name="T27" fmla="*/ 35 h 240"/>
              <a:gd name="T28" fmla="*/ 52 w 565"/>
              <a:gd name="T29" fmla="*/ 51 h 240"/>
              <a:gd name="T30" fmla="*/ 27 w 565"/>
              <a:gd name="T31" fmla="*/ 68 h 240"/>
              <a:gd name="T32" fmla="*/ 10 w 565"/>
              <a:gd name="T33" fmla="*/ 88 h 240"/>
              <a:gd name="T34" fmla="*/ 2 w 565"/>
              <a:gd name="T35" fmla="*/ 109 h 240"/>
              <a:gd name="T36" fmla="*/ 2 w 565"/>
              <a:gd name="T37" fmla="*/ 129 h 240"/>
              <a:gd name="T38" fmla="*/ 10 w 565"/>
              <a:gd name="T39" fmla="*/ 150 h 240"/>
              <a:gd name="T40" fmla="*/ 27 w 565"/>
              <a:gd name="T41" fmla="*/ 170 h 240"/>
              <a:gd name="T42" fmla="*/ 52 w 565"/>
              <a:gd name="T43" fmla="*/ 188 h 240"/>
              <a:gd name="T44" fmla="*/ 83 w 565"/>
              <a:gd name="T45" fmla="*/ 204 h 240"/>
              <a:gd name="T46" fmla="*/ 121 w 565"/>
              <a:gd name="T47" fmla="*/ 217 h 240"/>
              <a:gd name="T48" fmla="*/ 163 w 565"/>
              <a:gd name="T49" fmla="*/ 227 h 240"/>
              <a:gd name="T50" fmla="*/ 210 w 565"/>
              <a:gd name="T51" fmla="*/ 235 h 240"/>
              <a:gd name="T52" fmla="*/ 258 w 565"/>
              <a:gd name="T53" fmla="*/ 239 h 240"/>
              <a:gd name="T54" fmla="*/ 307 w 565"/>
              <a:gd name="T55" fmla="*/ 239 h 240"/>
              <a:gd name="T56" fmla="*/ 356 w 565"/>
              <a:gd name="T57" fmla="*/ 235 h 240"/>
              <a:gd name="T58" fmla="*/ 402 w 565"/>
              <a:gd name="T59" fmla="*/ 227 h 240"/>
              <a:gd name="T60" fmla="*/ 444 w 565"/>
              <a:gd name="T61" fmla="*/ 217 h 240"/>
              <a:gd name="T62" fmla="*/ 482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0 h 240"/>
              <a:gd name="T70" fmla="*/ 563 w 565"/>
              <a:gd name="T71" fmla="*/ 129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7" y="60"/>
                </a:lnTo>
                <a:lnTo>
                  <a:pt x="513" y="51"/>
                </a:lnTo>
                <a:lnTo>
                  <a:pt x="498" y="42"/>
                </a:lnTo>
                <a:lnTo>
                  <a:pt x="482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5"/>
                </a:lnTo>
                <a:lnTo>
                  <a:pt x="402" y="11"/>
                </a:lnTo>
                <a:lnTo>
                  <a:pt x="379" y="7"/>
                </a:lnTo>
                <a:lnTo>
                  <a:pt x="356" y="4"/>
                </a:lnTo>
                <a:lnTo>
                  <a:pt x="331" y="1"/>
                </a:lnTo>
                <a:lnTo>
                  <a:pt x="307" y="0"/>
                </a:lnTo>
                <a:lnTo>
                  <a:pt x="282" y="0"/>
                </a:lnTo>
                <a:lnTo>
                  <a:pt x="258" y="0"/>
                </a:lnTo>
                <a:lnTo>
                  <a:pt x="234" y="1"/>
                </a:lnTo>
                <a:lnTo>
                  <a:pt x="210" y="4"/>
                </a:lnTo>
                <a:lnTo>
                  <a:pt x="186" y="7"/>
                </a:lnTo>
                <a:lnTo>
                  <a:pt x="163" y="11"/>
                </a:lnTo>
                <a:lnTo>
                  <a:pt x="141" y="15"/>
                </a:lnTo>
                <a:lnTo>
                  <a:pt x="121" y="21"/>
                </a:lnTo>
                <a:lnTo>
                  <a:pt x="101" y="27"/>
                </a:lnTo>
                <a:lnTo>
                  <a:pt x="83" y="35"/>
                </a:lnTo>
                <a:lnTo>
                  <a:pt x="67" y="42"/>
                </a:lnTo>
                <a:lnTo>
                  <a:pt x="52" y="51"/>
                </a:lnTo>
                <a:lnTo>
                  <a:pt x="38" y="60"/>
                </a:lnTo>
                <a:lnTo>
                  <a:pt x="27" y="68"/>
                </a:lnTo>
                <a:lnTo>
                  <a:pt x="18" y="78"/>
                </a:lnTo>
                <a:lnTo>
                  <a:pt x="10" y="88"/>
                </a:lnTo>
                <a:lnTo>
                  <a:pt x="5" y="98"/>
                </a:lnTo>
                <a:lnTo>
                  <a:pt x="2" y="109"/>
                </a:lnTo>
                <a:lnTo>
                  <a:pt x="0" y="119"/>
                </a:lnTo>
                <a:lnTo>
                  <a:pt x="2" y="129"/>
                </a:lnTo>
                <a:lnTo>
                  <a:pt x="5" y="140"/>
                </a:lnTo>
                <a:lnTo>
                  <a:pt x="10" y="150"/>
                </a:lnTo>
                <a:lnTo>
                  <a:pt x="18" y="160"/>
                </a:lnTo>
                <a:lnTo>
                  <a:pt x="27" y="170"/>
                </a:lnTo>
                <a:lnTo>
                  <a:pt x="38" y="179"/>
                </a:lnTo>
                <a:lnTo>
                  <a:pt x="52" y="188"/>
                </a:lnTo>
                <a:lnTo>
                  <a:pt x="67" y="196"/>
                </a:lnTo>
                <a:lnTo>
                  <a:pt x="83" y="204"/>
                </a:lnTo>
                <a:lnTo>
                  <a:pt x="101" y="211"/>
                </a:lnTo>
                <a:lnTo>
                  <a:pt x="121" y="217"/>
                </a:lnTo>
                <a:lnTo>
                  <a:pt x="141" y="223"/>
                </a:lnTo>
                <a:lnTo>
                  <a:pt x="163" y="227"/>
                </a:lnTo>
                <a:lnTo>
                  <a:pt x="186" y="231"/>
                </a:lnTo>
                <a:lnTo>
                  <a:pt x="210" y="235"/>
                </a:lnTo>
                <a:lnTo>
                  <a:pt x="234" y="237"/>
                </a:lnTo>
                <a:lnTo>
                  <a:pt x="258" y="239"/>
                </a:lnTo>
                <a:lnTo>
                  <a:pt x="282" y="239"/>
                </a:lnTo>
                <a:lnTo>
                  <a:pt x="307" y="239"/>
                </a:lnTo>
                <a:lnTo>
                  <a:pt x="331" y="237"/>
                </a:lnTo>
                <a:lnTo>
                  <a:pt x="356" y="235"/>
                </a:lnTo>
                <a:lnTo>
                  <a:pt x="379" y="231"/>
                </a:lnTo>
                <a:lnTo>
                  <a:pt x="402" y="227"/>
                </a:lnTo>
                <a:lnTo>
                  <a:pt x="423" y="223"/>
                </a:lnTo>
                <a:lnTo>
                  <a:pt x="444" y="217"/>
                </a:lnTo>
                <a:lnTo>
                  <a:pt x="464" y="211"/>
                </a:lnTo>
                <a:lnTo>
                  <a:pt x="482" y="204"/>
                </a:lnTo>
                <a:lnTo>
                  <a:pt x="498" y="196"/>
                </a:lnTo>
                <a:lnTo>
                  <a:pt x="513" y="188"/>
                </a:lnTo>
                <a:lnTo>
                  <a:pt x="527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0"/>
                </a:lnTo>
                <a:lnTo>
                  <a:pt x="560" y="140"/>
                </a:lnTo>
                <a:lnTo>
                  <a:pt x="563" y="129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56" name="Freeform 8">
            <a:extLst>
              <a:ext uri="{FF2B5EF4-FFF2-40B4-BE49-F238E27FC236}">
                <a16:creationId xmlns:a16="http://schemas.microsoft.com/office/drawing/2014/main" id="{E54E878C-C5E0-BAF8-B113-17D37A002999}"/>
              </a:ext>
            </a:extLst>
          </p:cNvPr>
          <p:cNvSpPr>
            <a:spLocks noGrp="1"/>
          </p:cNvSpPr>
          <p:nvPr/>
        </p:nvSpPr>
        <p:spPr>
          <a:xfrm>
            <a:off x="8444459" y="3612302"/>
            <a:ext cx="519395" cy="239654"/>
          </a:xfrm>
          <a:custGeom>
            <a:avLst/>
            <a:gdLst>
              <a:gd name="T0" fmla="*/ 1 w 565"/>
              <a:gd name="T1" fmla="*/ 129 h 240"/>
              <a:gd name="T2" fmla="*/ 9 w 565"/>
              <a:gd name="T3" fmla="*/ 150 h 240"/>
              <a:gd name="T4" fmla="*/ 27 w 565"/>
              <a:gd name="T5" fmla="*/ 170 h 240"/>
              <a:gd name="T6" fmla="*/ 51 w 565"/>
              <a:gd name="T7" fmla="*/ 188 h 240"/>
              <a:gd name="T8" fmla="*/ 83 w 565"/>
              <a:gd name="T9" fmla="*/ 204 h 240"/>
              <a:gd name="T10" fmla="*/ 120 w 565"/>
              <a:gd name="T11" fmla="*/ 217 h 240"/>
              <a:gd name="T12" fmla="*/ 163 w 565"/>
              <a:gd name="T13" fmla="*/ 227 h 240"/>
              <a:gd name="T14" fmla="*/ 209 w 565"/>
              <a:gd name="T15" fmla="*/ 235 h 240"/>
              <a:gd name="T16" fmla="*/ 257 w 565"/>
              <a:gd name="T17" fmla="*/ 239 h 240"/>
              <a:gd name="T18" fmla="*/ 306 w 565"/>
              <a:gd name="T19" fmla="*/ 239 h 240"/>
              <a:gd name="T20" fmla="*/ 355 w 565"/>
              <a:gd name="T21" fmla="*/ 235 h 240"/>
              <a:gd name="T22" fmla="*/ 401 w 565"/>
              <a:gd name="T23" fmla="*/ 227 h 240"/>
              <a:gd name="T24" fmla="*/ 443 w 565"/>
              <a:gd name="T25" fmla="*/ 217 h 240"/>
              <a:gd name="T26" fmla="*/ 481 w 565"/>
              <a:gd name="T27" fmla="*/ 204 h 240"/>
              <a:gd name="T28" fmla="*/ 513 w 565"/>
              <a:gd name="T29" fmla="*/ 188 h 240"/>
              <a:gd name="T30" fmla="*/ 537 w 565"/>
              <a:gd name="T31" fmla="*/ 169 h 240"/>
              <a:gd name="T32" fmla="*/ 554 w 565"/>
              <a:gd name="T33" fmla="*/ 150 h 240"/>
              <a:gd name="T34" fmla="*/ 563 w 565"/>
              <a:gd name="T35" fmla="*/ 129 h 240"/>
              <a:gd name="T36" fmla="*/ 563 w 565"/>
              <a:gd name="T37" fmla="*/ 108 h 240"/>
              <a:gd name="T38" fmla="*/ 554 w 565"/>
              <a:gd name="T39" fmla="*/ 88 h 240"/>
              <a:gd name="T40" fmla="*/ 537 w 565"/>
              <a:gd name="T41" fmla="*/ 68 h 240"/>
              <a:gd name="T42" fmla="*/ 513 w 565"/>
              <a:gd name="T43" fmla="*/ 50 h 240"/>
              <a:gd name="T44" fmla="*/ 481 w 565"/>
              <a:gd name="T45" fmla="*/ 35 h 240"/>
              <a:gd name="T46" fmla="*/ 443 w 565"/>
              <a:gd name="T47" fmla="*/ 21 h 240"/>
              <a:gd name="T48" fmla="*/ 401 w 565"/>
              <a:gd name="T49" fmla="*/ 11 h 240"/>
              <a:gd name="T50" fmla="*/ 355 w 565"/>
              <a:gd name="T51" fmla="*/ 4 h 240"/>
              <a:gd name="T52" fmla="*/ 306 w 565"/>
              <a:gd name="T53" fmla="*/ 0 h 240"/>
              <a:gd name="T54" fmla="*/ 257 w 565"/>
              <a:gd name="T55" fmla="*/ 0 h 240"/>
              <a:gd name="T56" fmla="*/ 209 w 565"/>
              <a:gd name="T57" fmla="*/ 4 h 240"/>
              <a:gd name="T58" fmla="*/ 163 w 565"/>
              <a:gd name="T59" fmla="*/ 11 h 240"/>
              <a:gd name="T60" fmla="*/ 120 w 565"/>
              <a:gd name="T61" fmla="*/ 21 h 240"/>
              <a:gd name="T62" fmla="*/ 83 w 565"/>
              <a:gd name="T63" fmla="*/ 35 h 240"/>
              <a:gd name="T64" fmla="*/ 51 w 565"/>
              <a:gd name="T65" fmla="*/ 51 h 240"/>
              <a:gd name="T66" fmla="*/ 27 w 565"/>
              <a:gd name="T67" fmla="*/ 68 h 240"/>
              <a:gd name="T68" fmla="*/ 9 w 565"/>
              <a:gd name="T69" fmla="*/ 88 h 240"/>
              <a:gd name="T70" fmla="*/ 1 w 565"/>
              <a:gd name="T71" fmla="*/ 109 h 240"/>
            </a:gdLst>
            <a:ahLst/>
            <a:cxnLst/>
            <a:rect l="0" t="0" r="r" b="b"/>
            <a:pathLst>
              <a:path w="565" h="240">
                <a:moveTo>
                  <a:pt x="0" y="119"/>
                </a:moveTo>
                <a:lnTo>
                  <a:pt x="1" y="129"/>
                </a:lnTo>
                <a:lnTo>
                  <a:pt x="4" y="140"/>
                </a:lnTo>
                <a:lnTo>
                  <a:pt x="9" y="150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6"/>
                </a:lnTo>
                <a:lnTo>
                  <a:pt x="83" y="204"/>
                </a:lnTo>
                <a:lnTo>
                  <a:pt x="101" y="211"/>
                </a:lnTo>
                <a:lnTo>
                  <a:pt x="120" y="217"/>
                </a:lnTo>
                <a:lnTo>
                  <a:pt x="141" y="223"/>
                </a:lnTo>
                <a:lnTo>
                  <a:pt x="163" y="227"/>
                </a:lnTo>
                <a:lnTo>
                  <a:pt x="185" y="231"/>
                </a:lnTo>
                <a:lnTo>
                  <a:pt x="209" y="235"/>
                </a:lnTo>
                <a:lnTo>
                  <a:pt x="233" y="237"/>
                </a:lnTo>
                <a:lnTo>
                  <a:pt x="257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8" y="231"/>
                </a:lnTo>
                <a:lnTo>
                  <a:pt x="401" y="227"/>
                </a:lnTo>
                <a:lnTo>
                  <a:pt x="423" y="223"/>
                </a:lnTo>
                <a:lnTo>
                  <a:pt x="443" y="217"/>
                </a:lnTo>
                <a:lnTo>
                  <a:pt x="463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7" y="169"/>
                </a:lnTo>
                <a:lnTo>
                  <a:pt x="547" y="160"/>
                </a:lnTo>
                <a:lnTo>
                  <a:pt x="554" y="150"/>
                </a:lnTo>
                <a:lnTo>
                  <a:pt x="559" y="140"/>
                </a:lnTo>
                <a:lnTo>
                  <a:pt x="563" y="129"/>
                </a:lnTo>
                <a:lnTo>
                  <a:pt x="564" y="119"/>
                </a:lnTo>
                <a:lnTo>
                  <a:pt x="563" y="108"/>
                </a:lnTo>
                <a:lnTo>
                  <a:pt x="559" y="98"/>
                </a:lnTo>
                <a:lnTo>
                  <a:pt x="554" y="88"/>
                </a:lnTo>
                <a:lnTo>
                  <a:pt x="547" y="78"/>
                </a:lnTo>
                <a:lnTo>
                  <a:pt x="537" y="68"/>
                </a:lnTo>
                <a:lnTo>
                  <a:pt x="526" y="59"/>
                </a:lnTo>
                <a:lnTo>
                  <a:pt x="513" y="50"/>
                </a:lnTo>
                <a:lnTo>
                  <a:pt x="498" y="42"/>
                </a:lnTo>
                <a:lnTo>
                  <a:pt x="481" y="35"/>
                </a:lnTo>
                <a:lnTo>
                  <a:pt x="463" y="27"/>
                </a:lnTo>
                <a:lnTo>
                  <a:pt x="443" y="21"/>
                </a:lnTo>
                <a:lnTo>
                  <a:pt x="423" y="15"/>
                </a:lnTo>
                <a:lnTo>
                  <a:pt x="401" y="11"/>
                </a:lnTo>
                <a:lnTo>
                  <a:pt x="378" y="6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7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6"/>
                </a:lnTo>
                <a:lnTo>
                  <a:pt x="120" y="21"/>
                </a:lnTo>
                <a:lnTo>
                  <a:pt x="100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8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57" name="Freeform 9">
            <a:extLst>
              <a:ext uri="{FF2B5EF4-FFF2-40B4-BE49-F238E27FC236}">
                <a16:creationId xmlns:a16="http://schemas.microsoft.com/office/drawing/2014/main" id="{E09AB93F-DADA-B0CE-21E2-D9068ABF7940}"/>
              </a:ext>
            </a:extLst>
          </p:cNvPr>
          <p:cNvSpPr>
            <a:spLocks noGrp="1"/>
          </p:cNvSpPr>
          <p:nvPr/>
        </p:nvSpPr>
        <p:spPr>
          <a:xfrm>
            <a:off x="6148084" y="3377640"/>
            <a:ext cx="677512" cy="230668"/>
          </a:xfrm>
          <a:custGeom>
            <a:avLst/>
            <a:gdLst>
              <a:gd name="T0" fmla="*/ 736 w 737"/>
              <a:gd name="T1" fmla="*/ 105 h 231"/>
              <a:gd name="T2" fmla="*/ 724 w 737"/>
              <a:gd name="T3" fmla="*/ 85 h 231"/>
              <a:gd name="T4" fmla="*/ 702 w 737"/>
              <a:gd name="T5" fmla="*/ 67 h 231"/>
              <a:gd name="T6" fmla="*/ 670 w 737"/>
              <a:gd name="T7" fmla="*/ 48 h 231"/>
              <a:gd name="T8" fmla="*/ 628 w 737"/>
              <a:gd name="T9" fmla="*/ 33 h 231"/>
              <a:gd name="T10" fmla="*/ 579 w 737"/>
              <a:gd name="T11" fmla="*/ 21 h 231"/>
              <a:gd name="T12" fmla="*/ 524 w 737"/>
              <a:gd name="T13" fmla="*/ 10 h 231"/>
              <a:gd name="T14" fmla="*/ 464 w 737"/>
              <a:gd name="T15" fmla="*/ 3 h 231"/>
              <a:gd name="T16" fmla="*/ 400 w 737"/>
              <a:gd name="T17" fmla="*/ 0 h 231"/>
              <a:gd name="T18" fmla="*/ 336 w 737"/>
              <a:gd name="T19" fmla="*/ 0 h 231"/>
              <a:gd name="T20" fmla="*/ 274 w 737"/>
              <a:gd name="T21" fmla="*/ 3 h 231"/>
              <a:gd name="T22" fmla="*/ 214 w 737"/>
              <a:gd name="T23" fmla="*/ 10 h 231"/>
              <a:gd name="T24" fmla="*/ 157 w 737"/>
              <a:gd name="T25" fmla="*/ 21 h 231"/>
              <a:gd name="T26" fmla="*/ 108 w 737"/>
              <a:gd name="T27" fmla="*/ 33 h 231"/>
              <a:gd name="T28" fmla="*/ 66 w 737"/>
              <a:gd name="T29" fmla="*/ 48 h 231"/>
              <a:gd name="T30" fmla="*/ 35 w 737"/>
              <a:gd name="T31" fmla="*/ 67 h 231"/>
              <a:gd name="T32" fmla="*/ 13 w 737"/>
              <a:gd name="T33" fmla="*/ 85 h 231"/>
              <a:gd name="T34" fmla="*/ 1 w 737"/>
              <a:gd name="T35" fmla="*/ 105 h 231"/>
              <a:gd name="T36" fmla="*/ 1 w 737"/>
              <a:gd name="T37" fmla="*/ 125 h 231"/>
              <a:gd name="T38" fmla="*/ 13 w 737"/>
              <a:gd name="T39" fmla="*/ 144 h 231"/>
              <a:gd name="T40" fmla="*/ 35 w 737"/>
              <a:gd name="T41" fmla="*/ 163 h 231"/>
              <a:gd name="T42" fmla="*/ 66 w 737"/>
              <a:gd name="T43" fmla="*/ 181 h 231"/>
              <a:gd name="T44" fmla="*/ 108 w 737"/>
              <a:gd name="T45" fmla="*/ 196 h 231"/>
              <a:gd name="T46" fmla="*/ 157 w 737"/>
              <a:gd name="T47" fmla="*/ 208 h 231"/>
              <a:gd name="T48" fmla="*/ 214 w 737"/>
              <a:gd name="T49" fmla="*/ 219 h 231"/>
              <a:gd name="T50" fmla="*/ 274 w 737"/>
              <a:gd name="T51" fmla="*/ 226 h 231"/>
              <a:gd name="T52" fmla="*/ 336 w 737"/>
              <a:gd name="T53" fmla="*/ 229 h 231"/>
              <a:gd name="T54" fmla="*/ 400 w 737"/>
              <a:gd name="T55" fmla="*/ 229 h 231"/>
              <a:gd name="T56" fmla="*/ 464 w 737"/>
              <a:gd name="T57" fmla="*/ 226 h 231"/>
              <a:gd name="T58" fmla="*/ 524 w 737"/>
              <a:gd name="T59" fmla="*/ 219 h 231"/>
              <a:gd name="T60" fmla="*/ 579 w 737"/>
              <a:gd name="T61" fmla="*/ 208 h 231"/>
              <a:gd name="T62" fmla="*/ 628 w 737"/>
              <a:gd name="T63" fmla="*/ 196 h 231"/>
              <a:gd name="T64" fmla="*/ 670 w 737"/>
              <a:gd name="T65" fmla="*/ 181 h 231"/>
              <a:gd name="T66" fmla="*/ 702 w 737"/>
              <a:gd name="T67" fmla="*/ 163 h 231"/>
              <a:gd name="T68" fmla="*/ 724 w 737"/>
              <a:gd name="T69" fmla="*/ 144 h 231"/>
              <a:gd name="T70" fmla="*/ 736 w 737"/>
              <a:gd name="T71" fmla="*/ 125 h 231"/>
            </a:gdLst>
            <a:ahLst/>
            <a:cxnLst/>
            <a:rect l="0" t="0" r="r" b="b"/>
            <a:pathLst>
              <a:path w="737" h="231">
                <a:moveTo>
                  <a:pt x="736" y="115"/>
                </a:moveTo>
                <a:lnTo>
                  <a:pt x="736" y="105"/>
                </a:lnTo>
                <a:lnTo>
                  <a:pt x="730" y="94"/>
                </a:lnTo>
                <a:lnTo>
                  <a:pt x="724" y="85"/>
                </a:lnTo>
                <a:lnTo>
                  <a:pt x="715" y="75"/>
                </a:lnTo>
                <a:lnTo>
                  <a:pt x="702" y="67"/>
                </a:lnTo>
                <a:lnTo>
                  <a:pt x="687" y="57"/>
                </a:lnTo>
                <a:lnTo>
                  <a:pt x="670" y="48"/>
                </a:lnTo>
                <a:lnTo>
                  <a:pt x="651" y="41"/>
                </a:lnTo>
                <a:lnTo>
                  <a:pt x="628" y="33"/>
                </a:lnTo>
                <a:lnTo>
                  <a:pt x="605" y="27"/>
                </a:lnTo>
                <a:lnTo>
                  <a:pt x="579" y="21"/>
                </a:lnTo>
                <a:lnTo>
                  <a:pt x="552" y="15"/>
                </a:lnTo>
                <a:lnTo>
                  <a:pt x="524" y="10"/>
                </a:lnTo>
                <a:lnTo>
                  <a:pt x="494" y="7"/>
                </a:lnTo>
                <a:lnTo>
                  <a:pt x="464" y="3"/>
                </a:lnTo>
                <a:lnTo>
                  <a:pt x="433" y="1"/>
                </a:lnTo>
                <a:lnTo>
                  <a:pt x="400" y="0"/>
                </a:lnTo>
                <a:lnTo>
                  <a:pt x="368" y="0"/>
                </a:lnTo>
                <a:lnTo>
                  <a:pt x="336" y="0"/>
                </a:lnTo>
                <a:lnTo>
                  <a:pt x="305" y="1"/>
                </a:lnTo>
                <a:lnTo>
                  <a:pt x="274" y="3"/>
                </a:lnTo>
                <a:lnTo>
                  <a:pt x="242" y="7"/>
                </a:lnTo>
                <a:lnTo>
                  <a:pt x="214" y="10"/>
                </a:lnTo>
                <a:lnTo>
                  <a:pt x="184" y="15"/>
                </a:lnTo>
                <a:lnTo>
                  <a:pt x="157" y="21"/>
                </a:lnTo>
                <a:lnTo>
                  <a:pt x="131" y="27"/>
                </a:lnTo>
                <a:lnTo>
                  <a:pt x="108" y="33"/>
                </a:lnTo>
                <a:lnTo>
                  <a:pt x="86" y="41"/>
                </a:lnTo>
                <a:lnTo>
                  <a:pt x="66" y="48"/>
                </a:lnTo>
                <a:lnTo>
                  <a:pt x="50" y="57"/>
                </a:lnTo>
                <a:lnTo>
                  <a:pt x="35" y="67"/>
                </a:lnTo>
                <a:lnTo>
                  <a:pt x="23" y="75"/>
                </a:lnTo>
                <a:lnTo>
                  <a:pt x="13" y="85"/>
                </a:lnTo>
                <a:lnTo>
                  <a:pt x="6" y="94"/>
                </a:lnTo>
                <a:lnTo>
                  <a:pt x="1" y="105"/>
                </a:lnTo>
                <a:lnTo>
                  <a:pt x="0" y="115"/>
                </a:lnTo>
                <a:lnTo>
                  <a:pt x="1" y="125"/>
                </a:lnTo>
                <a:lnTo>
                  <a:pt x="6" y="135"/>
                </a:lnTo>
                <a:lnTo>
                  <a:pt x="13" y="144"/>
                </a:lnTo>
                <a:lnTo>
                  <a:pt x="23" y="154"/>
                </a:lnTo>
                <a:lnTo>
                  <a:pt x="35" y="163"/>
                </a:lnTo>
                <a:lnTo>
                  <a:pt x="50" y="172"/>
                </a:lnTo>
                <a:lnTo>
                  <a:pt x="66" y="181"/>
                </a:lnTo>
                <a:lnTo>
                  <a:pt x="86" y="188"/>
                </a:lnTo>
                <a:lnTo>
                  <a:pt x="108" y="196"/>
                </a:lnTo>
                <a:lnTo>
                  <a:pt x="131" y="203"/>
                </a:lnTo>
                <a:lnTo>
                  <a:pt x="157" y="208"/>
                </a:lnTo>
                <a:lnTo>
                  <a:pt x="184" y="214"/>
                </a:lnTo>
                <a:lnTo>
                  <a:pt x="214" y="219"/>
                </a:lnTo>
                <a:lnTo>
                  <a:pt x="242" y="223"/>
                </a:lnTo>
                <a:lnTo>
                  <a:pt x="274" y="226"/>
                </a:lnTo>
                <a:lnTo>
                  <a:pt x="305" y="228"/>
                </a:lnTo>
                <a:lnTo>
                  <a:pt x="336" y="229"/>
                </a:lnTo>
                <a:lnTo>
                  <a:pt x="368" y="230"/>
                </a:lnTo>
                <a:lnTo>
                  <a:pt x="400" y="229"/>
                </a:lnTo>
                <a:lnTo>
                  <a:pt x="433" y="228"/>
                </a:lnTo>
                <a:lnTo>
                  <a:pt x="464" y="226"/>
                </a:lnTo>
                <a:lnTo>
                  <a:pt x="494" y="223"/>
                </a:lnTo>
                <a:lnTo>
                  <a:pt x="524" y="219"/>
                </a:lnTo>
                <a:lnTo>
                  <a:pt x="552" y="214"/>
                </a:lnTo>
                <a:lnTo>
                  <a:pt x="579" y="208"/>
                </a:lnTo>
                <a:lnTo>
                  <a:pt x="605" y="203"/>
                </a:lnTo>
                <a:lnTo>
                  <a:pt x="628" y="196"/>
                </a:lnTo>
                <a:lnTo>
                  <a:pt x="651" y="188"/>
                </a:lnTo>
                <a:lnTo>
                  <a:pt x="670" y="181"/>
                </a:lnTo>
                <a:lnTo>
                  <a:pt x="687" y="172"/>
                </a:lnTo>
                <a:lnTo>
                  <a:pt x="702" y="163"/>
                </a:lnTo>
                <a:lnTo>
                  <a:pt x="715" y="154"/>
                </a:lnTo>
                <a:lnTo>
                  <a:pt x="724" y="144"/>
                </a:lnTo>
                <a:lnTo>
                  <a:pt x="730" y="135"/>
                </a:lnTo>
                <a:lnTo>
                  <a:pt x="736" y="125"/>
                </a:lnTo>
                <a:lnTo>
                  <a:pt x="736" y="115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58" name="Freeform 10">
            <a:extLst>
              <a:ext uri="{FF2B5EF4-FFF2-40B4-BE49-F238E27FC236}">
                <a16:creationId xmlns:a16="http://schemas.microsoft.com/office/drawing/2014/main" id="{748152FE-77A9-8855-301C-BB0F19E1AF16}"/>
              </a:ext>
            </a:extLst>
          </p:cNvPr>
          <p:cNvSpPr>
            <a:spLocks noGrp="1"/>
          </p:cNvSpPr>
          <p:nvPr/>
        </p:nvSpPr>
        <p:spPr>
          <a:xfrm>
            <a:off x="5677410" y="3612302"/>
            <a:ext cx="519395" cy="239654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1 w 565"/>
              <a:gd name="T9" fmla="*/ 35 h 240"/>
              <a:gd name="T10" fmla="*/ 444 w 565"/>
              <a:gd name="T11" fmla="*/ 21 h 240"/>
              <a:gd name="T12" fmla="*/ 401 w 565"/>
              <a:gd name="T13" fmla="*/ 11 h 240"/>
              <a:gd name="T14" fmla="*/ 355 w 565"/>
              <a:gd name="T15" fmla="*/ 4 h 240"/>
              <a:gd name="T16" fmla="*/ 306 w 565"/>
              <a:gd name="T17" fmla="*/ 0 h 240"/>
              <a:gd name="T18" fmla="*/ 258 w 565"/>
              <a:gd name="T19" fmla="*/ 0 h 240"/>
              <a:gd name="T20" fmla="*/ 209 w 565"/>
              <a:gd name="T21" fmla="*/ 4 h 240"/>
              <a:gd name="T22" fmla="*/ 163 w 565"/>
              <a:gd name="T23" fmla="*/ 11 h 240"/>
              <a:gd name="T24" fmla="*/ 120 w 565"/>
              <a:gd name="T25" fmla="*/ 21 h 240"/>
              <a:gd name="T26" fmla="*/ 83 w 565"/>
              <a:gd name="T27" fmla="*/ 35 h 240"/>
              <a:gd name="T28" fmla="*/ 51 w 565"/>
              <a:gd name="T29" fmla="*/ 51 h 240"/>
              <a:gd name="T30" fmla="*/ 27 w 565"/>
              <a:gd name="T31" fmla="*/ 68 h 240"/>
              <a:gd name="T32" fmla="*/ 9 w 565"/>
              <a:gd name="T33" fmla="*/ 88 h 240"/>
              <a:gd name="T34" fmla="*/ 1 w 565"/>
              <a:gd name="T35" fmla="*/ 109 h 240"/>
              <a:gd name="T36" fmla="*/ 1 w 565"/>
              <a:gd name="T37" fmla="*/ 129 h 240"/>
              <a:gd name="T38" fmla="*/ 9 w 565"/>
              <a:gd name="T39" fmla="*/ 150 h 240"/>
              <a:gd name="T40" fmla="*/ 27 w 565"/>
              <a:gd name="T41" fmla="*/ 170 h 240"/>
              <a:gd name="T42" fmla="*/ 51 w 565"/>
              <a:gd name="T43" fmla="*/ 188 h 240"/>
              <a:gd name="T44" fmla="*/ 83 w 565"/>
              <a:gd name="T45" fmla="*/ 204 h 240"/>
              <a:gd name="T46" fmla="*/ 120 w 565"/>
              <a:gd name="T47" fmla="*/ 217 h 240"/>
              <a:gd name="T48" fmla="*/ 163 w 565"/>
              <a:gd name="T49" fmla="*/ 227 h 240"/>
              <a:gd name="T50" fmla="*/ 209 w 565"/>
              <a:gd name="T51" fmla="*/ 235 h 240"/>
              <a:gd name="T52" fmla="*/ 258 w 565"/>
              <a:gd name="T53" fmla="*/ 239 h 240"/>
              <a:gd name="T54" fmla="*/ 306 w 565"/>
              <a:gd name="T55" fmla="*/ 239 h 240"/>
              <a:gd name="T56" fmla="*/ 355 w 565"/>
              <a:gd name="T57" fmla="*/ 235 h 240"/>
              <a:gd name="T58" fmla="*/ 401 w 565"/>
              <a:gd name="T59" fmla="*/ 227 h 240"/>
              <a:gd name="T60" fmla="*/ 444 w 565"/>
              <a:gd name="T61" fmla="*/ 217 h 240"/>
              <a:gd name="T62" fmla="*/ 481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0 h 240"/>
              <a:gd name="T70" fmla="*/ 563 w 565"/>
              <a:gd name="T71" fmla="*/ 129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6" y="60"/>
                </a:lnTo>
                <a:lnTo>
                  <a:pt x="513" y="51"/>
                </a:lnTo>
                <a:lnTo>
                  <a:pt x="498" y="42"/>
                </a:lnTo>
                <a:lnTo>
                  <a:pt x="481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5"/>
                </a:lnTo>
                <a:lnTo>
                  <a:pt x="401" y="11"/>
                </a:lnTo>
                <a:lnTo>
                  <a:pt x="379" y="7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8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5"/>
                </a:lnTo>
                <a:lnTo>
                  <a:pt x="120" y="21"/>
                </a:lnTo>
                <a:lnTo>
                  <a:pt x="101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8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  <a:lnTo>
                  <a:pt x="1" y="129"/>
                </a:lnTo>
                <a:lnTo>
                  <a:pt x="4" y="140"/>
                </a:lnTo>
                <a:lnTo>
                  <a:pt x="9" y="150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6"/>
                </a:lnTo>
                <a:lnTo>
                  <a:pt x="83" y="204"/>
                </a:lnTo>
                <a:lnTo>
                  <a:pt x="101" y="211"/>
                </a:lnTo>
                <a:lnTo>
                  <a:pt x="120" y="217"/>
                </a:lnTo>
                <a:lnTo>
                  <a:pt x="141" y="223"/>
                </a:lnTo>
                <a:lnTo>
                  <a:pt x="163" y="227"/>
                </a:lnTo>
                <a:lnTo>
                  <a:pt x="185" y="231"/>
                </a:lnTo>
                <a:lnTo>
                  <a:pt x="209" y="235"/>
                </a:lnTo>
                <a:lnTo>
                  <a:pt x="233" y="237"/>
                </a:lnTo>
                <a:lnTo>
                  <a:pt x="258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9" y="231"/>
                </a:lnTo>
                <a:lnTo>
                  <a:pt x="401" y="227"/>
                </a:lnTo>
                <a:lnTo>
                  <a:pt x="423" y="223"/>
                </a:lnTo>
                <a:lnTo>
                  <a:pt x="444" y="217"/>
                </a:lnTo>
                <a:lnTo>
                  <a:pt x="464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0"/>
                </a:lnTo>
                <a:lnTo>
                  <a:pt x="560" y="140"/>
                </a:lnTo>
                <a:lnTo>
                  <a:pt x="563" y="129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59" name="Freeform 11">
            <a:extLst>
              <a:ext uri="{FF2B5EF4-FFF2-40B4-BE49-F238E27FC236}">
                <a16:creationId xmlns:a16="http://schemas.microsoft.com/office/drawing/2014/main" id="{3942C982-AC9F-EBE1-A3F3-49F83562C2CF}"/>
              </a:ext>
            </a:extLst>
          </p:cNvPr>
          <p:cNvSpPr>
            <a:spLocks noGrp="1"/>
          </p:cNvSpPr>
          <p:nvPr/>
        </p:nvSpPr>
        <p:spPr>
          <a:xfrm>
            <a:off x="6629790" y="3612302"/>
            <a:ext cx="656369" cy="239654"/>
          </a:xfrm>
          <a:custGeom>
            <a:avLst/>
            <a:gdLst>
              <a:gd name="T0" fmla="*/ 2 w 714"/>
              <a:gd name="T1" fmla="*/ 129 h 240"/>
              <a:gd name="T2" fmla="*/ 12 w 714"/>
              <a:gd name="T3" fmla="*/ 150 h 240"/>
              <a:gd name="T4" fmla="*/ 34 w 714"/>
              <a:gd name="T5" fmla="*/ 170 h 240"/>
              <a:gd name="T6" fmla="*/ 64 w 714"/>
              <a:gd name="T7" fmla="*/ 188 h 240"/>
              <a:gd name="T8" fmla="*/ 104 w 714"/>
              <a:gd name="T9" fmla="*/ 204 h 240"/>
              <a:gd name="T10" fmla="*/ 152 w 714"/>
              <a:gd name="T11" fmla="*/ 217 h 240"/>
              <a:gd name="T12" fmla="*/ 206 w 714"/>
              <a:gd name="T13" fmla="*/ 227 h 240"/>
              <a:gd name="T14" fmla="*/ 265 w 714"/>
              <a:gd name="T15" fmla="*/ 235 h 240"/>
              <a:gd name="T16" fmla="*/ 326 w 714"/>
              <a:gd name="T17" fmla="*/ 239 h 240"/>
              <a:gd name="T18" fmla="*/ 388 w 714"/>
              <a:gd name="T19" fmla="*/ 239 h 240"/>
              <a:gd name="T20" fmla="*/ 450 w 714"/>
              <a:gd name="T21" fmla="*/ 235 h 240"/>
              <a:gd name="T22" fmla="*/ 508 w 714"/>
              <a:gd name="T23" fmla="*/ 227 h 240"/>
              <a:gd name="T24" fmla="*/ 561 w 714"/>
              <a:gd name="T25" fmla="*/ 217 h 240"/>
              <a:gd name="T26" fmla="*/ 609 w 714"/>
              <a:gd name="T27" fmla="*/ 204 h 240"/>
              <a:gd name="T28" fmla="*/ 648 w 714"/>
              <a:gd name="T29" fmla="*/ 188 h 240"/>
              <a:gd name="T30" fmla="*/ 680 w 714"/>
              <a:gd name="T31" fmla="*/ 169 h 240"/>
              <a:gd name="T32" fmla="*/ 701 w 714"/>
              <a:gd name="T33" fmla="*/ 150 h 240"/>
              <a:gd name="T34" fmla="*/ 711 w 714"/>
              <a:gd name="T35" fmla="*/ 129 h 240"/>
              <a:gd name="T36" fmla="*/ 711 w 714"/>
              <a:gd name="T37" fmla="*/ 108 h 240"/>
              <a:gd name="T38" fmla="*/ 701 w 714"/>
              <a:gd name="T39" fmla="*/ 88 h 240"/>
              <a:gd name="T40" fmla="*/ 680 w 714"/>
              <a:gd name="T41" fmla="*/ 68 h 240"/>
              <a:gd name="T42" fmla="*/ 648 w 714"/>
              <a:gd name="T43" fmla="*/ 50 h 240"/>
              <a:gd name="T44" fmla="*/ 609 w 714"/>
              <a:gd name="T45" fmla="*/ 35 h 240"/>
              <a:gd name="T46" fmla="*/ 561 w 714"/>
              <a:gd name="T47" fmla="*/ 21 h 240"/>
              <a:gd name="T48" fmla="*/ 508 w 714"/>
              <a:gd name="T49" fmla="*/ 11 h 240"/>
              <a:gd name="T50" fmla="*/ 448 w 714"/>
              <a:gd name="T51" fmla="*/ 4 h 240"/>
              <a:gd name="T52" fmla="*/ 388 w 714"/>
              <a:gd name="T53" fmla="*/ 0 h 240"/>
              <a:gd name="T54" fmla="*/ 326 w 714"/>
              <a:gd name="T55" fmla="*/ 0 h 240"/>
              <a:gd name="T56" fmla="*/ 264 w 714"/>
              <a:gd name="T57" fmla="*/ 4 h 240"/>
              <a:gd name="T58" fmla="*/ 206 w 714"/>
              <a:gd name="T59" fmla="*/ 11 h 240"/>
              <a:gd name="T60" fmla="*/ 152 w 714"/>
              <a:gd name="T61" fmla="*/ 21 h 240"/>
              <a:gd name="T62" fmla="*/ 104 w 714"/>
              <a:gd name="T63" fmla="*/ 35 h 240"/>
              <a:gd name="T64" fmla="*/ 64 w 714"/>
              <a:gd name="T65" fmla="*/ 51 h 240"/>
              <a:gd name="T66" fmla="*/ 34 w 714"/>
              <a:gd name="T67" fmla="*/ 68 h 240"/>
              <a:gd name="T68" fmla="*/ 12 w 714"/>
              <a:gd name="T69" fmla="*/ 88 h 240"/>
              <a:gd name="T70" fmla="*/ 2 w 714"/>
              <a:gd name="T71" fmla="*/ 109 h 240"/>
            </a:gdLst>
            <a:ahLst/>
            <a:cxnLst/>
            <a:rect l="0" t="0" r="r" b="b"/>
            <a:pathLst>
              <a:path w="714" h="240">
                <a:moveTo>
                  <a:pt x="0" y="119"/>
                </a:moveTo>
                <a:lnTo>
                  <a:pt x="2" y="129"/>
                </a:lnTo>
                <a:lnTo>
                  <a:pt x="6" y="140"/>
                </a:lnTo>
                <a:lnTo>
                  <a:pt x="12" y="150"/>
                </a:lnTo>
                <a:lnTo>
                  <a:pt x="22" y="160"/>
                </a:lnTo>
                <a:lnTo>
                  <a:pt x="34" y="170"/>
                </a:lnTo>
                <a:lnTo>
                  <a:pt x="48" y="179"/>
                </a:lnTo>
                <a:lnTo>
                  <a:pt x="64" y="188"/>
                </a:lnTo>
                <a:lnTo>
                  <a:pt x="83" y="196"/>
                </a:lnTo>
                <a:lnTo>
                  <a:pt x="104" y="204"/>
                </a:lnTo>
                <a:lnTo>
                  <a:pt x="127" y="211"/>
                </a:lnTo>
                <a:lnTo>
                  <a:pt x="152" y="217"/>
                </a:lnTo>
                <a:lnTo>
                  <a:pt x="178" y="223"/>
                </a:lnTo>
                <a:lnTo>
                  <a:pt x="206" y="227"/>
                </a:lnTo>
                <a:lnTo>
                  <a:pt x="235" y="231"/>
                </a:lnTo>
                <a:lnTo>
                  <a:pt x="265" y="235"/>
                </a:lnTo>
                <a:lnTo>
                  <a:pt x="295" y="237"/>
                </a:lnTo>
                <a:lnTo>
                  <a:pt x="326" y="239"/>
                </a:lnTo>
                <a:lnTo>
                  <a:pt x="356" y="239"/>
                </a:lnTo>
                <a:lnTo>
                  <a:pt x="388" y="239"/>
                </a:lnTo>
                <a:lnTo>
                  <a:pt x="418" y="237"/>
                </a:lnTo>
                <a:lnTo>
                  <a:pt x="450" y="235"/>
                </a:lnTo>
                <a:lnTo>
                  <a:pt x="479" y="231"/>
                </a:lnTo>
                <a:lnTo>
                  <a:pt x="508" y="227"/>
                </a:lnTo>
                <a:lnTo>
                  <a:pt x="534" y="223"/>
                </a:lnTo>
                <a:lnTo>
                  <a:pt x="561" y="217"/>
                </a:lnTo>
                <a:lnTo>
                  <a:pt x="586" y="211"/>
                </a:lnTo>
                <a:lnTo>
                  <a:pt x="609" y="204"/>
                </a:lnTo>
                <a:lnTo>
                  <a:pt x="629" y="196"/>
                </a:lnTo>
                <a:lnTo>
                  <a:pt x="648" y="188"/>
                </a:lnTo>
                <a:lnTo>
                  <a:pt x="666" y="179"/>
                </a:lnTo>
                <a:lnTo>
                  <a:pt x="680" y="169"/>
                </a:lnTo>
                <a:lnTo>
                  <a:pt x="691" y="160"/>
                </a:lnTo>
                <a:lnTo>
                  <a:pt x="701" y="150"/>
                </a:lnTo>
                <a:lnTo>
                  <a:pt x="707" y="140"/>
                </a:lnTo>
                <a:lnTo>
                  <a:pt x="711" y="129"/>
                </a:lnTo>
                <a:lnTo>
                  <a:pt x="713" y="119"/>
                </a:lnTo>
                <a:lnTo>
                  <a:pt x="711" y="108"/>
                </a:lnTo>
                <a:lnTo>
                  <a:pt x="707" y="98"/>
                </a:lnTo>
                <a:lnTo>
                  <a:pt x="701" y="88"/>
                </a:lnTo>
                <a:lnTo>
                  <a:pt x="691" y="78"/>
                </a:lnTo>
                <a:lnTo>
                  <a:pt x="680" y="68"/>
                </a:lnTo>
                <a:lnTo>
                  <a:pt x="666" y="59"/>
                </a:lnTo>
                <a:lnTo>
                  <a:pt x="648" y="50"/>
                </a:lnTo>
                <a:lnTo>
                  <a:pt x="629" y="42"/>
                </a:lnTo>
                <a:lnTo>
                  <a:pt x="609" y="35"/>
                </a:lnTo>
                <a:lnTo>
                  <a:pt x="585" y="27"/>
                </a:lnTo>
                <a:lnTo>
                  <a:pt x="561" y="21"/>
                </a:lnTo>
                <a:lnTo>
                  <a:pt x="534" y="15"/>
                </a:lnTo>
                <a:lnTo>
                  <a:pt x="508" y="11"/>
                </a:lnTo>
                <a:lnTo>
                  <a:pt x="479" y="6"/>
                </a:lnTo>
                <a:lnTo>
                  <a:pt x="448" y="4"/>
                </a:lnTo>
                <a:lnTo>
                  <a:pt x="418" y="1"/>
                </a:lnTo>
                <a:lnTo>
                  <a:pt x="388" y="0"/>
                </a:lnTo>
                <a:lnTo>
                  <a:pt x="356" y="0"/>
                </a:lnTo>
                <a:lnTo>
                  <a:pt x="326" y="0"/>
                </a:lnTo>
                <a:lnTo>
                  <a:pt x="295" y="1"/>
                </a:lnTo>
                <a:lnTo>
                  <a:pt x="264" y="4"/>
                </a:lnTo>
                <a:lnTo>
                  <a:pt x="235" y="7"/>
                </a:lnTo>
                <a:lnTo>
                  <a:pt x="206" y="11"/>
                </a:lnTo>
                <a:lnTo>
                  <a:pt x="178" y="16"/>
                </a:lnTo>
                <a:lnTo>
                  <a:pt x="152" y="21"/>
                </a:lnTo>
                <a:lnTo>
                  <a:pt x="127" y="27"/>
                </a:lnTo>
                <a:lnTo>
                  <a:pt x="104" y="35"/>
                </a:lnTo>
                <a:lnTo>
                  <a:pt x="83" y="42"/>
                </a:lnTo>
                <a:lnTo>
                  <a:pt x="64" y="51"/>
                </a:lnTo>
                <a:lnTo>
                  <a:pt x="48" y="60"/>
                </a:lnTo>
                <a:lnTo>
                  <a:pt x="34" y="68"/>
                </a:lnTo>
                <a:lnTo>
                  <a:pt x="22" y="78"/>
                </a:lnTo>
                <a:lnTo>
                  <a:pt x="12" y="88"/>
                </a:lnTo>
                <a:lnTo>
                  <a:pt x="6" y="98"/>
                </a:lnTo>
                <a:lnTo>
                  <a:pt x="2" y="109"/>
                </a:lnTo>
                <a:lnTo>
                  <a:pt x="0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60" name="Freeform 12">
            <a:extLst>
              <a:ext uri="{FF2B5EF4-FFF2-40B4-BE49-F238E27FC236}">
                <a16:creationId xmlns:a16="http://schemas.microsoft.com/office/drawing/2014/main" id="{7A8B875C-A436-5F4F-E500-A1CFC4B074FC}"/>
              </a:ext>
            </a:extLst>
          </p:cNvPr>
          <p:cNvSpPr>
            <a:spLocks noGrp="1"/>
          </p:cNvSpPr>
          <p:nvPr/>
        </p:nvSpPr>
        <p:spPr>
          <a:xfrm>
            <a:off x="7958156" y="3435556"/>
            <a:ext cx="519396" cy="240653"/>
          </a:xfrm>
          <a:custGeom>
            <a:avLst/>
            <a:gdLst>
              <a:gd name="T0" fmla="*/ 563 w 565"/>
              <a:gd name="T1" fmla="*/ 110 h 241"/>
              <a:gd name="T2" fmla="*/ 554 w 565"/>
              <a:gd name="T3" fmla="*/ 89 h 241"/>
              <a:gd name="T4" fmla="*/ 538 w 565"/>
              <a:gd name="T5" fmla="*/ 70 h 241"/>
              <a:gd name="T6" fmla="*/ 513 w 565"/>
              <a:gd name="T7" fmla="*/ 51 h 241"/>
              <a:gd name="T8" fmla="*/ 482 w 565"/>
              <a:gd name="T9" fmla="*/ 35 h 241"/>
              <a:gd name="T10" fmla="*/ 444 w 565"/>
              <a:gd name="T11" fmla="*/ 22 h 241"/>
              <a:gd name="T12" fmla="*/ 401 w 565"/>
              <a:gd name="T13" fmla="*/ 11 h 241"/>
              <a:gd name="T14" fmla="*/ 355 w 565"/>
              <a:gd name="T15" fmla="*/ 4 h 241"/>
              <a:gd name="T16" fmla="*/ 307 w 565"/>
              <a:gd name="T17" fmla="*/ 1 h 241"/>
              <a:gd name="T18" fmla="*/ 257 w 565"/>
              <a:gd name="T19" fmla="*/ 1 h 241"/>
              <a:gd name="T20" fmla="*/ 209 w 565"/>
              <a:gd name="T21" fmla="*/ 4 h 241"/>
              <a:gd name="T22" fmla="*/ 163 w 565"/>
              <a:gd name="T23" fmla="*/ 11 h 241"/>
              <a:gd name="T24" fmla="*/ 120 w 565"/>
              <a:gd name="T25" fmla="*/ 22 h 241"/>
              <a:gd name="T26" fmla="*/ 83 w 565"/>
              <a:gd name="T27" fmla="*/ 35 h 241"/>
              <a:gd name="T28" fmla="*/ 51 w 565"/>
              <a:gd name="T29" fmla="*/ 51 h 241"/>
              <a:gd name="T30" fmla="*/ 26 w 565"/>
              <a:gd name="T31" fmla="*/ 70 h 241"/>
              <a:gd name="T32" fmla="*/ 10 w 565"/>
              <a:gd name="T33" fmla="*/ 89 h 241"/>
              <a:gd name="T34" fmla="*/ 1 w 565"/>
              <a:gd name="T35" fmla="*/ 110 h 241"/>
              <a:gd name="T36" fmla="*/ 1 w 565"/>
              <a:gd name="T37" fmla="*/ 131 h 241"/>
              <a:gd name="T38" fmla="*/ 10 w 565"/>
              <a:gd name="T39" fmla="*/ 151 h 241"/>
              <a:gd name="T40" fmla="*/ 26 w 565"/>
              <a:gd name="T41" fmla="*/ 171 h 241"/>
              <a:gd name="T42" fmla="*/ 51 w 565"/>
              <a:gd name="T43" fmla="*/ 189 h 241"/>
              <a:gd name="T44" fmla="*/ 83 w 565"/>
              <a:gd name="T45" fmla="*/ 205 h 241"/>
              <a:gd name="T46" fmla="*/ 120 w 565"/>
              <a:gd name="T47" fmla="*/ 218 h 241"/>
              <a:gd name="T48" fmla="*/ 163 w 565"/>
              <a:gd name="T49" fmla="*/ 229 h 241"/>
              <a:gd name="T50" fmla="*/ 209 w 565"/>
              <a:gd name="T51" fmla="*/ 236 h 241"/>
              <a:gd name="T52" fmla="*/ 257 w 565"/>
              <a:gd name="T53" fmla="*/ 239 h 241"/>
              <a:gd name="T54" fmla="*/ 307 w 565"/>
              <a:gd name="T55" fmla="*/ 239 h 241"/>
              <a:gd name="T56" fmla="*/ 355 w 565"/>
              <a:gd name="T57" fmla="*/ 236 h 241"/>
              <a:gd name="T58" fmla="*/ 401 w 565"/>
              <a:gd name="T59" fmla="*/ 229 h 241"/>
              <a:gd name="T60" fmla="*/ 444 w 565"/>
              <a:gd name="T61" fmla="*/ 218 h 241"/>
              <a:gd name="T62" fmla="*/ 482 w 565"/>
              <a:gd name="T63" fmla="*/ 205 h 241"/>
              <a:gd name="T64" fmla="*/ 513 w 565"/>
              <a:gd name="T65" fmla="*/ 189 h 241"/>
              <a:gd name="T66" fmla="*/ 538 w 565"/>
              <a:gd name="T67" fmla="*/ 171 h 241"/>
              <a:gd name="T68" fmla="*/ 554 w 565"/>
              <a:gd name="T69" fmla="*/ 151 h 241"/>
              <a:gd name="T70" fmla="*/ 563 w 565"/>
              <a:gd name="T71" fmla="*/ 131 h 241"/>
            </a:gdLst>
            <a:ahLst/>
            <a:cxnLst/>
            <a:rect l="0" t="0" r="r" b="b"/>
            <a:pathLst>
              <a:path w="565" h="241">
                <a:moveTo>
                  <a:pt x="564" y="120"/>
                </a:moveTo>
                <a:lnTo>
                  <a:pt x="563" y="110"/>
                </a:lnTo>
                <a:lnTo>
                  <a:pt x="560" y="99"/>
                </a:lnTo>
                <a:lnTo>
                  <a:pt x="554" y="89"/>
                </a:lnTo>
                <a:lnTo>
                  <a:pt x="547" y="79"/>
                </a:lnTo>
                <a:lnTo>
                  <a:pt x="538" y="70"/>
                </a:lnTo>
                <a:lnTo>
                  <a:pt x="526" y="60"/>
                </a:lnTo>
                <a:lnTo>
                  <a:pt x="513" y="51"/>
                </a:lnTo>
                <a:lnTo>
                  <a:pt x="498" y="43"/>
                </a:lnTo>
                <a:lnTo>
                  <a:pt x="482" y="35"/>
                </a:lnTo>
                <a:lnTo>
                  <a:pt x="463" y="29"/>
                </a:lnTo>
                <a:lnTo>
                  <a:pt x="444" y="22"/>
                </a:lnTo>
                <a:lnTo>
                  <a:pt x="423" y="16"/>
                </a:lnTo>
                <a:lnTo>
                  <a:pt x="401" y="11"/>
                </a:lnTo>
                <a:lnTo>
                  <a:pt x="378" y="8"/>
                </a:lnTo>
                <a:lnTo>
                  <a:pt x="355" y="4"/>
                </a:lnTo>
                <a:lnTo>
                  <a:pt x="331" y="2"/>
                </a:lnTo>
                <a:lnTo>
                  <a:pt x="307" y="1"/>
                </a:lnTo>
                <a:lnTo>
                  <a:pt x="282" y="0"/>
                </a:lnTo>
                <a:lnTo>
                  <a:pt x="257" y="1"/>
                </a:lnTo>
                <a:lnTo>
                  <a:pt x="233" y="2"/>
                </a:lnTo>
                <a:lnTo>
                  <a:pt x="209" y="4"/>
                </a:lnTo>
                <a:lnTo>
                  <a:pt x="186" y="8"/>
                </a:lnTo>
                <a:lnTo>
                  <a:pt x="163" y="11"/>
                </a:lnTo>
                <a:lnTo>
                  <a:pt x="141" y="16"/>
                </a:lnTo>
                <a:lnTo>
                  <a:pt x="120" y="22"/>
                </a:lnTo>
                <a:lnTo>
                  <a:pt x="101" y="29"/>
                </a:lnTo>
                <a:lnTo>
                  <a:pt x="83" y="35"/>
                </a:lnTo>
                <a:lnTo>
                  <a:pt x="66" y="43"/>
                </a:lnTo>
                <a:lnTo>
                  <a:pt x="51" y="51"/>
                </a:lnTo>
                <a:lnTo>
                  <a:pt x="38" y="60"/>
                </a:lnTo>
                <a:lnTo>
                  <a:pt x="26" y="70"/>
                </a:lnTo>
                <a:lnTo>
                  <a:pt x="17" y="79"/>
                </a:lnTo>
                <a:lnTo>
                  <a:pt x="10" y="89"/>
                </a:lnTo>
                <a:lnTo>
                  <a:pt x="4" y="99"/>
                </a:lnTo>
                <a:lnTo>
                  <a:pt x="1" y="110"/>
                </a:lnTo>
                <a:lnTo>
                  <a:pt x="0" y="120"/>
                </a:lnTo>
                <a:lnTo>
                  <a:pt x="1" y="131"/>
                </a:lnTo>
                <a:lnTo>
                  <a:pt x="4" y="141"/>
                </a:lnTo>
                <a:lnTo>
                  <a:pt x="10" y="151"/>
                </a:lnTo>
                <a:lnTo>
                  <a:pt x="17" y="161"/>
                </a:lnTo>
                <a:lnTo>
                  <a:pt x="26" y="171"/>
                </a:lnTo>
                <a:lnTo>
                  <a:pt x="38" y="180"/>
                </a:lnTo>
                <a:lnTo>
                  <a:pt x="51" y="189"/>
                </a:lnTo>
                <a:lnTo>
                  <a:pt x="66" y="197"/>
                </a:lnTo>
                <a:lnTo>
                  <a:pt x="83" y="205"/>
                </a:lnTo>
                <a:lnTo>
                  <a:pt x="101" y="212"/>
                </a:lnTo>
                <a:lnTo>
                  <a:pt x="120" y="218"/>
                </a:lnTo>
                <a:lnTo>
                  <a:pt x="141" y="224"/>
                </a:lnTo>
                <a:lnTo>
                  <a:pt x="163" y="229"/>
                </a:lnTo>
                <a:lnTo>
                  <a:pt x="186" y="233"/>
                </a:lnTo>
                <a:lnTo>
                  <a:pt x="209" y="236"/>
                </a:lnTo>
                <a:lnTo>
                  <a:pt x="233" y="238"/>
                </a:lnTo>
                <a:lnTo>
                  <a:pt x="257" y="239"/>
                </a:lnTo>
                <a:lnTo>
                  <a:pt x="282" y="240"/>
                </a:lnTo>
                <a:lnTo>
                  <a:pt x="307" y="239"/>
                </a:lnTo>
                <a:lnTo>
                  <a:pt x="331" y="238"/>
                </a:lnTo>
                <a:lnTo>
                  <a:pt x="355" y="236"/>
                </a:lnTo>
                <a:lnTo>
                  <a:pt x="378" y="233"/>
                </a:lnTo>
                <a:lnTo>
                  <a:pt x="401" y="229"/>
                </a:lnTo>
                <a:lnTo>
                  <a:pt x="423" y="224"/>
                </a:lnTo>
                <a:lnTo>
                  <a:pt x="444" y="218"/>
                </a:lnTo>
                <a:lnTo>
                  <a:pt x="463" y="212"/>
                </a:lnTo>
                <a:lnTo>
                  <a:pt x="482" y="205"/>
                </a:lnTo>
                <a:lnTo>
                  <a:pt x="498" y="197"/>
                </a:lnTo>
                <a:lnTo>
                  <a:pt x="513" y="189"/>
                </a:lnTo>
                <a:lnTo>
                  <a:pt x="526" y="180"/>
                </a:lnTo>
                <a:lnTo>
                  <a:pt x="538" y="171"/>
                </a:lnTo>
                <a:lnTo>
                  <a:pt x="547" y="161"/>
                </a:lnTo>
                <a:lnTo>
                  <a:pt x="554" y="151"/>
                </a:lnTo>
                <a:lnTo>
                  <a:pt x="560" y="141"/>
                </a:lnTo>
                <a:lnTo>
                  <a:pt x="563" y="131"/>
                </a:lnTo>
                <a:lnTo>
                  <a:pt x="564" y="12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61" name="Freeform 13">
            <a:extLst>
              <a:ext uri="{FF2B5EF4-FFF2-40B4-BE49-F238E27FC236}">
                <a16:creationId xmlns:a16="http://schemas.microsoft.com/office/drawing/2014/main" id="{40392782-0707-50C5-D70A-53C9CE650BE4}"/>
              </a:ext>
            </a:extLst>
          </p:cNvPr>
          <p:cNvSpPr>
            <a:spLocks noGrp="1"/>
          </p:cNvSpPr>
          <p:nvPr/>
        </p:nvSpPr>
        <p:spPr>
          <a:xfrm>
            <a:off x="7718223" y="2725579"/>
            <a:ext cx="520315" cy="240653"/>
          </a:xfrm>
          <a:custGeom>
            <a:avLst/>
            <a:gdLst>
              <a:gd name="T0" fmla="*/ 563 w 566"/>
              <a:gd name="T1" fmla="*/ 109 h 241"/>
              <a:gd name="T2" fmla="*/ 555 w 566"/>
              <a:gd name="T3" fmla="*/ 89 h 241"/>
              <a:gd name="T4" fmla="*/ 538 w 566"/>
              <a:gd name="T5" fmla="*/ 69 h 241"/>
              <a:gd name="T6" fmla="*/ 513 w 566"/>
              <a:gd name="T7" fmla="*/ 51 h 241"/>
              <a:gd name="T8" fmla="*/ 482 w 566"/>
              <a:gd name="T9" fmla="*/ 35 h 241"/>
              <a:gd name="T10" fmla="*/ 444 w 566"/>
              <a:gd name="T11" fmla="*/ 22 h 241"/>
              <a:gd name="T12" fmla="*/ 401 w 566"/>
              <a:gd name="T13" fmla="*/ 12 h 241"/>
              <a:gd name="T14" fmla="*/ 355 w 566"/>
              <a:gd name="T15" fmla="*/ 4 h 241"/>
              <a:gd name="T16" fmla="*/ 307 w 566"/>
              <a:gd name="T17" fmla="*/ 1 h 241"/>
              <a:gd name="T18" fmla="*/ 258 w 566"/>
              <a:gd name="T19" fmla="*/ 1 h 241"/>
              <a:gd name="T20" fmla="*/ 209 w 566"/>
              <a:gd name="T21" fmla="*/ 4 h 241"/>
              <a:gd name="T22" fmla="*/ 163 w 566"/>
              <a:gd name="T23" fmla="*/ 12 h 241"/>
              <a:gd name="T24" fmla="*/ 120 w 566"/>
              <a:gd name="T25" fmla="*/ 22 h 241"/>
              <a:gd name="T26" fmla="*/ 83 w 566"/>
              <a:gd name="T27" fmla="*/ 35 h 241"/>
              <a:gd name="T28" fmla="*/ 51 w 566"/>
              <a:gd name="T29" fmla="*/ 51 h 241"/>
              <a:gd name="T30" fmla="*/ 27 w 566"/>
              <a:gd name="T31" fmla="*/ 69 h 241"/>
              <a:gd name="T32" fmla="*/ 10 w 566"/>
              <a:gd name="T33" fmla="*/ 89 h 241"/>
              <a:gd name="T34" fmla="*/ 2 w 566"/>
              <a:gd name="T35" fmla="*/ 109 h 241"/>
              <a:gd name="T36" fmla="*/ 2 w 566"/>
              <a:gd name="T37" fmla="*/ 130 h 241"/>
              <a:gd name="T38" fmla="*/ 10 w 566"/>
              <a:gd name="T39" fmla="*/ 151 h 241"/>
              <a:gd name="T40" fmla="*/ 27 w 566"/>
              <a:gd name="T41" fmla="*/ 170 h 241"/>
              <a:gd name="T42" fmla="*/ 51 w 566"/>
              <a:gd name="T43" fmla="*/ 188 h 241"/>
              <a:gd name="T44" fmla="*/ 83 w 566"/>
              <a:gd name="T45" fmla="*/ 205 h 241"/>
              <a:gd name="T46" fmla="*/ 120 w 566"/>
              <a:gd name="T47" fmla="*/ 218 h 241"/>
              <a:gd name="T48" fmla="*/ 163 w 566"/>
              <a:gd name="T49" fmla="*/ 228 h 241"/>
              <a:gd name="T50" fmla="*/ 209 w 566"/>
              <a:gd name="T51" fmla="*/ 236 h 241"/>
              <a:gd name="T52" fmla="*/ 258 w 566"/>
              <a:gd name="T53" fmla="*/ 239 h 241"/>
              <a:gd name="T54" fmla="*/ 307 w 566"/>
              <a:gd name="T55" fmla="*/ 239 h 241"/>
              <a:gd name="T56" fmla="*/ 355 w 566"/>
              <a:gd name="T57" fmla="*/ 236 h 241"/>
              <a:gd name="T58" fmla="*/ 401 w 566"/>
              <a:gd name="T59" fmla="*/ 228 h 241"/>
              <a:gd name="T60" fmla="*/ 444 w 566"/>
              <a:gd name="T61" fmla="*/ 218 h 241"/>
              <a:gd name="T62" fmla="*/ 482 w 566"/>
              <a:gd name="T63" fmla="*/ 205 h 241"/>
              <a:gd name="T64" fmla="*/ 513 w 566"/>
              <a:gd name="T65" fmla="*/ 188 h 241"/>
              <a:gd name="T66" fmla="*/ 538 w 566"/>
              <a:gd name="T67" fmla="*/ 170 h 241"/>
              <a:gd name="T68" fmla="*/ 555 w 566"/>
              <a:gd name="T69" fmla="*/ 151 h 241"/>
              <a:gd name="T70" fmla="*/ 563 w 566"/>
              <a:gd name="T71" fmla="*/ 130 h 241"/>
            </a:gdLst>
            <a:ahLst/>
            <a:cxnLst/>
            <a:rect l="0" t="0" r="r" b="b"/>
            <a:pathLst>
              <a:path w="566" h="241">
                <a:moveTo>
                  <a:pt x="565" y="120"/>
                </a:moveTo>
                <a:lnTo>
                  <a:pt x="563" y="109"/>
                </a:lnTo>
                <a:lnTo>
                  <a:pt x="560" y="99"/>
                </a:lnTo>
                <a:lnTo>
                  <a:pt x="555" y="89"/>
                </a:lnTo>
                <a:lnTo>
                  <a:pt x="547" y="79"/>
                </a:lnTo>
                <a:lnTo>
                  <a:pt x="538" y="69"/>
                </a:lnTo>
                <a:lnTo>
                  <a:pt x="527" y="60"/>
                </a:lnTo>
                <a:lnTo>
                  <a:pt x="513" y="51"/>
                </a:lnTo>
                <a:lnTo>
                  <a:pt x="498" y="43"/>
                </a:lnTo>
                <a:lnTo>
                  <a:pt x="482" y="35"/>
                </a:lnTo>
                <a:lnTo>
                  <a:pt x="463" y="28"/>
                </a:lnTo>
                <a:lnTo>
                  <a:pt x="444" y="22"/>
                </a:lnTo>
                <a:lnTo>
                  <a:pt x="424" y="16"/>
                </a:lnTo>
                <a:lnTo>
                  <a:pt x="401" y="12"/>
                </a:lnTo>
                <a:lnTo>
                  <a:pt x="379" y="7"/>
                </a:lnTo>
                <a:lnTo>
                  <a:pt x="355" y="4"/>
                </a:lnTo>
                <a:lnTo>
                  <a:pt x="331" y="2"/>
                </a:lnTo>
                <a:lnTo>
                  <a:pt x="307" y="1"/>
                </a:lnTo>
                <a:lnTo>
                  <a:pt x="282" y="0"/>
                </a:lnTo>
                <a:lnTo>
                  <a:pt x="258" y="1"/>
                </a:lnTo>
                <a:lnTo>
                  <a:pt x="233" y="2"/>
                </a:lnTo>
                <a:lnTo>
                  <a:pt x="209" y="4"/>
                </a:lnTo>
                <a:lnTo>
                  <a:pt x="186" y="7"/>
                </a:lnTo>
                <a:lnTo>
                  <a:pt x="163" y="12"/>
                </a:lnTo>
                <a:lnTo>
                  <a:pt x="141" y="16"/>
                </a:lnTo>
                <a:lnTo>
                  <a:pt x="120" y="22"/>
                </a:lnTo>
                <a:lnTo>
                  <a:pt x="101" y="28"/>
                </a:lnTo>
                <a:lnTo>
                  <a:pt x="83" y="35"/>
                </a:lnTo>
                <a:lnTo>
                  <a:pt x="66" y="43"/>
                </a:lnTo>
                <a:lnTo>
                  <a:pt x="51" y="51"/>
                </a:lnTo>
                <a:lnTo>
                  <a:pt x="38" y="60"/>
                </a:lnTo>
                <a:lnTo>
                  <a:pt x="27" y="69"/>
                </a:lnTo>
                <a:lnTo>
                  <a:pt x="17" y="79"/>
                </a:lnTo>
                <a:lnTo>
                  <a:pt x="10" y="89"/>
                </a:lnTo>
                <a:lnTo>
                  <a:pt x="4" y="99"/>
                </a:lnTo>
                <a:lnTo>
                  <a:pt x="2" y="109"/>
                </a:lnTo>
                <a:lnTo>
                  <a:pt x="0" y="120"/>
                </a:lnTo>
                <a:lnTo>
                  <a:pt x="2" y="130"/>
                </a:lnTo>
                <a:lnTo>
                  <a:pt x="4" y="141"/>
                </a:lnTo>
                <a:lnTo>
                  <a:pt x="10" y="151"/>
                </a:lnTo>
                <a:lnTo>
                  <a:pt x="17" y="161"/>
                </a:lnTo>
                <a:lnTo>
                  <a:pt x="27" y="170"/>
                </a:lnTo>
                <a:lnTo>
                  <a:pt x="38" y="180"/>
                </a:lnTo>
                <a:lnTo>
                  <a:pt x="51" y="188"/>
                </a:lnTo>
                <a:lnTo>
                  <a:pt x="66" y="197"/>
                </a:lnTo>
                <a:lnTo>
                  <a:pt x="83" y="205"/>
                </a:lnTo>
                <a:lnTo>
                  <a:pt x="101" y="212"/>
                </a:lnTo>
                <a:lnTo>
                  <a:pt x="120" y="218"/>
                </a:lnTo>
                <a:lnTo>
                  <a:pt x="141" y="223"/>
                </a:lnTo>
                <a:lnTo>
                  <a:pt x="163" y="228"/>
                </a:lnTo>
                <a:lnTo>
                  <a:pt x="186" y="232"/>
                </a:lnTo>
                <a:lnTo>
                  <a:pt x="209" y="236"/>
                </a:lnTo>
                <a:lnTo>
                  <a:pt x="233" y="238"/>
                </a:lnTo>
                <a:lnTo>
                  <a:pt x="258" y="239"/>
                </a:lnTo>
                <a:lnTo>
                  <a:pt x="282" y="240"/>
                </a:lnTo>
                <a:lnTo>
                  <a:pt x="307" y="239"/>
                </a:lnTo>
                <a:lnTo>
                  <a:pt x="331" y="238"/>
                </a:lnTo>
                <a:lnTo>
                  <a:pt x="355" y="236"/>
                </a:lnTo>
                <a:lnTo>
                  <a:pt x="379" y="232"/>
                </a:lnTo>
                <a:lnTo>
                  <a:pt x="401" y="228"/>
                </a:lnTo>
                <a:lnTo>
                  <a:pt x="424" y="223"/>
                </a:lnTo>
                <a:lnTo>
                  <a:pt x="444" y="218"/>
                </a:lnTo>
                <a:lnTo>
                  <a:pt x="463" y="212"/>
                </a:lnTo>
                <a:lnTo>
                  <a:pt x="482" y="205"/>
                </a:lnTo>
                <a:lnTo>
                  <a:pt x="498" y="197"/>
                </a:lnTo>
                <a:lnTo>
                  <a:pt x="513" y="188"/>
                </a:lnTo>
                <a:lnTo>
                  <a:pt x="527" y="180"/>
                </a:lnTo>
                <a:lnTo>
                  <a:pt x="538" y="170"/>
                </a:lnTo>
                <a:lnTo>
                  <a:pt x="547" y="161"/>
                </a:lnTo>
                <a:lnTo>
                  <a:pt x="555" y="151"/>
                </a:lnTo>
                <a:lnTo>
                  <a:pt x="560" y="141"/>
                </a:lnTo>
                <a:lnTo>
                  <a:pt x="563" y="130"/>
                </a:lnTo>
                <a:lnTo>
                  <a:pt x="565" y="12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62" name="Freeform 14">
            <a:extLst>
              <a:ext uri="{FF2B5EF4-FFF2-40B4-BE49-F238E27FC236}">
                <a16:creationId xmlns:a16="http://schemas.microsoft.com/office/drawing/2014/main" id="{E696CD15-AA63-F66C-E91E-232B20D7C040}"/>
              </a:ext>
            </a:extLst>
          </p:cNvPr>
          <p:cNvSpPr>
            <a:spLocks noGrp="1"/>
          </p:cNvSpPr>
          <p:nvPr/>
        </p:nvSpPr>
        <p:spPr>
          <a:xfrm>
            <a:off x="7958156" y="3998745"/>
            <a:ext cx="785069" cy="243649"/>
          </a:xfrm>
          <a:custGeom>
            <a:avLst/>
            <a:gdLst>
              <a:gd name="T0" fmla="*/ 853 w 854"/>
              <a:gd name="T1" fmla="*/ 243 h 244"/>
              <a:gd name="T2" fmla="*/ 853 w 854"/>
              <a:gd name="T3" fmla="*/ 0 h 244"/>
              <a:gd name="T4" fmla="*/ 0 w 854"/>
              <a:gd name="T5" fmla="*/ 0 h 244"/>
              <a:gd name="T6" fmla="*/ 0 w 854"/>
              <a:gd name="T7" fmla="*/ 243 h 244"/>
              <a:gd name="T8" fmla="*/ 853 w 854"/>
              <a:gd name="T9" fmla="*/ 243 h 244"/>
            </a:gdLst>
            <a:ahLst/>
            <a:cxnLst/>
            <a:rect l="0" t="0" r="r" b="b"/>
            <a:pathLst>
              <a:path w="854" h="244">
                <a:moveTo>
                  <a:pt x="853" y="243"/>
                </a:moveTo>
                <a:lnTo>
                  <a:pt x="853" y="0"/>
                </a:lnTo>
                <a:lnTo>
                  <a:pt x="0" y="0"/>
                </a:lnTo>
                <a:lnTo>
                  <a:pt x="0" y="243"/>
                </a:lnTo>
                <a:lnTo>
                  <a:pt x="853" y="243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63" name="Freeform 15">
            <a:extLst>
              <a:ext uri="{FF2B5EF4-FFF2-40B4-BE49-F238E27FC236}">
                <a16:creationId xmlns:a16="http://schemas.microsoft.com/office/drawing/2014/main" id="{E71FB756-3FE5-6F52-DE90-E57E0DE3D395}"/>
              </a:ext>
            </a:extLst>
          </p:cNvPr>
          <p:cNvSpPr>
            <a:spLocks noGrp="1"/>
          </p:cNvSpPr>
          <p:nvPr/>
        </p:nvSpPr>
        <p:spPr>
          <a:xfrm>
            <a:off x="6143487" y="3998745"/>
            <a:ext cx="519396" cy="246645"/>
          </a:xfrm>
          <a:custGeom>
            <a:avLst/>
            <a:gdLst>
              <a:gd name="T0" fmla="*/ 564 w 565"/>
              <a:gd name="T1" fmla="*/ 246 h 247"/>
              <a:gd name="T2" fmla="*/ 564 w 565"/>
              <a:gd name="T3" fmla="*/ 0 h 247"/>
              <a:gd name="T4" fmla="*/ 0 w 565"/>
              <a:gd name="T5" fmla="*/ 0 h 247"/>
              <a:gd name="T6" fmla="*/ 0 w 565"/>
              <a:gd name="T7" fmla="*/ 246 h 247"/>
              <a:gd name="T8" fmla="*/ 564 w 565"/>
              <a:gd name="T9" fmla="*/ 246 h 247"/>
            </a:gdLst>
            <a:ahLst/>
            <a:cxnLst/>
            <a:rect l="0" t="0" r="r" b="b"/>
            <a:pathLst>
              <a:path w="565" h="247">
                <a:moveTo>
                  <a:pt x="564" y="246"/>
                </a:moveTo>
                <a:lnTo>
                  <a:pt x="564" y="0"/>
                </a:lnTo>
                <a:lnTo>
                  <a:pt x="0" y="0"/>
                </a:lnTo>
                <a:lnTo>
                  <a:pt x="0" y="246"/>
                </a:lnTo>
                <a:lnTo>
                  <a:pt x="564" y="246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64" name="Freeform 16">
            <a:extLst>
              <a:ext uri="{FF2B5EF4-FFF2-40B4-BE49-F238E27FC236}">
                <a16:creationId xmlns:a16="http://schemas.microsoft.com/office/drawing/2014/main" id="{DDF0EDC5-62A5-69B8-CC39-F9A34746B1D9}"/>
              </a:ext>
            </a:extLst>
          </p:cNvPr>
          <p:cNvSpPr>
            <a:spLocks noGrp="1"/>
          </p:cNvSpPr>
          <p:nvPr/>
        </p:nvSpPr>
        <p:spPr>
          <a:xfrm>
            <a:off x="6863288" y="2641700"/>
            <a:ext cx="739105" cy="394431"/>
          </a:xfrm>
          <a:custGeom>
            <a:avLst/>
            <a:gdLst>
              <a:gd name="T0" fmla="*/ 0 w 804"/>
              <a:gd name="T1" fmla="*/ 197 h 395"/>
              <a:gd name="T2" fmla="*/ 396 w 804"/>
              <a:gd name="T3" fmla="*/ 0 h 395"/>
              <a:gd name="T4" fmla="*/ 803 w 804"/>
              <a:gd name="T5" fmla="*/ 204 h 395"/>
              <a:gd name="T6" fmla="*/ 396 w 804"/>
              <a:gd name="T7" fmla="*/ 394 h 395"/>
              <a:gd name="T8" fmla="*/ 0 w 804"/>
              <a:gd name="T9" fmla="*/ 197 h 395"/>
            </a:gdLst>
            <a:ahLst/>
            <a:cxnLst/>
            <a:rect l="0" t="0" r="r" b="b"/>
            <a:pathLst>
              <a:path w="804" h="395">
                <a:moveTo>
                  <a:pt x="0" y="197"/>
                </a:moveTo>
                <a:lnTo>
                  <a:pt x="396" y="0"/>
                </a:lnTo>
                <a:lnTo>
                  <a:pt x="803" y="204"/>
                </a:lnTo>
                <a:lnTo>
                  <a:pt x="396" y="394"/>
                </a:lnTo>
                <a:lnTo>
                  <a:pt x="0" y="197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65" name="Freeform 17">
            <a:extLst>
              <a:ext uri="{FF2B5EF4-FFF2-40B4-BE49-F238E27FC236}">
                <a16:creationId xmlns:a16="http://schemas.microsoft.com/office/drawing/2014/main" id="{91B274FB-6221-37AA-74B2-C03E14B176FE}"/>
              </a:ext>
            </a:extLst>
          </p:cNvPr>
          <p:cNvSpPr>
            <a:spLocks noGrp="1"/>
          </p:cNvSpPr>
          <p:nvPr/>
        </p:nvSpPr>
        <p:spPr>
          <a:xfrm>
            <a:off x="7026001" y="3886906"/>
            <a:ext cx="794262" cy="414403"/>
          </a:xfrm>
          <a:custGeom>
            <a:avLst/>
            <a:gdLst>
              <a:gd name="T0" fmla="*/ 0 w 864"/>
              <a:gd name="T1" fmla="*/ 208 h 415"/>
              <a:gd name="T2" fmla="*/ 426 w 864"/>
              <a:gd name="T3" fmla="*/ 0 h 415"/>
              <a:gd name="T4" fmla="*/ 863 w 864"/>
              <a:gd name="T5" fmla="*/ 214 h 415"/>
              <a:gd name="T6" fmla="*/ 426 w 864"/>
              <a:gd name="T7" fmla="*/ 414 h 415"/>
              <a:gd name="T8" fmla="*/ 0 w 864"/>
              <a:gd name="T9" fmla="*/ 208 h 415"/>
            </a:gdLst>
            <a:ahLst/>
            <a:cxnLst/>
            <a:rect l="0" t="0" r="r" b="b"/>
            <a:pathLst>
              <a:path w="864" h="415">
                <a:moveTo>
                  <a:pt x="0" y="208"/>
                </a:moveTo>
                <a:lnTo>
                  <a:pt x="426" y="0"/>
                </a:lnTo>
                <a:lnTo>
                  <a:pt x="863" y="214"/>
                </a:lnTo>
                <a:lnTo>
                  <a:pt x="426" y="414"/>
                </a:lnTo>
                <a:lnTo>
                  <a:pt x="0" y="208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3B550687-E6BF-0E69-2737-DBA7AC03608F}"/>
              </a:ext>
            </a:extLst>
          </p:cNvPr>
          <p:cNvSpPr>
            <a:spLocks noGrp="1"/>
          </p:cNvSpPr>
          <p:nvPr/>
        </p:nvSpPr>
        <p:spPr>
          <a:xfrm>
            <a:off x="8455490" y="3629277"/>
            <a:ext cx="567463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budget</a:t>
            </a:r>
          </a:p>
        </p:txBody>
      </p:sp>
      <p:sp>
        <p:nvSpPr>
          <p:cNvPr id="67" name="Rectangle 19">
            <a:extLst>
              <a:ext uri="{FF2B5EF4-FFF2-40B4-BE49-F238E27FC236}">
                <a16:creationId xmlns:a16="http://schemas.microsoft.com/office/drawing/2014/main" id="{1BFC822D-FD02-4E2D-7A37-187FC38A1202}"/>
              </a:ext>
            </a:extLst>
          </p:cNvPr>
          <p:cNvSpPr>
            <a:spLocks noGrp="1"/>
          </p:cNvSpPr>
          <p:nvPr/>
        </p:nvSpPr>
        <p:spPr>
          <a:xfrm>
            <a:off x="7577572" y="3618294"/>
            <a:ext cx="355867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did</a:t>
            </a:r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BDFEB84D-41FE-0C2A-07D7-A82BF8C327CB}"/>
              </a:ext>
            </a:extLst>
          </p:cNvPr>
          <p:cNvSpPr>
            <a:spLocks noGrp="1"/>
          </p:cNvSpPr>
          <p:nvPr/>
        </p:nvSpPr>
        <p:spPr>
          <a:xfrm>
            <a:off x="5820818" y="3605313"/>
            <a:ext cx="355867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pid</a:t>
            </a:r>
          </a:p>
        </p:txBody>
      </p:sp>
      <p:sp>
        <p:nvSpPr>
          <p:cNvPr id="69" name="Rectangle 21">
            <a:extLst>
              <a:ext uri="{FF2B5EF4-FFF2-40B4-BE49-F238E27FC236}">
                <a16:creationId xmlns:a16="http://schemas.microsoft.com/office/drawing/2014/main" id="{DC4C8393-173A-6EB7-96DF-DD65CE093910}"/>
              </a:ext>
            </a:extLst>
          </p:cNvPr>
          <p:cNvSpPr>
            <a:spLocks noGrp="1"/>
          </p:cNvSpPr>
          <p:nvPr/>
        </p:nvSpPr>
        <p:spPr>
          <a:xfrm>
            <a:off x="6132456" y="3376641"/>
            <a:ext cx="772647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started_on</a:t>
            </a:r>
          </a:p>
        </p:txBody>
      </p:sp>
      <p:sp>
        <p:nvSpPr>
          <p:cNvPr id="70" name="Rectangle 22">
            <a:extLst>
              <a:ext uri="{FF2B5EF4-FFF2-40B4-BE49-F238E27FC236}">
                <a16:creationId xmlns:a16="http://schemas.microsoft.com/office/drawing/2014/main" id="{AD7AB9A5-ACCC-9C07-6913-237332A1D44E}"/>
              </a:ext>
            </a:extLst>
          </p:cNvPr>
          <p:cNvSpPr>
            <a:spLocks noGrp="1"/>
          </p:cNvSpPr>
          <p:nvPr/>
        </p:nvSpPr>
        <p:spPr>
          <a:xfrm>
            <a:off x="6703332" y="3611303"/>
            <a:ext cx="637996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pbudget</a:t>
            </a:r>
          </a:p>
        </p:txBody>
      </p:sp>
      <p:sp>
        <p:nvSpPr>
          <p:cNvPr id="71" name="Rectangle 23">
            <a:extLst>
              <a:ext uri="{FF2B5EF4-FFF2-40B4-BE49-F238E27FC236}">
                <a16:creationId xmlns:a16="http://schemas.microsoft.com/office/drawing/2014/main" id="{4A005E0B-66E8-9DB3-EC4A-4F95CA2A74D2}"/>
              </a:ext>
            </a:extLst>
          </p:cNvPr>
          <p:cNvSpPr>
            <a:spLocks noGrp="1"/>
          </p:cNvSpPr>
          <p:nvPr/>
        </p:nvSpPr>
        <p:spPr>
          <a:xfrm>
            <a:off x="7978381" y="3451533"/>
            <a:ext cx="554640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dname</a:t>
            </a:r>
          </a:p>
        </p:txBody>
      </p:sp>
      <p:sp>
        <p:nvSpPr>
          <p:cNvPr id="72" name="Rectangle 24">
            <a:extLst>
              <a:ext uri="{FF2B5EF4-FFF2-40B4-BE49-F238E27FC236}">
                <a16:creationId xmlns:a16="http://schemas.microsoft.com/office/drawing/2014/main" id="{B2AEAB85-4EF3-9D6A-E63E-1FD1E28113C5}"/>
              </a:ext>
            </a:extLst>
          </p:cNvPr>
          <p:cNvSpPr>
            <a:spLocks noGrp="1"/>
          </p:cNvSpPr>
          <p:nvPr/>
        </p:nvSpPr>
        <p:spPr>
          <a:xfrm>
            <a:off x="7794524" y="2738560"/>
            <a:ext cx="426400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until</a:t>
            </a:r>
          </a:p>
        </p:txBody>
      </p:sp>
      <p:sp>
        <p:nvSpPr>
          <p:cNvPr id="73" name="Rectangle 25">
            <a:extLst>
              <a:ext uri="{FF2B5EF4-FFF2-40B4-BE49-F238E27FC236}">
                <a16:creationId xmlns:a16="http://schemas.microsoft.com/office/drawing/2014/main" id="{ACF7185D-AF42-0147-6CC8-5963B7D60E2D}"/>
              </a:ext>
            </a:extLst>
          </p:cNvPr>
          <p:cNvSpPr>
            <a:spLocks noGrp="1"/>
          </p:cNvSpPr>
          <p:nvPr/>
        </p:nvSpPr>
        <p:spPr>
          <a:xfrm>
            <a:off x="7908515" y="4006733"/>
            <a:ext cx="888064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Departments</a:t>
            </a:r>
          </a:p>
        </p:txBody>
      </p:sp>
      <p:sp>
        <p:nvSpPr>
          <p:cNvPr id="74" name="Rectangle 26">
            <a:extLst>
              <a:ext uri="{FF2B5EF4-FFF2-40B4-BE49-F238E27FC236}">
                <a16:creationId xmlns:a16="http://schemas.microsoft.com/office/drawing/2014/main" id="{D5E43D82-0B4C-4BCF-A357-4E9A7E518350}"/>
              </a:ext>
            </a:extLst>
          </p:cNvPr>
          <p:cNvSpPr>
            <a:spLocks noGrp="1"/>
          </p:cNvSpPr>
          <p:nvPr/>
        </p:nvSpPr>
        <p:spPr>
          <a:xfrm>
            <a:off x="6113151" y="4017718"/>
            <a:ext cx="637996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Projects</a:t>
            </a:r>
          </a:p>
        </p:txBody>
      </p:sp>
      <p:sp>
        <p:nvSpPr>
          <p:cNvPr id="75" name="Rectangle 27">
            <a:extLst>
              <a:ext uri="{FF2B5EF4-FFF2-40B4-BE49-F238E27FC236}">
                <a16:creationId xmlns:a16="http://schemas.microsoft.com/office/drawing/2014/main" id="{5F827B39-1097-8583-E5C3-350605A480A7}"/>
              </a:ext>
            </a:extLst>
          </p:cNvPr>
          <p:cNvSpPr>
            <a:spLocks noGrp="1"/>
          </p:cNvSpPr>
          <p:nvPr/>
        </p:nvSpPr>
        <p:spPr>
          <a:xfrm>
            <a:off x="7081158" y="3991756"/>
            <a:ext cx="714939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Sponsors</a:t>
            </a:r>
          </a:p>
        </p:txBody>
      </p:sp>
      <p:sp>
        <p:nvSpPr>
          <p:cNvPr id="102" name="Freeform 28">
            <a:extLst>
              <a:ext uri="{FF2B5EF4-FFF2-40B4-BE49-F238E27FC236}">
                <a16:creationId xmlns:a16="http://schemas.microsoft.com/office/drawing/2014/main" id="{7FF38272-A501-D9C0-6B9D-2606EED483C6}"/>
              </a:ext>
            </a:extLst>
          </p:cNvPr>
          <p:cNvSpPr>
            <a:spLocks noGrp="1"/>
          </p:cNvSpPr>
          <p:nvPr/>
        </p:nvSpPr>
        <p:spPr>
          <a:xfrm>
            <a:off x="6874322" y="2163389"/>
            <a:ext cx="772199" cy="246644"/>
          </a:xfrm>
          <a:custGeom>
            <a:avLst/>
            <a:gdLst>
              <a:gd name="T0" fmla="*/ 839 w 840"/>
              <a:gd name="T1" fmla="*/ 246 h 247"/>
              <a:gd name="T2" fmla="*/ 839 w 840"/>
              <a:gd name="T3" fmla="*/ 0 h 247"/>
              <a:gd name="T4" fmla="*/ 0 w 840"/>
              <a:gd name="T5" fmla="*/ 0 h 247"/>
              <a:gd name="T6" fmla="*/ 0 w 840"/>
              <a:gd name="T7" fmla="*/ 246 h 247"/>
              <a:gd name="T8" fmla="*/ 839 w 840"/>
              <a:gd name="T9" fmla="*/ 246 h 247"/>
            </a:gdLst>
            <a:ahLst/>
            <a:cxnLst/>
            <a:rect l="0" t="0" r="r" b="b"/>
            <a:pathLst>
              <a:path w="840" h="247">
                <a:moveTo>
                  <a:pt x="839" y="246"/>
                </a:moveTo>
                <a:lnTo>
                  <a:pt x="839" y="0"/>
                </a:lnTo>
                <a:lnTo>
                  <a:pt x="0" y="0"/>
                </a:lnTo>
                <a:lnTo>
                  <a:pt x="0" y="246"/>
                </a:lnTo>
                <a:lnTo>
                  <a:pt x="839" y="246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103" name="Rectangle 29">
            <a:extLst>
              <a:ext uri="{FF2B5EF4-FFF2-40B4-BE49-F238E27FC236}">
                <a16:creationId xmlns:a16="http://schemas.microsoft.com/office/drawing/2014/main" id="{AF3C5EE3-D74F-FB25-2ACC-BD4A944B288C}"/>
              </a:ext>
            </a:extLst>
          </p:cNvPr>
          <p:cNvSpPr>
            <a:spLocks noGrp="1"/>
          </p:cNvSpPr>
          <p:nvPr/>
        </p:nvSpPr>
        <p:spPr>
          <a:xfrm>
            <a:off x="6907416" y="2156399"/>
            <a:ext cx="791504" cy="22867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Employees</a:t>
            </a:r>
          </a:p>
        </p:txBody>
      </p:sp>
      <p:sp>
        <p:nvSpPr>
          <p:cNvPr id="77" name="Rectangle 31">
            <a:extLst>
              <a:ext uri="{FF2B5EF4-FFF2-40B4-BE49-F238E27FC236}">
                <a16:creationId xmlns:a16="http://schemas.microsoft.com/office/drawing/2014/main" id="{E78A77B0-6382-2E2F-6628-CDFF379CB251}"/>
              </a:ext>
            </a:extLst>
          </p:cNvPr>
          <p:cNvSpPr>
            <a:spLocks noGrp="1"/>
          </p:cNvSpPr>
          <p:nvPr/>
        </p:nvSpPr>
        <p:spPr>
          <a:xfrm>
            <a:off x="6928557" y="2717591"/>
            <a:ext cx="670056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Monitors</a:t>
            </a:r>
          </a:p>
        </p:txBody>
      </p:sp>
      <p:sp>
        <p:nvSpPr>
          <p:cNvPr id="78" name="Rectangle 32">
            <a:extLst>
              <a:ext uri="{FF2B5EF4-FFF2-40B4-BE49-F238E27FC236}">
                <a16:creationId xmlns:a16="http://schemas.microsoft.com/office/drawing/2014/main" id="{E1D47D81-F0F7-1BF6-80B0-1CC45A9159CC}"/>
              </a:ext>
            </a:extLst>
          </p:cNvPr>
          <p:cNvSpPr>
            <a:spLocks noGrp="1"/>
          </p:cNvSpPr>
          <p:nvPr/>
        </p:nvSpPr>
        <p:spPr>
          <a:xfrm>
            <a:off x="5638800" y="3281778"/>
            <a:ext cx="3348036" cy="1095422"/>
          </a:xfrm>
          <a:prstGeom prst="rect">
            <a:avLst/>
          </a:prstGeom>
          <a:noFill/>
          <a:ln w="25400">
            <a:solidFill>
              <a:schemeClr val="tx2"/>
            </a:solidFill>
            <a:prstDash val="sysDot"/>
          </a:ln>
        </p:spPr>
        <p:txBody>
          <a:bodyPr wrap="none" anchor="ctr"/>
          <a:lstStyle/>
          <a:p>
            <a:endParaRPr sz="900"/>
          </a:p>
        </p:txBody>
      </p:sp>
      <p:sp>
        <p:nvSpPr>
          <p:cNvPr id="79" name="Line 33">
            <a:extLst>
              <a:ext uri="{FF2B5EF4-FFF2-40B4-BE49-F238E27FC236}">
                <a16:creationId xmlns:a16="http://schemas.microsoft.com/office/drawing/2014/main" id="{E7440DFC-B2DC-6884-2ADE-8D35DED8CC64}"/>
              </a:ext>
            </a:extLst>
          </p:cNvPr>
          <p:cNvSpPr>
            <a:spLocks noGrp="1"/>
          </p:cNvSpPr>
          <p:nvPr/>
        </p:nvSpPr>
        <p:spPr>
          <a:xfrm>
            <a:off x="5935729" y="3861943"/>
            <a:ext cx="353925" cy="135804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0" name="Line 34">
            <a:extLst>
              <a:ext uri="{FF2B5EF4-FFF2-40B4-BE49-F238E27FC236}">
                <a16:creationId xmlns:a16="http://schemas.microsoft.com/office/drawing/2014/main" id="{00948C32-8585-F622-6D87-026B57E561CD}"/>
              </a:ext>
            </a:extLst>
          </p:cNvPr>
          <p:cNvSpPr>
            <a:spLocks noGrp="1"/>
          </p:cNvSpPr>
          <p:nvPr/>
        </p:nvSpPr>
        <p:spPr>
          <a:xfrm>
            <a:off x="6450529" y="3610305"/>
            <a:ext cx="5515" cy="373462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1" name="Line 35">
            <a:extLst>
              <a:ext uri="{FF2B5EF4-FFF2-40B4-BE49-F238E27FC236}">
                <a16:creationId xmlns:a16="http://schemas.microsoft.com/office/drawing/2014/main" id="{93339C8F-347E-BFD8-880C-56C645FDEB35}"/>
              </a:ext>
            </a:extLst>
          </p:cNvPr>
          <p:cNvSpPr>
            <a:spLocks noGrp="1"/>
          </p:cNvSpPr>
          <p:nvPr/>
        </p:nvSpPr>
        <p:spPr>
          <a:xfrm flipH="1">
            <a:off x="6581067" y="3861943"/>
            <a:ext cx="351166" cy="135804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2" name="Line 36">
            <a:extLst>
              <a:ext uri="{FF2B5EF4-FFF2-40B4-BE49-F238E27FC236}">
                <a16:creationId xmlns:a16="http://schemas.microsoft.com/office/drawing/2014/main" id="{CADDBF69-B795-79C0-C933-B5915980E8BF}"/>
              </a:ext>
            </a:extLst>
          </p:cNvPr>
          <p:cNvSpPr>
            <a:spLocks noGrp="1"/>
          </p:cNvSpPr>
          <p:nvPr/>
        </p:nvSpPr>
        <p:spPr>
          <a:xfrm>
            <a:off x="7753156" y="3852955"/>
            <a:ext cx="284058" cy="144791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3" name="Line 37">
            <a:extLst>
              <a:ext uri="{FF2B5EF4-FFF2-40B4-BE49-F238E27FC236}">
                <a16:creationId xmlns:a16="http://schemas.microsoft.com/office/drawing/2014/main" id="{00C7BC3D-61B3-D23A-FFB5-B27C75A611C2}"/>
              </a:ext>
            </a:extLst>
          </p:cNvPr>
          <p:cNvSpPr>
            <a:spLocks noGrp="1"/>
          </p:cNvSpPr>
          <p:nvPr/>
        </p:nvSpPr>
        <p:spPr>
          <a:xfrm>
            <a:off x="8208202" y="3680204"/>
            <a:ext cx="0" cy="327528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4" name="Line 38">
            <a:extLst>
              <a:ext uri="{FF2B5EF4-FFF2-40B4-BE49-F238E27FC236}">
                <a16:creationId xmlns:a16="http://schemas.microsoft.com/office/drawing/2014/main" id="{62814AC1-AA82-C957-292C-F4600C400B25}"/>
              </a:ext>
            </a:extLst>
          </p:cNvPr>
          <p:cNvSpPr>
            <a:spLocks noGrp="1"/>
          </p:cNvSpPr>
          <p:nvPr/>
        </p:nvSpPr>
        <p:spPr>
          <a:xfrm flipH="1">
            <a:off x="8434346" y="3861943"/>
            <a:ext cx="201323" cy="145789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5" name="Line 39">
            <a:extLst>
              <a:ext uri="{FF2B5EF4-FFF2-40B4-BE49-F238E27FC236}">
                <a16:creationId xmlns:a16="http://schemas.microsoft.com/office/drawing/2014/main" id="{B3F907E1-91FE-89C4-CFC6-BA5607DA936D}"/>
              </a:ext>
            </a:extLst>
          </p:cNvPr>
          <p:cNvSpPr>
            <a:spLocks noGrp="1"/>
          </p:cNvSpPr>
          <p:nvPr/>
        </p:nvSpPr>
        <p:spPr>
          <a:xfrm>
            <a:off x="7228244" y="3047116"/>
            <a:ext cx="0" cy="222678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6" name="Line 40">
            <a:extLst>
              <a:ext uri="{FF2B5EF4-FFF2-40B4-BE49-F238E27FC236}">
                <a16:creationId xmlns:a16="http://schemas.microsoft.com/office/drawing/2014/main" id="{5062FB32-2937-734D-6255-F4D174AF6D8C}"/>
              </a:ext>
            </a:extLst>
          </p:cNvPr>
          <p:cNvSpPr>
            <a:spLocks noGrp="1"/>
          </p:cNvSpPr>
          <p:nvPr/>
        </p:nvSpPr>
        <p:spPr>
          <a:xfrm>
            <a:off x="7603312" y="2842411"/>
            <a:ext cx="115829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7" name="Line 41">
            <a:extLst>
              <a:ext uri="{FF2B5EF4-FFF2-40B4-BE49-F238E27FC236}">
                <a16:creationId xmlns:a16="http://schemas.microsoft.com/office/drawing/2014/main" id="{9113A8B8-F7E0-547E-24D2-FCF711B8C58F}"/>
              </a:ext>
            </a:extLst>
          </p:cNvPr>
          <p:cNvSpPr>
            <a:spLocks noGrp="1"/>
          </p:cNvSpPr>
          <p:nvPr/>
        </p:nvSpPr>
        <p:spPr>
          <a:xfrm flipV="1">
            <a:off x="7227325" y="2407038"/>
            <a:ext cx="0" cy="227672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8" name="Freeform 42">
            <a:extLst>
              <a:ext uri="{FF2B5EF4-FFF2-40B4-BE49-F238E27FC236}">
                <a16:creationId xmlns:a16="http://schemas.microsoft.com/office/drawing/2014/main" id="{5E42CE88-1402-611D-2BAA-090FDF91E43C}"/>
              </a:ext>
            </a:extLst>
          </p:cNvPr>
          <p:cNvSpPr>
            <a:spLocks noGrp="1"/>
          </p:cNvSpPr>
          <p:nvPr/>
        </p:nvSpPr>
        <p:spPr>
          <a:xfrm>
            <a:off x="7448872" y="1776946"/>
            <a:ext cx="519396" cy="239654"/>
          </a:xfrm>
          <a:custGeom>
            <a:avLst/>
            <a:gdLst>
              <a:gd name="T0" fmla="*/ 1 w 565"/>
              <a:gd name="T1" fmla="*/ 130 h 240"/>
              <a:gd name="T2" fmla="*/ 9 w 565"/>
              <a:gd name="T3" fmla="*/ 151 h 240"/>
              <a:gd name="T4" fmla="*/ 27 w 565"/>
              <a:gd name="T5" fmla="*/ 170 h 240"/>
              <a:gd name="T6" fmla="*/ 51 w 565"/>
              <a:gd name="T7" fmla="*/ 188 h 240"/>
              <a:gd name="T8" fmla="*/ 83 w 565"/>
              <a:gd name="T9" fmla="*/ 204 h 240"/>
              <a:gd name="T10" fmla="*/ 120 w 565"/>
              <a:gd name="T11" fmla="*/ 218 h 240"/>
              <a:gd name="T12" fmla="*/ 163 w 565"/>
              <a:gd name="T13" fmla="*/ 228 h 240"/>
              <a:gd name="T14" fmla="*/ 209 w 565"/>
              <a:gd name="T15" fmla="*/ 235 h 240"/>
              <a:gd name="T16" fmla="*/ 257 w 565"/>
              <a:gd name="T17" fmla="*/ 239 h 240"/>
              <a:gd name="T18" fmla="*/ 306 w 565"/>
              <a:gd name="T19" fmla="*/ 239 h 240"/>
              <a:gd name="T20" fmla="*/ 355 w 565"/>
              <a:gd name="T21" fmla="*/ 235 h 240"/>
              <a:gd name="T22" fmla="*/ 401 w 565"/>
              <a:gd name="T23" fmla="*/ 228 h 240"/>
              <a:gd name="T24" fmla="*/ 443 w 565"/>
              <a:gd name="T25" fmla="*/ 217 h 240"/>
              <a:gd name="T26" fmla="*/ 481 w 565"/>
              <a:gd name="T27" fmla="*/ 204 h 240"/>
              <a:gd name="T28" fmla="*/ 513 w 565"/>
              <a:gd name="T29" fmla="*/ 188 h 240"/>
              <a:gd name="T30" fmla="*/ 537 w 565"/>
              <a:gd name="T31" fmla="*/ 170 h 240"/>
              <a:gd name="T32" fmla="*/ 554 w 565"/>
              <a:gd name="T33" fmla="*/ 150 h 240"/>
              <a:gd name="T34" fmla="*/ 563 w 565"/>
              <a:gd name="T35" fmla="*/ 129 h 240"/>
              <a:gd name="T36" fmla="*/ 563 w 565"/>
              <a:gd name="T37" fmla="*/ 109 h 240"/>
              <a:gd name="T38" fmla="*/ 554 w 565"/>
              <a:gd name="T39" fmla="*/ 88 h 240"/>
              <a:gd name="T40" fmla="*/ 537 w 565"/>
              <a:gd name="T41" fmla="*/ 68 h 240"/>
              <a:gd name="T42" fmla="*/ 513 w 565"/>
              <a:gd name="T43" fmla="*/ 51 h 240"/>
              <a:gd name="T44" fmla="*/ 481 w 565"/>
              <a:gd name="T45" fmla="*/ 35 h 240"/>
              <a:gd name="T46" fmla="*/ 443 w 565"/>
              <a:gd name="T47" fmla="*/ 21 h 240"/>
              <a:gd name="T48" fmla="*/ 401 w 565"/>
              <a:gd name="T49" fmla="*/ 11 h 240"/>
              <a:gd name="T50" fmla="*/ 355 w 565"/>
              <a:gd name="T51" fmla="*/ 4 h 240"/>
              <a:gd name="T52" fmla="*/ 306 w 565"/>
              <a:gd name="T53" fmla="*/ 0 h 240"/>
              <a:gd name="T54" fmla="*/ 257 w 565"/>
              <a:gd name="T55" fmla="*/ 0 h 240"/>
              <a:gd name="T56" fmla="*/ 209 w 565"/>
              <a:gd name="T57" fmla="*/ 4 h 240"/>
              <a:gd name="T58" fmla="*/ 163 w 565"/>
              <a:gd name="T59" fmla="*/ 11 h 240"/>
              <a:gd name="T60" fmla="*/ 120 w 565"/>
              <a:gd name="T61" fmla="*/ 21 h 240"/>
              <a:gd name="T62" fmla="*/ 83 w 565"/>
              <a:gd name="T63" fmla="*/ 35 h 240"/>
              <a:gd name="T64" fmla="*/ 51 w 565"/>
              <a:gd name="T65" fmla="*/ 51 h 240"/>
              <a:gd name="T66" fmla="*/ 27 w 565"/>
              <a:gd name="T67" fmla="*/ 69 h 240"/>
              <a:gd name="T68" fmla="*/ 9 w 565"/>
              <a:gd name="T69" fmla="*/ 88 h 240"/>
              <a:gd name="T70" fmla="*/ 1 w 565"/>
              <a:gd name="T71" fmla="*/ 109 h 240"/>
            </a:gdLst>
            <a:ahLst/>
            <a:cxnLst/>
            <a:rect l="0" t="0" r="r" b="b"/>
            <a:pathLst>
              <a:path w="565" h="240">
                <a:moveTo>
                  <a:pt x="0" y="119"/>
                </a:moveTo>
                <a:lnTo>
                  <a:pt x="1" y="130"/>
                </a:lnTo>
                <a:lnTo>
                  <a:pt x="4" y="140"/>
                </a:lnTo>
                <a:lnTo>
                  <a:pt x="9" y="151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7"/>
                </a:lnTo>
                <a:lnTo>
                  <a:pt x="83" y="204"/>
                </a:lnTo>
                <a:lnTo>
                  <a:pt x="101" y="211"/>
                </a:lnTo>
                <a:lnTo>
                  <a:pt x="120" y="218"/>
                </a:lnTo>
                <a:lnTo>
                  <a:pt x="141" y="223"/>
                </a:lnTo>
                <a:lnTo>
                  <a:pt x="163" y="228"/>
                </a:lnTo>
                <a:lnTo>
                  <a:pt x="185" y="232"/>
                </a:lnTo>
                <a:lnTo>
                  <a:pt x="209" y="235"/>
                </a:lnTo>
                <a:lnTo>
                  <a:pt x="233" y="237"/>
                </a:lnTo>
                <a:lnTo>
                  <a:pt x="257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8" y="231"/>
                </a:lnTo>
                <a:lnTo>
                  <a:pt x="401" y="228"/>
                </a:lnTo>
                <a:lnTo>
                  <a:pt x="423" y="223"/>
                </a:lnTo>
                <a:lnTo>
                  <a:pt x="443" y="217"/>
                </a:lnTo>
                <a:lnTo>
                  <a:pt x="463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7" y="170"/>
                </a:lnTo>
                <a:lnTo>
                  <a:pt x="547" y="160"/>
                </a:lnTo>
                <a:lnTo>
                  <a:pt x="554" y="150"/>
                </a:lnTo>
                <a:lnTo>
                  <a:pt x="559" y="140"/>
                </a:lnTo>
                <a:lnTo>
                  <a:pt x="563" y="129"/>
                </a:lnTo>
                <a:lnTo>
                  <a:pt x="564" y="119"/>
                </a:lnTo>
                <a:lnTo>
                  <a:pt x="563" y="109"/>
                </a:lnTo>
                <a:lnTo>
                  <a:pt x="559" y="98"/>
                </a:lnTo>
                <a:lnTo>
                  <a:pt x="554" y="88"/>
                </a:lnTo>
                <a:lnTo>
                  <a:pt x="547" y="78"/>
                </a:lnTo>
                <a:lnTo>
                  <a:pt x="537" y="68"/>
                </a:lnTo>
                <a:lnTo>
                  <a:pt x="526" y="60"/>
                </a:lnTo>
                <a:lnTo>
                  <a:pt x="513" y="51"/>
                </a:lnTo>
                <a:lnTo>
                  <a:pt x="498" y="42"/>
                </a:lnTo>
                <a:lnTo>
                  <a:pt x="481" y="35"/>
                </a:lnTo>
                <a:lnTo>
                  <a:pt x="463" y="27"/>
                </a:lnTo>
                <a:lnTo>
                  <a:pt x="443" y="21"/>
                </a:lnTo>
                <a:lnTo>
                  <a:pt x="423" y="16"/>
                </a:lnTo>
                <a:lnTo>
                  <a:pt x="401" y="11"/>
                </a:lnTo>
                <a:lnTo>
                  <a:pt x="378" y="7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7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6"/>
                </a:lnTo>
                <a:lnTo>
                  <a:pt x="120" y="21"/>
                </a:lnTo>
                <a:lnTo>
                  <a:pt x="100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9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89" name="Freeform 43">
            <a:extLst>
              <a:ext uri="{FF2B5EF4-FFF2-40B4-BE49-F238E27FC236}">
                <a16:creationId xmlns:a16="http://schemas.microsoft.com/office/drawing/2014/main" id="{54099DE5-F54B-E2E5-64F5-B2F43E479CD7}"/>
              </a:ext>
            </a:extLst>
          </p:cNvPr>
          <p:cNvSpPr>
            <a:spLocks noGrp="1"/>
          </p:cNvSpPr>
          <p:nvPr/>
        </p:nvSpPr>
        <p:spPr>
          <a:xfrm>
            <a:off x="6496493" y="1776946"/>
            <a:ext cx="519396" cy="239654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1 w 565"/>
              <a:gd name="T9" fmla="*/ 35 h 240"/>
              <a:gd name="T10" fmla="*/ 444 w 565"/>
              <a:gd name="T11" fmla="*/ 21 h 240"/>
              <a:gd name="T12" fmla="*/ 401 w 565"/>
              <a:gd name="T13" fmla="*/ 11 h 240"/>
              <a:gd name="T14" fmla="*/ 355 w 565"/>
              <a:gd name="T15" fmla="*/ 4 h 240"/>
              <a:gd name="T16" fmla="*/ 306 w 565"/>
              <a:gd name="T17" fmla="*/ 0 h 240"/>
              <a:gd name="T18" fmla="*/ 258 w 565"/>
              <a:gd name="T19" fmla="*/ 0 h 240"/>
              <a:gd name="T20" fmla="*/ 209 w 565"/>
              <a:gd name="T21" fmla="*/ 4 h 240"/>
              <a:gd name="T22" fmla="*/ 163 w 565"/>
              <a:gd name="T23" fmla="*/ 11 h 240"/>
              <a:gd name="T24" fmla="*/ 120 w 565"/>
              <a:gd name="T25" fmla="*/ 21 h 240"/>
              <a:gd name="T26" fmla="*/ 83 w 565"/>
              <a:gd name="T27" fmla="*/ 35 h 240"/>
              <a:gd name="T28" fmla="*/ 51 w 565"/>
              <a:gd name="T29" fmla="*/ 51 h 240"/>
              <a:gd name="T30" fmla="*/ 27 w 565"/>
              <a:gd name="T31" fmla="*/ 68 h 240"/>
              <a:gd name="T32" fmla="*/ 9 w 565"/>
              <a:gd name="T33" fmla="*/ 88 h 240"/>
              <a:gd name="T34" fmla="*/ 1 w 565"/>
              <a:gd name="T35" fmla="*/ 109 h 240"/>
              <a:gd name="T36" fmla="*/ 1 w 565"/>
              <a:gd name="T37" fmla="*/ 130 h 240"/>
              <a:gd name="T38" fmla="*/ 9 w 565"/>
              <a:gd name="T39" fmla="*/ 151 h 240"/>
              <a:gd name="T40" fmla="*/ 27 w 565"/>
              <a:gd name="T41" fmla="*/ 170 h 240"/>
              <a:gd name="T42" fmla="*/ 51 w 565"/>
              <a:gd name="T43" fmla="*/ 188 h 240"/>
              <a:gd name="T44" fmla="*/ 83 w 565"/>
              <a:gd name="T45" fmla="*/ 204 h 240"/>
              <a:gd name="T46" fmla="*/ 120 w 565"/>
              <a:gd name="T47" fmla="*/ 218 h 240"/>
              <a:gd name="T48" fmla="*/ 163 w 565"/>
              <a:gd name="T49" fmla="*/ 228 h 240"/>
              <a:gd name="T50" fmla="*/ 209 w 565"/>
              <a:gd name="T51" fmla="*/ 235 h 240"/>
              <a:gd name="T52" fmla="*/ 258 w 565"/>
              <a:gd name="T53" fmla="*/ 239 h 240"/>
              <a:gd name="T54" fmla="*/ 306 w 565"/>
              <a:gd name="T55" fmla="*/ 239 h 240"/>
              <a:gd name="T56" fmla="*/ 355 w 565"/>
              <a:gd name="T57" fmla="*/ 235 h 240"/>
              <a:gd name="T58" fmla="*/ 401 w 565"/>
              <a:gd name="T59" fmla="*/ 228 h 240"/>
              <a:gd name="T60" fmla="*/ 444 w 565"/>
              <a:gd name="T61" fmla="*/ 218 h 240"/>
              <a:gd name="T62" fmla="*/ 481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1 h 240"/>
              <a:gd name="T70" fmla="*/ 563 w 565"/>
              <a:gd name="T71" fmla="*/ 130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6" y="60"/>
                </a:lnTo>
                <a:lnTo>
                  <a:pt x="513" y="51"/>
                </a:lnTo>
                <a:lnTo>
                  <a:pt x="498" y="42"/>
                </a:lnTo>
                <a:lnTo>
                  <a:pt x="481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6"/>
                </a:lnTo>
                <a:lnTo>
                  <a:pt x="401" y="11"/>
                </a:lnTo>
                <a:lnTo>
                  <a:pt x="379" y="7"/>
                </a:lnTo>
                <a:lnTo>
                  <a:pt x="355" y="4"/>
                </a:lnTo>
                <a:lnTo>
                  <a:pt x="331" y="1"/>
                </a:lnTo>
                <a:lnTo>
                  <a:pt x="306" y="0"/>
                </a:lnTo>
                <a:lnTo>
                  <a:pt x="282" y="0"/>
                </a:lnTo>
                <a:lnTo>
                  <a:pt x="258" y="0"/>
                </a:lnTo>
                <a:lnTo>
                  <a:pt x="233" y="1"/>
                </a:lnTo>
                <a:lnTo>
                  <a:pt x="209" y="4"/>
                </a:lnTo>
                <a:lnTo>
                  <a:pt x="185" y="7"/>
                </a:lnTo>
                <a:lnTo>
                  <a:pt x="163" y="11"/>
                </a:lnTo>
                <a:lnTo>
                  <a:pt x="141" y="16"/>
                </a:lnTo>
                <a:lnTo>
                  <a:pt x="120" y="21"/>
                </a:lnTo>
                <a:lnTo>
                  <a:pt x="101" y="27"/>
                </a:lnTo>
                <a:lnTo>
                  <a:pt x="83" y="35"/>
                </a:lnTo>
                <a:lnTo>
                  <a:pt x="66" y="42"/>
                </a:lnTo>
                <a:lnTo>
                  <a:pt x="51" y="51"/>
                </a:lnTo>
                <a:lnTo>
                  <a:pt x="38" y="60"/>
                </a:lnTo>
                <a:lnTo>
                  <a:pt x="27" y="68"/>
                </a:lnTo>
                <a:lnTo>
                  <a:pt x="17" y="78"/>
                </a:lnTo>
                <a:lnTo>
                  <a:pt x="9" y="88"/>
                </a:lnTo>
                <a:lnTo>
                  <a:pt x="4" y="98"/>
                </a:lnTo>
                <a:lnTo>
                  <a:pt x="1" y="109"/>
                </a:lnTo>
                <a:lnTo>
                  <a:pt x="0" y="119"/>
                </a:lnTo>
                <a:lnTo>
                  <a:pt x="1" y="130"/>
                </a:lnTo>
                <a:lnTo>
                  <a:pt x="4" y="140"/>
                </a:lnTo>
                <a:lnTo>
                  <a:pt x="9" y="151"/>
                </a:lnTo>
                <a:lnTo>
                  <a:pt x="17" y="160"/>
                </a:lnTo>
                <a:lnTo>
                  <a:pt x="27" y="170"/>
                </a:lnTo>
                <a:lnTo>
                  <a:pt x="38" y="179"/>
                </a:lnTo>
                <a:lnTo>
                  <a:pt x="51" y="188"/>
                </a:lnTo>
                <a:lnTo>
                  <a:pt x="66" y="196"/>
                </a:lnTo>
                <a:lnTo>
                  <a:pt x="83" y="204"/>
                </a:lnTo>
                <a:lnTo>
                  <a:pt x="101" y="211"/>
                </a:lnTo>
                <a:lnTo>
                  <a:pt x="120" y="218"/>
                </a:lnTo>
                <a:lnTo>
                  <a:pt x="141" y="223"/>
                </a:lnTo>
                <a:lnTo>
                  <a:pt x="163" y="228"/>
                </a:lnTo>
                <a:lnTo>
                  <a:pt x="185" y="232"/>
                </a:lnTo>
                <a:lnTo>
                  <a:pt x="209" y="235"/>
                </a:lnTo>
                <a:lnTo>
                  <a:pt x="233" y="237"/>
                </a:lnTo>
                <a:lnTo>
                  <a:pt x="258" y="239"/>
                </a:lnTo>
                <a:lnTo>
                  <a:pt x="282" y="239"/>
                </a:lnTo>
                <a:lnTo>
                  <a:pt x="306" y="239"/>
                </a:lnTo>
                <a:lnTo>
                  <a:pt x="331" y="237"/>
                </a:lnTo>
                <a:lnTo>
                  <a:pt x="355" y="235"/>
                </a:lnTo>
                <a:lnTo>
                  <a:pt x="379" y="232"/>
                </a:lnTo>
                <a:lnTo>
                  <a:pt x="401" y="228"/>
                </a:lnTo>
                <a:lnTo>
                  <a:pt x="423" y="223"/>
                </a:lnTo>
                <a:lnTo>
                  <a:pt x="444" y="218"/>
                </a:lnTo>
                <a:lnTo>
                  <a:pt x="464" y="211"/>
                </a:lnTo>
                <a:lnTo>
                  <a:pt x="481" y="204"/>
                </a:lnTo>
                <a:lnTo>
                  <a:pt x="498" y="196"/>
                </a:lnTo>
                <a:lnTo>
                  <a:pt x="513" y="188"/>
                </a:lnTo>
                <a:lnTo>
                  <a:pt x="526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1"/>
                </a:lnTo>
                <a:lnTo>
                  <a:pt x="560" y="140"/>
                </a:lnTo>
                <a:lnTo>
                  <a:pt x="563" y="130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90" name="Freeform 44">
            <a:extLst>
              <a:ext uri="{FF2B5EF4-FFF2-40B4-BE49-F238E27FC236}">
                <a16:creationId xmlns:a16="http://schemas.microsoft.com/office/drawing/2014/main" id="{A9987DDB-9FF2-AF45-2756-74502E43FB56}"/>
              </a:ext>
            </a:extLst>
          </p:cNvPr>
          <p:cNvSpPr>
            <a:spLocks noGrp="1"/>
          </p:cNvSpPr>
          <p:nvPr/>
        </p:nvSpPr>
        <p:spPr>
          <a:xfrm>
            <a:off x="6962571" y="1600200"/>
            <a:ext cx="519395" cy="240653"/>
          </a:xfrm>
          <a:custGeom>
            <a:avLst/>
            <a:gdLst>
              <a:gd name="T0" fmla="*/ 563 w 565"/>
              <a:gd name="T1" fmla="*/ 110 h 241"/>
              <a:gd name="T2" fmla="*/ 554 w 565"/>
              <a:gd name="T3" fmla="*/ 89 h 241"/>
              <a:gd name="T4" fmla="*/ 538 w 565"/>
              <a:gd name="T5" fmla="*/ 70 h 241"/>
              <a:gd name="T6" fmla="*/ 513 w 565"/>
              <a:gd name="T7" fmla="*/ 51 h 241"/>
              <a:gd name="T8" fmla="*/ 482 w 565"/>
              <a:gd name="T9" fmla="*/ 35 h 241"/>
              <a:gd name="T10" fmla="*/ 444 w 565"/>
              <a:gd name="T11" fmla="*/ 22 h 241"/>
              <a:gd name="T12" fmla="*/ 401 w 565"/>
              <a:gd name="T13" fmla="*/ 12 h 241"/>
              <a:gd name="T14" fmla="*/ 355 w 565"/>
              <a:gd name="T15" fmla="*/ 5 h 241"/>
              <a:gd name="T16" fmla="*/ 307 w 565"/>
              <a:gd name="T17" fmla="*/ 1 h 241"/>
              <a:gd name="T18" fmla="*/ 258 w 565"/>
              <a:gd name="T19" fmla="*/ 1 h 241"/>
              <a:gd name="T20" fmla="*/ 210 w 565"/>
              <a:gd name="T21" fmla="*/ 5 h 241"/>
              <a:gd name="T22" fmla="*/ 164 w 565"/>
              <a:gd name="T23" fmla="*/ 12 h 241"/>
              <a:gd name="T24" fmla="*/ 121 w 565"/>
              <a:gd name="T25" fmla="*/ 22 h 241"/>
              <a:gd name="T26" fmla="*/ 83 w 565"/>
              <a:gd name="T27" fmla="*/ 35 h 241"/>
              <a:gd name="T28" fmla="*/ 51 w 565"/>
              <a:gd name="T29" fmla="*/ 51 h 241"/>
              <a:gd name="T30" fmla="*/ 27 w 565"/>
              <a:gd name="T31" fmla="*/ 70 h 241"/>
              <a:gd name="T32" fmla="*/ 10 w 565"/>
              <a:gd name="T33" fmla="*/ 89 h 241"/>
              <a:gd name="T34" fmla="*/ 1 w 565"/>
              <a:gd name="T35" fmla="*/ 110 h 241"/>
              <a:gd name="T36" fmla="*/ 1 w 565"/>
              <a:gd name="T37" fmla="*/ 131 h 241"/>
              <a:gd name="T38" fmla="*/ 10 w 565"/>
              <a:gd name="T39" fmla="*/ 151 h 241"/>
              <a:gd name="T40" fmla="*/ 27 w 565"/>
              <a:gd name="T41" fmla="*/ 171 h 241"/>
              <a:gd name="T42" fmla="*/ 51 w 565"/>
              <a:gd name="T43" fmla="*/ 189 h 241"/>
              <a:gd name="T44" fmla="*/ 83 w 565"/>
              <a:gd name="T45" fmla="*/ 205 h 241"/>
              <a:gd name="T46" fmla="*/ 121 w 565"/>
              <a:gd name="T47" fmla="*/ 218 h 241"/>
              <a:gd name="T48" fmla="*/ 164 w 565"/>
              <a:gd name="T49" fmla="*/ 229 h 241"/>
              <a:gd name="T50" fmla="*/ 210 w 565"/>
              <a:gd name="T51" fmla="*/ 236 h 241"/>
              <a:gd name="T52" fmla="*/ 258 w 565"/>
              <a:gd name="T53" fmla="*/ 239 h 241"/>
              <a:gd name="T54" fmla="*/ 307 w 565"/>
              <a:gd name="T55" fmla="*/ 239 h 241"/>
              <a:gd name="T56" fmla="*/ 355 w 565"/>
              <a:gd name="T57" fmla="*/ 236 h 241"/>
              <a:gd name="T58" fmla="*/ 401 w 565"/>
              <a:gd name="T59" fmla="*/ 229 h 241"/>
              <a:gd name="T60" fmla="*/ 444 w 565"/>
              <a:gd name="T61" fmla="*/ 218 h 241"/>
              <a:gd name="T62" fmla="*/ 482 w 565"/>
              <a:gd name="T63" fmla="*/ 205 h 241"/>
              <a:gd name="T64" fmla="*/ 513 w 565"/>
              <a:gd name="T65" fmla="*/ 189 h 241"/>
              <a:gd name="T66" fmla="*/ 538 w 565"/>
              <a:gd name="T67" fmla="*/ 171 h 241"/>
              <a:gd name="T68" fmla="*/ 554 w 565"/>
              <a:gd name="T69" fmla="*/ 151 h 241"/>
              <a:gd name="T70" fmla="*/ 563 w 565"/>
              <a:gd name="T71" fmla="*/ 131 h 241"/>
            </a:gdLst>
            <a:ahLst/>
            <a:cxnLst/>
            <a:rect l="0" t="0" r="r" b="b"/>
            <a:pathLst>
              <a:path w="565" h="241">
                <a:moveTo>
                  <a:pt x="564" y="120"/>
                </a:moveTo>
                <a:lnTo>
                  <a:pt x="563" y="110"/>
                </a:lnTo>
                <a:lnTo>
                  <a:pt x="560" y="100"/>
                </a:lnTo>
                <a:lnTo>
                  <a:pt x="554" y="89"/>
                </a:lnTo>
                <a:lnTo>
                  <a:pt x="547" y="79"/>
                </a:lnTo>
                <a:lnTo>
                  <a:pt x="538" y="70"/>
                </a:lnTo>
                <a:lnTo>
                  <a:pt x="526" y="60"/>
                </a:lnTo>
                <a:lnTo>
                  <a:pt x="513" y="51"/>
                </a:lnTo>
                <a:lnTo>
                  <a:pt x="498" y="43"/>
                </a:lnTo>
                <a:lnTo>
                  <a:pt x="482" y="35"/>
                </a:lnTo>
                <a:lnTo>
                  <a:pt x="463" y="29"/>
                </a:lnTo>
                <a:lnTo>
                  <a:pt x="444" y="22"/>
                </a:lnTo>
                <a:lnTo>
                  <a:pt x="423" y="16"/>
                </a:lnTo>
                <a:lnTo>
                  <a:pt x="401" y="12"/>
                </a:lnTo>
                <a:lnTo>
                  <a:pt x="378" y="8"/>
                </a:lnTo>
                <a:lnTo>
                  <a:pt x="355" y="5"/>
                </a:lnTo>
                <a:lnTo>
                  <a:pt x="332" y="3"/>
                </a:lnTo>
                <a:lnTo>
                  <a:pt x="307" y="1"/>
                </a:lnTo>
                <a:lnTo>
                  <a:pt x="282" y="0"/>
                </a:lnTo>
                <a:lnTo>
                  <a:pt x="258" y="1"/>
                </a:lnTo>
                <a:lnTo>
                  <a:pt x="234" y="3"/>
                </a:lnTo>
                <a:lnTo>
                  <a:pt x="210" y="5"/>
                </a:lnTo>
                <a:lnTo>
                  <a:pt x="186" y="8"/>
                </a:lnTo>
                <a:lnTo>
                  <a:pt x="164" y="12"/>
                </a:lnTo>
                <a:lnTo>
                  <a:pt x="141" y="16"/>
                </a:lnTo>
                <a:lnTo>
                  <a:pt x="121" y="22"/>
                </a:lnTo>
                <a:lnTo>
                  <a:pt x="101" y="29"/>
                </a:lnTo>
                <a:lnTo>
                  <a:pt x="83" y="35"/>
                </a:lnTo>
                <a:lnTo>
                  <a:pt x="66" y="43"/>
                </a:lnTo>
                <a:lnTo>
                  <a:pt x="51" y="51"/>
                </a:lnTo>
                <a:lnTo>
                  <a:pt x="39" y="60"/>
                </a:lnTo>
                <a:lnTo>
                  <a:pt x="27" y="70"/>
                </a:lnTo>
                <a:lnTo>
                  <a:pt x="18" y="79"/>
                </a:lnTo>
                <a:lnTo>
                  <a:pt x="10" y="89"/>
                </a:lnTo>
                <a:lnTo>
                  <a:pt x="5" y="100"/>
                </a:lnTo>
                <a:lnTo>
                  <a:pt x="1" y="110"/>
                </a:lnTo>
                <a:lnTo>
                  <a:pt x="0" y="120"/>
                </a:lnTo>
                <a:lnTo>
                  <a:pt x="1" y="131"/>
                </a:lnTo>
                <a:lnTo>
                  <a:pt x="5" y="141"/>
                </a:lnTo>
                <a:lnTo>
                  <a:pt x="10" y="151"/>
                </a:lnTo>
                <a:lnTo>
                  <a:pt x="18" y="161"/>
                </a:lnTo>
                <a:lnTo>
                  <a:pt x="27" y="171"/>
                </a:lnTo>
                <a:lnTo>
                  <a:pt x="39" y="180"/>
                </a:lnTo>
                <a:lnTo>
                  <a:pt x="51" y="189"/>
                </a:lnTo>
                <a:lnTo>
                  <a:pt x="66" y="197"/>
                </a:lnTo>
                <a:lnTo>
                  <a:pt x="83" y="205"/>
                </a:lnTo>
                <a:lnTo>
                  <a:pt x="101" y="212"/>
                </a:lnTo>
                <a:lnTo>
                  <a:pt x="121" y="218"/>
                </a:lnTo>
                <a:lnTo>
                  <a:pt x="141" y="224"/>
                </a:lnTo>
                <a:lnTo>
                  <a:pt x="164" y="229"/>
                </a:lnTo>
                <a:lnTo>
                  <a:pt x="186" y="233"/>
                </a:lnTo>
                <a:lnTo>
                  <a:pt x="210" y="236"/>
                </a:lnTo>
                <a:lnTo>
                  <a:pt x="234" y="238"/>
                </a:lnTo>
                <a:lnTo>
                  <a:pt x="258" y="239"/>
                </a:lnTo>
                <a:lnTo>
                  <a:pt x="282" y="240"/>
                </a:lnTo>
                <a:lnTo>
                  <a:pt x="307" y="239"/>
                </a:lnTo>
                <a:lnTo>
                  <a:pt x="332" y="238"/>
                </a:lnTo>
                <a:lnTo>
                  <a:pt x="355" y="236"/>
                </a:lnTo>
                <a:lnTo>
                  <a:pt x="378" y="233"/>
                </a:lnTo>
                <a:lnTo>
                  <a:pt x="401" y="229"/>
                </a:lnTo>
                <a:lnTo>
                  <a:pt x="423" y="224"/>
                </a:lnTo>
                <a:lnTo>
                  <a:pt x="444" y="218"/>
                </a:lnTo>
                <a:lnTo>
                  <a:pt x="463" y="212"/>
                </a:lnTo>
                <a:lnTo>
                  <a:pt x="482" y="205"/>
                </a:lnTo>
                <a:lnTo>
                  <a:pt x="498" y="197"/>
                </a:lnTo>
                <a:lnTo>
                  <a:pt x="513" y="189"/>
                </a:lnTo>
                <a:lnTo>
                  <a:pt x="526" y="180"/>
                </a:lnTo>
                <a:lnTo>
                  <a:pt x="538" y="171"/>
                </a:lnTo>
                <a:lnTo>
                  <a:pt x="547" y="161"/>
                </a:lnTo>
                <a:lnTo>
                  <a:pt x="554" y="151"/>
                </a:lnTo>
                <a:lnTo>
                  <a:pt x="560" y="141"/>
                </a:lnTo>
                <a:lnTo>
                  <a:pt x="563" y="131"/>
                </a:lnTo>
                <a:lnTo>
                  <a:pt x="564" y="120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91" name="Rectangle 45">
            <a:extLst>
              <a:ext uri="{FF2B5EF4-FFF2-40B4-BE49-F238E27FC236}">
                <a16:creationId xmlns:a16="http://schemas.microsoft.com/office/drawing/2014/main" id="{62588863-18F0-CC7A-E65D-F5CCA9383684}"/>
              </a:ext>
            </a:extLst>
          </p:cNvPr>
          <p:cNvSpPr>
            <a:spLocks noGrp="1"/>
          </p:cNvSpPr>
          <p:nvPr/>
        </p:nvSpPr>
        <p:spPr>
          <a:xfrm>
            <a:off x="7561025" y="1775947"/>
            <a:ext cx="323807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lot</a:t>
            </a:r>
          </a:p>
        </p:txBody>
      </p:sp>
      <p:sp>
        <p:nvSpPr>
          <p:cNvPr id="92" name="Rectangle 46">
            <a:extLst>
              <a:ext uri="{FF2B5EF4-FFF2-40B4-BE49-F238E27FC236}">
                <a16:creationId xmlns:a16="http://schemas.microsoft.com/office/drawing/2014/main" id="{6F91246B-A6EB-9A12-72B9-A0ABA41B0EE2}"/>
              </a:ext>
            </a:extLst>
          </p:cNvPr>
          <p:cNvSpPr>
            <a:spLocks noGrp="1"/>
          </p:cNvSpPr>
          <p:nvPr/>
        </p:nvSpPr>
        <p:spPr>
          <a:xfrm>
            <a:off x="7036114" y="1634151"/>
            <a:ext cx="484108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93" name="Rectangle 47">
            <a:extLst>
              <a:ext uri="{FF2B5EF4-FFF2-40B4-BE49-F238E27FC236}">
                <a16:creationId xmlns:a16="http://schemas.microsoft.com/office/drawing/2014/main" id="{34FF2E9F-AA4C-D4C7-95A1-FEDEFC1C5E7C}"/>
              </a:ext>
            </a:extLst>
          </p:cNvPr>
          <p:cNvSpPr>
            <a:spLocks noGrp="1"/>
          </p:cNvSpPr>
          <p:nvPr/>
        </p:nvSpPr>
        <p:spPr>
          <a:xfrm>
            <a:off x="6582906" y="1769955"/>
            <a:ext cx="381515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 u="sng">
                <a:solidFill>
                  <a:srgbClr val="000000"/>
                </a:solidFill>
                <a:latin typeface="Arial"/>
                <a:ea typeface="Arial"/>
                <a:cs typeface="Arial"/>
              </a:rPr>
              <a:t>ssn</a:t>
            </a:r>
          </a:p>
        </p:txBody>
      </p:sp>
      <p:sp>
        <p:nvSpPr>
          <p:cNvPr id="94" name="Line 48">
            <a:extLst>
              <a:ext uri="{FF2B5EF4-FFF2-40B4-BE49-F238E27FC236}">
                <a16:creationId xmlns:a16="http://schemas.microsoft.com/office/drawing/2014/main" id="{58926F61-A554-D96B-01A5-A2DCE51847DF}"/>
              </a:ext>
            </a:extLst>
          </p:cNvPr>
          <p:cNvSpPr>
            <a:spLocks noGrp="1"/>
          </p:cNvSpPr>
          <p:nvPr/>
        </p:nvSpPr>
        <p:spPr>
          <a:xfrm>
            <a:off x="6755731" y="2031579"/>
            <a:ext cx="319911" cy="125818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95" name="Line 49">
            <a:extLst>
              <a:ext uri="{FF2B5EF4-FFF2-40B4-BE49-F238E27FC236}">
                <a16:creationId xmlns:a16="http://schemas.microsoft.com/office/drawing/2014/main" id="{73E1EDFF-0824-3889-C532-F17DB7A5A205}"/>
              </a:ext>
            </a:extLst>
          </p:cNvPr>
          <p:cNvSpPr>
            <a:spLocks noGrp="1"/>
          </p:cNvSpPr>
          <p:nvPr/>
        </p:nvSpPr>
        <p:spPr>
          <a:xfrm>
            <a:off x="7229164" y="1839855"/>
            <a:ext cx="0" cy="307556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96" name="Line 50">
            <a:extLst>
              <a:ext uri="{FF2B5EF4-FFF2-40B4-BE49-F238E27FC236}">
                <a16:creationId xmlns:a16="http://schemas.microsoft.com/office/drawing/2014/main" id="{ADF53232-D354-C617-7CE0-18BE549F3D72}"/>
              </a:ext>
            </a:extLst>
          </p:cNvPr>
          <p:cNvSpPr>
            <a:spLocks noGrp="1"/>
          </p:cNvSpPr>
          <p:nvPr/>
        </p:nvSpPr>
        <p:spPr>
          <a:xfrm flipH="1">
            <a:off x="7401989" y="2021593"/>
            <a:ext cx="307041" cy="135804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97" name="Line 51">
            <a:extLst>
              <a:ext uri="{FF2B5EF4-FFF2-40B4-BE49-F238E27FC236}">
                <a16:creationId xmlns:a16="http://schemas.microsoft.com/office/drawing/2014/main" id="{50777638-9267-E21D-DEF7-A56FB125205E}"/>
              </a:ext>
            </a:extLst>
          </p:cNvPr>
          <p:cNvSpPr>
            <a:spLocks noGrp="1"/>
          </p:cNvSpPr>
          <p:nvPr/>
        </p:nvSpPr>
        <p:spPr>
          <a:xfrm flipH="1">
            <a:off x="7820263" y="4098349"/>
            <a:ext cx="148005" cy="0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98" name="Freeform 53">
            <a:extLst>
              <a:ext uri="{FF2B5EF4-FFF2-40B4-BE49-F238E27FC236}">
                <a16:creationId xmlns:a16="http://schemas.microsoft.com/office/drawing/2014/main" id="{7599D785-C4AD-FB1D-0985-215D36F480DB}"/>
              </a:ext>
            </a:extLst>
          </p:cNvPr>
          <p:cNvSpPr>
            <a:spLocks noGrp="1"/>
          </p:cNvSpPr>
          <p:nvPr/>
        </p:nvSpPr>
        <p:spPr>
          <a:xfrm>
            <a:off x="7158378" y="3359666"/>
            <a:ext cx="519396" cy="239654"/>
          </a:xfrm>
          <a:custGeom>
            <a:avLst/>
            <a:gdLst>
              <a:gd name="T0" fmla="*/ 563 w 565"/>
              <a:gd name="T1" fmla="*/ 109 h 240"/>
              <a:gd name="T2" fmla="*/ 555 w 565"/>
              <a:gd name="T3" fmla="*/ 88 h 240"/>
              <a:gd name="T4" fmla="*/ 538 w 565"/>
              <a:gd name="T5" fmla="*/ 68 h 240"/>
              <a:gd name="T6" fmla="*/ 513 w 565"/>
              <a:gd name="T7" fmla="*/ 51 h 240"/>
              <a:gd name="T8" fmla="*/ 482 w 565"/>
              <a:gd name="T9" fmla="*/ 35 h 240"/>
              <a:gd name="T10" fmla="*/ 444 w 565"/>
              <a:gd name="T11" fmla="*/ 21 h 240"/>
              <a:gd name="T12" fmla="*/ 402 w 565"/>
              <a:gd name="T13" fmla="*/ 11 h 240"/>
              <a:gd name="T14" fmla="*/ 356 w 565"/>
              <a:gd name="T15" fmla="*/ 4 h 240"/>
              <a:gd name="T16" fmla="*/ 307 w 565"/>
              <a:gd name="T17" fmla="*/ 0 h 240"/>
              <a:gd name="T18" fmla="*/ 258 w 565"/>
              <a:gd name="T19" fmla="*/ 0 h 240"/>
              <a:gd name="T20" fmla="*/ 210 w 565"/>
              <a:gd name="T21" fmla="*/ 4 h 240"/>
              <a:gd name="T22" fmla="*/ 163 w 565"/>
              <a:gd name="T23" fmla="*/ 11 h 240"/>
              <a:gd name="T24" fmla="*/ 121 w 565"/>
              <a:gd name="T25" fmla="*/ 21 h 240"/>
              <a:gd name="T26" fmla="*/ 83 w 565"/>
              <a:gd name="T27" fmla="*/ 35 h 240"/>
              <a:gd name="T28" fmla="*/ 52 w 565"/>
              <a:gd name="T29" fmla="*/ 51 h 240"/>
              <a:gd name="T30" fmla="*/ 27 w 565"/>
              <a:gd name="T31" fmla="*/ 68 h 240"/>
              <a:gd name="T32" fmla="*/ 10 w 565"/>
              <a:gd name="T33" fmla="*/ 88 h 240"/>
              <a:gd name="T34" fmla="*/ 2 w 565"/>
              <a:gd name="T35" fmla="*/ 109 h 240"/>
              <a:gd name="T36" fmla="*/ 2 w 565"/>
              <a:gd name="T37" fmla="*/ 129 h 240"/>
              <a:gd name="T38" fmla="*/ 10 w 565"/>
              <a:gd name="T39" fmla="*/ 150 h 240"/>
              <a:gd name="T40" fmla="*/ 27 w 565"/>
              <a:gd name="T41" fmla="*/ 170 h 240"/>
              <a:gd name="T42" fmla="*/ 52 w 565"/>
              <a:gd name="T43" fmla="*/ 188 h 240"/>
              <a:gd name="T44" fmla="*/ 83 w 565"/>
              <a:gd name="T45" fmla="*/ 204 h 240"/>
              <a:gd name="T46" fmla="*/ 121 w 565"/>
              <a:gd name="T47" fmla="*/ 217 h 240"/>
              <a:gd name="T48" fmla="*/ 163 w 565"/>
              <a:gd name="T49" fmla="*/ 227 h 240"/>
              <a:gd name="T50" fmla="*/ 210 w 565"/>
              <a:gd name="T51" fmla="*/ 235 h 240"/>
              <a:gd name="T52" fmla="*/ 258 w 565"/>
              <a:gd name="T53" fmla="*/ 239 h 240"/>
              <a:gd name="T54" fmla="*/ 307 w 565"/>
              <a:gd name="T55" fmla="*/ 239 h 240"/>
              <a:gd name="T56" fmla="*/ 356 w 565"/>
              <a:gd name="T57" fmla="*/ 235 h 240"/>
              <a:gd name="T58" fmla="*/ 402 w 565"/>
              <a:gd name="T59" fmla="*/ 227 h 240"/>
              <a:gd name="T60" fmla="*/ 444 w 565"/>
              <a:gd name="T61" fmla="*/ 217 h 240"/>
              <a:gd name="T62" fmla="*/ 482 w 565"/>
              <a:gd name="T63" fmla="*/ 204 h 240"/>
              <a:gd name="T64" fmla="*/ 513 w 565"/>
              <a:gd name="T65" fmla="*/ 188 h 240"/>
              <a:gd name="T66" fmla="*/ 538 w 565"/>
              <a:gd name="T67" fmla="*/ 170 h 240"/>
              <a:gd name="T68" fmla="*/ 555 w 565"/>
              <a:gd name="T69" fmla="*/ 150 h 240"/>
              <a:gd name="T70" fmla="*/ 563 w 565"/>
              <a:gd name="T71" fmla="*/ 129 h 240"/>
            </a:gdLst>
            <a:ahLst/>
            <a:cxnLst/>
            <a:rect l="0" t="0" r="r" b="b"/>
            <a:pathLst>
              <a:path w="565" h="240">
                <a:moveTo>
                  <a:pt x="564" y="119"/>
                </a:moveTo>
                <a:lnTo>
                  <a:pt x="563" y="109"/>
                </a:lnTo>
                <a:lnTo>
                  <a:pt x="560" y="98"/>
                </a:lnTo>
                <a:lnTo>
                  <a:pt x="555" y="88"/>
                </a:lnTo>
                <a:lnTo>
                  <a:pt x="547" y="78"/>
                </a:lnTo>
                <a:lnTo>
                  <a:pt x="538" y="68"/>
                </a:lnTo>
                <a:lnTo>
                  <a:pt x="527" y="60"/>
                </a:lnTo>
                <a:lnTo>
                  <a:pt x="513" y="51"/>
                </a:lnTo>
                <a:lnTo>
                  <a:pt x="498" y="42"/>
                </a:lnTo>
                <a:lnTo>
                  <a:pt x="482" y="35"/>
                </a:lnTo>
                <a:lnTo>
                  <a:pt x="464" y="27"/>
                </a:lnTo>
                <a:lnTo>
                  <a:pt x="444" y="21"/>
                </a:lnTo>
                <a:lnTo>
                  <a:pt x="423" y="15"/>
                </a:lnTo>
                <a:lnTo>
                  <a:pt x="402" y="11"/>
                </a:lnTo>
                <a:lnTo>
                  <a:pt x="379" y="7"/>
                </a:lnTo>
                <a:lnTo>
                  <a:pt x="356" y="4"/>
                </a:lnTo>
                <a:lnTo>
                  <a:pt x="331" y="1"/>
                </a:lnTo>
                <a:lnTo>
                  <a:pt x="307" y="0"/>
                </a:lnTo>
                <a:lnTo>
                  <a:pt x="282" y="0"/>
                </a:lnTo>
                <a:lnTo>
                  <a:pt x="258" y="0"/>
                </a:lnTo>
                <a:lnTo>
                  <a:pt x="234" y="1"/>
                </a:lnTo>
                <a:lnTo>
                  <a:pt x="210" y="4"/>
                </a:lnTo>
                <a:lnTo>
                  <a:pt x="186" y="7"/>
                </a:lnTo>
                <a:lnTo>
                  <a:pt x="163" y="11"/>
                </a:lnTo>
                <a:lnTo>
                  <a:pt x="141" y="15"/>
                </a:lnTo>
                <a:lnTo>
                  <a:pt x="121" y="21"/>
                </a:lnTo>
                <a:lnTo>
                  <a:pt x="101" y="27"/>
                </a:lnTo>
                <a:lnTo>
                  <a:pt x="83" y="35"/>
                </a:lnTo>
                <a:lnTo>
                  <a:pt x="67" y="42"/>
                </a:lnTo>
                <a:lnTo>
                  <a:pt x="52" y="51"/>
                </a:lnTo>
                <a:lnTo>
                  <a:pt x="38" y="60"/>
                </a:lnTo>
                <a:lnTo>
                  <a:pt x="27" y="68"/>
                </a:lnTo>
                <a:lnTo>
                  <a:pt x="18" y="78"/>
                </a:lnTo>
                <a:lnTo>
                  <a:pt x="10" y="88"/>
                </a:lnTo>
                <a:lnTo>
                  <a:pt x="5" y="98"/>
                </a:lnTo>
                <a:lnTo>
                  <a:pt x="2" y="109"/>
                </a:lnTo>
                <a:lnTo>
                  <a:pt x="0" y="119"/>
                </a:lnTo>
                <a:lnTo>
                  <a:pt x="2" y="129"/>
                </a:lnTo>
                <a:lnTo>
                  <a:pt x="5" y="140"/>
                </a:lnTo>
                <a:lnTo>
                  <a:pt x="10" y="150"/>
                </a:lnTo>
                <a:lnTo>
                  <a:pt x="18" y="160"/>
                </a:lnTo>
                <a:lnTo>
                  <a:pt x="27" y="170"/>
                </a:lnTo>
                <a:lnTo>
                  <a:pt x="38" y="179"/>
                </a:lnTo>
                <a:lnTo>
                  <a:pt x="52" y="188"/>
                </a:lnTo>
                <a:lnTo>
                  <a:pt x="67" y="196"/>
                </a:lnTo>
                <a:lnTo>
                  <a:pt x="83" y="204"/>
                </a:lnTo>
                <a:lnTo>
                  <a:pt x="101" y="211"/>
                </a:lnTo>
                <a:lnTo>
                  <a:pt x="121" y="217"/>
                </a:lnTo>
                <a:lnTo>
                  <a:pt x="141" y="223"/>
                </a:lnTo>
                <a:lnTo>
                  <a:pt x="163" y="227"/>
                </a:lnTo>
                <a:lnTo>
                  <a:pt x="186" y="231"/>
                </a:lnTo>
                <a:lnTo>
                  <a:pt x="210" y="235"/>
                </a:lnTo>
                <a:lnTo>
                  <a:pt x="234" y="237"/>
                </a:lnTo>
                <a:lnTo>
                  <a:pt x="258" y="239"/>
                </a:lnTo>
                <a:lnTo>
                  <a:pt x="282" y="239"/>
                </a:lnTo>
                <a:lnTo>
                  <a:pt x="307" y="239"/>
                </a:lnTo>
                <a:lnTo>
                  <a:pt x="331" y="237"/>
                </a:lnTo>
                <a:lnTo>
                  <a:pt x="356" y="235"/>
                </a:lnTo>
                <a:lnTo>
                  <a:pt x="379" y="231"/>
                </a:lnTo>
                <a:lnTo>
                  <a:pt x="402" y="227"/>
                </a:lnTo>
                <a:lnTo>
                  <a:pt x="423" y="223"/>
                </a:lnTo>
                <a:lnTo>
                  <a:pt x="444" y="217"/>
                </a:lnTo>
                <a:lnTo>
                  <a:pt x="464" y="211"/>
                </a:lnTo>
                <a:lnTo>
                  <a:pt x="482" y="204"/>
                </a:lnTo>
                <a:lnTo>
                  <a:pt x="498" y="196"/>
                </a:lnTo>
                <a:lnTo>
                  <a:pt x="513" y="188"/>
                </a:lnTo>
                <a:lnTo>
                  <a:pt x="527" y="179"/>
                </a:lnTo>
                <a:lnTo>
                  <a:pt x="538" y="170"/>
                </a:lnTo>
                <a:lnTo>
                  <a:pt x="547" y="160"/>
                </a:lnTo>
                <a:lnTo>
                  <a:pt x="555" y="150"/>
                </a:lnTo>
                <a:lnTo>
                  <a:pt x="560" y="140"/>
                </a:lnTo>
                <a:lnTo>
                  <a:pt x="563" y="129"/>
                </a:lnTo>
                <a:lnTo>
                  <a:pt x="564" y="119"/>
                </a:lnTo>
              </a:path>
            </a:pathLst>
          </a:custGeom>
          <a:noFill/>
          <a:ln w="127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5AED04AF-50B6-AB93-94AE-D033473247BA}"/>
              </a:ext>
            </a:extLst>
          </p:cNvPr>
          <p:cNvSpPr>
            <a:spLocks noGrp="1"/>
          </p:cNvSpPr>
          <p:nvPr/>
        </p:nvSpPr>
        <p:spPr>
          <a:xfrm>
            <a:off x="7202504" y="3359665"/>
            <a:ext cx="477695" cy="22826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/>
          <a:p>
            <a:r>
              <a:rPr sz="9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since</a:t>
            </a:r>
          </a:p>
        </p:txBody>
      </p:sp>
      <p:sp>
        <p:nvSpPr>
          <p:cNvPr id="100" name="Line 55">
            <a:extLst>
              <a:ext uri="{FF2B5EF4-FFF2-40B4-BE49-F238E27FC236}">
                <a16:creationId xmlns:a16="http://schemas.microsoft.com/office/drawing/2014/main" id="{185A652F-27C7-8635-95A4-28D46749059E}"/>
              </a:ext>
            </a:extLst>
          </p:cNvPr>
          <p:cNvSpPr>
            <a:spLocks noGrp="1"/>
          </p:cNvSpPr>
          <p:nvPr/>
        </p:nvSpPr>
        <p:spPr>
          <a:xfrm flipV="1">
            <a:off x="7423132" y="3599321"/>
            <a:ext cx="0" cy="287585"/>
          </a:xfrm>
          <a:prstGeom prst="line">
            <a:avLst/>
          </a:prstGeom>
          <a:noFill/>
          <a:ln w="127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  <p:sp>
        <p:nvSpPr>
          <p:cNvPr id="101" name="Line 52">
            <a:extLst>
              <a:ext uri="{FF2B5EF4-FFF2-40B4-BE49-F238E27FC236}">
                <a16:creationId xmlns:a16="http://schemas.microsoft.com/office/drawing/2014/main" id="{AB6180D7-7370-6FEE-DC4F-9C5E8764FC54}"/>
              </a:ext>
            </a:extLst>
          </p:cNvPr>
          <p:cNvSpPr>
            <a:spLocks noGrp="1"/>
          </p:cNvSpPr>
          <p:nvPr/>
        </p:nvSpPr>
        <p:spPr>
          <a:xfrm>
            <a:off x="6662884" y="4098349"/>
            <a:ext cx="373229" cy="0"/>
          </a:xfrm>
          <a:prstGeom prst="line">
            <a:avLst/>
          </a:prstGeom>
          <a:noFill/>
          <a:ln w="50800">
            <a:solidFill>
              <a:schemeClr val="tx2"/>
            </a:solidFill>
            <a:headEnd type="none" w="sm" len="sm"/>
            <a:tailEnd type="none" w="sm" len="sm"/>
          </a:ln>
        </p:spPr>
        <p:txBody>
          <a:bodyPr/>
          <a:lstStyle/>
          <a:p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678255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968110E-8352-4888-AF97-B6F64E63DACD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常见映射错误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F04586CE-E1E7-4CB7-9FF7-66C1C361141D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75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60D24F-F720-4134-A98F-C0F15348C3BC}"/>
              </a:ext>
            </a:extLst>
          </p:cNvPr>
          <p:cNvSpPr>
            <a:spLocks noGrp="1"/>
          </p:cNvSpPr>
          <p:nvPr/>
        </p:nvSpPr>
        <p:spPr>
          <a:xfrm>
            <a:off x="742950" y="1295400"/>
            <a:ext cx="7658100" cy="3790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把外键放在一对多联系的错误一侧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在没有稳定唯一性规则时，把描述性名称作为键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在同一列中存储重复值列表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遗漏属于联系本身的属性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未检查语义便用多个二元联系替代三元联系</a:t>
            </a:r>
          </a:p>
        </p:txBody>
      </p:sp>
      <p:sp>
        <p:nvSpPr>
          <p:cNvPr id="4" name="callout">
            <a:extLst>
              <a:ext uri="{FF2B5EF4-FFF2-40B4-BE49-F238E27FC236}">
                <a16:creationId xmlns:a16="http://schemas.microsoft.com/office/drawing/2014/main" id="{C3AED973-C597-4950-BFFA-DA6F67A76466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C0504D"/>
          </a:solidFill>
          <a:ln w="9525">
            <a:solidFill>
              <a:srgbClr val="C0504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使用合法实例和故意构造的非法实例共同验证模式。</a:t>
            </a:r>
          </a:p>
        </p:txBody>
      </p:sp>
    </p:spTree>
    <p:extLst>
      <p:ext uri="{BB962C8B-B14F-4D97-AF65-F5344CB8AC3E}">
        <p14:creationId xmlns:p14="http://schemas.microsoft.com/office/powerpoint/2010/main" val="20769603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C65CA8D5-40CE-48A6-BA85-B6D697EB7B6A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小组案例：诊所数据模型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F8113AD5-D3F0-457D-AA4A-38989D76836D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0FDEA3-A8DA-4266-870F-2D4CAACB35D2}"/>
              </a:ext>
            </a:extLst>
          </p:cNvPr>
          <p:cNvSpPr>
            <a:spLocks noGrp="1"/>
          </p:cNvSpPr>
          <p:nvPr/>
        </p:nvSpPr>
        <p:spPr>
          <a:xfrm>
            <a:off x="647700" y="1181100"/>
            <a:ext cx="7848600" cy="2876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医生和患者都有独立标识符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一次预约在某个开始时间关联一位医生和一位患者，并记录状态与诊室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一次预约可以有多个诊断代码</a:t>
            </a:r>
          </a:p>
          <a:p>
            <a:pPr marL="266700" indent="-127000">
              <a:spcAft>
                <a:spcPts val="1000"/>
              </a:spcAft>
              <a:buChar char="•"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一位患者可以有多个电话号码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6103D8-ECF5-4712-A0A7-F29C6686E338}"/>
              </a:ext>
            </a:extLst>
          </p:cNvPr>
          <p:cNvSpPr>
            <a:spLocks noGrp="1"/>
          </p:cNvSpPr>
          <p:nvPr/>
        </p:nvSpPr>
        <p:spPr>
          <a:xfrm>
            <a:off x="819150" y="4305300"/>
            <a:ext cx="7505700" cy="723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ctr">
              <a:buNone/>
              <a:defRPr sz="1875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提交内容：关系、主键、外键和可为空属性。</a:t>
            </a:r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741A861D-F5B8-4054-B4F0-BD07A90B6E20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每组三至四人：8 分钟</a:t>
            </a:r>
          </a:p>
        </p:txBody>
      </p:sp>
    </p:spTree>
    <p:extLst>
      <p:ext uri="{BB962C8B-B14F-4D97-AF65-F5344CB8AC3E}">
        <p14:creationId xmlns:p14="http://schemas.microsoft.com/office/powerpoint/2010/main" val="16243207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7F6A9C2-2F23-4CD9-85BD-7445965596D0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诊所案例：参考方案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A3EF2825-2E79-4C95-8982-D6FEEB2E172A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77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438150" y="1123950"/>
          <a:ext cx="8267700" cy="42291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1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关系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键结构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Doctor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doctor_id 主键,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Patient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patient_id 主键, name, dob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PatientPhone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patient_id 外键, phone, 主键(patient_id, phone)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Appointment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appointment_id 主键, doctor_id 外键, patient_id 外键, start_time, status, room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AppointmentDiagnosis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111111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appointment_id 外键, diagnosis_code, 主键(appointment_id, diagnosis_code)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callout">
            <a:extLst>
              <a:ext uri="{FF2B5EF4-FFF2-40B4-BE49-F238E27FC236}">
                <a16:creationId xmlns:a16="http://schemas.microsoft.com/office/drawing/2014/main" id="{27249332-00E1-4C3D-BEFB-1BCC1C1B6AFE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4F81BD"/>
          </a:solidFill>
          <a:ln w="9525">
            <a:solidFill>
              <a:srgbClr val="4F81BD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可使用 Diagnosis 参照表验证 diagnosis_code 的取值。</a:t>
            </a:r>
          </a:p>
        </p:txBody>
      </p:sp>
    </p:spTree>
    <p:extLst>
      <p:ext uri="{BB962C8B-B14F-4D97-AF65-F5344CB8AC3E}">
        <p14:creationId xmlns:p14="http://schemas.microsoft.com/office/powerpoint/2010/main" val="16800192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示&#10;&#10;AI 生成的内容可能不正确。">
            <a:extLst>
              <a:ext uri="{FF2B5EF4-FFF2-40B4-BE49-F238E27FC236}">
                <a16:creationId xmlns:a16="http://schemas.microsoft.com/office/drawing/2014/main" id="{57D9097F-A36B-9B4C-FA80-F8C2D5F9D5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7362"/>
            <a:ext cx="9165489" cy="585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8470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CE14-3645-C932-EEAB-50C76E204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关系模型总结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85CFE-2C33-60E5-4469-21548799F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/>
              <a:buChar char="§"/>
            </a:pPr>
            <a:r>
              <a:rPr sz="2400" b="0">
                <a:latin typeface="Arial Unicode MS"/>
                <a:ea typeface="Arial Unicode MS"/>
                <a:cs typeface="Arial Unicode MS"/>
              </a:rPr>
              <a:t>以表格形式表示数据</a:t>
            </a:r>
          </a:p>
          <a:p>
            <a:pPr lvl="1">
              <a:buFont typeface="Wingdings"/>
              <a:buChar char="§"/>
            </a:pPr>
            <a:endParaRPr sz="1600" b="0"/>
          </a:p>
          <a:p>
            <a:pPr>
              <a:buFont typeface="Wingdings"/>
              <a:buChar char="§"/>
            </a:pPr>
            <a:r>
              <a:rPr sz="2400" b="0">
                <a:latin typeface="Arial Unicode MS"/>
                <a:ea typeface="Arial Unicode MS"/>
                <a:cs typeface="Arial Unicode MS"/>
              </a:rPr>
              <a:t>简单直观，是目前应用最广泛的数据模型之一</a:t>
            </a:r>
          </a:p>
          <a:p>
            <a:pPr lvl="1">
              <a:buFont typeface="Wingdings"/>
              <a:buChar char="§"/>
            </a:pPr>
            <a:endParaRPr sz="1600" b="0"/>
          </a:p>
          <a:p>
            <a:pPr>
              <a:buFont typeface="Wingdings"/>
              <a:buChar char="§"/>
            </a:pPr>
            <a:r>
              <a:rPr sz="2400" b="0">
                <a:latin typeface="Arial Unicode MS"/>
                <a:ea typeface="Arial Unicode MS"/>
                <a:cs typeface="Arial Unicode MS"/>
              </a:rPr>
              <a:t>DBA 可根据应用语义指定完整性约束，由 DBMS 检查违规情况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两类重要完整性约束：主键和外键</a:t>
            </a:r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还包括： NOT NULL, UNIQUE</a:t>
            </a:r>
            <a:endParaRPr sz="2400"/>
          </a:p>
          <a:p>
            <a:pPr lvl="1">
              <a:buFont typeface="Wingdings"/>
              <a:buChar char="§"/>
            </a:pPr>
            <a:r>
              <a:rPr sz="2400">
                <a:latin typeface="Arial Unicode MS"/>
                <a:ea typeface="Arial Unicode MS"/>
                <a:cs typeface="Arial Unicode MS"/>
              </a:rPr>
              <a:t>此外，数据库始终具有域约束</a:t>
            </a:r>
          </a:p>
          <a:p>
            <a:pPr lvl="1">
              <a:buFont typeface="Wingdings"/>
              <a:buChar char="§"/>
            </a:pPr>
            <a:endParaRPr sz="1600"/>
          </a:p>
          <a:p>
            <a:pPr>
              <a:buFont typeface="Wingdings"/>
              <a:buChar char="§"/>
            </a:pPr>
            <a:r>
              <a:rPr sz="2400" b="0">
                <a:latin typeface="Arial Unicode MS"/>
                <a:ea typeface="Arial Unicode MS"/>
                <a:cs typeface="Arial Unicode MS"/>
              </a:rPr>
              <a:t>从 ER 模型映射到关系模型通常较为直接。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29711-84F1-14D8-5488-164F7F3E8D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79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593834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9EE70-0635-556D-AB50-CA4CBF858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Unicode MS"/>
                <a:ea typeface="Arial Unicode MS"/>
                <a:cs typeface="Arial Unicode MS"/>
              </a:rPr>
              <a:t>ER 模型映射为表：总结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E2DBF-FF97-A336-D638-6832ECB9C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8001000" cy="5029200"/>
          </a:xfrm>
        </p:spPr>
        <p:txBody>
          <a:bodyPr>
            <a:normAutofit fontScale="88396" lnSpcReduction="10000"/>
          </a:bodyPr>
          <a:lstStyle/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强实体：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实体键成为主键</a:t>
            </a:r>
          </a:p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二元联系：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取得所有参与实体的键：</a:t>
            </a:r>
          </a:p>
          <a:p>
            <a:pPr lvl="2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1:1 联系可选择任一侧的键作为主键 </a:t>
            </a:r>
          </a:p>
          <a:p>
            <a:pPr lvl="2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1:N 联系通常以 N 侧实体的键作为主键</a:t>
            </a:r>
          </a:p>
          <a:p>
            <a:pPr lvl="2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M:N 联系通常以两侧实体的键组成复合主键</a:t>
            </a:r>
          </a:p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弱实体：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所有者键与部分键共同组成主键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所有者键可配合 ON DELETE CASCADE</a:t>
            </a:r>
          </a:p>
          <a:p>
            <a:pPr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全参与与部分参与：</a:t>
            </a:r>
          </a:p>
          <a:p>
            <a:pPr lvl="1">
              <a:buFont typeface="Wingdings"/>
              <a:buChar char="§"/>
            </a:pPr>
            <a:r>
              <a:rPr>
                <a:latin typeface="Arial Unicode MS"/>
                <a:ea typeface="Arial Unicode MS"/>
                <a:cs typeface="Arial Unicode MS"/>
              </a:rPr>
              <a:t>NOT NULL</a:t>
            </a:r>
          </a:p>
          <a:p>
            <a:r>
              <a:rPr>
                <a:latin typeface="Arial Unicode MS"/>
                <a:ea typeface="Arial Unicode MS"/>
                <a:cs typeface="Arial Unicode MS"/>
              </a:rPr>
              <a:t>聚合按照联系的方式转换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F2D8A-EDAA-BC5C-3E86-7586FDE86F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rPr/>
              <a:t>80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75263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DD9C8C69-F1E6-410E-B035-B3901E2E2D50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综合挑战：课程注册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16A2139-506C-4FED-9F25-9AE6D649AAE8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6AC639-8C46-4984-9701-C730E58C3F5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333500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Autofit/>
          </a:bodyPr>
          <a:lstStyle/>
          <a:p>
            <a:pPr>
              <a:buNone/>
              <a:defRPr sz="1800" b="1">
                <a:solidFill>
                  <a:srgbClr val="8064A2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8064A2"/>
                </a:solidFill>
                <a:latin typeface="Arial Unicode MS"/>
                <a:ea typeface="Arial Unicode MS"/>
                <a:cs typeface="Arial Unicode MS"/>
              </a:rPr>
              <a:t>情境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67D7B42-66F4-49C6-821A-A9097A5E3B1C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772400" cy="838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1725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一门课程在每个学期可开设多个教学班，每个教学班有一位教师。学生注册教学班，并获得一个可为空的成绩。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0AAE9E-C4DF-42D4-89E3-EA56BA3EDC55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7543800" cy="2133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设计关系并标明主键与外键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为 Enrollment 编写 CREATE TABLE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编写查询，列出某学期的学生姓名和课程编号</a:t>
            </a:r>
          </a:p>
        </p:txBody>
      </p:sp>
      <p:sp>
        <p:nvSpPr>
          <p:cNvPr id="6" name="callout">
            <a:extLst>
              <a:ext uri="{FF2B5EF4-FFF2-40B4-BE49-F238E27FC236}">
                <a16:creationId xmlns:a16="http://schemas.microsoft.com/office/drawing/2014/main" id="{8A8D4F0D-0A22-48DE-B3EC-5775A93A1657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8064A2"/>
          </a:solidFill>
          <a:ln w="9525">
            <a:solidFill>
              <a:srgbClr val="8064A2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最终独立挑战：8 分钟</a:t>
            </a:r>
          </a:p>
        </p:txBody>
      </p:sp>
    </p:spTree>
    <p:extLst>
      <p:ext uri="{BB962C8B-B14F-4D97-AF65-F5344CB8AC3E}">
        <p14:creationId xmlns:p14="http://schemas.microsoft.com/office/powerpoint/2010/main" val="11246869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FC0C7276-6829-4F70-9965-0BF7086B8FF4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最终知识检查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31842CDB-888F-4ED0-989D-321CDF176BEB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21AE08-4D30-4933-95BC-FA2949ACDF4B}"/>
              </a:ext>
            </a:extLst>
          </p:cNvPr>
          <p:cNvSpPr>
            <a:spLocks noGrp="1"/>
          </p:cNvSpPr>
          <p:nvPr/>
        </p:nvSpPr>
        <p:spPr>
          <a:xfrm>
            <a:off x="742950" y="1181100"/>
            <a:ext cx="7658100" cy="3771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关系模式与关系实例有何区别？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何时适合使用复合主键？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为什么 column = NULL 无法找出缺失值？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哪个子句用于筛选聚合后的组？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M:N 联系如何转换为关系？</a:t>
            </a:r>
          </a:p>
        </p:txBody>
      </p:sp>
      <p:sp>
        <p:nvSpPr>
          <p:cNvPr id="4" name="callout">
            <a:extLst>
              <a:ext uri="{FF2B5EF4-FFF2-40B4-BE49-F238E27FC236}">
                <a16:creationId xmlns:a16="http://schemas.microsoft.com/office/drawing/2014/main" id="{75AF3E2B-E47C-4E91-85AE-2DAE3E412A75}"/>
              </a:ext>
            </a:extLst>
          </p:cNvPr>
          <p:cNvSpPr>
            <a:spLocks noGrp="1"/>
          </p:cNvSpPr>
          <p:nvPr/>
        </p:nvSpPr>
        <p:spPr>
          <a:xfrm>
            <a:off x="685800" y="5791200"/>
            <a:ext cx="7772400" cy="628650"/>
          </a:xfrm>
          <a:prstGeom prst="roundRect">
            <a:avLst>
              <a:gd name="adj" fmla="val 15152"/>
            </a:avLst>
          </a:prstGeom>
          <a:solidFill>
            <a:srgbClr val="9BBB59"/>
          </a:solidFill>
          <a:ln w="9525">
            <a:solidFill>
              <a:srgbClr val="9BBB59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先独立作答，再与同伴比较。</a:t>
            </a:r>
          </a:p>
        </p:txBody>
      </p:sp>
    </p:spTree>
    <p:extLst>
      <p:ext uri="{BB962C8B-B14F-4D97-AF65-F5344CB8AC3E}">
        <p14:creationId xmlns:p14="http://schemas.microsoft.com/office/powerpoint/2010/main" val="8148581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02E359FD-197D-4D18-81EE-361826074364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>
              <a:buNone/>
              <a:defRPr sz="255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255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要点与后续练习</a:t>
            </a:r>
          </a:p>
        </p:txBody>
      </p:sp>
      <p:sp>
        <p:nvSpPr>
          <p:cNvPr id="2" name="slide-number">
            <a:extLst>
              <a:ext uri="{FF2B5EF4-FFF2-40B4-BE49-F238E27FC236}">
                <a16:creationId xmlns:a16="http://schemas.microsoft.com/office/drawing/2014/main" id="{DA86C80C-2EF1-4103-9BED-F74EC5F1C6A6}"/>
              </a:ext>
            </a:extLst>
          </p:cNvPr>
          <p:cNvSpPr>
            <a:spLocks noGrp="1"/>
          </p:cNvSpPr>
          <p:nvPr/>
        </p:nvSpPr>
        <p:spPr>
          <a:xfrm>
            <a:off x="8591550" y="6543675"/>
            <a:ext cx="323850" cy="171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Autofit/>
          </a:bodyPr>
          <a:lstStyle/>
          <a:p>
            <a:pPr algn="r">
              <a:buNone/>
              <a:defRPr sz="825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825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84240B2-14BD-453F-BCC5-768AF8F33DBA}"/>
              </a:ext>
            </a:extLst>
          </p:cNvPr>
          <p:cNvSpPr>
            <a:spLocks noGrp="1"/>
          </p:cNvSpPr>
          <p:nvPr/>
        </p:nvSpPr>
        <p:spPr>
          <a:xfrm>
            <a:off x="723900" y="1314450"/>
            <a:ext cx="7696200" cy="3238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模式、域、键与约束共同赋予关系明确含义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SQL 用于定义结构、修改元组并以声明式方式查询数据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外键与参照动作维护表之间的关系</a:t>
            </a:r>
          </a:p>
          <a:p>
            <a:pPr marL="266700" indent="-127000">
              <a:spcAft>
                <a:spcPts val="1000"/>
              </a:spcAft>
              <a:buChar char="•"/>
              <a:defRPr sz="1800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11111"/>
                </a:solidFill>
                <a:latin typeface="Arial Unicode MS"/>
                <a:ea typeface="Arial Unicode MS"/>
                <a:cs typeface="Arial Unicode MS"/>
              </a:rPr>
              <a:t>ER 映射必须保留基数约束、参与约束和联系属性</a:t>
            </a:r>
          </a:p>
        </p:txBody>
      </p:sp>
      <p:sp>
        <p:nvSpPr>
          <p:cNvPr id="4" name="callout">
            <a:extLst>
              <a:ext uri="{FF2B5EF4-FFF2-40B4-BE49-F238E27FC236}">
                <a16:creationId xmlns:a16="http://schemas.microsoft.com/office/drawing/2014/main" id="{AB1D06DE-65D6-45D4-8B9A-A892AB0E8358}"/>
              </a:ext>
            </a:extLst>
          </p:cNvPr>
          <p:cNvSpPr>
            <a:spLocks noGrp="1"/>
          </p:cNvSpPr>
          <p:nvPr/>
        </p:nvSpPr>
        <p:spPr>
          <a:xfrm>
            <a:off x="704850" y="5391150"/>
            <a:ext cx="7734300" cy="742950"/>
          </a:xfrm>
          <a:prstGeom prst="roundRect">
            <a:avLst>
              <a:gd name="adj" fmla="val 12821"/>
            </a:avLst>
          </a:prstGeom>
          <a:solidFill>
            <a:srgbClr val="F79646"/>
          </a:solidFill>
          <a:ln w="9525">
            <a:solidFill>
              <a:srgbClr val="F79646"/>
            </a:solidFill>
          </a:ln>
        </p:spPr>
        <p:txBody>
          <a:bodyPr lIns="133350" tIns="66675" rIns="133350" bIns="66675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后续练习：实现图书馆或诊所模式，并测试三次非法插入。</a:t>
            </a:r>
          </a:p>
        </p:txBody>
      </p:sp>
    </p:spTree>
    <p:extLst>
      <p:ext uri="{BB962C8B-B14F-4D97-AF65-F5344CB8AC3E}">
        <p14:creationId xmlns:p14="http://schemas.microsoft.com/office/powerpoint/2010/main" val="145473299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4CEB2-50A0-A609-0442-591DFFFD4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343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sz="4000">
              <a:solidFill>
                <a:srgbClr val="0070C0"/>
              </a:solidFill>
            </a:endParaRPr>
          </a:p>
          <a:p>
            <a:pPr marL="0" indent="0" algn="ctr">
              <a:buNone/>
            </a:pPr>
            <a:endParaRPr sz="200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sz="4000">
                <a:solidFill>
                  <a:schemeClr val="accent6">
                    <a:lumMod val="75000"/>
                  </a:schemeClr>
                </a:solidFill>
                <a:latin typeface="Arial Unicode MS"/>
                <a:ea typeface="Arial Unicode MS"/>
                <a:cs typeface="Arial Unicode MS"/>
              </a:rPr>
              <a:t>谢谢！</a:t>
            </a:r>
          </a:p>
          <a:p>
            <a:pPr marL="0" indent="0" algn="ctr">
              <a:buNone/>
            </a:pPr>
            <a:endParaRPr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3D2CF-3A1F-4A8A-CBA9-8DCEDED2B5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FCA4BC5-AE2A-401E-9EDD-DF8812A14A6A}" type="slidenum">
              <a:t>84</a:t>
            </a:fld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07919C4-5C7C-07D7-D32D-739444DA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25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3018</TotalTime>
  <Words>8000</Words>
  <Application>Microsoft Macintosh PowerPoint</Application>
  <DocSecurity>0</DocSecurity>
  <PresentationFormat>全屏显示(4:3)</PresentationFormat>
  <Paragraphs>1739</Paragraphs>
  <Slides>84</Slides>
  <Notes>84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84</vt:i4>
      </vt:variant>
    </vt:vector>
  </HeadingPairs>
  <TitlesOfParts>
    <vt:vector size="96" baseType="lpstr">
      <vt:lpstr>Arial MT</vt:lpstr>
      <vt:lpstr>Arial Unicode MS</vt:lpstr>
      <vt:lpstr>Zapf Dingbats</vt:lpstr>
      <vt:lpstr>Arial</vt:lpstr>
      <vt:lpstr>Arial Narrow</vt:lpstr>
      <vt:lpstr>Book Antiqua</vt:lpstr>
      <vt:lpstr>Calibri</vt:lpstr>
      <vt:lpstr>charter</vt:lpstr>
      <vt:lpstr>Lucida Console</vt:lpstr>
      <vt:lpstr>Tahoma</vt:lpstr>
      <vt:lpstr>Wingdings</vt:lpstr>
      <vt:lpstr>Office Theme</vt:lpstr>
      <vt:lpstr>第 2 讲  关系数据模型与基础 SQL</vt:lpstr>
      <vt:lpstr>课程提纲</vt:lpstr>
      <vt:lpstr>PowerPoint 演示文稿</vt:lpstr>
      <vt:lpstr>PowerPoint 演示文稿</vt:lpstr>
      <vt:lpstr>PowerPoint 演示文稿</vt:lpstr>
      <vt:lpstr>什么是关系模型？</vt:lpstr>
      <vt:lpstr>基本构成</vt:lpstr>
      <vt:lpstr>数据库模式与实例</vt:lpstr>
      <vt:lpstr>PowerPoint 演示文稿</vt:lpstr>
      <vt:lpstr>术语对照</vt:lpstr>
      <vt:lpstr>关系的特征</vt:lpstr>
      <vt:lpstr>PowerPoint 演示文稿</vt:lpstr>
      <vt:lpstr>PowerPoint 演示文稿</vt:lpstr>
      <vt:lpstr>关系模型的更多细节</vt:lpstr>
      <vt:lpstr>ER 模型与关系模型</vt:lpstr>
      <vt:lpstr>ER 模型与关系模型</vt:lpstr>
      <vt:lpstr>将 ER 图映射为表</vt:lpstr>
      <vt:lpstr>将 ER 图映射为表</vt:lpstr>
      <vt:lpstr>将 ER 图映射为表</vt:lpstr>
      <vt:lpstr>PowerPoint 演示文稿</vt:lpstr>
      <vt:lpstr>PowerPoint 演示文稿</vt:lpstr>
      <vt:lpstr>课程提纲</vt:lpstr>
      <vt:lpstr>PowerPoint 演示文稿</vt:lpstr>
      <vt:lpstr>SQL：关系数据库语言</vt:lpstr>
      <vt:lpstr>DDL 与 DML</vt:lpstr>
      <vt:lpstr>使用 SQL 创建关系</vt:lpstr>
      <vt:lpstr>PowerPoint 演示文稿</vt:lpstr>
      <vt:lpstr>PowerPoint 演示文稿</vt:lpstr>
      <vt:lpstr>域约束</vt:lpstr>
      <vt:lpstr>添加与删除元组</vt:lpstr>
      <vt:lpstr>PowerPoint 演示文稿</vt:lpstr>
      <vt:lpstr>查询关系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删除与修改关系</vt:lpstr>
      <vt:lpstr>完整性约束（IC）</vt:lpstr>
      <vt:lpstr>键</vt:lpstr>
      <vt:lpstr>PowerPoint 演示文稿</vt:lpstr>
      <vt:lpstr>SQL 中的主键与候选键</vt:lpstr>
      <vt:lpstr>SQL 中的主键与候选键</vt:lpstr>
      <vt:lpstr>外键与参照完整性</vt:lpstr>
      <vt:lpstr>SQL 中的外键</vt:lpstr>
      <vt:lpstr>执行参照完整性</vt:lpstr>
      <vt:lpstr>PowerPoint 演示文稿</vt:lpstr>
      <vt:lpstr>完整性约束从何而来？</vt:lpstr>
      <vt:lpstr>视图</vt:lpstr>
      <vt:lpstr>视图与安全</vt:lpstr>
      <vt:lpstr>PowerPoint 演示文稿</vt:lpstr>
      <vt:lpstr>PowerPoint 演示文稿</vt:lpstr>
      <vt:lpstr>PowerPoint 演示文稿</vt:lpstr>
      <vt:lpstr>课程提纲</vt:lpstr>
      <vt:lpstr>PowerPoint 演示文稿</vt:lpstr>
      <vt:lpstr>将强实体集转换为表</vt:lpstr>
      <vt:lpstr>PowerPoint 演示文稿</vt:lpstr>
      <vt:lpstr>将 M:N 联系集转换为表</vt:lpstr>
      <vt:lpstr>将 1:N 联系集转换为表</vt:lpstr>
      <vt:lpstr>将 1:N 联系集转换为表</vt:lpstr>
      <vt:lpstr>单表方法与双表方法</vt:lpstr>
      <vt:lpstr>PowerPoint 演示文稿</vt:lpstr>
      <vt:lpstr>PowerPoint 演示文稿</vt:lpstr>
      <vt:lpstr>PowerPoint 演示文稿</vt:lpstr>
      <vt:lpstr>转换带参与约束的联系集</vt:lpstr>
      <vt:lpstr>转换带参与约束的联系集</vt:lpstr>
      <vt:lpstr>转换弱实体集</vt:lpstr>
      <vt:lpstr>转换弱实体集</vt:lpstr>
      <vt:lpstr>PowerPoint 演示文稿</vt:lpstr>
      <vt:lpstr>转换聚合</vt:lpstr>
      <vt:lpstr>转换聚合</vt:lpstr>
      <vt:lpstr>PowerPoint 演示文稿</vt:lpstr>
      <vt:lpstr>PowerPoint 演示文稿</vt:lpstr>
      <vt:lpstr>PowerPoint 演示文稿</vt:lpstr>
      <vt:lpstr>PowerPoint 演示文稿</vt:lpstr>
      <vt:lpstr>关系模型总结</vt:lpstr>
      <vt:lpstr>ER 模型映射为表：总结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YIN, Nan [LTTC]</cp:lastModifiedBy>
  <cp:revision>28</cp:revision>
  <dcterms:created xsi:type="dcterms:W3CDTF">2026-09-05T06:21:13Z</dcterms:created>
  <dcterms:modified xsi:type="dcterms:W3CDTF">2026-09-08T15:43:36Z</dcterms:modified>
</cp:coreProperties>
</file>