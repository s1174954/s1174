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handoutMasterIdLst>
    <p:handoutMasterId r:id="rId50"/>
  </p:handoutMasterIdLst>
  <p:sldIdLst>
    <p:sldId id="412" r:id="rId2"/>
    <p:sldId id="560" r:id="rId3"/>
    <p:sldId id="561" r:id="rId4"/>
    <p:sldId id="562" r:id="rId5"/>
    <p:sldId id="564" r:id="rId6"/>
    <p:sldId id="264" r:id="rId7"/>
    <p:sldId id="325" r:id="rId8"/>
    <p:sldId id="395" r:id="rId9"/>
    <p:sldId id="565" r:id="rId10"/>
    <p:sldId id="566" r:id="rId11"/>
    <p:sldId id="567" r:id="rId12"/>
    <p:sldId id="568" r:id="rId13"/>
    <p:sldId id="569" r:id="rId14"/>
    <p:sldId id="592" r:id="rId15"/>
    <p:sldId id="396" r:id="rId16"/>
    <p:sldId id="398" r:id="rId17"/>
    <p:sldId id="571" r:id="rId18"/>
    <p:sldId id="572" r:id="rId19"/>
    <p:sldId id="533" r:id="rId20"/>
    <p:sldId id="534" r:id="rId21"/>
    <p:sldId id="536" r:id="rId22"/>
    <p:sldId id="537" r:id="rId23"/>
    <p:sldId id="538" r:id="rId24"/>
    <p:sldId id="540" r:id="rId25"/>
    <p:sldId id="542" r:id="rId26"/>
    <p:sldId id="573" r:id="rId27"/>
    <p:sldId id="545" r:id="rId28"/>
    <p:sldId id="546" r:id="rId29"/>
    <p:sldId id="548" r:id="rId30"/>
    <p:sldId id="550" r:id="rId31"/>
    <p:sldId id="551" r:id="rId32"/>
    <p:sldId id="552" r:id="rId33"/>
    <p:sldId id="593" r:id="rId34"/>
    <p:sldId id="575" r:id="rId35"/>
    <p:sldId id="576" r:id="rId36"/>
    <p:sldId id="577" r:id="rId37"/>
    <p:sldId id="578" r:id="rId38"/>
    <p:sldId id="579" r:id="rId39"/>
    <p:sldId id="580" r:id="rId40"/>
    <p:sldId id="581" r:id="rId41"/>
    <p:sldId id="582" r:id="rId42"/>
    <p:sldId id="584" r:id="rId43"/>
    <p:sldId id="583" r:id="rId44"/>
    <p:sldId id="585" r:id="rId45"/>
    <p:sldId id="586" r:id="rId46"/>
    <p:sldId id="587" r:id="rId47"/>
    <p:sldId id="59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06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194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Yu" userId="ff3ee1ad16ab306e" providerId="LiveId" clId="{A9FB6728-E5B6-4351-915E-DA3671F59627}"/>
    <pc:docChg chg="custSel modSld">
      <pc:chgData name="YANG Yu" userId="ff3ee1ad16ab306e" providerId="LiveId" clId="{A9FB6728-E5B6-4351-915E-DA3671F59627}" dt="2026-09-04T08:31:48.499" v="44" actId="6549"/>
      <pc:docMkLst>
        <pc:docMk/>
      </pc:docMkLst>
      <pc:sldChg chg="modSp mod">
        <pc:chgData name="YANG Yu" userId="ff3ee1ad16ab306e" providerId="LiveId" clId="{A9FB6728-E5B6-4351-915E-DA3671F59627}" dt="2026-09-04T08:26:26.554" v="42" actId="20577"/>
        <pc:sldMkLst>
          <pc:docMk/>
          <pc:sldMk cId="3264628215" sldId="412"/>
        </pc:sldMkLst>
        <pc:spChg chg="mod">
          <ac:chgData name="YANG Yu" userId="ff3ee1ad16ab306e" providerId="LiveId" clId="{A9FB6728-E5B6-4351-915E-DA3671F59627}" dt="2026-09-04T08:25:25.195" v="1" actId="20577"/>
          <ac:spMkLst>
            <pc:docMk/>
            <pc:sldMk cId="3264628215" sldId="412"/>
            <ac:spMk id="4" creationId="{01FBF5A9-8D82-04F5-748E-9EE063EF4944}"/>
          </ac:spMkLst>
        </pc:spChg>
        <pc:spChg chg="mod">
          <ac:chgData name="YANG Yu" userId="ff3ee1ad16ab306e" providerId="LiveId" clId="{A9FB6728-E5B6-4351-915E-DA3671F59627}" dt="2026-09-04T08:25:28.566" v="3" actId="20577"/>
          <ac:spMkLst>
            <pc:docMk/>
            <pc:sldMk cId="3264628215" sldId="412"/>
            <ac:spMk id="6" creationId="{452E588F-C30F-72F2-3E22-DDBDE4BD0633}"/>
          </ac:spMkLst>
        </pc:spChg>
        <pc:spChg chg="mod">
          <ac:chgData name="YANG Yu" userId="ff3ee1ad16ab306e" providerId="LiveId" clId="{A9FB6728-E5B6-4351-915E-DA3671F59627}" dt="2026-09-04T08:26:26.554" v="42" actId="20577"/>
          <ac:spMkLst>
            <pc:docMk/>
            <pc:sldMk cId="3264628215" sldId="412"/>
            <ac:spMk id="8" creationId="{B092D041-67FB-E55B-D1EA-79892917BD75}"/>
          </ac:spMkLst>
        </pc:spChg>
      </pc:sldChg>
      <pc:sldChg chg="addSp delSp modSp mod">
        <pc:chgData name="YANG Yu" userId="ff3ee1ad16ab306e" providerId="LiveId" clId="{A9FB6728-E5B6-4351-915E-DA3671F59627}" dt="2026-09-04T08:31:48.499" v="44" actId="6549"/>
        <pc:sldMkLst>
          <pc:docMk/>
          <pc:sldMk cId="46925124" sldId="591"/>
        </pc:sldMkLst>
        <pc:spChg chg="del">
          <ac:chgData name="YANG Yu" userId="ff3ee1ad16ab306e" providerId="LiveId" clId="{A9FB6728-E5B6-4351-915E-DA3671F59627}" dt="2026-09-04T08:31:44.621" v="43" actId="478"/>
          <ac:spMkLst>
            <pc:docMk/>
            <pc:sldMk cId="46925124" sldId="591"/>
            <ac:spMk id="2" creationId="{D0040659-BDB1-ACFD-2DEF-EBE70F687F5C}"/>
          </ac:spMkLst>
        </pc:spChg>
        <pc:spChg chg="mod">
          <ac:chgData name="YANG Yu" userId="ff3ee1ad16ab306e" providerId="LiveId" clId="{A9FB6728-E5B6-4351-915E-DA3671F59627}" dt="2026-09-04T08:31:48.499" v="44" actId="6549"/>
          <ac:spMkLst>
            <pc:docMk/>
            <pc:sldMk cId="46925124" sldId="591"/>
            <ac:spMk id="3" creationId="{00A4CEB2-50A0-A609-0442-591DFFFD4F8D}"/>
          </ac:spMkLst>
        </pc:spChg>
        <pc:spChg chg="add mod">
          <ac:chgData name="YANG Yu" userId="ff3ee1ad16ab306e" providerId="LiveId" clId="{A9FB6728-E5B6-4351-915E-DA3671F59627}" dt="2026-09-04T08:31:44.621" v="43" actId="478"/>
          <ac:spMkLst>
            <pc:docMk/>
            <pc:sldMk cId="46925124" sldId="591"/>
            <ac:spMk id="6" creationId="{407919C4-5C7C-07D7-D32D-739444DA42D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2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1645D6-1611-4DF4-8DF3-EEC32D8C4F8A}" type="doc">
      <dgm:prSet loTypeId="urn:microsoft.com/office/officeart/2008/layout/VerticalCurvedList" loCatId="list" qsTypeId="urn:microsoft.com/office/officeart/2005/8/quickstyle/simple1#27" qsCatId="simple" csTypeId="urn:microsoft.com/office/officeart/2005/8/colors/colorful1#21" csCatId="colorful" phldr="1"/>
      <dgm:spPr/>
      <dgm:t>
        <a:bodyPr/>
        <a:lstStyle/>
        <a:p>
          <a:endParaRPr lang="en-US"/>
        </a:p>
      </dgm:t>
    </dgm:pt>
    <dgm:pt modelId="{1639CA94-34C3-4B9C-92E1-C13864A4BA19}">
      <dgm:prSet phldrT="[Text]" custT="1"/>
      <dgm:spPr/>
      <dgm:t>
        <a:bodyPr/>
        <a:lstStyle/>
        <a:p>
          <a:r>
            <a:rPr lang="en-US" sz="2400" dirty="0"/>
            <a:t>The Relational Model: Introduction </a:t>
          </a:r>
        </a:p>
      </dgm:t>
    </dgm:pt>
    <dgm:pt modelId="{1A7083B0-00E4-4EE8-9D2E-F851B46DB471}" type="parTrans" cxnId="{D5FBB6B4-BDDA-4927-80E8-A4F68D98800B}">
      <dgm:prSet/>
      <dgm:spPr/>
      <dgm:t>
        <a:bodyPr/>
        <a:lstStyle/>
        <a:p>
          <a:endParaRPr lang="en-US" sz="2000"/>
        </a:p>
      </dgm:t>
    </dgm:pt>
    <dgm:pt modelId="{9B5CF5B4-C56A-4B27-B438-A8CF699CAF14}" type="sibTrans" cxnId="{D5FBB6B4-BDDA-4927-80E8-A4F68D98800B}">
      <dgm:prSet/>
      <dgm:spPr/>
      <dgm:t>
        <a:bodyPr/>
        <a:lstStyle/>
        <a:p>
          <a:endParaRPr lang="en-US" sz="2000"/>
        </a:p>
      </dgm:t>
    </dgm:pt>
    <dgm:pt modelId="{09ED5544-C181-4B8D-BD58-FB971909C7CF}">
      <dgm:prSet phldrT="[Text]" custT="1"/>
      <dgm:spPr/>
      <dgm:t>
        <a:bodyPr/>
        <a:lstStyle/>
        <a:p>
          <a:r>
            <a:rPr lang="en-US" sz="2400" dirty="0"/>
            <a:t>The Relational Model: Basic SQL</a:t>
          </a:r>
        </a:p>
      </dgm:t>
    </dgm:pt>
    <dgm:pt modelId="{3B4D1514-B1E8-4693-B7EA-722D4CFC2BA8}" type="parTrans" cxnId="{BF384046-E3C4-47AA-96AA-F2D335BB5A82}">
      <dgm:prSet/>
      <dgm:spPr/>
      <dgm:t>
        <a:bodyPr/>
        <a:lstStyle/>
        <a:p>
          <a:endParaRPr lang="en-US" sz="2000"/>
        </a:p>
      </dgm:t>
    </dgm:pt>
    <dgm:pt modelId="{FFA1A47E-E303-45D0-AECB-9D422D9B96F1}" type="sibTrans" cxnId="{BF384046-E3C4-47AA-96AA-F2D335BB5A82}">
      <dgm:prSet/>
      <dgm:spPr/>
      <dgm:t>
        <a:bodyPr/>
        <a:lstStyle/>
        <a:p>
          <a:endParaRPr lang="en-US" sz="2000"/>
        </a:p>
      </dgm:t>
    </dgm:pt>
    <dgm:pt modelId="{6F32AD89-A452-48CC-B92A-265FB1A43B0C}">
      <dgm:prSet phldrT="[Text]" custT="1"/>
      <dgm:spPr/>
      <dgm:t>
        <a:bodyPr/>
        <a:lstStyle/>
        <a:p>
          <a:r>
            <a:rPr lang="en-US" sz="2400" dirty="0"/>
            <a:t>Translating ER Diagrams to Tables via SQL</a:t>
          </a:r>
        </a:p>
      </dgm:t>
    </dgm:pt>
    <dgm:pt modelId="{2BD0E92B-05E2-4733-83A1-F2D4F12B4D64}" type="parTrans" cxnId="{9AC2F451-4954-4AF1-A729-5D0430E21B87}">
      <dgm:prSet/>
      <dgm:spPr/>
      <dgm:t>
        <a:bodyPr/>
        <a:lstStyle/>
        <a:p>
          <a:endParaRPr lang="en-US" sz="2000"/>
        </a:p>
      </dgm:t>
    </dgm:pt>
    <dgm:pt modelId="{1B53F678-35A0-4A3F-A7D1-1E738F070D06}" type="sibTrans" cxnId="{9AC2F451-4954-4AF1-A729-5D0430E21B87}">
      <dgm:prSet/>
      <dgm:spPr/>
      <dgm:t>
        <a:bodyPr/>
        <a:lstStyle/>
        <a:p>
          <a:endParaRPr lang="en-US" sz="2000"/>
        </a:p>
      </dgm:t>
    </dgm:pt>
    <dgm:pt modelId="{8D4BB782-D1CB-4178-BD6C-378E667E109F}" type="pres">
      <dgm:prSet presAssocID="{BE1645D6-1611-4DF4-8DF3-EEC32D8C4F8A}" presName="Name0" presStyleCnt="0">
        <dgm:presLayoutVars>
          <dgm:chMax val="7"/>
          <dgm:chPref val="7"/>
          <dgm:dir/>
        </dgm:presLayoutVars>
      </dgm:prSet>
      <dgm:spPr/>
    </dgm:pt>
    <dgm:pt modelId="{30E5EA73-69FE-4C99-B7E6-D2785DA2F8C5}" type="pres">
      <dgm:prSet presAssocID="{BE1645D6-1611-4DF4-8DF3-EEC32D8C4F8A}" presName="Name1" presStyleCnt="0"/>
      <dgm:spPr/>
    </dgm:pt>
    <dgm:pt modelId="{147482D8-F793-4B63-AC92-2D2E108DBAA0}" type="pres">
      <dgm:prSet presAssocID="{BE1645D6-1611-4DF4-8DF3-EEC32D8C4F8A}" presName="cycle" presStyleCnt="0"/>
      <dgm:spPr/>
    </dgm:pt>
    <dgm:pt modelId="{F2410933-DB5E-4543-A714-4AF5A203C95C}" type="pres">
      <dgm:prSet presAssocID="{BE1645D6-1611-4DF4-8DF3-EEC32D8C4F8A}" presName="srcNode" presStyleLbl="node1" presStyleIdx="0" presStyleCnt="3"/>
      <dgm:spPr/>
    </dgm:pt>
    <dgm:pt modelId="{C56633DC-E658-46D8-BE63-7CB1CCD3C8DC}" type="pres">
      <dgm:prSet presAssocID="{BE1645D6-1611-4DF4-8DF3-EEC32D8C4F8A}" presName="conn" presStyleLbl="parChTrans1D2" presStyleIdx="0" presStyleCnt="1"/>
      <dgm:spPr/>
    </dgm:pt>
    <dgm:pt modelId="{82F03708-A2AD-459B-AB59-7BBD9EB44E67}" type="pres">
      <dgm:prSet presAssocID="{BE1645D6-1611-4DF4-8DF3-EEC32D8C4F8A}" presName="extraNode" presStyleLbl="node1" presStyleIdx="0" presStyleCnt="3"/>
      <dgm:spPr/>
    </dgm:pt>
    <dgm:pt modelId="{9C6C1869-E7B2-4FB9-A22B-16BADC04A189}" type="pres">
      <dgm:prSet presAssocID="{BE1645D6-1611-4DF4-8DF3-EEC32D8C4F8A}" presName="dstNode" presStyleLbl="node1" presStyleIdx="0" presStyleCnt="3"/>
      <dgm:spPr/>
    </dgm:pt>
    <dgm:pt modelId="{0E8E8CAC-8A02-46F6-8C6B-75E3BA86EFCF}" type="pres">
      <dgm:prSet presAssocID="{1639CA94-34C3-4B9C-92E1-C13864A4BA19}" presName="text_1" presStyleLbl="node1" presStyleIdx="0" presStyleCnt="3">
        <dgm:presLayoutVars>
          <dgm:bulletEnabled val="1"/>
        </dgm:presLayoutVars>
      </dgm:prSet>
      <dgm:spPr/>
    </dgm:pt>
    <dgm:pt modelId="{19B8B250-84B4-4941-9592-F7E89229D31C}" type="pres">
      <dgm:prSet presAssocID="{1639CA94-34C3-4B9C-92E1-C13864A4BA19}" presName="accent_1" presStyleCnt="0"/>
      <dgm:spPr/>
    </dgm:pt>
    <dgm:pt modelId="{485F26A9-AA94-4ADA-AC54-FB58E0E0ED28}" type="pres">
      <dgm:prSet presAssocID="{1639CA94-34C3-4B9C-92E1-C13864A4BA19}" presName="accentRepeatNode" presStyleLbl="solidFgAcc1" presStyleIdx="0" presStyleCnt="3"/>
      <dgm:spPr/>
    </dgm:pt>
    <dgm:pt modelId="{2941F6EB-5BD4-408D-9674-E35A4BD28D9B}" type="pres">
      <dgm:prSet presAssocID="{09ED5544-C181-4B8D-BD58-FB971909C7CF}" presName="text_2" presStyleLbl="node1" presStyleIdx="1" presStyleCnt="3">
        <dgm:presLayoutVars>
          <dgm:bulletEnabled val="1"/>
        </dgm:presLayoutVars>
      </dgm:prSet>
      <dgm:spPr/>
    </dgm:pt>
    <dgm:pt modelId="{9C391D84-A6A9-4795-BCB8-AF9A38F15632}" type="pres">
      <dgm:prSet presAssocID="{09ED5544-C181-4B8D-BD58-FB971909C7CF}" presName="accent_2" presStyleCnt="0"/>
      <dgm:spPr/>
    </dgm:pt>
    <dgm:pt modelId="{40745A35-F507-4CEF-B833-1B285989347C}" type="pres">
      <dgm:prSet presAssocID="{09ED5544-C181-4B8D-BD58-FB971909C7CF}" presName="accentRepeatNode" presStyleLbl="solidFgAcc1" presStyleIdx="1" presStyleCnt="3"/>
      <dgm:spPr/>
    </dgm:pt>
    <dgm:pt modelId="{71AA92A3-2E8F-42A5-8F2D-B3FFED705D47}" type="pres">
      <dgm:prSet presAssocID="{6F32AD89-A452-48CC-B92A-265FB1A43B0C}" presName="text_3" presStyleLbl="node1" presStyleIdx="2" presStyleCnt="3">
        <dgm:presLayoutVars>
          <dgm:bulletEnabled val="1"/>
        </dgm:presLayoutVars>
      </dgm:prSet>
      <dgm:spPr/>
    </dgm:pt>
    <dgm:pt modelId="{62E7A775-040D-4756-A01B-D97B560A6965}" type="pres">
      <dgm:prSet presAssocID="{6F32AD89-A452-48CC-B92A-265FB1A43B0C}" presName="accent_3" presStyleCnt="0"/>
      <dgm:spPr/>
    </dgm:pt>
    <dgm:pt modelId="{6E8EBA03-6BA2-4E70-A548-59B77127E6F5}" type="pres">
      <dgm:prSet presAssocID="{6F32AD89-A452-48CC-B92A-265FB1A43B0C}" presName="accentRepeatNode" presStyleLbl="solidFgAcc1" presStyleIdx="2" presStyleCnt="3"/>
      <dgm:spPr/>
    </dgm:pt>
  </dgm:ptLst>
  <dgm:cxnLst>
    <dgm:cxn modelId="{2141FE35-2473-42DE-B263-11CADEC30B36}" type="presOf" srcId="{9B5CF5B4-C56A-4B27-B438-A8CF699CAF14}" destId="{C56633DC-E658-46D8-BE63-7CB1CCD3C8DC}" srcOrd="0" destOrd="0" presId="urn:microsoft.com/office/officeart/2008/layout/VerticalCurvedList"/>
    <dgm:cxn modelId="{51A0963C-71AD-41C2-9773-ED62EED31E5B}" type="presOf" srcId="{1639CA94-34C3-4B9C-92E1-C13864A4BA19}" destId="{0E8E8CAC-8A02-46F6-8C6B-75E3BA86EFCF}" srcOrd="0" destOrd="0" presId="urn:microsoft.com/office/officeart/2008/layout/VerticalCurvedList"/>
    <dgm:cxn modelId="{BF384046-E3C4-47AA-96AA-F2D335BB5A82}" srcId="{BE1645D6-1611-4DF4-8DF3-EEC32D8C4F8A}" destId="{09ED5544-C181-4B8D-BD58-FB971909C7CF}" srcOrd="1" destOrd="0" parTransId="{3B4D1514-B1E8-4693-B7EA-722D4CFC2BA8}" sibTransId="{FFA1A47E-E303-45D0-AECB-9D422D9B96F1}"/>
    <dgm:cxn modelId="{9AC2F451-4954-4AF1-A729-5D0430E21B87}" srcId="{BE1645D6-1611-4DF4-8DF3-EEC32D8C4F8A}" destId="{6F32AD89-A452-48CC-B92A-265FB1A43B0C}" srcOrd="2" destOrd="0" parTransId="{2BD0E92B-05E2-4733-83A1-F2D4F12B4D64}" sibTransId="{1B53F678-35A0-4A3F-A7D1-1E738F070D06}"/>
    <dgm:cxn modelId="{8942D786-58E7-4E43-AACE-B122E74B6E49}" type="presOf" srcId="{BE1645D6-1611-4DF4-8DF3-EEC32D8C4F8A}" destId="{8D4BB782-D1CB-4178-BD6C-378E667E109F}" srcOrd="0" destOrd="0" presId="urn:microsoft.com/office/officeart/2008/layout/VerticalCurvedList"/>
    <dgm:cxn modelId="{969C039A-E3DC-437C-A434-6A5F71AF9EAA}" type="presOf" srcId="{09ED5544-C181-4B8D-BD58-FB971909C7CF}" destId="{2941F6EB-5BD4-408D-9674-E35A4BD28D9B}" srcOrd="0" destOrd="0" presId="urn:microsoft.com/office/officeart/2008/layout/VerticalCurvedList"/>
    <dgm:cxn modelId="{D5FBB6B4-BDDA-4927-80E8-A4F68D98800B}" srcId="{BE1645D6-1611-4DF4-8DF3-EEC32D8C4F8A}" destId="{1639CA94-34C3-4B9C-92E1-C13864A4BA19}" srcOrd="0" destOrd="0" parTransId="{1A7083B0-00E4-4EE8-9D2E-F851B46DB471}" sibTransId="{9B5CF5B4-C56A-4B27-B438-A8CF699CAF14}"/>
    <dgm:cxn modelId="{97D2ACC3-4DFA-48BC-A271-E2D9CFBD6A69}" type="presOf" srcId="{6F32AD89-A452-48CC-B92A-265FB1A43B0C}" destId="{71AA92A3-2E8F-42A5-8F2D-B3FFED705D47}" srcOrd="0" destOrd="0" presId="urn:microsoft.com/office/officeart/2008/layout/VerticalCurvedList"/>
    <dgm:cxn modelId="{429891A6-CE6D-4196-8B0E-DDB4CB7FFE7D}" type="presParOf" srcId="{8D4BB782-D1CB-4178-BD6C-378E667E109F}" destId="{30E5EA73-69FE-4C99-B7E6-D2785DA2F8C5}" srcOrd="0" destOrd="0" presId="urn:microsoft.com/office/officeart/2008/layout/VerticalCurvedList"/>
    <dgm:cxn modelId="{FD848AC0-17C8-499B-9586-D257EE7737CE}" type="presParOf" srcId="{30E5EA73-69FE-4C99-B7E6-D2785DA2F8C5}" destId="{147482D8-F793-4B63-AC92-2D2E108DBAA0}" srcOrd="0" destOrd="0" presId="urn:microsoft.com/office/officeart/2008/layout/VerticalCurvedList"/>
    <dgm:cxn modelId="{ABB07F6B-44C6-4F8E-A954-72E4C675CC33}" type="presParOf" srcId="{147482D8-F793-4B63-AC92-2D2E108DBAA0}" destId="{F2410933-DB5E-4543-A714-4AF5A203C95C}" srcOrd="0" destOrd="0" presId="urn:microsoft.com/office/officeart/2008/layout/VerticalCurvedList"/>
    <dgm:cxn modelId="{C9526EFC-F3B1-4408-9FF9-9B9CC3AF6CE5}" type="presParOf" srcId="{147482D8-F793-4B63-AC92-2D2E108DBAA0}" destId="{C56633DC-E658-46D8-BE63-7CB1CCD3C8DC}" srcOrd="1" destOrd="0" presId="urn:microsoft.com/office/officeart/2008/layout/VerticalCurvedList"/>
    <dgm:cxn modelId="{3D205371-8070-4DC4-84A4-E69C918A2EB4}" type="presParOf" srcId="{147482D8-F793-4B63-AC92-2D2E108DBAA0}" destId="{82F03708-A2AD-459B-AB59-7BBD9EB44E67}" srcOrd="2" destOrd="0" presId="urn:microsoft.com/office/officeart/2008/layout/VerticalCurvedList"/>
    <dgm:cxn modelId="{3A899E1E-683B-4C86-AA7A-C15A2A6A72C6}" type="presParOf" srcId="{147482D8-F793-4B63-AC92-2D2E108DBAA0}" destId="{9C6C1869-E7B2-4FB9-A22B-16BADC04A189}" srcOrd="3" destOrd="0" presId="urn:microsoft.com/office/officeart/2008/layout/VerticalCurvedList"/>
    <dgm:cxn modelId="{182BB32D-23CC-44B2-9EAC-E5813F21F447}" type="presParOf" srcId="{30E5EA73-69FE-4C99-B7E6-D2785DA2F8C5}" destId="{0E8E8CAC-8A02-46F6-8C6B-75E3BA86EFCF}" srcOrd="1" destOrd="0" presId="urn:microsoft.com/office/officeart/2008/layout/VerticalCurvedList"/>
    <dgm:cxn modelId="{C0BE1F7E-83F2-4AD1-B4FA-BC13EFCEA467}" type="presParOf" srcId="{30E5EA73-69FE-4C99-B7E6-D2785DA2F8C5}" destId="{19B8B250-84B4-4941-9592-F7E89229D31C}" srcOrd="2" destOrd="0" presId="urn:microsoft.com/office/officeart/2008/layout/VerticalCurvedList"/>
    <dgm:cxn modelId="{9853CBF9-BD7F-4E79-8748-F36D0DA616A1}" type="presParOf" srcId="{19B8B250-84B4-4941-9592-F7E89229D31C}" destId="{485F26A9-AA94-4ADA-AC54-FB58E0E0ED28}" srcOrd="0" destOrd="0" presId="urn:microsoft.com/office/officeart/2008/layout/VerticalCurvedList"/>
    <dgm:cxn modelId="{A7388F5C-8A0D-43FE-953A-A94E7AE34C52}" type="presParOf" srcId="{30E5EA73-69FE-4C99-B7E6-D2785DA2F8C5}" destId="{2941F6EB-5BD4-408D-9674-E35A4BD28D9B}" srcOrd="3" destOrd="0" presId="urn:microsoft.com/office/officeart/2008/layout/VerticalCurvedList"/>
    <dgm:cxn modelId="{FCCB2319-EEB8-409C-9AF2-FC8BE357635D}" type="presParOf" srcId="{30E5EA73-69FE-4C99-B7E6-D2785DA2F8C5}" destId="{9C391D84-A6A9-4795-BCB8-AF9A38F15632}" srcOrd="4" destOrd="0" presId="urn:microsoft.com/office/officeart/2008/layout/VerticalCurvedList"/>
    <dgm:cxn modelId="{20E21CA1-3720-48CC-BDF4-978AE1D60B25}" type="presParOf" srcId="{9C391D84-A6A9-4795-BCB8-AF9A38F15632}" destId="{40745A35-F507-4CEF-B833-1B285989347C}" srcOrd="0" destOrd="0" presId="urn:microsoft.com/office/officeart/2008/layout/VerticalCurvedList"/>
    <dgm:cxn modelId="{42E64E38-C8B8-4E15-A4AA-0EDCFC31894F}" type="presParOf" srcId="{30E5EA73-69FE-4C99-B7E6-D2785DA2F8C5}" destId="{71AA92A3-2E8F-42A5-8F2D-B3FFED705D47}" srcOrd="5" destOrd="0" presId="urn:microsoft.com/office/officeart/2008/layout/VerticalCurvedList"/>
    <dgm:cxn modelId="{1E4636DE-2B1C-4072-92F7-CE6785FCE0B0}" type="presParOf" srcId="{30E5EA73-69FE-4C99-B7E6-D2785DA2F8C5}" destId="{62E7A775-040D-4756-A01B-D97B560A6965}" srcOrd="6" destOrd="0" presId="urn:microsoft.com/office/officeart/2008/layout/VerticalCurvedList"/>
    <dgm:cxn modelId="{BB1F691B-0C81-4B7C-904F-C801E2CFEEE6}" type="presParOf" srcId="{62E7A775-040D-4756-A01B-D97B560A6965}" destId="{6E8EBA03-6BA2-4E70-A548-59B77127E6F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1645D6-1611-4DF4-8DF3-EEC32D8C4F8A}" type="doc">
      <dgm:prSet loTypeId="urn:microsoft.com/office/officeart/2008/layout/VerticalCurvedList" loCatId="list" qsTypeId="urn:microsoft.com/office/officeart/2005/8/quickstyle/simple1#28" qsCatId="simple" csTypeId="urn:microsoft.com/office/officeart/2005/8/colors/colorful1#22" csCatId="colorful" phldr="1"/>
      <dgm:spPr/>
      <dgm:t>
        <a:bodyPr/>
        <a:lstStyle/>
        <a:p>
          <a:endParaRPr lang="en-US"/>
        </a:p>
      </dgm:t>
    </dgm:pt>
    <dgm:pt modelId="{1639CA94-34C3-4B9C-92E1-C13864A4BA19}">
      <dgm:prSet phldrT="[Text]" custT="1"/>
      <dgm:spPr/>
      <dgm:t>
        <a:bodyPr/>
        <a:lstStyle/>
        <a:p>
          <a:r>
            <a:rPr lang="en-US" sz="2400" dirty="0"/>
            <a:t>The Relational Model: Introduction </a:t>
          </a:r>
        </a:p>
      </dgm:t>
    </dgm:pt>
    <dgm:pt modelId="{1A7083B0-00E4-4EE8-9D2E-F851B46DB471}" type="parTrans" cxnId="{D5FBB6B4-BDDA-4927-80E8-A4F68D98800B}">
      <dgm:prSet/>
      <dgm:spPr/>
      <dgm:t>
        <a:bodyPr/>
        <a:lstStyle/>
        <a:p>
          <a:endParaRPr lang="en-US" sz="2000"/>
        </a:p>
      </dgm:t>
    </dgm:pt>
    <dgm:pt modelId="{9B5CF5B4-C56A-4B27-B438-A8CF699CAF14}" type="sibTrans" cxnId="{D5FBB6B4-BDDA-4927-80E8-A4F68D98800B}">
      <dgm:prSet/>
      <dgm:spPr/>
      <dgm:t>
        <a:bodyPr/>
        <a:lstStyle/>
        <a:p>
          <a:endParaRPr lang="en-US" sz="2000"/>
        </a:p>
      </dgm:t>
    </dgm:pt>
    <dgm:pt modelId="{09ED5544-C181-4B8D-BD58-FB971909C7CF}">
      <dgm:prSet phldrT="[Text]" custT="1"/>
      <dgm:spPr/>
      <dgm:t>
        <a:bodyPr/>
        <a:lstStyle/>
        <a:p>
          <a:r>
            <a:rPr lang="en-US" sz="2400" dirty="0"/>
            <a:t>The Relational Model: Basic SQL</a:t>
          </a:r>
        </a:p>
      </dgm:t>
    </dgm:pt>
    <dgm:pt modelId="{3B4D1514-B1E8-4693-B7EA-722D4CFC2BA8}" type="parTrans" cxnId="{BF384046-E3C4-47AA-96AA-F2D335BB5A82}">
      <dgm:prSet/>
      <dgm:spPr/>
      <dgm:t>
        <a:bodyPr/>
        <a:lstStyle/>
        <a:p>
          <a:endParaRPr lang="en-US" sz="2000"/>
        </a:p>
      </dgm:t>
    </dgm:pt>
    <dgm:pt modelId="{FFA1A47E-E303-45D0-AECB-9D422D9B96F1}" type="sibTrans" cxnId="{BF384046-E3C4-47AA-96AA-F2D335BB5A82}">
      <dgm:prSet/>
      <dgm:spPr/>
      <dgm:t>
        <a:bodyPr/>
        <a:lstStyle/>
        <a:p>
          <a:endParaRPr lang="en-US" sz="2000"/>
        </a:p>
      </dgm:t>
    </dgm:pt>
    <dgm:pt modelId="{6F32AD89-A452-48CC-B92A-265FB1A43B0C}">
      <dgm:prSet phldrT="[Text]" custT="1"/>
      <dgm:spPr/>
      <dgm:t>
        <a:bodyPr/>
        <a:lstStyle/>
        <a:p>
          <a:r>
            <a:rPr lang="en-US" sz="2400" dirty="0"/>
            <a:t>Translating ER Diagrams to Tables via SQL</a:t>
          </a:r>
        </a:p>
      </dgm:t>
    </dgm:pt>
    <dgm:pt modelId="{2BD0E92B-05E2-4733-83A1-F2D4F12B4D64}" type="parTrans" cxnId="{9AC2F451-4954-4AF1-A729-5D0430E21B87}">
      <dgm:prSet/>
      <dgm:spPr/>
      <dgm:t>
        <a:bodyPr/>
        <a:lstStyle/>
        <a:p>
          <a:endParaRPr lang="en-US" sz="2000"/>
        </a:p>
      </dgm:t>
    </dgm:pt>
    <dgm:pt modelId="{1B53F678-35A0-4A3F-A7D1-1E738F070D06}" type="sibTrans" cxnId="{9AC2F451-4954-4AF1-A729-5D0430E21B87}">
      <dgm:prSet/>
      <dgm:spPr/>
      <dgm:t>
        <a:bodyPr/>
        <a:lstStyle/>
        <a:p>
          <a:endParaRPr lang="en-US" sz="2000"/>
        </a:p>
      </dgm:t>
    </dgm:pt>
    <dgm:pt modelId="{8D4BB782-D1CB-4178-BD6C-378E667E109F}" type="pres">
      <dgm:prSet presAssocID="{BE1645D6-1611-4DF4-8DF3-EEC32D8C4F8A}" presName="Name0" presStyleCnt="0">
        <dgm:presLayoutVars>
          <dgm:chMax val="7"/>
          <dgm:chPref val="7"/>
          <dgm:dir/>
        </dgm:presLayoutVars>
      </dgm:prSet>
      <dgm:spPr/>
    </dgm:pt>
    <dgm:pt modelId="{30E5EA73-69FE-4C99-B7E6-D2785DA2F8C5}" type="pres">
      <dgm:prSet presAssocID="{BE1645D6-1611-4DF4-8DF3-EEC32D8C4F8A}" presName="Name1" presStyleCnt="0"/>
      <dgm:spPr/>
    </dgm:pt>
    <dgm:pt modelId="{147482D8-F793-4B63-AC92-2D2E108DBAA0}" type="pres">
      <dgm:prSet presAssocID="{BE1645D6-1611-4DF4-8DF3-EEC32D8C4F8A}" presName="cycle" presStyleCnt="0"/>
      <dgm:spPr/>
    </dgm:pt>
    <dgm:pt modelId="{F2410933-DB5E-4543-A714-4AF5A203C95C}" type="pres">
      <dgm:prSet presAssocID="{BE1645D6-1611-4DF4-8DF3-EEC32D8C4F8A}" presName="srcNode" presStyleLbl="node1" presStyleIdx="0" presStyleCnt="3"/>
      <dgm:spPr/>
    </dgm:pt>
    <dgm:pt modelId="{C56633DC-E658-46D8-BE63-7CB1CCD3C8DC}" type="pres">
      <dgm:prSet presAssocID="{BE1645D6-1611-4DF4-8DF3-EEC32D8C4F8A}" presName="conn" presStyleLbl="parChTrans1D2" presStyleIdx="0" presStyleCnt="1"/>
      <dgm:spPr/>
    </dgm:pt>
    <dgm:pt modelId="{82F03708-A2AD-459B-AB59-7BBD9EB44E67}" type="pres">
      <dgm:prSet presAssocID="{BE1645D6-1611-4DF4-8DF3-EEC32D8C4F8A}" presName="extraNode" presStyleLbl="node1" presStyleIdx="0" presStyleCnt="3"/>
      <dgm:spPr/>
    </dgm:pt>
    <dgm:pt modelId="{9C6C1869-E7B2-4FB9-A22B-16BADC04A189}" type="pres">
      <dgm:prSet presAssocID="{BE1645D6-1611-4DF4-8DF3-EEC32D8C4F8A}" presName="dstNode" presStyleLbl="node1" presStyleIdx="0" presStyleCnt="3"/>
      <dgm:spPr/>
    </dgm:pt>
    <dgm:pt modelId="{0E8E8CAC-8A02-46F6-8C6B-75E3BA86EFCF}" type="pres">
      <dgm:prSet presAssocID="{1639CA94-34C3-4B9C-92E1-C13864A4BA19}" presName="text_1" presStyleLbl="node1" presStyleIdx="0" presStyleCnt="3">
        <dgm:presLayoutVars>
          <dgm:bulletEnabled val="1"/>
        </dgm:presLayoutVars>
      </dgm:prSet>
      <dgm:spPr/>
    </dgm:pt>
    <dgm:pt modelId="{19B8B250-84B4-4941-9592-F7E89229D31C}" type="pres">
      <dgm:prSet presAssocID="{1639CA94-34C3-4B9C-92E1-C13864A4BA19}" presName="accent_1" presStyleCnt="0"/>
      <dgm:spPr/>
    </dgm:pt>
    <dgm:pt modelId="{485F26A9-AA94-4ADA-AC54-FB58E0E0ED28}" type="pres">
      <dgm:prSet presAssocID="{1639CA94-34C3-4B9C-92E1-C13864A4BA19}" presName="accentRepeatNode" presStyleLbl="solidFgAcc1" presStyleIdx="0" presStyleCnt="3"/>
      <dgm:spPr/>
    </dgm:pt>
    <dgm:pt modelId="{2941F6EB-5BD4-408D-9674-E35A4BD28D9B}" type="pres">
      <dgm:prSet presAssocID="{09ED5544-C181-4B8D-BD58-FB971909C7CF}" presName="text_2" presStyleLbl="node1" presStyleIdx="1" presStyleCnt="3">
        <dgm:presLayoutVars>
          <dgm:bulletEnabled val="1"/>
        </dgm:presLayoutVars>
      </dgm:prSet>
      <dgm:spPr/>
    </dgm:pt>
    <dgm:pt modelId="{9C391D84-A6A9-4795-BCB8-AF9A38F15632}" type="pres">
      <dgm:prSet presAssocID="{09ED5544-C181-4B8D-BD58-FB971909C7CF}" presName="accent_2" presStyleCnt="0"/>
      <dgm:spPr/>
    </dgm:pt>
    <dgm:pt modelId="{40745A35-F507-4CEF-B833-1B285989347C}" type="pres">
      <dgm:prSet presAssocID="{09ED5544-C181-4B8D-BD58-FB971909C7CF}" presName="accentRepeatNode" presStyleLbl="solidFgAcc1" presStyleIdx="1" presStyleCnt="3"/>
      <dgm:spPr/>
    </dgm:pt>
    <dgm:pt modelId="{71AA92A3-2E8F-42A5-8F2D-B3FFED705D47}" type="pres">
      <dgm:prSet presAssocID="{6F32AD89-A452-48CC-B92A-265FB1A43B0C}" presName="text_3" presStyleLbl="node1" presStyleIdx="2" presStyleCnt="3">
        <dgm:presLayoutVars>
          <dgm:bulletEnabled val="1"/>
        </dgm:presLayoutVars>
      </dgm:prSet>
      <dgm:spPr/>
    </dgm:pt>
    <dgm:pt modelId="{62E7A775-040D-4756-A01B-D97B560A6965}" type="pres">
      <dgm:prSet presAssocID="{6F32AD89-A452-48CC-B92A-265FB1A43B0C}" presName="accent_3" presStyleCnt="0"/>
      <dgm:spPr/>
    </dgm:pt>
    <dgm:pt modelId="{6E8EBA03-6BA2-4E70-A548-59B77127E6F5}" type="pres">
      <dgm:prSet presAssocID="{6F32AD89-A452-48CC-B92A-265FB1A43B0C}" presName="accentRepeatNode" presStyleLbl="solidFgAcc1" presStyleIdx="2" presStyleCnt="3"/>
      <dgm:spPr/>
    </dgm:pt>
  </dgm:ptLst>
  <dgm:cxnLst>
    <dgm:cxn modelId="{2141FE35-2473-42DE-B263-11CADEC30B36}" type="presOf" srcId="{9B5CF5B4-C56A-4B27-B438-A8CF699CAF14}" destId="{C56633DC-E658-46D8-BE63-7CB1CCD3C8DC}" srcOrd="0" destOrd="0" presId="urn:microsoft.com/office/officeart/2008/layout/VerticalCurvedList"/>
    <dgm:cxn modelId="{51A0963C-71AD-41C2-9773-ED62EED31E5B}" type="presOf" srcId="{1639CA94-34C3-4B9C-92E1-C13864A4BA19}" destId="{0E8E8CAC-8A02-46F6-8C6B-75E3BA86EFCF}" srcOrd="0" destOrd="0" presId="urn:microsoft.com/office/officeart/2008/layout/VerticalCurvedList"/>
    <dgm:cxn modelId="{BF384046-E3C4-47AA-96AA-F2D335BB5A82}" srcId="{BE1645D6-1611-4DF4-8DF3-EEC32D8C4F8A}" destId="{09ED5544-C181-4B8D-BD58-FB971909C7CF}" srcOrd="1" destOrd="0" parTransId="{3B4D1514-B1E8-4693-B7EA-722D4CFC2BA8}" sibTransId="{FFA1A47E-E303-45D0-AECB-9D422D9B96F1}"/>
    <dgm:cxn modelId="{9AC2F451-4954-4AF1-A729-5D0430E21B87}" srcId="{BE1645D6-1611-4DF4-8DF3-EEC32D8C4F8A}" destId="{6F32AD89-A452-48CC-B92A-265FB1A43B0C}" srcOrd="2" destOrd="0" parTransId="{2BD0E92B-05E2-4733-83A1-F2D4F12B4D64}" sibTransId="{1B53F678-35A0-4A3F-A7D1-1E738F070D06}"/>
    <dgm:cxn modelId="{8942D786-58E7-4E43-AACE-B122E74B6E49}" type="presOf" srcId="{BE1645D6-1611-4DF4-8DF3-EEC32D8C4F8A}" destId="{8D4BB782-D1CB-4178-BD6C-378E667E109F}" srcOrd="0" destOrd="0" presId="urn:microsoft.com/office/officeart/2008/layout/VerticalCurvedList"/>
    <dgm:cxn modelId="{969C039A-E3DC-437C-A434-6A5F71AF9EAA}" type="presOf" srcId="{09ED5544-C181-4B8D-BD58-FB971909C7CF}" destId="{2941F6EB-5BD4-408D-9674-E35A4BD28D9B}" srcOrd="0" destOrd="0" presId="urn:microsoft.com/office/officeart/2008/layout/VerticalCurvedList"/>
    <dgm:cxn modelId="{D5FBB6B4-BDDA-4927-80E8-A4F68D98800B}" srcId="{BE1645D6-1611-4DF4-8DF3-EEC32D8C4F8A}" destId="{1639CA94-34C3-4B9C-92E1-C13864A4BA19}" srcOrd="0" destOrd="0" parTransId="{1A7083B0-00E4-4EE8-9D2E-F851B46DB471}" sibTransId="{9B5CF5B4-C56A-4B27-B438-A8CF699CAF14}"/>
    <dgm:cxn modelId="{97D2ACC3-4DFA-48BC-A271-E2D9CFBD6A69}" type="presOf" srcId="{6F32AD89-A452-48CC-B92A-265FB1A43B0C}" destId="{71AA92A3-2E8F-42A5-8F2D-B3FFED705D47}" srcOrd="0" destOrd="0" presId="urn:microsoft.com/office/officeart/2008/layout/VerticalCurvedList"/>
    <dgm:cxn modelId="{429891A6-CE6D-4196-8B0E-DDB4CB7FFE7D}" type="presParOf" srcId="{8D4BB782-D1CB-4178-BD6C-378E667E109F}" destId="{30E5EA73-69FE-4C99-B7E6-D2785DA2F8C5}" srcOrd="0" destOrd="0" presId="urn:microsoft.com/office/officeart/2008/layout/VerticalCurvedList"/>
    <dgm:cxn modelId="{FD848AC0-17C8-499B-9586-D257EE7737CE}" type="presParOf" srcId="{30E5EA73-69FE-4C99-B7E6-D2785DA2F8C5}" destId="{147482D8-F793-4B63-AC92-2D2E108DBAA0}" srcOrd="0" destOrd="0" presId="urn:microsoft.com/office/officeart/2008/layout/VerticalCurvedList"/>
    <dgm:cxn modelId="{ABB07F6B-44C6-4F8E-A954-72E4C675CC33}" type="presParOf" srcId="{147482D8-F793-4B63-AC92-2D2E108DBAA0}" destId="{F2410933-DB5E-4543-A714-4AF5A203C95C}" srcOrd="0" destOrd="0" presId="urn:microsoft.com/office/officeart/2008/layout/VerticalCurvedList"/>
    <dgm:cxn modelId="{C9526EFC-F3B1-4408-9FF9-9B9CC3AF6CE5}" type="presParOf" srcId="{147482D8-F793-4B63-AC92-2D2E108DBAA0}" destId="{C56633DC-E658-46D8-BE63-7CB1CCD3C8DC}" srcOrd="1" destOrd="0" presId="urn:microsoft.com/office/officeart/2008/layout/VerticalCurvedList"/>
    <dgm:cxn modelId="{3D205371-8070-4DC4-84A4-E69C918A2EB4}" type="presParOf" srcId="{147482D8-F793-4B63-AC92-2D2E108DBAA0}" destId="{82F03708-A2AD-459B-AB59-7BBD9EB44E67}" srcOrd="2" destOrd="0" presId="urn:microsoft.com/office/officeart/2008/layout/VerticalCurvedList"/>
    <dgm:cxn modelId="{3A899E1E-683B-4C86-AA7A-C15A2A6A72C6}" type="presParOf" srcId="{147482D8-F793-4B63-AC92-2D2E108DBAA0}" destId="{9C6C1869-E7B2-4FB9-A22B-16BADC04A189}" srcOrd="3" destOrd="0" presId="urn:microsoft.com/office/officeart/2008/layout/VerticalCurvedList"/>
    <dgm:cxn modelId="{182BB32D-23CC-44B2-9EAC-E5813F21F447}" type="presParOf" srcId="{30E5EA73-69FE-4C99-B7E6-D2785DA2F8C5}" destId="{0E8E8CAC-8A02-46F6-8C6B-75E3BA86EFCF}" srcOrd="1" destOrd="0" presId="urn:microsoft.com/office/officeart/2008/layout/VerticalCurvedList"/>
    <dgm:cxn modelId="{C0BE1F7E-83F2-4AD1-B4FA-BC13EFCEA467}" type="presParOf" srcId="{30E5EA73-69FE-4C99-B7E6-D2785DA2F8C5}" destId="{19B8B250-84B4-4941-9592-F7E89229D31C}" srcOrd="2" destOrd="0" presId="urn:microsoft.com/office/officeart/2008/layout/VerticalCurvedList"/>
    <dgm:cxn modelId="{9853CBF9-BD7F-4E79-8748-F36D0DA616A1}" type="presParOf" srcId="{19B8B250-84B4-4941-9592-F7E89229D31C}" destId="{485F26A9-AA94-4ADA-AC54-FB58E0E0ED28}" srcOrd="0" destOrd="0" presId="urn:microsoft.com/office/officeart/2008/layout/VerticalCurvedList"/>
    <dgm:cxn modelId="{A7388F5C-8A0D-43FE-953A-A94E7AE34C52}" type="presParOf" srcId="{30E5EA73-69FE-4C99-B7E6-D2785DA2F8C5}" destId="{2941F6EB-5BD4-408D-9674-E35A4BD28D9B}" srcOrd="3" destOrd="0" presId="urn:microsoft.com/office/officeart/2008/layout/VerticalCurvedList"/>
    <dgm:cxn modelId="{FCCB2319-EEB8-409C-9AF2-FC8BE357635D}" type="presParOf" srcId="{30E5EA73-69FE-4C99-B7E6-D2785DA2F8C5}" destId="{9C391D84-A6A9-4795-BCB8-AF9A38F15632}" srcOrd="4" destOrd="0" presId="urn:microsoft.com/office/officeart/2008/layout/VerticalCurvedList"/>
    <dgm:cxn modelId="{20E21CA1-3720-48CC-BDF4-978AE1D60B25}" type="presParOf" srcId="{9C391D84-A6A9-4795-BCB8-AF9A38F15632}" destId="{40745A35-F507-4CEF-B833-1B285989347C}" srcOrd="0" destOrd="0" presId="urn:microsoft.com/office/officeart/2008/layout/VerticalCurvedList"/>
    <dgm:cxn modelId="{42E64E38-C8B8-4E15-A4AA-0EDCFC31894F}" type="presParOf" srcId="{30E5EA73-69FE-4C99-B7E6-D2785DA2F8C5}" destId="{71AA92A3-2E8F-42A5-8F2D-B3FFED705D47}" srcOrd="5" destOrd="0" presId="urn:microsoft.com/office/officeart/2008/layout/VerticalCurvedList"/>
    <dgm:cxn modelId="{1E4636DE-2B1C-4072-92F7-CE6785FCE0B0}" type="presParOf" srcId="{30E5EA73-69FE-4C99-B7E6-D2785DA2F8C5}" destId="{62E7A775-040D-4756-A01B-D97B560A6965}" srcOrd="6" destOrd="0" presId="urn:microsoft.com/office/officeart/2008/layout/VerticalCurvedList"/>
    <dgm:cxn modelId="{BB1F691B-0C81-4B7C-904F-C801E2CFEEE6}" type="presParOf" srcId="{62E7A775-040D-4756-A01B-D97B560A6965}" destId="{6E8EBA03-6BA2-4E70-A548-59B77127E6F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1645D6-1611-4DF4-8DF3-EEC32D8C4F8A}" type="doc">
      <dgm:prSet loTypeId="urn:microsoft.com/office/officeart/2008/layout/VerticalCurvedList" loCatId="list" qsTypeId="urn:microsoft.com/office/officeart/2005/8/quickstyle/simple1#29" qsCatId="simple" csTypeId="urn:microsoft.com/office/officeart/2005/8/colors/colorful1#23" csCatId="colorful" phldr="1"/>
      <dgm:spPr/>
      <dgm:t>
        <a:bodyPr/>
        <a:lstStyle/>
        <a:p>
          <a:endParaRPr lang="en-US"/>
        </a:p>
      </dgm:t>
    </dgm:pt>
    <dgm:pt modelId="{1639CA94-34C3-4B9C-92E1-C13864A4BA19}">
      <dgm:prSet phldrT="[Text]" custT="1"/>
      <dgm:spPr/>
      <dgm:t>
        <a:bodyPr/>
        <a:lstStyle/>
        <a:p>
          <a:r>
            <a:rPr lang="en-US" sz="2400" dirty="0"/>
            <a:t>The Relational Model: Introduction </a:t>
          </a:r>
        </a:p>
      </dgm:t>
    </dgm:pt>
    <dgm:pt modelId="{1A7083B0-00E4-4EE8-9D2E-F851B46DB471}" type="parTrans" cxnId="{D5FBB6B4-BDDA-4927-80E8-A4F68D98800B}">
      <dgm:prSet/>
      <dgm:spPr/>
      <dgm:t>
        <a:bodyPr/>
        <a:lstStyle/>
        <a:p>
          <a:endParaRPr lang="en-US" sz="2000"/>
        </a:p>
      </dgm:t>
    </dgm:pt>
    <dgm:pt modelId="{9B5CF5B4-C56A-4B27-B438-A8CF699CAF14}" type="sibTrans" cxnId="{D5FBB6B4-BDDA-4927-80E8-A4F68D98800B}">
      <dgm:prSet/>
      <dgm:spPr/>
      <dgm:t>
        <a:bodyPr/>
        <a:lstStyle/>
        <a:p>
          <a:endParaRPr lang="en-US" sz="2000"/>
        </a:p>
      </dgm:t>
    </dgm:pt>
    <dgm:pt modelId="{09ED5544-C181-4B8D-BD58-FB971909C7CF}">
      <dgm:prSet phldrT="[Text]" custT="1"/>
      <dgm:spPr/>
      <dgm:t>
        <a:bodyPr/>
        <a:lstStyle/>
        <a:p>
          <a:r>
            <a:rPr lang="en-US" sz="2400" dirty="0"/>
            <a:t>The Relational Model: Basic SQL</a:t>
          </a:r>
        </a:p>
      </dgm:t>
    </dgm:pt>
    <dgm:pt modelId="{3B4D1514-B1E8-4693-B7EA-722D4CFC2BA8}" type="parTrans" cxnId="{BF384046-E3C4-47AA-96AA-F2D335BB5A82}">
      <dgm:prSet/>
      <dgm:spPr/>
      <dgm:t>
        <a:bodyPr/>
        <a:lstStyle/>
        <a:p>
          <a:endParaRPr lang="en-US" sz="2000"/>
        </a:p>
      </dgm:t>
    </dgm:pt>
    <dgm:pt modelId="{FFA1A47E-E303-45D0-AECB-9D422D9B96F1}" type="sibTrans" cxnId="{BF384046-E3C4-47AA-96AA-F2D335BB5A82}">
      <dgm:prSet/>
      <dgm:spPr/>
      <dgm:t>
        <a:bodyPr/>
        <a:lstStyle/>
        <a:p>
          <a:endParaRPr lang="en-US" sz="2000"/>
        </a:p>
      </dgm:t>
    </dgm:pt>
    <dgm:pt modelId="{6F32AD89-A452-48CC-B92A-265FB1A43B0C}">
      <dgm:prSet phldrT="[Text]" custT="1"/>
      <dgm:spPr/>
      <dgm:t>
        <a:bodyPr/>
        <a:lstStyle/>
        <a:p>
          <a:r>
            <a:rPr lang="en-US" sz="2400" dirty="0"/>
            <a:t>Translating ER Diagrams to Tables via SQL</a:t>
          </a:r>
        </a:p>
      </dgm:t>
    </dgm:pt>
    <dgm:pt modelId="{2BD0E92B-05E2-4733-83A1-F2D4F12B4D64}" type="parTrans" cxnId="{9AC2F451-4954-4AF1-A729-5D0430E21B87}">
      <dgm:prSet/>
      <dgm:spPr/>
      <dgm:t>
        <a:bodyPr/>
        <a:lstStyle/>
        <a:p>
          <a:endParaRPr lang="en-US" sz="2000"/>
        </a:p>
      </dgm:t>
    </dgm:pt>
    <dgm:pt modelId="{1B53F678-35A0-4A3F-A7D1-1E738F070D06}" type="sibTrans" cxnId="{9AC2F451-4954-4AF1-A729-5D0430E21B87}">
      <dgm:prSet/>
      <dgm:spPr/>
      <dgm:t>
        <a:bodyPr/>
        <a:lstStyle/>
        <a:p>
          <a:endParaRPr lang="en-US" sz="2000"/>
        </a:p>
      </dgm:t>
    </dgm:pt>
    <dgm:pt modelId="{8D4BB782-D1CB-4178-BD6C-378E667E109F}" type="pres">
      <dgm:prSet presAssocID="{BE1645D6-1611-4DF4-8DF3-EEC32D8C4F8A}" presName="Name0" presStyleCnt="0">
        <dgm:presLayoutVars>
          <dgm:chMax val="7"/>
          <dgm:chPref val="7"/>
          <dgm:dir/>
        </dgm:presLayoutVars>
      </dgm:prSet>
      <dgm:spPr/>
    </dgm:pt>
    <dgm:pt modelId="{30E5EA73-69FE-4C99-B7E6-D2785DA2F8C5}" type="pres">
      <dgm:prSet presAssocID="{BE1645D6-1611-4DF4-8DF3-EEC32D8C4F8A}" presName="Name1" presStyleCnt="0"/>
      <dgm:spPr/>
    </dgm:pt>
    <dgm:pt modelId="{147482D8-F793-4B63-AC92-2D2E108DBAA0}" type="pres">
      <dgm:prSet presAssocID="{BE1645D6-1611-4DF4-8DF3-EEC32D8C4F8A}" presName="cycle" presStyleCnt="0"/>
      <dgm:spPr/>
    </dgm:pt>
    <dgm:pt modelId="{F2410933-DB5E-4543-A714-4AF5A203C95C}" type="pres">
      <dgm:prSet presAssocID="{BE1645D6-1611-4DF4-8DF3-EEC32D8C4F8A}" presName="srcNode" presStyleLbl="node1" presStyleIdx="0" presStyleCnt="3"/>
      <dgm:spPr/>
    </dgm:pt>
    <dgm:pt modelId="{C56633DC-E658-46D8-BE63-7CB1CCD3C8DC}" type="pres">
      <dgm:prSet presAssocID="{BE1645D6-1611-4DF4-8DF3-EEC32D8C4F8A}" presName="conn" presStyleLbl="parChTrans1D2" presStyleIdx="0" presStyleCnt="1"/>
      <dgm:spPr/>
    </dgm:pt>
    <dgm:pt modelId="{82F03708-A2AD-459B-AB59-7BBD9EB44E67}" type="pres">
      <dgm:prSet presAssocID="{BE1645D6-1611-4DF4-8DF3-EEC32D8C4F8A}" presName="extraNode" presStyleLbl="node1" presStyleIdx="0" presStyleCnt="3"/>
      <dgm:spPr/>
    </dgm:pt>
    <dgm:pt modelId="{9C6C1869-E7B2-4FB9-A22B-16BADC04A189}" type="pres">
      <dgm:prSet presAssocID="{BE1645D6-1611-4DF4-8DF3-EEC32D8C4F8A}" presName="dstNode" presStyleLbl="node1" presStyleIdx="0" presStyleCnt="3"/>
      <dgm:spPr/>
    </dgm:pt>
    <dgm:pt modelId="{0E8E8CAC-8A02-46F6-8C6B-75E3BA86EFCF}" type="pres">
      <dgm:prSet presAssocID="{1639CA94-34C3-4B9C-92E1-C13864A4BA19}" presName="text_1" presStyleLbl="node1" presStyleIdx="0" presStyleCnt="3">
        <dgm:presLayoutVars>
          <dgm:bulletEnabled val="1"/>
        </dgm:presLayoutVars>
      </dgm:prSet>
      <dgm:spPr/>
    </dgm:pt>
    <dgm:pt modelId="{19B8B250-84B4-4941-9592-F7E89229D31C}" type="pres">
      <dgm:prSet presAssocID="{1639CA94-34C3-4B9C-92E1-C13864A4BA19}" presName="accent_1" presStyleCnt="0"/>
      <dgm:spPr/>
    </dgm:pt>
    <dgm:pt modelId="{485F26A9-AA94-4ADA-AC54-FB58E0E0ED28}" type="pres">
      <dgm:prSet presAssocID="{1639CA94-34C3-4B9C-92E1-C13864A4BA19}" presName="accentRepeatNode" presStyleLbl="solidFgAcc1" presStyleIdx="0" presStyleCnt="3"/>
      <dgm:spPr/>
    </dgm:pt>
    <dgm:pt modelId="{2941F6EB-5BD4-408D-9674-E35A4BD28D9B}" type="pres">
      <dgm:prSet presAssocID="{09ED5544-C181-4B8D-BD58-FB971909C7CF}" presName="text_2" presStyleLbl="node1" presStyleIdx="1" presStyleCnt="3">
        <dgm:presLayoutVars>
          <dgm:bulletEnabled val="1"/>
        </dgm:presLayoutVars>
      </dgm:prSet>
      <dgm:spPr/>
    </dgm:pt>
    <dgm:pt modelId="{9C391D84-A6A9-4795-BCB8-AF9A38F15632}" type="pres">
      <dgm:prSet presAssocID="{09ED5544-C181-4B8D-BD58-FB971909C7CF}" presName="accent_2" presStyleCnt="0"/>
      <dgm:spPr/>
    </dgm:pt>
    <dgm:pt modelId="{40745A35-F507-4CEF-B833-1B285989347C}" type="pres">
      <dgm:prSet presAssocID="{09ED5544-C181-4B8D-BD58-FB971909C7CF}" presName="accentRepeatNode" presStyleLbl="solidFgAcc1" presStyleIdx="1" presStyleCnt="3"/>
      <dgm:spPr/>
    </dgm:pt>
    <dgm:pt modelId="{71AA92A3-2E8F-42A5-8F2D-B3FFED705D47}" type="pres">
      <dgm:prSet presAssocID="{6F32AD89-A452-48CC-B92A-265FB1A43B0C}" presName="text_3" presStyleLbl="node1" presStyleIdx="2" presStyleCnt="3">
        <dgm:presLayoutVars>
          <dgm:bulletEnabled val="1"/>
        </dgm:presLayoutVars>
      </dgm:prSet>
      <dgm:spPr/>
    </dgm:pt>
    <dgm:pt modelId="{62E7A775-040D-4756-A01B-D97B560A6965}" type="pres">
      <dgm:prSet presAssocID="{6F32AD89-A452-48CC-B92A-265FB1A43B0C}" presName="accent_3" presStyleCnt="0"/>
      <dgm:spPr/>
    </dgm:pt>
    <dgm:pt modelId="{6E8EBA03-6BA2-4E70-A548-59B77127E6F5}" type="pres">
      <dgm:prSet presAssocID="{6F32AD89-A452-48CC-B92A-265FB1A43B0C}" presName="accentRepeatNode" presStyleLbl="solidFgAcc1" presStyleIdx="2" presStyleCnt="3"/>
      <dgm:spPr/>
    </dgm:pt>
  </dgm:ptLst>
  <dgm:cxnLst>
    <dgm:cxn modelId="{2141FE35-2473-42DE-B263-11CADEC30B36}" type="presOf" srcId="{9B5CF5B4-C56A-4B27-B438-A8CF699CAF14}" destId="{C56633DC-E658-46D8-BE63-7CB1CCD3C8DC}" srcOrd="0" destOrd="0" presId="urn:microsoft.com/office/officeart/2008/layout/VerticalCurvedList"/>
    <dgm:cxn modelId="{51A0963C-71AD-41C2-9773-ED62EED31E5B}" type="presOf" srcId="{1639CA94-34C3-4B9C-92E1-C13864A4BA19}" destId="{0E8E8CAC-8A02-46F6-8C6B-75E3BA86EFCF}" srcOrd="0" destOrd="0" presId="urn:microsoft.com/office/officeart/2008/layout/VerticalCurvedList"/>
    <dgm:cxn modelId="{BF384046-E3C4-47AA-96AA-F2D335BB5A82}" srcId="{BE1645D6-1611-4DF4-8DF3-EEC32D8C4F8A}" destId="{09ED5544-C181-4B8D-BD58-FB971909C7CF}" srcOrd="1" destOrd="0" parTransId="{3B4D1514-B1E8-4693-B7EA-722D4CFC2BA8}" sibTransId="{FFA1A47E-E303-45D0-AECB-9D422D9B96F1}"/>
    <dgm:cxn modelId="{9AC2F451-4954-4AF1-A729-5D0430E21B87}" srcId="{BE1645D6-1611-4DF4-8DF3-EEC32D8C4F8A}" destId="{6F32AD89-A452-48CC-B92A-265FB1A43B0C}" srcOrd="2" destOrd="0" parTransId="{2BD0E92B-05E2-4733-83A1-F2D4F12B4D64}" sibTransId="{1B53F678-35A0-4A3F-A7D1-1E738F070D06}"/>
    <dgm:cxn modelId="{8942D786-58E7-4E43-AACE-B122E74B6E49}" type="presOf" srcId="{BE1645D6-1611-4DF4-8DF3-EEC32D8C4F8A}" destId="{8D4BB782-D1CB-4178-BD6C-378E667E109F}" srcOrd="0" destOrd="0" presId="urn:microsoft.com/office/officeart/2008/layout/VerticalCurvedList"/>
    <dgm:cxn modelId="{969C039A-E3DC-437C-A434-6A5F71AF9EAA}" type="presOf" srcId="{09ED5544-C181-4B8D-BD58-FB971909C7CF}" destId="{2941F6EB-5BD4-408D-9674-E35A4BD28D9B}" srcOrd="0" destOrd="0" presId="urn:microsoft.com/office/officeart/2008/layout/VerticalCurvedList"/>
    <dgm:cxn modelId="{D5FBB6B4-BDDA-4927-80E8-A4F68D98800B}" srcId="{BE1645D6-1611-4DF4-8DF3-EEC32D8C4F8A}" destId="{1639CA94-34C3-4B9C-92E1-C13864A4BA19}" srcOrd="0" destOrd="0" parTransId="{1A7083B0-00E4-4EE8-9D2E-F851B46DB471}" sibTransId="{9B5CF5B4-C56A-4B27-B438-A8CF699CAF14}"/>
    <dgm:cxn modelId="{97D2ACC3-4DFA-48BC-A271-E2D9CFBD6A69}" type="presOf" srcId="{6F32AD89-A452-48CC-B92A-265FB1A43B0C}" destId="{71AA92A3-2E8F-42A5-8F2D-B3FFED705D47}" srcOrd="0" destOrd="0" presId="urn:microsoft.com/office/officeart/2008/layout/VerticalCurvedList"/>
    <dgm:cxn modelId="{429891A6-CE6D-4196-8B0E-DDB4CB7FFE7D}" type="presParOf" srcId="{8D4BB782-D1CB-4178-BD6C-378E667E109F}" destId="{30E5EA73-69FE-4C99-B7E6-D2785DA2F8C5}" srcOrd="0" destOrd="0" presId="urn:microsoft.com/office/officeart/2008/layout/VerticalCurvedList"/>
    <dgm:cxn modelId="{FD848AC0-17C8-499B-9586-D257EE7737CE}" type="presParOf" srcId="{30E5EA73-69FE-4C99-B7E6-D2785DA2F8C5}" destId="{147482D8-F793-4B63-AC92-2D2E108DBAA0}" srcOrd="0" destOrd="0" presId="urn:microsoft.com/office/officeart/2008/layout/VerticalCurvedList"/>
    <dgm:cxn modelId="{ABB07F6B-44C6-4F8E-A954-72E4C675CC33}" type="presParOf" srcId="{147482D8-F793-4B63-AC92-2D2E108DBAA0}" destId="{F2410933-DB5E-4543-A714-4AF5A203C95C}" srcOrd="0" destOrd="0" presId="urn:microsoft.com/office/officeart/2008/layout/VerticalCurvedList"/>
    <dgm:cxn modelId="{C9526EFC-F3B1-4408-9FF9-9B9CC3AF6CE5}" type="presParOf" srcId="{147482D8-F793-4B63-AC92-2D2E108DBAA0}" destId="{C56633DC-E658-46D8-BE63-7CB1CCD3C8DC}" srcOrd="1" destOrd="0" presId="urn:microsoft.com/office/officeart/2008/layout/VerticalCurvedList"/>
    <dgm:cxn modelId="{3D205371-8070-4DC4-84A4-E69C918A2EB4}" type="presParOf" srcId="{147482D8-F793-4B63-AC92-2D2E108DBAA0}" destId="{82F03708-A2AD-459B-AB59-7BBD9EB44E67}" srcOrd="2" destOrd="0" presId="urn:microsoft.com/office/officeart/2008/layout/VerticalCurvedList"/>
    <dgm:cxn modelId="{3A899E1E-683B-4C86-AA7A-C15A2A6A72C6}" type="presParOf" srcId="{147482D8-F793-4B63-AC92-2D2E108DBAA0}" destId="{9C6C1869-E7B2-4FB9-A22B-16BADC04A189}" srcOrd="3" destOrd="0" presId="urn:microsoft.com/office/officeart/2008/layout/VerticalCurvedList"/>
    <dgm:cxn modelId="{182BB32D-23CC-44B2-9EAC-E5813F21F447}" type="presParOf" srcId="{30E5EA73-69FE-4C99-B7E6-D2785DA2F8C5}" destId="{0E8E8CAC-8A02-46F6-8C6B-75E3BA86EFCF}" srcOrd="1" destOrd="0" presId="urn:microsoft.com/office/officeart/2008/layout/VerticalCurvedList"/>
    <dgm:cxn modelId="{C0BE1F7E-83F2-4AD1-B4FA-BC13EFCEA467}" type="presParOf" srcId="{30E5EA73-69FE-4C99-B7E6-D2785DA2F8C5}" destId="{19B8B250-84B4-4941-9592-F7E89229D31C}" srcOrd="2" destOrd="0" presId="urn:microsoft.com/office/officeart/2008/layout/VerticalCurvedList"/>
    <dgm:cxn modelId="{9853CBF9-BD7F-4E79-8748-F36D0DA616A1}" type="presParOf" srcId="{19B8B250-84B4-4941-9592-F7E89229D31C}" destId="{485F26A9-AA94-4ADA-AC54-FB58E0E0ED28}" srcOrd="0" destOrd="0" presId="urn:microsoft.com/office/officeart/2008/layout/VerticalCurvedList"/>
    <dgm:cxn modelId="{A7388F5C-8A0D-43FE-953A-A94E7AE34C52}" type="presParOf" srcId="{30E5EA73-69FE-4C99-B7E6-D2785DA2F8C5}" destId="{2941F6EB-5BD4-408D-9674-E35A4BD28D9B}" srcOrd="3" destOrd="0" presId="urn:microsoft.com/office/officeart/2008/layout/VerticalCurvedList"/>
    <dgm:cxn modelId="{FCCB2319-EEB8-409C-9AF2-FC8BE357635D}" type="presParOf" srcId="{30E5EA73-69FE-4C99-B7E6-D2785DA2F8C5}" destId="{9C391D84-A6A9-4795-BCB8-AF9A38F15632}" srcOrd="4" destOrd="0" presId="urn:microsoft.com/office/officeart/2008/layout/VerticalCurvedList"/>
    <dgm:cxn modelId="{20E21CA1-3720-48CC-BDF4-978AE1D60B25}" type="presParOf" srcId="{9C391D84-A6A9-4795-BCB8-AF9A38F15632}" destId="{40745A35-F507-4CEF-B833-1B285989347C}" srcOrd="0" destOrd="0" presId="urn:microsoft.com/office/officeart/2008/layout/VerticalCurvedList"/>
    <dgm:cxn modelId="{42E64E38-C8B8-4E15-A4AA-0EDCFC31894F}" type="presParOf" srcId="{30E5EA73-69FE-4C99-B7E6-D2785DA2F8C5}" destId="{71AA92A3-2E8F-42A5-8F2D-B3FFED705D47}" srcOrd="5" destOrd="0" presId="urn:microsoft.com/office/officeart/2008/layout/VerticalCurvedList"/>
    <dgm:cxn modelId="{1E4636DE-2B1C-4072-92F7-CE6785FCE0B0}" type="presParOf" srcId="{30E5EA73-69FE-4C99-B7E6-D2785DA2F8C5}" destId="{62E7A775-040D-4756-A01B-D97B560A6965}" srcOrd="6" destOrd="0" presId="urn:microsoft.com/office/officeart/2008/layout/VerticalCurvedList"/>
    <dgm:cxn modelId="{BB1F691B-0C81-4B7C-904F-C801E2CFEEE6}" type="presParOf" srcId="{62E7A775-040D-4756-A01B-D97B560A6965}" destId="{6E8EBA03-6BA2-4E70-A548-59B77127E6F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6633DC-E658-46D8-BE63-7CB1CCD3C8DC}">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8E8CAC-8A02-46F6-8C6B-75E3BA86EFCF}">
      <dsp:nvSpPr>
        <dsp:cNvPr id="0" name=""/>
        <dsp:cNvSpPr/>
      </dsp:nvSpPr>
      <dsp:spPr>
        <a:xfrm>
          <a:off x="564979" y="406400"/>
          <a:ext cx="5856833" cy="81280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Introduction </a:t>
          </a:r>
        </a:p>
      </dsp:txBody>
      <dsp:txXfrm>
        <a:off x="564979" y="406400"/>
        <a:ext cx="5856833" cy="812800"/>
      </dsp:txXfrm>
    </dsp:sp>
    <dsp:sp modelId="{485F26A9-AA94-4ADA-AC54-FB58E0E0ED28}">
      <dsp:nvSpPr>
        <dsp:cNvPr id="0" name=""/>
        <dsp:cNvSpPr/>
      </dsp:nvSpPr>
      <dsp:spPr>
        <a:xfrm>
          <a:off x="56979" y="304800"/>
          <a:ext cx="1016000" cy="101600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41F6EB-5BD4-408D-9674-E35A4BD28D9B}">
      <dsp:nvSpPr>
        <dsp:cNvPr id="0" name=""/>
        <dsp:cNvSpPr/>
      </dsp:nvSpPr>
      <dsp:spPr>
        <a:xfrm>
          <a:off x="860432" y="1625599"/>
          <a:ext cx="5561380" cy="81280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Basic SQL</a:t>
          </a:r>
        </a:p>
      </dsp:txBody>
      <dsp:txXfrm>
        <a:off x="860432" y="1625599"/>
        <a:ext cx="5561380" cy="812800"/>
      </dsp:txXfrm>
    </dsp:sp>
    <dsp:sp modelId="{40745A35-F507-4CEF-B833-1B285989347C}">
      <dsp:nvSpPr>
        <dsp:cNvPr id="0" name=""/>
        <dsp:cNvSpPr/>
      </dsp:nvSpPr>
      <dsp:spPr>
        <a:xfrm>
          <a:off x="352432" y="1523999"/>
          <a:ext cx="1016000" cy="101600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AA92A3-2E8F-42A5-8F2D-B3FFED705D47}">
      <dsp:nvSpPr>
        <dsp:cNvPr id="0" name=""/>
        <dsp:cNvSpPr/>
      </dsp:nvSpPr>
      <dsp:spPr>
        <a:xfrm>
          <a:off x="564979" y="2844800"/>
          <a:ext cx="5856833" cy="81280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Translating ER Diagrams to Tables via SQL</a:t>
          </a:r>
        </a:p>
      </dsp:txBody>
      <dsp:txXfrm>
        <a:off x="564979" y="2844800"/>
        <a:ext cx="5856833" cy="812800"/>
      </dsp:txXfrm>
    </dsp:sp>
    <dsp:sp modelId="{6E8EBA03-6BA2-4E70-A548-59B77127E6F5}">
      <dsp:nvSpPr>
        <dsp:cNvPr id="0" name=""/>
        <dsp:cNvSpPr/>
      </dsp:nvSpPr>
      <dsp:spPr>
        <a:xfrm>
          <a:off x="56979" y="2743200"/>
          <a:ext cx="1016000" cy="1016000"/>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6633DC-E658-46D8-BE63-7CB1CCD3C8DC}">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8E8CAC-8A02-46F6-8C6B-75E3BA86EFCF}">
      <dsp:nvSpPr>
        <dsp:cNvPr id="0" name=""/>
        <dsp:cNvSpPr/>
      </dsp:nvSpPr>
      <dsp:spPr>
        <a:xfrm>
          <a:off x="564979" y="406400"/>
          <a:ext cx="5856833" cy="81280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Introduction </a:t>
          </a:r>
        </a:p>
      </dsp:txBody>
      <dsp:txXfrm>
        <a:off x="564979" y="406400"/>
        <a:ext cx="5856833" cy="812800"/>
      </dsp:txXfrm>
    </dsp:sp>
    <dsp:sp modelId="{485F26A9-AA94-4ADA-AC54-FB58E0E0ED28}">
      <dsp:nvSpPr>
        <dsp:cNvPr id="0" name=""/>
        <dsp:cNvSpPr/>
      </dsp:nvSpPr>
      <dsp:spPr>
        <a:xfrm>
          <a:off x="56979" y="304800"/>
          <a:ext cx="1016000" cy="101600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41F6EB-5BD4-408D-9674-E35A4BD28D9B}">
      <dsp:nvSpPr>
        <dsp:cNvPr id="0" name=""/>
        <dsp:cNvSpPr/>
      </dsp:nvSpPr>
      <dsp:spPr>
        <a:xfrm>
          <a:off x="860432" y="1625599"/>
          <a:ext cx="5561380" cy="81280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Basic SQL</a:t>
          </a:r>
        </a:p>
      </dsp:txBody>
      <dsp:txXfrm>
        <a:off x="860432" y="1625599"/>
        <a:ext cx="5561380" cy="812800"/>
      </dsp:txXfrm>
    </dsp:sp>
    <dsp:sp modelId="{40745A35-F507-4CEF-B833-1B285989347C}">
      <dsp:nvSpPr>
        <dsp:cNvPr id="0" name=""/>
        <dsp:cNvSpPr/>
      </dsp:nvSpPr>
      <dsp:spPr>
        <a:xfrm>
          <a:off x="352432" y="1523999"/>
          <a:ext cx="1016000" cy="101600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AA92A3-2E8F-42A5-8F2D-B3FFED705D47}">
      <dsp:nvSpPr>
        <dsp:cNvPr id="0" name=""/>
        <dsp:cNvSpPr/>
      </dsp:nvSpPr>
      <dsp:spPr>
        <a:xfrm>
          <a:off x="564979" y="2844800"/>
          <a:ext cx="5856833" cy="81280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Translating ER Diagrams to Tables via SQL</a:t>
          </a:r>
        </a:p>
      </dsp:txBody>
      <dsp:txXfrm>
        <a:off x="564979" y="2844800"/>
        <a:ext cx="5856833" cy="812800"/>
      </dsp:txXfrm>
    </dsp:sp>
    <dsp:sp modelId="{6E8EBA03-6BA2-4E70-A548-59B77127E6F5}">
      <dsp:nvSpPr>
        <dsp:cNvPr id="0" name=""/>
        <dsp:cNvSpPr/>
      </dsp:nvSpPr>
      <dsp:spPr>
        <a:xfrm>
          <a:off x="56979" y="2743200"/>
          <a:ext cx="1016000" cy="1016000"/>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6633DC-E658-46D8-BE63-7CB1CCD3C8DC}">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8E8CAC-8A02-46F6-8C6B-75E3BA86EFCF}">
      <dsp:nvSpPr>
        <dsp:cNvPr id="0" name=""/>
        <dsp:cNvSpPr/>
      </dsp:nvSpPr>
      <dsp:spPr>
        <a:xfrm>
          <a:off x="564979" y="406400"/>
          <a:ext cx="5856833" cy="81280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Introduction </a:t>
          </a:r>
        </a:p>
      </dsp:txBody>
      <dsp:txXfrm>
        <a:off x="564979" y="406400"/>
        <a:ext cx="5856833" cy="812800"/>
      </dsp:txXfrm>
    </dsp:sp>
    <dsp:sp modelId="{485F26A9-AA94-4ADA-AC54-FB58E0E0ED28}">
      <dsp:nvSpPr>
        <dsp:cNvPr id="0" name=""/>
        <dsp:cNvSpPr/>
      </dsp:nvSpPr>
      <dsp:spPr>
        <a:xfrm>
          <a:off x="56979" y="304800"/>
          <a:ext cx="1016000" cy="101600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41F6EB-5BD4-408D-9674-E35A4BD28D9B}">
      <dsp:nvSpPr>
        <dsp:cNvPr id="0" name=""/>
        <dsp:cNvSpPr/>
      </dsp:nvSpPr>
      <dsp:spPr>
        <a:xfrm>
          <a:off x="860432" y="1625599"/>
          <a:ext cx="5561380" cy="81280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The Relational Model: Basic SQL</a:t>
          </a:r>
        </a:p>
      </dsp:txBody>
      <dsp:txXfrm>
        <a:off x="860432" y="1625599"/>
        <a:ext cx="5561380" cy="812800"/>
      </dsp:txXfrm>
    </dsp:sp>
    <dsp:sp modelId="{40745A35-F507-4CEF-B833-1B285989347C}">
      <dsp:nvSpPr>
        <dsp:cNvPr id="0" name=""/>
        <dsp:cNvSpPr/>
      </dsp:nvSpPr>
      <dsp:spPr>
        <a:xfrm>
          <a:off x="352432" y="1523999"/>
          <a:ext cx="1016000" cy="101600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AA92A3-2E8F-42A5-8F2D-B3FFED705D47}">
      <dsp:nvSpPr>
        <dsp:cNvPr id="0" name=""/>
        <dsp:cNvSpPr/>
      </dsp:nvSpPr>
      <dsp:spPr>
        <a:xfrm>
          <a:off x="564979" y="2844800"/>
          <a:ext cx="5856833" cy="81280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Translating ER Diagrams to Tables via SQL</a:t>
          </a:r>
        </a:p>
      </dsp:txBody>
      <dsp:txXfrm>
        <a:off x="564979" y="2844800"/>
        <a:ext cx="5856833" cy="812800"/>
      </dsp:txXfrm>
    </dsp:sp>
    <dsp:sp modelId="{6E8EBA03-6BA2-4E70-A548-59B77127E6F5}">
      <dsp:nvSpPr>
        <dsp:cNvPr id="0" name=""/>
        <dsp:cNvSpPr/>
      </dsp:nvSpPr>
      <dsp:spPr>
        <a:xfrm>
          <a:off x="56979" y="2743200"/>
          <a:ext cx="1016000" cy="1016000"/>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2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0B6CA34-8411-407E-893D-8E71990DC10C}" type="datetimeFigureOut">
              <a:rPr lang="en-US" smtClean="0"/>
              <a:t>9/8/26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4777B9-B548-4935-8E6D-F45127D4619B}" type="slidenum">
              <a:rPr lang="en-US" smtClean="0"/>
              <a:t>‹#›</a:t>
            </a:fld>
            <a:endParaRPr lang="en-US"/>
          </a:p>
        </p:txBody>
      </p:sp>
    </p:spTree>
    <p:extLst>
      <p:ext uri="{BB962C8B-B14F-4D97-AF65-F5344CB8AC3E}">
        <p14:creationId xmlns:p14="http://schemas.microsoft.com/office/powerpoint/2010/main" val="297327257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C7C770-57F1-4183-B1B5-424B207D1741}" type="datetimeFigureOut">
              <a:rPr lang="en-US" smtClean="0"/>
              <a:t>9/8/26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A4ED4D-EFD9-46AD-897E-D5BE4B53CB4B}" type="slidenum">
              <a:rPr lang="en-US" smtClean="0"/>
              <a:t>‹#›</a:t>
            </a:fld>
            <a:endParaRPr lang="en-US"/>
          </a:p>
        </p:txBody>
      </p:sp>
    </p:spTree>
    <p:extLst>
      <p:ext uri="{BB962C8B-B14F-4D97-AF65-F5344CB8AC3E}">
        <p14:creationId xmlns:p14="http://schemas.microsoft.com/office/powerpoint/2010/main" val="239502388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5A4ED4D-EFD9-46AD-897E-D5BE4B53CB4B}" type="slidenum">
              <a:rPr lang="en-US" smtClean="0"/>
              <a:t>1</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2086297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US" dirty="0">
              <a:solidFill>
                <a:schemeClr val="bg1">
                  <a:lumMod val="50000"/>
                </a:schemeClr>
              </a:solidFill>
            </a:endParaRP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B9CB2FB-79FF-4711-A961-14A1A90B9D06}" type="slidenum">
              <a:rPr lang="en-US" smtClean="0"/>
              <a:pPr eaLnBrk="1" hangingPunct="1"/>
              <a:t>2</a:t>
            </a:fld>
            <a:endParaRPr lang="en-US"/>
          </a:p>
        </p:txBody>
      </p:sp>
      <p:sp>
        <p:nvSpPr>
          <p:cNvPr id="2" name="Header Placeholder 1"/>
          <p:cNvSpPr>
            <a:spLocks noGrp="1"/>
          </p:cNvSpPr>
          <p:nvPr>
            <p:ph type="hdr" sz="quarter" idx="10"/>
          </p:nvPr>
        </p:nvSpPr>
        <p:spPr/>
        <p:txBody>
          <a:bodyPr/>
          <a:lstStyle/>
          <a:p>
            <a:endParaRPr lang="en-US"/>
          </a:p>
        </p:txBody>
      </p:sp>
    </p:spTree>
    <p:extLst>
      <p:ext uri="{BB962C8B-B14F-4D97-AF65-F5344CB8AC3E}">
        <p14:creationId xmlns:p14="http://schemas.microsoft.com/office/powerpoint/2010/main" val="628274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B0B8D2C-14DB-7214-55AD-624FD9C05954}"/>
              </a:ext>
            </a:extLst>
          </p:cNvPr>
          <p:cNvSpPr>
            <a:spLocks noGrp="1" noRot="1" noChangeAspect="1" noChangeArrowheads="1" noTextEdit="1"/>
          </p:cNvSpPr>
          <p:nvPr>
            <p:ph type="sldImg"/>
          </p:nvPr>
        </p:nvSpPr>
        <p:spPr>
          <a:xfrm>
            <a:off x="1150938" y="692150"/>
            <a:ext cx="4556125" cy="3416300"/>
          </a:xfrm>
          <a:ln/>
        </p:spPr>
      </p:sp>
      <p:sp>
        <p:nvSpPr>
          <p:cNvPr id="61443" name="Rectangle 3">
            <a:extLst>
              <a:ext uri="{FF2B5EF4-FFF2-40B4-BE49-F238E27FC236}">
                <a16:creationId xmlns:a16="http://schemas.microsoft.com/office/drawing/2014/main" id="{158FD30C-3F72-CBA7-45ED-0BC46612536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29ACC6B-D34D-3905-4574-543943BA942C}"/>
              </a:ext>
            </a:extLst>
          </p:cNvPr>
          <p:cNvSpPr>
            <a:spLocks noGrp="1" noRot="1" noChangeAspect="1" noChangeArrowheads="1" noTextEdit="1"/>
          </p:cNvSpPr>
          <p:nvPr>
            <p:ph type="sldImg"/>
          </p:nvPr>
        </p:nvSpPr>
        <p:spPr>
          <a:xfrm>
            <a:off x="1150938" y="692150"/>
            <a:ext cx="4556125" cy="3416300"/>
          </a:xfrm>
          <a:ln/>
        </p:spPr>
      </p:sp>
      <p:sp>
        <p:nvSpPr>
          <p:cNvPr id="65539" name="Rectangle 3">
            <a:extLst>
              <a:ext uri="{FF2B5EF4-FFF2-40B4-BE49-F238E27FC236}">
                <a16:creationId xmlns:a16="http://schemas.microsoft.com/office/drawing/2014/main" id="{8AA21745-3A12-3234-9B58-477190B72C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US" dirty="0">
              <a:solidFill>
                <a:schemeClr val="bg1">
                  <a:lumMod val="50000"/>
                </a:schemeClr>
              </a:solidFill>
            </a:endParaRP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B9CB2FB-79FF-4711-A961-14A1A90B9D06}" type="slidenum">
              <a:rPr lang="en-US" smtClean="0"/>
              <a:pPr eaLnBrk="1" hangingPunct="1"/>
              <a:t>14</a:t>
            </a:fld>
            <a:endParaRPr lang="en-US"/>
          </a:p>
        </p:txBody>
      </p:sp>
      <p:sp>
        <p:nvSpPr>
          <p:cNvPr id="2" name="Header Placeholder 1"/>
          <p:cNvSpPr>
            <a:spLocks noGrp="1"/>
          </p:cNvSpPr>
          <p:nvPr>
            <p:ph type="hdr" sz="quarter" idx="10"/>
          </p:nvPr>
        </p:nvSpPr>
        <p:spPr/>
        <p:txBody>
          <a:bodyPr/>
          <a:lstStyle/>
          <a:p>
            <a:endParaRPr lang="en-US"/>
          </a:p>
        </p:txBody>
      </p:sp>
    </p:spTree>
    <p:extLst>
      <p:ext uri="{BB962C8B-B14F-4D97-AF65-F5344CB8AC3E}">
        <p14:creationId xmlns:p14="http://schemas.microsoft.com/office/powerpoint/2010/main" val="1577725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F5A4ED4D-EFD9-46AD-897E-D5BE4B53CB4B}" type="slidenum">
              <a:rPr lang="en-US" smtClean="0"/>
              <a:t>15</a:t>
            </a:fld>
            <a:endParaRPr lang="en-US"/>
          </a:p>
        </p:txBody>
      </p:sp>
    </p:spTree>
    <p:extLst>
      <p:ext uri="{BB962C8B-B14F-4D97-AF65-F5344CB8AC3E}">
        <p14:creationId xmlns:p14="http://schemas.microsoft.com/office/powerpoint/2010/main" val="2042533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9" name="Rectangle 3"/>
          <p:cNvSpPr>
            <a:spLocks noChangeArrowheads="1"/>
          </p:cNvSpPr>
          <p:nvPr/>
        </p:nvSpPr>
        <p:spPr bwMode="auto">
          <a:xfrm>
            <a:off x="3884613" y="868680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sz="1000" i="1"/>
              <a:t>10</a:t>
            </a:r>
          </a:p>
        </p:txBody>
      </p:sp>
      <p:sp>
        <p:nvSpPr>
          <p:cNvPr id="245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2" name="Rectangle 6"/>
          <p:cNvSpPr>
            <a:spLocks noGrp="1" noRot="1" noChangeAspect="1" noChangeArrowheads="1" noTextEdit="1"/>
          </p:cNvSpPr>
          <p:nvPr>
            <p:ph type="sldImg"/>
          </p:nvPr>
        </p:nvSpPr>
        <p:spPr>
          <a:xfrm>
            <a:off x="1150938" y="692150"/>
            <a:ext cx="4556125" cy="3416300"/>
          </a:xfrm>
          <a:ln cap="flat"/>
        </p:spPr>
      </p:sp>
      <p:sp>
        <p:nvSpPr>
          <p:cNvPr id="24583" name="Rectangle 7"/>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255791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50938" y="692150"/>
            <a:ext cx="4556125" cy="3416300"/>
          </a:xfrm>
          <a:ln cap="flat"/>
        </p:spPr>
      </p:sp>
      <p:sp>
        <p:nvSpPr>
          <p:cNvPr id="1638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61276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883025" y="0"/>
            <a:ext cx="2974975"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 name="Rectangle 3"/>
          <p:cNvSpPr>
            <a:spLocks noChangeArrowheads="1"/>
          </p:cNvSpPr>
          <p:nvPr/>
        </p:nvSpPr>
        <p:spPr bwMode="auto">
          <a:xfrm>
            <a:off x="3883025" y="8686800"/>
            <a:ext cx="297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defTabSz="936625"/>
            <a:r>
              <a:rPr lang="en-US" sz="1000" i="1"/>
              <a:t>16</a:t>
            </a:r>
          </a:p>
        </p:txBody>
      </p:sp>
      <p:sp>
        <p:nvSpPr>
          <p:cNvPr id="2253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4" name="Rectangle 6"/>
          <p:cNvSpPr>
            <a:spLocks noGrp="1" noRot="1" noChangeAspect="1" noChangeArrowheads="1" noTextEdit="1"/>
          </p:cNvSpPr>
          <p:nvPr>
            <p:ph type="sldImg"/>
          </p:nvPr>
        </p:nvSpPr>
        <p:spPr>
          <a:xfrm>
            <a:off x="1150938" y="692150"/>
            <a:ext cx="4556125" cy="3416300"/>
          </a:xfrm>
          <a:ln cap="flat"/>
        </p:spPr>
      </p:sp>
      <p:sp>
        <p:nvSpPr>
          <p:cNvPr id="22535" name="Rectangle 7"/>
          <p:cNvSpPr>
            <a:spLocks noGrp="1" noChangeArrowheads="1"/>
          </p:cNvSpPr>
          <p:nvPr>
            <p:ph type="body" idx="1"/>
          </p:nvPr>
        </p:nvSpPr>
        <p:spPr>
          <a:xfrm>
            <a:off x="912813" y="4343400"/>
            <a:ext cx="5029200" cy="4114800"/>
          </a:xfrm>
          <a:ln/>
        </p:spPr>
        <p:txBody>
          <a:bodyPr lIns="93663" tIns="46038" rIns="93663" bIns="46038"/>
          <a:lstStyle/>
          <a:p>
            <a:pPr defTabSz="936625"/>
            <a:endParaRPr lang="en-US"/>
          </a:p>
        </p:txBody>
      </p:sp>
    </p:spTree>
    <p:extLst>
      <p:ext uri="{BB962C8B-B14F-4D97-AF65-F5344CB8AC3E}">
        <p14:creationId xmlns:p14="http://schemas.microsoft.com/office/powerpoint/2010/main" val="3630099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7" name="Rectangle 3"/>
          <p:cNvSpPr>
            <a:spLocks noChangeArrowheads="1"/>
          </p:cNvSpPr>
          <p:nvPr/>
        </p:nvSpPr>
        <p:spPr bwMode="auto">
          <a:xfrm>
            <a:off x="3884613" y="868680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sz="1000" i="1"/>
              <a:t>5</a:t>
            </a:r>
          </a:p>
        </p:txBody>
      </p:sp>
      <p:sp>
        <p:nvSpPr>
          <p:cNvPr id="2662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Rectangle 6"/>
          <p:cNvSpPr>
            <a:spLocks noGrp="1" noRot="1" noChangeAspect="1" noChangeArrowheads="1" noTextEdit="1"/>
          </p:cNvSpPr>
          <p:nvPr>
            <p:ph type="sldImg"/>
          </p:nvPr>
        </p:nvSpPr>
        <p:spPr>
          <a:xfrm>
            <a:off x="1150938" y="692150"/>
            <a:ext cx="4556125" cy="3416300"/>
          </a:xfrm>
          <a:ln cap="flat"/>
        </p:spPr>
      </p:sp>
      <p:sp>
        <p:nvSpPr>
          <p:cNvPr id="26631" name="Rectangle 7"/>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795540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t>
            </a:r>
            <a:r>
              <a:rPr lang="en-US" baseline="0" dirty="0"/>
              <a:t> we deem the set of all fields in an instance as a </a:t>
            </a:r>
            <a:r>
              <a:rPr lang="en-US" baseline="0" dirty="0" err="1"/>
              <a:t>superkey</a:t>
            </a:r>
            <a:r>
              <a:rPr lang="en-US" baseline="0" dirty="0"/>
              <a:t>?</a:t>
            </a:r>
          </a:p>
          <a:p>
            <a:r>
              <a:rPr lang="en-US" baseline="0" dirty="0"/>
              <a:t>Yes, s</a:t>
            </a:r>
            <a:r>
              <a:rPr lang="en-US" dirty="0"/>
              <a:t>ince a relation is guaranteed</a:t>
            </a:r>
            <a:r>
              <a:rPr lang="en-US" baseline="0" dirty="0"/>
              <a:t> to have a key, the set of </a:t>
            </a:r>
            <a:r>
              <a:rPr lang="en-US" i="1" baseline="0" dirty="0"/>
              <a:t>all</a:t>
            </a:r>
            <a:r>
              <a:rPr lang="en-US" baseline="0" dirty="0"/>
              <a:t> fields is always a </a:t>
            </a:r>
            <a:r>
              <a:rPr lang="en-US" baseline="0" dirty="0" err="1"/>
              <a:t>superkey</a:t>
            </a:r>
            <a:r>
              <a:rPr lang="en-US" baseline="0" dirty="0"/>
              <a:t>.</a:t>
            </a:r>
          </a:p>
          <a:p>
            <a:endParaRPr lang="en-US" baseline="0" dirty="0"/>
          </a:p>
          <a:p>
            <a:r>
              <a:rPr lang="en-US" baseline="0" dirty="0"/>
              <a:t>{login, age} could be a candidate key as well, but it is not </a:t>
            </a:r>
            <a:r>
              <a:rPr lang="en-US" i="1" baseline="0" dirty="0"/>
              <a:t>minimal</a:t>
            </a:r>
            <a:r>
              <a:rPr lang="en-US" baseline="0" dirty="0"/>
              <a:t>.</a:t>
            </a:r>
            <a:endParaRPr lang="en-US" dirty="0"/>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F5A4ED4D-EFD9-46AD-897E-D5BE4B53CB4B}" type="slidenum">
              <a:rPr lang="en-US" smtClean="0"/>
              <a:t>24</a:t>
            </a:fld>
            <a:endParaRPr lang="en-US"/>
          </a:p>
        </p:txBody>
      </p:sp>
    </p:spTree>
    <p:extLst>
      <p:ext uri="{BB962C8B-B14F-4D97-AF65-F5344CB8AC3E}">
        <p14:creationId xmlns:p14="http://schemas.microsoft.com/office/powerpoint/2010/main" val="3547327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7" name="Rectangle 3"/>
          <p:cNvSpPr>
            <a:spLocks noChangeArrowheads="1"/>
          </p:cNvSpPr>
          <p:nvPr/>
        </p:nvSpPr>
        <p:spPr bwMode="auto">
          <a:xfrm>
            <a:off x="3884613" y="868680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sz="1000" i="1"/>
              <a:t>13</a:t>
            </a:r>
          </a:p>
        </p:txBody>
      </p:sp>
      <p:sp>
        <p:nvSpPr>
          <p:cNvPr id="3686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0" name="Rectangle 6"/>
          <p:cNvSpPr>
            <a:spLocks noGrp="1" noRot="1" noChangeAspect="1" noChangeArrowheads="1" noTextEdit="1"/>
          </p:cNvSpPr>
          <p:nvPr>
            <p:ph type="sldImg"/>
          </p:nvPr>
        </p:nvSpPr>
        <p:spPr>
          <a:xfrm>
            <a:off x="1150938" y="692150"/>
            <a:ext cx="4556125" cy="3416300"/>
          </a:xfrm>
          <a:ln cap="flat"/>
        </p:spPr>
      </p:sp>
      <p:sp>
        <p:nvSpPr>
          <p:cNvPr id="36871" name="Rectangle 7"/>
          <p:cNvSpPr>
            <a:spLocks noGrp="1" noChangeArrowheads="1"/>
          </p:cNvSpPr>
          <p:nvPr>
            <p:ph type="body" idx="1"/>
          </p:nvPr>
        </p:nvSpPr>
        <p:spPr>
          <a:ln/>
        </p:spPr>
        <p:txBody>
          <a:bodyPr/>
          <a:lstStyle/>
          <a:p>
            <a:endParaRPr lang="en-US" dirty="0"/>
          </a:p>
        </p:txBody>
      </p:sp>
    </p:spTree>
    <p:extLst>
      <p:ext uri="{BB962C8B-B14F-4D97-AF65-F5344CB8AC3E}">
        <p14:creationId xmlns:p14="http://schemas.microsoft.com/office/powerpoint/2010/main" val="2896044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150938" y="692150"/>
            <a:ext cx="4556125" cy="3416300"/>
          </a:xfrm>
          <a:ln cap="flat"/>
        </p:spPr>
      </p:sp>
      <p:sp>
        <p:nvSpPr>
          <p:cNvPr id="40963" name="Rectangle 3"/>
          <p:cNvSpPr>
            <a:spLocks noGrp="1" noChangeArrowheads="1"/>
          </p:cNvSpPr>
          <p:nvPr>
            <p:ph type="body" idx="1"/>
          </p:nvPr>
        </p:nvSpPr>
        <p:spPr>
          <a:ln/>
        </p:spPr>
        <p:txBody>
          <a:bodyPr/>
          <a:lstStyle/>
          <a:p>
            <a:endParaRPr lang="en-US" dirty="0"/>
          </a:p>
        </p:txBody>
      </p:sp>
    </p:spTree>
    <p:extLst>
      <p:ext uri="{BB962C8B-B14F-4D97-AF65-F5344CB8AC3E}">
        <p14:creationId xmlns:p14="http://schemas.microsoft.com/office/powerpoint/2010/main" val="2493782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3883025" y="0"/>
            <a:ext cx="2974975"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87" name="Rectangle 3"/>
          <p:cNvSpPr>
            <a:spLocks noChangeArrowheads="1"/>
          </p:cNvSpPr>
          <p:nvPr/>
        </p:nvSpPr>
        <p:spPr bwMode="auto">
          <a:xfrm>
            <a:off x="3883025" y="8686800"/>
            <a:ext cx="297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defTabSz="936625"/>
            <a:r>
              <a:rPr lang="en-US" sz="1000" i="1"/>
              <a:t>18</a:t>
            </a:r>
          </a:p>
        </p:txBody>
      </p:sp>
      <p:sp>
        <p:nvSpPr>
          <p:cNvPr id="675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89"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0" name="Rectangle 6"/>
          <p:cNvSpPr>
            <a:spLocks noGrp="1" noRot="1" noChangeAspect="1" noChangeArrowheads="1" noTextEdit="1"/>
          </p:cNvSpPr>
          <p:nvPr>
            <p:ph type="sldImg"/>
          </p:nvPr>
        </p:nvSpPr>
        <p:spPr>
          <a:xfrm>
            <a:off x="1150938" y="692150"/>
            <a:ext cx="4556125" cy="3416300"/>
          </a:xfrm>
          <a:ln cap="flat"/>
        </p:spPr>
      </p:sp>
      <p:sp>
        <p:nvSpPr>
          <p:cNvPr id="67591" name="Rectangle 7"/>
          <p:cNvSpPr>
            <a:spLocks noGrp="1" noChangeArrowheads="1"/>
          </p:cNvSpPr>
          <p:nvPr>
            <p:ph type="body" idx="1"/>
          </p:nvPr>
        </p:nvSpPr>
        <p:spPr>
          <a:xfrm>
            <a:off x="912813" y="4343400"/>
            <a:ext cx="5029200" cy="4114800"/>
          </a:xfrm>
          <a:ln/>
        </p:spPr>
        <p:txBody>
          <a:bodyPr lIns="93663" tIns="46038" rIns="93663" bIns="46038"/>
          <a:lstStyle/>
          <a:p>
            <a:pPr defTabSz="936625"/>
            <a:endParaRPr lang="en-US"/>
          </a:p>
        </p:txBody>
      </p:sp>
    </p:spTree>
    <p:extLst>
      <p:ext uri="{BB962C8B-B14F-4D97-AF65-F5344CB8AC3E}">
        <p14:creationId xmlns:p14="http://schemas.microsoft.com/office/powerpoint/2010/main" val="3965853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883025" y="0"/>
            <a:ext cx="2974975"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5" name="Rectangle 3"/>
          <p:cNvSpPr>
            <a:spLocks noChangeArrowheads="1"/>
          </p:cNvSpPr>
          <p:nvPr/>
        </p:nvSpPr>
        <p:spPr bwMode="auto">
          <a:xfrm>
            <a:off x="3883025" y="8686800"/>
            <a:ext cx="297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defTabSz="936625"/>
            <a:r>
              <a:rPr lang="en-US" sz="1000" i="1"/>
              <a:t>22</a:t>
            </a:r>
          </a:p>
        </p:txBody>
      </p:sp>
      <p:sp>
        <p:nvSpPr>
          <p:cNvPr id="696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7"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8" name="Rectangle 6"/>
          <p:cNvSpPr>
            <a:spLocks noGrp="1" noRot="1" noChangeAspect="1" noChangeArrowheads="1" noTextEdit="1"/>
          </p:cNvSpPr>
          <p:nvPr>
            <p:ph type="sldImg"/>
          </p:nvPr>
        </p:nvSpPr>
        <p:spPr>
          <a:xfrm>
            <a:off x="1150938" y="692150"/>
            <a:ext cx="4556125" cy="3416300"/>
          </a:xfrm>
          <a:ln cap="flat"/>
        </p:spPr>
      </p:sp>
      <p:sp>
        <p:nvSpPr>
          <p:cNvPr id="69639" name="Rectangle 7"/>
          <p:cNvSpPr>
            <a:spLocks noGrp="1" noChangeArrowheads="1"/>
          </p:cNvSpPr>
          <p:nvPr>
            <p:ph type="body" idx="1"/>
          </p:nvPr>
        </p:nvSpPr>
        <p:spPr>
          <a:xfrm>
            <a:off x="912813" y="4343400"/>
            <a:ext cx="5029200" cy="4114800"/>
          </a:xfrm>
          <a:ln/>
        </p:spPr>
        <p:txBody>
          <a:bodyPr lIns="93663" tIns="46038" rIns="93663" bIns="46038"/>
          <a:lstStyle/>
          <a:p>
            <a:pPr defTabSz="936625"/>
            <a:endParaRPr lang="en-US"/>
          </a:p>
        </p:txBody>
      </p:sp>
    </p:spTree>
    <p:extLst>
      <p:ext uri="{BB962C8B-B14F-4D97-AF65-F5344CB8AC3E}">
        <p14:creationId xmlns:p14="http://schemas.microsoft.com/office/powerpoint/2010/main" val="2565711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US" dirty="0">
              <a:solidFill>
                <a:schemeClr val="bg1">
                  <a:lumMod val="50000"/>
                </a:schemeClr>
              </a:solidFill>
            </a:endParaRP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B9CB2FB-79FF-4711-A961-14A1A90B9D06}" type="slidenum">
              <a:rPr lang="en-US" smtClean="0"/>
              <a:pPr eaLnBrk="1" hangingPunct="1"/>
              <a:t>33</a:t>
            </a:fld>
            <a:endParaRPr lang="en-US"/>
          </a:p>
        </p:txBody>
      </p:sp>
      <p:sp>
        <p:nvSpPr>
          <p:cNvPr id="2" name="Header Placeholder 1"/>
          <p:cNvSpPr>
            <a:spLocks noGrp="1"/>
          </p:cNvSpPr>
          <p:nvPr>
            <p:ph type="hdr" sz="quarter" idx="10"/>
          </p:nvPr>
        </p:nvSpPr>
        <p:spPr/>
        <p:txBody>
          <a:bodyPr/>
          <a:lstStyle/>
          <a:p>
            <a:endParaRPr lang="en-US"/>
          </a:p>
        </p:txBody>
      </p:sp>
    </p:spTree>
    <p:extLst>
      <p:ext uri="{BB962C8B-B14F-4D97-AF65-F5344CB8AC3E}">
        <p14:creationId xmlns:p14="http://schemas.microsoft.com/office/powerpoint/2010/main" val="408112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26629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5029200"/>
          </a:xfrm>
        </p:spPr>
        <p:txBody>
          <a:bodyPr>
            <a:normAutofit/>
          </a:bodyPr>
          <a:lstStyle>
            <a:lvl1pPr marL="342900" indent="-342900">
              <a:buFont typeface="Wingdings" panose="05000000000000000000" pitchFamily="2" charset="2"/>
              <a:buChar char="§"/>
              <a:defRPr sz="2800"/>
            </a:lvl1pPr>
            <a:lvl2pPr marL="742950" indent="-285750">
              <a:buFont typeface="Wingdings" panose="05000000000000000000" pitchFamily="2" charset="2"/>
              <a:buChar char="§"/>
              <a:defRPr sz="2400"/>
            </a:lvl2pPr>
            <a:lvl3pPr marL="1143000" indent="-228600">
              <a:buFont typeface="Wingdings" panose="05000000000000000000" pitchFamily="2" charset="2"/>
              <a:buChar char="§"/>
              <a:defRPr sz="2000"/>
            </a:lvl3pPr>
            <a:lvl4pPr marL="1600200" indent="-228600">
              <a:buFont typeface="Wingdings" panose="05000000000000000000" pitchFamily="2" charset="2"/>
              <a:buChar char="§"/>
              <a:defRPr sz="1800"/>
            </a:lvl4pPr>
            <a:lvl5pPr marL="2057400" indent="-228600">
              <a:buFont typeface="Wingdings" panose="05000000000000000000" pitchFamily="2" charset="2"/>
              <a:buChar cha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010400" y="6492875"/>
            <a:ext cx="2133600" cy="365125"/>
          </a:xfrm>
        </p:spPr>
        <p:txBody>
          <a:bodyPr/>
          <a:lstStyle/>
          <a:p>
            <a:fld id="{5FCA4BC5-AE2A-401E-9EDD-DF8812A14A6A}" type="slidenum">
              <a:rPr lang="en-US" smtClean="0"/>
              <a:t>‹#›</a:t>
            </a:fld>
            <a:endParaRPr lang="en-US" dirty="0"/>
          </a:p>
        </p:txBody>
      </p:sp>
    </p:spTree>
    <p:extLst>
      <p:ext uri="{BB962C8B-B14F-4D97-AF65-F5344CB8AC3E}">
        <p14:creationId xmlns:p14="http://schemas.microsoft.com/office/powerpoint/2010/main" val="4033389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1948539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684176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4250320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70875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010400" y="6492875"/>
            <a:ext cx="2133600" cy="365125"/>
          </a:xfrm>
        </p:spPr>
        <p:txBody>
          <a:bodyPr/>
          <a:lstStyle/>
          <a:p>
            <a:fld id="{5FCA4BC5-AE2A-401E-9EDD-DF8812A14A6A}" type="slidenum">
              <a:rPr lang="en-US" smtClean="0"/>
              <a:t>‹#›</a:t>
            </a:fld>
            <a:endParaRPr lang="en-US" dirty="0"/>
          </a:p>
        </p:txBody>
      </p:sp>
    </p:spTree>
    <p:extLst>
      <p:ext uri="{BB962C8B-B14F-4D97-AF65-F5344CB8AC3E}">
        <p14:creationId xmlns:p14="http://schemas.microsoft.com/office/powerpoint/2010/main" val="499859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3882052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4153370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2714814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CA4BC5-AE2A-401E-9EDD-DF8812A14A6A}" type="slidenum">
              <a:rPr lang="en-US" smtClean="0"/>
              <a:t>‹#›</a:t>
            </a:fld>
            <a:endParaRPr lang="en-US"/>
          </a:p>
        </p:txBody>
      </p:sp>
    </p:spTree>
    <p:extLst>
      <p:ext uri="{BB962C8B-B14F-4D97-AF65-F5344CB8AC3E}">
        <p14:creationId xmlns:p14="http://schemas.microsoft.com/office/powerpoint/2010/main" val="2075556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CA4BC5-AE2A-401E-9EDD-DF8812A14A6A}" type="slidenum">
              <a:rPr lang="en-US" smtClean="0"/>
              <a:t>‹#›</a:t>
            </a:fld>
            <a:endParaRPr lang="en-US"/>
          </a:p>
        </p:txBody>
      </p:sp>
    </p:spTree>
    <p:extLst>
      <p:ext uri="{BB962C8B-B14F-4D97-AF65-F5344CB8AC3E}">
        <p14:creationId xmlns:p14="http://schemas.microsoft.com/office/powerpoint/2010/main" val="289258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01FBF5A9-8D82-04F5-748E-9EE063EF4944}"/>
              </a:ext>
            </a:extLst>
          </p:cNvPr>
          <p:cNvSpPr txBox="1"/>
          <p:nvPr/>
        </p:nvSpPr>
        <p:spPr>
          <a:xfrm>
            <a:off x="291794" y="216788"/>
            <a:ext cx="5194605" cy="320601"/>
          </a:xfrm>
          <a:prstGeom prst="rect">
            <a:avLst/>
          </a:prstGeom>
        </p:spPr>
        <p:txBody>
          <a:bodyPr vert="horz" wrap="square" lIns="0" tIns="12700" rIns="0" bIns="0" rtlCol="0">
            <a:spAutoFit/>
          </a:bodyPr>
          <a:lstStyle/>
          <a:p>
            <a:pPr marL="12700">
              <a:lnSpc>
                <a:spcPct val="100000"/>
              </a:lnSpc>
              <a:spcBef>
                <a:spcPts val="100"/>
              </a:spcBef>
            </a:pPr>
            <a:r>
              <a:rPr lang="en-US" sz="2000" i="1" spc="-10" dirty="0">
                <a:solidFill>
                  <a:srgbClr val="595959"/>
                </a:solidFill>
                <a:latin typeface="Calibri"/>
                <a:cs typeface="Calibri"/>
              </a:rPr>
              <a:t>INT6164 </a:t>
            </a:r>
            <a:r>
              <a:rPr lang="en-US" sz="2000" i="1" spc="-5" dirty="0">
                <a:solidFill>
                  <a:srgbClr val="595959"/>
                </a:solidFill>
                <a:latin typeface="Calibri"/>
                <a:cs typeface="Calibri"/>
              </a:rPr>
              <a:t>Database Systems and Management</a:t>
            </a:r>
            <a:endParaRPr sz="2000" dirty="0">
              <a:latin typeface="Calibri"/>
              <a:cs typeface="Calibri"/>
            </a:endParaRPr>
          </a:p>
        </p:txBody>
      </p:sp>
      <p:sp>
        <p:nvSpPr>
          <p:cNvPr id="6" name="Title 5">
            <a:extLst>
              <a:ext uri="{FF2B5EF4-FFF2-40B4-BE49-F238E27FC236}">
                <a16:creationId xmlns:a16="http://schemas.microsoft.com/office/drawing/2014/main" id="{452E588F-C30F-72F2-3E22-DDBDE4BD0633}"/>
              </a:ext>
            </a:extLst>
          </p:cNvPr>
          <p:cNvSpPr>
            <a:spLocks noGrp="1"/>
          </p:cNvSpPr>
          <p:nvPr>
            <p:ph type="ctrTitle"/>
          </p:nvPr>
        </p:nvSpPr>
        <p:spPr>
          <a:xfrm>
            <a:off x="488797" y="1371601"/>
            <a:ext cx="8166406" cy="2228850"/>
          </a:xfrm>
        </p:spPr>
        <p:txBody>
          <a:bodyPr>
            <a:normAutofit/>
          </a:bodyPr>
          <a:lstStyle/>
          <a:p>
            <a:r>
              <a:rPr lang="en-US" dirty="0"/>
              <a:t>Lecture 2 </a:t>
            </a:r>
            <a:br>
              <a:rPr lang="en-US" dirty="0"/>
            </a:br>
            <a:r>
              <a:rPr lang="en-US" dirty="0"/>
              <a:t>Relational Data Model &amp; Basic SQL</a:t>
            </a:r>
          </a:p>
        </p:txBody>
      </p:sp>
      <p:sp>
        <p:nvSpPr>
          <p:cNvPr id="8" name="Subtitle 7">
            <a:extLst>
              <a:ext uri="{FF2B5EF4-FFF2-40B4-BE49-F238E27FC236}">
                <a16:creationId xmlns:a16="http://schemas.microsoft.com/office/drawing/2014/main" id="{B092D041-67FB-E55B-D1EA-79892917BD75}"/>
              </a:ext>
            </a:extLst>
          </p:cNvPr>
          <p:cNvSpPr>
            <a:spLocks noGrp="1"/>
          </p:cNvSpPr>
          <p:nvPr>
            <p:ph type="subTitle" idx="1"/>
          </p:nvPr>
        </p:nvSpPr>
        <p:spPr>
          <a:xfrm>
            <a:off x="488797" y="3886200"/>
            <a:ext cx="8274203" cy="1752600"/>
          </a:xfrm>
        </p:spPr>
        <p:txBody>
          <a:bodyPr>
            <a:normAutofit fontScale="77500" lnSpcReduction="20000"/>
          </a:bodyPr>
          <a:lstStyle/>
          <a:p>
            <a:pPr marL="12700" marR="5080" indent="-12700" algn="ctr">
              <a:lnSpc>
                <a:spcPct val="124600"/>
              </a:lnSpc>
              <a:spcBef>
                <a:spcPts val="95"/>
              </a:spcBef>
            </a:pPr>
            <a:r>
              <a:rPr lang="en-US" sz="3200" spc="-50" dirty="0">
                <a:solidFill>
                  <a:srgbClr val="595959"/>
                </a:solidFill>
                <a:latin typeface="Arial MT"/>
                <a:cs typeface="Arial MT"/>
              </a:rPr>
              <a:t>Dr.</a:t>
            </a:r>
            <a:r>
              <a:rPr lang="en-US" sz="3200" spc="-15" dirty="0">
                <a:solidFill>
                  <a:srgbClr val="595959"/>
                </a:solidFill>
                <a:latin typeface="Arial MT"/>
                <a:cs typeface="Arial MT"/>
              </a:rPr>
              <a:t> </a:t>
            </a:r>
            <a:r>
              <a:rPr lang="en-US" spc="-5">
                <a:solidFill>
                  <a:srgbClr val="595959"/>
                </a:solidFill>
                <a:latin typeface="Arial MT"/>
                <a:cs typeface="Arial MT"/>
              </a:rPr>
              <a:t>Yang Yu</a:t>
            </a:r>
            <a:endParaRPr lang="en-US" sz="3200" spc="-5" dirty="0">
              <a:solidFill>
                <a:srgbClr val="595959"/>
              </a:solidFill>
              <a:latin typeface="Arial MT"/>
              <a:cs typeface="Arial MT"/>
            </a:endParaRPr>
          </a:p>
          <a:p>
            <a:pPr marL="12700" marR="5080" indent="-12700" algn="ctr">
              <a:lnSpc>
                <a:spcPct val="124600"/>
              </a:lnSpc>
              <a:spcBef>
                <a:spcPts val="95"/>
              </a:spcBef>
            </a:pPr>
            <a:r>
              <a:rPr lang="en-US" sz="3200" spc="-5" dirty="0">
                <a:solidFill>
                  <a:srgbClr val="595959"/>
                </a:solidFill>
                <a:latin typeface="Arial MT"/>
                <a:cs typeface="Arial MT"/>
              </a:rPr>
              <a:t>Department of Mathematics and Information Technology </a:t>
            </a:r>
          </a:p>
          <a:p>
            <a:pPr marL="12700" marR="5080" indent="-12700" algn="ctr">
              <a:lnSpc>
                <a:spcPct val="124600"/>
              </a:lnSpc>
              <a:spcBef>
                <a:spcPts val="95"/>
              </a:spcBef>
            </a:pPr>
            <a:r>
              <a:rPr lang="en-US" sz="3200" dirty="0">
                <a:solidFill>
                  <a:srgbClr val="595959"/>
                </a:solidFill>
                <a:latin typeface="Arial MT"/>
                <a:cs typeface="Arial MT"/>
              </a:rPr>
              <a:t> </a:t>
            </a:r>
            <a:r>
              <a:rPr lang="en-US" sz="3200" spc="-5" dirty="0">
                <a:solidFill>
                  <a:srgbClr val="595959"/>
                </a:solidFill>
                <a:latin typeface="Arial MT"/>
                <a:cs typeface="Arial MT"/>
              </a:rPr>
              <a:t>The</a:t>
            </a:r>
            <a:r>
              <a:rPr lang="en-US" sz="3200" spc="-30" dirty="0">
                <a:solidFill>
                  <a:srgbClr val="595959"/>
                </a:solidFill>
                <a:latin typeface="Arial MT"/>
                <a:cs typeface="Arial MT"/>
              </a:rPr>
              <a:t> </a:t>
            </a:r>
            <a:r>
              <a:rPr lang="en-US" sz="3200" spc="-5" dirty="0">
                <a:solidFill>
                  <a:srgbClr val="595959"/>
                </a:solidFill>
                <a:latin typeface="Arial MT"/>
                <a:cs typeface="Arial MT"/>
              </a:rPr>
              <a:t>Education University of Hong Kong</a:t>
            </a:r>
            <a:endParaRPr lang="en-US" sz="3200" dirty="0">
              <a:latin typeface="Arial MT"/>
              <a:cs typeface="Arial MT"/>
            </a:endParaRPr>
          </a:p>
        </p:txBody>
      </p:sp>
    </p:spTree>
    <p:extLst>
      <p:ext uri="{BB962C8B-B14F-4D97-AF65-F5344CB8AC3E}">
        <p14:creationId xmlns:p14="http://schemas.microsoft.com/office/powerpoint/2010/main" val="326462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dirty="0"/>
              <a:t>Outline</a:t>
            </a:r>
          </a:p>
        </p:txBody>
      </p:sp>
      <p:graphicFrame>
        <p:nvGraphicFramePr>
          <p:cNvPr id="22" name="Diagram 21"/>
          <p:cNvGraphicFramePr/>
          <p:nvPr>
            <p:extLst>
              <p:ext uri="{D42A27DB-BD31-4B8C-83A1-F6EECF244321}">
                <p14:modId xmlns:p14="http://schemas.microsoft.com/office/powerpoint/2010/main" val="151910324"/>
              </p:ext>
            </p:extLst>
          </p:nvPr>
        </p:nvGraphicFramePr>
        <p:xfrm>
          <a:off x="1295400" y="1524000"/>
          <a:ext cx="6477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7848600" y="1981200"/>
            <a:ext cx="1021433" cy="861774"/>
          </a:xfrm>
          <a:prstGeom prst="rect">
            <a:avLst/>
          </a:prstGeom>
          <a:noFill/>
        </p:spPr>
        <p:txBody>
          <a:bodyPr wrap="none" rtlCol="0">
            <a:spAutoFit/>
          </a:bodyPr>
          <a:lstStyle/>
          <a:p>
            <a:pPr marL="685800" indent="-685800">
              <a:buClr>
                <a:schemeClr val="tx1"/>
              </a:buClr>
              <a:buFont typeface="Wingdings" pitchFamily="2" charset="2"/>
              <a:buChar char="ü"/>
            </a:pPr>
            <a:r>
              <a:rPr lang="en-US" sz="5000" dirty="0"/>
              <a:t> </a:t>
            </a:r>
          </a:p>
        </p:txBody>
      </p:sp>
      <p:sp>
        <p:nvSpPr>
          <p:cNvPr id="2" name="Slide Number Placeholder 1">
            <a:extLst>
              <a:ext uri="{FF2B5EF4-FFF2-40B4-BE49-F238E27FC236}">
                <a16:creationId xmlns:a16="http://schemas.microsoft.com/office/drawing/2014/main" id="{B7AAF2C3-7446-06C8-E7D7-24AB17D76CEC}"/>
              </a:ext>
            </a:extLst>
          </p:cNvPr>
          <p:cNvSpPr>
            <a:spLocks noGrp="1"/>
          </p:cNvSpPr>
          <p:nvPr>
            <p:ph type="sldNum" sz="quarter" idx="12"/>
          </p:nvPr>
        </p:nvSpPr>
        <p:spPr/>
        <p:txBody>
          <a:bodyPr/>
          <a:lstStyle/>
          <a:p>
            <a:fld id="{5FCA4BC5-AE2A-401E-9EDD-DF8812A14A6A}" type="slidenum">
              <a:rPr lang="en-US" smtClean="0"/>
              <a:t>2</a:t>
            </a:fld>
            <a:endParaRPr lang="en-US" dirty="0"/>
          </a:p>
        </p:txBody>
      </p:sp>
    </p:spTree>
    <p:extLst>
      <p:ext uri="{BB962C8B-B14F-4D97-AF65-F5344CB8AC3E}">
        <p14:creationId xmlns:p14="http://schemas.microsoft.com/office/powerpoint/2010/main" val="1874142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B81E9-CD87-1C63-2109-27A1EE846D17}"/>
              </a:ext>
            </a:extLst>
          </p:cNvPr>
          <p:cNvSpPr>
            <a:spLocks noGrp="1"/>
          </p:cNvSpPr>
          <p:nvPr>
            <p:ph type="title"/>
          </p:nvPr>
        </p:nvSpPr>
        <p:spPr/>
        <p:txBody>
          <a:bodyPr/>
          <a:lstStyle/>
          <a:p>
            <a:r>
              <a:rPr lang="en-US" dirty="0"/>
              <a:t>What is the Relational Model?</a:t>
            </a:r>
          </a:p>
        </p:txBody>
      </p:sp>
      <p:sp>
        <p:nvSpPr>
          <p:cNvPr id="3" name="Content Placeholder 2">
            <a:extLst>
              <a:ext uri="{FF2B5EF4-FFF2-40B4-BE49-F238E27FC236}">
                <a16:creationId xmlns:a16="http://schemas.microsoft.com/office/drawing/2014/main" id="{DDC49235-4EC5-D2BE-692A-97EEC437E997}"/>
              </a:ext>
            </a:extLst>
          </p:cNvPr>
          <p:cNvSpPr>
            <a:spLocks noGrp="1"/>
          </p:cNvSpPr>
          <p:nvPr>
            <p:ph idx="1"/>
          </p:nvPr>
        </p:nvSpPr>
        <p:spPr>
          <a:xfrm>
            <a:off x="304800" y="1295400"/>
            <a:ext cx="8610600" cy="5014118"/>
          </a:xfrm>
        </p:spPr>
        <p:txBody>
          <a:bodyPr>
            <a:normAutofit fontScale="92500" lnSpcReduction="10000"/>
          </a:bodyPr>
          <a:lstStyle/>
          <a:p>
            <a:pPr>
              <a:buFont typeface="Wingdings" pitchFamily="2" charset="2"/>
              <a:buChar char="§"/>
            </a:pPr>
            <a:r>
              <a:rPr lang="en-US" sz="2800" dirty="0"/>
              <a:t>Relational data model, proposed by E.F. Codd in 1970’s, belongs to record-based logical models</a:t>
            </a:r>
          </a:p>
          <a:p>
            <a:pPr>
              <a:buFont typeface="Wingdings" pitchFamily="2" charset="2"/>
              <a:buChar char="§"/>
            </a:pPr>
            <a:endParaRPr lang="en-US" sz="2800" dirty="0"/>
          </a:p>
          <a:p>
            <a:pPr>
              <a:buFont typeface="Wingdings" pitchFamily="2" charset="2"/>
              <a:buChar char="§"/>
            </a:pPr>
            <a:r>
              <a:rPr lang="en-US" sz="2800" dirty="0"/>
              <a:t>The relational model adopts a “tabular” representation</a:t>
            </a:r>
          </a:p>
          <a:p>
            <a:pPr lvl="1">
              <a:buFont typeface="Wingdings" pitchFamily="2" charset="2"/>
              <a:buChar char="§"/>
            </a:pPr>
            <a:r>
              <a:rPr lang="en-US" sz="2400" dirty="0"/>
              <a:t>A database is a </a:t>
            </a:r>
            <a:r>
              <a:rPr lang="en-US" sz="2400" i="1" dirty="0"/>
              <a:t>collection</a:t>
            </a:r>
            <a:r>
              <a:rPr lang="en-US" sz="2400" dirty="0"/>
              <a:t> of one or more </a:t>
            </a:r>
            <a:r>
              <a:rPr lang="en-US" sz="2400" dirty="0">
                <a:solidFill>
                  <a:srgbClr val="0070C0"/>
                </a:solidFill>
              </a:rPr>
              <a:t>relations</a:t>
            </a:r>
          </a:p>
          <a:p>
            <a:pPr lvl="1">
              <a:buFont typeface="Wingdings" pitchFamily="2" charset="2"/>
              <a:buChar char="§"/>
            </a:pPr>
            <a:r>
              <a:rPr lang="en-US" sz="2400" dirty="0"/>
              <a:t>Each relation is a </a:t>
            </a:r>
            <a:r>
              <a:rPr lang="en-US" sz="2400" i="1" dirty="0"/>
              <a:t>table</a:t>
            </a:r>
            <a:r>
              <a:rPr lang="en-US" sz="2400" dirty="0"/>
              <a:t> with rows and columns</a:t>
            </a:r>
          </a:p>
          <a:p>
            <a:pPr lvl="1">
              <a:buFont typeface="Wingdings" pitchFamily="2" charset="2"/>
              <a:buChar char="§"/>
            </a:pPr>
            <a:r>
              <a:rPr lang="en-US" sz="2400" dirty="0"/>
              <a:t>Not in form of a diagram!!!</a:t>
            </a:r>
          </a:p>
          <a:p>
            <a:pPr lvl="1">
              <a:buFont typeface="Wingdings" pitchFamily="2" charset="2"/>
              <a:buChar char="§"/>
            </a:pPr>
            <a:endParaRPr lang="en-US" sz="2400" dirty="0"/>
          </a:p>
          <a:p>
            <a:pPr>
              <a:buFont typeface="Wingdings" pitchFamily="2" charset="2"/>
              <a:buChar char="§"/>
            </a:pPr>
            <a:r>
              <a:rPr lang="en-US" sz="2800" dirty="0"/>
              <a:t>What is unique about the relational model as opposed to older data models?</a:t>
            </a:r>
          </a:p>
          <a:p>
            <a:pPr lvl="1">
              <a:buFont typeface="Wingdings" pitchFamily="2" charset="2"/>
              <a:buChar char="§"/>
            </a:pPr>
            <a:r>
              <a:rPr lang="en-US" sz="2400" dirty="0"/>
              <a:t>Its simple data representation</a:t>
            </a:r>
          </a:p>
          <a:p>
            <a:pPr lvl="1">
              <a:buFont typeface="Wingdings" pitchFamily="2" charset="2"/>
              <a:buChar char="§"/>
            </a:pPr>
            <a:r>
              <a:rPr lang="en-US" sz="2400" dirty="0"/>
              <a:t>Ease with which complex queries can be expressed</a:t>
            </a:r>
          </a:p>
          <a:p>
            <a:endParaRPr lang="en-US" dirty="0"/>
          </a:p>
          <a:p>
            <a:endParaRPr lang="en-US" dirty="0"/>
          </a:p>
        </p:txBody>
      </p:sp>
      <p:sp>
        <p:nvSpPr>
          <p:cNvPr id="4" name="Slide Number Placeholder 3">
            <a:extLst>
              <a:ext uri="{FF2B5EF4-FFF2-40B4-BE49-F238E27FC236}">
                <a16:creationId xmlns:a16="http://schemas.microsoft.com/office/drawing/2014/main" id="{4E3461CC-4ADC-6CE5-B9FC-9E1991A1EE59}"/>
              </a:ext>
            </a:extLst>
          </p:cNvPr>
          <p:cNvSpPr>
            <a:spLocks noGrp="1"/>
          </p:cNvSpPr>
          <p:nvPr>
            <p:ph type="sldNum" sz="quarter" idx="12"/>
          </p:nvPr>
        </p:nvSpPr>
        <p:spPr/>
        <p:txBody>
          <a:bodyPr/>
          <a:lstStyle/>
          <a:p>
            <a:fld id="{5FCA4BC5-AE2A-401E-9EDD-DF8812A14A6A}" type="slidenum">
              <a:rPr lang="en-US" smtClean="0"/>
              <a:t>3</a:t>
            </a:fld>
            <a:endParaRPr lang="en-US" dirty="0"/>
          </a:p>
        </p:txBody>
      </p:sp>
    </p:spTree>
    <p:extLst>
      <p:ext uri="{BB962C8B-B14F-4D97-AF65-F5344CB8AC3E}">
        <p14:creationId xmlns:p14="http://schemas.microsoft.com/office/powerpoint/2010/main" val="17989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3811-09DB-3481-E9B3-46A0D3099DF2}"/>
              </a:ext>
            </a:extLst>
          </p:cNvPr>
          <p:cNvSpPr>
            <a:spLocks noGrp="1"/>
          </p:cNvSpPr>
          <p:nvPr>
            <p:ph type="title"/>
          </p:nvPr>
        </p:nvSpPr>
        <p:spPr>
          <a:xfrm>
            <a:off x="457200" y="0"/>
            <a:ext cx="8229600" cy="868362"/>
          </a:xfrm>
        </p:spPr>
        <p:txBody>
          <a:bodyPr/>
          <a:lstStyle/>
          <a:p>
            <a:r>
              <a:rPr lang="en-US" dirty="0"/>
              <a:t>Basic Constructs</a:t>
            </a:r>
          </a:p>
        </p:txBody>
      </p:sp>
      <p:sp>
        <p:nvSpPr>
          <p:cNvPr id="3" name="Content Placeholder 2">
            <a:extLst>
              <a:ext uri="{FF2B5EF4-FFF2-40B4-BE49-F238E27FC236}">
                <a16:creationId xmlns:a16="http://schemas.microsoft.com/office/drawing/2014/main" id="{C15D996A-D316-D6FC-433F-C996E2EAFC1B}"/>
              </a:ext>
            </a:extLst>
          </p:cNvPr>
          <p:cNvSpPr>
            <a:spLocks noGrp="1"/>
          </p:cNvSpPr>
          <p:nvPr>
            <p:ph idx="1"/>
          </p:nvPr>
        </p:nvSpPr>
        <p:spPr>
          <a:xfrm>
            <a:off x="457200" y="838200"/>
            <a:ext cx="8458200" cy="5638800"/>
          </a:xfrm>
        </p:spPr>
        <p:txBody>
          <a:bodyPr>
            <a:normAutofit/>
          </a:bodyPr>
          <a:lstStyle/>
          <a:p>
            <a:pPr>
              <a:buFont typeface="Wingdings" pitchFamily="2" charset="2"/>
              <a:buChar char="§"/>
            </a:pPr>
            <a:r>
              <a:rPr lang="en-US" sz="2400" dirty="0"/>
              <a:t>Relations</a:t>
            </a:r>
          </a:p>
          <a:p>
            <a:pPr lvl="1"/>
            <a:r>
              <a:rPr lang="en-US" sz="2000" dirty="0"/>
              <a:t>Data stored as tables (called relations); each has a unique name</a:t>
            </a:r>
          </a:p>
          <a:p>
            <a:pPr lvl="1"/>
            <a:r>
              <a:rPr lang="en-US" sz="2000" dirty="0"/>
              <a:t>A relation consists of rows (called tuples) and columns (called attributes)</a:t>
            </a:r>
          </a:p>
          <a:p>
            <a:pPr>
              <a:buFont typeface="Wingdings" pitchFamily="2" charset="2"/>
              <a:buChar char="§"/>
            </a:pPr>
            <a:r>
              <a:rPr lang="en-US" sz="2400" dirty="0"/>
              <a:t>Attributes</a:t>
            </a:r>
          </a:p>
          <a:p>
            <a:pPr lvl="1"/>
            <a:r>
              <a:rPr lang="en-US" sz="2000" dirty="0"/>
              <a:t>an attribute has a name and a “domain” (a set of permitted values)</a:t>
            </a:r>
          </a:p>
          <a:p>
            <a:r>
              <a:rPr lang="en-US" sz="2400" dirty="0"/>
              <a:t>Records/instances</a:t>
            </a:r>
          </a:p>
          <a:p>
            <a:pPr lvl="1"/>
            <a:r>
              <a:rPr lang="en-US" sz="2000" dirty="0"/>
              <a:t>A set of row/tuples</a:t>
            </a:r>
          </a:p>
          <a:p>
            <a:pPr lvl="1"/>
            <a:r>
              <a:rPr lang="en-US" sz="2000" dirty="0"/>
              <a:t>Each row/tuple in a relation is a record (an entity)</a:t>
            </a:r>
          </a:p>
          <a:p>
            <a:pPr lvl="1"/>
            <a:r>
              <a:rPr lang="en-US" sz="2000" dirty="0"/>
              <a:t>Each attribute in a relation corresponds to a particular field of a record/instance</a:t>
            </a:r>
            <a:endParaRPr lang="en-US" dirty="0"/>
          </a:p>
          <a:p>
            <a:r>
              <a:rPr lang="en-US" sz="2400" dirty="0"/>
              <a:t>Another definition of relation: Consist of</a:t>
            </a:r>
          </a:p>
          <a:p>
            <a:pPr lvl="1"/>
            <a:r>
              <a:rPr lang="en-US" sz="2000" dirty="0"/>
              <a:t>A </a:t>
            </a:r>
            <a:r>
              <a:rPr lang="en-US" sz="2000" dirty="0">
                <a:solidFill>
                  <a:srgbClr val="0070C0"/>
                </a:solidFill>
              </a:rPr>
              <a:t>schema</a:t>
            </a:r>
            <a:r>
              <a:rPr lang="en-US" sz="2000" dirty="0"/>
              <a:t> which includes the relation’s name, the name of each column, and the domain of each column</a:t>
            </a:r>
          </a:p>
          <a:p>
            <a:pPr lvl="1"/>
            <a:r>
              <a:rPr lang="en-US" sz="2000" dirty="0"/>
              <a:t>An instance which is a set of tuples</a:t>
            </a:r>
          </a:p>
          <a:p>
            <a:pPr lvl="2"/>
            <a:r>
              <a:rPr lang="en-US" sz="1600" dirty="0"/>
              <a:t>Each tuple has the same number of columns as the relation schema</a:t>
            </a:r>
          </a:p>
          <a:p>
            <a:pPr lvl="1"/>
            <a:endParaRPr lang="en-US" sz="2000" dirty="0"/>
          </a:p>
          <a:p>
            <a:pPr lvl="1"/>
            <a:endParaRPr lang="en-US" sz="2000" dirty="0"/>
          </a:p>
        </p:txBody>
      </p:sp>
      <p:sp>
        <p:nvSpPr>
          <p:cNvPr id="4" name="Slide Number Placeholder 3">
            <a:extLst>
              <a:ext uri="{FF2B5EF4-FFF2-40B4-BE49-F238E27FC236}">
                <a16:creationId xmlns:a16="http://schemas.microsoft.com/office/drawing/2014/main" id="{31413E43-CDDD-34A6-E5FC-BB461256C4B8}"/>
              </a:ext>
            </a:extLst>
          </p:cNvPr>
          <p:cNvSpPr>
            <a:spLocks noGrp="1"/>
          </p:cNvSpPr>
          <p:nvPr>
            <p:ph type="sldNum" sz="quarter" idx="12"/>
          </p:nvPr>
        </p:nvSpPr>
        <p:spPr/>
        <p:txBody>
          <a:bodyPr/>
          <a:lstStyle/>
          <a:p>
            <a:fld id="{5FCA4BC5-AE2A-401E-9EDD-DF8812A14A6A}" type="slidenum">
              <a:rPr lang="en-US" smtClean="0"/>
              <a:t>4</a:t>
            </a:fld>
            <a:endParaRPr lang="en-US" dirty="0"/>
          </a:p>
        </p:txBody>
      </p:sp>
    </p:spTree>
    <p:extLst>
      <p:ext uri="{BB962C8B-B14F-4D97-AF65-F5344CB8AC3E}">
        <p14:creationId xmlns:p14="http://schemas.microsoft.com/office/powerpoint/2010/main" val="346760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3811-09DB-3481-E9B3-46A0D3099DF2}"/>
              </a:ext>
            </a:extLst>
          </p:cNvPr>
          <p:cNvSpPr>
            <a:spLocks noGrp="1"/>
          </p:cNvSpPr>
          <p:nvPr>
            <p:ph type="title"/>
          </p:nvPr>
        </p:nvSpPr>
        <p:spPr>
          <a:xfrm>
            <a:off x="457200" y="0"/>
            <a:ext cx="8229600" cy="868362"/>
          </a:xfrm>
        </p:spPr>
        <p:txBody>
          <a:bodyPr/>
          <a:lstStyle/>
          <a:p>
            <a:r>
              <a:rPr lang="en-US" dirty="0"/>
              <a:t>DB Schema &amp; Instance</a:t>
            </a:r>
          </a:p>
        </p:txBody>
      </p:sp>
      <p:sp>
        <p:nvSpPr>
          <p:cNvPr id="3" name="Content Placeholder 2">
            <a:extLst>
              <a:ext uri="{FF2B5EF4-FFF2-40B4-BE49-F238E27FC236}">
                <a16:creationId xmlns:a16="http://schemas.microsoft.com/office/drawing/2014/main" id="{C15D996A-D316-D6FC-433F-C996E2EAFC1B}"/>
              </a:ext>
            </a:extLst>
          </p:cNvPr>
          <p:cNvSpPr>
            <a:spLocks noGrp="1"/>
          </p:cNvSpPr>
          <p:nvPr>
            <p:ph idx="1"/>
          </p:nvPr>
        </p:nvSpPr>
        <p:spPr>
          <a:xfrm>
            <a:off x="457200" y="762000"/>
            <a:ext cx="8458200" cy="5562600"/>
          </a:xfrm>
        </p:spPr>
        <p:txBody>
          <a:bodyPr>
            <a:normAutofit/>
          </a:bodyPr>
          <a:lstStyle/>
          <a:p>
            <a:r>
              <a:rPr lang="en-US" sz="2400" dirty="0"/>
              <a:t>Sample Relational DB </a:t>
            </a:r>
            <a:r>
              <a:rPr lang="en-US" sz="2400" b="1" dirty="0"/>
              <a:t>Schema</a:t>
            </a:r>
            <a:r>
              <a:rPr lang="en-US" sz="2400" dirty="0"/>
              <a:t>: </a:t>
            </a:r>
            <a:r>
              <a:rPr lang="en-US" sz="2400" i="1" dirty="0">
                <a:solidFill>
                  <a:schemeClr val="accent6">
                    <a:lumMod val="75000"/>
                  </a:schemeClr>
                </a:solidFill>
              </a:rPr>
              <a:t>relatively static</a:t>
            </a:r>
          </a:p>
          <a:p>
            <a:pPr>
              <a:buFont typeface="Wingdings" pitchFamily="2" charset="2"/>
              <a:buChar char="§"/>
            </a:pPr>
            <a:endParaRPr lang="en-US" sz="2400" i="1" dirty="0"/>
          </a:p>
          <a:p>
            <a:pPr>
              <a:buFont typeface="Wingdings" pitchFamily="2" charset="2"/>
              <a:buChar char="§"/>
            </a:pPr>
            <a:endParaRPr lang="en-US" sz="2400" i="1" dirty="0"/>
          </a:p>
          <a:p>
            <a:pPr>
              <a:buFont typeface="Wingdings" pitchFamily="2" charset="2"/>
              <a:buChar char="§"/>
            </a:pPr>
            <a:endParaRPr lang="en-US" sz="2400" i="1" dirty="0"/>
          </a:p>
          <a:p>
            <a:r>
              <a:rPr lang="en-US" altLang="en-US" sz="2400" dirty="0"/>
              <a:t>A corresponding DB </a:t>
            </a:r>
            <a:r>
              <a:rPr lang="en-US" altLang="en-US" sz="2400" b="1" dirty="0"/>
              <a:t>Instance</a:t>
            </a:r>
            <a:r>
              <a:rPr lang="en-US" altLang="en-US" sz="2400" dirty="0"/>
              <a:t>: </a:t>
            </a:r>
            <a:r>
              <a:rPr lang="en-US" altLang="en-US" sz="2400" i="1" dirty="0">
                <a:solidFill>
                  <a:srgbClr val="7030A0"/>
                </a:solidFill>
              </a:rPr>
              <a:t>rather dynamic</a:t>
            </a:r>
            <a:endParaRPr lang="en-US" altLang="en-US" sz="2000" i="1" dirty="0">
              <a:solidFill>
                <a:srgbClr val="7030A0"/>
              </a:solidFill>
            </a:endParaRPr>
          </a:p>
          <a:p>
            <a:pPr>
              <a:buFont typeface="Wingdings" pitchFamily="2" charset="2"/>
              <a:buChar char="§"/>
            </a:pPr>
            <a:endParaRPr lang="en-US" sz="2400" i="1" dirty="0"/>
          </a:p>
          <a:p>
            <a:endParaRPr lang="en-US" sz="2400" dirty="0"/>
          </a:p>
        </p:txBody>
      </p:sp>
      <p:sp>
        <p:nvSpPr>
          <p:cNvPr id="4" name="Slide Number Placeholder 3">
            <a:extLst>
              <a:ext uri="{FF2B5EF4-FFF2-40B4-BE49-F238E27FC236}">
                <a16:creationId xmlns:a16="http://schemas.microsoft.com/office/drawing/2014/main" id="{31413E43-CDDD-34A6-E5FC-BB461256C4B8}"/>
              </a:ext>
            </a:extLst>
          </p:cNvPr>
          <p:cNvSpPr>
            <a:spLocks noGrp="1"/>
          </p:cNvSpPr>
          <p:nvPr>
            <p:ph type="sldNum" sz="quarter" idx="12"/>
          </p:nvPr>
        </p:nvSpPr>
        <p:spPr/>
        <p:txBody>
          <a:bodyPr/>
          <a:lstStyle/>
          <a:p>
            <a:fld id="{5FCA4BC5-AE2A-401E-9EDD-DF8812A14A6A}" type="slidenum">
              <a:rPr lang="en-US" smtClean="0"/>
              <a:t>5</a:t>
            </a:fld>
            <a:endParaRPr lang="en-US" dirty="0"/>
          </a:p>
        </p:txBody>
      </p:sp>
      <p:sp>
        <p:nvSpPr>
          <p:cNvPr id="5" name="Text Box 4">
            <a:extLst>
              <a:ext uri="{FF2B5EF4-FFF2-40B4-BE49-F238E27FC236}">
                <a16:creationId xmlns:a16="http://schemas.microsoft.com/office/drawing/2014/main" id="{713B2C27-51B3-FB1E-0C36-EACB51E3C597}"/>
              </a:ext>
            </a:extLst>
          </p:cNvPr>
          <p:cNvSpPr txBox="1">
            <a:spLocks noChangeArrowheads="1"/>
          </p:cNvSpPr>
          <p:nvPr/>
        </p:nvSpPr>
        <p:spPr bwMode="auto">
          <a:xfrm>
            <a:off x="641226" y="1227400"/>
            <a:ext cx="1524000" cy="396875"/>
          </a:xfrm>
          <a:prstGeom prst="rect">
            <a:avLst/>
          </a:prstGeom>
          <a:noFill/>
          <a:ln>
            <a:noFill/>
          </a:ln>
          <a:effectLst/>
        </p:spPr>
        <p:txBody>
          <a:bodyPr>
            <a:spAutoFit/>
          </a:bodyPr>
          <a:lstStyle/>
          <a:p>
            <a:pPr>
              <a:spcBef>
                <a:spcPct val="50000"/>
              </a:spcBef>
              <a:defRPr/>
            </a:pPr>
            <a:r>
              <a:rPr lang="en-US" altLang="en-US" dirty="0">
                <a:effectLst>
                  <a:outerShdw blurRad="38100" dist="38100" dir="2700000" algn="tl">
                    <a:srgbClr val="C0C0C0"/>
                  </a:outerShdw>
                </a:effectLst>
              </a:rPr>
              <a:t>Customer</a:t>
            </a:r>
          </a:p>
        </p:txBody>
      </p:sp>
      <p:sp>
        <p:nvSpPr>
          <p:cNvPr id="6" name="Text Box 5">
            <a:extLst>
              <a:ext uri="{FF2B5EF4-FFF2-40B4-BE49-F238E27FC236}">
                <a16:creationId xmlns:a16="http://schemas.microsoft.com/office/drawing/2014/main" id="{78BD7F29-7764-14FA-AAE6-1F61959C90D7}"/>
              </a:ext>
            </a:extLst>
          </p:cNvPr>
          <p:cNvSpPr txBox="1">
            <a:spLocks noChangeArrowheads="1"/>
          </p:cNvSpPr>
          <p:nvPr/>
        </p:nvSpPr>
        <p:spPr bwMode="auto">
          <a:xfrm>
            <a:off x="3278151" y="1227400"/>
            <a:ext cx="1078070" cy="369332"/>
          </a:xfrm>
          <a:prstGeom prst="rect">
            <a:avLst/>
          </a:prstGeom>
          <a:noFill/>
          <a:ln>
            <a:noFill/>
          </a:ln>
          <a:effectLst/>
        </p:spPr>
        <p:txBody>
          <a:bodyPr wrap="square">
            <a:spAutoFit/>
          </a:bodyPr>
          <a:lstStyle/>
          <a:p>
            <a:pPr>
              <a:spcBef>
                <a:spcPct val="50000"/>
              </a:spcBef>
              <a:defRPr/>
            </a:pPr>
            <a:r>
              <a:rPr lang="en-US" altLang="en-US" dirty="0">
                <a:effectLst>
                  <a:outerShdw blurRad="38100" dist="38100" dir="2700000" algn="tl">
                    <a:srgbClr val="C0C0C0"/>
                  </a:outerShdw>
                </a:effectLst>
              </a:rPr>
              <a:t>Orders</a:t>
            </a:r>
          </a:p>
        </p:txBody>
      </p:sp>
      <p:sp>
        <p:nvSpPr>
          <p:cNvPr id="8" name="Rectangle 7">
            <a:extLst>
              <a:ext uri="{FF2B5EF4-FFF2-40B4-BE49-F238E27FC236}">
                <a16:creationId xmlns:a16="http://schemas.microsoft.com/office/drawing/2014/main" id="{8ED0E791-5FE3-9C1A-40DB-14B9D7CCCACA}"/>
              </a:ext>
            </a:extLst>
          </p:cNvPr>
          <p:cNvSpPr>
            <a:spLocks noChangeArrowheads="1"/>
          </p:cNvSpPr>
          <p:nvPr/>
        </p:nvSpPr>
        <p:spPr bwMode="auto">
          <a:xfrm>
            <a:off x="685800" y="1608400"/>
            <a:ext cx="2357942" cy="868362"/>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 name="Text Box 8">
            <a:extLst>
              <a:ext uri="{FF2B5EF4-FFF2-40B4-BE49-F238E27FC236}">
                <a16:creationId xmlns:a16="http://schemas.microsoft.com/office/drawing/2014/main" id="{37F8D5EA-387E-7A38-1CB2-08E863FAB4D6}"/>
              </a:ext>
            </a:extLst>
          </p:cNvPr>
          <p:cNvSpPr txBox="1">
            <a:spLocks noChangeArrowheads="1"/>
          </p:cNvSpPr>
          <p:nvPr/>
        </p:nvSpPr>
        <p:spPr bwMode="auto">
          <a:xfrm>
            <a:off x="762000" y="16846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cname</a:t>
            </a:r>
          </a:p>
        </p:txBody>
      </p:sp>
      <p:sp>
        <p:nvSpPr>
          <p:cNvPr id="10" name="Text Box 9">
            <a:extLst>
              <a:ext uri="{FF2B5EF4-FFF2-40B4-BE49-F238E27FC236}">
                <a16:creationId xmlns:a16="http://schemas.microsoft.com/office/drawing/2014/main" id="{26804CB3-E8BC-A307-A100-D79E0320D5BE}"/>
              </a:ext>
            </a:extLst>
          </p:cNvPr>
          <p:cNvSpPr txBox="1">
            <a:spLocks noChangeArrowheads="1"/>
          </p:cNvSpPr>
          <p:nvPr/>
        </p:nvSpPr>
        <p:spPr bwMode="auto">
          <a:xfrm>
            <a:off x="1600200" y="16988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a:t>
            </a:r>
          </a:p>
        </p:txBody>
      </p:sp>
      <p:sp>
        <p:nvSpPr>
          <p:cNvPr id="11" name="Text Box 10">
            <a:extLst>
              <a:ext uri="{FF2B5EF4-FFF2-40B4-BE49-F238E27FC236}">
                <a16:creationId xmlns:a16="http://schemas.microsoft.com/office/drawing/2014/main" id="{1AEEBD6B-3AB7-1B07-DA9B-2C6A6816CB00}"/>
              </a:ext>
            </a:extLst>
          </p:cNvPr>
          <p:cNvSpPr txBox="1">
            <a:spLocks noChangeArrowheads="1"/>
          </p:cNvSpPr>
          <p:nvPr/>
        </p:nvSpPr>
        <p:spPr bwMode="auto">
          <a:xfrm>
            <a:off x="2165226" y="16846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address</a:t>
            </a:r>
          </a:p>
        </p:txBody>
      </p:sp>
      <p:sp>
        <p:nvSpPr>
          <p:cNvPr id="12" name="Line 11">
            <a:extLst>
              <a:ext uri="{FF2B5EF4-FFF2-40B4-BE49-F238E27FC236}">
                <a16:creationId xmlns:a16="http://schemas.microsoft.com/office/drawing/2014/main" id="{57D86636-BB53-7D17-AAAB-9B7AF1C70940}"/>
              </a:ext>
            </a:extLst>
          </p:cNvPr>
          <p:cNvSpPr>
            <a:spLocks noChangeShapeType="1"/>
          </p:cNvSpPr>
          <p:nvPr/>
        </p:nvSpPr>
        <p:spPr bwMode="auto">
          <a:xfrm>
            <a:off x="685800" y="2065600"/>
            <a:ext cx="2357942"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 name="Line 12">
            <a:extLst>
              <a:ext uri="{FF2B5EF4-FFF2-40B4-BE49-F238E27FC236}">
                <a16:creationId xmlns:a16="http://schemas.microsoft.com/office/drawing/2014/main" id="{39553C5B-9F94-9554-D665-A01F6F9E6A24}"/>
              </a:ext>
            </a:extLst>
          </p:cNvPr>
          <p:cNvSpPr>
            <a:spLocks noChangeShapeType="1"/>
          </p:cNvSpPr>
          <p:nvPr/>
        </p:nvSpPr>
        <p:spPr bwMode="auto">
          <a:xfrm flipH="1">
            <a:off x="1513642" y="1608400"/>
            <a:ext cx="10358" cy="8683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4" name="Line 13">
            <a:extLst>
              <a:ext uri="{FF2B5EF4-FFF2-40B4-BE49-F238E27FC236}">
                <a16:creationId xmlns:a16="http://schemas.microsoft.com/office/drawing/2014/main" id="{E67F22DF-2DC4-202B-9931-CC2B1EDF6C0E}"/>
              </a:ext>
            </a:extLst>
          </p:cNvPr>
          <p:cNvSpPr>
            <a:spLocks noChangeShapeType="1"/>
          </p:cNvSpPr>
          <p:nvPr/>
        </p:nvSpPr>
        <p:spPr bwMode="auto">
          <a:xfrm flipH="1">
            <a:off x="2067757" y="1608400"/>
            <a:ext cx="1" cy="8683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2" name="Rectangle 21">
            <a:extLst>
              <a:ext uri="{FF2B5EF4-FFF2-40B4-BE49-F238E27FC236}">
                <a16:creationId xmlns:a16="http://schemas.microsoft.com/office/drawing/2014/main" id="{8DEF2258-3507-06FE-0527-15639FE19962}"/>
              </a:ext>
            </a:extLst>
          </p:cNvPr>
          <p:cNvSpPr>
            <a:spLocks noChangeArrowheads="1"/>
          </p:cNvSpPr>
          <p:nvPr/>
        </p:nvSpPr>
        <p:spPr bwMode="auto">
          <a:xfrm>
            <a:off x="3288508" y="1608399"/>
            <a:ext cx="2945187" cy="868357"/>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3" name="Text Box 22">
            <a:extLst>
              <a:ext uri="{FF2B5EF4-FFF2-40B4-BE49-F238E27FC236}">
                <a16:creationId xmlns:a16="http://schemas.microsoft.com/office/drawing/2014/main" id="{0BFF31B7-E142-944A-DE9C-2B593F19B8F1}"/>
              </a:ext>
            </a:extLst>
          </p:cNvPr>
          <p:cNvSpPr txBox="1">
            <a:spLocks noChangeArrowheads="1"/>
          </p:cNvSpPr>
          <p:nvPr/>
        </p:nvSpPr>
        <p:spPr bwMode="auto">
          <a:xfrm>
            <a:off x="4320171" y="1681981"/>
            <a:ext cx="6160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C#</a:t>
            </a:r>
          </a:p>
        </p:txBody>
      </p:sp>
      <p:sp>
        <p:nvSpPr>
          <p:cNvPr id="24" name="Text Box 23">
            <a:extLst>
              <a:ext uri="{FF2B5EF4-FFF2-40B4-BE49-F238E27FC236}">
                <a16:creationId xmlns:a16="http://schemas.microsoft.com/office/drawing/2014/main" id="{E06D426A-7E31-F34B-9E60-58A7B9CB8F09}"/>
              </a:ext>
            </a:extLst>
          </p:cNvPr>
          <p:cNvSpPr txBox="1">
            <a:spLocks noChangeArrowheads="1"/>
          </p:cNvSpPr>
          <p:nvPr/>
        </p:nvSpPr>
        <p:spPr bwMode="auto">
          <a:xfrm>
            <a:off x="3440908" y="1681981"/>
            <a:ext cx="8470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order#</a:t>
            </a:r>
          </a:p>
        </p:txBody>
      </p:sp>
      <p:sp>
        <p:nvSpPr>
          <p:cNvPr id="25" name="Text Box 24">
            <a:extLst>
              <a:ext uri="{FF2B5EF4-FFF2-40B4-BE49-F238E27FC236}">
                <a16:creationId xmlns:a16="http://schemas.microsoft.com/office/drawing/2014/main" id="{0117AB33-3216-D84E-F25E-2F03D0A97DD4}"/>
              </a:ext>
            </a:extLst>
          </p:cNvPr>
          <p:cNvSpPr txBox="1">
            <a:spLocks noChangeArrowheads="1"/>
          </p:cNvSpPr>
          <p:nvPr/>
        </p:nvSpPr>
        <p:spPr bwMode="auto">
          <a:xfrm>
            <a:off x="4923331" y="1681981"/>
            <a:ext cx="6160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P#</a:t>
            </a:r>
          </a:p>
        </p:txBody>
      </p:sp>
      <p:sp>
        <p:nvSpPr>
          <p:cNvPr id="26" name="Text Box 25">
            <a:extLst>
              <a:ext uri="{FF2B5EF4-FFF2-40B4-BE49-F238E27FC236}">
                <a16:creationId xmlns:a16="http://schemas.microsoft.com/office/drawing/2014/main" id="{B3D9BF28-EF04-F2C9-F947-0E074C164E95}"/>
              </a:ext>
            </a:extLst>
          </p:cNvPr>
          <p:cNvSpPr txBox="1">
            <a:spLocks noChangeArrowheads="1"/>
          </p:cNvSpPr>
          <p:nvPr/>
        </p:nvSpPr>
        <p:spPr bwMode="auto">
          <a:xfrm>
            <a:off x="5386971" y="1681981"/>
            <a:ext cx="10010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quantity</a:t>
            </a:r>
          </a:p>
        </p:txBody>
      </p:sp>
      <p:sp>
        <p:nvSpPr>
          <p:cNvPr id="27" name="Line 26">
            <a:extLst>
              <a:ext uri="{FF2B5EF4-FFF2-40B4-BE49-F238E27FC236}">
                <a16:creationId xmlns:a16="http://schemas.microsoft.com/office/drawing/2014/main" id="{FDDA599A-0708-B569-4AB1-01348F81D084}"/>
              </a:ext>
            </a:extLst>
          </p:cNvPr>
          <p:cNvSpPr>
            <a:spLocks noChangeShapeType="1"/>
          </p:cNvSpPr>
          <p:nvPr/>
        </p:nvSpPr>
        <p:spPr bwMode="auto">
          <a:xfrm flipV="1">
            <a:off x="3288508" y="2061155"/>
            <a:ext cx="2945187" cy="444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8" name="Line 27">
            <a:extLst>
              <a:ext uri="{FF2B5EF4-FFF2-40B4-BE49-F238E27FC236}">
                <a16:creationId xmlns:a16="http://schemas.microsoft.com/office/drawing/2014/main" id="{AE339F77-3C8F-6F0C-E564-AAA51E9BF1D7}"/>
              </a:ext>
            </a:extLst>
          </p:cNvPr>
          <p:cNvSpPr>
            <a:spLocks noChangeShapeType="1"/>
          </p:cNvSpPr>
          <p:nvPr/>
        </p:nvSpPr>
        <p:spPr bwMode="auto">
          <a:xfrm>
            <a:off x="4279109" y="1608399"/>
            <a:ext cx="0" cy="868357"/>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9" name="Line 28">
            <a:extLst>
              <a:ext uri="{FF2B5EF4-FFF2-40B4-BE49-F238E27FC236}">
                <a16:creationId xmlns:a16="http://schemas.microsoft.com/office/drawing/2014/main" id="{18E1762D-4027-8B1F-9FDC-0C3A4CC19E5B}"/>
              </a:ext>
            </a:extLst>
          </p:cNvPr>
          <p:cNvSpPr>
            <a:spLocks noChangeShapeType="1"/>
          </p:cNvSpPr>
          <p:nvPr/>
        </p:nvSpPr>
        <p:spPr bwMode="auto">
          <a:xfrm>
            <a:off x="4853571" y="1608399"/>
            <a:ext cx="0" cy="868357"/>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0" name="Line 29">
            <a:extLst>
              <a:ext uri="{FF2B5EF4-FFF2-40B4-BE49-F238E27FC236}">
                <a16:creationId xmlns:a16="http://schemas.microsoft.com/office/drawing/2014/main" id="{CB4819FB-2E7D-3949-ACBB-080BB7BDC0F7}"/>
              </a:ext>
            </a:extLst>
          </p:cNvPr>
          <p:cNvSpPr>
            <a:spLocks noChangeShapeType="1"/>
          </p:cNvSpPr>
          <p:nvPr/>
        </p:nvSpPr>
        <p:spPr bwMode="auto">
          <a:xfrm>
            <a:off x="5386971" y="1608399"/>
            <a:ext cx="0" cy="868357"/>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1" name="Text Box 4">
            <a:extLst>
              <a:ext uri="{FF2B5EF4-FFF2-40B4-BE49-F238E27FC236}">
                <a16:creationId xmlns:a16="http://schemas.microsoft.com/office/drawing/2014/main" id="{F09464C2-07B3-40DA-2030-1CF250F18C67}"/>
              </a:ext>
            </a:extLst>
          </p:cNvPr>
          <p:cNvSpPr txBox="1">
            <a:spLocks noChangeArrowheads="1"/>
          </p:cNvSpPr>
          <p:nvPr/>
        </p:nvSpPr>
        <p:spPr bwMode="auto">
          <a:xfrm>
            <a:off x="6432426" y="1219200"/>
            <a:ext cx="1524000" cy="369332"/>
          </a:xfrm>
          <a:prstGeom prst="rect">
            <a:avLst/>
          </a:prstGeom>
          <a:noFill/>
          <a:ln>
            <a:noFill/>
          </a:ln>
          <a:effectLst/>
        </p:spPr>
        <p:txBody>
          <a:bodyPr>
            <a:spAutoFit/>
          </a:bodyPr>
          <a:lstStyle/>
          <a:p>
            <a:pPr>
              <a:spcBef>
                <a:spcPct val="50000"/>
              </a:spcBef>
              <a:defRPr/>
            </a:pPr>
            <a:r>
              <a:rPr lang="en-US" altLang="en-US" dirty="0">
                <a:effectLst>
                  <a:outerShdw blurRad="38100" dist="38100" dir="2700000" algn="tl">
                    <a:srgbClr val="C0C0C0"/>
                  </a:outerShdw>
                </a:effectLst>
              </a:rPr>
              <a:t>Parts</a:t>
            </a:r>
          </a:p>
        </p:txBody>
      </p:sp>
      <p:sp>
        <p:nvSpPr>
          <p:cNvPr id="32" name="Rectangle 31">
            <a:extLst>
              <a:ext uri="{FF2B5EF4-FFF2-40B4-BE49-F238E27FC236}">
                <a16:creationId xmlns:a16="http://schemas.microsoft.com/office/drawing/2014/main" id="{934AE8D6-48C1-A684-90D6-044BA77C07C5}"/>
              </a:ext>
            </a:extLst>
          </p:cNvPr>
          <p:cNvSpPr>
            <a:spLocks noChangeArrowheads="1"/>
          </p:cNvSpPr>
          <p:nvPr/>
        </p:nvSpPr>
        <p:spPr bwMode="auto">
          <a:xfrm>
            <a:off x="6477000" y="1600200"/>
            <a:ext cx="2357942" cy="868362"/>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Text Box 8">
            <a:extLst>
              <a:ext uri="{FF2B5EF4-FFF2-40B4-BE49-F238E27FC236}">
                <a16:creationId xmlns:a16="http://schemas.microsoft.com/office/drawing/2014/main" id="{49AE3DB1-9371-C8CA-148F-6D55C857F4FE}"/>
              </a:ext>
            </a:extLst>
          </p:cNvPr>
          <p:cNvSpPr txBox="1">
            <a:spLocks noChangeArrowheads="1"/>
          </p:cNvSpPr>
          <p:nvPr/>
        </p:nvSpPr>
        <p:spPr bwMode="auto">
          <a:xfrm>
            <a:off x="6553200" y="16764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err="1">
                <a:solidFill>
                  <a:srgbClr val="FD020F"/>
                </a:solidFill>
                <a:latin typeface="Arial Narrow" panose="020B0606020202030204" pitchFamily="34" charset="0"/>
              </a:rPr>
              <a:t>pname</a:t>
            </a:r>
            <a:endParaRPr lang="en-US" altLang="en-US" sz="1800" b="0" dirty="0">
              <a:solidFill>
                <a:srgbClr val="FD020F"/>
              </a:solidFill>
              <a:latin typeface="Arial Narrow" panose="020B0606020202030204" pitchFamily="34" charset="0"/>
            </a:endParaRPr>
          </a:p>
        </p:txBody>
      </p:sp>
      <p:sp>
        <p:nvSpPr>
          <p:cNvPr id="34" name="Text Box 9">
            <a:extLst>
              <a:ext uri="{FF2B5EF4-FFF2-40B4-BE49-F238E27FC236}">
                <a16:creationId xmlns:a16="http://schemas.microsoft.com/office/drawing/2014/main" id="{7FBAC6C2-DE7B-8CCF-AC66-A8F9F9740CAD}"/>
              </a:ext>
            </a:extLst>
          </p:cNvPr>
          <p:cNvSpPr txBox="1">
            <a:spLocks noChangeArrowheads="1"/>
          </p:cNvSpPr>
          <p:nvPr/>
        </p:nvSpPr>
        <p:spPr bwMode="auto">
          <a:xfrm>
            <a:off x="7391400" y="16906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P#</a:t>
            </a:r>
          </a:p>
        </p:txBody>
      </p:sp>
      <p:sp>
        <p:nvSpPr>
          <p:cNvPr id="35" name="Text Box 10">
            <a:extLst>
              <a:ext uri="{FF2B5EF4-FFF2-40B4-BE49-F238E27FC236}">
                <a16:creationId xmlns:a16="http://schemas.microsoft.com/office/drawing/2014/main" id="{698A4A8C-84EA-6B75-F91D-648E7447873A}"/>
              </a:ext>
            </a:extLst>
          </p:cNvPr>
          <p:cNvSpPr txBox="1">
            <a:spLocks noChangeArrowheads="1"/>
          </p:cNvSpPr>
          <p:nvPr/>
        </p:nvSpPr>
        <p:spPr bwMode="auto">
          <a:xfrm>
            <a:off x="7956426" y="1676400"/>
            <a:ext cx="718901"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cost</a:t>
            </a:r>
          </a:p>
        </p:txBody>
      </p:sp>
      <p:sp>
        <p:nvSpPr>
          <p:cNvPr id="36" name="Line 11">
            <a:extLst>
              <a:ext uri="{FF2B5EF4-FFF2-40B4-BE49-F238E27FC236}">
                <a16:creationId xmlns:a16="http://schemas.microsoft.com/office/drawing/2014/main" id="{807AE5B9-CEA2-1628-6DC5-10D2D5843163}"/>
              </a:ext>
            </a:extLst>
          </p:cNvPr>
          <p:cNvSpPr>
            <a:spLocks noChangeShapeType="1"/>
          </p:cNvSpPr>
          <p:nvPr/>
        </p:nvSpPr>
        <p:spPr bwMode="auto">
          <a:xfrm>
            <a:off x="6477000" y="2057400"/>
            <a:ext cx="2357942"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7" name="Line 12">
            <a:extLst>
              <a:ext uri="{FF2B5EF4-FFF2-40B4-BE49-F238E27FC236}">
                <a16:creationId xmlns:a16="http://schemas.microsoft.com/office/drawing/2014/main" id="{8D3784BB-2751-3E52-A2FF-907B8A3CDAC4}"/>
              </a:ext>
            </a:extLst>
          </p:cNvPr>
          <p:cNvSpPr>
            <a:spLocks noChangeShapeType="1"/>
          </p:cNvSpPr>
          <p:nvPr/>
        </p:nvSpPr>
        <p:spPr bwMode="auto">
          <a:xfrm flipH="1">
            <a:off x="7304842" y="1600200"/>
            <a:ext cx="10358" cy="8683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8" name="Line 13">
            <a:extLst>
              <a:ext uri="{FF2B5EF4-FFF2-40B4-BE49-F238E27FC236}">
                <a16:creationId xmlns:a16="http://schemas.microsoft.com/office/drawing/2014/main" id="{FDA90C90-1130-669A-A2B4-DFB05C556E4D}"/>
              </a:ext>
            </a:extLst>
          </p:cNvPr>
          <p:cNvSpPr>
            <a:spLocks noChangeShapeType="1"/>
          </p:cNvSpPr>
          <p:nvPr/>
        </p:nvSpPr>
        <p:spPr bwMode="auto">
          <a:xfrm flipH="1">
            <a:off x="7858957" y="1600200"/>
            <a:ext cx="1" cy="8683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9" name="Text Box 4">
            <a:extLst>
              <a:ext uri="{FF2B5EF4-FFF2-40B4-BE49-F238E27FC236}">
                <a16:creationId xmlns:a16="http://schemas.microsoft.com/office/drawing/2014/main" id="{F122117F-CB38-FAB9-0D1B-F25EC3444811}"/>
              </a:ext>
            </a:extLst>
          </p:cNvPr>
          <p:cNvSpPr txBox="1">
            <a:spLocks noChangeArrowheads="1"/>
          </p:cNvSpPr>
          <p:nvPr/>
        </p:nvSpPr>
        <p:spPr bwMode="auto">
          <a:xfrm>
            <a:off x="1115257" y="2893045"/>
            <a:ext cx="1524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Customer</a:t>
            </a:r>
          </a:p>
        </p:txBody>
      </p:sp>
      <p:sp>
        <p:nvSpPr>
          <p:cNvPr id="70" name="Text Box 5">
            <a:extLst>
              <a:ext uri="{FF2B5EF4-FFF2-40B4-BE49-F238E27FC236}">
                <a16:creationId xmlns:a16="http://schemas.microsoft.com/office/drawing/2014/main" id="{9EAEAD1E-601F-F73F-D204-AA4F9E63624D}"/>
              </a:ext>
            </a:extLst>
          </p:cNvPr>
          <p:cNvSpPr txBox="1">
            <a:spLocks noChangeArrowheads="1"/>
          </p:cNvSpPr>
          <p:nvPr/>
        </p:nvSpPr>
        <p:spPr bwMode="auto">
          <a:xfrm>
            <a:off x="2286000" y="4643654"/>
            <a:ext cx="10668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Orders</a:t>
            </a:r>
          </a:p>
        </p:txBody>
      </p:sp>
      <p:sp>
        <p:nvSpPr>
          <p:cNvPr id="71" name="Text Box 6">
            <a:extLst>
              <a:ext uri="{FF2B5EF4-FFF2-40B4-BE49-F238E27FC236}">
                <a16:creationId xmlns:a16="http://schemas.microsoft.com/office/drawing/2014/main" id="{79EFE86F-D742-280A-A47E-A6E041771C8A}"/>
              </a:ext>
            </a:extLst>
          </p:cNvPr>
          <p:cNvSpPr txBox="1">
            <a:spLocks noChangeArrowheads="1"/>
          </p:cNvSpPr>
          <p:nvPr/>
        </p:nvSpPr>
        <p:spPr bwMode="auto">
          <a:xfrm>
            <a:off x="5382457" y="2816845"/>
            <a:ext cx="10668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Parts</a:t>
            </a:r>
          </a:p>
        </p:txBody>
      </p:sp>
      <p:sp>
        <p:nvSpPr>
          <p:cNvPr id="72" name="Rectangle 7">
            <a:extLst>
              <a:ext uri="{FF2B5EF4-FFF2-40B4-BE49-F238E27FC236}">
                <a16:creationId xmlns:a16="http://schemas.microsoft.com/office/drawing/2014/main" id="{14EA4E7A-F2B6-13F7-D6D9-325199CE59D7}"/>
              </a:ext>
            </a:extLst>
          </p:cNvPr>
          <p:cNvSpPr>
            <a:spLocks noChangeArrowheads="1"/>
          </p:cNvSpPr>
          <p:nvPr/>
        </p:nvSpPr>
        <p:spPr bwMode="auto">
          <a:xfrm>
            <a:off x="1115257" y="3274045"/>
            <a:ext cx="3200400" cy="1309685"/>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3" name="Text Box 8">
            <a:extLst>
              <a:ext uri="{FF2B5EF4-FFF2-40B4-BE49-F238E27FC236}">
                <a16:creationId xmlns:a16="http://schemas.microsoft.com/office/drawing/2014/main" id="{187A7DE4-F1DE-BC1E-AD39-C7247AD2FD1B}"/>
              </a:ext>
            </a:extLst>
          </p:cNvPr>
          <p:cNvSpPr txBox="1">
            <a:spLocks noChangeArrowheads="1"/>
          </p:cNvSpPr>
          <p:nvPr/>
        </p:nvSpPr>
        <p:spPr bwMode="auto">
          <a:xfrm>
            <a:off x="1115257" y="3197845"/>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cname</a:t>
            </a:r>
          </a:p>
        </p:txBody>
      </p:sp>
      <p:sp>
        <p:nvSpPr>
          <p:cNvPr id="74" name="Text Box 9">
            <a:extLst>
              <a:ext uri="{FF2B5EF4-FFF2-40B4-BE49-F238E27FC236}">
                <a16:creationId xmlns:a16="http://schemas.microsoft.com/office/drawing/2014/main" id="{18A2C78E-8700-7632-3292-0116A6C20B4A}"/>
              </a:ext>
            </a:extLst>
          </p:cNvPr>
          <p:cNvSpPr txBox="1">
            <a:spLocks noChangeArrowheads="1"/>
          </p:cNvSpPr>
          <p:nvPr/>
        </p:nvSpPr>
        <p:spPr bwMode="auto">
          <a:xfrm>
            <a:off x="2182057" y="321213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a:t>
            </a:r>
          </a:p>
        </p:txBody>
      </p:sp>
      <p:sp>
        <p:nvSpPr>
          <p:cNvPr id="75" name="Text Box 10">
            <a:extLst>
              <a:ext uri="{FF2B5EF4-FFF2-40B4-BE49-F238E27FC236}">
                <a16:creationId xmlns:a16="http://schemas.microsoft.com/office/drawing/2014/main" id="{576DCB50-DCA4-D8F3-D6B3-811890E2F52B}"/>
              </a:ext>
            </a:extLst>
          </p:cNvPr>
          <p:cNvSpPr txBox="1">
            <a:spLocks noChangeArrowheads="1"/>
          </p:cNvSpPr>
          <p:nvPr/>
        </p:nvSpPr>
        <p:spPr bwMode="auto">
          <a:xfrm>
            <a:off x="3020257" y="3197845"/>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address</a:t>
            </a:r>
          </a:p>
        </p:txBody>
      </p:sp>
      <p:sp>
        <p:nvSpPr>
          <p:cNvPr id="76" name="Line 11">
            <a:extLst>
              <a:ext uri="{FF2B5EF4-FFF2-40B4-BE49-F238E27FC236}">
                <a16:creationId xmlns:a16="http://schemas.microsoft.com/office/drawing/2014/main" id="{DC97E4D9-D871-5DD5-26B3-8699295B38B7}"/>
              </a:ext>
            </a:extLst>
          </p:cNvPr>
          <p:cNvSpPr>
            <a:spLocks noChangeShapeType="1"/>
          </p:cNvSpPr>
          <p:nvPr/>
        </p:nvSpPr>
        <p:spPr bwMode="auto">
          <a:xfrm>
            <a:off x="1115257" y="3578845"/>
            <a:ext cx="3200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 name="Line 12">
            <a:extLst>
              <a:ext uri="{FF2B5EF4-FFF2-40B4-BE49-F238E27FC236}">
                <a16:creationId xmlns:a16="http://schemas.microsoft.com/office/drawing/2014/main" id="{0B6D6C0C-F636-AFE4-9AE8-342737F07199}"/>
              </a:ext>
            </a:extLst>
          </p:cNvPr>
          <p:cNvSpPr>
            <a:spLocks noChangeShapeType="1"/>
          </p:cNvSpPr>
          <p:nvPr/>
        </p:nvSpPr>
        <p:spPr bwMode="auto">
          <a:xfrm>
            <a:off x="1877257" y="3274045"/>
            <a:ext cx="0" cy="130968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8" name="Rectangle 14">
            <a:extLst>
              <a:ext uri="{FF2B5EF4-FFF2-40B4-BE49-F238E27FC236}">
                <a16:creationId xmlns:a16="http://schemas.microsoft.com/office/drawing/2014/main" id="{62E50908-FB94-E30B-9222-51979F029EE3}"/>
              </a:ext>
            </a:extLst>
          </p:cNvPr>
          <p:cNvSpPr>
            <a:spLocks noChangeArrowheads="1"/>
          </p:cNvSpPr>
          <p:nvPr/>
        </p:nvSpPr>
        <p:spPr bwMode="auto">
          <a:xfrm>
            <a:off x="5077657" y="3274045"/>
            <a:ext cx="3124200" cy="1309687"/>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9" name="Text Box 15">
            <a:extLst>
              <a:ext uri="{FF2B5EF4-FFF2-40B4-BE49-F238E27FC236}">
                <a16:creationId xmlns:a16="http://schemas.microsoft.com/office/drawing/2014/main" id="{15693ADF-A938-5951-743F-5C5F58F95C7E}"/>
              </a:ext>
            </a:extLst>
          </p:cNvPr>
          <p:cNvSpPr txBox="1">
            <a:spLocks noChangeArrowheads="1"/>
          </p:cNvSpPr>
          <p:nvPr/>
        </p:nvSpPr>
        <p:spPr bwMode="auto">
          <a:xfrm>
            <a:off x="5153857" y="3197845"/>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P#</a:t>
            </a:r>
          </a:p>
        </p:txBody>
      </p:sp>
      <p:sp>
        <p:nvSpPr>
          <p:cNvPr id="80" name="Text Box 16">
            <a:extLst>
              <a:ext uri="{FF2B5EF4-FFF2-40B4-BE49-F238E27FC236}">
                <a16:creationId xmlns:a16="http://schemas.microsoft.com/office/drawing/2014/main" id="{BB6395A4-ED28-6458-6782-69BE741F1185}"/>
              </a:ext>
            </a:extLst>
          </p:cNvPr>
          <p:cNvSpPr txBox="1">
            <a:spLocks noChangeArrowheads="1"/>
          </p:cNvSpPr>
          <p:nvPr/>
        </p:nvSpPr>
        <p:spPr bwMode="auto">
          <a:xfrm>
            <a:off x="5992057" y="3197845"/>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pname</a:t>
            </a:r>
          </a:p>
        </p:txBody>
      </p:sp>
      <p:sp>
        <p:nvSpPr>
          <p:cNvPr id="81" name="Text Box 17">
            <a:extLst>
              <a:ext uri="{FF2B5EF4-FFF2-40B4-BE49-F238E27FC236}">
                <a16:creationId xmlns:a16="http://schemas.microsoft.com/office/drawing/2014/main" id="{0E44F7A1-8219-B6F2-7C61-0508CE5A0BBD}"/>
              </a:ext>
            </a:extLst>
          </p:cNvPr>
          <p:cNvSpPr txBox="1">
            <a:spLocks noChangeArrowheads="1"/>
          </p:cNvSpPr>
          <p:nvPr/>
        </p:nvSpPr>
        <p:spPr bwMode="auto">
          <a:xfrm>
            <a:off x="7439857" y="3197845"/>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cost</a:t>
            </a:r>
          </a:p>
        </p:txBody>
      </p:sp>
      <p:sp>
        <p:nvSpPr>
          <p:cNvPr id="82" name="Line 18">
            <a:extLst>
              <a:ext uri="{FF2B5EF4-FFF2-40B4-BE49-F238E27FC236}">
                <a16:creationId xmlns:a16="http://schemas.microsoft.com/office/drawing/2014/main" id="{9E1EBF30-9337-6D91-CDC9-709399E34DD0}"/>
              </a:ext>
            </a:extLst>
          </p:cNvPr>
          <p:cNvSpPr>
            <a:spLocks noChangeShapeType="1"/>
          </p:cNvSpPr>
          <p:nvPr/>
        </p:nvSpPr>
        <p:spPr bwMode="auto">
          <a:xfrm>
            <a:off x="5077657" y="3578845"/>
            <a:ext cx="31242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 name="Line 19">
            <a:extLst>
              <a:ext uri="{FF2B5EF4-FFF2-40B4-BE49-F238E27FC236}">
                <a16:creationId xmlns:a16="http://schemas.microsoft.com/office/drawing/2014/main" id="{DC03413F-D1BA-7041-C159-123B25B68830}"/>
              </a:ext>
            </a:extLst>
          </p:cNvPr>
          <p:cNvSpPr>
            <a:spLocks noChangeShapeType="1"/>
          </p:cNvSpPr>
          <p:nvPr/>
        </p:nvSpPr>
        <p:spPr bwMode="auto">
          <a:xfrm>
            <a:off x="5839657" y="3274045"/>
            <a:ext cx="0" cy="1309687"/>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4" name="Rectangle 21">
            <a:extLst>
              <a:ext uri="{FF2B5EF4-FFF2-40B4-BE49-F238E27FC236}">
                <a16:creationId xmlns:a16="http://schemas.microsoft.com/office/drawing/2014/main" id="{3D7E8B5C-8587-B77A-AF91-7335A4433757}"/>
              </a:ext>
            </a:extLst>
          </p:cNvPr>
          <p:cNvSpPr>
            <a:spLocks noChangeArrowheads="1"/>
          </p:cNvSpPr>
          <p:nvPr/>
        </p:nvSpPr>
        <p:spPr bwMode="auto">
          <a:xfrm>
            <a:off x="2286000" y="4953000"/>
            <a:ext cx="4953000" cy="167640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5" name="Text Box 22">
            <a:extLst>
              <a:ext uri="{FF2B5EF4-FFF2-40B4-BE49-F238E27FC236}">
                <a16:creationId xmlns:a16="http://schemas.microsoft.com/office/drawing/2014/main" id="{285F5E49-CB6B-41FB-553E-9819C07388CA}"/>
              </a:ext>
            </a:extLst>
          </p:cNvPr>
          <p:cNvSpPr txBox="1">
            <a:spLocks noChangeArrowheads="1"/>
          </p:cNvSpPr>
          <p:nvPr/>
        </p:nvSpPr>
        <p:spPr bwMode="auto">
          <a:xfrm>
            <a:off x="3657600" y="48768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C#</a:t>
            </a:r>
          </a:p>
        </p:txBody>
      </p:sp>
      <p:sp>
        <p:nvSpPr>
          <p:cNvPr id="86" name="Text Box 23">
            <a:extLst>
              <a:ext uri="{FF2B5EF4-FFF2-40B4-BE49-F238E27FC236}">
                <a16:creationId xmlns:a16="http://schemas.microsoft.com/office/drawing/2014/main" id="{E094D7B3-CDF5-0AC0-8791-F2FE384FCD76}"/>
              </a:ext>
            </a:extLst>
          </p:cNvPr>
          <p:cNvSpPr txBox="1">
            <a:spLocks noChangeArrowheads="1"/>
          </p:cNvSpPr>
          <p:nvPr/>
        </p:nvSpPr>
        <p:spPr bwMode="auto">
          <a:xfrm>
            <a:off x="2362200" y="48768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order#</a:t>
            </a:r>
          </a:p>
        </p:txBody>
      </p:sp>
      <p:sp>
        <p:nvSpPr>
          <p:cNvPr id="87" name="Text Box 24">
            <a:extLst>
              <a:ext uri="{FF2B5EF4-FFF2-40B4-BE49-F238E27FC236}">
                <a16:creationId xmlns:a16="http://schemas.microsoft.com/office/drawing/2014/main" id="{BA606E58-49DB-1ABE-6FAE-FA37D964B31A}"/>
              </a:ext>
            </a:extLst>
          </p:cNvPr>
          <p:cNvSpPr txBox="1">
            <a:spLocks noChangeArrowheads="1"/>
          </p:cNvSpPr>
          <p:nvPr/>
        </p:nvSpPr>
        <p:spPr bwMode="auto">
          <a:xfrm>
            <a:off x="4876800" y="48768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P#</a:t>
            </a:r>
          </a:p>
        </p:txBody>
      </p:sp>
      <p:sp>
        <p:nvSpPr>
          <p:cNvPr id="88" name="Text Box 25">
            <a:extLst>
              <a:ext uri="{FF2B5EF4-FFF2-40B4-BE49-F238E27FC236}">
                <a16:creationId xmlns:a16="http://schemas.microsoft.com/office/drawing/2014/main" id="{362ADD3B-599F-9B74-CD5A-319F92499EE2}"/>
              </a:ext>
            </a:extLst>
          </p:cNvPr>
          <p:cNvSpPr txBox="1">
            <a:spLocks noChangeArrowheads="1"/>
          </p:cNvSpPr>
          <p:nvPr/>
        </p:nvSpPr>
        <p:spPr bwMode="auto">
          <a:xfrm>
            <a:off x="6096000" y="48768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rgbClr val="FD020F"/>
                </a:solidFill>
                <a:latin typeface="Arial Narrow" panose="020B0606020202030204" pitchFamily="34" charset="0"/>
              </a:rPr>
              <a:t>quantity</a:t>
            </a:r>
          </a:p>
        </p:txBody>
      </p:sp>
      <p:sp>
        <p:nvSpPr>
          <p:cNvPr id="89" name="Text Box 31">
            <a:extLst>
              <a:ext uri="{FF2B5EF4-FFF2-40B4-BE49-F238E27FC236}">
                <a16:creationId xmlns:a16="http://schemas.microsoft.com/office/drawing/2014/main" id="{BD653521-A3F7-0338-74BB-A6F6E46DE710}"/>
              </a:ext>
            </a:extLst>
          </p:cNvPr>
          <p:cNvSpPr txBox="1">
            <a:spLocks noChangeArrowheads="1"/>
          </p:cNvSpPr>
          <p:nvPr/>
        </p:nvSpPr>
        <p:spPr bwMode="auto">
          <a:xfrm>
            <a:off x="1115257" y="3502645"/>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John        41256      8 Blue St., LA</a:t>
            </a:r>
            <a:endParaRPr lang="en-US" altLang="en-US" sz="1800" b="0">
              <a:solidFill>
                <a:srgbClr val="FD020F"/>
              </a:solidFill>
              <a:latin typeface="Arial Narrow" panose="020B0606020202030204" pitchFamily="34" charset="0"/>
            </a:endParaRPr>
          </a:p>
        </p:txBody>
      </p:sp>
      <p:sp>
        <p:nvSpPr>
          <p:cNvPr id="90" name="Text Box 32">
            <a:extLst>
              <a:ext uri="{FF2B5EF4-FFF2-40B4-BE49-F238E27FC236}">
                <a16:creationId xmlns:a16="http://schemas.microsoft.com/office/drawing/2014/main" id="{6C4E380D-2C62-BB3D-B756-58A49DEA978E}"/>
              </a:ext>
            </a:extLst>
          </p:cNvPr>
          <p:cNvSpPr txBox="1">
            <a:spLocks noChangeArrowheads="1"/>
          </p:cNvSpPr>
          <p:nvPr/>
        </p:nvSpPr>
        <p:spPr bwMode="auto">
          <a:xfrm>
            <a:off x="1115257" y="3821733"/>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Mary        56437      6 Red Ave, SF</a:t>
            </a:r>
            <a:endParaRPr lang="en-US" altLang="en-US" sz="1800" b="0">
              <a:solidFill>
                <a:srgbClr val="FD020F"/>
              </a:solidFill>
              <a:latin typeface="Arial Narrow" panose="020B0606020202030204" pitchFamily="34" charset="0"/>
            </a:endParaRPr>
          </a:p>
        </p:txBody>
      </p:sp>
      <p:sp>
        <p:nvSpPr>
          <p:cNvPr id="91" name="Line 33">
            <a:extLst>
              <a:ext uri="{FF2B5EF4-FFF2-40B4-BE49-F238E27FC236}">
                <a16:creationId xmlns:a16="http://schemas.microsoft.com/office/drawing/2014/main" id="{704E1DF4-DA83-5619-B771-78B917908DDA}"/>
              </a:ext>
            </a:extLst>
          </p:cNvPr>
          <p:cNvSpPr>
            <a:spLocks noChangeShapeType="1"/>
          </p:cNvSpPr>
          <p:nvPr/>
        </p:nvSpPr>
        <p:spPr bwMode="auto">
          <a:xfrm>
            <a:off x="1115257" y="3883645"/>
            <a:ext cx="3200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2" name="Line 34">
            <a:extLst>
              <a:ext uri="{FF2B5EF4-FFF2-40B4-BE49-F238E27FC236}">
                <a16:creationId xmlns:a16="http://schemas.microsoft.com/office/drawing/2014/main" id="{A2C99506-95AF-08B2-74CA-AEDA1D4F87D8}"/>
              </a:ext>
            </a:extLst>
          </p:cNvPr>
          <p:cNvSpPr>
            <a:spLocks noChangeShapeType="1"/>
          </p:cNvSpPr>
          <p:nvPr/>
        </p:nvSpPr>
        <p:spPr bwMode="auto">
          <a:xfrm>
            <a:off x="1115257" y="4188445"/>
            <a:ext cx="3200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3" name="Text Box 35">
            <a:extLst>
              <a:ext uri="{FF2B5EF4-FFF2-40B4-BE49-F238E27FC236}">
                <a16:creationId xmlns:a16="http://schemas.microsoft.com/office/drawing/2014/main" id="{E4B4FCFA-1C28-778C-EC54-A15D8DA7F706}"/>
              </a:ext>
            </a:extLst>
          </p:cNvPr>
          <p:cNvSpPr txBox="1">
            <a:spLocks noChangeArrowheads="1"/>
          </p:cNvSpPr>
          <p:nvPr/>
        </p:nvSpPr>
        <p:spPr bwMode="auto">
          <a:xfrm>
            <a:off x="1115257" y="4202733"/>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Joe          23986     12 Pink Rd, NY</a:t>
            </a:r>
            <a:endParaRPr lang="en-US" altLang="en-US" sz="1800" b="0">
              <a:solidFill>
                <a:srgbClr val="FD020F"/>
              </a:solidFill>
              <a:latin typeface="Arial Narrow" panose="020B0606020202030204" pitchFamily="34" charset="0"/>
            </a:endParaRPr>
          </a:p>
        </p:txBody>
      </p:sp>
      <p:sp>
        <p:nvSpPr>
          <p:cNvPr id="94" name="Line 36">
            <a:extLst>
              <a:ext uri="{FF2B5EF4-FFF2-40B4-BE49-F238E27FC236}">
                <a16:creationId xmlns:a16="http://schemas.microsoft.com/office/drawing/2014/main" id="{1526D938-2629-6D87-465E-003381E89B43}"/>
              </a:ext>
            </a:extLst>
          </p:cNvPr>
          <p:cNvSpPr>
            <a:spLocks noChangeShapeType="1"/>
          </p:cNvSpPr>
          <p:nvPr/>
        </p:nvSpPr>
        <p:spPr bwMode="auto">
          <a:xfrm>
            <a:off x="2715457" y="3274045"/>
            <a:ext cx="0" cy="130968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5" name="Text Box 37">
            <a:extLst>
              <a:ext uri="{FF2B5EF4-FFF2-40B4-BE49-F238E27FC236}">
                <a16:creationId xmlns:a16="http://schemas.microsoft.com/office/drawing/2014/main" id="{AF032B93-818D-9663-13A5-2ACA9A1F4534}"/>
              </a:ext>
            </a:extLst>
          </p:cNvPr>
          <p:cNvSpPr txBox="1">
            <a:spLocks noChangeArrowheads="1"/>
          </p:cNvSpPr>
          <p:nvPr/>
        </p:nvSpPr>
        <p:spPr bwMode="auto">
          <a:xfrm>
            <a:off x="5077657" y="3578845"/>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chemeClr val="tx1"/>
                </a:solidFill>
                <a:latin typeface="Arial Narrow" panose="020B0606020202030204" pitchFamily="34" charset="0"/>
              </a:rPr>
              <a:t>301            widget               25,000</a:t>
            </a:r>
            <a:endParaRPr lang="en-US" altLang="en-US" sz="1800" b="0" dirty="0">
              <a:solidFill>
                <a:srgbClr val="FD020F"/>
              </a:solidFill>
              <a:latin typeface="Arial Narrow" panose="020B0606020202030204" pitchFamily="34" charset="0"/>
            </a:endParaRPr>
          </a:p>
        </p:txBody>
      </p:sp>
      <p:sp>
        <p:nvSpPr>
          <p:cNvPr id="96" name="Text Box 38">
            <a:extLst>
              <a:ext uri="{FF2B5EF4-FFF2-40B4-BE49-F238E27FC236}">
                <a16:creationId xmlns:a16="http://schemas.microsoft.com/office/drawing/2014/main" id="{66522548-CA53-2D1A-BF99-923F6B563DBF}"/>
              </a:ext>
            </a:extLst>
          </p:cNvPr>
          <p:cNvSpPr txBox="1">
            <a:spLocks noChangeArrowheads="1"/>
          </p:cNvSpPr>
          <p:nvPr/>
        </p:nvSpPr>
        <p:spPr bwMode="auto">
          <a:xfrm>
            <a:off x="5077657" y="3897933"/>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111            gadget               17,500</a:t>
            </a:r>
            <a:endParaRPr lang="en-US" altLang="en-US" sz="1800" b="0">
              <a:solidFill>
                <a:srgbClr val="FD020F"/>
              </a:solidFill>
              <a:latin typeface="Arial Narrow" panose="020B0606020202030204" pitchFamily="34" charset="0"/>
            </a:endParaRPr>
          </a:p>
        </p:txBody>
      </p:sp>
      <p:sp>
        <p:nvSpPr>
          <p:cNvPr id="97" name="Text Box 39">
            <a:extLst>
              <a:ext uri="{FF2B5EF4-FFF2-40B4-BE49-F238E27FC236}">
                <a16:creationId xmlns:a16="http://schemas.microsoft.com/office/drawing/2014/main" id="{2D1BAF5C-67F1-0C3C-B4F1-F2ED7D71A30B}"/>
              </a:ext>
            </a:extLst>
          </p:cNvPr>
          <p:cNvSpPr txBox="1">
            <a:spLocks noChangeArrowheads="1"/>
          </p:cNvSpPr>
          <p:nvPr/>
        </p:nvSpPr>
        <p:spPr bwMode="auto">
          <a:xfrm>
            <a:off x="5077657" y="4202733"/>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507            screw                 5,900</a:t>
            </a:r>
            <a:endParaRPr lang="en-US" altLang="en-US" sz="1800" b="0">
              <a:solidFill>
                <a:srgbClr val="FD020F"/>
              </a:solidFill>
              <a:latin typeface="Arial Narrow" panose="020B0606020202030204" pitchFamily="34" charset="0"/>
            </a:endParaRPr>
          </a:p>
        </p:txBody>
      </p:sp>
      <p:sp>
        <p:nvSpPr>
          <p:cNvPr id="98" name="Line 40">
            <a:extLst>
              <a:ext uri="{FF2B5EF4-FFF2-40B4-BE49-F238E27FC236}">
                <a16:creationId xmlns:a16="http://schemas.microsoft.com/office/drawing/2014/main" id="{C4C234EF-1AB3-3555-07B4-77BA8CBED8C1}"/>
              </a:ext>
            </a:extLst>
          </p:cNvPr>
          <p:cNvSpPr>
            <a:spLocks noChangeShapeType="1"/>
          </p:cNvSpPr>
          <p:nvPr/>
        </p:nvSpPr>
        <p:spPr bwMode="auto">
          <a:xfrm>
            <a:off x="5077657" y="3959845"/>
            <a:ext cx="31242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9" name="Line 41">
            <a:extLst>
              <a:ext uri="{FF2B5EF4-FFF2-40B4-BE49-F238E27FC236}">
                <a16:creationId xmlns:a16="http://schemas.microsoft.com/office/drawing/2014/main" id="{17617895-528E-46DA-8097-46C52F260ABD}"/>
              </a:ext>
            </a:extLst>
          </p:cNvPr>
          <p:cNvSpPr>
            <a:spLocks noChangeShapeType="1"/>
          </p:cNvSpPr>
          <p:nvPr/>
        </p:nvSpPr>
        <p:spPr bwMode="auto">
          <a:xfrm>
            <a:off x="5077657" y="4264645"/>
            <a:ext cx="31242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0" name="Line 42">
            <a:extLst>
              <a:ext uri="{FF2B5EF4-FFF2-40B4-BE49-F238E27FC236}">
                <a16:creationId xmlns:a16="http://schemas.microsoft.com/office/drawing/2014/main" id="{419C1C5E-7CC7-4D72-1B0D-70053737A91F}"/>
              </a:ext>
            </a:extLst>
          </p:cNvPr>
          <p:cNvSpPr>
            <a:spLocks noChangeShapeType="1"/>
          </p:cNvSpPr>
          <p:nvPr/>
        </p:nvSpPr>
        <p:spPr bwMode="auto">
          <a:xfrm flipH="1">
            <a:off x="7058856" y="3274045"/>
            <a:ext cx="1" cy="12954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1" name="Line 43">
            <a:extLst>
              <a:ext uri="{FF2B5EF4-FFF2-40B4-BE49-F238E27FC236}">
                <a16:creationId xmlns:a16="http://schemas.microsoft.com/office/drawing/2014/main" id="{09B213E9-3779-F862-2FF6-E1D1BD437BD7}"/>
              </a:ext>
            </a:extLst>
          </p:cNvPr>
          <p:cNvSpPr>
            <a:spLocks noChangeShapeType="1"/>
          </p:cNvSpPr>
          <p:nvPr/>
        </p:nvSpPr>
        <p:spPr bwMode="auto">
          <a:xfrm>
            <a:off x="2286000" y="5257800"/>
            <a:ext cx="49530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2" name="Text Box 44">
            <a:extLst>
              <a:ext uri="{FF2B5EF4-FFF2-40B4-BE49-F238E27FC236}">
                <a16:creationId xmlns:a16="http://schemas.microsoft.com/office/drawing/2014/main" id="{CA0630EF-3913-EBFF-43C8-2776E00F885E}"/>
              </a:ext>
            </a:extLst>
          </p:cNvPr>
          <p:cNvSpPr txBox="1">
            <a:spLocks noChangeArrowheads="1"/>
          </p:cNvSpPr>
          <p:nvPr/>
        </p:nvSpPr>
        <p:spPr bwMode="auto">
          <a:xfrm>
            <a:off x="2438400" y="5257800"/>
            <a:ext cx="480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  21               41256              301                      15</a:t>
            </a:r>
            <a:endParaRPr lang="en-US" altLang="en-US" sz="1800" b="0">
              <a:solidFill>
                <a:srgbClr val="FD020F"/>
              </a:solidFill>
              <a:latin typeface="Arial Narrow" panose="020B0606020202030204" pitchFamily="34" charset="0"/>
            </a:endParaRPr>
          </a:p>
        </p:txBody>
      </p:sp>
      <p:sp>
        <p:nvSpPr>
          <p:cNvPr id="103" name="Text Box 45">
            <a:extLst>
              <a:ext uri="{FF2B5EF4-FFF2-40B4-BE49-F238E27FC236}">
                <a16:creationId xmlns:a16="http://schemas.microsoft.com/office/drawing/2014/main" id="{1C01F1FE-FF5F-5F4A-1DA7-9C0AD76951ED}"/>
              </a:ext>
            </a:extLst>
          </p:cNvPr>
          <p:cNvSpPr txBox="1">
            <a:spLocks noChangeArrowheads="1"/>
          </p:cNvSpPr>
          <p:nvPr/>
        </p:nvSpPr>
        <p:spPr bwMode="auto">
          <a:xfrm>
            <a:off x="2438400" y="5500688"/>
            <a:ext cx="480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chemeClr val="tx1"/>
                </a:solidFill>
                <a:latin typeface="Arial Narrow" panose="020B0606020202030204" pitchFamily="34" charset="0"/>
              </a:rPr>
              <a:t>  26               41256              111                        7</a:t>
            </a:r>
            <a:endParaRPr lang="en-US" altLang="en-US" sz="1800" b="0" dirty="0">
              <a:solidFill>
                <a:srgbClr val="FD020F"/>
              </a:solidFill>
              <a:latin typeface="Arial Narrow" panose="020B0606020202030204" pitchFamily="34" charset="0"/>
            </a:endParaRPr>
          </a:p>
        </p:txBody>
      </p:sp>
      <p:sp>
        <p:nvSpPr>
          <p:cNvPr id="104" name="Text Box 46">
            <a:extLst>
              <a:ext uri="{FF2B5EF4-FFF2-40B4-BE49-F238E27FC236}">
                <a16:creationId xmlns:a16="http://schemas.microsoft.com/office/drawing/2014/main" id="{F0E3E642-8199-3F7B-9052-F5ED890C7028}"/>
              </a:ext>
            </a:extLst>
          </p:cNvPr>
          <p:cNvSpPr txBox="1">
            <a:spLocks noChangeArrowheads="1"/>
          </p:cNvSpPr>
          <p:nvPr/>
        </p:nvSpPr>
        <p:spPr bwMode="auto">
          <a:xfrm>
            <a:off x="2438400" y="5729288"/>
            <a:ext cx="480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  27               56437              301                      11</a:t>
            </a:r>
            <a:endParaRPr lang="en-US" altLang="en-US" sz="1800" b="0">
              <a:solidFill>
                <a:srgbClr val="FD020F"/>
              </a:solidFill>
              <a:latin typeface="Arial Narrow" panose="020B0606020202030204" pitchFamily="34" charset="0"/>
            </a:endParaRPr>
          </a:p>
        </p:txBody>
      </p:sp>
      <p:sp>
        <p:nvSpPr>
          <p:cNvPr id="105" name="Text Box 47">
            <a:extLst>
              <a:ext uri="{FF2B5EF4-FFF2-40B4-BE49-F238E27FC236}">
                <a16:creationId xmlns:a16="http://schemas.microsoft.com/office/drawing/2014/main" id="{6C10B146-3794-219E-3654-2890871C58C8}"/>
              </a:ext>
            </a:extLst>
          </p:cNvPr>
          <p:cNvSpPr txBox="1">
            <a:spLocks noChangeArrowheads="1"/>
          </p:cNvSpPr>
          <p:nvPr/>
        </p:nvSpPr>
        <p:spPr bwMode="auto">
          <a:xfrm>
            <a:off x="2438400" y="5957888"/>
            <a:ext cx="480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solidFill>
                  <a:schemeClr val="tx1"/>
                </a:solidFill>
                <a:latin typeface="Arial Narrow" panose="020B0606020202030204" pitchFamily="34" charset="0"/>
              </a:rPr>
              <a:t>  32               23986              507                      18</a:t>
            </a:r>
            <a:endParaRPr lang="en-US" altLang="en-US" sz="1800" b="0">
              <a:solidFill>
                <a:srgbClr val="FD020F"/>
              </a:solidFill>
              <a:latin typeface="Arial Narrow" panose="020B0606020202030204" pitchFamily="34" charset="0"/>
            </a:endParaRPr>
          </a:p>
        </p:txBody>
      </p:sp>
      <p:sp>
        <p:nvSpPr>
          <p:cNvPr id="106" name="Text Box 48">
            <a:extLst>
              <a:ext uri="{FF2B5EF4-FFF2-40B4-BE49-F238E27FC236}">
                <a16:creationId xmlns:a16="http://schemas.microsoft.com/office/drawing/2014/main" id="{4C248A1E-8179-50CE-F789-9F168852D721}"/>
              </a:ext>
            </a:extLst>
          </p:cNvPr>
          <p:cNvSpPr txBox="1">
            <a:spLocks noChangeArrowheads="1"/>
          </p:cNvSpPr>
          <p:nvPr/>
        </p:nvSpPr>
        <p:spPr bwMode="auto">
          <a:xfrm>
            <a:off x="2438400" y="6262688"/>
            <a:ext cx="480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chemeClr val="tx1"/>
                </a:solidFill>
                <a:latin typeface="Arial Narrow" panose="020B0606020202030204" pitchFamily="34" charset="0"/>
              </a:rPr>
              <a:t>  ...	       ...</a:t>
            </a:r>
            <a:r>
              <a:rPr lang="en-US" altLang="en-US" sz="1800" dirty="0">
                <a:solidFill>
                  <a:schemeClr val="tx1"/>
                </a:solidFill>
                <a:latin typeface="Arial Narrow" panose="020B0606020202030204" pitchFamily="34" charset="0"/>
              </a:rPr>
              <a:t>  	            </a:t>
            </a:r>
            <a:r>
              <a:rPr lang="en-US" altLang="en-US" sz="1800" b="0" dirty="0">
                <a:solidFill>
                  <a:schemeClr val="tx1"/>
                </a:solidFill>
                <a:latin typeface="Arial Narrow" panose="020B0606020202030204" pitchFamily="34" charset="0"/>
              </a:rPr>
              <a:t>...		    ...</a:t>
            </a:r>
            <a:endParaRPr lang="en-US" altLang="en-US" sz="1800" b="0" dirty="0">
              <a:solidFill>
                <a:srgbClr val="FD020F"/>
              </a:solidFill>
              <a:latin typeface="Arial Narrow" panose="020B0606020202030204" pitchFamily="34" charset="0"/>
            </a:endParaRPr>
          </a:p>
        </p:txBody>
      </p:sp>
      <p:sp>
        <p:nvSpPr>
          <p:cNvPr id="107" name="Line 19">
            <a:extLst>
              <a:ext uri="{FF2B5EF4-FFF2-40B4-BE49-F238E27FC236}">
                <a16:creationId xmlns:a16="http://schemas.microsoft.com/office/drawing/2014/main" id="{353CB4D8-97B1-6295-9684-5586F8F53A9F}"/>
              </a:ext>
            </a:extLst>
          </p:cNvPr>
          <p:cNvSpPr>
            <a:spLocks noChangeShapeType="1"/>
          </p:cNvSpPr>
          <p:nvPr/>
        </p:nvSpPr>
        <p:spPr bwMode="auto">
          <a:xfrm>
            <a:off x="3342072" y="4953001"/>
            <a:ext cx="10727" cy="167639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8" name="Line 19">
            <a:extLst>
              <a:ext uri="{FF2B5EF4-FFF2-40B4-BE49-F238E27FC236}">
                <a16:creationId xmlns:a16="http://schemas.microsoft.com/office/drawing/2014/main" id="{9825009D-8382-026B-3930-DB027A6CBACB}"/>
              </a:ext>
            </a:extLst>
          </p:cNvPr>
          <p:cNvSpPr>
            <a:spLocks noChangeShapeType="1"/>
          </p:cNvSpPr>
          <p:nvPr/>
        </p:nvSpPr>
        <p:spPr bwMode="auto">
          <a:xfrm>
            <a:off x="4495800" y="4953001"/>
            <a:ext cx="10727" cy="167639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9" name="Line 19">
            <a:extLst>
              <a:ext uri="{FF2B5EF4-FFF2-40B4-BE49-F238E27FC236}">
                <a16:creationId xmlns:a16="http://schemas.microsoft.com/office/drawing/2014/main" id="{5F81F8F1-6C21-3D14-2CA7-FB9F64F430C6}"/>
              </a:ext>
            </a:extLst>
          </p:cNvPr>
          <p:cNvSpPr>
            <a:spLocks noChangeShapeType="1"/>
          </p:cNvSpPr>
          <p:nvPr/>
        </p:nvSpPr>
        <p:spPr bwMode="auto">
          <a:xfrm>
            <a:off x="5785836" y="4962969"/>
            <a:ext cx="10727" cy="167639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9336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AFB9A80-6895-52A2-2337-B8469C79BBA1}"/>
              </a:ext>
            </a:extLst>
          </p:cNvPr>
          <p:cNvSpPr>
            <a:spLocks noGrp="1" noChangeArrowheads="1"/>
          </p:cNvSpPr>
          <p:nvPr>
            <p:ph type="title"/>
          </p:nvPr>
        </p:nvSpPr>
        <p:spPr>
          <a:xfrm>
            <a:off x="381000" y="166688"/>
            <a:ext cx="8382000" cy="1128712"/>
          </a:xfrm>
        </p:spPr>
        <p:txBody>
          <a:bodyPr/>
          <a:lstStyle/>
          <a:p>
            <a:pPr>
              <a:defRPr/>
            </a:pPr>
            <a:r>
              <a:rPr lang="en-US" altLang="en-US" dirty="0"/>
              <a:t>Definition Summary</a:t>
            </a:r>
          </a:p>
        </p:txBody>
      </p:sp>
      <p:sp>
        <p:nvSpPr>
          <p:cNvPr id="60419" name="Rectangle 3">
            <a:extLst>
              <a:ext uri="{FF2B5EF4-FFF2-40B4-BE49-F238E27FC236}">
                <a16:creationId xmlns:a16="http://schemas.microsoft.com/office/drawing/2014/main" id="{5A53CD62-BB02-CD5D-B298-ACE85D92F748}"/>
              </a:ext>
            </a:extLst>
          </p:cNvPr>
          <p:cNvSpPr>
            <a:spLocks noGrp="1" noChangeArrowheads="1"/>
          </p:cNvSpPr>
          <p:nvPr>
            <p:ph type="body" idx="1"/>
          </p:nvPr>
        </p:nvSpPr>
        <p:spPr>
          <a:xfrm>
            <a:off x="560388" y="1524000"/>
            <a:ext cx="8153400" cy="2786062"/>
          </a:xfrm>
        </p:spPr>
        <p:txBody>
          <a:bodyPr>
            <a:normAutofit fontScale="92500" lnSpcReduction="10000"/>
          </a:bodyPr>
          <a:lstStyle/>
          <a:p>
            <a:pPr>
              <a:buFont typeface="Zapf Dingbats" charset="2"/>
              <a:buNone/>
            </a:pPr>
            <a:r>
              <a:rPr lang="en-US" altLang="en-US" b="1" u="sng" dirty="0"/>
              <a:t>Informal Terms</a:t>
            </a:r>
            <a:r>
              <a:rPr lang="en-US" altLang="en-US" dirty="0"/>
              <a:t>				</a:t>
            </a:r>
            <a:r>
              <a:rPr lang="en-US" altLang="en-US" b="1" u="sng" dirty="0"/>
              <a:t>Formal Terms</a:t>
            </a:r>
          </a:p>
          <a:p>
            <a:pPr>
              <a:buFont typeface="Zapf Dingbats" charset="2"/>
              <a:buNone/>
            </a:pPr>
            <a:r>
              <a:rPr lang="en-US" altLang="en-US" dirty="0"/>
              <a:t>Table						Relation</a:t>
            </a:r>
          </a:p>
          <a:p>
            <a:pPr>
              <a:buFont typeface="Zapf Dingbats" charset="2"/>
              <a:buNone/>
            </a:pPr>
            <a:r>
              <a:rPr lang="en-US" altLang="en-US" dirty="0"/>
              <a:t>Column					Attribute</a:t>
            </a:r>
          </a:p>
          <a:p>
            <a:pPr>
              <a:buFont typeface="Zapf Dingbats" charset="2"/>
              <a:buNone/>
            </a:pPr>
            <a:r>
              <a:rPr lang="en-US" altLang="en-US" dirty="0"/>
              <a:t>Row						Tuple</a:t>
            </a:r>
          </a:p>
          <a:p>
            <a:pPr>
              <a:buFont typeface="Zapf Dingbats" charset="2"/>
              <a:buNone/>
            </a:pPr>
            <a:r>
              <a:rPr lang="en-US" altLang="en-US" dirty="0"/>
              <a:t>Values in a column				Domain</a:t>
            </a:r>
          </a:p>
          <a:p>
            <a:pPr>
              <a:buFont typeface="Zapf Dingbats" charset="2"/>
              <a:buNone/>
            </a:pPr>
            <a:r>
              <a:rPr lang="en-US" altLang="en-US" dirty="0"/>
              <a:t>Table Definition				Schema</a:t>
            </a:r>
          </a:p>
        </p:txBody>
      </p:sp>
      <p:sp>
        <p:nvSpPr>
          <p:cNvPr id="17412" name="Text Box 4">
            <a:extLst>
              <a:ext uri="{FF2B5EF4-FFF2-40B4-BE49-F238E27FC236}">
                <a16:creationId xmlns:a16="http://schemas.microsoft.com/office/drawing/2014/main" id="{921615DB-94D9-5397-6EAD-E077BEA7CE1D}"/>
              </a:ext>
            </a:extLst>
          </p:cNvPr>
          <p:cNvSpPr txBox="1">
            <a:spLocks noChangeArrowheads="1"/>
          </p:cNvSpPr>
          <p:nvPr/>
        </p:nvSpPr>
        <p:spPr bwMode="auto">
          <a:xfrm>
            <a:off x="685800" y="4632325"/>
            <a:ext cx="8001000" cy="2073275"/>
          </a:xfrm>
          <a:prstGeom prst="rect">
            <a:avLst/>
          </a:prstGeom>
          <a:noFill/>
          <a:ln>
            <a:noFill/>
          </a:ln>
          <a:effectLst/>
        </p:spPr>
        <p:txBody>
          <a:bodyPr>
            <a:spAutoFit/>
          </a:bodyPr>
          <a:lstStyle/>
          <a:p>
            <a:pPr>
              <a:defRPr/>
            </a:pPr>
            <a:r>
              <a:rPr lang="en-US" altLang="en-US" u="sng" dirty="0">
                <a:solidFill>
                  <a:srgbClr val="002060"/>
                </a:solidFill>
              </a:rPr>
              <a:t>Notes</a:t>
            </a:r>
            <a:r>
              <a:rPr lang="en-US" altLang="en-US" b="0" u="sng" dirty="0">
                <a:solidFill>
                  <a:srgbClr val="002060"/>
                </a:solidFill>
              </a:rPr>
              <a:t>:</a:t>
            </a:r>
            <a:endParaRPr lang="en-US" altLang="en-US" b="0" dirty="0">
              <a:solidFill>
                <a:srgbClr val="002060"/>
              </a:solidFill>
            </a:endParaRPr>
          </a:p>
          <a:p>
            <a:pPr>
              <a:defRPr/>
            </a:pPr>
            <a:r>
              <a:rPr lang="en-US" altLang="en-US" b="0" dirty="0">
                <a:solidFill>
                  <a:srgbClr val="002060"/>
                </a:solidFill>
              </a:rPr>
              <a:t>      </a:t>
            </a:r>
            <a:r>
              <a:rPr lang="en-US" altLang="en-US" b="0" i="1" dirty="0">
                <a:solidFill>
                  <a:srgbClr val="002060"/>
                </a:solidFill>
              </a:rPr>
              <a:t>Although languages like SQL use the informal terms of TABLE (e.g. CREATE TABLE), COLUMN (e.g. SYSCOLUMN variable), the relational database textbooks present the model and operations on it using the formal terms.</a:t>
            </a:r>
          </a:p>
          <a:p>
            <a:pPr>
              <a:spcBef>
                <a:spcPct val="50000"/>
              </a:spcBef>
              <a:defRPr/>
            </a:pPr>
            <a:endParaRPr lang="en-US" altLang="en-US" dirty="0">
              <a:effectLst>
                <a:outerShdw blurRad="38100" dist="38100" dir="2700000" algn="tl">
                  <a:srgbClr val="C0C0C0"/>
                </a:outerShdw>
              </a:effectLst>
            </a:endParaRPr>
          </a:p>
        </p:txBody>
      </p:sp>
      <p:sp>
        <p:nvSpPr>
          <p:cNvPr id="2" name="Slide Number Placeholder 1">
            <a:extLst>
              <a:ext uri="{FF2B5EF4-FFF2-40B4-BE49-F238E27FC236}">
                <a16:creationId xmlns:a16="http://schemas.microsoft.com/office/drawing/2014/main" id="{E12071D6-C162-63EB-7161-09E5C0410369}"/>
              </a:ext>
            </a:extLst>
          </p:cNvPr>
          <p:cNvSpPr>
            <a:spLocks noGrp="1"/>
          </p:cNvSpPr>
          <p:nvPr>
            <p:ph type="sldNum" sz="quarter" idx="12"/>
          </p:nvPr>
        </p:nvSpPr>
        <p:spPr/>
        <p:txBody>
          <a:bodyPr/>
          <a:lstStyle/>
          <a:p>
            <a:fld id="{5FCA4BC5-AE2A-401E-9EDD-DF8812A14A6A}"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07118B2-0177-80A7-5316-0990132490A8}"/>
              </a:ext>
            </a:extLst>
          </p:cNvPr>
          <p:cNvSpPr>
            <a:spLocks noGrp="1" noChangeArrowheads="1"/>
          </p:cNvSpPr>
          <p:nvPr>
            <p:ph type="title"/>
          </p:nvPr>
        </p:nvSpPr>
        <p:spPr>
          <a:xfrm>
            <a:off x="381000" y="166688"/>
            <a:ext cx="8382000" cy="1128712"/>
          </a:xfrm>
        </p:spPr>
        <p:txBody>
          <a:bodyPr/>
          <a:lstStyle/>
          <a:p>
            <a:pPr>
              <a:defRPr/>
            </a:pPr>
            <a:r>
              <a:rPr lang="en-US" altLang="en-US" dirty="0"/>
              <a:t>Characteristics of Relations</a:t>
            </a:r>
          </a:p>
        </p:txBody>
      </p:sp>
      <p:sp>
        <p:nvSpPr>
          <p:cNvPr id="64515" name="Rectangle 3">
            <a:extLst>
              <a:ext uri="{FF2B5EF4-FFF2-40B4-BE49-F238E27FC236}">
                <a16:creationId xmlns:a16="http://schemas.microsoft.com/office/drawing/2014/main" id="{B3915E34-B11D-18C8-BA57-ABD16E7B2015}"/>
              </a:ext>
            </a:extLst>
          </p:cNvPr>
          <p:cNvSpPr>
            <a:spLocks noGrp="1" noChangeArrowheads="1"/>
          </p:cNvSpPr>
          <p:nvPr>
            <p:ph type="body" idx="1"/>
          </p:nvPr>
        </p:nvSpPr>
        <p:spPr>
          <a:xfrm>
            <a:off x="533400" y="1537656"/>
            <a:ext cx="8382000" cy="4953000"/>
          </a:xfrm>
        </p:spPr>
        <p:txBody>
          <a:bodyPr>
            <a:normAutofit fontScale="92500"/>
          </a:bodyPr>
          <a:lstStyle/>
          <a:p>
            <a:r>
              <a:rPr lang="en-US" altLang="en-US" sz="2600" b="1" dirty="0"/>
              <a:t>Ordering of tuples in a relation r(R): </a:t>
            </a:r>
            <a:r>
              <a:rPr lang="en-US" altLang="en-US" sz="2600" dirty="0"/>
              <a:t>The tuples are </a:t>
            </a:r>
            <a:r>
              <a:rPr lang="en-US" altLang="en-US" sz="2600" b="1" i="1" dirty="0"/>
              <a:t>not </a:t>
            </a:r>
            <a:r>
              <a:rPr lang="en-US" altLang="en-US" sz="2600" dirty="0"/>
              <a:t>considered to be ordered, even though they appear in order in the table form.</a:t>
            </a:r>
            <a:endParaRPr lang="en-US" altLang="en-US" sz="2600" b="1" dirty="0"/>
          </a:p>
          <a:p>
            <a:endParaRPr lang="en-US" altLang="en-US" sz="2600" b="1" dirty="0"/>
          </a:p>
          <a:p>
            <a:r>
              <a:rPr lang="en-US" altLang="en-US" sz="2600" b="1" dirty="0"/>
              <a:t>Ordering of attributes in a relation schema R</a:t>
            </a:r>
            <a:r>
              <a:rPr lang="en-US" altLang="en-US" sz="2600" dirty="0"/>
              <a:t> (and of values within each tuple): We will consider the attributes in R(A1, A2, ..., An) and the values in t=&lt;v1, v2, ..., </a:t>
            </a:r>
            <a:r>
              <a:rPr lang="en-US" altLang="en-US" sz="2600" dirty="0" err="1"/>
              <a:t>vn</a:t>
            </a:r>
            <a:r>
              <a:rPr lang="en-US" altLang="en-US" sz="2600" dirty="0"/>
              <a:t>&gt; to be </a:t>
            </a:r>
            <a:r>
              <a:rPr lang="en-US" altLang="en-US" sz="2600" b="1" i="1" dirty="0"/>
              <a:t>ordered</a:t>
            </a:r>
            <a:r>
              <a:rPr lang="en-US" altLang="en-US" sz="2600" dirty="0"/>
              <a:t> .</a:t>
            </a:r>
          </a:p>
          <a:p>
            <a:endParaRPr lang="en-US" altLang="en-US" sz="2600" dirty="0"/>
          </a:p>
          <a:p>
            <a:r>
              <a:rPr lang="en-US" altLang="en-US" sz="2600" dirty="0"/>
              <a:t>Values in a tuple: All values are considered </a:t>
            </a:r>
            <a:r>
              <a:rPr lang="en-US" altLang="en-US" sz="2600" b="1" i="1" dirty="0"/>
              <a:t>atomic</a:t>
            </a:r>
            <a:r>
              <a:rPr lang="en-US" altLang="en-US" sz="2600" dirty="0"/>
              <a:t>  (indivisible)</a:t>
            </a:r>
          </a:p>
          <a:p>
            <a:pPr lvl="1"/>
            <a:r>
              <a:rPr lang="en-US" altLang="en-US" sz="2200" dirty="0"/>
              <a:t>A special </a:t>
            </a:r>
            <a:r>
              <a:rPr lang="en-US" altLang="en-US" sz="2200" b="1" dirty="0"/>
              <a:t>null</a:t>
            </a:r>
            <a:r>
              <a:rPr lang="en-US" altLang="en-US" sz="2200" dirty="0"/>
              <a:t> value is used to represent values that are unknown or inapplicable to certain tuples.</a:t>
            </a:r>
            <a:endParaRPr lang="en-US" altLang="en-US" dirty="0"/>
          </a:p>
          <a:p>
            <a:pPr lvl="1"/>
            <a:endParaRPr lang="en-US" altLang="en-US" b="1" dirty="0"/>
          </a:p>
        </p:txBody>
      </p:sp>
      <p:sp>
        <p:nvSpPr>
          <p:cNvPr id="2" name="Slide Number Placeholder 1">
            <a:extLst>
              <a:ext uri="{FF2B5EF4-FFF2-40B4-BE49-F238E27FC236}">
                <a16:creationId xmlns:a16="http://schemas.microsoft.com/office/drawing/2014/main" id="{D97A1D6E-2AD4-B549-3A4F-A00B30C07885}"/>
              </a:ext>
            </a:extLst>
          </p:cNvPr>
          <p:cNvSpPr>
            <a:spLocks noGrp="1"/>
          </p:cNvSpPr>
          <p:nvPr>
            <p:ph type="sldNum" sz="quarter" idx="12"/>
          </p:nvPr>
        </p:nvSpPr>
        <p:spPr/>
        <p:txBody>
          <a:bodyPr/>
          <a:lstStyle/>
          <a:p>
            <a:fld id="{5FCA4BC5-AE2A-401E-9EDD-DF8812A14A6A}"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normAutofit fontScale="90000"/>
          </a:bodyPr>
          <a:lstStyle/>
          <a:p>
            <a:r>
              <a:rPr lang="en-US" dirty="0"/>
              <a:t>More Details on the Relational Model</a:t>
            </a:r>
          </a:p>
        </p:txBody>
      </p:sp>
      <p:sp>
        <p:nvSpPr>
          <p:cNvPr id="4" name="Content Placeholder 3"/>
          <p:cNvSpPr>
            <a:spLocks noGrp="1"/>
          </p:cNvSpPr>
          <p:nvPr>
            <p:ph idx="1"/>
          </p:nvPr>
        </p:nvSpPr>
        <p:spPr>
          <a:xfrm>
            <a:off x="152400" y="4495800"/>
            <a:ext cx="8991600" cy="2077067"/>
          </a:xfrm>
        </p:spPr>
        <p:txBody>
          <a:bodyPr>
            <a:noAutofit/>
          </a:bodyPr>
          <a:lstStyle/>
          <a:p>
            <a:pPr marL="514350" indent="-457200">
              <a:buFont typeface="Wingdings" pitchFamily="2" charset="2"/>
              <a:buChar char="§"/>
            </a:pPr>
            <a:r>
              <a:rPr lang="en-US" sz="2400" dirty="0"/>
              <a:t>What is the </a:t>
            </a:r>
            <a:r>
              <a:rPr lang="en-US" sz="2400" dirty="0">
                <a:solidFill>
                  <a:srgbClr val="0070C0"/>
                </a:solidFill>
              </a:rPr>
              <a:t>relational database schema </a:t>
            </a:r>
            <a:r>
              <a:rPr lang="en-US" sz="2400" dirty="0"/>
              <a:t>(</a:t>
            </a:r>
            <a:r>
              <a:rPr lang="en-US" sz="2400" i="1" dirty="0"/>
              <a:t>not</a:t>
            </a:r>
            <a:r>
              <a:rPr lang="en-US" sz="2400" dirty="0"/>
              <a:t> the relation schema)?</a:t>
            </a:r>
          </a:p>
          <a:p>
            <a:pPr marL="914400" lvl="1" indent="-457200">
              <a:buFont typeface="Wingdings" pitchFamily="2" charset="2"/>
              <a:buChar char="§"/>
            </a:pPr>
            <a:r>
              <a:rPr lang="en-US" sz="2000" dirty="0"/>
              <a:t>A collection of schemas for the relations in the database</a:t>
            </a:r>
          </a:p>
          <a:p>
            <a:pPr marL="514350" indent="-457200">
              <a:buFont typeface="Wingdings" pitchFamily="2" charset="2"/>
              <a:buChar char="§"/>
            </a:pPr>
            <a:r>
              <a:rPr lang="en-US" sz="2400" dirty="0"/>
              <a:t>What is the </a:t>
            </a:r>
            <a:r>
              <a:rPr lang="en-US" sz="2400" dirty="0">
                <a:solidFill>
                  <a:srgbClr val="0070C0"/>
                </a:solidFill>
              </a:rPr>
              <a:t>instance of a relational database </a:t>
            </a:r>
            <a:r>
              <a:rPr lang="en-US" sz="2400" dirty="0"/>
              <a:t>(</a:t>
            </a:r>
            <a:r>
              <a:rPr lang="en-US" sz="2400" i="1" dirty="0"/>
              <a:t>not</a:t>
            </a:r>
            <a:r>
              <a:rPr lang="en-US" sz="2400" dirty="0"/>
              <a:t> the instance </a:t>
            </a:r>
            <a:br>
              <a:rPr lang="en-US" sz="2400" dirty="0"/>
            </a:br>
            <a:r>
              <a:rPr lang="en-US" sz="2400" dirty="0"/>
              <a:t>of a relation)?</a:t>
            </a:r>
          </a:p>
          <a:p>
            <a:pPr marL="914400" lvl="1" indent="-457200">
              <a:buFont typeface="Wingdings" pitchFamily="2" charset="2"/>
              <a:buChar char="§"/>
            </a:pPr>
            <a:r>
              <a:rPr lang="en-US" sz="2000" dirty="0"/>
              <a:t>A collection of relation instances </a:t>
            </a:r>
          </a:p>
          <a:p>
            <a:pPr lvl="1"/>
            <a:endParaRPr lang="en-US" sz="1800" dirty="0"/>
          </a:p>
          <a:p>
            <a:endParaRPr lang="en-US" sz="2400" dirty="0"/>
          </a:p>
        </p:txBody>
      </p:sp>
      <p:graphicFrame>
        <p:nvGraphicFramePr>
          <p:cNvPr id="6" name="Object 5">
            <a:hlinkClick r:id="" action="ppaction://ole?verb=0"/>
          </p:cNvPr>
          <p:cNvGraphicFramePr>
            <a:graphicFrameLocks/>
          </p:cNvGraphicFramePr>
          <p:nvPr>
            <p:extLst>
              <p:ext uri="{D42A27DB-BD31-4B8C-83A1-F6EECF244321}">
                <p14:modId xmlns:p14="http://schemas.microsoft.com/office/powerpoint/2010/main" val="1314388901"/>
              </p:ext>
            </p:extLst>
          </p:nvPr>
        </p:nvGraphicFramePr>
        <p:xfrm>
          <a:off x="2014538" y="1948833"/>
          <a:ext cx="6519862" cy="2527300"/>
        </p:xfrm>
        <a:graphic>
          <a:graphicData uri="http://schemas.openxmlformats.org/presentationml/2006/ole">
            <mc:AlternateContent xmlns:mc="http://schemas.openxmlformats.org/markup-compatibility/2006">
              <mc:Choice xmlns:v="urn:schemas-microsoft-com:vml" Requires="v">
                <p:oleObj name="Document" r:id="rId2" imgW="6521450" imgH="2528888" progId="Word.Document.8">
                  <p:embed/>
                </p:oleObj>
              </mc:Choice>
              <mc:Fallback>
                <p:oleObj name="Document" r:id="rId2" imgW="6521450" imgH="2528888" progId="Word.Document.8">
                  <p:embed/>
                  <p:pic>
                    <p:nvPicPr>
                      <p:cNvPr id="6" name="Object 5">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1948833"/>
                        <a:ext cx="6519862"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rot="16200000">
            <a:off x="5081588" y="-1392035"/>
            <a:ext cx="266700" cy="6248400"/>
          </a:xfrm>
          <a:prstGeom prst="rightBrace">
            <a:avLst/>
          </a:prstGeom>
          <a:ln w="158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779192" y="1143000"/>
            <a:ext cx="2871492" cy="369332"/>
          </a:xfrm>
          <a:prstGeom prst="rect">
            <a:avLst/>
          </a:prstGeom>
          <a:noFill/>
        </p:spPr>
        <p:txBody>
          <a:bodyPr wrap="none" rtlCol="0">
            <a:spAutoFit/>
          </a:bodyPr>
          <a:lstStyle/>
          <a:p>
            <a:r>
              <a:rPr lang="en-US" dirty="0">
                <a:solidFill>
                  <a:srgbClr val="0070C0"/>
                </a:solidFill>
              </a:rPr>
              <a:t>Degree</a:t>
            </a:r>
            <a:r>
              <a:rPr lang="en-US" dirty="0"/>
              <a:t> (or </a:t>
            </a:r>
            <a:r>
              <a:rPr lang="en-US" dirty="0">
                <a:solidFill>
                  <a:srgbClr val="0070C0"/>
                </a:solidFill>
              </a:rPr>
              <a:t>arity</a:t>
            </a:r>
            <a:r>
              <a:rPr lang="en-US" dirty="0"/>
              <a:t>) = # of fields</a:t>
            </a:r>
          </a:p>
        </p:txBody>
      </p:sp>
      <p:sp>
        <p:nvSpPr>
          <p:cNvPr id="11" name="Left Brace 10"/>
          <p:cNvSpPr/>
          <p:nvPr/>
        </p:nvSpPr>
        <p:spPr>
          <a:xfrm>
            <a:off x="1674682" y="2451238"/>
            <a:ext cx="304800" cy="1484531"/>
          </a:xfrm>
          <a:prstGeom prst="leftBrace">
            <a:avLst/>
          </a:prstGeom>
          <a:ln w="158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239936" y="2971800"/>
            <a:ext cx="1411027" cy="646331"/>
          </a:xfrm>
          <a:prstGeom prst="rect">
            <a:avLst/>
          </a:prstGeom>
          <a:noFill/>
        </p:spPr>
        <p:txBody>
          <a:bodyPr wrap="none" rtlCol="0">
            <a:spAutoFit/>
          </a:bodyPr>
          <a:lstStyle/>
          <a:p>
            <a:r>
              <a:rPr lang="en-US" dirty="0">
                <a:solidFill>
                  <a:srgbClr val="0070C0"/>
                </a:solidFill>
              </a:rPr>
              <a:t>Cardinality</a:t>
            </a:r>
            <a:r>
              <a:rPr lang="en-US" dirty="0"/>
              <a:t> = </a:t>
            </a:r>
            <a:br>
              <a:rPr lang="en-US" dirty="0"/>
            </a:br>
            <a:r>
              <a:rPr lang="en-US" dirty="0"/>
              <a:t># of tuples</a:t>
            </a:r>
          </a:p>
        </p:txBody>
      </p:sp>
      <p:sp>
        <p:nvSpPr>
          <p:cNvPr id="13" name="TextBox 12"/>
          <p:cNvSpPr txBox="1"/>
          <p:nvPr/>
        </p:nvSpPr>
        <p:spPr>
          <a:xfrm>
            <a:off x="3276600" y="4018933"/>
            <a:ext cx="3740319" cy="369332"/>
          </a:xfrm>
          <a:prstGeom prst="rect">
            <a:avLst/>
          </a:prstGeom>
          <a:noFill/>
        </p:spPr>
        <p:txBody>
          <a:bodyPr wrap="none" rtlCol="0">
            <a:spAutoFit/>
          </a:bodyPr>
          <a:lstStyle/>
          <a:p>
            <a:r>
              <a:rPr lang="en-US" i="1" dirty="0"/>
              <a:t>An instance of the “Students” relation</a:t>
            </a:r>
          </a:p>
        </p:txBody>
      </p:sp>
      <p:sp>
        <p:nvSpPr>
          <p:cNvPr id="3" name="Slide Number Placeholder 2">
            <a:extLst>
              <a:ext uri="{FF2B5EF4-FFF2-40B4-BE49-F238E27FC236}">
                <a16:creationId xmlns:a16="http://schemas.microsoft.com/office/drawing/2014/main" id="{21C6A9BE-1A86-C32F-8928-47B5988D311F}"/>
              </a:ext>
            </a:extLst>
          </p:cNvPr>
          <p:cNvSpPr>
            <a:spLocks noGrp="1"/>
          </p:cNvSpPr>
          <p:nvPr>
            <p:ph type="sldNum" sz="quarter" idx="12"/>
          </p:nvPr>
        </p:nvSpPr>
        <p:spPr/>
        <p:txBody>
          <a:bodyPr/>
          <a:lstStyle/>
          <a:p>
            <a:fld id="{5FCA4BC5-AE2A-401E-9EDD-DF8812A14A6A}" type="slidenum">
              <a:rPr lang="en-US" smtClean="0"/>
              <a:t>8</a:t>
            </a:fld>
            <a:endParaRPr lang="en-US"/>
          </a:p>
        </p:txBody>
      </p:sp>
    </p:spTree>
    <p:extLst>
      <p:ext uri="{BB962C8B-B14F-4D97-AF65-F5344CB8AC3E}">
        <p14:creationId xmlns:p14="http://schemas.microsoft.com/office/powerpoint/2010/main" val="3397280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3CE4-E32F-1F9F-1356-DED938CDC822}"/>
              </a:ext>
            </a:extLst>
          </p:cNvPr>
          <p:cNvSpPr>
            <a:spLocks noGrp="1"/>
          </p:cNvSpPr>
          <p:nvPr>
            <p:ph type="title"/>
          </p:nvPr>
        </p:nvSpPr>
        <p:spPr/>
        <p:txBody>
          <a:bodyPr/>
          <a:lstStyle/>
          <a:p>
            <a:r>
              <a:rPr lang="en-US" dirty="0"/>
              <a:t>ER M</a:t>
            </a:r>
            <a:r>
              <a:rPr lang="en-US" altLang="zh-CN" dirty="0"/>
              <a:t>odel vs. Relational Model</a:t>
            </a:r>
            <a:endParaRPr lang="en-US" dirty="0"/>
          </a:p>
        </p:txBody>
      </p:sp>
      <p:sp>
        <p:nvSpPr>
          <p:cNvPr id="3" name="Content Placeholder 2">
            <a:extLst>
              <a:ext uri="{FF2B5EF4-FFF2-40B4-BE49-F238E27FC236}">
                <a16:creationId xmlns:a16="http://schemas.microsoft.com/office/drawing/2014/main" id="{5632BA1E-8840-9F31-A5C7-F68C79570BE3}"/>
              </a:ext>
            </a:extLst>
          </p:cNvPr>
          <p:cNvSpPr>
            <a:spLocks noGrp="1"/>
          </p:cNvSpPr>
          <p:nvPr>
            <p:ph idx="1"/>
          </p:nvPr>
        </p:nvSpPr>
        <p:spPr/>
        <p:txBody>
          <a:bodyPr>
            <a:normAutofit fontScale="92500" lnSpcReduction="10000"/>
          </a:bodyPr>
          <a:lstStyle/>
          <a:p>
            <a:r>
              <a:rPr lang="en-US" dirty="0"/>
              <a:t>ER Model</a:t>
            </a:r>
          </a:p>
          <a:p>
            <a:pPr lvl="1"/>
            <a:r>
              <a:rPr lang="en-US" dirty="0"/>
              <a:t>Conceptual or high-level models</a:t>
            </a:r>
          </a:p>
          <a:p>
            <a:pPr lvl="1"/>
            <a:r>
              <a:rPr lang="en-US" dirty="0"/>
              <a:t>Focus on entities, and how they interact with each other</a:t>
            </a:r>
          </a:p>
          <a:p>
            <a:pPr lvl="1"/>
            <a:r>
              <a:rPr lang="en-US" dirty="0"/>
              <a:t>Consist of entities, relationships, and attributes</a:t>
            </a:r>
          </a:p>
          <a:p>
            <a:pPr lvl="1"/>
            <a:r>
              <a:rPr lang="en-US" dirty="0"/>
              <a:t>Possible to show cardinalities</a:t>
            </a:r>
          </a:p>
          <a:p>
            <a:pPr lvl="1"/>
            <a:r>
              <a:rPr lang="en-US" dirty="0"/>
              <a:t>Are often converted into relational schemas to better show the data.</a:t>
            </a:r>
          </a:p>
          <a:p>
            <a:r>
              <a:rPr lang="en-US" dirty="0"/>
              <a:t>Relational model</a:t>
            </a:r>
          </a:p>
          <a:p>
            <a:pPr lvl="1"/>
            <a:r>
              <a:rPr lang="en-US" dirty="0"/>
              <a:t>A representational or implementation model</a:t>
            </a:r>
          </a:p>
          <a:p>
            <a:pPr lvl="1"/>
            <a:r>
              <a:rPr lang="en-US" dirty="0"/>
              <a:t>Focus</a:t>
            </a:r>
            <a:r>
              <a:rPr lang="en-US" b="0" i="0" dirty="0">
                <a:solidFill>
                  <a:srgbClr val="111111"/>
                </a:solidFill>
                <a:effectLst/>
                <a:latin typeface="charter"/>
              </a:rPr>
              <a:t> on information, and tables with related data to make up the database</a:t>
            </a:r>
          </a:p>
          <a:p>
            <a:pPr lvl="1"/>
            <a:r>
              <a:rPr lang="en-US" dirty="0"/>
              <a:t>Consist of tables, records, and domains</a:t>
            </a:r>
            <a:endParaRPr lang="en-US" dirty="0">
              <a:solidFill>
                <a:srgbClr val="111111"/>
              </a:solidFill>
              <a:latin typeface="charter"/>
            </a:endParaRPr>
          </a:p>
          <a:p>
            <a:pPr lvl="1"/>
            <a:r>
              <a:rPr lang="en-US" dirty="0"/>
              <a:t>Not possible to see cardinalities</a:t>
            </a:r>
          </a:p>
        </p:txBody>
      </p:sp>
      <p:sp>
        <p:nvSpPr>
          <p:cNvPr id="4" name="Slide Number Placeholder 3">
            <a:extLst>
              <a:ext uri="{FF2B5EF4-FFF2-40B4-BE49-F238E27FC236}">
                <a16:creationId xmlns:a16="http://schemas.microsoft.com/office/drawing/2014/main" id="{60EEDBDB-053E-9922-B7D9-28639F511676}"/>
              </a:ext>
            </a:extLst>
          </p:cNvPr>
          <p:cNvSpPr>
            <a:spLocks noGrp="1"/>
          </p:cNvSpPr>
          <p:nvPr>
            <p:ph type="sldNum" sz="quarter" idx="12"/>
          </p:nvPr>
        </p:nvSpPr>
        <p:spPr/>
        <p:txBody>
          <a:bodyPr/>
          <a:lstStyle/>
          <a:p>
            <a:fld id="{5FCA4BC5-AE2A-401E-9EDD-DF8812A14A6A}" type="slidenum">
              <a:rPr lang="en-US" smtClean="0"/>
              <a:t>9</a:t>
            </a:fld>
            <a:endParaRPr lang="en-US" dirty="0"/>
          </a:p>
        </p:txBody>
      </p:sp>
    </p:spTree>
    <p:extLst>
      <p:ext uri="{BB962C8B-B14F-4D97-AF65-F5344CB8AC3E}">
        <p14:creationId xmlns:p14="http://schemas.microsoft.com/office/powerpoint/2010/main" val="2181408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3CE4-E32F-1F9F-1356-DED938CDC822}"/>
              </a:ext>
            </a:extLst>
          </p:cNvPr>
          <p:cNvSpPr>
            <a:spLocks noGrp="1"/>
          </p:cNvSpPr>
          <p:nvPr>
            <p:ph type="title"/>
          </p:nvPr>
        </p:nvSpPr>
        <p:spPr/>
        <p:txBody>
          <a:bodyPr/>
          <a:lstStyle/>
          <a:p>
            <a:r>
              <a:rPr lang="en-US" dirty="0"/>
              <a:t>ER M</a:t>
            </a:r>
            <a:r>
              <a:rPr lang="en-US" altLang="zh-CN" dirty="0"/>
              <a:t>odel vs. Relational Model</a:t>
            </a:r>
            <a:endParaRPr lang="en-US" dirty="0"/>
          </a:p>
        </p:txBody>
      </p:sp>
      <p:sp>
        <p:nvSpPr>
          <p:cNvPr id="4" name="Slide Number Placeholder 3">
            <a:extLst>
              <a:ext uri="{FF2B5EF4-FFF2-40B4-BE49-F238E27FC236}">
                <a16:creationId xmlns:a16="http://schemas.microsoft.com/office/drawing/2014/main" id="{60EEDBDB-053E-9922-B7D9-28639F511676}"/>
              </a:ext>
            </a:extLst>
          </p:cNvPr>
          <p:cNvSpPr>
            <a:spLocks noGrp="1"/>
          </p:cNvSpPr>
          <p:nvPr>
            <p:ph type="sldNum" sz="quarter" idx="12"/>
          </p:nvPr>
        </p:nvSpPr>
        <p:spPr/>
        <p:txBody>
          <a:bodyPr/>
          <a:lstStyle/>
          <a:p>
            <a:fld id="{5FCA4BC5-AE2A-401E-9EDD-DF8812A14A6A}" type="slidenum">
              <a:rPr lang="en-US" smtClean="0"/>
              <a:t>10</a:t>
            </a:fld>
            <a:endParaRPr lang="en-US" dirty="0"/>
          </a:p>
        </p:txBody>
      </p:sp>
      <p:pic>
        <p:nvPicPr>
          <p:cNvPr id="11" name="Content Placeholder 10">
            <a:extLst>
              <a:ext uri="{FF2B5EF4-FFF2-40B4-BE49-F238E27FC236}">
                <a16:creationId xmlns:a16="http://schemas.microsoft.com/office/drawing/2014/main" id="{2C528FB4-EC72-C50B-21EE-DA0598DF4E8B}"/>
              </a:ext>
            </a:extLst>
          </p:cNvPr>
          <p:cNvPicPr>
            <a:picLocks noGrp="1" noChangeAspect="1"/>
          </p:cNvPicPr>
          <p:nvPr>
            <p:ph idx="1"/>
          </p:nvPr>
        </p:nvPicPr>
        <p:blipFill>
          <a:blip r:embed="rId2"/>
          <a:stretch>
            <a:fillRect/>
          </a:stretch>
        </p:blipFill>
        <p:spPr bwMode="auto">
          <a:xfrm>
            <a:off x="599386" y="1295400"/>
            <a:ext cx="7945227"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64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BEF3-2920-6B2B-14CD-FDB28EF90BD4}"/>
              </a:ext>
            </a:extLst>
          </p:cNvPr>
          <p:cNvSpPr>
            <a:spLocks noGrp="1"/>
          </p:cNvSpPr>
          <p:nvPr>
            <p:ph type="title"/>
          </p:nvPr>
        </p:nvSpPr>
        <p:spPr/>
        <p:txBody>
          <a:bodyPr>
            <a:normAutofit/>
          </a:bodyPr>
          <a:lstStyle/>
          <a:p>
            <a:r>
              <a:rPr lang="en-US" altLang="en-US" dirty="0">
                <a:effectLst>
                  <a:outerShdw blurRad="38100" dist="38100" dir="2700000" algn="tl">
                    <a:srgbClr val="C0C0C0"/>
                  </a:outerShdw>
                </a:effectLst>
              </a:rPr>
              <a:t>Mapping ER Diagrams into Tables</a:t>
            </a:r>
            <a:endParaRPr lang="en-US" dirty="0"/>
          </a:p>
        </p:txBody>
      </p:sp>
      <p:sp>
        <p:nvSpPr>
          <p:cNvPr id="3" name="Content Placeholder 2">
            <a:extLst>
              <a:ext uri="{FF2B5EF4-FFF2-40B4-BE49-F238E27FC236}">
                <a16:creationId xmlns:a16="http://schemas.microsoft.com/office/drawing/2014/main" id="{69661124-629F-438E-B6AB-387EC57DD2A9}"/>
              </a:ext>
            </a:extLst>
          </p:cNvPr>
          <p:cNvSpPr>
            <a:spLocks noGrp="1"/>
          </p:cNvSpPr>
          <p:nvPr>
            <p:ph idx="1"/>
          </p:nvPr>
        </p:nvSpPr>
        <p:spPr/>
        <p:txBody>
          <a:bodyPr/>
          <a:lstStyle/>
          <a:p>
            <a:r>
              <a:rPr lang="en-US" dirty="0"/>
              <a:t>Representation of (Strong) Entity Sets</a:t>
            </a:r>
          </a:p>
          <a:p>
            <a:endParaRPr lang="en-US" dirty="0"/>
          </a:p>
        </p:txBody>
      </p:sp>
      <p:sp>
        <p:nvSpPr>
          <p:cNvPr id="4" name="Slide Number Placeholder 3">
            <a:extLst>
              <a:ext uri="{FF2B5EF4-FFF2-40B4-BE49-F238E27FC236}">
                <a16:creationId xmlns:a16="http://schemas.microsoft.com/office/drawing/2014/main" id="{D5E428EC-D0A9-F301-ACFB-ED091008683F}"/>
              </a:ext>
            </a:extLst>
          </p:cNvPr>
          <p:cNvSpPr>
            <a:spLocks noGrp="1"/>
          </p:cNvSpPr>
          <p:nvPr>
            <p:ph type="sldNum" sz="quarter" idx="12"/>
          </p:nvPr>
        </p:nvSpPr>
        <p:spPr/>
        <p:txBody>
          <a:bodyPr/>
          <a:lstStyle/>
          <a:p>
            <a:fld id="{5FCA4BC5-AE2A-401E-9EDD-DF8812A14A6A}" type="slidenum">
              <a:rPr lang="en-US" smtClean="0"/>
              <a:t>11</a:t>
            </a:fld>
            <a:endParaRPr lang="en-US" dirty="0"/>
          </a:p>
        </p:txBody>
      </p:sp>
      <p:sp>
        <p:nvSpPr>
          <p:cNvPr id="5" name="Line 14">
            <a:extLst>
              <a:ext uri="{FF2B5EF4-FFF2-40B4-BE49-F238E27FC236}">
                <a16:creationId xmlns:a16="http://schemas.microsoft.com/office/drawing/2014/main" id="{ED7438E2-ECF2-3D2D-8EB5-89F8509A3BD2}"/>
              </a:ext>
            </a:extLst>
          </p:cNvPr>
          <p:cNvSpPr>
            <a:spLocks noChangeShapeType="1"/>
          </p:cNvSpPr>
          <p:nvPr/>
        </p:nvSpPr>
        <p:spPr bwMode="auto">
          <a:xfrm flipV="1">
            <a:off x="3124200" y="3200400"/>
            <a:ext cx="5334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 name="Oval 4">
            <a:extLst>
              <a:ext uri="{FF2B5EF4-FFF2-40B4-BE49-F238E27FC236}">
                <a16:creationId xmlns:a16="http://schemas.microsoft.com/office/drawing/2014/main" id="{98BF3F61-6B26-560A-D713-55B2AAF8BA8B}"/>
              </a:ext>
            </a:extLst>
          </p:cNvPr>
          <p:cNvSpPr>
            <a:spLocks noChangeArrowheads="1"/>
          </p:cNvSpPr>
          <p:nvPr/>
        </p:nvSpPr>
        <p:spPr bwMode="auto">
          <a:xfrm>
            <a:off x="1143000" y="26670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 name="Text Box 5">
            <a:extLst>
              <a:ext uri="{FF2B5EF4-FFF2-40B4-BE49-F238E27FC236}">
                <a16:creationId xmlns:a16="http://schemas.microsoft.com/office/drawing/2014/main" id="{E187F269-2EF2-FBAA-B4DF-286F7CAE131E}"/>
              </a:ext>
            </a:extLst>
          </p:cNvPr>
          <p:cNvSpPr txBox="1">
            <a:spLocks noChangeArrowheads="1"/>
          </p:cNvSpPr>
          <p:nvPr/>
        </p:nvSpPr>
        <p:spPr bwMode="auto">
          <a:xfrm>
            <a:off x="1219200" y="27432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a1</a:t>
            </a:r>
          </a:p>
        </p:txBody>
      </p:sp>
      <p:sp>
        <p:nvSpPr>
          <p:cNvPr id="8" name="Oval 6">
            <a:extLst>
              <a:ext uri="{FF2B5EF4-FFF2-40B4-BE49-F238E27FC236}">
                <a16:creationId xmlns:a16="http://schemas.microsoft.com/office/drawing/2014/main" id="{779483A8-EEA0-1B2A-0C59-87F7C77F5BC5}"/>
              </a:ext>
            </a:extLst>
          </p:cNvPr>
          <p:cNvSpPr>
            <a:spLocks noChangeArrowheads="1"/>
          </p:cNvSpPr>
          <p:nvPr/>
        </p:nvSpPr>
        <p:spPr bwMode="auto">
          <a:xfrm>
            <a:off x="1981200" y="26670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 name="Text Box 7">
            <a:extLst>
              <a:ext uri="{FF2B5EF4-FFF2-40B4-BE49-F238E27FC236}">
                <a16:creationId xmlns:a16="http://schemas.microsoft.com/office/drawing/2014/main" id="{EA6F4486-F161-6B73-2C15-7CF172A3F756}"/>
              </a:ext>
            </a:extLst>
          </p:cNvPr>
          <p:cNvSpPr txBox="1">
            <a:spLocks noChangeArrowheads="1"/>
          </p:cNvSpPr>
          <p:nvPr/>
        </p:nvSpPr>
        <p:spPr bwMode="auto">
          <a:xfrm>
            <a:off x="2133600" y="27273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a2</a:t>
            </a:r>
          </a:p>
        </p:txBody>
      </p:sp>
      <p:sp>
        <p:nvSpPr>
          <p:cNvPr id="10" name="Text Box 8">
            <a:extLst>
              <a:ext uri="{FF2B5EF4-FFF2-40B4-BE49-F238E27FC236}">
                <a16:creationId xmlns:a16="http://schemas.microsoft.com/office/drawing/2014/main" id="{785CF697-F510-36D2-177F-ABD741851E42}"/>
              </a:ext>
            </a:extLst>
          </p:cNvPr>
          <p:cNvSpPr txBox="1">
            <a:spLocks noChangeArrowheads="1"/>
          </p:cNvSpPr>
          <p:nvPr/>
        </p:nvSpPr>
        <p:spPr bwMode="auto">
          <a:xfrm>
            <a:off x="3429000" y="27432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ak</a:t>
            </a:r>
          </a:p>
        </p:txBody>
      </p:sp>
      <p:sp>
        <p:nvSpPr>
          <p:cNvPr id="11" name="Oval 9">
            <a:extLst>
              <a:ext uri="{FF2B5EF4-FFF2-40B4-BE49-F238E27FC236}">
                <a16:creationId xmlns:a16="http://schemas.microsoft.com/office/drawing/2014/main" id="{53E0D9EE-FAAC-D746-4CD5-A6A4594B9A70}"/>
              </a:ext>
            </a:extLst>
          </p:cNvPr>
          <p:cNvSpPr>
            <a:spLocks noChangeArrowheads="1"/>
          </p:cNvSpPr>
          <p:nvPr/>
        </p:nvSpPr>
        <p:spPr bwMode="auto">
          <a:xfrm>
            <a:off x="3352800" y="26670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 name="Line 11">
            <a:extLst>
              <a:ext uri="{FF2B5EF4-FFF2-40B4-BE49-F238E27FC236}">
                <a16:creationId xmlns:a16="http://schemas.microsoft.com/office/drawing/2014/main" id="{DC59F71E-E3CB-9D52-120B-18E056AD90F4}"/>
              </a:ext>
            </a:extLst>
          </p:cNvPr>
          <p:cNvSpPr>
            <a:spLocks noChangeShapeType="1"/>
          </p:cNvSpPr>
          <p:nvPr/>
        </p:nvSpPr>
        <p:spPr bwMode="auto">
          <a:xfrm>
            <a:off x="1524000" y="3200400"/>
            <a:ext cx="6096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 name="Line 12">
            <a:extLst>
              <a:ext uri="{FF2B5EF4-FFF2-40B4-BE49-F238E27FC236}">
                <a16:creationId xmlns:a16="http://schemas.microsoft.com/office/drawing/2014/main" id="{9AB801CE-7B36-3815-8590-0FA17AECD1B6}"/>
              </a:ext>
            </a:extLst>
          </p:cNvPr>
          <p:cNvSpPr>
            <a:spLocks noChangeShapeType="1"/>
          </p:cNvSpPr>
          <p:nvPr/>
        </p:nvSpPr>
        <p:spPr bwMode="auto">
          <a:xfrm>
            <a:off x="2362200" y="3200400"/>
            <a:ext cx="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4" name="Text Box 13">
            <a:extLst>
              <a:ext uri="{FF2B5EF4-FFF2-40B4-BE49-F238E27FC236}">
                <a16:creationId xmlns:a16="http://schemas.microsoft.com/office/drawing/2014/main" id="{2AADCEC8-02F5-FE41-651D-4916C44BC9C2}"/>
              </a:ext>
            </a:extLst>
          </p:cNvPr>
          <p:cNvSpPr txBox="1">
            <a:spLocks noChangeArrowheads="1"/>
          </p:cNvSpPr>
          <p:nvPr/>
        </p:nvSpPr>
        <p:spPr bwMode="auto">
          <a:xfrm>
            <a:off x="2743200" y="3352800"/>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15" name="Text Box 10">
            <a:extLst>
              <a:ext uri="{FF2B5EF4-FFF2-40B4-BE49-F238E27FC236}">
                <a16:creationId xmlns:a16="http://schemas.microsoft.com/office/drawing/2014/main" id="{DD20A7D7-0CF5-DA3F-C170-A59DB71994E2}"/>
              </a:ext>
            </a:extLst>
          </p:cNvPr>
          <p:cNvSpPr txBox="1">
            <a:spLocks noChangeArrowheads="1"/>
          </p:cNvSpPr>
          <p:nvPr/>
        </p:nvSpPr>
        <p:spPr bwMode="auto">
          <a:xfrm>
            <a:off x="1600200" y="3857625"/>
            <a:ext cx="1981200" cy="461665"/>
          </a:xfrm>
          <a:prstGeom prst="rect">
            <a:avLst/>
          </a:prstGeom>
          <a:solidFill>
            <a:schemeClr val="accent3"/>
          </a:solidFill>
          <a:ln w="12700">
            <a:solidFill>
              <a:schemeClr val="tx1"/>
            </a:solidFill>
            <a:miter lim="800000"/>
            <a:headEnd/>
            <a:tailEnd/>
          </a:ln>
          <a:effectLst/>
        </p:spPr>
        <p:txBody>
          <a:bodyPr>
            <a:spAutoFit/>
          </a:bodyPr>
          <a:lstStyle/>
          <a:p>
            <a:pPr algn="ctr">
              <a:spcBef>
                <a:spcPct val="50000"/>
              </a:spcBef>
              <a:defRPr/>
            </a:pPr>
            <a:r>
              <a:rPr lang="en-US" altLang="en-US" sz="2400" dirty="0">
                <a:effectLst>
                  <a:outerShdw blurRad="38100" dist="38100" dir="2700000" algn="tl">
                    <a:srgbClr val="C0C0C0"/>
                  </a:outerShdw>
                </a:effectLst>
              </a:rPr>
              <a:t>E</a:t>
            </a:r>
          </a:p>
        </p:txBody>
      </p:sp>
      <p:sp>
        <p:nvSpPr>
          <p:cNvPr id="16" name="AutoShape 15">
            <a:extLst>
              <a:ext uri="{FF2B5EF4-FFF2-40B4-BE49-F238E27FC236}">
                <a16:creationId xmlns:a16="http://schemas.microsoft.com/office/drawing/2014/main" id="{104A5794-F7AC-3A32-775A-1AAC38CC1A50}"/>
              </a:ext>
            </a:extLst>
          </p:cNvPr>
          <p:cNvSpPr>
            <a:spLocks noChangeArrowheads="1"/>
          </p:cNvSpPr>
          <p:nvPr/>
        </p:nvSpPr>
        <p:spPr bwMode="auto">
          <a:xfrm rot="11017969">
            <a:off x="304801" y="4481215"/>
            <a:ext cx="1676400" cy="990600"/>
          </a:xfrm>
          <a:prstGeom prst="cloudCallout">
            <a:avLst>
              <a:gd name="adj1" fmla="val -60894"/>
              <a:gd name="adj2" fmla="val 66167"/>
            </a:avLst>
          </a:prstGeom>
          <a:noFill/>
          <a:ln w="12700">
            <a:solidFill>
              <a:schemeClr val="tx1"/>
            </a:solidFill>
            <a:round/>
            <a:headEnd/>
            <a:tailEnd/>
          </a:ln>
          <a:effectLst/>
        </p:spPr>
        <p:txBody>
          <a:bodyPr rot="10800000" wrap="none" anchor="ctr"/>
          <a:lstStyle/>
          <a:p>
            <a:pPr algn="ctr">
              <a:defRPr/>
            </a:pPr>
            <a:endParaRPr lang="en-US" altLang="en-US">
              <a:effectLst>
                <a:outerShdw blurRad="38100" dist="38100" dir="2700000" algn="tl">
                  <a:srgbClr val="C0C0C0"/>
                </a:outerShdw>
              </a:effectLst>
            </a:endParaRPr>
          </a:p>
        </p:txBody>
      </p:sp>
      <p:sp>
        <p:nvSpPr>
          <p:cNvPr id="17" name="Text Box 16">
            <a:extLst>
              <a:ext uri="{FF2B5EF4-FFF2-40B4-BE49-F238E27FC236}">
                <a16:creationId xmlns:a16="http://schemas.microsoft.com/office/drawing/2014/main" id="{BED63C95-CAD9-7493-0AA0-926733E4022A}"/>
              </a:ext>
            </a:extLst>
          </p:cNvPr>
          <p:cNvSpPr txBox="1">
            <a:spLocks noChangeArrowheads="1"/>
          </p:cNvSpPr>
          <p:nvPr/>
        </p:nvSpPr>
        <p:spPr bwMode="auto">
          <a:xfrm>
            <a:off x="457200" y="4814888"/>
            <a:ext cx="1524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a:latin typeface="Arial Narrow" panose="020B0606020202030204" pitchFamily="34" charset="0"/>
              </a:rPr>
              <a:t>{e1, e2, …, ej}</a:t>
            </a:r>
            <a:endParaRPr lang="en-US" altLang="en-US" sz="1800" b="0">
              <a:solidFill>
                <a:srgbClr val="FD020F"/>
              </a:solidFill>
            </a:endParaRPr>
          </a:p>
        </p:txBody>
      </p:sp>
      <p:sp>
        <p:nvSpPr>
          <p:cNvPr id="18" name="Text Box 17">
            <a:extLst>
              <a:ext uri="{FF2B5EF4-FFF2-40B4-BE49-F238E27FC236}">
                <a16:creationId xmlns:a16="http://schemas.microsoft.com/office/drawing/2014/main" id="{64278480-ED62-9F74-AADB-CA01FFE84813}"/>
              </a:ext>
            </a:extLst>
          </p:cNvPr>
          <p:cNvSpPr txBox="1">
            <a:spLocks noChangeArrowheads="1"/>
          </p:cNvSpPr>
          <p:nvPr/>
        </p:nvSpPr>
        <p:spPr bwMode="auto">
          <a:xfrm>
            <a:off x="4762502" y="2270125"/>
            <a:ext cx="685800" cy="461665"/>
          </a:xfrm>
          <a:prstGeom prst="rect">
            <a:avLst/>
          </a:prstGeom>
          <a:noFill/>
          <a:ln>
            <a:noFill/>
          </a:ln>
          <a:effectLst/>
        </p:spPr>
        <p:txBody>
          <a:bodyPr>
            <a:spAutoFit/>
          </a:bodyPr>
          <a:lstStyle/>
          <a:p>
            <a:pPr algn="ctr">
              <a:spcBef>
                <a:spcPct val="50000"/>
              </a:spcBef>
              <a:defRPr/>
            </a:pPr>
            <a:r>
              <a:rPr lang="en-US" altLang="en-US" sz="2400">
                <a:effectLst>
                  <a:outerShdw blurRad="38100" dist="38100" dir="2700000" algn="tl">
                    <a:srgbClr val="C0C0C0"/>
                  </a:outerShdw>
                </a:effectLst>
              </a:rPr>
              <a:t>E</a:t>
            </a:r>
          </a:p>
        </p:txBody>
      </p:sp>
      <p:sp>
        <p:nvSpPr>
          <p:cNvPr id="19" name="Rectangle 18">
            <a:extLst>
              <a:ext uri="{FF2B5EF4-FFF2-40B4-BE49-F238E27FC236}">
                <a16:creationId xmlns:a16="http://schemas.microsoft.com/office/drawing/2014/main" id="{0EAB474F-CCF6-B0C8-388D-207E7C983CD7}"/>
              </a:ext>
            </a:extLst>
          </p:cNvPr>
          <p:cNvSpPr>
            <a:spLocks noChangeArrowheads="1"/>
          </p:cNvSpPr>
          <p:nvPr/>
        </p:nvSpPr>
        <p:spPr bwMode="auto">
          <a:xfrm>
            <a:off x="4800600" y="2743200"/>
            <a:ext cx="3124200" cy="213360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0" name="Text Box 19">
            <a:extLst>
              <a:ext uri="{FF2B5EF4-FFF2-40B4-BE49-F238E27FC236}">
                <a16:creationId xmlns:a16="http://schemas.microsoft.com/office/drawing/2014/main" id="{D552CC9F-1C74-F407-C447-0647B5F4D852}"/>
              </a:ext>
            </a:extLst>
          </p:cNvPr>
          <p:cNvSpPr txBox="1">
            <a:spLocks noChangeArrowheads="1"/>
          </p:cNvSpPr>
          <p:nvPr/>
        </p:nvSpPr>
        <p:spPr bwMode="auto">
          <a:xfrm>
            <a:off x="4953000" y="2743200"/>
            <a:ext cx="289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a1    a2        …          ak</a:t>
            </a:r>
          </a:p>
        </p:txBody>
      </p:sp>
      <p:sp>
        <p:nvSpPr>
          <p:cNvPr id="21" name="Line 20">
            <a:extLst>
              <a:ext uri="{FF2B5EF4-FFF2-40B4-BE49-F238E27FC236}">
                <a16:creationId xmlns:a16="http://schemas.microsoft.com/office/drawing/2014/main" id="{28244EFD-8F36-364B-2E2F-F0A2BAA4FF0E}"/>
              </a:ext>
            </a:extLst>
          </p:cNvPr>
          <p:cNvSpPr>
            <a:spLocks noChangeShapeType="1"/>
          </p:cNvSpPr>
          <p:nvPr/>
        </p:nvSpPr>
        <p:spPr bwMode="auto">
          <a:xfrm>
            <a:off x="4800600" y="3200400"/>
            <a:ext cx="3124200"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2" name="Line 21">
            <a:extLst>
              <a:ext uri="{FF2B5EF4-FFF2-40B4-BE49-F238E27FC236}">
                <a16:creationId xmlns:a16="http://schemas.microsoft.com/office/drawing/2014/main" id="{A08AF535-06B6-7C17-940A-A678DCEA358A}"/>
              </a:ext>
            </a:extLst>
          </p:cNvPr>
          <p:cNvSpPr>
            <a:spLocks noChangeShapeType="1"/>
          </p:cNvSpPr>
          <p:nvPr/>
        </p:nvSpPr>
        <p:spPr bwMode="auto">
          <a:xfrm>
            <a:off x="5410200" y="2743200"/>
            <a:ext cx="0" cy="213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3" name="Line 22">
            <a:extLst>
              <a:ext uri="{FF2B5EF4-FFF2-40B4-BE49-F238E27FC236}">
                <a16:creationId xmlns:a16="http://schemas.microsoft.com/office/drawing/2014/main" id="{A1546EC5-29D8-A400-9043-BA0905E913A6}"/>
              </a:ext>
            </a:extLst>
          </p:cNvPr>
          <p:cNvSpPr>
            <a:spLocks noChangeShapeType="1"/>
          </p:cNvSpPr>
          <p:nvPr/>
        </p:nvSpPr>
        <p:spPr bwMode="auto">
          <a:xfrm>
            <a:off x="6019800" y="2743200"/>
            <a:ext cx="0" cy="213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4" name="Line 23">
            <a:extLst>
              <a:ext uri="{FF2B5EF4-FFF2-40B4-BE49-F238E27FC236}">
                <a16:creationId xmlns:a16="http://schemas.microsoft.com/office/drawing/2014/main" id="{66F2D58B-3004-F172-5A04-A19D705637E0}"/>
              </a:ext>
            </a:extLst>
          </p:cNvPr>
          <p:cNvSpPr>
            <a:spLocks noChangeShapeType="1"/>
          </p:cNvSpPr>
          <p:nvPr/>
        </p:nvSpPr>
        <p:spPr bwMode="auto">
          <a:xfrm>
            <a:off x="7239000" y="2743200"/>
            <a:ext cx="0" cy="213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5" name="Line 24">
            <a:extLst>
              <a:ext uri="{FF2B5EF4-FFF2-40B4-BE49-F238E27FC236}">
                <a16:creationId xmlns:a16="http://schemas.microsoft.com/office/drawing/2014/main" id="{6BBDBA24-A762-8251-2928-0ED099C7AA4B}"/>
              </a:ext>
            </a:extLst>
          </p:cNvPr>
          <p:cNvSpPr>
            <a:spLocks noChangeShapeType="1"/>
          </p:cNvSpPr>
          <p:nvPr/>
        </p:nvSpPr>
        <p:spPr bwMode="auto">
          <a:xfrm>
            <a:off x="4800600" y="3581400"/>
            <a:ext cx="31242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 name="Line 25">
            <a:extLst>
              <a:ext uri="{FF2B5EF4-FFF2-40B4-BE49-F238E27FC236}">
                <a16:creationId xmlns:a16="http://schemas.microsoft.com/office/drawing/2014/main" id="{3FF4653B-FAB1-6729-D3E9-AECAC67DD341}"/>
              </a:ext>
            </a:extLst>
          </p:cNvPr>
          <p:cNvSpPr>
            <a:spLocks noChangeShapeType="1"/>
          </p:cNvSpPr>
          <p:nvPr/>
        </p:nvSpPr>
        <p:spPr bwMode="auto">
          <a:xfrm>
            <a:off x="4800600" y="3962400"/>
            <a:ext cx="31242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7" name="Text Box 26">
            <a:extLst>
              <a:ext uri="{FF2B5EF4-FFF2-40B4-BE49-F238E27FC236}">
                <a16:creationId xmlns:a16="http://schemas.microsoft.com/office/drawing/2014/main" id="{6EDB92F1-9C3E-6CF8-8924-997363183489}"/>
              </a:ext>
            </a:extLst>
          </p:cNvPr>
          <p:cNvSpPr txBox="1">
            <a:spLocks noChangeArrowheads="1"/>
          </p:cNvSpPr>
          <p:nvPr/>
        </p:nvSpPr>
        <p:spPr bwMode="auto">
          <a:xfrm>
            <a:off x="4953000" y="3200400"/>
            <a:ext cx="289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chemeClr val="tx1"/>
                </a:solidFill>
              </a:rPr>
              <a:t>xx    yy        …          zz</a:t>
            </a:r>
          </a:p>
        </p:txBody>
      </p:sp>
      <p:sp>
        <p:nvSpPr>
          <p:cNvPr id="28" name="Text Box 27">
            <a:extLst>
              <a:ext uri="{FF2B5EF4-FFF2-40B4-BE49-F238E27FC236}">
                <a16:creationId xmlns:a16="http://schemas.microsoft.com/office/drawing/2014/main" id="{72853A1A-9BFF-4409-8555-B526C8F0FC8F}"/>
              </a:ext>
            </a:extLst>
          </p:cNvPr>
          <p:cNvSpPr txBox="1">
            <a:spLocks noChangeArrowheads="1"/>
          </p:cNvSpPr>
          <p:nvPr/>
        </p:nvSpPr>
        <p:spPr bwMode="auto">
          <a:xfrm>
            <a:off x="4343400" y="32004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e1</a:t>
            </a:r>
            <a:endParaRPr lang="en-US" altLang="en-US" sz="2000" b="0">
              <a:solidFill>
                <a:srgbClr val="FD020F"/>
              </a:solidFill>
            </a:endParaRPr>
          </a:p>
        </p:txBody>
      </p:sp>
      <p:sp>
        <p:nvSpPr>
          <p:cNvPr id="29" name="Text Box 28">
            <a:extLst>
              <a:ext uri="{FF2B5EF4-FFF2-40B4-BE49-F238E27FC236}">
                <a16:creationId xmlns:a16="http://schemas.microsoft.com/office/drawing/2014/main" id="{9B015EED-5C9B-A1D8-8D63-A742B8A182DA}"/>
              </a:ext>
            </a:extLst>
          </p:cNvPr>
          <p:cNvSpPr txBox="1">
            <a:spLocks noChangeArrowheads="1"/>
          </p:cNvSpPr>
          <p:nvPr/>
        </p:nvSpPr>
        <p:spPr bwMode="auto">
          <a:xfrm>
            <a:off x="4343400" y="35655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e2</a:t>
            </a:r>
            <a:endParaRPr lang="en-US" altLang="en-US" sz="2000" b="0">
              <a:solidFill>
                <a:srgbClr val="FD020F"/>
              </a:solidFill>
            </a:endParaRPr>
          </a:p>
        </p:txBody>
      </p:sp>
      <p:sp>
        <p:nvSpPr>
          <p:cNvPr id="30" name="Text Box 29">
            <a:extLst>
              <a:ext uri="{FF2B5EF4-FFF2-40B4-BE49-F238E27FC236}">
                <a16:creationId xmlns:a16="http://schemas.microsoft.com/office/drawing/2014/main" id="{6E93B652-2D34-E73F-62CE-F84A70360577}"/>
              </a:ext>
            </a:extLst>
          </p:cNvPr>
          <p:cNvSpPr txBox="1">
            <a:spLocks noChangeArrowheads="1"/>
          </p:cNvSpPr>
          <p:nvPr/>
        </p:nvSpPr>
        <p:spPr bwMode="auto">
          <a:xfrm>
            <a:off x="4343400" y="40989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a:t>
            </a:r>
            <a:endParaRPr lang="en-US" altLang="en-US" sz="2000" b="0">
              <a:solidFill>
                <a:srgbClr val="FD020F"/>
              </a:solidFill>
            </a:endParaRPr>
          </a:p>
        </p:txBody>
      </p:sp>
      <p:sp>
        <p:nvSpPr>
          <p:cNvPr id="31" name="AutoShape 30">
            <a:extLst>
              <a:ext uri="{FF2B5EF4-FFF2-40B4-BE49-F238E27FC236}">
                <a16:creationId xmlns:a16="http://schemas.microsoft.com/office/drawing/2014/main" id="{B237DB59-5AA7-90A3-6C74-12DA1C86170D}"/>
              </a:ext>
            </a:extLst>
          </p:cNvPr>
          <p:cNvSpPr>
            <a:spLocks noChangeArrowheads="1"/>
          </p:cNvSpPr>
          <p:nvPr/>
        </p:nvSpPr>
        <p:spPr bwMode="auto">
          <a:xfrm>
            <a:off x="3810000" y="3810000"/>
            <a:ext cx="533400" cy="304800"/>
          </a:xfrm>
          <a:prstGeom prst="rightArrow">
            <a:avLst>
              <a:gd name="adj1" fmla="val 50000"/>
              <a:gd name="adj2" fmla="val 43750"/>
            </a:avLst>
          </a:prstGeom>
          <a:solidFill>
            <a:schemeClr val="accent1"/>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2" name="AutoShape 31">
            <a:extLst>
              <a:ext uri="{FF2B5EF4-FFF2-40B4-BE49-F238E27FC236}">
                <a16:creationId xmlns:a16="http://schemas.microsoft.com/office/drawing/2014/main" id="{6BC655BB-4530-A5DD-F4A0-C32FAD6B03C7}"/>
              </a:ext>
            </a:extLst>
          </p:cNvPr>
          <p:cNvSpPr>
            <a:spLocks/>
          </p:cNvSpPr>
          <p:nvPr/>
        </p:nvSpPr>
        <p:spPr bwMode="auto">
          <a:xfrm>
            <a:off x="8001000" y="3200400"/>
            <a:ext cx="152400" cy="1676400"/>
          </a:xfrm>
          <a:prstGeom prst="rightBrace">
            <a:avLst>
              <a:gd name="adj1" fmla="val 91667"/>
              <a:gd name="adj2" fmla="val 50000"/>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Text Box 32">
            <a:extLst>
              <a:ext uri="{FF2B5EF4-FFF2-40B4-BE49-F238E27FC236}">
                <a16:creationId xmlns:a16="http://schemas.microsoft.com/office/drawing/2014/main" id="{612B92A6-7DDD-3760-106C-D11AF5ADAE95}"/>
              </a:ext>
            </a:extLst>
          </p:cNvPr>
          <p:cNvSpPr txBox="1">
            <a:spLocks noChangeArrowheads="1"/>
          </p:cNvSpPr>
          <p:nvPr/>
        </p:nvSpPr>
        <p:spPr bwMode="auto">
          <a:xfrm>
            <a:off x="8153400" y="3640138"/>
            <a:ext cx="838200"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600" b="0">
                <a:solidFill>
                  <a:srgbClr val="FD020F"/>
                </a:solidFill>
                <a:latin typeface="Arial Narrow" panose="020B0606020202030204" pitchFamily="34" charset="0"/>
              </a:rPr>
              <a:t>Data</a:t>
            </a:r>
          </a:p>
          <a:p>
            <a:pPr>
              <a:spcBef>
                <a:spcPct val="50000"/>
              </a:spcBef>
              <a:buClrTx/>
              <a:buSzTx/>
              <a:buFontTx/>
              <a:buNone/>
            </a:pPr>
            <a:r>
              <a:rPr lang="en-US" altLang="en-US" sz="1600" b="0">
                <a:solidFill>
                  <a:srgbClr val="FD020F"/>
                </a:solidFill>
                <a:latin typeface="Arial Narrow" panose="020B0606020202030204" pitchFamily="34" charset="0"/>
              </a:rPr>
              <a:t>(entities)</a:t>
            </a:r>
            <a:endParaRPr lang="en-US" altLang="en-US" sz="2000" b="0">
              <a:solidFill>
                <a:srgbClr val="FD020F"/>
              </a:solidFill>
              <a:latin typeface="Arial Narrow" panose="020B0606020202030204" pitchFamily="34" charset="0"/>
            </a:endParaRPr>
          </a:p>
        </p:txBody>
      </p:sp>
    </p:spTree>
    <p:extLst>
      <p:ext uri="{BB962C8B-B14F-4D97-AF65-F5344CB8AC3E}">
        <p14:creationId xmlns:p14="http://schemas.microsoft.com/office/powerpoint/2010/main" val="1084263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BEF3-2920-6B2B-14CD-FDB28EF90BD4}"/>
              </a:ext>
            </a:extLst>
          </p:cNvPr>
          <p:cNvSpPr>
            <a:spLocks noGrp="1"/>
          </p:cNvSpPr>
          <p:nvPr>
            <p:ph type="title"/>
          </p:nvPr>
        </p:nvSpPr>
        <p:spPr/>
        <p:txBody>
          <a:bodyPr>
            <a:normAutofit/>
          </a:bodyPr>
          <a:lstStyle/>
          <a:p>
            <a:r>
              <a:rPr lang="en-US" altLang="en-US" dirty="0">
                <a:effectLst>
                  <a:outerShdw blurRad="38100" dist="38100" dir="2700000" algn="tl">
                    <a:srgbClr val="C0C0C0"/>
                  </a:outerShdw>
                </a:effectLst>
              </a:rPr>
              <a:t>Mapping ER Diagrams into Tables</a:t>
            </a:r>
            <a:endParaRPr lang="en-US" dirty="0"/>
          </a:p>
        </p:txBody>
      </p:sp>
      <p:sp>
        <p:nvSpPr>
          <p:cNvPr id="4" name="Slide Number Placeholder 3">
            <a:extLst>
              <a:ext uri="{FF2B5EF4-FFF2-40B4-BE49-F238E27FC236}">
                <a16:creationId xmlns:a16="http://schemas.microsoft.com/office/drawing/2014/main" id="{D5E428EC-D0A9-F301-ACFB-ED091008683F}"/>
              </a:ext>
            </a:extLst>
          </p:cNvPr>
          <p:cNvSpPr>
            <a:spLocks noGrp="1"/>
          </p:cNvSpPr>
          <p:nvPr>
            <p:ph type="sldNum" sz="quarter" idx="12"/>
          </p:nvPr>
        </p:nvSpPr>
        <p:spPr/>
        <p:txBody>
          <a:bodyPr/>
          <a:lstStyle/>
          <a:p>
            <a:fld id="{5FCA4BC5-AE2A-401E-9EDD-DF8812A14A6A}" type="slidenum">
              <a:rPr lang="en-US" smtClean="0"/>
              <a:t>12</a:t>
            </a:fld>
            <a:endParaRPr lang="en-US" dirty="0"/>
          </a:p>
        </p:txBody>
      </p:sp>
      <p:sp>
        <p:nvSpPr>
          <p:cNvPr id="34" name="Line 49">
            <a:extLst>
              <a:ext uri="{FF2B5EF4-FFF2-40B4-BE49-F238E27FC236}">
                <a16:creationId xmlns:a16="http://schemas.microsoft.com/office/drawing/2014/main" id="{746DD8F2-3E36-D53B-F06D-CAC1792FA4D6}"/>
              </a:ext>
            </a:extLst>
          </p:cNvPr>
          <p:cNvSpPr>
            <a:spLocks noChangeShapeType="1"/>
          </p:cNvSpPr>
          <p:nvPr/>
        </p:nvSpPr>
        <p:spPr bwMode="auto">
          <a:xfrm>
            <a:off x="4953000" y="3636962"/>
            <a:ext cx="1066800" cy="0"/>
          </a:xfrm>
          <a:prstGeom prst="line">
            <a:avLst/>
          </a:prstGeom>
          <a:noFill/>
          <a:ln w="38100">
            <a:solidFill>
              <a:schemeClr val="tx1"/>
            </a:solidFill>
            <a:round/>
            <a:headEnd/>
            <a:tailEnd/>
          </a:ln>
          <a:effectLst/>
        </p:spPr>
        <p:txBody>
          <a:bodyPr wrap="none" anchor="ctr"/>
          <a:lstStyle/>
          <a:p>
            <a:pPr>
              <a:defRPr/>
            </a:pPr>
            <a:endParaRPr lang="en-US">
              <a:ln w="57150">
                <a:solidFill>
                  <a:schemeClr val="tx1"/>
                </a:solidFill>
              </a:ln>
              <a:effectLst>
                <a:outerShdw blurRad="38100" dist="38100" dir="2700000" algn="tl">
                  <a:srgbClr val="000000">
                    <a:alpha val="43137"/>
                  </a:srgbClr>
                </a:outerShdw>
              </a:effectLst>
            </a:endParaRPr>
          </a:p>
        </p:txBody>
      </p:sp>
      <p:sp>
        <p:nvSpPr>
          <p:cNvPr id="37" name="AutoShape 34">
            <a:extLst>
              <a:ext uri="{FF2B5EF4-FFF2-40B4-BE49-F238E27FC236}">
                <a16:creationId xmlns:a16="http://schemas.microsoft.com/office/drawing/2014/main" id="{F82798FB-DF2D-0A93-6DAE-1902E31671E2}"/>
              </a:ext>
            </a:extLst>
          </p:cNvPr>
          <p:cNvSpPr>
            <a:spLocks noChangeArrowheads="1"/>
          </p:cNvSpPr>
          <p:nvPr/>
        </p:nvSpPr>
        <p:spPr bwMode="auto">
          <a:xfrm>
            <a:off x="914400" y="2133600"/>
            <a:ext cx="1981200" cy="685800"/>
          </a:xfrm>
          <a:prstGeom prst="roundRect">
            <a:avLst>
              <a:gd name="adj" fmla="val 16667"/>
            </a:avLst>
          </a:prstGeom>
          <a:solidFill>
            <a:schemeClr val="bg1">
              <a:lumMod val="85000"/>
            </a:schemeClr>
          </a:solid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8" name="Line 2">
            <a:extLst>
              <a:ext uri="{FF2B5EF4-FFF2-40B4-BE49-F238E27FC236}">
                <a16:creationId xmlns:a16="http://schemas.microsoft.com/office/drawing/2014/main" id="{CCB19FB4-5743-0C90-05C6-16ED36D4D11C}"/>
              </a:ext>
            </a:extLst>
          </p:cNvPr>
          <p:cNvSpPr>
            <a:spLocks noChangeShapeType="1"/>
          </p:cNvSpPr>
          <p:nvPr/>
        </p:nvSpPr>
        <p:spPr bwMode="auto">
          <a:xfrm flipV="1">
            <a:off x="2971800" y="2743200"/>
            <a:ext cx="5334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9" name="Oval 5">
            <a:extLst>
              <a:ext uri="{FF2B5EF4-FFF2-40B4-BE49-F238E27FC236}">
                <a16:creationId xmlns:a16="http://schemas.microsoft.com/office/drawing/2014/main" id="{D763260D-5AFB-8613-C6A4-7A16BE62A68D}"/>
              </a:ext>
            </a:extLst>
          </p:cNvPr>
          <p:cNvSpPr>
            <a:spLocks noChangeArrowheads="1"/>
          </p:cNvSpPr>
          <p:nvPr/>
        </p:nvSpPr>
        <p:spPr bwMode="auto">
          <a:xfrm>
            <a:off x="1066800" y="22098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0" name="Text Box 6">
            <a:extLst>
              <a:ext uri="{FF2B5EF4-FFF2-40B4-BE49-F238E27FC236}">
                <a16:creationId xmlns:a16="http://schemas.microsoft.com/office/drawing/2014/main" id="{CDD988E6-3044-47DE-7EA5-E198AF2A9A1D}"/>
              </a:ext>
            </a:extLst>
          </p:cNvPr>
          <p:cNvSpPr txBox="1">
            <a:spLocks noChangeArrowheads="1"/>
          </p:cNvSpPr>
          <p:nvPr/>
        </p:nvSpPr>
        <p:spPr bwMode="auto">
          <a:xfrm>
            <a:off x="1219200" y="22701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dirty="0">
                <a:solidFill>
                  <a:srgbClr val="FD020F"/>
                </a:solidFill>
              </a:rPr>
              <a:t>s1</a:t>
            </a:r>
          </a:p>
        </p:txBody>
      </p:sp>
      <p:sp>
        <p:nvSpPr>
          <p:cNvPr id="41" name="Oval 7">
            <a:extLst>
              <a:ext uri="{FF2B5EF4-FFF2-40B4-BE49-F238E27FC236}">
                <a16:creationId xmlns:a16="http://schemas.microsoft.com/office/drawing/2014/main" id="{AC427153-C562-D601-9BFA-4F6E0D9D28D2}"/>
              </a:ext>
            </a:extLst>
          </p:cNvPr>
          <p:cNvSpPr>
            <a:spLocks noChangeArrowheads="1"/>
          </p:cNvSpPr>
          <p:nvPr/>
        </p:nvSpPr>
        <p:spPr bwMode="auto">
          <a:xfrm>
            <a:off x="2133600" y="22098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2" name="Text Box 8">
            <a:extLst>
              <a:ext uri="{FF2B5EF4-FFF2-40B4-BE49-F238E27FC236}">
                <a16:creationId xmlns:a16="http://schemas.microsoft.com/office/drawing/2014/main" id="{F2599F63-3CB6-DDED-A4D3-0C4ECA7DCEEF}"/>
              </a:ext>
            </a:extLst>
          </p:cNvPr>
          <p:cNvSpPr txBox="1">
            <a:spLocks noChangeArrowheads="1"/>
          </p:cNvSpPr>
          <p:nvPr/>
        </p:nvSpPr>
        <p:spPr bwMode="auto">
          <a:xfrm>
            <a:off x="2286000" y="22701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sr</a:t>
            </a:r>
          </a:p>
        </p:txBody>
      </p:sp>
      <p:sp>
        <p:nvSpPr>
          <p:cNvPr id="43" name="Text Box 9">
            <a:extLst>
              <a:ext uri="{FF2B5EF4-FFF2-40B4-BE49-F238E27FC236}">
                <a16:creationId xmlns:a16="http://schemas.microsoft.com/office/drawing/2014/main" id="{8BC188A2-C1F6-81A2-5A04-5B5CA7B3BE51}"/>
              </a:ext>
            </a:extLst>
          </p:cNvPr>
          <p:cNvSpPr txBox="1">
            <a:spLocks noChangeArrowheads="1"/>
          </p:cNvSpPr>
          <p:nvPr/>
        </p:nvSpPr>
        <p:spPr bwMode="auto">
          <a:xfrm>
            <a:off x="3352800" y="22860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dirty="0" err="1">
                <a:solidFill>
                  <a:srgbClr val="FD020F"/>
                </a:solidFill>
              </a:rPr>
              <a:t>sn</a:t>
            </a:r>
            <a:endParaRPr lang="en-US" altLang="en-US" sz="2000" b="0" dirty="0">
              <a:solidFill>
                <a:srgbClr val="FD020F"/>
              </a:solidFill>
            </a:endParaRPr>
          </a:p>
        </p:txBody>
      </p:sp>
      <p:sp>
        <p:nvSpPr>
          <p:cNvPr id="44" name="Oval 10">
            <a:extLst>
              <a:ext uri="{FF2B5EF4-FFF2-40B4-BE49-F238E27FC236}">
                <a16:creationId xmlns:a16="http://schemas.microsoft.com/office/drawing/2014/main" id="{BB80C954-2DB6-A811-9BF7-661984C4F7DF}"/>
              </a:ext>
            </a:extLst>
          </p:cNvPr>
          <p:cNvSpPr>
            <a:spLocks noChangeArrowheads="1"/>
          </p:cNvSpPr>
          <p:nvPr/>
        </p:nvSpPr>
        <p:spPr bwMode="auto">
          <a:xfrm>
            <a:off x="3200400" y="22098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5" name="Line 11">
            <a:extLst>
              <a:ext uri="{FF2B5EF4-FFF2-40B4-BE49-F238E27FC236}">
                <a16:creationId xmlns:a16="http://schemas.microsoft.com/office/drawing/2014/main" id="{3D25928C-E207-0155-3C87-9A6E73C66D3A}"/>
              </a:ext>
            </a:extLst>
          </p:cNvPr>
          <p:cNvSpPr>
            <a:spLocks noChangeShapeType="1"/>
          </p:cNvSpPr>
          <p:nvPr/>
        </p:nvSpPr>
        <p:spPr bwMode="auto">
          <a:xfrm>
            <a:off x="1447800" y="2743200"/>
            <a:ext cx="6096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6" name="Line 12">
            <a:extLst>
              <a:ext uri="{FF2B5EF4-FFF2-40B4-BE49-F238E27FC236}">
                <a16:creationId xmlns:a16="http://schemas.microsoft.com/office/drawing/2014/main" id="{7D3C6162-5C7A-1D65-DF31-182B49C00BE5}"/>
              </a:ext>
            </a:extLst>
          </p:cNvPr>
          <p:cNvSpPr>
            <a:spLocks noChangeShapeType="1"/>
          </p:cNvSpPr>
          <p:nvPr/>
        </p:nvSpPr>
        <p:spPr bwMode="auto">
          <a:xfrm>
            <a:off x="2514600" y="2743200"/>
            <a:ext cx="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7" name="Text Box 13">
            <a:extLst>
              <a:ext uri="{FF2B5EF4-FFF2-40B4-BE49-F238E27FC236}">
                <a16:creationId xmlns:a16="http://schemas.microsoft.com/office/drawing/2014/main" id="{579AF1CF-0E97-70C5-B691-E39BCD9BCF0A}"/>
              </a:ext>
            </a:extLst>
          </p:cNvPr>
          <p:cNvSpPr txBox="1">
            <a:spLocks noChangeArrowheads="1"/>
          </p:cNvSpPr>
          <p:nvPr/>
        </p:nvSpPr>
        <p:spPr bwMode="auto">
          <a:xfrm>
            <a:off x="2819400" y="2514600"/>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48" name="Text Box 14">
            <a:extLst>
              <a:ext uri="{FF2B5EF4-FFF2-40B4-BE49-F238E27FC236}">
                <a16:creationId xmlns:a16="http://schemas.microsoft.com/office/drawing/2014/main" id="{26F445BB-1FC4-169F-D937-3C2D34BF9AC8}"/>
              </a:ext>
            </a:extLst>
          </p:cNvPr>
          <p:cNvSpPr txBox="1">
            <a:spLocks noChangeArrowheads="1"/>
          </p:cNvSpPr>
          <p:nvPr/>
        </p:nvSpPr>
        <p:spPr bwMode="auto">
          <a:xfrm>
            <a:off x="1524000" y="3429000"/>
            <a:ext cx="1981200" cy="409575"/>
          </a:xfrm>
          <a:prstGeom prst="rect">
            <a:avLst/>
          </a:prstGeom>
          <a:noFill/>
          <a:ln w="12700">
            <a:solidFill>
              <a:schemeClr val="tx1"/>
            </a:solidFill>
            <a:miter lim="800000"/>
            <a:headEnd/>
            <a:tailEnd/>
          </a:ln>
          <a:effectLst/>
        </p:spPr>
        <p:txBody>
          <a:bodyPr>
            <a:spAutoFit/>
          </a:bodyPr>
          <a:lstStyle/>
          <a:p>
            <a:pPr algn="ctr">
              <a:spcBef>
                <a:spcPct val="50000"/>
              </a:spcBef>
              <a:defRPr/>
            </a:pPr>
            <a:r>
              <a:rPr lang="en-US" altLang="en-US">
                <a:effectLst>
                  <a:outerShdw blurRad="38100" dist="38100" dir="2700000" algn="tl">
                    <a:srgbClr val="C0C0C0"/>
                  </a:outerShdw>
                </a:effectLst>
              </a:rPr>
              <a:t>ES</a:t>
            </a:r>
          </a:p>
        </p:txBody>
      </p:sp>
      <p:sp>
        <p:nvSpPr>
          <p:cNvPr id="49" name="Text Box 33">
            <a:extLst>
              <a:ext uri="{FF2B5EF4-FFF2-40B4-BE49-F238E27FC236}">
                <a16:creationId xmlns:a16="http://schemas.microsoft.com/office/drawing/2014/main" id="{DAAA714F-C96F-6950-53CF-7C167494B7F8}"/>
              </a:ext>
            </a:extLst>
          </p:cNvPr>
          <p:cNvSpPr txBox="1">
            <a:spLocks noChangeArrowheads="1"/>
          </p:cNvSpPr>
          <p:nvPr/>
        </p:nvSpPr>
        <p:spPr bwMode="auto">
          <a:xfrm>
            <a:off x="1752600" y="2362200"/>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50" name="Text Box 35">
            <a:extLst>
              <a:ext uri="{FF2B5EF4-FFF2-40B4-BE49-F238E27FC236}">
                <a16:creationId xmlns:a16="http://schemas.microsoft.com/office/drawing/2014/main" id="{64D6B298-13AE-C168-A466-E270F9C9F509}"/>
              </a:ext>
            </a:extLst>
          </p:cNvPr>
          <p:cNvSpPr txBox="1">
            <a:spLocks noChangeArrowheads="1"/>
          </p:cNvSpPr>
          <p:nvPr/>
        </p:nvSpPr>
        <p:spPr bwMode="auto">
          <a:xfrm>
            <a:off x="848927" y="1789112"/>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dirty="0">
                <a:solidFill>
                  <a:srgbClr val="FD020F"/>
                </a:solidFill>
                <a:latin typeface="Arial Narrow" panose="020B0606020202030204" pitchFamily="34" charset="0"/>
              </a:rPr>
              <a:t>Primary key</a:t>
            </a:r>
          </a:p>
        </p:txBody>
      </p:sp>
      <p:sp>
        <p:nvSpPr>
          <p:cNvPr id="51" name="Text Box 36">
            <a:extLst>
              <a:ext uri="{FF2B5EF4-FFF2-40B4-BE49-F238E27FC236}">
                <a16:creationId xmlns:a16="http://schemas.microsoft.com/office/drawing/2014/main" id="{E7646D37-D912-600B-BEED-3BF86AE3ABEF}"/>
              </a:ext>
            </a:extLst>
          </p:cNvPr>
          <p:cNvSpPr txBox="1">
            <a:spLocks noChangeArrowheads="1"/>
          </p:cNvSpPr>
          <p:nvPr/>
        </p:nvSpPr>
        <p:spPr bwMode="auto">
          <a:xfrm>
            <a:off x="6027738" y="3429000"/>
            <a:ext cx="2049462" cy="369332"/>
          </a:xfrm>
          <a:prstGeom prst="rect">
            <a:avLst/>
          </a:prstGeom>
          <a:noFill/>
          <a:ln w="38100">
            <a:solidFill>
              <a:schemeClr val="tx1"/>
            </a:solidFill>
            <a:miter lim="800000"/>
            <a:headEnd/>
            <a:tailEnd/>
          </a:ln>
          <a:effectLst/>
        </p:spPr>
        <p:txBody>
          <a:bodyPr wrap="square">
            <a:spAutoFit/>
          </a:bodyPr>
          <a:lstStyle/>
          <a:p>
            <a:pPr algn="ctr">
              <a:spcBef>
                <a:spcPct val="50000"/>
              </a:spcBef>
              <a:defRPr/>
            </a:pPr>
            <a:r>
              <a:rPr lang="en-US" altLang="en-US" dirty="0">
                <a:effectLst>
                  <a:outerShdw blurRad="38100" dist="38100" dir="2700000" algn="tl">
                    <a:srgbClr val="C0C0C0"/>
                  </a:outerShdw>
                </a:effectLst>
              </a:rPr>
              <a:t>EW</a:t>
            </a:r>
          </a:p>
        </p:txBody>
      </p:sp>
      <p:sp>
        <p:nvSpPr>
          <p:cNvPr id="53" name="Oval 38">
            <a:extLst>
              <a:ext uri="{FF2B5EF4-FFF2-40B4-BE49-F238E27FC236}">
                <a16:creationId xmlns:a16="http://schemas.microsoft.com/office/drawing/2014/main" id="{C54629B8-ADE0-3F41-B746-7771F11F4E87}"/>
              </a:ext>
            </a:extLst>
          </p:cNvPr>
          <p:cNvSpPr>
            <a:spLocks noChangeArrowheads="1"/>
          </p:cNvSpPr>
          <p:nvPr/>
        </p:nvSpPr>
        <p:spPr bwMode="auto">
          <a:xfrm>
            <a:off x="5638800" y="22860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4" name="Text Box 39">
            <a:extLst>
              <a:ext uri="{FF2B5EF4-FFF2-40B4-BE49-F238E27FC236}">
                <a16:creationId xmlns:a16="http://schemas.microsoft.com/office/drawing/2014/main" id="{B5AC4D5E-7A79-9AFB-89B7-EC8B48753871}"/>
              </a:ext>
            </a:extLst>
          </p:cNvPr>
          <p:cNvSpPr txBox="1">
            <a:spLocks noChangeArrowheads="1"/>
          </p:cNvSpPr>
          <p:nvPr/>
        </p:nvSpPr>
        <p:spPr bwMode="auto">
          <a:xfrm>
            <a:off x="5715000" y="23463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dirty="0">
                <a:solidFill>
                  <a:srgbClr val="FD020F"/>
                </a:solidFill>
              </a:rPr>
              <a:t>w1</a:t>
            </a:r>
          </a:p>
        </p:txBody>
      </p:sp>
      <p:sp>
        <p:nvSpPr>
          <p:cNvPr id="55" name="Text Box 40">
            <a:extLst>
              <a:ext uri="{FF2B5EF4-FFF2-40B4-BE49-F238E27FC236}">
                <a16:creationId xmlns:a16="http://schemas.microsoft.com/office/drawing/2014/main" id="{28B1EEB1-AA05-5136-C5BE-B25EAD5011E0}"/>
              </a:ext>
            </a:extLst>
          </p:cNvPr>
          <p:cNvSpPr txBox="1">
            <a:spLocks noChangeArrowheads="1"/>
          </p:cNvSpPr>
          <p:nvPr/>
        </p:nvSpPr>
        <p:spPr bwMode="auto">
          <a:xfrm>
            <a:off x="7543800" y="2346325"/>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wm</a:t>
            </a:r>
          </a:p>
        </p:txBody>
      </p:sp>
      <p:sp>
        <p:nvSpPr>
          <p:cNvPr id="56" name="Oval 41">
            <a:extLst>
              <a:ext uri="{FF2B5EF4-FFF2-40B4-BE49-F238E27FC236}">
                <a16:creationId xmlns:a16="http://schemas.microsoft.com/office/drawing/2014/main" id="{F7F24339-7048-D4D1-3E70-2C0E4A4A907F}"/>
              </a:ext>
            </a:extLst>
          </p:cNvPr>
          <p:cNvSpPr>
            <a:spLocks noChangeArrowheads="1"/>
          </p:cNvSpPr>
          <p:nvPr/>
        </p:nvSpPr>
        <p:spPr bwMode="auto">
          <a:xfrm>
            <a:off x="7467600" y="2286000"/>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7" name="Text Box 42">
            <a:extLst>
              <a:ext uri="{FF2B5EF4-FFF2-40B4-BE49-F238E27FC236}">
                <a16:creationId xmlns:a16="http://schemas.microsoft.com/office/drawing/2014/main" id="{5F1441F7-3257-ABF0-79B9-B1444D8A7DDF}"/>
              </a:ext>
            </a:extLst>
          </p:cNvPr>
          <p:cNvSpPr txBox="1">
            <a:spLocks noChangeArrowheads="1"/>
          </p:cNvSpPr>
          <p:nvPr/>
        </p:nvSpPr>
        <p:spPr bwMode="auto">
          <a:xfrm>
            <a:off x="6629400" y="2362200"/>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58" name="Line 43">
            <a:extLst>
              <a:ext uri="{FF2B5EF4-FFF2-40B4-BE49-F238E27FC236}">
                <a16:creationId xmlns:a16="http://schemas.microsoft.com/office/drawing/2014/main" id="{91C8717D-35D7-553F-3289-3FBFECA8D844}"/>
              </a:ext>
            </a:extLst>
          </p:cNvPr>
          <p:cNvSpPr>
            <a:spLocks noChangeShapeType="1"/>
          </p:cNvSpPr>
          <p:nvPr/>
        </p:nvSpPr>
        <p:spPr bwMode="auto">
          <a:xfrm>
            <a:off x="6019800" y="2819399"/>
            <a:ext cx="495300" cy="593723"/>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9" name="Line 44">
            <a:extLst>
              <a:ext uri="{FF2B5EF4-FFF2-40B4-BE49-F238E27FC236}">
                <a16:creationId xmlns:a16="http://schemas.microsoft.com/office/drawing/2014/main" id="{67052298-051B-D581-9D3F-088B7436F39B}"/>
              </a:ext>
            </a:extLst>
          </p:cNvPr>
          <p:cNvSpPr>
            <a:spLocks noChangeShapeType="1"/>
          </p:cNvSpPr>
          <p:nvPr/>
        </p:nvSpPr>
        <p:spPr bwMode="auto">
          <a:xfrm flipH="1">
            <a:off x="7315200" y="2819400"/>
            <a:ext cx="457200" cy="606426"/>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0" name="Text Box 50">
            <a:extLst>
              <a:ext uri="{FF2B5EF4-FFF2-40B4-BE49-F238E27FC236}">
                <a16:creationId xmlns:a16="http://schemas.microsoft.com/office/drawing/2014/main" id="{F75B02EB-5832-1A54-DE7D-96D01BC59513}"/>
              </a:ext>
            </a:extLst>
          </p:cNvPr>
          <p:cNvSpPr txBox="1">
            <a:spLocks noChangeArrowheads="1"/>
          </p:cNvSpPr>
          <p:nvPr/>
        </p:nvSpPr>
        <p:spPr bwMode="auto">
          <a:xfrm>
            <a:off x="381000" y="4267200"/>
            <a:ext cx="990600" cy="396875"/>
          </a:xfrm>
          <a:prstGeom prst="rect">
            <a:avLst/>
          </a:prstGeom>
          <a:noFill/>
          <a:ln>
            <a:noFill/>
          </a:ln>
          <a:effectLst/>
        </p:spPr>
        <p:txBody>
          <a:bodyPr>
            <a:spAutoFit/>
          </a:bodyPr>
          <a:lstStyle/>
          <a:p>
            <a:pPr algn="ctr">
              <a:spcBef>
                <a:spcPct val="50000"/>
              </a:spcBef>
              <a:defRPr/>
            </a:pPr>
            <a:r>
              <a:rPr lang="en-US" altLang="en-US" dirty="0">
                <a:effectLst>
                  <a:outerShdw blurRad="38100" dist="38100" dir="2700000" algn="tl">
                    <a:srgbClr val="C0C0C0"/>
                  </a:outerShdw>
                </a:effectLst>
              </a:rPr>
              <a:t>ES</a:t>
            </a:r>
          </a:p>
        </p:txBody>
      </p:sp>
      <p:sp>
        <p:nvSpPr>
          <p:cNvPr id="61" name="Rectangle 51">
            <a:extLst>
              <a:ext uri="{FF2B5EF4-FFF2-40B4-BE49-F238E27FC236}">
                <a16:creationId xmlns:a16="http://schemas.microsoft.com/office/drawing/2014/main" id="{8ED3F951-F23B-FF54-5AE1-5C5CBD8CEE02}"/>
              </a:ext>
            </a:extLst>
          </p:cNvPr>
          <p:cNvSpPr>
            <a:spLocks noChangeArrowheads="1"/>
          </p:cNvSpPr>
          <p:nvPr/>
        </p:nvSpPr>
        <p:spPr bwMode="auto">
          <a:xfrm>
            <a:off x="762000" y="4724400"/>
            <a:ext cx="2971800" cy="152400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2" name="Text Box 52">
            <a:extLst>
              <a:ext uri="{FF2B5EF4-FFF2-40B4-BE49-F238E27FC236}">
                <a16:creationId xmlns:a16="http://schemas.microsoft.com/office/drawing/2014/main" id="{046E6907-CFD3-003B-6CFF-F0816758B2C4}"/>
              </a:ext>
            </a:extLst>
          </p:cNvPr>
          <p:cNvSpPr txBox="1">
            <a:spLocks noChangeArrowheads="1"/>
          </p:cNvSpPr>
          <p:nvPr/>
        </p:nvSpPr>
        <p:spPr bwMode="auto">
          <a:xfrm>
            <a:off x="838200" y="4708525"/>
            <a:ext cx="2895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u="sng">
                <a:solidFill>
                  <a:srgbClr val="FD020F"/>
                </a:solidFill>
              </a:rPr>
              <a:t>s1</a:t>
            </a:r>
            <a:r>
              <a:rPr lang="en-US" altLang="en-US" sz="2000" b="0">
                <a:solidFill>
                  <a:srgbClr val="FD020F"/>
                </a:solidFill>
              </a:rPr>
              <a:t>   …   </a:t>
            </a:r>
            <a:r>
              <a:rPr lang="en-US" altLang="en-US" sz="2000" b="0" u="sng">
                <a:solidFill>
                  <a:srgbClr val="FD020F"/>
                </a:solidFill>
              </a:rPr>
              <a:t>sr </a:t>
            </a:r>
            <a:r>
              <a:rPr lang="en-US" altLang="en-US" sz="2000" b="0">
                <a:solidFill>
                  <a:srgbClr val="FD020F"/>
                </a:solidFill>
              </a:rPr>
              <a:t>      ...       sn</a:t>
            </a:r>
          </a:p>
        </p:txBody>
      </p:sp>
      <p:sp>
        <p:nvSpPr>
          <p:cNvPr id="63" name="Line 53">
            <a:extLst>
              <a:ext uri="{FF2B5EF4-FFF2-40B4-BE49-F238E27FC236}">
                <a16:creationId xmlns:a16="http://schemas.microsoft.com/office/drawing/2014/main" id="{A9E277B3-A133-3228-B8F5-51A4F4B5717C}"/>
              </a:ext>
            </a:extLst>
          </p:cNvPr>
          <p:cNvSpPr>
            <a:spLocks noChangeShapeType="1"/>
          </p:cNvSpPr>
          <p:nvPr/>
        </p:nvSpPr>
        <p:spPr bwMode="auto">
          <a:xfrm>
            <a:off x="762000" y="5105400"/>
            <a:ext cx="29718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4" name="Line 54">
            <a:extLst>
              <a:ext uri="{FF2B5EF4-FFF2-40B4-BE49-F238E27FC236}">
                <a16:creationId xmlns:a16="http://schemas.microsoft.com/office/drawing/2014/main" id="{D48BCDCC-FE8E-062C-B7A8-23A0063D9CDA}"/>
              </a:ext>
            </a:extLst>
          </p:cNvPr>
          <p:cNvSpPr>
            <a:spLocks noChangeShapeType="1"/>
          </p:cNvSpPr>
          <p:nvPr/>
        </p:nvSpPr>
        <p:spPr bwMode="auto">
          <a:xfrm>
            <a:off x="1295400" y="4724400"/>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5" name="Line 55">
            <a:extLst>
              <a:ext uri="{FF2B5EF4-FFF2-40B4-BE49-F238E27FC236}">
                <a16:creationId xmlns:a16="http://schemas.microsoft.com/office/drawing/2014/main" id="{F9FA7CBA-EB7C-D940-4F33-ABA4DA64D7B9}"/>
              </a:ext>
            </a:extLst>
          </p:cNvPr>
          <p:cNvSpPr>
            <a:spLocks noChangeShapeType="1"/>
          </p:cNvSpPr>
          <p:nvPr/>
        </p:nvSpPr>
        <p:spPr bwMode="auto">
          <a:xfrm>
            <a:off x="2286000" y="4724400"/>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6" name="Line 56">
            <a:extLst>
              <a:ext uri="{FF2B5EF4-FFF2-40B4-BE49-F238E27FC236}">
                <a16:creationId xmlns:a16="http://schemas.microsoft.com/office/drawing/2014/main" id="{773F0235-C66A-FD5A-B177-996F26E97955}"/>
              </a:ext>
            </a:extLst>
          </p:cNvPr>
          <p:cNvSpPr>
            <a:spLocks noChangeShapeType="1"/>
          </p:cNvSpPr>
          <p:nvPr/>
        </p:nvSpPr>
        <p:spPr bwMode="auto">
          <a:xfrm>
            <a:off x="3124200" y="4724400"/>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7" name="AutoShape 57">
            <a:extLst>
              <a:ext uri="{FF2B5EF4-FFF2-40B4-BE49-F238E27FC236}">
                <a16:creationId xmlns:a16="http://schemas.microsoft.com/office/drawing/2014/main" id="{6BA80750-F7FB-FFF8-F8BB-12D4A5EECF61}"/>
              </a:ext>
            </a:extLst>
          </p:cNvPr>
          <p:cNvSpPr>
            <a:spLocks noChangeArrowheads="1"/>
          </p:cNvSpPr>
          <p:nvPr/>
        </p:nvSpPr>
        <p:spPr bwMode="auto">
          <a:xfrm>
            <a:off x="2438400" y="4038600"/>
            <a:ext cx="228600" cy="549275"/>
          </a:xfrm>
          <a:prstGeom prst="downArrow">
            <a:avLst>
              <a:gd name="adj1" fmla="val 50000"/>
              <a:gd name="adj2" fmla="val 41667"/>
            </a:avLst>
          </a:prstGeom>
          <a:solidFill>
            <a:schemeClr val="accent1"/>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8" name="Text Box 58">
            <a:extLst>
              <a:ext uri="{FF2B5EF4-FFF2-40B4-BE49-F238E27FC236}">
                <a16:creationId xmlns:a16="http://schemas.microsoft.com/office/drawing/2014/main" id="{6A1AF21F-EA83-C937-13EF-6348EE0E2E0D}"/>
              </a:ext>
            </a:extLst>
          </p:cNvPr>
          <p:cNvSpPr txBox="1">
            <a:spLocks noChangeArrowheads="1"/>
          </p:cNvSpPr>
          <p:nvPr/>
        </p:nvSpPr>
        <p:spPr bwMode="auto">
          <a:xfrm>
            <a:off x="4579938" y="4341813"/>
            <a:ext cx="1066800" cy="396875"/>
          </a:xfrm>
          <a:prstGeom prst="rect">
            <a:avLst/>
          </a:prstGeom>
          <a:noFill/>
          <a:ln>
            <a:noFill/>
          </a:ln>
          <a:effectLst/>
        </p:spPr>
        <p:txBody>
          <a:bodyPr>
            <a:spAutoFit/>
          </a:bodyPr>
          <a:lstStyle/>
          <a:p>
            <a:pPr algn="ctr">
              <a:spcBef>
                <a:spcPct val="50000"/>
              </a:spcBef>
              <a:defRPr/>
            </a:pPr>
            <a:r>
              <a:rPr lang="en-US" altLang="en-US" dirty="0">
                <a:effectLst>
                  <a:outerShdw blurRad="38100" dist="38100" dir="2700000" algn="tl">
                    <a:srgbClr val="C0C0C0"/>
                  </a:outerShdw>
                </a:effectLst>
              </a:rPr>
              <a:t>EW</a:t>
            </a:r>
          </a:p>
        </p:txBody>
      </p:sp>
      <p:sp>
        <p:nvSpPr>
          <p:cNvPr id="69" name="Rectangle 59">
            <a:extLst>
              <a:ext uri="{FF2B5EF4-FFF2-40B4-BE49-F238E27FC236}">
                <a16:creationId xmlns:a16="http://schemas.microsoft.com/office/drawing/2014/main" id="{C7A87B2E-F9CF-ABEB-3628-89586A6149CA}"/>
              </a:ext>
            </a:extLst>
          </p:cNvPr>
          <p:cNvSpPr>
            <a:spLocks noChangeArrowheads="1"/>
          </p:cNvSpPr>
          <p:nvPr/>
        </p:nvSpPr>
        <p:spPr bwMode="auto">
          <a:xfrm>
            <a:off x="4953000" y="4845050"/>
            <a:ext cx="3352800" cy="140335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0" name="AutoShape 60">
            <a:extLst>
              <a:ext uri="{FF2B5EF4-FFF2-40B4-BE49-F238E27FC236}">
                <a16:creationId xmlns:a16="http://schemas.microsoft.com/office/drawing/2014/main" id="{45A92592-A162-09EC-7936-7D58F41309E4}"/>
              </a:ext>
            </a:extLst>
          </p:cNvPr>
          <p:cNvSpPr>
            <a:spLocks noChangeArrowheads="1"/>
          </p:cNvSpPr>
          <p:nvPr/>
        </p:nvSpPr>
        <p:spPr bwMode="auto">
          <a:xfrm>
            <a:off x="6264275" y="4470400"/>
            <a:ext cx="228600" cy="306388"/>
          </a:xfrm>
          <a:prstGeom prst="downArrow">
            <a:avLst>
              <a:gd name="adj1" fmla="val 50000"/>
              <a:gd name="adj2" fmla="val 41667"/>
            </a:avLst>
          </a:prstGeom>
          <a:solidFill>
            <a:schemeClr val="accent1"/>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1" name="Text Box 61">
            <a:extLst>
              <a:ext uri="{FF2B5EF4-FFF2-40B4-BE49-F238E27FC236}">
                <a16:creationId xmlns:a16="http://schemas.microsoft.com/office/drawing/2014/main" id="{46CCB1CE-B2AA-0DBB-0668-40C50DBE5E08}"/>
              </a:ext>
            </a:extLst>
          </p:cNvPr>
          <p:cNvSpPr txBox="1">
            <a:spLocks noChangeArrowheads="1"/>
          </p:cNvSpPr>
          <p:nvPr/>
        </p:nvSpPr>
        <p:spPr bwMode="auto">
          <a:xfrm>
            <a:off x="4953000" y="4860925"/>
            <a:ext cx="33528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u="sng">
                <a:solidFill>
                  <a:srgbClr val="FD020F"/>
                </a:solidFill>
              </a:rPr>
              <a:t>s1</a:t>
            </a:r>
            <a:r>
              <a:rPr lang="en-US" altLang="en-US" sz="2000" b="0">
                <a:solidFill>
                  <a:srgbClr val="FD020F"/>
                </a:solidFill>
              </a:rPr>
              <a:t>     …     </a:t>
            </a:r>
            <a:r>
              <a:rPr lang="en-US" altLang="en-US" sz="2000" b="0" u="sng">
                <a:solidFill>
                  <a:srgbClr val="FD020F"/>
                </a:solidFill>
              </a:rPr>
              <a:t>sr</a:t>
            </a:r>
            <a:r>
              <a:rPr lang="en-US" altLang="en-US" sz="2000" b="0">
                <a:solidFill>
                  <a:srgbClr val="FD020F"/>
                </a:solidFill>
              </a:rPr>
              <a:t>    </a:t>
            </a:r>
            <a:r>
              <a:rPr lang="en-US" altLang="en-US" sz="2000" b="0" u="sng">
                <a:solidFill>
                  <a:srgbClr val="FD020F"/>
                </a:solidFill>
              </a:rPr>
              <a:t>w1</a:t>
            </a:r>
            <a:r>
              <a:rPr lang="en-US" altLang="en-US" sz="2000" b="0">
                <a:solidFill>
                  <a:srgbClr val="FD020F"/>
                </a:solidFill>
              </a:rPr>
              <a:t>    …  wm</a:t>
            </a:r>
          </a:p>
        </p:txBody>
      </p:sp>
      <p:sp>
        <p:nvSpPr>
          <p:cNvPr id="72" name="Line 62">
            <a:extLst>
              <a:ext uri="{FF2B5EF4-FFF2-40B4-BE49-F238E27FC236}">
                <a16:creationId xmlns:a16="http://schemas.microsoft.com/office/drawing/2014/main" id="{944219CF-397D-23D4-10E0-A7DFDAE421C1}"/>
              </a:ext>
            </a:extLst>
          </p:cNvPr>
          <p:cNvSpPr>
            <a:spLocks noChangeShapeType="1"/>
          </p:cNvSpPr>
          <p:nvPr/>
        </p:nvSpPr>
        <p:spPr bwMode="auto">
          <a:xfrm>
            <a:off x="4953000" y="5257800"/>
            <a:ext cx="33528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3" name="Line 63">
            <a:extLst>
              <a:ext uri="{FF2B5EF4-FFF2-40B4-BE49-F238E27FC236}">
                <a16:creationId xmlns:a16="http://schemas.microsoft.com/office/drawing/2014/main" id="{30C579BB-BBC4-614E-2AF7-32E8EF6E7277}"/>
              </a:ext>
            </a:extLst>
          </p:cNvPr>
          <p:cNvSpPr>
            <a:spLocks noChangeShapeType="1"/>
          </p:cNvSpPr>
          <p:nvPr/>
        </p:nvSpPr>
        <p:spPr bwMode="auto">
          <a:xfrm>
            <a:off x="5486400" y="4845050"/>
            <a:ext cx="0" cy="14033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4" name="Line 65">
            <a:extLst>
              <a:ext uri="{FF2B5EF4-FFF2-40B4-BE49-F238E27FC236}">
                <a16:creationId xmlns:a16="http://schemas.microsoft.com/office/drawing/2014/main" id="{C7089C88-7F82-D6BA-D518-65F8799FF536}"/>
              </a:ext>
            </a:extLst>
          </p:cNvPr>
          <p:cNvSpPr>
            <a:spLocks noChangeShapeType="1"/>
          </p:cNvSpPr>
          <p:nvPr/>
        </p:nvSpPr>
        <p:spPr bwMode="auto">
          <a:xfrm>
            <a:off x="6172200" y="4845050"/>
            <a:ext cx="0" cy="14033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5" name="Line 66">
            <a:extLst>
              <a:ext uri="{FF2B5EF4-FFF2-40B4-BE49-F238E27FC236}">
                <a16:creationId xmlns:a16="http://schemas.microsoft.com/office/drawing/2014/main" id="{CAB207D2-6E4E-18A4-451E-EC5E6B5A94C4}"/>
              </a:ext>
            </a:extLst>
          </p:cNvPr>
          <p:cNvSpPr>
            <a:spLocks noChangeShapeType="1"/>
          </p:cNvSpPr>
          <p:nvPr/>
        </p:nvSpPr>
        <p:spPr bwMode="auto">
          <a:xfrm>
            <a:off x="6705600" y="4845050"/>
            <a:ext cx="0" cy="14033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6" name="Line 67">
            <a:extLst>
              <a:ext uri="{FF2B5EF4-FFF2-40B4-BE49-F238E27FC236}">
                <a16:creationId xmlns:a16="http://schemas.microsoft.com/office/drawing/2014/main" id="{AB2C57F5-030C-3269-519D-49532490485D}"/>
              </a:ext>
            </a:extLst>
          </p:cNvPr>
          <p:cNvSpPr>
            <a:spLocks noChangeShapeType="1"/>
          </p:cNvSpPr>
          <p:nvPr/>
        </p:nvSpPr>
        <p:spPr bwMode="auto">
          <a:xfrm>
            <a:off x="7239000" y="4845050"/>
            <a:ext cx="0" cy="14033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 name="Line 68">
            <a:extLst>
              <a:ext uri="{FF2B5EF4-FFF2-40B4-BE49-F238E27FC236}">
                <a16:creationId xmlns:a16="http://schemas.microsoft.com/office/drawing/2014/main" id="{9096A859-44E9-13A5-6C5B-D8A0457D1D7F}"/>
              </a:ext>
            </a:extLst>
          </p:cNvPr>
          <p:cNvSpPr>
            <a:spLocks noChangeShapeType="1"/>
          </p:cNvSpPr>
          <p:nvPr/>
        </p:nvSpPr>
        <p:spPr bwMode="auto">
          <a:xfrm>
            <a:off x="7696200" y="4845050"/>
            <a:ext cx="0" cy="14033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8" name="Text Box 69">
            <a:extLst>
              <a:ext uri="{FF2B5EF4-FFF2-40B4-BE49-F238E27FC236}">
                <a16:creationId xmlns:a16="http://schemas.microsoft.com/office/drawing/2014/main" id="{85EA13DE-8C12-EC8C-148C-C75D4DDC9160}"/>
              </a:ext>
            </a:extLst>
          </p:cNvPr>
          <p:cNvSpPr txBox="1">
            <a:spLocks noChangeArrowheads="1"/>
          </p:cNvSpPr>
          <p:nvPr/>
        </p:nvSpPr>
        <p:spPr bwMode="auto">
          <a:xfrm>
            <a:off x="3733800" y="3200400"/>
            <a:ext cx="457200" cy="396875"/>
          </a:xfrm>
          <a:prstGeom prst="rect">
            <a:avLst/>
          </a:prstGeom>
          <a:noFill/>
          <a:ln>
            <a:noFill/>
          </a:ln>
          <a:effectLst/>
        </p:spPr>
        <p:txBody>
          <a:bodyPr>
            <a:spAutoFit/>
          </a:bodyPr>
          <a:lstStyle/>
          <a:p>
            <a:pPr>
              <a:spcBef>
                <a:spcPct val="50000"/>
              </a:spcBef>
              <a:defRPr/>
            </a:pPr>
            <a:r>
              <a:rPr lang="en-US" altLang="zh-CN">
                <a:effectLst>
                  <a:outerShdw blurRad="38100" dist="38100" dir="2700000" algn="tl">
                    <a:srgbClr val="C0C0C0"/>
                  </a:outerShdw>
                </a:effectLst>
                <a:ea typeface="宋体" pitchFamily="2" charset="-122"/>
              </a:rPr>
              <a:t>1</a:t>
            </a:r>
          </a:p>
        </p:txBody>
      </p:sp>
      <p:sp>
        <p:nvSpPr>
          <p:cNvPr id="79" name="Text Box 70">
            <a:extLst>
              <a:ext uri="{FF2B5EF4-FFF2-40B4-BE49-F238E27FC236}">
                <a16:creationId xmlns:a16="http://schemas.microsoft.com/office/drawing/2014/main" id="{D6AC86B7-B451-8CF6-7EE4-DE2AB9062254}"/>
              </a:ext>
            </a:extLst>
          </p:cNvPr>
          <p:cNvSpPr txBox="1">
            <a:spLocks noChangeArrowheads="1"/>
          </p:cNvSpPr>
          <p:nvPr/>
        </p:nvSpPr>
        <p:spPr bwMode="auto">
          <a:xfrm>
            <a:off x="5486400" y="3200400"/>
            <a:ext cx="457200" cy="396875"/>
          </a:xfrm>
          <a:prstGeom prst="rect">
            <a:avLst/>
          </a:prstGeom>
          <a:noFill/>
          <a:ln>
            <a:noFill/>
          </a:ln>
          <a:effectLst/>
        </p:spPr>
        <p:txBody>
          <a:bodyPr>
            <a:spAutoFit/>
          </a:bodyPr>
          <a:lstStyle/>
          <a:p>
            <a:pPr>
              <a:spcBef>
                <a:spcPct val="50000"/>
              </a:spcBef>
              <a:defRPr/>
            </a:pPr>
            <a:r>
              <a:rPr lang="en-US" altLang="zh-CN">
                <a:effectLst>
                  <a:outerShdw blurRad="38100" dist="38100" dir="2700000" algn="tl">
                    <a:srgbClr val="C0C0C0"/>
                  </a:outerShdw>
                </a:effectLst>
                <a:ea typeface="宋体" pitchFamily="2" charset="-122"/>
              </a:rPr>
              <a:t>N</a:t>
            </a:r>
          </a:p>
        </p:txBody>
      </p:sp>
      <p:sp>
        <p:nvSpPr>
          <p:cNvPr id="80" name="AutoShape 75">
            <a:extLst>
              <a:ext uri="{FF2B5EF4-FFF2-40B4-BE49-F238E27FC236}">
                <a16:creationId xmlns:a16="http://schemas.microsoft.com/office/drawing/2014/main" id="{98D72DC1-BDDD-83BE-0683-65AF76BA2725}"/>
              </a:ext>
            </a:extLst>
          </p:cNvPr>
          <p:cNvSpPr>
            <a:spLocks noChangeArrowheads="1"/>
          </p:cNvSpPr>
          <p:nvPr/>
        </p:nvSpPr>
        <p:spPr bwMode="auto">
          <a:xfrm>
            <a:off x="4191000" y="3441700"/>
            <a:ext cx="762000" cy="381000"/>
          </a:xfrm>
          <a:prstGeom prst="diamond">
            <a:avLst/>
          </a:prstGeom>
          <a:noFill/>
          <a:ln w="381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1" name="Text Box 47">
            <a:extLst>
              <a:ext uri="{FF2B5EF4-FFF2-40B4-BE49-F238E27FC236}">
                <a16:creationId xmlns:a16="http://schemas.microsoft.com/office/drawing/2014/main" id="{F6C999EC-56F4-3B91-BF3A-05FB4C384FA4}"/>
              </a:ext>
            </a:extLst>
          </p:cNvPr>
          <p:cNvSpPr txBox="1">
            <a:spLocks noChangeArrowheads="1"/>
          </p:cNvSpPr>
          <p:nvPr/>
        </p:nvSpPr>
        <p:spPr bwMode="auto">
          <a:xfrm>
            <a:off x="4419600" y="3441700"/>
            <a:ext cx="381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R</a:t>
            </a:r>
          </a:p>
        </p:txBody>
      </p:sp>
      <p:cxnSp>
        <p:nvCxnSpPr>
          <p:cNvPr id="83" name="Straight Arrow Connector 4">
            <a:extLst>
              <a:ext uri="{FF2B5EF4-FFF2-40B4-BE49-F238E27FC236}">
                <a16:creationId xmlns:a16="http://schemas.microsoft.com/office/drawing/2014/main" id="{047BE4D4-E34D-DB81-98F6-3D122E99A30C}"/>
              </a:ext>
            </a:extLst>
          </p:cNvPr>
          <p:cNvCxnSpPr>
            <a:cxnSpLocks noChangeShapeType="1"/>
            <a:stCxn id="80" idx="1"/>
            <a:endCxn id="48" idx="3"/>
          </p:cNvCxnSpPr>
          <p:nvPr/>
        </p:nvCxnSpPr>
        <p:spPr bwMode="auto">
          <a:xfrm flipH="1">
            <a:off x="3505200" y="3632200"/>
            <a:ext cx="685800" cy="1588"/>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Left Brace 83">
            <a:extLst>
              <a:ext uri="{FF2B5EF4-FFF2-40B4-BE49-F238E27FC236}">
                <a16:creationId xmlns:a16="http://schemas.microsoft.com/office/drawing/2014/main" id="{B362199E-315A-EF73-D3C8-6B509AB884F1}"/>
              </a:ext>
            </a:extLst>
          </p:cNvPr>
          <p:cNvSpPr/>
          <p:nvPr/>
        </p:nvSpPr>
        <p:spPr bwMode="auto">
          <a:xfrm rot="16200000">
            <a:off x="6222207" y="2401093"/>
            <a:ext cx="374650" cy="3573463"/>
          </a:xfrm>
          <a:prstGeom prst="leftBrace">
            <a:avLst>
              <a:gd name="adj1" fmla="val 8333"/>
              <a:gd name="adj2" fmla="val 49112"/>
            </a:avLst>
          </a:prstGeom>
          <a:solidFill>
            <a:schemeClr val="bg1"/>
          </a:solidFill>
          <a:ln w="12700" cap="flat" cmpd="sng" algn="ctr">
            <a:solidFill>
              <a:srgbClr val="FFC000"/>
            </a:solidFill>
            <a:prstDash val="solid"/>
            <a:round/>
            <a:headEnd type="none" w="med" len="med"/>
            <a:tailEnd type="non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 name="Line 54">
            <a:extLst>
              <a:ext uri="{FF2B5EF4-FFF2-40B4-BE49-F238E27FC236}">
                <a16:creationId xmlns:a16="http://schemas.microsoft.com/office/drawing/2014/main" id="{A403F8C7-2AC5-DCED-B45C-D614840A37B4}"/>
              </a:ext>
            </a:extLst>
          </p:cNvPr>
          <p:cNvSpPr>
            <a:spLocks noChangeShapeType="1"/>
          </p:cNvSpPr>
          <p:nvPr/>
        </p:nvSpPr>
        <p:spPr bwMode="auto">
          <a:xfrm>
            <a:off x="1752600" y="4724400"/>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86" name="Straight Connector 4">
            <a:extLst>
              <a:ext uri="{FF2B5EF4-FFF2-40B4-BE49-F238E27FC236}">
                <a16:creationId xmlns:a16="http://schemas.microsoft.com/office/drawing/2014/main" id="{B0FAC082-F5DF-A499-F17E-4DDA3D07BFCD}"/>
              </a:ext>
            </a:extLst>
          </p:cNvPr>
          <p:cNvCxnSpPr>
            <a:cxnSpLocks noChangeShapeType="1"/>
          </p:cNvCxnSpPr>
          <p:nvPr/>
        </p:nvCxnSpPr>
        <p:spPr bwMode="auto">
          <a:xfrm>
            <a:off x="5867400" y="2682875"/>
            <a:ext cx="304800" cy="0"/>
          </a:xfrm>
          <a:prstGeom prst="line">
            <a:avLst/>
          </a:prstGeom>
          <a:noFill/>
          <a:ln w="1270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Content Placeholder 2">
            <a:extLst>
              <a:ext uri="{FF2B5EF4-FFF2-40B4-BE49-F238E27FC236}">
                <a16:creationId xmlns:a16="http://schemas.microsoft.com/office/drawing/2014/main" id="{8ACE900E-0516-C4A8-ED0B-616B5F12D6CD}"/>
              </a:ext>
            </a:extLst>
          </p:cNvPr>
          <p:cNvSpPr>
            <a:spLocks noGrp="1"/>
          </p:cNvSpPr>
          <p:nvPr>
            <p:ph idx="1"/>
          </p:nvPr>
        </p:nvSpPr>
        <p:spPr>
          <a:xfrm>
            <a:off x="457200" y="1219200"/>
            <a:ext cx="8229600" cy="5105400"/>
          </a:xfrm>
        </p:spPr>
        <p:txBody>
          <a:bodyPr/>
          <a:lstStyle/>
          <a:p>
            <a:r>
              <a:rPr lang="en-US" dirty="0"/>
              <a:t>Representation of weak entity</a:t>
            </a:r>
          </a:p>
          <a:p>
            <a:endParaRPr lang="en-US" dirty="0"/>
          </a:p>
        </p:txBody>
      </p:sp>
    </p:spTree>
    <p:extLst>
      <p:ext uri="{BB962C8B-B14F-4D97-AF65-F5344CB8AC3E}">
        <p14:creationId xmlns:p14="http://schemas.microsoft.com/office/powerpoint/2010/main" val="258706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BEF3-2920-6B2B-14CD-FDB28EF90BD4}"/>
              </a:ext>
            </a:extLst>
          </p:cNvPr>
          <p:cNvSpPr>
            <a:spLocks noGrp="1"/>
          </p:cNvSpPr>
          <p:nvPr>
            <p:ph type="title"/>
          </p:nvPr>
        </p:nvSpPr>
        <p:spPr/>
        <p:txBody>
          <a:bodyPr>
            <a:normAutofit/>
          </a:bodyPr>
          <a:lstStyle/>
          <a:p>
            <a:r>
              <a:rPr lang="en-US" altLang="en-US" dirty="0">
                <a:effectLst>
                  <a:outerShdw blurRad="38100" dist="38100" dir="2700000" algn="tl">
                    <a:srgbClr val="C0C0C0"/>
                  </a:outerShdw>
                </a:effectLst>
              </a:rPr>
              <a:t>Mapping ER Diagrams into Tables</a:t>
            </a:r>
            <a:endParaRPr lang="en-US" dirty="0"/>
          </a:p>
        </p:txBody>
      </p:sp>
      <p:sp>
        <p:nvSpPr>
          <p:cNvPr id="4" name="Slide Number Placeholder 3">
            <a:extLst>
              <a:ext uri="{FF2B5EF4-FFF2-40B4-BE49-F238E27FC236}">
                <a16:creationId xmlns:a16="http://schemas.microsoft.com/office/drawing/2014/main" id="{D5E428EC-D0A9-F301-ACFB-ED091008683F}"/>
              </a:ext>
            </a:extLst>
          </p:cNvPr>
          <p:cNvSpPr>
            <a:spLocks noGrp="1"/>
          </p:cNvSpPr>
          <p:nvPr>
            <p:ph type="sldNum" sz="quarter" idx="12"/>
          </p:nvPr>
        </p:nvSpPr>
        <p:spPr/>
        <p:txBody>
          <a:bodyPr/>
          <a:lstStyle/>
          <a:p>
            <a:fld id="{5FCA4BC5-AE2A-401E-9EDD-DF8812A14A6A}" type="slidenum">
              <a:rPr lang="en-US" smtClean="0"/>
              <a:t>13</a:t>
            </a:fld>
            <a:endParaRPr lang="en-US" dirty="0"/>
          </a:p>
        </p:txBody>
      </p:sp>
      <p:sp>
        <p:nvSpPr>
          <p:cNvPr id="89" name="Content Placeholder 2">
            <a:extLst>
              <a:ext uri="{FF2B5EF4-FFF2-40B4-BE49-F238E27FC236}">
                <a16:creationId xmlns:a16="http://schemas.microsoft.com/office/drawing/2014/main" id="{8ACE900E-0516-C4A8-ED0B-616B5F12D6CD}"/>
              </a:ext>
            </a:extLst>
          </p:cNvPr>
          <p:cNvSpPr>
            <a:spLocks noGrp="1"/>
          </p:cNvSpPr>
          <p:nvPr>
            <p:ph idx="1"/>
          </p:nvPr>
        </p:nvSpPr>
        <p:spPr>
          <a:xfrm>
            <a:off x="457200" y="1219200"/>
            <a:ext cx="8229600" cy="5105400"/>
          </a:xfrm>
        </p:spPr>
        <p:txBody>
          <a:bodyPr/>
          <a:lstStyle/>
          <a:p>
            <a:r>
              <a:rPr lang="en-US" dirty="0"/>
              <a:t>Representation of N:M Relationship Sets</a:t>
            </a:r>
          </a:p>
          <a:p>
            <a:endParaRPr lang="en-US" dirty="0"/>
          </a:p>
        </p:txBody>
      </p:sp>
      <p:sp>
        <p:nvSpPr>
          <p:cNvPr id="3" name="AutoShape 56">
            <a:extLst>
              <a:ext uri="{FF2B5EF4-FFF2-40B4-BE49-F238E27FC236}">
                <a16:creationId xmlns:a16="http://schemas.microsoft.com/office/drawing/2014/main" id="{41BED1FD-2653-31C9-5935-21720EF4BE25}"/>
              </a:ext>
            </a:extLst>
          </p:cNvPr>
          <p:cNvSpPr>
            <a:spLocks noChangeArrowheads="1"/>
          </p:cNvSpPr>
          <p:nvPr/>
        </p:nvSpPr>
        <p:spPr bwMode="auto">
          <a:xfrm>
            <a:off x="5486400" y="2266025"/>
            <a:ext cx="1981200" cy="685800"/>
          </a:xfrm>
          <a:prstGeom prst="roundRect">
            <a:avLst>
              <a:gd name="adj" fmla="val 16667"/>
            </a:avLst>
          </a:prstGeom>
          <a:solidFill>
            <a:schemeClr val="bg1">
              <a:lumMod val="85000"/>
            </a:schemeClr>
          </a:solid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 name="AutoShape 2">
            <a:extLst>
              <a:ext uri="{FF2B5EF4-FFF2-40B4-BE49-F238E27FC236}">
                <a16:creationId xmlns:a16="http://schemas.microsoft.com/office/drawing/2014/main" id="{E5450F73-1807-7AE5-28D4-9C0F1C8ECD93}"/>
              </a:ext>
            </a:extLst>
          </p:cNvPr>
          <p:cNvSpPr>
            <a:spLocks noChangeArrowheads="1"/>
          </p:cNvSpPr>
          <p:nvPr/>
        </p:nvSpPr>
        <p:spPr bwMode="auto">
          <a:xfrm>
            <a:off x="914400" y="2189825"/>
            <a:ext cx="1981200" cy="685800"/>
          </a:xfrm>
          <a:prstGeom prst="roundRect">
            <a:avLst>
              <a:gd name="adj" fmla="val 16667"/>
            </a:avLst>
          </a:prstGeom>
          <a:solidFill>
            <a:schemeClr val="bg1">
              <a:lumMod val="85000"/>
            </a:schemeClr>
          </a:solid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 name="Line 3">
            <a:extLst>
              <a:ext uri="{FF2B5EF4-FFF2-40B4-BE49-F238E27FC236}">
                <a16:creationId xmlns:a16="http://schemas.microsoft.com/office/drawing/2014/main" id="{CF6C15D6-0E8C-5A9A-AE13-79113004F2AB}"/>
              </a:ext>
            </a:extLst>
          </p:cNvPr>
          <p:cNvSpPr>
            <a:spLocks noChangeShapeType="1"/>
          </p:cNvSpPr>
          <p:nvPr/>
        </p:nvSpPr>
        <p:spPr bwMode="auto">
          <a:xfrm flipV="1">
            <a:off x="2971800" y="2799425"/>
            <a:ext cx="5334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 name="Oval 6">
            <a:extLst>
              <a:ext uri="{FF2B5EF4-FFF2-40B4-BE49-F238E27FC236}">
                <a16:creationId xmlns:a16="http://schemas.microsoft.com/office/drawing/2014/main" id="{CD4B7EEB-F7D3-696A-6A7D-6A09534981C0}"/>
              </a:ext>
            </a:extLst>
          </p:cNvPr>
          <p:cNvSpPr>
            <a:spLocks noChangeArrowheads="1"/>
          </p:cNvSpPr>
          <p:nvPr/>
        </p:nvSpPr>
        <p:spPr bwMode="auto">
          <a:xfrm>
            <a:off x="1066800" y="22660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 name="Text Box 7">
            <a:extLst>
              <a:ext uri="{FF2B5EF4-FFF2-40B4-BE49-F238E27FC236}">
                <a16:creationId xmlns:a16="http://schemas.microsoft.com/office/drawing/2014/main" id="{8859176B-A6FF-D36E-691F-DFC3F994C243}"/>
              </a:ext>
            </a:extLst>
          </p:cNvPr>
          <p:cNvSpPr txBox="1">
            <a:spLocks noChangeArrowheads="1"/>
          </p:cNvSpPr>
          <p:nvPr/>
        </p:nvSpPr>
        <p:spPr bwMode="auto">
          <a:xfrm>
            <a:off x="1143000" y="23422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s1</a:t>
            </a:r>
          </a:p>
        </p:txBody>
      </p:sp>
      <p:sp>
        <p:nvSpPr>
          <p:cNvPr id="9" name="Oval 8">
            <a:extLst>
              <a:ext uri="{FF2B5EF4-FFF2-40B4-BE49-F238E27FC236}">
                <a16:creationId xmlns:a16="http://schemas.microsoft.com/office/drawing/2014/main" id="{709B6E24-EB86-8746-FF57-BE475CA8684E}"/>
              </a:ext>
            </a:extLst>
          </p:cNvPr>
          <p:cNvSpPr>
            <a:spLocks noChangeArrowheads="1"/>
          </p:cNvSpPr>
          <p:nvPr/>
        </p:nvSpPr>
        <p:spPr bwMode="auto">
          <a:xfrm>
            <a:off x="2133600" y="22660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 name="Text Box 9">
            <a:extLst>
              <a:ext uri="{FF2B5EF4-FFF2-40B4-BE49-F238E27FC236}">
                <a16:creationId xmlns:a16="http://schemas.microsoft.com/office/drawing/2014/main" id="{B73D815E-A178-D844-3351-48D87AA3AA43}"/>
              </a:ext>
            </a:extLst>
          </p:cNvPr>
          <p:cNvSpPr txBox="1">
            <a:spLocks noChangeArrowheads="1"/>
          </p:cNvSpPr>
          <p:nvPr/>
        </p:nvSpPr>
        <p:spPr bwMode="auto">
          <a:xfrm>
            <a:off x="2209800" y="23263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sr</a:t>
            </a:r>
          </a:p>
        </p:txBody>
      </p:sp>
      <p:sp>
        <p:nvSpPr>
          <p:cNvPr id="11" name="Text Box 10">
            <a:extLst>
              <a:ext uri="{FF2B5EF4-FFF2-40B4-BE49-F238E27FC236}">
                <a16:creationId xmlns:a16="http://schemas.microsoft.com/office/drawing/2014/main" id="{C6F22809-9084-122C-947B-2F5D00CCA5F2}"/>
              </a:ext>
            </a:extLst>
          </p:cNvPr>
          <p:cNvSpPr txBox="1">
            <a:spLocks noChangeArrowheads="1"/>
          </p:cNvSpPr>
          <p:nvPr/>
        </p:nvSpPr>
        <p:spPr bwMode="auto">
          <a:xfrm>
            <a:off x="3276600" y="23422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sn</a:t>
            </a:r>
          </a:p>
        </p:txBody>
      </p:sp>
      <p:sp>
        <p:nvSpPr>
          <p:cNvPr id="12" name="Oval 11">
            <a:extLst>
              <a:ext uri="{FF2B5EF4-FFF2-40B4-BE49-F238E27FC236}">
                <a16:creationId xmlns:a16="http://schemas.microsoft.com/office/drawing/2014/main" id="{1955E49B-8BA8-4FD1-A849-7737F79DE840}"/>
              </a:ext>
            </a:extLst>
          </p:cNvPr>
          <p:cNvSpPr>
            <a:spLocks noChangeArrowheads="1"/>
          </p:cNvSpPr>
          <p:nvPr/>
        </p:nvSpPr>
        <p:spPr bwMode="auto">
          <a:xfrm>
            <a:off x="3200400" y="22660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 name="Line 12">
            <a:extLst>
              <a:ext uri="{FF2B5EF4-FFF2-40B4-BE49-F238E27FC236}">
                <a16:creationId xmlns:a16="http://schemas.microsoft.com/office/drawing/2014/main" id="{7E1B6D80-5FB7-5815-12E8-D48E3C9BD1D9}"/>
              </a:ext>
            </a:extLst>
          </p:cNvPr>
          <p:cNvSpPr>
            <a:spLocks noChangeShapeType="1"/>
          </p:cNvSpPr>
          <p:nvPr/>
        </p:nvSpPr>
        <p:spPr bwMode="auto">
          <a:xfrm>
            <a:off x="1447800" y="2799425"/>
            <a:ext cx="60960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4" name="Line 13">
            <a:extLst>
              <a:ext uri="{FF2B5EF4-FFF2-40B4-BE49-F238E27FC236}">
                <a16:creationId xmlns:a16="http://schemas.microsoft.com/office/drawing/2014/main" id="{49504CDB-13D5-A511-D58B-FAD1498ED3E8}"/>
              </a:ext>
            </a:extLst>
          </p:cNvPr>
          <p:cNvSpPr>
            <a:spLocks noChangeShapeType="1"/>
          </p:cNvSpPr>
          <p:nvPr/>
        </p:nvSpPr>
        <p:spPr bwMode="auto">
          <a:xfrm>
            <a:off x="2514600" y="2799425"/>
            <a:ext cx="0" cy="6858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5" name="Text Box 14">
            <a:extLst>
              <a:ext uri="{FF2B5EF4-FFF2-40B4-BE49-F238E27FC236}">
                <a16:creationId xmlns:a16="http://schemas.microsoft.com/office/drawing/2014/main" id="{37487BD0-E585-1BA7-BCE2-89D2B398F44E}"/>
              </a:ext>
            </a:extLst>
          </p:cNvPr>
          <p:cNvSpPr txBox="1">
            <a:spLocks noChangeArrowheads="1"/>
          </p:cNvSpPr>
          <p:nvPr/>
        </p:nvSpPr>
        <p:spPr bwMode="auto">
          <a:xfrm>
            <a:off x="2819400" y="2570825"/>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16" name="Text Box 15">
            <a:extLst>
              <a:ext uri="{FF2B5EF4-FFF2-40B4-BE49-F238E27FC236}">
                <a16:creationId xmlns:a16="http://schemas.microsoft.com/office/drawing/2014/main" id="{3F5CD2C9-FCDE-0DC4-40DE-EE8595BC3F57}"/>
              </a:ext>
            </a:extLst>
          </p:cNvPr>
          <p:cNvSpPr txBox="1">
            <a:spLocks noChangeArrowheads="1"/>
          </p:cNvSpPr>
          <p:nvPr/>
        </p:nvSpPr>
        <p:spPr bwMode="auto">
          <a:xfrm>
            <a:off x="1524000" y="3485225"/>
            <a:ext cx="1981200" cy="409575"/>
          </a:xfrm>
          <a:prstGeom prst="rect">
            <a:avLst/>
          </a:prstGeom>
          <a:noFill/>
          <a:ln w="12700">
            <a:solidFill>
              <a:schemeClr val="tx1"/>
            </a:solidFill>
            <a:miter lim="800000"/>
            <a:headEnd/>
            <a:tailEnd/>
          </a:ln>
          <a:effectLst/>
        </p:spPr>
        <p:txBody>
          <a:bodyPr>
            <a:spAutoFit/>
          </a:bodyPr>
          <a:lstStyle/>
          <a:p>
            <a:pPr algn="ctr">
              <a:spcBef>
                <a:spcPct val="50000"/>
              </a:spcBef>
              <a:defRPr/>
            </a:pPr>
            <a:r>
              <a:rPr lang="en-US" altLang="en-US">
                <a:effectLst>
                  <a:outerShdw blurRad="38100" dist="38100" dir="2700000" algn="tl">
                    <a:srgbClr val="C0C0C0"/>
                  </a:outerShdw>
                </a:effectLst>
              </a:rPr>
              <a:t>Ea</a:t>
            </a:r>
          </a:p>
        </p:txBody>
      </p:sp>
      <p:sp>
        <p:nvSpPr>
          <p:cNvPr id="17" name="Text Box 16">
            <a:extLst>
              <a:ext uri="{FF2B5EF4-FFF2-40B4-BE49-F238E27FC236}">
                <a16:creationId xmlns:a16="http://schemas.microsoft.com/office/drawing/2014/main" id="{A26CF3A8-249F-F13B-0BB3-A37D3DACC1F7}"/>
              </a:ext>
            </a:extLst>
          </p:cNvPr>
          <p:cNvSpPr txBox="1">
            <a:spLocks noChangeArrowheads="1"/>
          </p:cNvSpPr>
          <p:nvPr/>
        </p:nvSpPr>
        <p:spPr bwMode="auto">
          <a:xfrm>
            <a:off x="1752600" y="2418425"/>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18" name="Text Box 17">
            <a:extLst>
              <a:ext uri="{FF2B5EF4-FFF2-40B4-BE49-F238E27FC236}">
                <a16:creationId xmlns:a16="http://schemas.microsoft.com/office/drawing/2014/main" id="{956B65ED-0848-0164-0A7A-208751349411}"/>
              </a:ext>
            </a:extLst>
          </p:cNvPr>
          <p:cNvSpPr txBox="1">
            <a:spLocks noChangeArrowheads="1"/>
          </p:cNvSpPr>
          <p:nvPr/>
        </p:nvSpPr>
        <p:spPr bwMode="auto">
          <a:xfrm>
            <a:off x="990600" y="1885025"/>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a:solidFill>
                  <a:srgbClr val="FD020F"/>
                </a:solidFill>
                <a:latin typeface="Arial Narrow" panose="020B0606020202030204" pitchFamily="34" charset="0"/>
              </a:rPr>
              <a:t>Primary key</a:t>
            </a:r>
          </a:p>
        </p:txBody>
      </p:sp>
      <p:sp>
        <p:nvSpPr>
          <p:cNvPr id="19" name="Text Box 18">
            <a:extLst>
              <a:ext uri="{FF2B5EF4-FFF2-40B4-BE49-F238E27FC236}">
                <a16:creationId xmlns:a16="http://schemas.microsoft.com/office/drawing/2014/main" id="{C73082E5-CB38-3923-3A2D-FACCA6772933}"/>
              </a:ext>
            </a:extLst>
          </p:cNvPr>
          <p:cNvSpPr txBox="1">
            <a:spLocks noChangeArrowheads="1"/>
          </p:cNvSpPr>
          <p:nvPr/>
        </p:nvSpPr>
        <p:spPr bwMode="auto">
          <a:xfrm>
            <a:off x="6096000" y="3485225"/>
            <a:ext cx="1981200" cy="409575"/>
          </a:xfrm>
          <a:prstGeom prst="rect">
            <a:avLst/>
          </a:prstGeom>
          <a:noFill/>
          <a:ln w="12700">
            <a:solidFill>
              <a:schemeClr val="tx1"/>
            </a:solidFill>
            <a:miter lim="800000"/>
            <a:headEnd/>
            <a:tailEnd/>
          </a:ln>
          <a:effectLst/>
        </p:spPr>
        <p:txBody>
          <a:bodyPr>
            <a:spAutoFit/>
          </a:bodyPr>
          <a:lstStyle/>
          <a:p>
            <a:pPr algn="ctr">
              <a:spcBef>
                <a:spcPct val="50000"/>
              </a:spcBef>
              <a:defRPr/>
            </a:pPr>
            <a:r>
              <a:rPr lang="en-US" altLang="en-US">
                <a:effectLst>
                  <a:outerShdw blurRad="38100" dist="38100" dir="2700000" algn="tl">
                    <a:srgbClr val="C0C0C0"/>
                  </a:outerShdw>
                </a:effectLst>
              </a:rPr>
              <a:t>Eb</a:t>
            </a:r>
          </a:p>
        </p:txBody>
      </p:sp>
      <p:sp>
        <p:nvSpPr>
          <p:cNvPr id="20" name="Oval 20">
            <a:extLst>
              <a:ext uri="{FF2B5EF4-FFF2-40B4-BE49-F238E27FC236}">
                <a16:creationId xmlns:a16="http://schemas.microsoft.com/office/drawing/2014/main" id="{216C09F4-12AB-83E3-A601-8F84B0CB53BA}"/>
              </a:ext>
            </a:extLst>
          </p:cNvPr>
          <p:cNvSpPr>
            <a:spLocks noChangeArrowheads="1"/>
          </p:cNvSpPr>
          <p:nvPr/>
        </p:nvSpPr>
        <p:spPr bwMode="auto">
          <a:xfrm>
            <a:off x="5638800" y="23422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 name="Text Box 21">
            <a:extLst>
              <a:ext uri="{FF2B5EF4-FFF2-40B4-BE49-F238E27FC236}">
                <a16:creationId xmlns:a16="http://schemas.microsoft.com/office/drawing/2014/main" id="{DA19A6BB-CBF2-A7D2-2812-0CF92F58D43F}"/>
              </a:ext>
            </a:extLst>
          </p:cNvPr>
          <p:cNvSpPr txBox="1">
            <a:spLocks noChangeArrowheads="1"/>
          </p:cNvSpPr>
          <p:nvPr/>
        </p:nvSpPr>
        <p:spPr bwMode="auto">
          <a:xfrm>
            <a:off x="5791200" y="24025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w1</a:t>
            </a:r>
          </a:p>
        </p:txBody>
      </p:sp>
      <p:sp>
        <p:nvSpPr>
          <p:cNvPr id="22" name="Text Box 22">
            <a:extLst>
              <a:ext uri="{FF2B5EF4-FFF2-40B4-BE49-F238E27FC236}">
                <a16:creationId xmlns:a16="http://schemas.microsoft.com/office/drawing/2014/main" id="{C9AA7B4B-FA81-1C6A-8CDD-1D1A24C7F90C}"/>
              </a:ext>
            </a:extLst>
          </p:cNvPr>
          <p:cNvSpPr txBox="1">
            <a:spLocks noChangeArrowheads="1"/>
          </p:cNvSpPr>
          <p:nvPr/>
        </p:nvSpPr>
        <p:spPr bwMode="auto">
          <a:xfrm>
            <a:off x="7772400" y="240255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wm</a:t>
            </a:r>
          </a:p>
        </p:txBody>
      </p:sp>
      <p:sp>
        <p:nvSpPr>
          <p:cNvPr id="23" name="Oval 23">
            <a:extLst>
              <a:ext uri="{FF2B5EF4-FFF2-40B4-BE49-F238E27FC236}">
                <a16:creationId xmlns:a16="http://schemas.microsoft.com/office/drawing/2014/main" id="{B6EB9500-0B5A-1AC9-1EF9-5719D2454E83}"/>
              </a:ext>
            </a:extLst>
          </p:cNvPr>
          <p:cNvSpPr>
            <a:spLocks noChangeArrowheads="1"/>
          </p:cNvSpPr>
          <p:nvPr/>
        </p:nvSpPr>
        <p:spPr bwMode="auto">
          <a:xfrm>
            <a:off x="7696200" y="23422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4" name="Text Box 24">
            <a:extLst>
              <a:ext uri="{FF2B5EF4-FFF2-40B4-BE49-F238E27FC236}">
                <a16:creationId xmlns:a16="http://schemas.microsoft.com/office/drawing/2014/main" id="{9022F5C1-12AD-B961-D8F2-5F99AFCF287E}"/>
              </a:ext>
            </a:extLst>
          </p:cNvPr>
          <p:cNvSpPr txBox="1">
            <a:spLocks noChangeArrowheads="1"/>
          </p:cNvSpPr>
          <p:nvPr/>
        </p:nvSpPr>
        <p:spPr bwMode="auto">
          <a:xfrm>
            <a:off x="6324600" y="2418425"/>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25" name="Line 25">
            <a:extLst>
              <a:ext uri="{FF2B5EF4-FFF2-40B4-BE49-F238E27FC236}">
                <a16:creationId xmlns:a16="http://schemas.microsoft.com/office/drawing/2014/main" id="{5B4C0694-63E4-F385-455C-7D48606995A4}"/>
              </a:ext>
            </a:extLst>
          </p:cNvPr>
          <p:cNvSpPr>
            <a:spLocks noChangeShapeType="1"/>
          </p:cNvSpPr>
          <p:nvPr/>
        </p:nvSpPr>
        <p:spPr bwMode="auto">
          <a:xfrm>
            <a:off x="6019800" y="2875625"/>
            <a:ext cx="533400" cy="609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 name="AutoShape 27">
            <a:extLst>
              <a:ext uri="{FF2B5EF4-FFF2-40B4-BE49-F238E27FC236}">
                <a16:creationId xmlns:a16="http://schemas.microsoft.com/office/drawing/2014/main" id="{AAF9A3E7-7379-C810-5D37-A6E1C8A7B946}"/>
              </a:ext>
            </a:extLst>
          </p:cNvPr>
          <p:cNvSpPr>
            <a:spLocks noChangeArrowheads="1"/>
          </p:cNvSpPr>
          <p:nvPr/>
        </p:nvSpPr>
        <p:spPr bwMode="auto">
          <a:xfrm rot="2716851">
            <a:off x="4343400" y="3485225"/>
            <a:ext cx="457200" cy="457200"/>
          </a:xfrm>
          <a:prstGeom prst="rtTriangle">
            <a:avLst/>
          </a:prstGeom>
          <a:noFill/>
          <a:ln>
            <a:noFill/>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8" name="Text Box 29">
            <a:extLst>
              <a:ext uri="{FF2B5EF4-FFF2-40B4-BE49-F238E27FC236}">
                <a16:creationId xmlns:a16="http://schemas.microsoft.com/office/drawing/2014/main" id="{BA5E6AEF-A566-4635-30E8-2CC27139792F}"/>
              </a:ext>
            </a:extLst>
          </p:cNvPr>
          <p:cNvSpPr txBox="1">
            <a:spLocks noChangeArrowheads="1"/>
          </p:cNvSpPr>
          <p:nvPr/>
        </p:nvSpPr>
        <p:spPr bwMode="auto">
          <a:xfrm>
            <a:off x="4419600" y="3485225"/>
            <a:ext cx="381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R</a:t>
            </a:r>
          </a:p>
        </p:txBody>
      </p:sp>
      <p:sp>
        <p:nvSpPr>
          <p:cNvPr id="29" name="Line 30">
            <a:extLst>
              <a:ext uri="{FF2B5EF4-FFF2-40B4-BE49-F238E27FC236}">
                <a16:creationId xmlns:a16="http://schemas.microsoft.com/office/drawing/2014/main" id="{C5654079-C1F4-F379-427E-5E0835F9E1FF}"/>
              </a:ext>
            </a:extLst>
          </p:cNvPr>
          <p:cNvSpPr>
            <a:spLocks noChangeShapeType="1"/>
          </p:cNvSpPr>
          <p:nvPr/>
        </p:nvSpPr>
        <p:spPr bwMode="auto">
          <a:xfrm flipH="1">
            <a:off x="3505200" y="3713825"/>
            <a:ext cx="6858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0" name="Line 31">
            <a:extLst>
              <a:ext uri="{FF2B5EF4-FFF2-40B4-BE49-F238E27FC236}">
                <a16:creationId xmlns:a16="http://schemas.microsoft.com/office/drawing/2014/main" id="{5A8023E4-9671-C6FD-ED34-A96B3492484B}"/>
              </a:ext>
            </a:extLst>
          </p:cNvPr>
          <p:cNvSpPr>
            <a:spLocks noChangeShapeType="1"/>
          </p:cNvSpPr>
          <p:nvPr/>
        </p:nvSpPr>
        <p:spPr bwMode="auto">
          <a:xfrm>
            <a:off x="4953000" y="3713825"/>
            <a:ext cx="11430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1" name="Text Box 40">
            <a:extLst>
              <a:ext uri="{FF2B5EF4-FFF2-40B4-BE49-F238E27FC236}">
                <a16:creationId xmlns:a16="http://schemas.microsoft.com/office/drawing/2014/main" id="{33F308E2-822C-ECA4-3A36-779DF1377634}"/>
              </a:ext>
            </a:extLst>
          </p:cNvPr>
          <p:cNvSpPr txBox="1">
            <a:spLocks noChangeArrowheads="1"/>
          </p:cNvSpPr>
          <p:nvPr/>
        </p:nvSpPr>
        <p:spPr bwMode="auto">
          <a:xfrm>
            <a:off x="2286000" y="4361525"/>
            <a:ext cx="1066800" cy="396875"/>
          </a:xfrm>
          <a:prstGeom prst="rect">
            <a:avLst/>
          </a:prstGeom>
          <a:noFill/>
          <a:ln>
            <a:noFill/>
          </a:ln>
          <a:effectLst/>
        </p:spPr>
        <p:txBody>
          <a:bodyPr>
            <a:spAutoFit/>
          </a:bodyPr>
          <a:lstStyle/>
          <a:p>
            <a:pPr algn="ctr">
              <a:spcBef>
                <a:spcPct val="50000"/>
              </a:spcBef>
              <a:defRPr/>
            </a:pPr>
            <a:r>
              <a:rPr lang="en-US" altLang="en-US" dirty="0">
                <a:effectLst>
                  <a:outerShdw blurRad="38100" dist="38100" dir="2700000" algn="tl">
                    <a:srgbClr val="C0C0C0"/>
                  </a:outerShdw>
                </a:effectLst>
              </a:rPr>
              <a:t>R</a:t>
            </a:r>
          </a:p>
        </p:txBody>
      </p:sp>
      <p:sp>
        <p:nvSpPr>
          <p:cNvPr id="32" name="Rectangle 41">
            <a:extLst>
              <a:ext uri="{FF2B5EF4-FFF2-40B4-BE49-F238E27FC236}">
                <a16:creationId xmlns:a16="http://schemas.microsoft.com/office/drawing/2014/main" id="{BBAF5914-7932-4E4D-5EA6-A6DFC7F599FC}"/>
              </a:ext>
            </a:extLst>
          </p:cNvPr>
          <p:cNvSpPr>
            <a:spLocks noChangeArrowheads="1"/>
          </p:cNvSpPr>
          <p:nvPr/>
        </p:nvSpPr>
        <p:spPr bwMode="auto">
          <a:xfrm>
            <a:off x="2743200" y="4780625"/>
            <a:ext cx="3810000" cy="152400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AutoShape 42">
            <a:extLst>
              <a:ext uri="{FF2B5EF4-FFF2-40B4-BE49-F238E27FC236}">
                <a16:creationId xmlns:a16="http://schemas.microsoft.com/office/drawing/2014/main" id="{7009CE93-1E71-EE05-D476-DF3109D8847F}"/>
              </a:ext>
            </a:extLst>
          </p:cNvPr>
          <p:cNvSpPr>
            <a:spLocks noChangeArrowheads="1"/>
          </p:cNvSpPr>
          <p:nvPr/>
        </p:nvSpPr>
        <p:spPr bwMode="auto">
          <a:xfrm>
            <a:off x="4495800" y="4382163"/>
            <a:ext cx="228600" cy="381000"/>
          </a:xfrm>
          <a:prstGeom prst="downArrow">
            <a:avLst>
              <a:gd name="adj1" fmla="val 50000"/>
              <a:gd name="adj2" fmla="val 41667"/>
            </a:avLst>
          </a:prstGeom>
          <a:solidFill>
            <a:schemeClr val="accent1"/>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 name="Text Box 43">
            <a:extLst>
              <a:ext uri="{FF2B5EF4-FFF2-40B4-BE49-F238E27FC236}">
                <a16:creationId xmlns:a16="http://schemas.microsoft.com/office/drawing/2014/main" id="{47200281-E960-1FFE-54C8-FF44F4146671}"/>
              </a:ext>
            </a:extLst>
          </p:cNvPr>
          <p:cNvSpPr txBox="1">
            <a:spLocks noChangeArrowheads="1"/>
          </p:cNvSpPr>
          <p:nvPr/>
        </p:nvSpPr>
        <p:spPr bwMode="auto">
          <a:xfrm>
            <a:off x="2800350" y="4801263"/>
            <a:ext cx="403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u="sng">
                <a:solidFill>
                  <a:srgbClr val="FD020F"/>
                </a:solidFill>
              </a:rPr>
              <a:t>s1</a:t>
            </a:r>
            <a:r>
              <a:rPr lang="en-US" altLang="en-US" sz="2000" b="0">
                <a:solidFill>
                  <a:srgbClr val="FD020F"/>
                </a:solidFill>
              </a:rPr>
              <a:t>    …    </a:t>
            </a:r>
            <a:r>
              <a:rPr lang="en-US" altLang="en-US" sz="2000" b="0" u="sng">
                <a:solidFill>
                  <a:srgbClr val="FD020F"/>
                </a:solidFill>
              </a:rPr>
              <a:t>sr</a:t>
            </a:r>
            <a:r>
              <a:rPr lang="en-US" altLang="en-US" sz="2000" b="0">
                <a:solidFill>
                  <a:srgbClr val="FD020F"/>
                </a:solidFill>
              </a:rPr>
              <a:t>   </a:t>
            </a:r>
            <a:r>
              <a:rPr lang="en-US" altLang="en-US" sz="2000" b="0" u="sng">
                <a:solidFill>
                  <a:srgbClr val="FD020F"/>
                </a:solidFill>
              </a:rPr>
              <a:t>w1</a:t>
            </a:r>
            <a:r>
              <a:rPr lang="en-US" altLang="en-US" sz="2000" b="0">
                <a:solidFill>
                  <a:srgbClr val="FD020F"/>
                </a:solidFill>
              </a:rPr>
              <a:t>   …    </a:t>
            </a:r>
            <a:r>
              <a:rPr lang="en-US" altLang="en-US" sz="2000" b="0" u="sng">
                <a:solidFill>
                  <a:srgbClr val="FD020F"/>
                </a:solidFill>
              </a:rPr>
              <a:t>wq </a:t>
            </a:r>
            <a:r>
              <a:rPr lang="en-US" altLang="en-US" sz="2000" b="0">
                <a:solidFill>
                  <a:srgbClr val="FD020F"/>
                </a:solidFill>
              </a:rPr>
              <a:t>    </a:t>
            </a:r>
            <a:r>
              <a:rPr lang="en-US" altLang="en-US" sz="2000" b="0" i="1">
                <a:solidFill>
                  <a:srgbClr val="FD020F"/>
                </a:solidFill>
              </a:rPr>
              <a:t>A</a:t>
            </a:r>
            <a:r>
              <a:rPr lang="en-US" altLang="en-US" sz="2000" b="0">
                <a:solidFill>
                  <a:srgbClr val="FD020F"/>
                </a:solidFill>
              </a:rPr>
              <a:t>    </a:t>
            </a:r>
          </a:p>
        </p:txBody>
      </p:sp>
      <p:sp>
        <p:nvSpPr>
          <p:cNvPr id="36" name="Line 45">
            <a:extLst>
              <a:ext uri="{FF2B5EF4-FFF2-40B4-BE49-F238E27FC236}">
                <a16:creationId xmlns:a16="http://schemas.microsoft.com/office/drawing/2014/main" id="{48B29F36-EE95-D91B-E5A6-F43DD18759AB}"/>
              </a:ext>
            </a:extLst>
          </p:cNvPr>
          <p:cNvSpPr>
            <a:spLocks noChangeShapeType="1"/>
          </p:cNvSpPr>
          <p:nvPr/>
        </p:nvSpPr>
        <p:spPr bwMode="auto">
          <a:xfrm>
            <a:off x="38862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2" name="Line 47">
            <a:extLst>
              <a:ext uri="{FF2B5EF4-FFF2-40B4-BE49-F238E27FC236}">
                <a16:creationId xmlns:a16="http://schemas.microsoft.com/office/drawing/2014/main" id="{E0C95D48-F124-6BE9-E0AD-F9B7969A3D48}"/>
              </a:ext>
            </a:extLst>
          </p:cNvPr>
          <p:cNvSpPr>
            <a:spLocks noChangeShapeType="1"/>
          </p:cNvSpPr>
          <p:nvPr/>
        </p:nvSpPr>
        <p:spPr bwMode="auto">
          <a:xfrm>
            <a:off x="32766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2" name="Line 48">
            <a:extLst>
              <a:ext uri="{FF2B5EF4-FFF2-40B4-BE49-F238E27FC236}">
                <a16:creationId xmlns:a16="http://schemas.microsoft.com/office/drawing/2014/main" id="{DCC37502-C42C-DB9B-382D-F62170FA844B}"/>
              </a:ext>
            </a:extLst>
          </p:cNvPr>
          <p:cNvSpPr>
            <a:spLocks noChangeShapeType="1"/>
          </p:cNvSpPr>
          <p:nvPr/>
        </p:nvSpPr>
        <p:spPr bwMode="auto">
          <a:xfrm>
            <a:off x="43434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7" name="Line 49">
            <a:extLst>
              <a:ext uri="{FF2B5EF4-FFF2-40B4-BE49-F238E27FC236}">
                <a16:creationId xmlns:a16="http://schemas.microsoft.com/office/drawing/2014/main" id="{9C144C09-B5A5-BAA2-1702-5EBA97B9B1FD}"/>
              </a:ext>
            </a:extLst>
          </p:cNvPr>
          <p:cNvSpPr>
            <a:spLocks noChangeShapeType="1"/>
          </p:cNvSpPr>
          <p:nvPr/>
        </p:nvSpPr>
        <p:spPr bwMode="auto">
          <a:xfrm>
            <a:off x="48006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8" name="Line 50">
            <a:extLst>
              <a:ext uri="{FF2B5EF4-FFF2-40B4-BE49-F238E27FC236}">
                <a16:creationId xmlns:a16="http://schemas.microsoft.com/office/drawing/2014/main" id="{AF16B4DB-FC3B-EE62-6B94-D4D613D94FA3}"/>
              </a:ext>
            </a:extLst>
          </p:cNvPr>
          <p:cNvSpPr>
            <a:spLocks noChangeShapeType="1"/>
          </p:cNvSpPr>
          <p:nvPr/>
        </p:nvSpPr>
        <p:spPr bwMode="auto">
          <a:xfrm>
            <a:off x="54102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0" name="Oval 51">
            <a:extLst>
              <a:ext uri="{FF2B5EF4-FFF2-40B4-BE49-F238E27FC236}">
                <a16:creationId xmlns:a16="http://schemas.microsoft.com/office/drawing/2014/main" id="{0E5597AF-A13B-6F4A-603C-93E62EB1F677}"/>
              </a:ext>
            </a:extLst>
          </p:cNvPr>
          <p:cNvSpPr>
            <a:spLocks noChangeArrowheads="1"/>
          </p:cNvSpPr>
          <p:nvPr/>
        </p:nvSpPr>
        <p:spPr bwMode="auto">
          <a:xfrm>
            <a:off x="6705600" y="23422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1" name="Text Box 52">
            <a:extLst>
              <a:ext uri="{FF2B5EF4-FFF2-40B4-BE49-F238E27FC236}">
                <a16:creationId xmlns:a16="http://schemas.microsoft.com/office/drawing/2014/main" id="{0583CCF6-86EB-B034-6595-791060318F6E}"/>
              </a:ext>
            </a:extLst>
          </p:cNvPr>
          <p:cNvSpPr txBox="1">
            <a:spLocks noChangeArrowheads="1"/>
          </p:cNvSpPr>
          <p:nvPr/>
        </p:nvSpPr>
        <p:spPr bwMode="auto">
          <a:xfrm>
            <a:off x="6781800" y="24184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solidFill>
                  <a:srgbClr val="FD020F"/>
                </a:solidFill>
              </a:rPr>
              <a:t>wq</a:t>
            </a:r>
          </a:p>
        </p:txBody>
      </p:sp>
      <p:sp>
        <p:nvSpPr>
          <p:cNvPr id="92" name="Line 53">
            <a:extLst>
              <a:ext uri="{FF2B5EF4-FFF2-40B4-BE49-F238E27FC236}">
                <a16:creationId xmlns:a16="http://schemas.microsoft.com/office/drawing/2014/main" id="{18BBC3DF-0810-11E4-26E3-CE4DA4A37F1B}"/>
              </a:ext>
            </a:extLst>
          </p:cNvPr>
          <p:cNvSpPr>
            <a:spLocks noChangeShapeType="1"/>
          </p:cNvSpPr>
          <p:nvPr/>
        </p:nvSpPr>
        <p:spPr bwMode="auto">
          <a:xfrm flipH="1">
            <a:off x="7010400" y="2875625"/>
            <a:ext cx="76200" cy="609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3" name="Text Box 54">
            <a:extLst>
              <a:ext uri="{FF2B5EF4-FFF2-40B4-BE49-F238E27FC236}">
                <a16:creationId xmlns:a16="http://schemas.microsoft.com/office/drawing/2014/main" id="{B7EF3EF3-5A11-AFDC-D77A-79DF97404106}"/>
              </a:ext>
            </a:extLst>
          </p:cNvPr>
          <p:cNvSpPr txBox="1">
            <a:spLocks noChangeArrowheads="1"/>
          </p:cNvSpPr>
          <p:nvPr/>
        </p:nvSpPr>
        <p:spPr bwMode="auto">
          <a:xfrm>
            <a:off x="7391400" y="2631150"/>
            <a:ext cx="762000" cy="396875"/>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C0C0C0"/>
                  </a:outerShdw>
                </a:effectLst>
              </a:rPr>
              <a:t>...</a:t>
            </a:r>
          </a:p>
        </p:txBody>
      </p:sp>
      <p:sp>
        <p:nvSpPr>
          <p:cNvPr id="94" name="Line 55">
            <a:extLst>
              <a:ext uri="{FF2B5EF4-FFF2-40B4-BE49-F238E27FC236}">
                <a16:creationId xmlns:a16="http://schemas.microsoft.com/office/drawing/2014/main" id="{A05D1964-CEB4-5D51-D32E-E8755BCE9B42}"/>
              </a:ext>
            </a:extLst>
          </p:cNvPr>
          <p:cNvSpPr>
            <a:spLocks noChangeShapeType="1"/>
          </p:cNvSpPr>
          <p:nvPr/>
        </p:nvSpPr>
        <p:spPr bwMode="auto">
          <a:xfrm flipH="1">
            <a:off x="7620000" y="2875625"/>
            <a:ext cx="381000" cy="609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5" name="Text Box 57">
            <a:extLst>
              <a:ext uri="{FF2B5EF4-FFF2-40B4-BE49-F238E27FC236}">
                <a16:creationId xmlns:a16="http://schemas.microsoft.com/office/drawing/2014/main" id="{DF1F962A-53F7-1345-5737-D5B38C085235}"/>
              </a:ext>
            </a:extLst>
          </p:cNvPr>
          <p:cNvSpPr txBox="1">
            <a:spLocks noChangeArrowheads="1"/>
          </p:cNvSpPr>
          <p:nvPr/>
        </p:nvSpPr>
        <p:spPr bwMode="auto">
          <a:xfrm>
            <a:off x="5257800" y="1899313"/>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a:solidFill>
                  <a:srgbClr val="FD020F"/>
                </a:solidFill>
                <a:latin typeface="Arial Narrow" panose="020B0606020202030204" pitchFamily="34" charset="0"/>
              </a:rPr>
              <a:t>Primary key</a:t>
            </a:r>
          </a:p>
        </p:txBody>
      </p:sp>
      <p:sp>
        <p:nvSpPr>
          <p:cNvPr id="96" name="Line 58">
            <a:extLst>
              <a:ext uri="{FF2B5EF4-FFF2-40B4-BE49-F238E27FC236}">
                <a16:creationId xmlns:a16="http://schemas.microsoft.com/office/drawing/2014/main" id="{3B87E6B5-A8C3-06EE-CE60-FFF841353F25}"/>
              </a:ext>
            </a:extLst>
          </p:cNvPr>
          <p:cNvSpPr>
            <a:spLocks noChangeShapeType="1"/>
          </p:cNvSpPr>
          <p:nvPr/>
        </p:nvSpPr>
        <p:spPr bwMode="auto">
          <a:xfrm>
            <a:off x="5943600" y="4780625"/>
            <a:ext cx="0" cy="1524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7" name="Line 59">
            <a:extLst>
              <a:ext uri="{FF2B5EF4-FFF2-40B4-BE49-F238E27FC236}">
                <a16:creationId xmlns:a16="http://schemas.microsoft.com/office/drawing/2014/main" id="{8EF0CCCC-B14A-12F6-080A-DF6DF9EA7A30}"/>
              </a:ext>
            </a:extLst>
          </p:cNvPr>
          <p:cNvSpPr>
            <a:spLocks noChangeShapeType="1"/>
          </p:cNvSpPr>
          <p:nvPr/>
        </p:nvSpPr>
        <p:spPr bwMode="auto">
          <a:xfrm>
            <a:off x="2743200" y="5161625"/>
            <a:ext cx="38100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8" name="Oval 60">
            <a:extLst>
              <a:ext uri="{FF2B5EF4-FFF2-40B4-BE49-F238E27FC236}">
                <a16:creationId xmlns:a16="http://schemas.microsoft.com/office/drawing/2014/main" id="{608F3701-8ABD-CDD1-7EF6-3358B30E47DF}"/>
              </a:ext>
            </a:extLst>
          </p:cNvPr>
          <p:cNvSpPr>
            <a:spLocks noChangeArrowheads="1"/>
          </p:cNvSpPr>
          <p:nvPr/>
        </p:nvSpPr>
        <p:spPr bwMode="auto">
          <a:xfrm>
            <a:off x="4267200" y="2418425"/>
            <a:ext cx="685800" cy="533400"/>
          </a:xfrm>
          <a:prstGeom prst="ellips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9" name="Text Box 61">
            <a:extLst>
              <a:ext uri="{FF2B5EF4-FFF2-40B4-BE49-F238E27FC236}">
                <a16:creationId xmlns:a16="http://schemas.microsoft.com/office/drawing/2014/main" id="{A55113A4-76A5-75E6-3E52-29B74CAD9BB3}"/>
              </a:ext>
            </a:extLst>
          </p:cNvPr>
          <p:cNvSpPr txBox="1">
            <a:spLocks noChangeArrowheads="1"/>
          </p:cNvSpPr>
          <p:nvPr/>
        </p:nvSpPr>
        <p:spPr bwMode="auto">
          <a:xfrm>
            <a:off x="4419600" y="24946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i="1">
                <a:solidFill>
                  <a:srgbClr val="FD020F"/>
                </a:solidFill>
              </a:rPr>
              <a:t>A</a:t>
            </a:r>
            <a:endParaRPr lang="en-US" altLang="en-US" sz="2000" b="0">
              <a:solidFill>
                <a:srgbClr val="FD020F"/>
              </a:solidFill>
            </a:endParaRPr>
          </a:p>
        </p:txBody>
      </p:sp>
      <p:sp>
        <p:nvSpPr>
          <p:cNvPr id="100" name="Line 62">
            <a:extLst>
              <a:ext uri="{FF2B5EF4-FFF2-40B4-BE49-F238E27FC236}">
                <a16:creationId xmlns:a16="http://schemas.microsoft.com/office/drawing/2014/main" id="{F0138695-5A4F-4772-83C3-3B8F6DC5AFC6}"/>
              </a:ext>
            </a:extLst>
          </p:cNvPr>
          <p:cNvSpPr>
            <a:spLocks noChangeShapeType="1"/>
          </p:cNvSpPr>
          <p:nvPr/>
        </p:nvSpPr>
        <p:spPr bwMode="auto">
          <a:xfrm>
            <a:off x="4572000" y="2951825"/>
            <a:ext cx="0" cy="4572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1" name="Text Box 17">
            <a:extLst>
              <a:ext uri="{FF2B5EF4-FFF2-40B4-BE49-F238E27FC236}">
                <a16:creationId xmlns:a16="http://schemas.microsoft.com/office/drawing/2014/main" id="{1DDE3E28-25E0-B420-AA50-915A712F4CBA}"/>
              </a:ext>
            </a:extLst>
          </p:cNvPr>
          <p:cNvSpPr txBox="1">
            <a:spLocks noChangeArrowheads="1"/>
          </p:cNvSpPr>
          <p:nvPr/>
        </p:nvSpPr>
        <p:spPr bwMode="auto">
          <a:xfrm>
            <a:off x="3733800" y="3423313"/>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dirty="0">
                <a:solidFill>
                  <a:schemeClr val="tx1"/>
                </a:solidFill>
                <a:latin typeface="Arial Narrow" panose="020B0606020202030204" pitchFamily="34" charset="0"/>
              </a:rPr>
              <a:t>M</a:t>
            </a:r>
          </a:p>
        </p:txBody>
      </p:sp>
      <p:sp>
        <p:nvSpPr>
          <p:cNvPr id="102" name="Text Box 17">
            <a:extLst>
              <a:ext uri="{FF2B5EF4-FFF2-40B4-BE49-F238E27FC236}">
                <a16:creationId xmlns:a16="http://schemas.microsoft.com/office/drawing/2014/main" id="{03860083-CB23-96DB-A3A1-E4ADE2F4B49F}"/>
              </a:ext>
            </a:extLst>
          </p:cNvPr>
          <p:cNvSpPr txBox="1">
            <a:spLocks noChangeArrowheads="1"/>
          </p:cNvSpPr>
          <p:nvPr/>
        </p:nvSpPr>
        <p:spPr bwMode="auto">
          <a:xfrm>
            <a:off x="5105400" y="3409025"/>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dirty="0">
                <a:solidFill>
                  <a:schemeClr val="tx1"/>
                </a:solidFill>
                <a:latin typeface="Arial Narrow" panose="020B0606020202030204" pitchFamily="34" charset="0"/>
              </a:rPr>
              <a:t>N</a:t>
            </a:r>
          </a:p>
        </p:txBody>
      </p:sp>
      <p:sp>
        <p:nvSpPr>
          <p:cNvPr id="103" name="Left Brace 102">
            <a:extLst>
              <a:ext uri="{FF2B5EF4-FFF2-40B4-BE49-F238E27FC236}">
                <a16:creationId xmlns:a16="http://schemas.microsoft.com/office/drawing/2014/main" id="{5EDC3B05-1012-79EC-4B80-98809E63DA16}"/>
              </a:ext>
            </a:extLst>
          </p:cNvPr>
          <p:cNvSpPr/>
          <p:nvPr/>
        </p:nvSpPr>
        <p:spPr bwMode="auto">
          <a:xfrm rot="16200000">
            <a:off x="4441825" y="3193125"/>
            <a:ext cx="374650" cy="1943100"/>
          </a:xfrm>
          <a:prstGeom prst="leftBrace">
            <a:avLst>
              <a:gd name="adj1" fmla="val 220198"/>
              <a:gd name="adj2" fmla="val 49112"/>
            </a:avLst>
          </a:prstGeom>
          <a:noFill/>
          <a:ln w="12700" cap="flat" cmpd="sng" algn="ctr">
            <a:solidFill>
              <a:srgbClr val="FFC000"/>
            </a:solidFill>
            <a:prstDash val="solid"/>
            <a:round/>
            <a:headEnd type="none" w="med" len="med"/>
            <a:tailEnd type="non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104" name="AutoShape 75">
            <a:extLst>
              <a:ext uri="{FF2B5EF4-FFF2-40B4-BE49-F238E27FC236}">
                <a16:creationId xmlns:a16="http://schemas.microsoft.com/office/drawing/2014/main" id="{5B3C8549-CC10-98E6-7F54-1CDECE771AF1}"/>
              </a:ext>
            </a:extLst>
          </p:cNvPr>
          <p:cNvSpPr>
            <a:spLocks noChangeArrowheads="1"/>
          </p:cNvSpPr>
          <p:nvPr/>
        </p:nvSpPr>
        <p:spPr bwMode="auto">
          <a:xfrm>
            <a:off x="4191000" y="3441699"/>
            <a:ext cx="762000" cy="554135"/>
          </a:xfrm>
          <a:prstGeom prst="diamond">
            <a:avLst/>
          </a:prstGeom>
          <a:no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6454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dirty="0"/>
              <a:t>Outline</a:t>
            </a:r>
          </a:p>
        </p:txBody>
      </p:sp>
      <p:graphicFrame>
        <p:nvGraphicFramePr>
          <p:cNvPr id="22" name="Diagram 21"/>
          <p:cNvGraphicFramePr/>
          <p:nvPr/>
        </p:nvGraphicFramePr>
        <p:xfrm>
          <a:off x="1295400" y="1524000"/>
          <a:ext cx="6477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7779798" y="3125113"/>
            <a:ext cx="1021433" cy="861774"/>
          </a:xfrm>
          <a:prstGeom prst="rect">
            <a:avLst/>
          </a:prstGeom>
          <a:noFill/>
        </p:spPr>
        <p:txBody>
          <a:bodyPr wrap="none" rtlCol="0">
            <a:spAutoFit/>
          </a:bodyPr>
          <a:lstStyle/>
          <a:p>
            <a:pPr marL="685800" indent="-685800">
              <a:buClr>
                <a:schemeClr val="tx1"/>
              </a:buClr>
              <a:buFont typeface="Wingdings" pitchFamily="2" charset="2"/>
              <a:buChar char="ü"/>
            </a:pPr>
            <a:r>
              <a:rPr lang="en-US" sz="5000" dirty="0"/>
              <a:t> </a:t>
            </a:r>
          </a:p>
        </p:txBody>
      </p:sp>
      <p:sp>
        <p:nvSpPr>
          <p:cNvPr id="2" name="Slide Number Placeholder 1">
            <a:extLst>
              <a:ext uri="{FF2B5EF4-FFF2-40B4-BE49-F238E27FC236}">
                <a16:creationId xmlns:a16="http://schemas.microsoft.com/office/drawing/2014/main" id="{B7AAF2C3-7446-06C8-E7D7-24AB17D76CEC}"/>
              </a:ext>
            </a:extLst>
          </p:cNvPr>
          <p:cNvSpPr>
            <a:spLocks noGrp="1"/>
          </p:cNvSpPr>
          <p:nvPr>
            <p:ph type="sldNum" sz="quarter" idx="12"/>
          </p:nvPr>
        </p:nvSpPr>
        <p:spPr/>
        <p:txBody>
          <a:bodyPr/>
          <a:lstStyle/>
          <a:p>
            <a:fld id="{5FCA4BC5-AE2A-401E-9EDD-DF8812A14A6A}" type="slidenum">
              <a:rPr lang="en-US" smtClean="0"/>
              <a:t>14</a:t>
            </a:fld>
            <a:endParaRPr lang="en-US" dirty="0"/>
          </a:p>
        </p:txBody>
      </p:sp>
    </p:spTree>
    <p:extLst>
      <p:ext uri="{BB962C8B-B14F-4D97-AF65-F5344CB8AC3E}">
        <p14:creationId xmlns:p14="http://schemas.microsoft.com/office/powerpoint/2010/main" val="1245406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04799" y="1219200"/>
            <a:ext cx="8658225" cy="5257800"/>
          </a:xfrm>
        </p:spPr>
        <p:txBody>
          <a:bodyPr>
            <a:noAutofit/>
          </a:bodyPr>
          <a:lstStyle/>
          <a:p>
            <a:r>
              <a:rPr lang="en-US" sz="2400" dirty="0"/>
              <a:t>A major strength of the relational model is that it supports simple and powerful querying of data</a:t>
            </a:r>
          </a:p>
          <a:p>
            <a:r>
              <a:rPr lang="en-US" sz="2400" dirty="0">
                <a:solidFill>
                  <a:srgbClr val="0070C0"/>
                </a:solidFill>
              </a:rPr>
              <a:t>Structured Query Language </a:t>
            </a:r>
            <a:r>
              <a:rPr lang="en-US" sz="2400" dirty="0"/>
              <a:t>(SQL a.k.a. “Sequel”) is the most widely used commercial relational database language</a:t>
            </a:r>
          </a:p>
          <a:p>
            <a:r>
              <a:rPr lang="en-US" sz="2400" dirty="0"/>
              <a:t>SQL was developed by IBM (system R) in the 1970s</a:t>
            </a:r>
          </a:p>
          <a:p>
            <a:r>
              <a:rPr lang="en-US" sz="2400" dirty="0"/>
              <a:t>There is a need for a standard since SQL is used by many vendors</a:t>
            </a:r>
          </a:p>
          <a:p>
            <a:pPr lvl="1">
              <a:buSzPct val="75000"/>
            </a:pPr>
            <a:r>
              <a:rPr lang="en-US" sz="2000" dirty="0"/>
              <a:t>SQL-86</a:t>
            </a:r>
          </a:p>
          <a:p>
            <a:pPr lvl="1">
              <a:buSzPct val="75000"/>
            </a:pPr>
            <a:r>
              <a:rPr lang="en-US" sz="2000" dirty="0"/>
              <a:t>SQL-89 (minor revision)</a:t>
            </a:r>
          </a:p>
          <a:p>
            <a:pPr lvl="1">
              <a:buSzPct val="75000"/>
            </a:pPr>
            <a:r>
              <a:rPr lang="en-US" sz="2000" dirty="0"/>
              <a:t>SQL-92 (major revision)</a:t>
            </a:r>
          </a:p>
          <a:p>
            <a:pPr lvl="1">
              <a:buSzPct val="75000"/>
            </a:pPr>
            <a:r>
              <a:rPr lang="en-US" sz="2000" dirty="0"/>
              <a:t>SQL-99 (major extensions)</a:t>
            </a:r>
          </a:p>
          <a:p>
            <a:pPr lvl="1">
              <a:buSzPct val="75000"/>
            </a:pPr>
            <a:r>
              <a:rPr lang="en-US" sz="2000" dirty="0"/>
              <a:t>SQL-2003 (minor revision)</a:t>
            </a:r>
          </a:p>
          <a:p>
            <a:pPr lvl="1">
              <a:buSzPct val="75000"/>
            </a:pPr>
            <a:r>
              <a:rPr lang="en-US" sz="2000" dirty="0"/>
              <a:t>SQL-2011</a:t>
            </a:r>
          </a:p>
          <a:p>
            <a:pPr lvl="1">
              <a:buSzPct val="75000"/>
            </a:pPr>
            <a:r>
              <a:rPr lang="en-US" sz="2000" dirty="0"/>
              <a:t>SQL- 2016</a:t>
            </a:r>
          </a:p>
        </p:txBody>
      </p:sp>
      <p:sp>
        <p:nvSpPr>
          <p:cNvPr id="26629" name="Rectangle 5"/>
          <p:cNvSpPr>
            <a:spLocks noGrp="1" noChangeArrowheads="1"/>
          </p:cNvSpPr>
          <p:nvPr>
            <p:ph type="title"/>
          </p:nvPr>
        </p:nvSpPr>
        <p:spPr>
          <a:xfrm>
            <a:off x="180975" y="76200"/>
            <a:ext cx="8782050" cy="1143000"/>
          </a:xfrm>
        </p:spPr>
        <p:txBody>
          <a:bodyPr/>
          <a:lstStyle/>
          <a:p>
            <a:r>
              <a:rPr lang="en-US" sz="4000" dirty="0"/>
              <a:t>SQL - A Language for Relational DBs</a:t>
            </a:r>
          </a:p>
        </p:txBody>
      </p:sp>
      <p:sp>
        <p:nvSpPr>
          <p:cNvPr id="2" name="Slide Number Placeholder 1">
            <a:extLst>
              <a:ext uri="{FF2B5EF4-FFF2-40B4-BE49-F238E27FC236}">
                <a16:creationId xmlns:a16="http://schemas.microsoft.com/office/drawing/2014/main" id="{DB9C7393-651A-3A67-DF0D-A5E822CA68A6}"/>
              </a:ext>
            </a:extLst>
          </p:cNvPr>
          <p:cNvSpPr>
            <a:spLocks noGrp="1"/>
          </p:cNvSpPr>
          <p:nvPr>
            <p:ph type="sldNum" sz="quarter" idx="12"/>
          </p:nvPr>
        </p:nvSpPr>
        <p:spPr/>
        <p:txBody>
          <a:bodyPr/>
          <a:lstStyle/>
          <a:p>
            <a:fld id="{5FCA4BC5-AE2A-401E-9EDD-DF8812A14A6A}" type="slidenum">
              <a:rPr lang="en-US" smtClean="0"/>
              <a:t>15</a:t>
            </a:fld>
            <a:endParaRPr lang="en-US"/>
          </a:p>
        </p:txBody>
      </p:sp>
    </p:spTree>
    <p:extLst>
      <p:ext uri="{BB962C8B-B14F-4D97-AF65-F5344CB8AC3E}">
        <p14:creationId xmlns:p14="http://schemas.microsoft.com/office/powerpoint/2010/main" val="1164118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495300" y="1295400"/>
            <a:ext cx="8153400" cy="4495800"/>
          </a:xfrm>
        </p:spPr>
        <p:txBody>
          <a:bodyPr>
            <a:normAutofit fontScale="92500" lnSpcReduction="10000"/>
          </a:bodyPr>
          <a:lstStyle/>
          <a:p>
            <a:pPr>
              <a:buFont typeface="Wingdings" pitchFamily="2" charset="2"/>
              <a:buChar char="§"/>
            </a:pPr>
            <a:r>
              <a:rPr lang="en-US" sz="2800" dirty="0"/>
              <a:t>The SQL language has two main aspects (there are other aspects which we will discuss tomorrow)</a:t>
            </a:r>
          </a:p>
          <a:p>
            <a:pPr lvl="1">
              <a:buFont typeface="Wingdings" pitchFamily="2" charset="2"/>
              <a:buChar char="§"/>
            </a:pPr>
            <a:r>
              <a:rPr lang="en-US" sz="2600" dirty="0"/>
              <a:t>Data Definition Language (</a:t>
            </a:r>
            <a:r>
              <a:rPr lang="en-US" sz="2600" dirty="0">
                <a:solidFill>
                  <a:schemeClr val="folHlink"/>
                </a:solidFill>
              </a:rPr>
              <a:t>DDL</a:t>
            </a:r>
            <a:r>
              <a:rPr lang="en-US" sz="2600" dirty="0"/>
              <a:t>)</a:t>
            </a:r>
          </a:p>
          <a:p>
            <a:pPr lvl="2">
              <a:buFont typeface="Wingdings" pitchFamily="2" charset="2"/>
              <a:buChar char="§"/>
            </a:pPr>
            <a:r>
              <a:rPr lang="en-US" sz="2600" dirty="0"/>
              <a:t>Allows creating, modifying, and deleting relations </a:t>
            </a:r>
            <a:br>
              <a:rPr lang="en-US" sz="2600" dirty="0"/>
            </a:br>
            <a:r>
              <a:rPr lang="en-US" sz="2600" dirty="0"/>
              <a:t>and views</a:t>
            </a:r>
          </a:p>
          <a:p>
            <a:pPr lvl="2">
              <a:buFont typeface="Wingdings" pitchFamily="2" charset="2"/>
              <a:buChar char="§"/>
            </a:pPr>
            <a:r>
              <a:rPr lang="en-US" sz="2600" dirty="0"/>
              <a:t>Allows specifying constraints</a:t>
            </a:r>
          </a:p>
          <a:p>
            <a:pPr lvl="2">
              <a:buFont typeface="Wingdings" pitchFamily="2" charset="2"/>
              <a:buChar char="§"/>
            </a:pPr>
            <a:r>
              <a:rPr lang="en-US" sz="2600" dirty="0"/>
              <a:t>Allows administering users, security, etc.</a:t>
            </a:r>
          </a:p>
          <a:p>
            <a:pPr lvl="1">
              <a:buFont typeface="Wingdings" pitchFamily="2" charset="2"/>
              <a:buChar char="§"/>
            </a:pPr>
            <a:endParaRPr lang="en-US" sz="2600" dirty="0"/>
          </a:p>
          <a:p>
            <a:pPr lvl="1">
              <a:buFont typeface="Wingdings" pitchFamily="2" charset="2"/>
              <a:buChar char="§"/>
            </a:pPr>
            <a:r>
              <a:rPr lang="en-US" sz="2600" dirty="0"/>
              <a:t>Data Manipulation Language (</a:t>
            </a:r>
            <a:r>
              <a:rPr lang="en-US" sz="2600" dirty="0">
                <a:solidFill>
                  <a:schemeClr val="folHlink"/>
                </a:solidFill>
              </a:rPr>
              <a:t>DML</a:t>
            </a:r>
            <a:r>
              <a:rPr lang="en-US" sz="2600" dirty="0"/>
              <a:t>)</a:t>
            </a:r>
          </a:p>
          <a:p>
            <a:pPr lvl="2">
              <a:buFont typeface="Wingdings" pitchFamily="2" charset="2"/>
              <a:buChar char="§"/>
            </a:pPr>
            <a:r>
              <a:rPr lang="en-US" sz="2600" dirty="0"/>
              <a:t>Allows posing </a:t>
            </a:r>
            <a:r>
              <a:rPr lang="en-US" sz="2600" i="1" dirty="0"/>
              <a:t>queries </a:t>
            </a:r>
            <a:r>
              <a:rPr lang="en-US" sz="2600" dirty="0"/>
              <a:t>to find tuples that satisfy criteria</a:t>
            </a:r>
          </a:p>
          <a:p>
            <a:pPr lvl="2">
              <a:buFont typeface="Wingdings" pitchFamily="2" charset="2"/>
              <a:buChar char="§"/>
            </a:pPr>
            <a:r>
              <a:rPr lang="en-US" sz="2600" dirty="0"/>
              <a:t>Allows adding, modifying, and removing tuples</a:t>
            </a:r>
          </a:p>
          <a:p>
            <a:pPr lvl="1"/>
            <a:endParaRPr lang="en-US" sz="2800" dirty="0"/>
          </a:p>
        </p:txBody>
      </p:sp>
      <p:sp>
        <p:nvSpPr>
          <p:cNvPr id="26629" name="Rectangle 5"/>
          <p:cNvSpPr>
            <a:spLocks noGrp="1" noChangeArrowheads="1"/>
          </p:cNvSpPr>
          <p:nvPr>
            <p:ph type="title"/>
          </p:nvPr>
        </p:nvSpPr>
        <p:spPr>
          <a:xfrm>
            <a:off x="347894" y="152400"/>
            <a:ext cx="8782050" cy="1143000"/>
          </a:xfrm>
        </p:spPr>
        <p:txBody>
          <a:bodyPr/>
          <a:lstStyle/>
          <a:p>
            <a:r>
              <a:rPr lang="en-US" sz="4000" dirty="0"/>
              <a:t>DDL and DML</a:t>
            </a:r>
          </a:p>
        </p:txBody>
      </p:sp>
      <p:sp>
        <p:nvSpPr>
          <p:cNvPr id="2" name="Slide Number Placeholder 1">
            <a:extLst>
              <a:ext uri="{FF2B5EF4-FFF2-40B4-BE49-F238E27FC236}">
                <a16:creationId xmlns:a16="http://schemas.microsoft.com/office/drawing/2014/main" id="{67A86C18-FBF6-8320-0734-A473B4361BB2}"/>
              </a:ext>
            </a:extLst>
          </p:cNvPr>
          <p:cNvSpPr>
            <a:spLocks noGrp="1"/>
          </p:cNvSpPr>
          <p:nvPr>
            <p:ph type="sldNum" sz="quarter" idx="12"/>
          </p:nvPr>
        </p:nvSpPr>
        <p:spPr/>
        <p:txBody>
          <a:bodyPr/>
          <a:lstStyle/>
          <a:p>
            <a:fld id="{5FCA4BC5-AE2A-401E-9EDD-DF8812A14A6A}" type="slidenum">
              <a:rPr lang="en-US" smtClean="0"/>
              <a:t>16</a:t>
            </a:fld>
            <a:endParaRPr lang="en-US"/>
          </a:p>
        </p:txBody>
      </p:sp>
    </p:spTree>
    <p:extLst>
      <p:ext uri="{BB962C8B-B14F-4D97-AF65-F5344CB8AC3E}">
        <p14:creationId xmlns:p14="http://schemas.microsoft.com/office/powerpoint/2010/main" val="2027663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815-F9E2-6C44-468B-F8C39C711C1F}"/>
              </a:ext>
            </a:extLst>
          </p:cNvPr>
          <p:cNvSpPr>
            <a:spLocks noGrp="1"/>
          </p:cNvSpPr>
          <p:nvPr>
            <p:ph type="title"/>
          </p:nvPr>
        </p:nvSpPr>
        <p:spPr/>
        <p:txBody>
          <a:bodyPr/>
          <a:lstStyle/>
          <a:p>
            <a:r>
              <a:rPr lang="en-US" sz="4400" dirty="0"/>
              <a:t>Creating Relations in SQL</a:t>
            </a:r>
            <a:endParaRPr lang="en-US" dirty="0"/>
          </a:p>
        </p:txBody>
      </p:sp>
      <p:sp>
        <p:nvSpPr>
          <p:cNvPr id="3" name="Content Placeholder 2">
            <a:extLst>
              <a:ext uri="{FF2B5EF4-FFF2-40B4-BE49-F238E27FC236}">
                <a16:creationId xmlns:a16="http://schemas.microsoft.com/office/drawing/2014/main" id="{3E4E0B96-7C35-F103-CA9C-009471B5F7A7}"/>
              </a:ext>
            </a:extLst>
          </p:cNvPr>
          <p:cNvSpPr>
            <a:spLocks noGrp="1"/>
          </p:cNvSpPr>
          <p:nvPr>
            <p:ph idx="1"/>
          </p:nvPr>
        </p:nvSpPr>
        <p:spPr/>
        <p:txBody>
          <a:bodyPr>
            <a:normAutofit/>
          </a:bodyPr>
          <a:lstStyle/>
          <a:p>
            <a:pPr>
              <a:buFont typeface="Wingdings" pitchFamily="2" charset="2"/>
              <a:buChar char="§"/>
            </a:pPr>
            <a:r>
              <a:rPr lang="en-US" sz="2400" dirty="0"/>
              <a:t>S1 can be used to create the “Students” relation</a:t>
            </a:r>
          </a:p>
          <a:p>
            <a:pPr>
              <a:buFont typeface="Wingdings" pitchFamily="2" charset="2"/>
              <a:buChar char="§"/>
            </a:pPr>
            <a:r>
              <a:rPr lang="en-US" sz="2400" dirty="0"/>
              <a:t>S2 can be used to create the “Enrolled” relation</a:t>
            </a:r>
          </a:p>
          <a:p>
            <a:pPr lvl="1"/>
            <a:endParaRPr lang="en-US" sz="2800" dirty="0"/>
          </a:p>
          <a:p>
            <a:endParaRPr lang="en-US" dirty="0"/>
          </a:p>
        </p:txBody>
      </p:sp>
      <p:sp>
        <p:nvSpPr>
          <p:cNvPr id="4" name="Slide Number Placeholder 3">
            <a:extLst>
              <a:ext uri="{FF2B5EF4-FFF2-40B4-BE49-F238E27FC236}">
                <a16:creationId xmlns:a16="http://schemas.microsoft.com/office/drawing/2014/main" id="{4D26E1A9-D707-B6E9-5CE4-5FEE3A1533F1}"/>
              </a:ext>
            </a:extLst>
          </p:cNvPr>
          <p:cNvSpPr>
            <a:spLocks noGrp="1"/>
          </p:cNvSpPr>
          <p:nvPr>
            <p:ph type="sldNum" sz="quarter" idx="12"/>
          </p:nvPr>
        </p:nvSpPr>
        <p:spPr/>
        <p:txBody>
          <a:bodyPr/>
          <a:lstStyle/>
          <a:p>
            <a:fld id="{5FCA4BC5-AE2A-401E-9EDD-DF8812A14A6A}" type="slidenum">
              <a:rPr lang="en-US" smtClean="0"/>
              <a:t>17</a:t>
            </a:fld>
            <a:endParaRPr lang="en-US" dirty="0"/>
          </a:p>
        </p:txBody>
      </p:sp>
      <p:sp>
        <p:nvSpPr>
          <p:cNvPr id="5" name="Rectangle 6">
            <a:extLst>
              <a:ext uri="{FF2B5EF4-FFF2-40B4-BE49-F238E27FC236}">
                <a16:creationId xmlns:a16="http://schemas.microsoft.com/office/drawing/2014/main" id="{AF436178-A0E9-D4F7-3E87-0820806D2AE2}"/>
              </a:ext>
            </a:extLst>
          </p:cNvPr>
          <p:cNvSpPr>
            <a:spLocks noChangeArrowheads="1"/>
          </p:cNvSpPr>
          <p:nvPr/>
        </p:nvSpPr>
        <p:spPr bwMode="auto">
          <a:xfrm>
            <a:off x="555833" y="2438400"/>
            <a:ext cx="3402012" cy="2219325"/>
          </a:xfrm>
          <a:prstGeom prst="rect">
            <a:avLst/>
          </a:prstGeom>
          <a:noFill/>
          <a:ln w="952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dirty="0">
                <a:latin typeface="Book Antiqua" pitchFamily="18" charset="0"/>
              </a:rPr>
              <a:t>CREATE TABLE Students</a:t>
            </a:r>
            <a:endParaRPr lang="en-US" dirty="0">
              <a:latin typeface="Book Antiqua" pitchFamily="18" charset="0"/>
            </a:endParaRPr>
          </a:p>
          <a:p>
            <a:r>
              <a:rPr lang="en-US" dirty="0">
                <a:latin typeface="Book Antiqua" pitchFamily="18" charset="0"/>
              </a:rPr>
              <a:t>	(</a:t>
            </a:r>
            <a:r>
              <a:rPr lang="en-US" dirty="0" err="1">
                <a:latin typeface="Book Antiqua" pitchFamily="18" charset="0"/>
              </a:rPr>
              <a:t>sid</a:t>
            </a:r>
            <a:r>
              <a:rPr lang="en-US" dirty="0">
                <a:latin typeface="Book Antiqua" pitchFamily="18" charset="0"/>
              </a:rPr>
              <a:t>: </a:t>
            </a:r>
            <a:r>
              <a:rPr lang="en-US" sz="2000" dirty="0">
                <a:latin typeface="Book Antiqua" pitchFamily="18" charset="0"/>
              </a:rPr>
              <a:t>CHAR(20)</a:t>
            </a:r>
            <a:r>
              <a:rPr lang="en-US" dirty="0">
                <a:latin typeface="Book Antiqua" pitchFamily="18" charset="0"/>
              </a:rPr>
              <a:t>, </a:t>
            </a:r>
          </a:p>
          <a:p>
            <a:r>
              <a:rPr lang="en-US" dirty="0">
                <a:latin typeface="Book Antiqua" pitchFamily="18" charset="0"/>
              </a:rPr>
              <a:t>	 name: </a:t>
            </a:r>
            <a:r>
              <a:rPr lang="en-US" sz="2000" dirty="0">
                <a:latin typeface="Book Antiqua" pitchFamily="18" charset="0"/>
              </a:rPr>
              <a:t>CHAR(20)</a:t>
            </a:r>
            <a:r>
              <a:rPr lang="en-US" dirty="0">
                <a:latin typeface="Book Antiqua" pitchFamily="18" charset="0"/>
              </a:rPr>
              <a:t>, </a:t>
            </a:r>
          </a:p>
          <a:p>
            <a:r>
              <a:rPr lang="en-US" dirty="0">
                <a:latin typeface="Book Antiqua" pitchFamily="18" charset="0"/>
              </a:rPr>
              <a:t>	 login: </a:t>
            </a:r>
            <a:r>
              <a:rPr lang="en-US" sz="2000" dirty="0">
                <a:latin typeface="Book Antiqua" pitchFamily="18" charset="0"/>
              </a:rPr>
              <a:t>CHAR(10),</a:t>
            </a:r>
          </a:p>
          <a:p>
            <a:r>
              <a:rPr lang="en-US" dirty="0">
                <a:latin typeface="Book Antiqua" pitchFamily="18" charset="0"/>
              </a:rPr>
              <a:t>	 age: </a:t>
            </a:r>
            <a:r>
              <a:rPr lang="en-US" sz="2000" dirty="0">
                <a:latin typeface="Book Antiqua" pitchFamily="18" charset="0"/>
              </a:rPr>
              <a:t>INTEGER</a:t>
            </a:r>
            <a:r>
              <a:rPr lang="en-US" dirty="0">
                <a:latin typeface="Book Antiqua" pitchFamily="18" charset="0"/>
              </a:rPr>
              <a:t>,</a:t>
            </a:r>
          </a:p>
          <a:p>
            <a:r>
              <a:rPr lang="en-US" dirty="0">
                <a:latin typeface="Book Antiqua" pitchFamily="18" charset="0"/>
              </a:rPr>
              <a:t>	 </a:t>
            </a:r>
            <a:r>
              <a:rPr lang="en-US" dirty="0" err="1">
                <a:latin typeface="Book Antiqua" pitchFamily="18" charset="0"/>
              </a:rPr>
              <a:t>gpa</a:t>
            </a:r>
            <a:r>
              <a:rPr lang="en-US" dirty="0">
                <a:latin typeface="Book Antiqua" pitchFamily="18" charset="0"/>
              </a:rPr>
              <a:t>: </a:t>
            </a:r>
            <a:r>
              <a:rPr lang="en-US" sz="2000" dirty="0">
                <a:latin typeface="Book Antiqua" pitchFamily="18" charset="0"/>
              </a:rPr>
              <a:t>REAL</a:t>
            </a:r>
            <a:r>
              <a:rPr lang="en-US" dirty="0">
                <a:latin typeface="Book Antiqua" pitchFamily="18" charset="0"/>
              </a:rPr>
              <a:t>)  </a:t>
            </a:r>
          </a:p>
        </p:txBody>
      </p:sp>
      <p:sp>
        <p:nvSpPr>
          <p:cNvPr id="6" name="Rectangle 9">
            <a:extLst>
              <a:ext uri="{FF2B5EF4-FFF2-40B4-BE49-F238E27FC236}">
                <a16:creationId xmlns:a16="http://schemas.microsoft.com/office/drawing/2014/main" id="{B3753284-77CD-5713-7694-53A0EF803A08}"/>
              </a:ext>
            </a:extLst>
          </p:cNvPr>
          <p:cNvSpPr>
            <a:spLocks noChangeArrowheads="1"/>
          </p:cNvSpPr>
          <p:nvPr/>
        </p:nvSpPr>
        <p:spPr bwMode="auto">
          <a:xfrm>
            <a:off x="4572000" y="2438400"/>
            <a:ext cx="3530600" cy="14890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sz="2000" dirty="0">
                <a:latin typeface="Book Antiqua" pitchFamily="18" charset="0"/>
              </a:rPr>
              <a:t>CREATE TABLE Enrolled</a:t>
            </a:r>
            <a:endParaRPr lang="en-US" dirty="0">
              <a:latin typeface="Book Antiqua" pitchFamily="18" charset="0"/>
            </a:endParaRPr>
          </a:p>
          <a:p>
            <a:r>
              <a:rPr lang="en-US" dirty="0">
                <a:latin typeface="Book Antiqua" pitchFamily="18" charset="0"/>
              </a:rPr>
              <a:t>	(</a:t>
            </a:r>
            <a:r>
              <a:rPr lang="en-US" dirty="0" err="1">
                <a:latin typeface="Book Antiqua" pitchFamily="18" charset="0"/>
              </a:rPr>
              <a:t>sid</a:t>
            </a:r>
            <a:r>
              <a:rPr lang="en-US" dirty="0">
                <a:latin typeface="Book Antiqua" pitchFamily="18" charset="0"/>
              </a:rPr>
              <a:t>: </a:t>
            </a:r>
            <a:r>
              <a:rPr lang="en-US" sz="2000" dirty="0">
                <a:latin typeface="Book Antiqua" pitchFamily="18" charset="0"/>
              </a:rPr>
              <a:t>CHAR(20)</a:t>
            </a:r>
            <a:r>
              <a:rPr lang="en-US" dirty="0">
                <a:latin typeface="Book Antiqua" pitchFamily="18" charset="0"/>
              </a:rPr>
              <a:t>, </a:t>
            </a:r>
          </a:p>
          <a:p>
            <a:r>
              <a:rPr lang="en-US" dirty="0">
                <a:latin typeface="Book Antiqua" pitchFamily="18" charset="0"/>
              </a:rPr>
              <a:t>	 cid: </a:t>
            </a:r>
            <a:r>
              <a:rPr lang="en-US" sz="2000" dirty="0">
                <a:latin typeface="Book Antiqua" pitchFamily="18" charset="0"/>
              </a:rPr>
              <a:t>CHAR(20)</a:t>
            </a:r>
            <a:r>
              <a:rPr lang="en-US" dirty="0">
                <a:latin typeface="Book Antiqua" pitchFamily="18" charset="0"/>
              </a:rPr>
              <a:t>, </a:t>
            </a:r>
          </a:p>
          <a:p>
            <a:r>
              <a:rPr lang="en-US" dirty="0">
                <a:latin typeface="Book Antiqua" pitchFamily="18" charset="0"/>
              </a:rPr>
              <a:t>	 grade: </a:t>
            </a:r>
            <a:r>
              <a:rPr lang="en-US" sz="2000" dirty="0">
                <a:latin typeface="Book Antiqua" pitchFamily="18" charset="0"/>
              </a:rPr>
              <a:t>CHAR</a:t>
            </a:r>
            <a:r>
              <a:rPr lang="en-US" dirty="0">
                <a:latin typeface="Book Antiqua" pitchFamily="18" charset="0"/>
              </a:rPr>
              <a:t>(2))  </a:t>
            </a:r>
          </a:p>
        </p:txBody>
      </p:sp>
      <p:sp>
        <p:nvSpPr>
          <p:cNvPr id="7" name="Rounded Rectangle 1">
            <a:extLst>
              <a:ext uri="{FF2B5EF4-FFF2-40B4-BE49-F238E27FC236}">
                <a16:creationId xmlns:a16="http://schemas.microsoft.com/office/drawing/2014/main" id="{F31447FF-1A97-3B9E-9559-F583B5110C8E}"/>
              </a:ext>
            </a:extLst>
          </p:cNvPr>
          <p:cNvSpPr/>
          <p:nvPr/>
        </p:nvSpPr>
        <p:spPr>
          <a:xfrm>
            <a:off x="723900" y="5511977"/>
            <a:ext cx="7696200" cy="851517"/>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The DBMS enforces domain constraints whenever tuples are added or modified</a:t>
            </a:r>
          </a:p>
        </p:txBody>
      </p:sp>
      <p:sp>
        <p:nvSpPr>
          <p:cNvPr id="8" name="TextBox 7">
            <a:extLst>
              <a:ext uri="{FF2B5EF4-FFF2-40B4-BE49-F238E27FC236}">
                <a16:creationId xmlns:a16="http://schemas.microsoft.com/office/drawing/2014/main" id="{20346A95-D407-F0B3-E868-E574F71760FE}"/>
              </a:ext>
            </a:extLst>
          </p:cNvPr>
          <p:cNvSpPr txBox="1"/>
          <p:nvPr/>
        </p:nvSpPr>
        <p:spPr>
          <a:xfrm>
            <a:off x="2016228" y="4710907"/>
            <a:ext cx="481222" cy="461665"/>
          </a:xfrm>
          <a:prstGeom prst="rect">
            <a:avLst/>
          </a:prstGeom>
          <a:noFill/>
        </p:spPr>
        <p:txBody>
          <a:bodyPr wrap="none" rtlCol="0">
            <a:spAutoFit/>
          </a:bodyPr>
          <a:lstStyle/>
          <a:p>
            <a:r>
              <a:rPr lang="en-US" sz="2400" dirty="0">
                <a:solidFill>
                  <a:srgbClr val="00B050"/>
                </a:solidFill>
              </a:rPr>
              <a:t>S1</a:t>
            </a:r>
          </a:p>
        </p:txBody>
      </p:sp>
      <p:sp>
        <p:nvSpPr>
          <p:cNvPr id="9" name="TextBox 8">
            <a:extLst>
              <a:ext uri="{FF2B5EF4-FFF2-40B4-BE49-F238E27FC236}">
                <a16:creationId xmlns:a16="http://schemas.microsoft.com/office/drawing/2014/main" id="{19CA8DB6-A782-F123-9DEC-24DA3A1061D4}"/>
              </a:ext>
            </a:extLst>
          </p:cNvPr>
          <p:cNvSpPr txBox="1"/>
          <p:nvPr/>
        </p:nvSpPr>
        <p:spPr>
          <a:xfrm>
            <a:off x="6149055" y="4005263"/>
            <a:ext cx="481222" cy="461665"/>
          </a:xfrm>
          <a:prstGeom prst="rect">
            <a:avLst/>
          </a:prstGeom>
          <a:noFill/>
        </p:spPr>
        <p:txBody>
          <a:bodyPr wrap="none" rtlCol="0">
            <a:spAutoFit/>
          </a:bodyPr>
          <a:lstStyle/>
          <a:p>
            <a:r>
              <a:rPr lang="en-US" sz="2400" dirty="0">
                <a:solidFill>
                  <a:srgbClr val="FF0000"/>
                </a:solidFill>
              </a:rPr>
              <a:t>S2</a:t>
            </a:r>
          </a:p>
        </p:txBody>
      </p:sp>
    </p:spTree>
    <p:extLst>
      <p:ext uri="{BB962C8B-B14F-4D97-AF65-F5344CB8AC3E}">
        <p14:creationId xmlns:p14="http://schemas.microsoft.com/office/powerpoint/2010/main" val="1009714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Domain Constraints</a:t>
            </a:r>
          </a:p>
        </p:txBody>
      </p:sp>
      <p:sp>
        <p:nvSpPr>
          <p:cNvPr id="4" name="Content Placeholder 3"/>
          <p:cNvSpPr>
            <a:spLocks noGrp="1"/>
          </p:cNvSpPr>
          <p:nvPr>
            <p:ph idx="1"/>
          </p:nvPr>
        </p:nvSpPr>
        <p:spPr>
          <a:xfrm>
            <a:off x="460899" y="1243614"/>
            <a:ext cx="8382000" cy="5105400"/>
          </a:xfrm>
        </p:spPr>
        <p:txBody>
          <a:bodyPr>
            <a:normAutofit/>
          </a:bodyPr>
          <a:lstStyle/>
          <a:p>
            <a:pPr>
              <a:buFont typeface="Wingdings" pitchFamily="2" charset="2"/>
              <a:buChar char="§"/>
            </a:pPr>
            <a:r>
              <a:rPr lang="en-US" sz="2400" dirty="0"/>
              <a:t>A relation schema specifies the </a:t>
            </a:r>
            <a:r>
              <a:rPr lang="en-US" sz="2400" i="1" dirty="0"/>
              <a:t>domain</a:t>
            </a:r>
            <a:r>
              <a:rPr lang="en-US" sz="2400" dirty="0"/>
              <a:t> of each column which entails </a:t>
            </a:r>
            <a:r>
              <a:rPr lang="en-US" sz="2400" dirty="0">
                <a:solidFill>
                  <a:srgbClr val="0070C0"/>
                </a:solidFill>
              </a:rPr>
              <a:t>domain constraints</a:t>
            </a:r>
          </a:p>
          <a:p>
            <a:pPr>
              <a:buFont typeface="Wingdings" pitchFamily="2" charset="2"/>
              <a:buChar char="§"/>
            </a:pPr>
            <a:endParaRPr lang="en-US" sz="2400" dirty="0"/>
          </a:p>
          <a:p>
            <a:pPr>
              <a:buFont typeface="Wingdings" pitchFamily="2" charset="2"/>
              <a:buChar char="§"/>
            </a:pPr>
            <a:r>
              <a:rPr lang="en-US" sz="2400" dirty="0"/>
              <a:t>A domain constraint specifies a condition by which each instance of a relation should satisfy</a:t>
            </a:r>
          </a:p>
          <a:p>
            <a:pPr lvl="1">
              <a:buFont typeface="Wingdings" pitchFamily="2" charset="2"/>
              <a:buChar char="§"/>
            </a:pPr>
            <a:r>
              <a:rPr lang="en-US" sz="2400" dirty="0"/>
              <a:t>The values that appear in a column must be drawn from the domain associated with that column</a:t>
            </a:r>
          </a:p>
          <a:p>
            <a:pPr lvl="1">
              <a:buFont typeface="Wingdings" pitchFamily="2" charset="2"/>
              <a:buChar char="§"/>
            </a:pPr>
            <a:endParaRPr lang="en-US" sz="2400" dirty="0"/>
          </a:p>
          <a:p>
            <a:pPr>
              <a:buFont typeface="Wingdings" pitchFamily="2" charset="2"/>
              <a:buChar char="§"/>
            </a:pPr>
            <a:r>
              <a:rPr lang="en-US" sz="2400" dirty="0"/>
              <a:t>Who defines a domain constraint?</a:t>
            </a:r>
          </a:p>
          <a:p>
            <a:pPr lvl="1">
              <a:buFont typeface="Wingdings" pitchFamily="2" charset="2"/>
              <a:buChar char="§"/>
            </a:pPr>
            <a:r>
              <a:rPr lang="en-US" sz="2400" dirty="0">
                <a:solidFill>
                  <a:srgbClr val="FF0000"/>
                </a:solidFill>
              </a:rPr>
              <a:t>DBA (Database administrator)</a:t>
            </a:r>
          </a:p>
          <a:p>
            <a:pPr>
              <a:buFont typeface="Wingdings" pitchFamily="2" charset="2"/>
              <a:buChar char="§"/>
            </a:pPr>
            <a:r>
              <a:rPr lang="en-US" sz="2400" dirty="0"/>
              <a:t>Who enforces a domain constraint?</a:t>
            </a:r>
          </a:p>
          <a:p>
            <a:pPr lvl="1">
              <a:buFont typeface="Wingdings" pitchFamily="2" charset="2"/>
              <a:buChar char="§"/>
            </a:pPr>
            <a:r>
              <a:rPr lang="en-US" sz="2400" dirty="0">
                <a:solidFill>
                  <a:srgbClr val="FF0000"/>
                </a:solidFill>
              </a:rPr>
              <a:t>DBMS</a:t>
            </a:r>
          </a:p>
          <a:p>
            <a:pPr lvl="1"/>
            <a:endParaRPr lang="en-US" sz="2400" dirty="0"/>
          </a:p>
          <a:p>
            <a:endParaRPr lang="en-US" dirty="0"/>
          </a:p>
        </p:txBody>
      </p:sp>
      <p:pic>
        <p:nvPicPr>
          <p:cNvPr id="9" name="Picture 5" descr="CMUQ.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6324600"/>
            <a:ext cx="2314160" cy="381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1B07726-B20E-AD73-26B7-DB1D7527A86B}"/>
              </a:ext>
            </a:extLst>
          </p:cNvPr>
          <p:cNvSpPr>
            <a:spLocks noGrp="1"/>
          </p:cNvSpPr>
          <p:nvPr>
            <p:ph type="sldNum" sz="quarter" idx="12"/>
          </p:nvPr>
        </p:nvSpPr>
        <p:spPr/>
        <p:txBody>
          <a:bodyPr/>
          <a:lstStyle/>
          <a:p>
            <a:fld id="{5FCA4BC5-AE2A-401E-9EDD-DF8812A14A6A}" type="slidenum">
              <a:rPr lang="en-US" smtClean="0"/>
              <a:t>18</a:t>
            </a:fld>
            <a:endParaRPr lang="en-US" dirty="0"/>
          </a:p>
        </p:txBody>
      </p:sp>
    </p:spTree>
    <p:extLst>
      <p:ext uri="{BB962C8B-B14F-4D97-AF65-F5344CB8AC3E}">
        <p14:creationId xmlns:p14="http://schemas.microsoft.com/office/powerpoint/2010/main" val="546735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5"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6" name="Rectangle 4"/>
          <p:cNvSpPr>
            <a:spLocks noGrp="1" noChangeArrowheads="1"/>
          </p:cNvSpPr>
          <p:nvPr>
            <p:ph type="title"/>
          </p:nvPr>
        </p:nvSpPr>
        <p:spPr>
          <a:noFill/>
          <a:ln/>
        </p:spPr>
        <p:txBody>
          <a:bodyPr/>
          <a:lstStyle/>
          <a:p>
            <a:r>
              <a:rPr lang="en-US" dirty="0"/>
              <a:t>Adding and Deleting Tuples</a:t>
            </a:r>
          </a:p>
        </p:txBody>
      </p:sp>
      <p:sp>
        <p:nvSpPr>
          <p:cNvPr id="23557" name="Rectangle 5"/>
          <p:cNvSpPr>
            <a:spLocks noGrp="1" noChangeArrowheads="1"/>
          </p:cNvSpPr>
          <p:nvPr>
            <p:ph type="body" idx="1"/>
          </p:nvPr>
        </p:nvSpPr>
        <p:spPr>
          <a:xfrm>
            <a:off x="690072" y="1441902"/>
            <a:ext cx="8225327" cy="609600"/>
          </a:xfrm>
          <a:noFill/>
          <a:ln/>
        </p:spPr>
        <p:txBody>
          <a:bodyPr>
            <a:noAutofit/>
          </a:bodyPr>
          <a:lstStyle/>
          <a:p>
            <a:pPr>
              <a:buFont typeface="Wingdings" pitchFamily="2" charset="2"/>
              <a:buChar char="§"/>
            </a:pPr>
            <a:r>
              <a:rPr lang="en-US" sz="2400" dirty="0"/>
              <a:t>We can insert a single tuple to the “Students” relation using:</a:t>
            </a:r>
          </a:p>
        </p:txBody>
      </p:sp>
      <p:sp>
        <p:nvSpPr>
          <p:cNvPr id="23558" name="Rectangle 6"/>
          <p:cNvSpPr>
            <a:spLocks noChangeArrowheads="1"/>
          </p:cNvSpPr>
          <p:nvPr/>
        </p:nvSpPr>
        <p:spPr bwMode="auto">
          <a:xfrm>
            <a:off x="1028700" y="2219568"/>
            <a:ext cx="7086600" cy="828432"/>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400" dirty="0">
                <a:latin typeface="Book Antiqua" pitchFamily="18" charset="0"/>
              </a:rPr>
              <a:t>INSERT INTO	</a:t>
            </a:r>
            <a:r>
              <a:rPr lang="en-US" sz="2000" dirty="0">
                <a:latin typeface="Book Antiqua" pitchFamily="18" charset="0"/>
              </a:rPr>
              <a:t>Students (</a:t>
            </a:r>
            <a:r>
              <a:rPr lang="en-US" sz="2000" dirty="0" err="1">
                <a:latin typeface="Book Antiqua" pitchFamily="18" charset="0"/>
              </a:rPr>
              <a:t>sid</a:t>
            </a:r>
            <a:r>
              <a:rPr lang="en-US" sz="2000" dirty="0">
                <a:latin typeface="Book Antiqua" pitchFamily="18" charset="0"/>
              </a:rPr>
              <a:t>, name, login, age, </a:t>
            </a:r>
            <a:r>
              <a:rPr lang="en-US" sz="2000" dirty="0" err="1">
                <a:latin typeface="Book Antiqua" pitchFamily="18" charset="0"/>
              </a:rPr>
              <a:t>gpa</a:t>
            </a:r>
            <a:r>
              <a:rPr lang="en-US" sz="2000" dirty="0">
                <a:latin typeface="Book Antiqua" pitchFamily="18" charset="0"/>
              </a:rPr>
              <a:t>)</a:t>
            </a:r>
          </a:p>
          <a:p>
            <a:r>
              <a:rPr lang="en-US" sz="2400" dirty="0">
                <a:latin typeface="Book Antiqua" pitchFamily="18" charset="0"/>
              </a:rPr>
              <a:t>VALUES</a:t>
            </a:r>
            <a:r>
              <a:rPr lang="en-US" sz="2000" dirty="0">
                <a:latin typeface="Book Antiqua" pitchFamily="18" charset="0"/>
              </a:rPr>
              <a:t>  		(53688, ‘Smith’, ‘</a:t>
            </a:r>
            <a:r>
              <a:rPr lang="en-US" sz="2000" dirty="0" err="1">
                <a:latin typeface="Book Antiqua" pitchFamily="18" charset="0"/>
              </a:rPr>
              <a:t>smith@ee</a:t>
            </a:r>
            <a:r>
              <a:rPr lang="en-US" sz="2000" dirty="0">
                <a:latin typeface="Book Antiqua" pitchFamily="18" charset="0"/>
              </a:rPr>
              <a:t>’, 18, 3.2)</a:t>
            </a:r>
          </a:p>
        </p:txBody>
      </p:sp>
      <p:sp>
        <p:nvSpPr>
          <p:cNvPr id="23559" name="Rectangle 7"/>
          <p:cNvSpPr>
            <a:spLocks noChangeArrowheads="1"/>
          </p:cNvSpPr>
          <p:nvPr/>
        </p:nvSpPr>
        <p:spPr bwMode="auto">
          <a:xfrm>
            <a:off x="708589" y="3602836"/>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457200" indent="-457200">
              <a:spcBef>
                <a:spcPct val="20000"/>
              </a:spcBef>
              <a:buClr>
                <a:schemeClr val="tx1"/>
              </a:buClr>
              <a:buSzPct val="100000"/>
              <a:buFont typeface="Wingdings" pitchFamily="2" charset="2"/>
              <a:buChar char="§"/>
            </a:pPr>
            <a:r>
              <a:rPr lang="en-US" sz="2400" dirty="0"/>
              <a:t>We can delete all tuples from the “Students” relation which satisfy some condition (e.g., name = Smith):</a:t>
            </a:r>
          </a:p>
        </p:txBody>
      </p:sp>
      <p:sp>
        <p:nvSpPr>
          <p:cNvPr id="23560" name="Rectangle 8"/>
          <p:cNvSpPr>
            <a:spLocks noChangeArrowheads="1"/>
          </p:cNvSpPr>
          <p:nvPr/>
        </p:nvSpPr>
        <p:spPr bwMode="auto">
          <a:xfrm>
            <a:off x="2597901" y="4593436"/>
            <a:ext cx="3948198" cy="119776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Book Antiqua" pitchFamily="18" charset="0"/>
              </a:rPr>
              <a:t>DELETE</a:t>
            </a:r>
            <a:r>
              <a:rPr lang="en-US" sz="2000" dirty="0">
                <a:latin typeface="Book Antiqua" pitchFamily="18" charset="0"/>
              </a:rPr>
              <a:t>  </a:t>
            </a:r>
          </a:p>
          <a:p>
            <a:r>
              <a:rPr lang="en-US" sz="2400" dirty="0">
                <a:latin typeface="Book Antiqua" pitchFamily="18" charset="0"/>
              </a:rPr>
              <a:t>FROM</a:t>
            </a:r>
            <a:r>
              <a:rPr lang="en-US" sz="2000" dirty="0">
                <a:latin typeface="Book Antiqua" pitchFamily="18" charset="0"/>
              </a:rPr>
              <a:t> 	Students S</a:t>
            </a:r>
          </a:p>
          <a:p>
            <a:r>
              <a:rPr lang="en-US" sz="2400" dirty="0">
                <a:latin typeface="Book Antiqua" pitchFamily="18" charset="0"/>
              </a:rPr>
              <a:t>WHERE</a:t>
            </a:r>
            <a:r>
              <a:rPr lang="en-US" sz="2000" dirty="0">
                <a:latin typeface="Book Antiqua" pitchFamily="18" charset="0"/>
              </a:rPr>
              <a:t> 	S.name = ‘Smith’</a:t>
            </a:r>
          </a:p>
        </p:txBody>
      </p:sp>
      <p:sp>
        <p:nvSpPr>
          <p:cNvPr id="2" name="Slide Number Placeholder 1">
            <a:extLst>
              <a:ext uri="{FF2B5EF4-FFF2-40B4-BE49-F238E27FC236}">
                <a16:creationId xmlns:a16="http://schemas.microsoft.com/office/drawing/2014/main" id="{8387E294-2318-8F7D-B7CC-E3CD43EC82AC}"/>
              </a:ext>
            </a:extLst>
          </p:cNvPr>
          <p:cNvSpPr>
            <a:spLocks noGrp="1"/>
          </p:cNvSpPr>
          <p:nvPr>
            <p:ph type="sldNum" sz="quarter" idx="12"/>
          </p:nvPr>
        </p:nvSpPr>
        <p:spPr/>
        <p:txBody>
          <a:bodyPr/>
          <a:lstStyle/>
          <a:p>
            <a:fld id="{5FCA4BC5-AE2A-401E-9EDD-DF8812A14A6A}" type="slidenum">
              <a:rPr lang="en-US" smtClean="0"/>
              <a:t>19</a:t>
            </a:fld>
            <a:endParaRPr lang="en-US" dirty="0"/>
          </a:p>
        </p:txBody>
      </p:sp>
    </p:spTree>
    <p:extLst>
      <p:ext uri="{BB962C8B-B14F-4D97-AF65-F5344CB8AC3E}">
        <p14:creationId xmlns:p14="http://schemas.microsoft.com/office/powerpoint/2010/main" val="3034856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22238"/>
            <a:ext cx="8229600" cy="868362"/>
          </a:xfrm>
          <a:noFill/>
          <a:ln/>
        </p:spPr>
        <p:txBody>
          <a:bodyPr/>
          <a:lstStyle/>
          <a:p>
            <a:r>
              <a:rPr lang="en-US" dirty="0"/>
              <a:t>Querying a Relation</a:t>
            </a:r>
          </a:p>
        </p:txBody>
      </p:sp>
      <p:sp>
        <p:nvSpPr>
          <p:cNvPr id="15363" name="Rectangle 3"/>
          <p:cNvSpPr>
            <a:spLocks noGrp="1" noChangeArrowheads="1"/>
          </p:cNvSpPr>
          <p:nvPr>
            <p:ph type="body" idx="1"/>
          </p:nvPr>
        </p:nvSpPr>
        <p:spPr>
          <a:xfrm>
            <a:off x="457200" y="1060450"/>
            <a:ext cx="8229600" cy="5264150"/>
          </a:xfrm>
          <a:noFill/>
          <a:ln/>
        </p:spPr>
        <p:txBody>
          <a:bodyPr/>
          <a:lstStyle/>
          <a:p>
            <a:pPr>
              <a:buFont typeface="Wingdings" pitchFamily="2" charset="2"/>
              <a:buChar char="§"/>
            </a:pPr>
            <a:r>
              <a:rPr lang="en-US" sz="2400" dirty="0"/>
              <a:t>How can we find all 18-year old students?</a:t>
            </a:r>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a:p>
            <a:pPr marL="0" indent="0">
              <a:buNone/>
            </a:pPr>
            <a:endParaRPr lang="en-US" sz="2400" dirty="0">
              <a:latin typeface="Book Antiqua" pitchFamily="18" charset="0"/>
            </a:endParaRPr>
          </a:p>
          <a:p>
            <a:pPr>
              <a:buFont typeface="Wingdings" pitchFamily="2" charset="2"/>
              <a:buChar char="§"/>
            </a:pPr>
            <a:r>
              <a:rPr lang="en-US" sz="2400" dirty="0"/>
              <a:t>How can we find just names and logins?</a:t>
            </a:r>
          </a:p>
          <a:p>
            <a:pPr>
              <a:buFont typeface="Wingdings" pitchFamily="2" charset="2"/>
              <a:buChar char="§"/>
            </a:pPr>
            <a:endParaRPr lang="en-US" dirty="0"/>
          </a:p>
        </p:txBody>
      </p:sp>
      <p:sp>
        <p:nvSpPr>
          <p:cNvPr id="15364" name="Rectangle 4"/>
          <p:cNvSpPr>
            <a:spLocks noChangeArrowheads="1"/>
          </p:cNvSpPr>
          <p:nvPr/>
        </p:nvSpPr>
        <p:spPr bwMode="auto">
          <a:xfrm>
            <a:off x="381001" y="2895600"/>
            <a:ext cx="2667000" cy="1013098"/>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000" dirty="0">
                <a:latin typeface="Book Antiqua" pitchFamily="18" charset="0"/>
              </a:rPr>
              <a:t>SELECT     </a:t>
            </a:r>
            <a:r>
              <a:rPr lang="en-US" dirty="0">
                <a:latin typeface="Book Antiqua" pitchFamily="18" charset="0"/>
              </a:rPr>
              <a:t>*</a:t>
            </a:r>
          </a:p>
          <a:p>
            <a:r>
              <a:rPr lang="en-US" sz="2000" dirty="0">
                <a:latin typeface="Book Antiqua" pitchFamily="18" charset="0"/>
              </a:rPr>
              <a:t>FROM</a:t>
            </a:r>
            <a:r>
              <a:rPr lang="en-US" dirty="0">
                <a:latin typeface="Book Antiqua" pitchFamily="18" charset="0"/>
              </a:rPr>
              <a:t>	      Students S</a:t>
            </a:r>
          </a:p>
          <a:p>
            <a:r>
              <a:rPr lang="en-US" sz="2000" dirty="0">
                <a:latin typeface="Book Antiqua" pitchFamily="18" charset="0"/>
              </a:rPr>
              <a:t>WHERE</a:t>
            </a:r>
            <a:r>
              <a:rPr lang="en-US" dirty="0">
                <a:latin typeface="Book Antiqua" pitchFamily="18" charset="0"/>
              </a:rPr>
              <a:t>     </a:t>
            </a:r>
            <a:r>
              <a:rPr lang="en-US" dirty="0" err="1">
                <a:latin typeface="Book Antiqua" pitchFamily="18" charset="0"/>
              </a:rPr>
              <a:t>S.age</a:t>
            </a:r>
            <a:r>
              <a:rPr lang="en-US" dirty="0">
                <a:latin typeface="Book Antiqua" pitchFamily="18" charset="0"/>
              </a:rPr>
              <a:t>=18</a:t>
            </a:r>
          </a:p>
        </p:txBody>
      </p:sp>
      <p:graphicFrame>
        <p:nvGraphicFramePr>
          <p:cNvPr id="15367" name="Object 7">
            <a:hlinkClick r:id="" action="ppaction://ole?verb=0"/>
          </p:cNvPr>
          <p:cNvGraphicFramePr>
            <a:graphicFrameLocks/>
          </p:cNvGraphicFramePr>
          <p:nvPr>
            <p:extLst>
              <p:ext uri="{D42A27DB-BD31-4B8C-83A1-F6EECF244321}">
                <p14:modId xmlns:p14="http://schemas.microsoft.com/office/powerpoint/2010/main" val="1686194252"/>
              </p:ext>
            </p:extLst>
          </p:nvPr>
        </p:nvGraphicFramePr>
        <p:xfrm>
          <a:off x="3962400" y="3025775"/>
          <a:ext cx="4445000" cy="1066800"/>
        </p:xfrm>
        <a:graphic>
          <a:graphicData uri="http://schemas.openxmlformats.org/presentationml/2006/ole">
            <mc:AlternateContent xmlns:mc="http://schemas.openxmlformats.org/markup-compatibility/2006">
              <mc:Choice xmlns:v="urn:schemas-microsoft-com:vml" Requires="v">
                <p:oleObj name="Document" r:id="rId3" imgW="4444920" imgH="1650960" progId="Word.Document.8">
                  <p:embed/>
                </p:oleObj>
              </mc:Choice>
              <mc:Fallback>
                <p:oleObj name="Document" r:id="rId3" imgW="4444920" imgH="1650960" progId="Word.Document.8">
                  <p:embed/>
                  <p:pic>
                    <p:nvPicPr>
                      <p:cNvPr id="15367" name="Object 7">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3025775"/>
                        <a:ext cx="4445000" cy="1066800"/>
                      </a:xfrm>
                      <a:prstGeom prst="rect">
                        <a:avLst/>
                      </a:prstGeom>
                      <a:noFill/>
                      <a:ln>
                        <a:noFill/>
                      </a:ln>
                      <a:effectLst/>
                    </p:spPr>
                  </p:pic>
                </p:oleObj>
              </mc:Fallback>
            </mc:AlternateContent>
          </a:graphicData>
        </a:graphic>
      </p:graphicFrame>
      <p:sp>
        <p:nvSpPr>
          <p:cNvPr id="8" name="Rectangle 4"/>
          <p:cNvSpPr>
            <a:spLocks noChangeArrowheads="1"/>
          </p:cNvSpPr>
          <p:nvPr/>
        </p:nvSpPr>
        <p:spPr bwMode="auto">
          <a:xfrm>
            <a:off x="3048001" y="4581252"/>
            <a:ext cx="3592331" cy="1013098"/>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dirty="0">
                <a:latin typeface="Book Antiqua" pitchFamily="18" charset="0"/>
              </a:rPr>
              <a:t>SELECT	</a:t>
            </a:r>
            <a:r>
              <a:rPr lang="en-US" dirty="0">
                <a:latin typeface="Book Antiqua" pitchFamily="18" charset="0"/>
              </a:rPr>
              <a:t>S.name, </a:t>
            </a:r>
            <a:r>
              <a:rPr lang="en-US" dirty="0" err="1">
                <a:latin typeface="Book Antiqua" pitchFamily="18" charset="0"/>
              </a:rPr>
              <a:t>S.login</a:t>
            </a:r>
            <a:endParaRPr lang="en-US" dirty="0">
              <a:latin typeface="Book Antiqua" pitchFamily="18" charset="0"/>
            </a:endParaRPr>
          </a:p>
          <a:p>
            <a:r>
              <a:rPr lang="en-US" sz="2000" dirty="0">
                <a:latin typeface="Book Antiqua" pitchFamily="18" charset="0"/>
              </a:rPr>
              <a:t>FROM</a:t>
            </a:r>
            <a:r>
              <a:rPr lang="en-US" dirty="0">
                <a:latin typeface="Book Antiqua" pitchFamily="18" charset="0"/>
              </a:rPr>
              <a:t>  	   	Students S</a:t>
            </a:r>
          </a:p>
          <a:p>
            <a:r>
              <a:rPr lang="en-US" sz="2000">
                <a:latin typeface="Book Antiqua" pitchFamily="18" charset="0"/>
              </a:rPr>
              <a:t>WHERE</a:t>
            </a:r>
            <a:r>
              <a:rPr lang="en-US">
                <a:latin typeface="Book Antiqua" pitchFamily="18" charset="0"/>
              </a:rPr>
              <a:t>   	S</a:t>
            </a:r>
            <a:r>
              <a:rPr lang="en-US" dirty="0" err="1">
                <a:latin typeface="Book Antiqua" pitchFamily="18" charset="0"/>
              </a:rPr>
              <a:t>.age</a:t>
            </a:r>
            <a:r>
              <a:rPr lang="en-US" dirty="0">
                <a:latin typeface="Book Antiqua" pitchFamily="18" charset="0"/>
              </a:rPr>
              <a:t>=18</a:t>
            </a:r>
          </a:p>
        </p:txBody>
      </p:sp>
      <p:graphicFrame>
        <p:nvGraphicFramePr>
          <p:cNvPr id="4" name="Object 3">
            <a:hlinkClick r:id="" action="ppaction://ole?verb=0"/>
          </p:cNvPr>
          <p:cNvGraphicFramePr>
            <a:graphicFrameLocks/>
          </p:cNvGraphicFramePr>
          <p:nvPr>
            <p:extLst>
              <p:ext uri="{D42A27DB-BD31-4B8C-83A1-F6EECF244321}">
                <p14:modId xmlns:p14="http://schemas.microsoft.com/office/powerpoint/2010/main" val="327872021"/>
              </p:ext>
            </p:extLst>
          </p:nvPr>
        </p:nvGraphicFramePr>
        <p:xfrm>
          <a:off x="1981200" y="1524000"/>
          <a:ext cx="5681662" cy="1501775"/>
        </p:xfrm>
        <a:graphic>
          <a:graphicData uri="http://schemas.openxmlformats.org/presentationml/2006/ole">
            <mc:AlternateContent xmlns:mc="http://schemas.openxmlformats.org/markup-compatibility/2006">
              <mc:Choice xmlns:v="urn:schemas-microsoft-com:vml" Requires="v">
                <p:oleObj name="Document" r:id="rId5" imgW="6521450" imgH="2528888" progId="Word.Document.8">
                  <p:embed/>
                </p:oleObj>
              </mc:Choice>
              <mc:Fallback>
                <p:oleObj name="Document" r:id="rId5" imgW="6521450" imgH="2528888" progId="Word.Document.8">
                  <p:embed/>
                  <p:pic>
                    <p:nvPicPr>
                      <p:cNvPr id="4" name="Object 3">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524000"/>
                        <a:ext cx="5681662" cy="1501775"/>
                      </a:xfrm>
                      <a:prstGeom prst="rect">
                        <a:avLst/>
                      </a:prstGeom>
                      <a:noFill/>
                      <a:ln>
                        <a:noFill/>
                      </a:ln>
                      <a:effectLst/>
                    </p:spPr>
                  </p:pic>
                </p:oleObj>
              </mc:Fallback>
            </mc:AlternateContent>
          </a:graphicData>
        </a:graphic>
      </p:graphicFrame>
      <p:sp>
        <p:nvSpPr>
          <p:cNvPr id="5" name="Striped Right Arrow 4"/>
          <p:cNvSpPr/>
          <p:nvPr/>
        </p:nvSpPr>
        <p:spPr>
          <a:xfrm>
            <a:off x="3200400" y="3002274"/>
            <a:ext cx="533400" cy="865051"/>
          </a:xfrm>
          <a:prstGeom prst="stripedRight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9">
            <a:extLst>
              <a:ext uri="{FF2B5EF4-FFF2-40B4-BE49-F238E27FC236}">
                <a16:creationId xmlns:a16="http://schemas.microsoft.com/office/drawing/2014/main" id="{63D854E7-54B2-E965-68EC-AB14B3AAABD9}"/>
              </a:ext>
            </a:extLst>
          </p:cNvPr>
          <p:cNvSpPr/>
          <p:nvPr/>
        </p:nvSpPr>
        <p:spPr>
          <a:xfrm>
            <a:off x="457200" y="5889625"/>
            <a:ext cx="8229600" cy="533400"/>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Powerful variants of these commands are available; </a:t>
            </a:r>
            <a:r>
              <a:rPr lang="en-US" sz="2000" i="1" dirty="0"/>
              <a:t>more on this tomorrow!</a:t>
            </a:r>
            <a:endParaRPr lang="en-US" sz="2000" dirty="0"/>
          </a:p>
        </p:txBody>
      </p:sp>
      <p:sp>
        <p:nvSpPr>
          <p:cNvPr id="3" name="Slide Number Placeholder 2">
            <a:extLst>
              <a:ext uri="{FF2B5EF4-FFF2-40B4-BE49-F238E27FC236}">
                <a16:creationId xmlns:a16="http://schemas.microsoft.com/office/drawing/2014/main" id="{17CBA34E-3B30-3E56-D600-5E3C175BECDF}"/>
              </a:ext>
            </a:extLst>
          </p:cNvPr>
          <p:cNvSpPr>
            <a:spLocks noGrp="1"/>
          </p:cNvSpPr>
          <p:nvPr>
            <p:ph type="sldNum" sz="quarter" idx="12"/>
          </p:nvPr>
        </p:nvSpPr>
        <p:spPr/>
        <p:txBody>
          <a:bodyPr/>
          <a:lstStyle/>
          <a:p>
            <a:fld id="{5FCA4BC5-AE2A-401E-9EDD-DF8812A14A6A}" type="slidenum">
              <a:rPr lang="en-US" smtClean="0"/>
              <a:t>20</a:t>
            </a:fld>
            <a:endParaRPr lang="en-US" dirty="0"/>
          </a:p>
        </p:txBody>
      </p:sp>
    </p:spTree>
    <p:extLst>
      <p:ext uri="{BB962C8B-B14F-4D97-AF65-F5344CB8AC3E}">
        <p14:creationId xmlns:p14="http://schemas.microsoft.com/office/powerpoint/2010/main" val="33354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85800" y="5943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7" name="Rectangle 3"/>
          <p:cNvSpPr>
            <a:spLocks noChangeArrowheads="1"/>
          </p:cNvSpPr>
          <p:nvPr/>
        </p:nvSpPr>
        <p:spPr bwMode="auto">
          <a:xfrm>
            <a:off x="3124200" y="5943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8" name="Rectangle 4"/>
          <p:cNvSpPr>
            <a:spLocks noGrp="1" noChangeArrowheads="1"/>
          </p:cNvSpPr>
          <p:nvPr>
            <p:ph type="title"/>
          </p:nvPr>
        </p:nvSpPr>
        <p:spPr>
          <a:noFill/>
          <a:ln/>
        </p:spPr>
        <p:txBody>
          <a:bodyPr/>
          <a:lstStyle/>
          <a:p>
            <a:r>
              <a:rPr lang="en-US" dirty="0"/>
              <a:t>Destroying and Altering Relations</a:t>
            </a:r>
          </a:p>
        </p:txBody>
      </p:sp>
      <p:sp>
        <p:nvSpPr>
          <p:cNvPr id="21509" name="Rectangle 5"/>
          <p:cNvSpPr>
            <a:spLocks noGrp="1" noChangeArrowheads="1"/>
          </p:cNvSpPr>
          <p:nvPr>
            <p:ph type="body" idx="1"/>
          </p:nvPr>
        </p:nvSpPr>
        <p:spPr>
          <a:xfrm>
            <a:off x="487822" y="1371600"/>
            <a:ext cx="7772400" cy="990600"/>
          </a:xfrm>
          <a:noFill/>
          <a:ln/>
        </p:spPr>
        <p:txBody>
          <a:bodyPr>
            <a:normAutofit/>
          </a:bodyPr>
          <a:lstStyle/>
          <a:p>
            <a:pPr>
              <a:buFont typeface="Wingdings" pitchFamily="2" charset="2"/>
              <a:buChar char="§"/>
            </a:pPr>
            <a:r>
              <a:rPr lang="en-US" sz="2800" dirty="0"/>
              <a:t>How to destroy the relation “Students”? </a:t>
            </a:r>
          </a:p>
        </p:txBody>
      </p:sp>
      <p:sp>
        <p:nvSpPr>
          <p:cNvPr id="21510" name="Rectangle 6"/>
          <p:cNvSpPr>
            <a:spLocks noChangeArrowheads="1"/>
          </p:cNvSpPr>
          <p:nvPr/>
        </p:nvSpPr>
        <p:spPr bwMode="auto">
          <a:xfrm>
            <a:off x="2895600" y="1995750"/>
            <a:ext cx="2819400" cy="674544"/>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r>
              <a:rPr lang="en-US" sz="2000" dirty="0">
                <a:solidFill>
                  <a:schemeClr val="accent2"/>
                </a:solidFill>
                <a:latin typeface="Book Antiqua" pitchFamily="18" charset="0"/>
              </a:rPr>
              <a:t>DROP TABLE  </a:t>
            </a:r>
            <a:r>
              <a:rPr lang="en-US" dirty="0">
                <a:latin typeface="Book Antiqua" pitchFamily="18" charset="0"/>
              </a:rPr>
              <a:t>Students </a:t>
            </a:r>
          </a:p>
          <a:p>
            <a:pPr algn="ctr"/>
            <a:r>
              <a:rPr lang="en-US" dirty="0">
                <a:latin typeface="Book Antiqua" pitchFamily="18" charset="0"/>
              </a:rPr>
              <a:t>	</a:t>
            </a:r>
          </a:p>
        </p:txBody>
      </p:sp>
      <p:sp>
        <p:nvSpPr>
          <p:cNvPr id="21511" name="Rectangle 7"/>
          <p:cNvSpPr>
            <a:spLocks noChangeArrowheads="1"/>
          </p:cNvSpPr>
          <p:nvPr/>
        </p:nvSpPr>
        <p:spPr bwMode="auto">
          <a:xfrm>
            <a:off x="609600" y="4267200"/>
            <a:ext cx="77724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2" name="Rectangle 8"/>
          <p:cNvSpPr>
            <a:spLocks noChangeArrowheads="1"/>
          </p:cNvSpPr>
          <p:nvPr/>
        </p:nvSpPr>
        <p:spPr bwMode="auto">
          <a:xfrm>
            <a:off x="457200" y="3756277"/>
            <a:ext cx="7772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457200" indent="-457200">
              <a:spcBef>
                <a:spcPct val="20000"/>
              </a:spcBef>
              <a:buClr>
                <a:schemeClr val="tx1"/>
              </a:buClr>
              <a:buSzPct val="100000"/>
              <a:buFont typeface="Wingdings" pitchFamily="2" charset="2"/>
              <a:buChar char="§"/>
            </a:pPr>
            <a:r>
              <a:rPr lang="en-US" sz="2800" dirty="0"/>
              <a:t>How to alter the schema of “Students” in order to add a new field?</a:t>
            </a:r>
          </a:p>
        </p:txBody>
      </p:sp>
      <p:sp>
        <p:nvSpPr>
          <p:cNvPr id="21513" name="Rectangle 9"/>
          <p:cNvSpPr>
            <a:spLocks noChangeArrowheads="1"/>
          </p:cNvSpPr>
          <p:nvPr/>
        </p:nvSpPr>
        <p:spPr bwMode="auto">
          <a:xfrm>
            <a:off x="1866900" y="4876800"/>
            <a:ext cx="5257800" cy="819150"/>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dirty="0">
                <a:solidFill>
                  <a:schemeClr val="accent2"/>
                </a:solidFill>
                <a:latin typeface="Book Antiqua" pitchFamily="18" charset="0"/>
              </a:rPr>
              <a:t>ALTER TABLE  </a:t>
            </a:r>
            <a:r>
              <a:rPr lang="en-US" dirty="0">
                <a:latin typeface="Book Antiqua" pitchFamily="18" charset="0"/>
              </a:rPr>
              <a:t>Students </a:t>
            </a:r>
          </a:p>
          <a:p>
            <a:r>
              <a:rPr lang="en-US" dirty="0">
                <a:latin typeface="Book Antiqua" pitchFamily="18" charset="0"/>
              </a:rPr>
              <a:t>	</a:t>
            </a:r>
            <a:r>
              <a:rPr lang="en-US" sz="2000" dirty="0">
                <a:solidFill>
                  <a:schemeClr val="accent2"/>
                </a:solidFill>
                <a:latin typeface="Book Antiqua" pitchFamily="18" charset="0"/>
              </a:rPr>
              <a:t>ADD COLUMN </a:t>
            </a:r>
            <a:r>
              <a:rPr lang="en-US" dirty="0" err="1">
                <a:latin typeface="Book Antiqua" pitchFamily="18" charset="0"/>
              </a:rPr>
              <a:t>firstYear</a:t>
            </a:r>
            <a:r>
              <a:rPr lang="en-US" dirty="0">
                <a:latin typeface="Book Antiqua" pitchFamily="18" charset="0"/>
              </a:rPr>
              <a:t>: integer</a:t>
            </a:r>
          </a:p>
        </p:txBody>
      </p:sp>
      <p:sp>
        <p:nvSpPr>
          <p:cNvPr id="2" name="Rounded Rectangle 1"/>
          <p:cNvSpPr/>
          <p:nvPr/>
        </p:nvSpPr>
        <p:spPr>
          <a:xfrm>
            <a:off x="861626" y="2894932"/>
            <a:ext cx="7620000" cy="595313"/>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The schema information </a:t>
            </a:r>
            <a:r>
              <a:rPr lang="en-US" sz="2400" i="1" dirty="0"/>
              <a:t>and</a:t>
            </a:r>
            <a:r>
              <a:rPr lang="en-US" sz="2400" dirty="0"/>
              <a:t> the tuples are deleted</a:t>
            </a:r>
          </a:p>
        </p:txBody>
      </p:sp>
      <p:sp>
        <p:nvSpPr>
          <p:cNvPr id="14" name="Rounded Rectangle 13"/>
          <p:cNvSpPr/>
          <p:nvPr/>
        </p:nvSpPr>
        <p:spPr>
          <a:xfrm>
            <a:off x="861626" y="5821110"/>
            <a:ext cx="7620000" cy="819150"/>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tx1"/>
              </a:buClr>
              <a:buSzPct val="75000"/>
            </a:pPr>
            <a:r>
              <a:rPr lang="en-US" sz="2400" dirty="0"/>
              <a:t>Every tuple in the current instance is extended with a </a:t>
            </a:r>
            <a:r>
              <a:rPr lang="en-US" sz="2400" b="1" i="1" dirty="0">
                <a:solidFill>
                  <a:schemeClr val="bg1"/>
                </a:solidFill>
              </a:rPr>
              <a:t>null</a:t>
            </a:r>
            <a:r>
              <a:rPr lang="en-US" sz="2400" dirty="0"/>
              <a:t> value in the new field!</a:t>
            </a:r>
          </a:p>
        </p:txBody>
      </p:sp>
      <p:sp>
        <p:nvSpPr>
          <p:cNvPr id="3" name="Slide Number Placeholder 2">
            <a:extLst>
              <a:ext uri="{FF2B5EF4-FFF2-40B4-BE49-F238E27FC236}">
                <a16:creationId xmlns:a16="http://schemas.microsoft.com/office/drawing/2014/main" id="{F9A0A360-E57F-0DE3-F3A4-6235293D488D}"/>
              </a:ext>
            </a:extLst>
          </p:cNvPr>
          <p:cNvSpPr>
            <a:spLocks noGrp="1"/>
          </p:cNvSpPr>
          <p:nvPr>
            <p:ph type="sldNum" sz="quarter" idx="12"/>
          </p:nvPr>
        </p:nvSpPr>
        <p:spPr/>
        <p:txBody>
          <a:bodyPr/>
          <a:lstStyle/>
          <a:p>
            <a:fld id="{5FCA4BC5-AE2A-401E-9EDD-DF8812A14A6A}" type="slidenum">
              <a:rPr lang="en-US" smtClean="0"/>
              <a:t>21</a:t>
            </a:fld>
            <a:endParaRPr lang="en-US" dirty="0"/>
          </a:p>
        </p:txBody>
      </p:sp>
    </p:spTree>
    <p:extLst>
      <p:ext uri="{BB962C8B-B14F-4D97-AF65-F5344CB8AC3E}">
        <p14:creationId xmlns:p14="http://schemas.microsoft.com/office/powerpoint/2010/main" val="3949600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fade">
                                      <p:cBhvr>
                                        <p:cTn id="7" dur="500"/>
                                        <p:tgtEl>
                                          <p:spTgt spid="215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512"/>
                                        </p:tgtEl>
                                        <p:attrNameLst>
                                          <p:attrName>style.visibility</p:attrName>
                                        </p:attrNameLst>
                                      </p:cBhvr>
                                      <p:to>
                                        <p:strVal val="visible"/>
                                      </p:to>
                                    </p:set>
                                    <p:animEffect transition="in" filter="fade">
                                      <p:cBhvr>
                                        <p:cTn id="15" dur="500"/>
                                        <p:tgtEl>
                                          <p:spTgt spid="215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513"/>
                                        </p:tgtEl>
                                        <p:attrNameLst>
                                          <p:attrName>style.visibility</p:attrName>
                                        </p:attrNameLst>
                                      </p:cBhvr>
                                      <p:to>
                                        <p:strVal val="visible"/>
                                      </p:to>
                                    </p:set>
                                    <p:animEffect transition="in" filter="fade">
                                      <p:cBhvr>
                                        <p:cTn id="20" dur="500"/>
                                        <p:tgtEl>
                                          <p:spTgt spid="215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nimBg="1"/>
      <p:bldP spid="21512" grpId="0"/>
      <p:bldP spid="21513" grpId="0" animBg="1"/>
      <p:bldP spid="2"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3"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4" name="Rectangle 4"/>
          <p:cNvSpPr>
            <a:spLocks noGrp="1" noChangeArrowheads="1"/>
          </p:cNvSpPr>
          <p:nvPr>
            <p:ph type="title"/>
          </p:nvPr>
        </p:nvSpPr>
        <p:spPr>
          <a:noFill/>
          <a:ln/>
        </p:spPr>
        <p:txBody>
          <a:bodyPr/>
          <a:lstStyle/>
          <a:p>
            <a:r>
              <a:rPr lang="en-US" dirty="0"/>
              <a:t>Integrity Constraints (ICs)</a:t>
            </a:r>
          </a:p>
        </p:txBody>
      </p:sp>
      <p:sp>
        <p:nvSpPr>
          <p:cNvPr id="25605" name="Rectangle 5"/>
          <p:cNvSpPr>
            <a:spLocks noGrp="1" noChangeArrowheads="1"/>
          </p:cNvSpPr>
          <p:nvPr>
            <p:ph type="body" idx="1"/>
          </p:nvPr>
        </p:nvSpPr>
        <p:spPr>
          <a:xfrm>
            <a:off x="571500" y="1344512"/>
            <a:ext cx="8001000" cy="4800600"/>
          </a:xfrm>
          <a:noFill/>
          <a:ln/>
        </p:spPr>
        <p:txBody>
          <a:bodyPr>
            <a:normAutofit fontScale="92500" lnSpcReduction="10000"/>
          </a:bodyPr>
          <a:lstStyle/>
          <a:p>
            <a:pPr>
              <a:buFont typeface="Wingdings" pitchFamily="2" charset="2"/>
              <a:buChar char="§"/>
            </a:pPr>
            <a:r>
              <a:rPr lang="en-US" dirty="0"/>
              <a:t>An </a:t>
            </a:r>
            <a:r>
              <a:rPr lang="en-US" dirty="0">
                <a:solidFill>
                  <a:srgbClr val="0070C0"/>
                </a:solidFill>
              </a:rPr>
              <a:t>IC</a:t>
            </a:r>
            <a:r>
              <a:rPr lang="en-US" dirty="0"/>
              <a:t> is a condition that must be true for </a:t>
            </a:r>
            <a:r>
              <a:rPr lang="en-US" i="1" dirty="0"/>
              <a:t>any</a:t>
            </a:r>
            <a:r>
              <a:rPr lang="en-US" i="1" dirty="0">
                <a:solidFill>
                  <a:schemeClr val="accent2"/>
                </a:solidFill>
              </a:rPr>
              <a:t> </a:t>
            </a:r>
            <a:r>
              <a:rPr lang="en-US" dirty="0"/>
              <a:t>instance of the database (e.g., </a:t>
            </a:r>
            <a:r>
              <a:rPr lang="en-US" i="1" dirty="0"/>
              <a:t>domain constraints</a:t>
            </a:r>
            <a:r>
              <a:rPr lang="en-US" dirty="0"/>
              <a:t>)</a:t>
            </a:r>
          </a:p>
          <a:p>
            <a:pPr lvl="1">
              <a:buSzPct val="75000"/>
              <a:buFont typeface="Wingdings" pitchFamily="2" charset="2"/>
              <a:buChar char="§"/>
            </a:pPr>
            <a:r>
              <a:rPr lang="en-US" dirty="0"/>
              <a:t>ICs are specified when schemas are defined</a:t>
            </a:r>
          </a:p>
          <a:p>
            <a:pPr lvl="1">
              <a:buSzPct val="75000"/>
              <a:buFont typeface="Wingdings" pitchFamily="2" charset="2"/>
              <a:buChar char="§"/>
            </a:pPr>
            <a:r>
              <a:rPr lang="en-US" dirty="0"/>
              <a:t>ICs are </a:t>
            </a:r>
            <a:r>
              <a:rPr lang="en-US" i="1" dirty="0"/>
              <a:t>checked</a:t>
            </a:r>
            <a:r>
              <a:rPr lang="en-US" dirty="0"/>
              <a:t> when relations are modified</a:t>
            </a:r>
          </a:p>
          <a:p>
            <a:pPr lvl="1">
              <a:buSzPct val="75000"/>
              <a:buFont typeface="Wingdings" pitchFamily="2" charset="2"/>
              <a:buChar char="§"/>
            </a:pPr>
            <a:endParaRPr lang="en-US" dirty="0"/>
          </a:p>
          <a:p>
            <a:pPr>
              <a:buFont typeface="Wingdings" pitchFamily="2" charset="2"/>
              <a:buChar char="§"/>
            </a:pPr>
            <a:r>
              <a:rPr lang="en-US" dirty="0"/>
              <a:t>A </a:t>
            </a:r>
            <a:r>
              <a:rPr lang="en-US" i="1" dirty="0">
                <a:solidFill>
                  <a:srgbClr val="0070C0"/>
                </a:solidFill>
              </a:rPr>
              <a:t>legal</a:t>
            </a:r>
            <a:r>
              <a:rPr lang="en-US" dirty="0">
                <a:solidFill>
                  <a:schemeClr val="accent2"/>
                </a:solidFill>
              </a:rPr>
              <a:t> </a:t>
            </a:r>
            <a:r>
              <a:rPr lang="en-US" dirty="0"/>
              <a:t>instance of a relation is one that satisfies all specified ICs</a:t>
            </a:r>
          </a:p>
          <a:p>
            <a:pPr lvl="1">
              <a:buSzPct val="75000"/>
              <a:buFont typeface="Wingdings" pitchFamily="2" charset="2"/>
              <a:buChar char="§"/>
            </a:pPr>
            <a:r>
              <a:rPr lang="en-US" dirty="0"/>
              <a:t>DBMS should not allow illegal instances</a:t>
            </a:r>
          </a:p>
          <a:p>
            <a:pPr lvl="1">
              <a:buSzPct val="75000"/>
              <a:buFont typeface="Wingdings" pitchFamily="2" charset="2"/>
              <a:buChar char="§"/>
            </a:pPr>
            <a:endParaRPr lang="en-US" dirty="0"/>
          </a:p>
          <a:p>
            <a:pPr>
              <a:buFont typeface="Wingdings" pitchFamily="2" charset="2"/>
              <a:buChar char="§"/>
            </a:pPr>
            <a:r>
              <a:rPr lang="en-US" dirty="0"/>
              <a:t>If the DBMS checks ICs, stored data is more faithful to real-world meaning</a:t>
            </a:r>
          </a:p>
          <a:p>
            <a:pPr lvl="1">
              <a:buSzPct val="75000"/>
              <a:buFont typeface="Wingdings" pitchFamily="2" charset="2"/>
              <a:buChar char="§"/>
            </a:pPr>
            <a:r>
              <a:rPr lang="en-US" dirty="0"/>
              <a:t>Avoids data entry errors, too!</a:t>
            </a:r>
          </a:p>
        </p:txBody>
      </p:sp>
      <p:sp>
        <p:nvSpPr>
          <p:cNvPr id="2" name="Slide Number Placeholder 1">
            <a:extLst>
              <a:ext uri="{FF2B5EF4-FFF2-40B4-BE49-F238E27FC236}">
                <a16:creationId xmlns:a16="http://schemas.microsoft.com/office/drawing/2014/main" id="{AD083DDD-F51F-17E9-3519-247A72FFFB78}"/>
              </a:ext>
            </a:extLst>
          </p:cNvPr>
          <p:cNvSpPr>
            <a:spLocks noGrp="1"/>
          </p:cNvSpPr>
          <p:nvPr>
            <p:ph type="sldNum" sz="quarter" idx="12"/>
          </p:nvPr>
        </p:nvSpPr>
        <p:spPr/>
        <p:txBody>
          <a:bodyPr/>
          <a:lstStyle/>
          <a:p>
            <a:fld id="{5FCA4BC5-AE2A-401E-9EDD-DF8812A14A6A}" type="slidenum">
              <a:rPr lang="en-US" smtClean="0"/>
              <a:t>22</a:t>
            </a:fld>
            <a:endParaRPr lang="en-US" dirty="0"/>
          </a:p>
        </p:txBody>
      </p:sp>
    </p:spTree>
    <p:extLst>
      <p:ext uri="{BB962C8B-B14F-4D97-AF65-F5344CB8AC3E}">
        <p14:creationId xmlns:p14="http://schemas.microsoft.com/office/powerpoint/2010/main" val="540237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a:xfrm>
            <a:off x="381000" y="1143000"/>
            <a:ext cx="8458200" cy="4076700"/>
          </a:xfrm>
        </p:spPr>
        <p:txBody>
          <a:bodyPr/>
          <a:lstStyle/>
          <a:p>
            <a:pPr>
              <a:buFont typeface="Wingdings" pitchFamily="2" charset="2"/>
              <a:buChar char="§"/>
            </a:pPr>
            <a:r>
              <a:rPr lang="en-US" sz="3200" b="0" dirty="0"/>
              <a:t>Keys help associate tuples in different relations</a:t>
            </a:r>
          </a:p>
          <a:p>
            <a:pPr>
              <a:buFont typeface="Wingdings" pitchFamily="2" charset="2"/>
              <a:buChar char="§"/>
            </a:pPr>
            <a:endParaRPr lang="en-US" sz="3200" b="0" dirty="0"/>
          </a:p>
          <a:p>
            <a:pPr>
              <a:buFont typeface="Wingdings" pitchFamily="2" charset="2"/>
              <a:buChar char="§"/>
            </a:pPr>
            <a:r>
              <a:rPr lang="en-US" sz="3200" b="0" dirty="0"/>
              <a:t>Keys are one form of integrity constraints (ICs)</a:t>
            </a:r>
          </a:p>
          <a:p>
            <a:pPr>
              <a:buFont typeface="Wingdings" pitchFamily="2" charset="2"/>
              <a:buChar char="§"/>
            </a:pPr>
            <a:endParaRPr lang="en-US" sz="3200" b="0" dirty="0"/>
          </a:p>
        </p:txBody>
      </p:sp>
      <p:graphicFrame>
        <p:nvGraphicFramePr>
          <p:cNvPr id="36866" name="Object 2"/>
          <p:cNvGraphicFramePr>
            <a:graphicFrameLocks/>
          </p:cNvGraphicFramePr>
          <p:nvPr/>
        </p:nvGraphicFramePr>
        <p:xfrm>
          <a:off x="4662488" y="4114800"/>
          <a:ext cx="4481512" cy="1655763"/>
        </p:xfrm>
        <a:graphic>
          <a:graphicData uri="http://schemas.openxmlformats.org/presentationml/2006/ole">
            <mc:AlternateContent xmlns:mc="http://schemas.openxmlformats.org/markup-compatibility/2006">
              <mc:Choice xmlns:v="urn:schemas-microsoft-com:vml" Requires="v">
                <p:oleObj name="Document" r:id="rId2" imgW="6737760" imgH="2499480" progId="Word.Document.8">
                  <p:embed/>
                </p:oleObj>
              </mc:Choice>
              <mc:Fallback>
                <p:oleObj name="Document" r:id="rId2" imgW="6737760" imgH="2499480" progId="Word.Document.8">
                  <p:embed/>
                  <p:pic>
                    <p:nvPicPr>
                      <p:cNvPr id="36866"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2488" y="4114800"/>
                        <a:ext cx="4481512"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7" name="Object 3"/>
          <p:cNvGraphicFramePr>
            <a:graphicFrameLocks/>
          </p:cNvGraphicFramePr>
          <p:nvPr/>
        </p:nvGraphicFramePr>
        <p:xfrm>
          <a:off x="425450" y="3875088"/>
          <a:ext cx="3430588" cy="1793875"/>
        </p:xfrm>
        <a:graphic>
          <a:graphicData uri="http://schemas.openxmlformats.org/presentationml/2006/ole">
            <mc:AlternateContent xmlns:mc="http://schemas.openxmlformats.org/markup-compatibility/2006">
              <mc:Choice xmlns:v="urn:schemas-microsoft-com:vml" Requires="v">
                <p:oleObj name="Document" r:id="rId4" imgW="4716720" imgH="2473560" progId="Word.Document.8">
                  <p:embed/>
                </p:oleObj>
              </mc:Choice>
              <mc:Fallback>
                <p:oleObj name="Document" r:id="rId4" imgW="4716720" imgH="2473560" progId="Word.Document.8">
                  <p:embed/>
                  <p:pic>
                    <p:nvPicPr>
                      <p:cNvPr id="36867"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450" y="3875088"/>
                        <a:ext cx="3430588"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1" name="Line 6"/>
          <p:cNvSpPr>
            <a:spLocks noChangeShapeType="1"/>
          </p:cNvSpPr>
          <p:nvPr/>
        </p:nvSpPr>
        <p:spPr bwMode="auto">
          <a:xfrm>
            <a:off x="3733800" y="4419600"/>
            <a:ext cx="928688" cy="207963"/>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72" name="Line 7"/>
          <p:cNvSpPr>
            <a:spLocks noChangeShapeType="1"/>
          </p:cNvSpPr>
          <p:nvPr/>
        </p:nvSpPr>
        <p:spPr bwMode="auto">
          <a:xfrm>
            <a:off x="3632200" y="4648200"/>
            <a:ext cx="1066800" cy="0"/>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73" name="Line 8"/>
          <p:cNvSpPr>
            <a:spLocks noChangeShapeType="1"/>
          </p:cNvSpPr>
          <p:nvPr/>
        </p:nvSpPr>
        <p:spPr bwMode="auto">
          <a:xfrm flipV="1">
            <a:off x="3657600" y="4648200"/>
            <a:ext cx="990600" cy="685800"/>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74" name="Line 9"/>
          <p:cNvSpPr>
            <a:spLocks noChangeShapeType="1"/>
          </p:cNvSpPr>
          <p:nvPr/>
        </p:nvSpPr>
        <p:spPr bwMode="auto">
          <a:xfrm>
            <a:off x="3657600" y="5029200"/>
            <a:ext cx="1004888" cy="284163"/>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75" name="Rectangle 10"/>
          <p:cNvSpPr>
            <a:spLocks noChangeArrowheads="1"/>
          </p:cNvSpPr>
          <p:nvPr/>
        </p:nvSpPr>
        <p:spPr bwMode="auto">
          <a:xfrm>
            <a:off x="1295400" y="3389832"/>
            <a:ext cx="121975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rgbClr val="002060"/>
                </a:solidFill>
              </a:rPr>
              <a:t>Enrolled</a:t>
            </a:r>
          </a:p>
        </p:txBody>
      </p:sp>
      <p:sp>
        <p:nvSpPr>
          <p:cNvPr id="36876" name="Rectangle 11"/>
          <p:cNvSpPr>
            <a:spLocks noChangeArrowheads="1"/>
          </p:cNvSpPr>
          <p:nvPr/>
        </p:nvSpPr>
        <p:spPr bwMode="auto">
          <a:xfrm>
            <a:off x="6248400" y="3581400"/>
            <a:ext cx="1289135"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rgbClr val="002060"/>
                </a:solidFill>
              </a:rPr>
              <a:t>Students</a:t>
            </a:r>
          </a:p>
        </p:txBody>
      </p:sp>
      <p:sp>
        <p:nvSpPr>
          <p:cNvPr id="2" name="Title 1"/>
          <p:cNvSpPr>
            <a:spLocks noGrp="1"/>
          </p:cNvSpPr>
          <p:nvPr>
            <p:ph type="title"/>
          </p:nvPr>
        </p:nvSpPr>
        <p:spPr/>
        <p:txBody>
          <a:bodyPr/>
          <a:lstStyle/>
          <a:p>
            <a:r>
              <a:rPr lang="en-US" dirty="0"/>
              <a:t>Keys</a:t>
            </a:r>
          </a:p>
        </p:txBody>
      </p:sp>
      <p:sp>
        <p:nvSpPr>
          <p:cNvPr id="3" name="Oval 12">
            <a:extLst>
              <a:ext uri="{FF2B5EF4-FFF2-40B4-BE49-F238E27FC236}">
                <a16:creationId xmlns:a16="http://schemas.microsoft.com/office/drawing/2014/main" id="{7DC614E4-87CD-C696-EB7C-CC38CC2F8FA9}"/>
              </a:ext>
            </a:extLst>
          </p:cNvPr>
          <p:cNvSpPr>
            <a:spLocks noChangeArrowheads="1"/>
          </p:cNvSpPr>
          <p:nvPr/>
        </p:nvSpPr>
        <p:spPr bwMode="auto">
          <a:xfrm>
            <a:off x="4648200" y="3810000"/>
            <a:ext cx="838200" cy="2286000"/>
          </a:xfrm>
          <a:prstGeom prst="ellipse">
            <a:avLst/>
          </a:prstGeom>
          <a:noFill/>
          <a:ln w="25400">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 name="Oval 13">
            <a:extLst>
              <a:ext uri="{FF2B5EF4-FFF2-40B4-BE49-F238E27FC236}">
                <a16:creationId xmlns:a16="http://schemas.microsoft.com/office/drawing/2014/main" id="{4C7281C2-3E15-BE7B-028E-90DBBB4C84FF}"/>
              </a:ext>
            </a:extLst>
          </p:cNvPr>
          <p:cNvSpPr>
            <a:spLocks noChangeArrowheads="1"/>
          </p:cNvSpPr>
          <p:nvPr/>
        </p:nvSpPr>
        <p:spPr bwMode="auto">
          <a:xfrm>
            <a:off x="457200" y="3505200"/>
            <a:ext cx="838200" cy="2286000"/>
          </a:xfrm>
          <a:prstGeom prst="ellipse">
            <a:avLst/>
          </a:prstGeom>
          <a:noFill/>
          <a:ln w="25400">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Text Box 14">
            <a:extLst>
              <a:ext uri="{FF2B5EF4-FFF2-40B4-BE49-F238E27FC236}">
                <a16:creationId xmlns:a16="http://schemas.microsoft.com/office/drawing/2014/main" id="{C0EB3043-F3D9-3CF6-F4E9-2CB71B3F36B1}"/>
              </a:ext>
            </a:extLst>
          </p:cNvPr>
          <p:cNvSpPr txBox="1">
            <a:spLocks noChangeArrowheads="1"/>
          </p:cNvSpPr>
          <p:nvPr/>
        </p:nvSpPr>
        <p:spPr bwMode="auto">
          <a:xfrm>
            <a:off x="5410200" y="5729287"/>
            <a:ext cx="267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200">
                <a:solidFill>
                  <a:srgbClr val="CF0E30"/>
                </a:solidFill>
                <a:latin typeface="Book Antiqua" pitchFamily="18" charset="0"/>
                <a:ea typeface="MS PGothic" pitchFamily="34" charset="-128"/>
              </a:defRPr>
            </a:lvl1pPr>
            <a:lvl2pPr marL="37931725" indent="-37474525">
              <a:defRPr sz="1200">
                <a:solidFill>
                  <a:srgbClr val="CF0E30"/>
                </a:solidFill>
                <a:latin typeface="Book Antiqua" pitchFamily="18" charset="0"/>
                <a:ea typeface="MS PGothic" pitchFamily="34" charset="-128"/>
              </a:defRPr>
            </a:lvl2pPr>
            <a:lvl3pPr>
              <a:defRPr sz="1200">
                <a:solidFill>
                  <a:srgbClr val="CF0E30"/>
                </a:solidFill>
                <a:latin typeface="Book Antiqua" pitchFamily="18" charset="0"/>
                <a:ea typeface="MS PGothic" pitchFamily="34" charset="-128"/>
              </a:defRPr>
            </a:lvl3pPr>
            <a:lvl4pPr>
              <a:defRPr sz="1200">
                <a:solidFill>
                  <a:srgbClr val="CF0E30"/>
                </a:solidFill>
                <a:latin typeface="Book Antiqua" pitchFamily="18" charset="0"/>
                <a:ea typeface="MS PGothic" pitchFamily="34" charset="-128"/>
              </a:defRPr>
            </a:lvl4pPr>
            <a:lvl5pPr>
              <a:defRPr sz="1200">
                <a:solidFill>
                  <a:srgbClr val="CF0E30"/>
                </a:solidFill>
                <a:latin typeface="Book Antiqua" pitchFamily="18" charset="0"/>
                <a:ea typeface="MS PGothic" pitchFamily="34" charset="-128"/>
              </a:defRPr>
            </a:lvl5pPr>
            <a:lvl6pPr marL="457200" eaLnBrk="0" fontAlgn="base" hangingPunct="0">
              <a:spcBef>
                <a:spcPct val="0"/>
              </a:spcBef>
              <a:spcAft>
                <a:spcPct val="0"/>
              </a:spcAft>
              <a:defRPr sz="1200">
                <a:solidFill>
                  <a:srgbClr val="CF0E30"/>
                </a:solidFill>
                <a:latin typeface="Book Antiqua" pitchFamily="18" charset="0"/>
                <a:ea typeface="MS PGothic" pitchFamily="34" charset="-128"/>
              </a:defRPr>
            </a:lvl6pPr>
            <a:lvl7pPr marL="914400" eaLnBrk="0" fontAlgn="base" hangingPunct="0">
              <a:spcBef>
                <a:spcPct val="0"/>
              </a:spcBef>
              <a:spcAft>
                <a:spcPct val="0"/>
              </a:spcAft>
              <a:defRPr sz="1200">
                <a:solidFill>
                  <a:srgbClr val="CF0E30"/>
                </a:solidFill>
                <a:latin typeface="Book Antiqua" pitchFamily="18" charset="0"/>
                <a:ea typeface="MS PGothic" pitchFamily="34" charset="-128"/>
              </a:defRPr>
            </a:lvl7pPr>
            <a:lvl8pPr marL="1371600" eaLnBrk="0" fontAlgn="base" hangingPunct="0">
              <a:spcBef>
                <a:spcPct val="0"/>
              </a:spcBef>
              <a:spcAft>
                <a:spcPct val="0"/>
              </a:spcAft>
              <a:defRPr sz="1200">
                <a:solidFill>
                  <a:srgbClr val="CF0E30"/>
                </a:solidFill>
                <a:latin typeface="Book Antiqua" pitchFamily="18" charset="0"/>
                <a:ea typeface="MS PGothic" pitchFamily="34" charset="-128"/>
              </a:defRPr>
            </a:lvl8pPr>
            <a:lvl9pPr marL="1828800" eaLnBrk="0" fontAlgn="base" hangingPunct="0">
              <a:spcBef>
                <a:spcPct val="0"/>
              </a:spcBef>
              <a:spcAft>
                <a:spcPct val="0"/>
              </a:spcAft>
              <a:defRPr sz="1200">
                <a:solidFill>
                  <a:srgbClr val="CF0E30"/>
                </a:solidFill>
                <a:latin typeface="Book Antiqua" pitchFamily="18" charset="0"/>
                <a:ea typeface="MS PGothic" pitchFamily="34" charset="-128"/>
              </a:defRPr>
            </a:lvl9pPr>
          </a:lstStyle>
          <a:p>
            <a:r>
              <a:rPr lang="en-US" sz="2800" b="1">
                <a:latin typeface="Tahoma" pitchFamily="34" charset="0"/>
              </a:rPr>
              <a:t>PRIMARY Key</a:t>
            </a:r>
          </a:p>
        </p:txBody>
      </p:sp>
      <p:sp>
        <p:nvSpPr>
          <p:cNvPr id="6" name="Text Box 15">
            <a:extLst>
              <a:ext uri="{FF2B5EF4-FFF2-40B4-BE49-F238E27FC236}">
                <a16:creationId xmlns:a16="http://schemas.microsoft.com/office/drawing/2014/main" id="{6A4E6C81-8F1D-B1AB-FFF6-2FF2A229486B}"/>
              </a:ext>
            </a:extLst>
          </p:cNvPr>
          <p:cNvSpPr txBox="1">
            <a:spLocks noChangeArrowheads="1"/>
          </p:cNvSpPr>
          <p:nvPr/>
        </p:nvSpPr>
        <p:spPr bwMode="auto">
          <a:xfrm>
            <a:off x="1069975" y="5729287"/>
            <a:ext cx="2620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200">
                <a:solidFill>
                  <a:srgbClr val="CF0E30"/>
                </a:solidFill>
                <a:latin typeface="Book Antiqua" pitchFamily="18" charset="0"/>
                <a:ea typeface="MS PGothic" pitchFamily="34" charset="-128"/>
              </a:defRPr>
            </a:lvl1pPr>
            <a:lvl2pPr marL="37931725" indent="-37474525">
              <a:defRPr sz="1200">
                <a:solidFill>
                  <a:srgbClr val="CF0E30"/>
                </a:solidFill>
                <a:latin typeface="Book Antiqua" pitchFamily="18" charset="0"/>
                <a:ea typeface="MS PGothic" pitchFamily="34" charset="-128"/>
              </a:defRPr>
            </a:lvl2pPr>
            <a:lvl3pPr>
              <a:defRPr sz="1200">
                <a:solidFill>
                  <a:srgbClr val="CF0E30"/>
                </a:solidFill>
                <a:latin typeface="Book Antiqua" pitchFamily="18" charset="0"/>
                <a:ea typeface="MS PGothic" pitchFamily="34" charset="-128"/>
              </a:defRPr>
            </a:lvl3pPr>
            <a:lvl4pPr>
              <a:defRPr sz="1200">
                <a:solidFill>
                  <a:srgbClr val="CF0E30"/>
                </a:solidFill>
                <a:latin typeface="Book Antiqua" pitchFamily="18" charset="0"/>
                <a:ea typeface="MS PGothic" pitchFamily="34" charset="-128"/>
              </a:defRPr>
            </a:lvl4pPr>
            <a:lvl5pPr>
              <a:defRPr sz="1200">
                <a:solidFill>
                  <a:srgbClr val="CF0E30"/>
                </a:solidFill>
                <a:latin typeface="Book Antiqua" pitchFamily="18" charset="0"/>
                <a:ea typeface="MS PGothic" pitchFamily="34" charset="-128"/>
              </a:defRPr>
            </a:lvl5pPr>
            <a:lvl6pPr marL="457200" eaLnBrk="0" fontAlgn="base" hangingPunct="0">
              <a:spcBef>
                <a:spcPct val="0"/>
              </a:spcBef>
              <a:spcAft>
                <a:spcPct val="0"/>
              </a:spcAft>
              <a:defRPr sz="1200">
                <a:solidFill>
                  <a:srgbClr val="CF0E30"/>
                </a:solidFill>
                <a:latin typeface="Book Antiqua" pitchFamily="18" charset="0"/>
                <a:ea typeface="MS PGothic" pitchFamily="34" charset="-128"/>
              </a:defRPr>
            </a:lvl6pPr>
            <a:lvl7pPr marL="914400" eaLnBrk="0" fontAlgn="base" hangingPunct="0">
              <a:spcBef>
                <a:spcPct val="0"/>
              </a:spcBef>
              <a:spcAft>
                <a:spcPct val="0"/>
              </a:spcAft>
              <a:defRPr sz="1200">
                <a:solidFill>
                  <a:srgbClr val="CF0E30"/>
                </a:solidFill>
                <a:latin typeface="Book Antiqua" pitchFamily="18" charset="0"/>
                <a:ea typeface="MS PGothic" pitchFamily="34" charset="-128"/>
              </a:defRPr>
            </a:lvl7pPr>
            <a:lvl8pPr marL="1371600" eaLnBrk="0" fontAlgn="base" hangingPunct="0">
              <a:spcBef>
                <a:spcPct val="0"/>
              </a:spcBef>
              <a:spcAft>
                <a:spcPct val="0"/>
              </a:spcAft>
              <a:defRPr sz="1200">
                <a:solidFill>
                  <a:srgbClr val="CF0E30"/>
                </a:solidFill>
                <a:latin typeface="Book Antiqua" pitchFamily="18" charset="0"/>
                <a:ea typeface="MS PGothic" pitchFamily="34" charset="-128"/>
              </a:defRPr>
            </a:lvl8pPr>
            <a:lvl9pPr marL="1828800" eaLnBrk="0" fontAlgn="base" hangingPunct="0">
              <a:spcBef>
                <a:spcPct val="0"/>
              </a:spcBef>
              <a:spcAft>
                <a:spcPct val="0"/>
              </a:spcAft>
              <a:defRPr sz="1200">
                <a:solidFill>
                  <a:srgbClr val="CF0E30"/>
                </a:solidFill>
                <a:latin typeface="Book Antiqua" pitchFamily="18" charset="0"/>
                <a:ea typeface="MS PGothic" pitchFamily="34" charset="-128"/>
              </a:defRPr>
            </a:lvl9pPr>
          </a:lstStyle>
          <a:p>
            <a:r>
              <a:rPr lang="en-US" sz="2800" b="1" dirty="0">
                <a:latin typeface="Tahoma" pitchFamily="34" charset="0"/>
              </a:rPr>
              <a:t>FOREIGN Key</a:t>
            </a:r>
          </a:p>
        </p:txBody>
      </p:sp>
      <p:sp>
        <p:nvSpPr>
          <p:cNvPr id="7" name="Slide Number Placeholder 6">
            <a:extLst>
              <a:ext uri="{FF2B5EF4-FFF2-40B4-BE49-F238E27FC236}">
                <a16:creationId xmlns:a16="http://schemas.microsoft.com/office/drawing/2014/main" id="{23D3CC15-C933-F8DC-8B5D-FA19FC942F33}"/>
              </a:ext>
            </a:extLst>
          </p:cNvPr>
          <p:cNvSpPr>
            <a:spLocks noGrp="1"/>
          </p:cNvSpPr>
          <p:nvPr>
            <p:ph type="sldNum" sz="quarter" idx="12"/>
          </p:nvPr>
        </p:nvSpPr>
        <p:spPr/>
        <p:txBody>
          <a:bodyPr/>
          <a:lstStyle/>
          <a:p>
            <a:fld id="{5FCA4BC5-AE2A-401E-9EDD-DF8812A14A6A}" type="slidenum">
              <a:rPr lang="en-US" smtClean="0"/>
              <a:t>23</a:t>
            </a:fld>
            <a:endParaRPr lang="en-US" dirty="0"/>
          </a:p>
        </p:txBody>
      </p:sp>
    </p:spTree>
    <p:extLst>
      <p:ext uri="{BB962C8B-B14F-4D97-AF65-F5344CB8AC3E}">
        <p14:creationId xmlns:p14="http://schemas.microsoft.com/office/powerpoint/2010/main" val="178357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1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18" name="Rectangle 5"/>
          <p:cNvSpPr>
            <a:spLocks noGrp="1" noChangeArrowheads="1"/>
          </p:cNvSpPr>
          <p:nvPr>
            <p:ph type="body" idx="1"/>
          </p:nvPr>
        </p:nvSpPr>
        <p:spPr>
          <a:xfrm>
            <a:off x="266700" y="990600"/>
            <a:ext cx="8610600" cy="5562600"/>
          </a:xfrm>
          <a:noFill/>
        </p:spPr>
        <p:txBody>
          <a:bodyPr>
            <a:normAutofit/>
          </a:bodyPr>
          <a:lstStyle/>
          <a:p>
            <a:pPr>
              <a:buFont typeface="Wingdings" pitchFamily="2" charset="2"/>
              <a:buChar char="§"/>
            </a:pPr>
            <a:r>
              <a:rPr lang="en-US" dirty="0"/>
              <a:t>A set of fields is a </a:t>
            </a:r>
            <a:r>
              <a:rPr lang="en-US" i="1" dirty="0" err="1">
                <a:solidFill>
                  <a:srgbClr val="0070C0"/>
                </a:solidFill>
              </a:rPr>
              <a:t>superkey</a:t>
            </a:r>
            <a:r>
              <a:rPr lang="en-US" dirty="0"/>
              <a:t> if:</a:t>
            </a:r>
          </a:p>
          <a:p>
            <a:pPr lvl="1">
              <a:buFont typeface="Wingdings" pitchFamily="2" charset="2"/>
              <a:buChar char="§"/>
            </a:pPr>
            <a:r>
              <a:rPr lang="en-US" dirty="0"/>
              <a:t>No two distinct tuples can have same values in </a:t>
            </a:r>
            <a:r>
              <a:rPr lang="en-US" i="1" dirty="0"/>
              <a:t>all</a:t>
            </a:r>
            <a:r>
              <a:rPr lang="en-US" dirty="0"/>
              <a:t> key fields</a:t>
            </a:r>
          </a:p>
          <a:p>
            <a:pPr>
              <a:buFont typeface="Wingdings" pitchFamily="2" charset="2"/>
              <a:buChar char="§"/>
            </a:pPr>
            <a:r>
              <a:rPr lang="en-US" dirty="0"/>
              <a:t>A set of fields is a </a:t>
            </a:r>
            <a:r>
              <a:rPr lang="en-US" i="1" dirty="0">
                <a:solidFill>
                  <a:srgbClr val="0070C0"/>
                </a:solidFill>
              </a:rPr>
              <a:t>primary key </a:t>
            </a:r>
            <a:r>
              <a:rPr lang="en-US" dirty="0"/>
              <a:t>for a relation if:</a:t>
            </a:r>
          </a:p>
          <a:p>
            <a:pPr lvl="1">
              <a:buFont typeface="Wingdings" pitchFamily="2" charset="2"/>
              <a:buChar char="§"/>
            </a:pPr>
            <a:r>
              <a:rPr lang="en-US" dirty="0"/>
              <a:t>It is a </a:t>
            </a:r>
            <a:r>
              <a:rPr lang="en-US" i="1" dirty="0"/>
              <a:t>minimal</a:t>
            </a:r>
            <a:r>
              <a:rPr lang="en-US" dirty="0"/>
              <a:t> </a:t>
            </a:r>
            <a:r>
              <a:rPr lang="en-US" dirty="0" err="1"/>
              <a:t>superkey</a:t>
            </a:r>
            <a:endParaRPr lang="en-US" dirty="0"/>
          </a:p>
          <a:p>
            <a:pPr lvl="1"/>
            <a:r>
              <a:rPr lang="en-US" dirty="0"/>
              <a:t>It is a unique identifier of the relations</a:t>
            </a:r>
          </a:p>
          <a:p>
            <a:pPr>
              <a:buSzPct val="100000"/>
              <a:buFont typeface="Wingdings" pitchFamily="2" charset="2"/>
              <a:buChar char="§"/>
            </a:pPr>
            <a:r>
              <a:rPr lang="en-US" dirty="0"/>
              <a:t>What if there is more than one key for a relation?</a:t>
            </a:r>
          </a:p>
          <a:p>
            <a:pPr lvl="1">
              <a:buSzPct val="100000"/>
              <a:buFont typeface="Wingdings" pitchFamily="2" charset="2"/>
              <a:buChar char="§"/>
            </a:pPr>
            <a:r>
              <a:rPr lang="en-US" dirty="0"/>
              <a:t>One of the keys is chosen (by DBA) to be the primary key</a:t>
            </a:r>
          </a:p>
          <a:p>
            <a:pPr lvl="1">
              <a:buFont typeface="Wingdings" pitchFamily="2" charset="2"/>
              <a:buChar char="§"/>
            </a:pPr>
            <a:r>
              <a:rPr lang="en-US" dirty="0"/>
              <a:t>Other keys are called </a:t>
            </a:r>
            <a:r>
              <a:rPr lang="en-US" i="1" dirty="0">
                <a:solidFill>
                  <a:srgbClr val="0070C0"/>
                </a:solidFill>
              </a:rPr>
              <a:t>candidate keys</a:t>
            </a:r>
            <a:endParaRPr lang="en-US" dirty="0"/>
          </a:p>
          <a:p>
            <a:pPr>
              <a:buFont typeface="Wingdings" pitchFamily="2" charset="2"/>
              <a:buChar char="§"/>
            </a:pPr>
            <a:r>
              <a:rPr lang="en-US" dirty="0"/>
              <a:t>Examples:</a:t>
            </a:r>
          </a:p>
          <a:p>
            <a:pPr lvl="1">
              <a:buFont typeface="Wingdings" pitchFamily="2" charset="2"/>
              <a:buChar char="§"/>
            </a:pPr>
            <a:r>
              <a:rPr lang="en-US" i="1" dirty="0" err="1"/>
              <a:t>sid</a:t>
            </a:r>
            <a:r>
              <a:rPr lang="en-US" i="1" dirty="0"/>
              <a:t> </a:t>
            </a:r>
            <a:r>
              <a:rPr lang="en-US" dirty="0"/>
              <a:t>is a key for Students (what about </a:t>
            </a:r>
            <a:r>
              <a:rPr lang="en-US" i="1" dirty="0"/>
              <a:t>name</a:t>
            </a:r>
            <a:r>
              <a:rPr lang="en-US" dirty="0"/>
              <a:t>?)  </a:t>
            </a:r>
          </a:p>
          <a:p>
            <a:pPr lvl="1">
              <a:buFont typeface="Wingdings" pitchFamily="2" charset="2"/>
              <a:buChar char="§"/>
            </a:pPr>
            <a:r>
              <a:rPr lang="en-US" dirty="0"/>
              <a:t>The set {</a:t>
            </a:r>
            <a:r>
              <a:rPr lang="en-US" i="1" dirty="0" err="1"/>
              <a:t>sid</a:t>
            </a:r>
            <a:r>
              <a:rPr lang="en-US" i="1" dirty="0"/>
              <a:t>, name</a:t>
            </a:r>
            <a:r>
              <a:rPr lang="en-US" dirty="0"/>
              <a:t>} is a </a:t>
            </a:r>
            <a:r>
              <a:rPr lang="en-US" dirty="0" err="1"/>
              <a:t>superkey</a:t>
            </a:r>
            <a:r>
              <a:rPr lang="en-US" dirty="0"/>
              <a:t> (or a set of fields that contains a key)</a:t>
            </a:r>
          </a:p>
          <a:p>
            <a:pPr lvl="1"/>
            <a:endParaRPr lang="en-US" sz="3200" dirty="0"/>
          </a:p>
        </p:txBody>
      </p:sp>
      <p:sp>
        <p:nvSpPr>
          <p:cNvPr id="7" name="Title 1"/>
          <p:cNvSpPr txBox="1">
            <a:spLocks/>
          </p:cNvSpPr>
          <p:nvPr/>
        </p:nvSpPr>
        <p:spPr>
          <a:xfrm>
            <a:off x="457200" y="152400"/>
            <a:ext cx="8229600" cy="838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err="1"/>
              <a:t>Superkey</a:t>
            </a:r>
            <a:r>
              <a:rPr lang="en-US" sz="4000" dirty="0"/>
              <a:t>, Primary and Candidate Keys</a:t>
            </a:r>
          </a:p>
        </p:txBody>
      </p:sp>
      <p:sp>
        <p:nvSpPr>
          <p:cNvPr id="2" name="Slide Number Placeholder 1">
            <a:extLst>
              <a:ext uri="{FF2B5EF4-FFF2-40B4-BE49-F238E27FC236}">
                <a16:creationId xmlns:a16="http://schemas.microsoft.com/office/drawing/2014/main" id="{E553260C-1E21-85FF-CC44-44E72A827A67}"/>
              </a:ext>
            </a:extLst>
          </p:cNvPr>
          <p:cNvSpPr>
            <a:spLocks noGrp="1"/>
          </p:cNvSpPr>
          <p:nvPr>
            <p:ph type="sldNum" sz="quarter" idx="12"/>
          </p:nvPr>
        </p:nvSpPr>
        <p:spPr/>
        <p:txBody>
          <a:bodyPr/>
          <a:lstStyle/>
          <a:p>
            <a:fld id="{5FCA4BC5-AE2A-401E-9EDD-DF8812A14A6A}" type="slidenum">
              <a:rPr lang="en-US" smtClean="0"/>
              <a:t>24</a:t>
            </a:fld>
            <a:endParaRPr lang="en-US" dirty="0"/>
          </a:p>
        </p:txBody>
      </p:sp>
    </p:spTree>
    <p:extLst>
      <p:ext uri="{BB962C8B-B14F-4D97-AF65-F5344CB8AC3E}">
        <p14:creationId xmlns:p14="http://schemas.microsoft.com/office/powerpoint/2010/main" val="368737573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ChangeArrowheads="1"/>
          </p:cNvSpPr>
          <p:nvPr/>
        </p:nvSpPr>
        <p:spPr bwMode="auto">
          <a:xfrm>
            <a:off x="685800" y="5102222"/>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3013" name="Rectangle 4"/>
          <p:cNvSpPr>
            <a:spLocks noGrp="1" noChangeArrowheads="1"/>
          </p:cNvSpPr>
          <p:nvPr>
            <p:ph type="title"/>
          </p:nvPr>
        </p:nvSpPr>
        <p:spPr>
          <a:xfrm>
            <a:off x="723900" y="23501"/>
            <a:ext cx="7772400" cy="1143000"/>
          </a:xfrm>
          <a:noFill/>
        </p:spPr>
        <p:txBody>
          <a:bodyPr>
            <a:normAutofit fontScale="90000"/>
          </a:bodyPr>
          <a:lstStyle/>
          <a:p>
            <a:r>
              <a:rPr lang="en-US" dirty="0"/>
              <a:t>Primary and Candidate Keys in SQL</a:t>
            </a:r>
          </a:p>
        </p:txBody>
      </p:sp>
      <p:sp>
        <p:nvSpPr>
          <p:cNvPr id="43014" name="Rectangle 5"/>
          <p:cNvSpPr>
            <a:spLocks noGrp="1" noChangeArrowheads="1"/>
          </p:cNvSpPr>
          <p:nvPr>
            <p:ph type="body" idx="1"/>
          </p:nvPr>
        </p:nvSpPr>
        <p:spPr>
          <a:xfrm>
            <a:off x="228600" y="1295400"/>
            <a:ext cx="8763000" cy="4419600"/>
          </a:xfrm>
          <a:noFill/>
        </p:spPr>
        <p:txBody>
          <a:bodyPr>
            <a:normAutofit/>
          </a:bodyPr>
          <a:lstStyle/>
          <a:p>
            <a:pPr>
              <a:buFont typeface="Wingdings" pitchFamily="2" charset="2"/>
              <a:buChar char="§"/>
            </a:pPr>
            <a:r>
              <a:rPr lang="en-US" sz="2400" dirty="0"/>
              <a:t>Many candidate keys  (specified using </a:t>
            </a:r>
            <a:r>
              <a:rPr lang="en-US" sz="2400" dirty="0">
                <a:solidFill>
                  <a:schemeClr val="accent2"/>
                </a:solidFill>
              </a:rPr>
              <a:t>UNIQUE</a:t>
            </a:r>
            <a:r>
              <a:rPr lang="en-US" sz="2400" dirty="0"/>
              <a:t>) can be designated and one is chosen as a </a:t>
            </a:r>
            <a:r>
              <a:rPr lang="en-US" sz="2400" i="1" dirty="0"/>
              <a:t>primary key</a:t>
            </a:r>
          </a:p>
          <a:p>
            <a:pPr>
              <a:buFont typeface="Wingdings" pitchFamily="2" charset="2"/>
              <a:buChar char="§"/>
            </a:pPr>
            <a:endParaRPr lang="en-US" sz="2400" dirty="0"/>
          </a:p>
          <a:p>
            <a:pPr>
              <a:buClr>
                <a:schemeClr val="tx1"/>
              </a:buClr>
              <a:buSzPct val="100000"/>
              <a:buFont typeface="Wingdings" pitchFamily="2" charset="2"/>
              <a:buChar char="§"/>
            </a:pPr>
            <a:r>
              <a:rPr lang="en-US" sz="2400" dirty="0"/>
              <a:t>Keys must be used carefully!</a:t>
            </a:r>
          </a:p>
          <a:p>
            <a:pPr>
              <a:buClr>
                <a:schemeClr val="tx1"/>
              </a:buClr>
              <a:buSzPct val="75000"/>
              <a:buFont typeface="Wingdings" pitchFamily="2" charset="2"/>
              <a:buChar char="§"/>
            </a:pPr>
            <a:endParaRPr lang="en-US" sz="2400" dirty="0"/>
          </a:p>
          <a:p>
            <a:pPr>
              <a:buClr>
                <a:schemeClr val="tx1"/>
              </a:buClr>
              <a:buSzPct val="100000"/>
              <a:buFont typeface="Wingdings" pitchFamily="2" charset="2"/>
              <a:buChar char="§"/>
            </a:pPr>
            <a:r>
              <a:rPr lang="en-US" sz="2400" dirty="0"/>
              <a:t>“For a given student and course, there is a single grade”</a:t>
            </a:r>
          </a:p>
        </p:txBody>
      </p:sp>
      <p:sp>
        <p:nvSpPr>
          <p:cNvPr id="43015" name="Rectangle 7"/>
          <p:cNvSpPr>
            <a:spLocks noChangeArrowheads="1"/>
          </p:cNvSpPr>
          <p:nvPr/>
        </p:nvSpPr>
        <p:spPr bwMode="auto">
          <a:xfrm>
            <a:off x="76200" y="2133600"/>
            <a:ext cx="9067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Clr>
                <a:schemeClr val="tx1"/>
              </a:buClr>
              <a:buSzPct val="75000"/>
              <a:buFontTx/>
              <a:buChar char="•"/>
            </a:pPr>
            <a:endParaRPr lang="en-US" sz="2400">
              <a:solidFill>
                <a:schemeClr val="tx1"/>
              </a:solidFill>
              <a:latin typeface="Tahoma" pitchFamily="34" charset="0"/>
            </a:endParaRPr>
          </a:p>
          <a:p>
            <a:pPr marL="342900" indent="-342900">
              <a:spcBef>
                <a:spcPct val="20000"/>
              </a:spcBef>
              <a:buClr>
                <a:schemeClr val="tx1"/>
              </a:buClr>
              <a:buSzPct val="75000"/>
            </a:pPr>
            <a:r>
              <a:rPr lang="en-US" sz="2400">
                <a:solidFill>
                  <a:schemeClr val="accent2"/>
                </a:solidFill>
                <a:latin typeface="Tahoma" pitchFamily="34" charset="0"/>
              </a:rPr>
              <a:t>   </a:t>
            </a:r>
            <a:r>
              <a:rPr lang="en-US" sz="3200">
                <a:solidFill>
                  <a:schemeClr val="accent2"/>
                </a:solidFill>
                <a:latin typeface="Tahoma" pitchFamily="34" charset="0"/>
              </a:rPr>
              <a:t> </a:t>
            </a:r>
            <a:endParaRPr lang="en-US" sz="2400">
              <a:solidFill>
                <a:schemeClr val="tx1"/>
              </a:solidFill>
              <a:latin typeface="Tahoma" pitchFamily="34" charset="0"/>
            </a:endParaRPr>
          </a:p>
        </p:txBody>
      </p:sp>
      <p:grpSp>
        <p:nvGrpSpPr>
          <p:cNvPr id="8" name="Group 8"/>
          <p:cNvGrpSpPr>
            <a:grpSpLocks/>
          </p:cNvGrpSpPr>
          <p:nvPr/>
        </p:nvGrpSpPr>
        <p:grpSpPr bwMode="auto">
          <a:xfrm>
            <a:off x="174625" y="3886200"/>
            <a:ext cx="8794750" cy="1939927"/>
            <a:chOff x="96" y="1999"/>
            <a:chExt cx="5540" cy="1222"/>
          </a:xfrm>
        </p:grpSpPr>
        <p:sp>
          <p:nvSpPr>
            <p:cNvPr id="9" name="Rectangle 9"/>
            <p:cNvSpPr>
              <a:spLocks noChangeArrowheads="1"/>
            </p:cNvSpPr>
            <p:nvPr/>
          </p:nvSpPr>
          <p:spPr bwMode="auto">
            <a:xfrm>
              <a:off x="96" y="2072"/>
              <a:ext cx="2578" cy="1028"/>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en-US" sz="2000" dirty="0">
                  <a:solidFill>
                    <a:schemeClr val="tx1"/>
                  </a:solidFill>
                  <a:latin typeface="Lucida Console" pitchFamily="49" charset="0"/>
                </a:rPr>
                <a:t>CREATE TABLE Enrolled</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grade CHAR(2),</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PRIMARY KEY </a:t>
              </a:r>
              <a:r>
                <a:rPr lang="en-US" sz="2000" dirty="0">
                  <a:solidFill>
                    <a:schemeClr val="tx1"/>
                  </a:solidFill>
                  <a:latin typeface="Lucida Console" pitchFamily="49" charset="0"/>
                </a:rPr>
                <a:t>(</a:t>
              </a:r>
              <a:r>
                <a:rPr lang="en-US" sz="2000" dirty="0" err="1">
                  <a:solidFill>
                    <a:schemeClr val="tx1"/>
                  </a:solidFill>
                  <a:latin typeface="Lucida Console" pitchFamily="49" charset="0"/>
                </a:rPr>
                <a:t>sid,cid</a:t>
              </a:r>
              <a:r>
                <a:rPr lang="en-US" sz="2000" dirty="0">
                  <a:solidFill>
                    <a:schemeClr val="tx1"/>
                  </a:solidFill>
                  <a:latin typeface="Lucida Console" pitchFamily="49" charset="0"/>
                </a:rPr>
                <a:t>))</a:t>
              </a:r>
            </a:p>
          </p:txBody>
        </p:sp>
        <p:sp>
          <p:nvSpPr>
            <p:cNvPr id="10" name="Rectangle 10"/>
            <p:cNvSpPr>
              <a:spLocks noChangeArrowheads="1"/>
            </p:cNvSpPr>
            <p:nvPr/>
          </p:nvSpPr>
          <p:spPr bwMode="auto">
            <a:xfrm>
              <a:off x="2962" y="1999"/>
              <a:ext cx="2674" cy="1222"/>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en-US" sz="2000" dirty="0">
                  <a:solidFill>
                    <a:schemeClr val="tx1"/>
                  </a:solidFill>
                  <a:latin typeface="Lucida Console" pitchFamily="49" charset="0"/>
                </a:rPr>
                <a:t>CREATE TABLE Enrolled</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grade CHAR(2),</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PRIMARY KEY  </a:t>
              </a:r>
              <a:r>
                <a:rPr lang="en-US" sz="2000" dirty="0">
                  <a:solidFill>
                    <a:schemeClr val="tx1"/>
                  </a:solidFill>
                  <a:latin typeface="Lucida Console" pitchFamily="49" charset="0"/>
                </a:rPr>
                <a:t>(</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UNIQUE</a:t>
              </a:r>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grade))</a:t>
              </a:r>
            </a:p>
          </p:txBody>
        </p:sp>
        <p:sp>
          <p:nvSpPr>
            <p:cNvPr id="11" name="Text Box 11"/>
            <p:cNvSpPr txBox="1">
              <a:spLocks noChangeArrowheads="1"/>
            </p:cNvSpPr>
            <p:nvPr/>
          </p:nvSpPr>
          <p:spPr bwMode="auto">
            <a:xfrm>
              <a:off x="2578" y="2440"/>
              <a:ext cx="48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200">
                  <a:solidFill>
                    <a:srgbClr val="CF0E30"/>
                  </a:solidFill>
                  <a:latin typeface="Book Antiqua" pitchFamily="18" charset="0"/>
                  <a:ea typeface="MS PGothic" pitchFamily="34" charset="-128"/>
                </a:defRPr>
              </a:lvl1pPr>
              <a:lvl2pPr marL="37931725" indent="-37474525">
                <a:defRPr sz="1200">
                  <a:solidFill>
                    <a:srgbClr val="CF0E30"/>
                  </a:solidFill>
                  <a:latin typeface="Book Antiqua" pitchFamily="18" charset="0"/>
                  <a:ea typeface="MS PGothic" pitchFamily="34" charset="-128"/>
                </a:defRPr>
              </a:lvl2pPr>
              <a:lvl3pPr>
                <a:defRPr sz="1200">
                  <a:solidFill>
                    <a:srgbClr val="CF0E30"/>
                  </a:solidFill>
                  <a:latin typeface="Book Antiqua" pitchFamily="18" charset="0"/>
                  <a:ea typeface="MS PGothic" pitchFamily="34" charset="-128"/>
                </a:defRPr>
              </a:lvl3pPr>
              <a:lvl4pPr>
                <a:defRPr sz="1200">
                  <a:solidFill>
                    <a:srgbClr val="CF0E30"/>
                  </a:solidFill>
                  <a:latin typeface="Book Antiqua" pitchFamily="18" charset="0"/>
                  <a:ea typeface="MS PGothic" pitchFamily="34" charset="-128"/>
                </a:defRPr>
              </a:lvl4pPr>
              <a:lvl5pPr>
                <a:defRPr sz="1200">
                  <a:solidFill>
                    <a:srgbClr val="CF0E30"/>
                  </a:solidFill>
                  <a:latin typeface="Book Antiqua" pitchFamily="18" charset="0"/>
                  <a:ea typeface="MS PGothic" pitchFamily="34" charset="-128"/>
                </a:defRPr>
              </a:lvl5pPr>
              <a:lvl6pPr marL="457200" eaLnBrk="0" fontAlgn="base" hangingPunct="0">
                <a:spcBef>
                  <a:spcPct val="0"/>
                </a:spcBef>
                <a:spcAft>
                  <a:spcPct val="0"/>
                </a:spcAft>
                <a:defRPr sz="1200">
                  <a:solidFill>
                    <a:srgbClr val="CF0E30"/>
                  </a:solidFill>
                  <a:latin typeface="Book Antiqua" pitchFamily="18" charset="0"/>
                  <a:ea typeface="MS PGothic" pitchFamily="34" charset="-128"/>
                </a:defRPr>
              </a:lvl6pPr>
              <a:lvl7pPr marL="914400" eaLnBrk="0" fontAlgn="base" hangingPunct="0">
                <a:spcBef>
                  <a:spcPct val="0"/>
                </a:spcBef>
                <a:spcAft>
                  <a:spcPct val="0"/>
                </a:spcAft>
                <a:defRPr sz="1200">
                  <a:solidFill>
                    <a:srgbClr val="CF0E30"/>
                  </a:solidFill>
                  <a:latin typeface="Book Antiqua" pitchFamily="18" charset="0"/>
                  <a:ea typeface="MS PGothic" pitchFamily="34" charset="-128"/>
                </a:defRPr>
              </a:lvl7pPr>
              <a:lvl8pPr marL="1371600" eaLnBrk="0" fontAlgn="base" hangingPunct="0">
                <a:spcBef>
                  <a:spcPct val="0"/>
                </a:spcBef>
                <a:spcAft>
                  <a:spcPct val="0"/>
                </a:spcAft>
                <a:defRPr sz="1200">
                  <a:solidFill>
                    <a:srgbClr val="CF0E30"/>
                  </a:solidFill>
                  <a:latin typeface="Book Antiqua" pitchFamily="18" charset="0"/>
                  <a:ea typeface="MS PGothic" pitchFamily="34" charset="-128"/>
                </a:defRPr>
              </a:lvl8pPr>
              <a:lvl9pPr marL="1828800" eaLnBrk="0" fontAlgn="base" hangingPunct="0">
                <a:spcBef>
                  <a:spcPct val="0"/>
                </a:spcBef>
                <a:spcAft>
                  <a:spcPct val="0"/>
                </a:spcAft>
                <a:defRPr sz="1200">
                  <a:solidFill>
                    <a:srgbClr val="CF0E30"/>
                  </a:solidFill>
                  <a:latin typeface="Book Antiqua" pitchFamily="18" charset="0"/>
                  <a:ea typeface="MS PGothic" pitchFamily="34" charset="-128"/>
                </a:defRPr>
              </a:lvl9pPr>
            </a:lstStyle>
            <a:p>
              <a:r>
                <a:rPr lang="en-US" sz="2400" dirty="0">
                  <a:solidFill>
                    <a:srgbClr val="FF0000"/>
                  </a:solidFill>
                  <a:latin typeface="Tahoma" pitchFamily="34" charset="0"/>
                </a:rPr>
                <a:t> vs. </a:t>
              </a:r>
            </a:p>
          </p:txBody>
        </p:sp>
      </p:grpSp>
      <p:sp>
        <p:nvSpPr>
          <p:cNvPr id="2" name="Slide Number Placeholder 1">
            <a:extLst>
              <a:ext uri="{FF2B5EF4-FFF2-40B4-BE49-F238E27FC236}">
                <a16:creationId xmlns:a16="http://schemas.microsoft.com/office/drawing/2014/main" id="{D812C8F9-B4CF-6E2D-1971-53F8155F3B68}"/>
              </a:ext>
            </a:extLst>
          </p:cNvPr>
          <p:cNvSpPr>
            <a:spLocks noGrp="1"/>
          </p:cNvSpPr>
          <p:nvPr>
            <p:ph type="sldNum" sz="quarter" idx="12"/>
          </p:nvPr>
        </p:nvSpPr>
        <p:spPr/>
        <p:txBody>
          <a:bodyPr/>
          <a:lstStyle/>
          <a:p>
            <a:fld id="{5FCA4BC5-AE2A-401E-9EDD-DF8812A14A6A}" type="slidenum">
              <a:rPr lang="en-US" smtClean="0"/>
              <a:t>25</a:t>
            </a:fld>
            <a:endParaRPr lang="en-US"/>
          </a:p>
        </p:txBody>
      </p:sp>
      <p:sp>
        <p:nvSpPr>
          <p:cNvPr id="3" name="Text Box 5">
            <a:extLst>
              <a:ext uri="{FF2B5EF4-FFF2-40B4-BE49-F238E27FC236}">
                <a16:creationId xmlns:a16="http://schemas.microsoft.com/office/drawing/2014/main" id="{6CF1AADC-0564-D669-8E83-4BF75E0469DA}"/>
              </a:ext>
            </a:extLst>
          </p:cNvPr>
          <p:cNvSpPr txBox="1">
            <a:spLocks noChangeArrowheads="1"/>
          </p:cNvSpPr>
          <p:nvPr/>
        </p:nvSpPr>
        <p:spPr bwMode="auto">
          <a:xfrm>
            <a:off x="5105400" y="5829505"/>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200">
                <a:solidFill>
                  <a:srgbClr val="CF0E30"/>
                </a:solidFill>
                <a:latin typeface="Book Antiqua" pitchFamily="18" charset="0"/>
                <a:ea typeface="MS PGothic" pitchFamily="34" charset="-128"/>
              </a:defRPr>
            </a:lvl1pPr>
            <a:lvl2pPr marL="37931725" indent="-37474525">
              <a:defRPr sz="1200">
                <a:solidFill>
                  <a:srgbClr val="CF0E30"/>
                </a:solidFill>
                <a:latin typeface="Book Antiqua" pitchFamily="18" charset="0"/>
                <a:ea typeface="MS PGothic" pitchFamily="34" charset="-128"/>
              </a:defRPr>
            </a:lvl2pPr>
            <a:lvl3pPr>
              <a:defRPr sz="1200">
                <a:solidFill>
                  <a:srgbClr val="CF0E30"/>
                </a:solidFill>
                <a:latin typeface="Book Antiqua" pitchFamily="18" charset="0"/>
                <a:ea typeface="MS PGothic" pitchFamily="34" charset="-128"/>
              </a:defRPr>
            </a:lvl3pPr>
            <a:lvl4pPr>
              <a:defRPr sz="1200">
                <a:solidFill>
                  <a:srgbClr val="CF0E30"/>
                </a:solidFill>
                <a:latin typeface="Book Antiqua" pitchFamily="18" charset="0"/>
                <a:ea typeface="MS PGothic" pitchFamily="34" charset="-128"/>
              </a:defRPr>
            </a:lvl4pPr>
            <a:lvl5pPr>
              <a:defRPr sz="1200">
                <a:solidFill>
                  <a:srgbClr val="CF0E30"/>
                </a:solidFill>
                <a:latin typeface="Book Antiqua" pitchFamily="18" charset="0"/>
                <a:ea typeface="MS PGothic" pitchFamily="34" charset="-128"/>
              </a:defRPr>
            </a:lvl5pPr>
            <a:lvl6pPr marL="457200" eaLnBrk="0" fontAlgn="base" hangingPunct="0">
              <a:spcBef>
                <a:spcPct val="0"/>
              </a:spcBef>
              <a:spcAft>
                <a:spcPct val="0"/>
              </a:spcAft>
              <a:defRPr sz="1200">
                <a:solidFill>
                  <a:srgbClr val="CF0E30"/>
                </a:solidFill>
                <a:latin typeface="Book Antiqua" pitchFamily="18" charset="0"/>
                <a:ea typeface="MS PGothic" pitchFamily="34" charset="-128"/>
              </a:defRPr>
            </a:lvl6pPr>
            <a:lvl7pPr marL="914400" eaLnBrk="0" fontAlgn="base" hangingPunct="0">
              <a:spcBef>
                <a:spcPct val="0"/>
              </a:spcBef>
              <a:spcAft>
                <a:spcPct val="0"/>
              </a:spcAft>
              <a:defRPr sz="1200">
                <a:solidFill>
                  <a:srgbClr val="CF0E30"/>
                </a:solidFill>
                <a:latin typeface="Book Antiqua" pitchFamily="18" charset="0"/>
                <a:ea typeface="MS PGothic" pitchFamily="34" charset="-128"/>
              </a:defRPr>
            </a:lvl7pPr>
            <a:lvl8pPr marL="1371600" eaLnBrk="0" fontAlgn="base" hangingPunct="0">
              <a:spcBef>
                <a:spcPct val="0"/>
              </a:spcBef>
              <a:spcAft>
                <a:spcPct val="0"/>
              </a:spcAft>
              <a:defRPr sz="1200">
                <a:solidFill>
                  <a:srgbClr val="CF0E30"/>
                </a:solidFill>
                <a:latin typeface="Book Antiqua" pitchFamily="18" charset="0"/>
                <a:ea typeface="MS PGothic" pitchFamily="34" charset="-128"/>
              </a:defRPr>
            </a:lvl8pPr>
            <a:lvl9pPr marL="1828800" eaLnBrk="0" fontAlgn="base" hangingPunct="0">
              <a:spcBef>
                <a:spcPct val="0"/>
              </a:spcBef>
              <a:spcAft>
                <a:spcPct val="0"/>
              </a:spcAft>
              <a:defRPr sz="1200">
                <a:solidFill>
                  <a:srgbClr val="CF0E30"/>
                </a:solidFill>
                <a:latin typeface="Book Antiqua" pitchFamily="18" charset="0"/>
                <a:ea typeface="MS PGothic" pitchFamily="34" charset="-128"/>
              </a:defRPr>
            </a:lvl9pPr>
          </a:lstStyle>
          <a:p>
            <a:r>
              <a:rPr lang="en-US" sz="2400" dirty="0">
                <a:solidFill>
                  <a:schemeClr val="tx1"/>
                </a:solidFill>
                <a:latin typeface="Tahoma" pitchFamily="34" charset="0"/>
              </a:rPr>
              <a:t>Q:</a:t>
            </a:r>
            <a:r>
              <a:rPr lang="en-US" sz="2400" dirty="0">
                <a:solidFill>
                  <a:schemeClr val="accent2"/>
                </a:solidFill>
                <a:latin typeface="Tahoma" pitchFamily="34" charset="0"/>
              </a:rPr>
              <a:t> </a:t>
            </a:r>
            <a:r>
              <a:rPr lang="en-US" sz="2400" dirty="0">
                <a:solidFill>
                  <a:schemeClr val="tx1"/>
                </a:solidFill>
                <a:latin typeface="Tahoma" pitchFamily="34" charset="0"/>
              </a:rPr>
              <a:t>What does this mean?</a:t>
            </a:r>
          </a:p>
        </p:txBody>
      </p:sp>
    </p:spTree>
    <p:extLst>
      <p:ext uri="{BB962C8B-B14F-4D97-AF65-F5344CB8AC3E}">
        <p14:creationId xmlns:p14="http://schemas.microsoft.com/office/powerpoint/2010/main" val="352441026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ChangeArrowheads="1"/>
          </p:cNvSpPr>
          <p:nvPr/>
        </p:nvSpPr>
        <p:spPr bwMode="auto">
          <a:xfrm>
            <a:off x="685800" y="5102222"/>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3013" name="Rectangle 4"/>
          <p:cNvSpPr>
            <a:spLocks noGrp="1" noChangeArrowheads="1"/>
          </p:cNvSpPr>
          <p:nvPr>
            <p:ph type="title"/>
          </p:nvPr>
        </p:nvSpPr>
        <p:spPr>
          <a:xfrm>
            <a:off x="723900" y="23501"/>
            <a:ext cx="7772400" cy="1143000"/>
          </a:xfrm>
          <a:noFill/>
        </p:spPr>
        <p:txBody>
          <a:bodyPr>
            <a:normAutofit fontScale="90000"/>
          </a:bodyPr>
          <a:lstStyle/>
          <a:p>
            <a:r>
              <a:rPr lang="en-US" dirty="0"/>
              <a:t>Primary and Candidate Keys in SQL</a:t>
            </a:r>
          </a:p>
        </p:txBody>
      </p:sp>
      <p:sp>
        <p:nvSpPr>
          <p:cNvPr id="43014" name="Rectangle 5"/>
          <p:cNvSpPr>
            <a:spLocks noGrp="1" noChangeArrowheads="1"/>
          </p:cNvSpPr>
          <p:nvPr>
            <p:ph type="body" idx="1"/>
          </p:nvPr>
        </p:nvSpPr>
        <p:spPr>
          <a:xfrm>
            <a:off x="228600" y="1295400"/>
            <a:ext cx="8763000" cy="4419600"/>
          </a:xfrm>
          <a:noFill/>
        </p:spPr>
        <p:txBody>
          <a:bodyPr>
            <a:normAutofit/>
          </a:bodyPr>
          <a:lstStyle/>
          <a:p>
            <a:pPr>
              <a:buFont typeface="Wingdings" pitchFamily="2" charset="2"/>
              <a:buChar char="§"/>
            </a:pPr>
            <a:r>
              <a:rPr lang="en-US" sz="2400" dirty="0"/>
              <a:t>Many candidate keys  (specified using </a:t>
            </a:r>
            <a:r>
              <a:rPr lang="en-US" sz="2400" dirty="0">
                <a:solidFill>
                  <a:schemeClr val="accent2"/>
                </a:solidFill>
              </a:rPr>
              <a:t>UNIQUE</a:t>
            </a:r>
            <a:r>
              <a:rPr lang="en-US" sz="2400" dirty="0"/>
              <a:t>) can be designated and one is chosen as a </a:t>
            </a:r>
            <a:r>
              <a:rPr lang="en-US" sz="2400" i="1" dirty="0"/>
              <a:t>primary key</a:t>
            </a:r>
          </a:p>
          <a:p>
            <a:pPr>
              <a:buFont typeface="Wingdings" pitchFamily="2" charset="2"/>
              <a:buChar char="§"/>
            </a:pPr>
            <a:endParaRPr lang="en-US" sz="2400" dirty="0"/>
          </a:p>
          <a:p>
            <a:pPr>
              <a:buClr>
                <a:schemeClr val="tx1"/>
              </a:buClr>
              <a:buSzPct val="100000"/>
              <a:buFont typeface="Wingdings" pitchFamily="2" charset="2"/>
              <a:buChar char="§"/>
            </a:pPr>
            <a:r>
              <a:rPr lang="en-US" sz="2400" dirty="0"/>
              <a:t>Keys must be used carefully!</a:t>
            </a:r>
          </a:p>
          <a:p>
            <a:pPr>
              <a:buClr>
                <a:schemeClr val="tx1"/>
              </a:buClr>
              <a:buSzPct val="75000"/>
              <a:buFont typeface="Wingdings" pitchFamily="2" charset="2"/>
              <a:buChar char="§"/>
            </a:pPr>
            <a:endParaRPr lang="en-US" sz="2400" dirty="0"/>
          </a:p>
          <a:p>
            <a:pPr>
              <a:buClr>
                <a:schemeClr val="tx1"/>
              </a:buClr>
              <a:buSzPct val="100000"/>
              <a:buFont typeface="Wingdings" pitchFamily="2" charset="2"/>
              <a:buChar char="§"/>
            </a:pPr>
            <a:r>
              <a:rPr lang="en-US" sz="2400" dirty="0"/>
              <a:t>“For a given student and course, there is a single grade”</a:t>
            </a:r>
          </a:p>
        </p:txBody>
      </p:sp>
      <p:sp>
        <p:nvSpPr>
          <p:cNvPr id="43015" name="Rectangle 7"/>
          <p:cNvSpPr>
            <a:spLocks noChangeArrowheads="1"/>
          </p:cNvSpPr>
          <p:nvPr/>
        </p:nvSpPr>
        <p:spPr bwMode="auto">
          <a:xfrm>
            <a:off x="76200" y="2133600"/>
            <a:ext cx="9067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Clr>
                <a:schemeClr val="tx1"/>
              </a:buClr>
              <a:buSzPct val="75000"/>
              <a:buFontTx/>
              <a:buChar char="•"/>
            </a:pPr>
            <a:endParaRPr lang="en-US" sz="2400">
              <a:solidFill>
                <a:schemeClr val="tx1"/>
              </a:solidFill>
              <a:latin typeface="Tahoma" pitchFamily="34" charset="0"/>
            </a:endParaRPr>
          </a:p>
          <a:p>
            <a:pPr marL="342900" indent="-342900">
              <a:spcBef>
                <a:spcPct val="20000"/>
              </a:spcBef>
              <a:buClr>
                <a:schemeClr val="tx1"/>
              </a:buClr>
              <a:buSzPct val="75000"/>
            </a:pPr>
            <a:r>
              <a:rPr lang="en-US" sz="2400">
                <a:solidFill>
                  <a:schemeClr val="accent2"/>
                </a:solidFill>
                <a:latin typeface="Tahoma" pitchFamily="34" charset="0"/>
              </a:rPr>
              <a:t>   </a:t>
            </a:r>
            <a:r>
              <a:rPr lang="en-US" sz="3200">
                <a:solidFill>
                  <a:schemeClr val="accent2"/>
                </a:solidFill>
                <a:latin typeface="Tahoma" pitchFamily="34" charset="0"/>
              </a:rPr>
              <a:t> </a:t>
            </a:r>
            <a:endParaRPr lang="en-US" sz="2400">
              <a:solidFill>
                <a:schemeClr val="tx1"/>
              </a:solidFill>
              <a:latin typeface="Tahoma" pitchFamily="34" charset="0"/>
            </a:endParaRPr>
          </a:p>
        </p:txBody>
      </p:sp>
      <p:grpSp>
        <p:nvGrpSpPr>
          <p:cNvPr id="8" name="Group 8"/>
          <p:cNvGrpSpPr>
            <a:grpSpLocks/>
          </p:cNvGrpSpPr>
          <p:nvPr/>
        </p:nvGrpSpPr>
        <p:grpSpPr bwMode="auto">
          <a:xfrm>
            <a:off x="174625" y="3886200"/>
            <a:ext cx="8794750" cy="1939927"/>
            <a:chOff x="96" y="1999"/>
            <a:chExt cx="5540" cy="1222"/>
          </a:xfrm>
        </p:grpSpPr>
        <p:sp>
          <p:nvSpPr>
            <p:cNvPr id="9" name="Rectangle 9"/>
            <p:cNvSpPr>
              <a:spLocks noChangeArrowheads="1"/>
            </p:cNvSpPr>
            <p:nvPr/>
          </p:nvSpPr>
          <p:spPr bwMode="auto">
            <a:xfrm>
              <a:off x="96" y="2072"/>
              <a:ext cx="2578" cy="1028"/>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en-US" sz="2000" dirty="0">
                  <a:solidFill>
                    <a:schemeClr val="tx1"/>
                  </a:solidFill>
                  <a:latin typeface="Lucida Console" pitchFamily="49" charset="0"/>
                </a:rPr>
                <a:t>CREATE TABLE Enrolled</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grade CHAR(2),</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PRIMARY KEY </a:t>
              </a:r>
              <a:r>
                <a:rPr lang="en-US" sz="2000" dirty="0">
                  <a:solidFill>
                    <a:schemeClr val="tx1"/>
                  </a:solidFill>
                  <a:latin typeface="Lucida Console" pitchFamily="49" charset="0"/>
                </a:rPr>
                <a:t>(</a:t>
              </a:r>
              <a:r>
                <a:rPr lang="en-US" sz="2000" dirty="0" err="1">
                  <a:solidFill>
                    <a:schemeClr val="tx1"/>
                  </a:solidFill>
                  <a:latin typeface="Lucida Console" pitchFamily="49" charset="0"/>
                </a:rPr>
                <a:t>sid,cid</a:t>
              </a:r>
              <a:r>
                <a:rPr lang="en-US" sz="2000" dirty="0">
                  <a:solidFill>
                    <a:schemeClr val="tx1"/>
                  </a:solidFill>
                  <a:latin typeface="Lucida Console" pitchFamily="49" charset="0"/>
                </a:rPr>
                <a:t>))</a:t>
              </a:r>
            </a:p>
          </p:txBody>
        </p:sp>
        <p:sp>
          <p:nvSpPr>
            <p:cNvPr id="10" name="Rectangle 10"/>
            <p:cNvSpPr>
              <a:spLocks noChangeArrowheads="1"/>
            </p:cNvSpPr>
            <p:nvPr/>
          </p:nvSpPr>
          <p:spPr bwMode="auto">
            <a:xfrm>
              <a:off x="2962" y="1999"/>
              <a:ext cx="2674" cy="1222"/>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en-US" sz="2000" dirty="0">
                  <a:solidFill>
                    <a:schemeClr val="tx1"/>
                  </a:solidFill>
                  <a:latin typeface="Lucida Console" pitchFamily="49" charset="0"/>
                </a:rPr>
                <a:t>CREATE TABLE Enrolled</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CHAR(20),</a:t>
              </a:r>
            </a:p>
            <a:p>
              <a:r>
                <a:rPr lang="en-US" sz="2000" dirty="0">
                  <a:solidFill>
                    <a:schemeClr val="tx1"/>
                  </a:solidFill>
                  <a:latin typeface="Lucida Console" pitchFamily="49" charset="0"/>
                </a:rPr>
                <a:t>    grade CHAR(2),</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PRIMARY KEY  </a:t>
              </a:r>
              <a:r>
                <a:rPr lang="en-US" sz="2000" dirty="0">
                  <a:solidFill>
                    <a:schemeClr val="tx1"/>
                  </a:solidFill>
                  <a:latin typeface="Lucida Console" pitchFamily="49" charset="0"/>
                </a:rPr>
                <a:t>(</a:t>
              </a:r>
              <a:r>
                <a:rPr lang="en-US" sz="2000" dirty="0" err="1">
                  <a:solidFill>
                    <a:schemeClr val="tx1"/>
                  </a:solidFill>
                  <a:latin typeface="Lucida Console" pitchFamily="49" charset="0"/>
                </a:rPr>
                <a:t>sid</a:t>
              </a:r>
              <a:r>
                <a:rPr lang="en-US" sz="2000" dirty="0">
                  <a:solidFill>
                    <a:schemeClr val="tx1"/>
                  </a:solidFill>
                  <a:latin typeface="Lucida Console" pitchFamily="49" charset="0"/>
                </a:rPr>
                <a:t>),</a:t>
              </a:r>
            </a:p>
            <a:p>
              <a:r>
                <a:rPr lang="en-US" sz="2000" dirty="0">
                  <a:solidFill>
                    <a:schemeClr val="tx1"/>
                  </a:solidFill>
                  <a:latin typeface="Lucida Console" pitchFamily="49" charset="0"/>
                </a:rPr>
                <a:t>    </a:t>
              </a:r>
              <a:r>
                <a:rPr lang="en-US" sz="2000" dirty="0">
                  <a:solidFill>
                    <a:schemeClr val="accent2"/>
                  </a:solidFill>
                  <a:latin typeface="Lucida Console" pitchFamily="49" charset="0"/>
                </a:rPr>
                <a:t>UNIQUE</a:t>
              </a:r>
              <a:r>
                <a:rPr lang="en-US" sz="2000" dirty="0">
                  <a:solidFill>
                    <a:schemeClr val="tx1"/>
                  </a:solidFill>
                  <a:latin typeface="Lucida Console" pitchFamily="49" charset="0"/>
                </a:rPr>
                <a:t> (</a:t>
              </a:r>
              <a:r>
                <a:rPr lang="en-US" sz="2000" dirty="0" err="1">
                  <a:solidFill>
                    <a:schemeClr val="tx1"/>
                  </a:solidFill>
                  <a:latin typeface="Lucida Console" pitchFamily="49" charset="0"/>
                </a:rPr>
                <a:t>cid</a:t>
              </a:r>
              <a:r>
                <a:rPr lang="en-US" sz="2000" dirty="0">
                  <a:solidFill>
                    <a:schemeClr val="tx1"/>
                  </a:solidFill>
                  <a:latin typeface="Lucida Console" pitchFamily="49" charset="0"/>
                </a:rPr>
                <a:t>, grade))</a:t>
              </a:r>
            </a:p>
          </p:txBody>
        </p:sp>
        <p:sp>
          <p:nvSpPr>
            <p:cNvPr id="11" name="Text Box 11"/>
            <p:cNvSpPr txBox="1">
              <a:spLocks noChangeArrowheads="1"/>
            </p:cNvSpPr>
            <p:nvPr/>
          </p:nvSpPr>
          <p:spPr bwMode="auto">
            <a:xfrm>
              <a:off x="2578" y="2440"/>
              <a:ext cx="48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200">
                  <a:solidFill>
                    <a:srgbClr val="CF0E30"/>
                  </a:solidFill>
                  <a:latin typeface="Book Antiqua" pitchFamily="18" charset="0"/>
                  <a:ea typeface="MS PGothic" pitchFamily="34" charset="-128"/>
                </a:defRPr>
              </a:lvl1pPr>
              <a:lvl2pPr marL="37931725" indent="-37474525">
                <a:defRPr sz="1200">
                  <a:solidFill>
                    <a:srgbClr val="CF0E30"/>
                  </a:solidFill>
                  <a:latin typeface="Book Antiqua" pitchFamily="18" charset="0"/>
                  <a:ea typeface="MS PGothic" pitchFamily="34" charset="-128"/>
                </a:defRPr>
              </a:lvl2pPr>
              <a:lvl3pPr>
                <a:defRPr sz="1200">
                  <a:solidFill>
                    <a:srgbClr val="CF0E30"/>
                  </a:solidFill>
                  <a:latin typeface="Book Antiqua" pitchFamily="18" charset="0"/>
                  <a:ea typeface="MS PGothic" pitchFamily="34" charset="-128"/>
                </a:defRPr>
              </a:lvl3pPr>
              <a:lvl4pPr>
                <a:defRPr sz="1200">
                  <a:solidFill>
                    <a:srgbClr val="CF0E30"/>
                  </a:solidFill>
                  <a:latin typeface="Book Antiqua" pitchFamily="18" charset="0"/>
                  <a:ea typeface="MS PGothic" pitchFamily="34" charset="-128"/>
                </a:defRPr>
              </a:lvl4pPr>
              <a:lvl5pPr>
                <a:defRPr sz="1200">
                  <a:solidFill>
                    <a:srgbClr val="CF0E30"/>
                  </a:solidFill>
                  <a:latin typeface="Book Antiqua" pitchFamily="18" charset="0"/>
                  <a:ea typeface="MS PGothic" pitchFamily="34" charset="-128"/>
                </a:defRPr>
              </a:lvl5pPr>
              <a:lvl6pPr marL="457200" eaLnBrk="0" fontAlgn="base" hangingPunct="0">
                <a:spcBef>
                  <a:spcPct val="0"/>
                </a:spcBef>
                <a:spcAft>
                  <a:spcPct val="0"/>
                </a:spcAft>
                <a:defRPr sz="1200">
                  <a:solidFill>
                    <a:srgbClr val="CF0E30"/>
                  </a:solidFill>
                  <a:latin typeface="Book Antiqua" pitchFamily="18" charset="0"/>
                  <a:ea typeface="MS PGothic" pitchFamily="34" charset="-128"/>
                </a:defRPr>
              </a:lvl6pPr>
              <a:lvl7pPr marL="914400" eaLnBrk="0" fontAlgn="base" hangingPunct="0">
                <a:spcBef>
                  <a:spcPct val="0"/>
                </a:spcBef>
                <a:spcAft>
                  <a:spcPct val="0"/>
                </a:spcAft>
                <a:defRPr sz="1200">
                  <a:solidFill>
                    <a:srgbClr val="CF0E30"/>
                  </a:solidFill>
                  <a:latin typeface="Book Antiqua" pitchFamily="18" charset="0"/>
                  <a:ea typeface="MS PGothic" pitchFamily="34" charset="-128"/>
                </a:defRPr>
              </a:lvl7pPr>
              <a:lvl8pPr marL="1371600" eaLnBrk="0" fontAlgn="base" hangingPunct="0">
                <a:spcBef>
                  <a:spcPct val="0"/>
                </a:spcBef>
                <a:spcAft>
                  <a:spcPct val="0"/>
                </a:spcAft>
                <a:defRPr sz="1200">
                  <a:solidFill>
                    <a:srgbClr val="CF0E30"/>
                  </a:solidFill>
                  <a:latin typeface="Book Antiqua" pitchFamily="18" charset="0"/>
                  <a:ea typeface="MS PGothic" pitchFamily="34" charset="-128"/>
                </a:defRPr>
              </a:lvl8pPr>
              <a:lvl9pPr marL="1828800" eaLnBrk="0" fontAlgn="base" hangingPunct="0">
                <a:spcBef>
                  <a:spcPct val="0"/>
                </a:spcBef>
                <a:spcAft>
                  <a:spcPct val="0"/>
                </a:spcAft>
                <a:defRPr sz="1200">
                  <a:solidFill>
                    <a:srgbClr val="CF0E30"/>
                  </a:solidFill>
                  <a:latin typeface="Book Antiqua" pitchFamily="18" charset="0"/>
                  <a:ea typeface="MS PGothic" pitchFamily="34" charset="-128"/>
                </a:defRPr>
              </a:lvl9pPr>
            </a:lstStyle>
            <a:p>
              <a:r>
                <a:rPr lang="en-US" sz="2400" dirty="0">
                  <a:solidFill>
                    <a:srgbClr val="FF0000"/>
                  </a:solidFill>
                  <a:latin typeface="Tahoma" pitchFamily="34" charset="0"/>
                </a:rPr>
                <a:t> vs. </a:t>
              </a:r>
            </a:p>
          </p:txBody>
        </p:sp>
      </p:grpSp>
      <p:sp>
        <p:nvSpPr>
          <p:cNvPr id="2" name="Slide Number Placeholder 1">
            <a:extLst>
              <a:ext uri="{FF2B5EF4-FFF2-40B4-BE49-F238E27FC236}">
                <a16:creationId xmlns:a16="http://schemas.microsoft.com/office/drawing/2014/main" id="{D812C8F9-B4CF-6E2D-1971-53F8155F3B68}"/>
              </a:ext>
            </a:extLst>
          </p:cNvPr>
          <p:cNvSpPr>
            <a:spLocks noGrp="1"/>
          </p:cNvSpPr>
          <p:nvPr>
            <p:ph type="sldNum" sz="quarter" idx="12"/>
          </p:nvPr>
        </p:nvSpPr>
        <p:spPr/>
        <p:txBody>
          <a:bodyPr/>
          <a:lstStyle/>
          <a:p>
            <a:fld id="{5FCA4BC5-AE2A-401E-9EDD-DF8812A14A6A}" type="slidenum">
              <a:rPr lang="en-US" smtClean="0"/>
              <a:t>26</a:t>
            </a:fld>
            <a:endParaRPr lang="en-US"/>
          </a:p>
        </p:txBody>
      </p:sp>
      <p:sp>
        <p:nvSpPr>
          <p:cNvPr id="4" name="Line 11">
            <a:extLst>
              <a:ext uri="{FF2B5EF4-FFF2-40B4-BE49-F238E27FC236}">
                <a16:creationId xmlns:a16="http://schemas.microsoft.com/office/drawing/2014/main" id="{F37BB664-D75F-B3C3-4689-E3E79DE9A54E}"/>
              </a:ext>
            </a:extLst>
          </p:cNvPr>
          <p:cNvSpPr>
            <a:spLocks noChangeShapeType="1"/>
          </p:cNvSpPr>
          <p:nvPr/>
        </p:nvSpPr>
        <p:spPr bwMode="auto">
          <a:xfrm>
            <a:off x="4724399" y="3886200"/>
            <a:ext cx="4244975" cy="1939927"/>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 name="Line 12">
            <a:extLst>
              <a:ext uri="{FF2B5EF4-FFF2-40B4-BE49-F238E27FC236}">
                <a16:creationId xmlns:a16="http://schemas.microsoft.com/office/drawing/2014/main" id="{250D64D4-D931-C179-13C0-52F27E0CEEEE}"/>
              </a:ext>
            </a:extLst>
          </p:cNvPr>
          <p:cNvSpPr>
            <a:spLocks noChangeShapeType="1"/>
          </p:cNvSpPr>
          <p:nvPr/>
        </p:nvSpPr>
        <p:spPr bwMode="auto">
          <a:xfrm rot="6355117">
            <a:off x="5331980" y="3081102"/>
            <a:ext cx="3029810" cy="3550121"/>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 name="Rounded Rectangle 14">
            <a:extLst>
              <a:ext uri="{FF2B5EF4-FFF2-40B4-BE49-F238E27FC236}">
                <a16:creationId xmlns:a16="http://schemas.microsoft.com/office/drawing/2014/main" id="{99E5124A-A755-8842-93DA-3CBB5ECA64C4}"/>
              </a:ext>
            </a:extLst>
          </p:cNvPr>
          <p:cNvSpPr/>
          <p:nvPr/>
        </p:nvSpPr>
        <p:spPr>
          <a:xfrm>
            <a:off x="381000" y="5943600"/>
            <a:ext cx="8458200" cy="763066"/>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mj-lt"/>
              </a:rPr>
              <a:t>“A student can take only one course, and no two students in a course receive the same grade”</a:t>
            </a:r>
          </a:p>
        </p:txBody>
      </p:sp>
    </p:spTree>
    <p:extLst>
      <p:ext uri="{BB962C8B-B14F-4D97-AF65-F5344CB8AC3E}">
        <p14:creationId xmlns:p14="http://schemas.microsoft.com/office/powerpoint/2010/main" val="23730092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813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8133" name="Rectangle 4"/>
          <p:cNvSpPr>
            <a:spLocks noGrp="1" noChangeArrowheads="1"/>
          </p:cNvSpPr>
          <p:nvPr>
            <p:ph type="title"/>
          </p:nvPr>
        </p:nvSpPr>
        <p:spPr>
          <a:xfrm>
            <a:off x="304800" y="152400"/>
            <a:ext cx="8534400" cy="1143000"/>
          </a:xfrm>
          <a:noFill/>
        </p:spPr>
        <p:txBody>
          <a:bodyPr>
            <a:normAutofit fontScale="90000"/>
          </a:bodyPr>
          <a:lstStyle/>
          <a:p>
            <a:r>
              <a:rPr lang="en-US" dirty="0"/>
              <a:t>Foreign Keys and Referential Integrity</a:t>
            </a:r>
          </a:p>
        </p:txBody>
      </p:sp>
      <p:sp>
        <p:nvSpPr>
          <p:cNvPr id="48134" name="Rectangle 5"/>
          <p:cNvSpPr>
            <a:spLocks noGrp="1" noChangeArrowheads="1"/>
          </p:cNvSpPr>
          <p:nvPr>
            <p:ph type="body" idx="1"/>
          </p:nvPr>
        </p:nvSpPr>
        <p:spPr>
          <a:xfrm>
            <a:off x="304800" y="1371600"/>
            <a:ext cx="8534400" cy="5105400"/>
          </a:xfrm>
          <a:noFill/>
        </p:spPr>
        <p:txBody>
          <a:bodyPr>
            <a:normAutofit/>
          </a:bodyPr>
          <a:lstStyle/>
          <a:p>
            <a:pPr>
              <a:buFont typeface="Wingdings" pitchFamily="2" charset="2"/>
              <a:buChar char="§"/>
            </a:pPr>
            <a:r>
              <a:rPr lang="en-US" dirty="0"/>
              <a:t>A </a:t>
            </a:r>
            <a:r>
              <a:rPr lang="en-US" dirty="0">
                <a:solidFill>
                  <a:srgbClr val="0070C0"/>
                </a:solidFill>
              </a:rPr>
              <a:t>foreign key</a:t>
            </a:r>
            <a:r>
              <a:rPr lang="en-US" dirty="0"/>
              <a:t> is a set of fields referring to a tuple in another relation</a:t>
            </a:r>
          </a:p>
          <a:p>
            <a:pPr lvl="1">
              <a:buFont typeface="Wingdings" pitchFamily="2" charset="2"/>
              <a:buChar char="§"/>
            </a:pPr>
            <a:r>
              <a:rPr lang="en-US" dirty="0"/>
              <a:t>It must correspond to the primary key of the other relation</a:t>
            </a:r>
          </a:p>
          <a:p>
            <a:pPr lvl="1">
              <a:buFont typeface="Wingdings" pitchFamily="2" charset="2"/>
              <a:buChar char="§"/>
            </a:pPr>
            <a:r>
              <a:rPr lang="en-US" dirty="0"/>
              <a:t>It acts like a `logical pointer’</a:t>
            </a:r>
          </a:p>
          <a:p>
            <a:pPr lvl="1">
              <a:buFont typeface="Wingdings" pitchFamily="2" charset="2"/>
              <a:buChar char="§"/>
            </a:pPr>
            <a:endParaRPr lang="en-US" sz="3200" dirty="0"/>
          </a:p>
          <a:p>
            <a:pPr>
              <a:buSzPct val="100000"/>
              <a:buFont typeface="Wingdings" pitchFamily="2" charset="2"/>
              <a:buChar char="§"/>
            </a:pPr>
            <a:r>
              <a:rPr lang="en-US" dirty="0"/>
              <a:t>If all foreign key constraints are enforced,  </a:t>
            </a:r>
            <a:r>
              <a:rPr lang="en-US" dirty="0">
                <a:solidFill>
                  <a:srgbClr val="0070C0"/>
                </a:solidFill>
              </a:rPr>
              <a:t>referential integrity</a:t>
            </a:r>
            <a:r>
              <a:rPr lang="en-US" dirty="0"/>
              <a:t> is said to be achieved </a:t>
            </a:r>
            <a:br>
              <a:rPr lang="en-US" dirty="0"/>
            </a:br>
            <a:r>
              <a:rPr lang="en-US" dirty="0"/>
              <a:t>(i.e., no dangling references)</a:t>
            </a:r>
          </a:p>
        </p:txBody>
      </p:sp>
      <p:sp>
        <p:nvSpPr>
          <p:cNvPr id="2" name="Slide Number Placeholder 1">
            <a:extLst>
              <a:ext uri="{FF2B5EF4-FFF2-40B4-BE49-F238E27FC236}">
                <a16:creationId xmlns:a16="http://schemas.microsoft.com/office/drawing/2014/main" id="{AA7A2BD4-387F-4547-3FA8-585C665A374D}"/>
              </a:ext>
            </a:extLst>
          </p:cNvPr>
          <p:cNvSpPr>
            <a:spLocks noGrp="1"/>
          </p:cNvSpPr>
          <p:nvPr>
            <p:ph type="sldNum" sz="quarter" idx="12"/>
          </p:nvPr>
        </p:nvSpPr>
        <p:spPr/>
        <p:txBody>
          <a:bodyPr/>
          <a:lstStyle/>
          <a:p>
            <a:fld id="{5FCA4BC5-AE2A-401E-9EDD-DF8812A14A6A}" type="slidenum">
              <a:rPr lang="en-US" smtClean="0"/>
              <a:t>27</a:t>
            </a:fld>
            <a:endParaRPr lang="en-US"/>
          </a:p>
        </p:txBody>
      </p:sp>
    </p:spTree>
    <p:extLst>
      <p:ext uri="{BB962C8B-B14F-4D97-AF65-F5344CB8AC3E}">
        <p14:creationId xmlns:p14="http://schemas.microsoft.com/office/powerpoint/2010/main" val="71432565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4"/>
          <p:cNvSpPr>
            <a:spLocks noGrp="1" noChangeArrowheads="1"/>
          </p:cNvSpPr>
          <p:nvPr>
            <p:ph type="title"/>
          </p:nvPr>
        </p:nvSpPr>
        <p:spPr>
          <a:xfrm>
            <a:off x="685800" y="0"/>
            <a:ext cx="7772400" cy="1143000"/>
          </a:xfrm>
          <a:noFill/>
        </p:spPr>
        <p:txBody>
          <a:bodyPr/>
          <a:lstStyle/>
          <a:p>
            <a:r>
              <a:rPr lang="en-US" dirty="0"/>
              <a:t>Foreign Keys in SQL</a:t>
            </a:r>
          </a:p>
        </p:txBody>
      </p:sp>
      <p:sp>
        <p:nvSpPr>
          <p:cNvPr id="49158" name="Rectangle 5"/>
          <p:cNvSpPr>
            <a:spLocks noGrp="1" noChangeArrowheads="1"/>
          </p:cNvSpPr>
          <p:nvPr>
            <p:ph type="body" idx="1"/>
          </p:nvPr>
        </p:nvSpPr>
        <p:spPr>
          <a:xfrm>
            <a:off x="228600" y="1143000"/>
            <a:ext cx="8686800" cy="1557349"/>
          </a:xfrm>
          <a:noFill/>
        </p:spPr>
        <p:txBody>
          <a:bodyPr>
            <a:spAutoFit/>
          </a:bodyPr>
          <a:lstStyle/>
          <a:p>
            <a:pPr>
              <a:buFont typeface="Wingdings" pitchFamily="2" charset="2"/>
              <a:buChar char="§"/>
            </a:pPr>
            <a:r>
              <a:rPr lang="en-US" b="0" dirty="0"/>
              <a:t>Example: Only existing students may enroll for courses</a:t>
            </a:r>
          </a:p>
          <a:p>
            <a:pPr lvl="1">
              <a:buFont typeface="Wingdings" pitchFamily="2" charset="2"/>
              <a:buChar char="§"/>
            </a:pPr>
            <a:r>
              <a:rPr lang="en-US" sz="2800" dirty="0"/>
              <a:t> </a:t>
            </a:r>
            <a:r>
              <a:rPr lang="en-US" sz="2800" i="1" dirty="0" err="1"/>
              <a:t>sid</a:t>
            </a:r>
            <a:r>
              <a:rPr lang="en-US" sz="2800" dirty="0"/>
              <a:t> is a foreign key referring to Students</a:t>
            </a:r>
          </a:p>
          <a:p>
            <a:pPr lvl="1">
              <a:buFont typeface="Wingdings" pitchFamily="2" charset="2"/>
              <a:buChar char="§"/>
            </a:pPr>
            <a:r>
              <a:rPr lang="en-US" sz="2800" dirty="0"/>
              <a:t>How can we write this in SQL?</a:t>
            </a:r>
          </a:p>
        </p:txBody>
      </p:sp>
      <p:grpSp>
        <p:nvGrpSpPr>
          <p:cNvPr id="49159" name="Group 15"/>
          <p:cNvGrpSpPr>
            <a:grpSpLocks/>
          </p:cNvGrpSpPr>
          <p:nvPr/>
        </p:nvGrpSpPr>
        <p:grpSpPr bwMode="auto">
          <a:xfrm>
            <a:off x="282514" y="2743200"/>
            <a:ext cx="8710613" cy="2341563"/>
            <a:chOff x="216" y="2474"/>
            <a:chExt cx="5487" cy="1475"/>
          </a:xfrm>
        </p:grpSpPr>
        <p:sp>
          <p:nvSpPr>
            <p:cNvPr id="49160" name="Rectangle 2"/>
            <p:cNvSpPr>
              <a:spLocks noChangeArrowheads="1"/>
            </p:cNvSpPr>
            <p:nvPr/>
          </p:nvSpPr>
          <p:spPr bwMode="auto">
            <a:xfrm>
              <a:off x="432" y="3530"/>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9161" name="Rectangle 3"/>
            <p:cNvSpPr>
              <a:spLocks noChangeArrowheads="1"/>
            </p:cNvSpPr>
            <p:nvPr/>
          </p:nvSpPr>
          <p:spPr bwMode="auto">
            <a:xfrm>
              <a:off x="1968" y="3530"/>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aphicFrame>
          <p:nvGraphicFramePr>
            <p:cNvPr id="49154" name="Object 2"/>
            <p:cNvGraphicFramePr>
              <a:graphicFrameLocks/>
            </p:cNvGraphicFramePr>
            <p:nvPr/>
          </p:nvGraphicFramePr>
          <p:xfrm>
            <a:off x="2880" y="2906"/>
            <a:ext cx="2823" cy="1043"/>
          </p:xfrm>
          <a:graphic>
            <a:graphicData uri="http://schemas.openxmlformats.org/presentationml/2006/ole">
              <mc:AlternateContent xmlns:mc="http://schemas.openxmlformats.org/markup-compatibility/2006">
                <mc:Choice xmlns:v="urn:schemas-microsoft-com:vml" Requires="v">
                  <p:oleObj name="Document" r:id="rId2" imgW="6737760" imgH="2499480" progId="Word.Document.8">
                    <p:embed/>
                  </p:oleObj>
                </mc:Choice>
                <mc:Fallback>
                  <p:oleObj name="Document" r:id="rId2" imgW="6737760" imgH="2499480" progId="Word.Document.8">
                    <p:embed/>
                    <p:pic>
                      <p:nvPicPr>
                        <p:cNvPr id="49154"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2906"/>
                          <a:ext cx="2823" cy="1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5" name="Object 3"/>
            <p:cNvGraphicFramePr>
              <a:graphicFrameLocks/>
            </p:cNvGraphicFramePr>
            <p:nvPr/>
          </p:nvGraphicFramePr>
          <p:xfrm>
            <a:off x="216" y="2728"/>
            <a:ext cx="2161" cy="1130"/>
          </p:xfrm>
          <a:graphic>
            <a:graphicData uri="http://schemas.openxmlformats.org/presentationml/2006/ole">
              <mc:AlternateContent xmlns:mc="http://schemas.openxmlformats.org/markup-compatibility/2006">
                <mc:Choice xmlns:v="urn:schemas-microsoft-com:vml" Requires="v">
                  <p:oleObj name="Document" r:id="rId4" imgW="4716720" imgH="2473560" progId="Word.Document.8">
                    <p:embed/>
                  </p:oleObj>
                </mc:Choice>
                <mc:Fallback>
                  <p:oleObj name="Document" r:id="rId4" imgW="4716720" imgH="2473560" progId="Word.Document.8">
                    <p:embed/>
                    <p:pic>
                      <p:nvPicPr>
                        <p:cNvPr id="49155"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 y="2728"/>
                          <a:ext cx="2161" cy="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2" name="Line 9"/>
            <p:cNvSpPr>
              <a:spLocks noChangeShapeType="1"/>
            </p:cNvSpPr>
            <p:nvPr/>
          </p:nvSpPr>
          <p:spPr bwMode="auto">
            <a:xfrm>
              <a:off x="2160" y="3011"/>
              <a:ext cx="720" cy="192"/>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3" name="Line 10"/>
            <p:cNvSpPr>
              <a:spLocks noChangeShapeType="1"/>
            </p:cNvSpPr>
            <p:nvPr/>
          </p:nvSpPr>
          <p:spPr bwMode="auto">
            <a:xfrm>
              <a:off x="2208" y="3251"/>
              <a:ext cx="672" cy="0"/>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4" name="Line 11"/>
            <p:cNvSpPr>
              <a:spLocks noChangeShapeType="1"/>
            </p:cNvSpPr>
            <p:nvPr/>
          </p:nvSpPr>
          <p:spPr bwMode="auto">
            <a:xfrm flipV="1">
              <a:off x="2160" y="3299"/>
              <a:ext cx="720" cy="384"/>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5" name="Line 12"/>
            <p:cNvSpPr>
              <a:spLocks noChangeShapeType="1"/>
            </p:cNvSpPr>
            <p:nvPr/>
          </p:nvSpPr>
          <p:spPr bwMode="auto">
            <a:xfrm>
              <a:off x="2160" y="3491"/>
              <a:ext cx="720" cy="144"/>
            </a:xfrm>
            <a:prstGeom prst="line">
              <a:avLst/>
            </a:prstGeom>
            <a:noFill/>
            <a:ln w="127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6" name="Rectangle 13"/>
            <p:cNvSpPr>
              <a:spLocks noChangeArrowheads="1"/>
            </p:cNvSpPr>
            <p:nvPr/>
          </p:nvSpPr>
          <p:spPr bwMode="auto">
            <a:xfrm>
              <a:off x="912" y="2474"/>
              <a:ext cx="7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rgbClr val="7030A0"/>
                  </a:solidFill>
                </a:rPr>
                <a:t>Enrolled</a:t>
              </a:r>
            </a:p>
          </p:txBody>
        </p:sp>
        <p:sp>
          <p:nvSpPr>
            <p:cNvPr id="49167" name="Rectangle 14"/>
            <p:cNvSpPr>
              <a:spLocks noChangeArrowheads="1"/>
            </p:cNvSpPr>
            <p:nvPr/>
          </p:nvSpPr>
          <p:spPr bwMode="auto">
            <a:xfrm>
              <a:off x="3888" y="2620"/>
              <a:ext cx="8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rgbClr val="7030A0"/>
                  </a:solidFill>
                </a:rPr>
                <a:t>Students</a:t>
              </a:r>
            </a:p>
          </p:txBody>
        </p:sp>
      </p:grpSp>
      <p:sp>
        <p:nvSpPr>
          <p:cNvPr id="2" name="Slide Number Placeholder 1">
            <a:extLst>
              <a:ext uri="{FF2B5EF4-FFF2-40B4-BE49-F238E27FC236}">
                <a16:creationId xmlns:a16="http://schemas.microsoft.com/office/drawing/2014/main" id="{4981CC9B-34FC-020F-8EA5-91E56312FB64}"/>
              </a:ext>
            </a:extLst>
          </p:cNvPr>
          <p:cNvSpPr>
            <a:spLocks noGrp="1"/>
          </p:cNvSpPr>
          <p:nvPr>
            <p:ph type="sldNum" sz="quarter" idx="12"/>
          </p:nvPr>
        </p:nvSpPr>
        <p:spPr/>
        <p:txBody>
          <a:bodyPr/>
          <a:lstStyle/>
          <a:p>
            <a:fld id="{5FCA4BC5-AE2A-401E-9EDD-DF8812A14A6A}" type="slidenum">
              <a:rPr lang="en-US" smtClean="0"/>
              <a:t>28</a:t>
            </a:fld>
            <a:endParaRPr lang="en-US"/>
          </a:p>
        </p:txBody>
      </p:sp>
      <p:sp>
        <p:nvSpPr>
          <p:cNvPr id="3" name="Rectangle 6">
            <a:extLst>
              <a:ext uri="{FF2B5EF4-FFF2-40B4-BE49-F238E27FC236}">
                <a16:creationId xmlns:a16="http://schemas.microsoft.com/office/drawing/2014/main" id="{689353DC-FE5C-DE59-52FF-034B35702EC3}"/>
              </a:ext>
            </a:extLst>
          </p:cNvPr>
          <p:cNvSpPr>
            <a:spLocks noChangeArrowheads="1"/>
          </p:cNvSpPr>
          <p:nvPr/>
        </p:nvSpPr>
        <p:spPr bwMode="auto">
          <a:xfrm>
            <a:off x="884207" y="5082248"/>
            <a:ext cx="7375586" cy="1447192"/>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en-US" sz="2200" dirty="0">
                <a:solidFill>
                  <a:schemeClr val="tx1"/>
                </a:solidFill>
                <a:latin typeface="Lucida Console" pitchFamily="49" charset="0"/>
              </a:rPr>
              <a:t> CREATE TABLE Enrolled </a:t>
            </a:r>
          </a:p>
          <a:p>
            <a:r>
              <a:rPr lang="en-US" sz="2200" dirty="0">
                <a:solidFill>
                  <a:schemeClr val="tx1"/>
                </a:solidFill>
                <a:latin typeface="Lucida Console" pitchFamily="49" charset="0"/>
              </a:rPr>
              <a:t> (</a:t>
            </a:r>
            <a:r>
              <a:rPr lang="en-US" sz="2200" dirty="0" err="1">
                <a:solidFill>
                  <a:schemeClr val="tx1"/>
                </a:solidFill>
                <a:latin typeface="Lucida Console" pitchFamily="49" charset="0"/>
              </a:rPr>
              <a:t>sid</a:t>
            </a:r>
            <a:r>
              <a:rPr lang="en-US" sz="2200" dirty="0">
                <a:solidFill>
                  <a:schemeClr val="tx1"/>
                </a:solidFill>
                <a:latin typeface="Lucida Console" pitchFamily="49" charset="0"/>
              </a:rPr>
              <a:t> CHAR(20),</a:t>
            </a:r>
            <a:r>
              <a:rPr lang="en-US" sz="2200" dirty="0" err="1">
                <a:solidFill>
                  <a:schemeClr val="tx1"/>
                </a:solidFill>
                <a:latin typeface="Lucida Console" pitchFamily="49" charset="0"/>
              </a:rPr>
              <a:t>cid</a:t>
            </a:r>
            <a:r>
              <a:rPr lang="en-US" sz="2200" dirty="0">
                <a:solidFill>
                  <a:schemeClr val="tx1"/>
                </a:solidFill>
                <a:latin typeface="Lucida Console" pitchFamily="49" charset="0"/>
              </a:rPr>
              <a:t> CHAR(20),grade CHAR(2),</a:t>
            </a:r>
          </a:p>
          <a:p>
            <a:r>
              <a:rPr lang="en-US" sz="2200" dirty="0">
                <a:solidFill>
                  <a:schemeClr val="tx1"/>
                </a:solidFill>
                <a:latin typeface="Lucida Console" pitchFamily="49" charset="0"/>
              </a:rPr>
              <a:t>  </a:t>
            </a:r>
            <a:r>
              <a:rPr lang="en-US" sz="2200" dirty="0">
                <a:solidFill>
                  <a:schemeClr val="accent2"/>
                </a:solidFill>
                <a:latin typeface="Lucida Console" pitchFamily="49" charset="0"/>
              </a:rPr>
              <a:t>PRIMARY KEY </a:t>
            </a:r>
            <a:r>
              <a:rPr lang="en-US" sz="2200" dirty="0">
                <a:solidFill>
                  <a:schemeClr val="tx1"/>
                </a:solidFill>
                <a:latin typeface="Lucida Console" pitchFamily="49" charset="0"/>
              </a:rPr>
              <a:t>(</a:t>
            </a:r>
            <a:r>
              <a:rPr lang="en-US" sz="2200" dirty="0" err="1">
                <a:solidFill>
                  <a:schemeClr val="tx1"/>
                </a:solidFill>
                <a:latin typeface="Lucida Console" pitchFamily="49" charset="0"/>
              </a:rPr>
              <a:t>sid,cid</a:t>
            </a:r>
            <a:r>
              <a:rPr lang="en-US" sz="2200" dirty="0">
                <a:solidFill>
                  <a:schemeClr val="tx1"/>
                </a:solidFill>
                <a:latin typeface="Lucida Console" pitchFamily="49" charset="0"/>
              </a:rPr>
              <a:t>),</a:t>
            </a:r>
          </a:p>
          <a:p>
            <a:r>
              <a:rPr lang="en-US" sz="2200" dirty="0">
                <a:solidFill>
                  <a:schemeClr val="tx1"/>
                </a:solidFill>
                <a:latin typeface="Lucida Console" pitchFamily="49" charset="0"/>
              </a:rPr>
              <a:t>  </a:t>
            </a:r>
            <a:r>
              <a:rPr lang="en-US" sz="2200" dirty="0">
                <a:solidFill>
                  <a:schemeClr val="accent2"/>
                </a:solidFill>
                <a:latin typeface="Lucida Console" pitchFamily="49" charset="0"/>
              </a:rPr>
              <a:t>FOREIGN KEY </a:t>
            </a:r>
            <a:r>
              <a:rPr lang="en-US" sz="2200" dirty="0">
                <a:solidFill>
                  <a:schemeClr val="tx1"/>
                </a:solidFill>
                <a:latin typeface="Lucida Console" pitchFamily="49" charset="0"/>
              </a:rPr>
              <a:t>(</a:t>
            </a:r>
            <a:r>
              <a:rPr lang="en-US" sz="2200" dirty="0" err="1">
                <a:solidFill>
                  <a:schemeClr val="tx1"/>
                </a:solidFill>
                <a:latin typeface="Lucida Console" pitchFamily="49" charset="0"/>
              </a:rPr>
              <a:t>sid</a:t>
            </a:r>
            <a:r>
              <a:rPr lang="en-US" sz="2200" dirty="0">
                <a:solidFill>
                  <a:schemeClr val="tx1"/>
                </a:solidFill>
                <a:latin typeface="Lucida Console" pitchFamily="49" charset="0"/>
              </a:rPr>
              <a:t>) </a:t>
            </a:r>
            <a:r>
              <a:rPr lang="en-US" sz="2200" dirty="0">
                <a:solidFill>
                  <a:schemeClr val="accent2"/>
                </a:solidFill>
                <a:latin typeface="Lucida Console" pitchFamily="49" charset="0"/>
              </a:rPr>
              <a:t>REFERENCES </a:t>
            </a:r>
            <a:r>
              <a:rPr lang="en-US" sz="2200" dirty="0">
                <a:solidFill>
                  <a:schemeClr val="tx1"/>
                </a:solidFill>
                <a:latin typeface="Lucida Console" pitchFamily="49" charset="0"/>
              </a:rPr>
              <a:t>Students )</a:t>
            </a:r>
          </a:p>
        </p:txBody>
      </p:sp>
    </p:spTree>
    <p:extLst>
      <p:ext uri="{BB962C8B-B14F-4D97-AF65-F5344CB8AC3E}">
        <p14:creationId xmlns:p14="http://schemas.microsoft.com/office/powerpoint/2010/main" val="17858066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4" name="Rectangle 4"/>
          <p:cNvSpPr>
            <a:spLocks noGrp="1" noChangeArrowheads="1"/>
          </p:cNvSpPr>
          <p:nvPr>
            <p:ph type="title"/>
          </p:nvPr>
        </p:nvSpPr>
        <p:spPr>
          <a:noFill/>
          <a:ln/>
        </p:spPr>
        <p:txBody>
          <a:bodyPr/>
          <a:lstStyle/>
          <a:p>
            <a:r>
              <a:rPr lang="en-US"/>
              <a:t>Enforcing Referential Integrity</a:t>
            </a:r>
          </a:p>
        </p:txBody>
      </p:sp>
      <p:sp>
        <p:nvSpPr>
          <p:cNvPr id="35845" name="Rectangle 5"/>
          <p:cNvSpPr>
            <a:spLocks noGrp="1" noChangeArrowheads="1"/>
          </p:cNvSpPr>
          <p:nvPr>
            <p:ph type="body" idx="1"/>
          </p:nvPr>
        </p:nvSpPr>
        <p:spPr>
          <a:xfrm>
            <a:off x="152400" y="1219200"/>
            <a:ext cx="8839200" cy="5181600"/>
          </a:xfrm>
          <a:noFill/>
          <a:ln/>
        </p:spPr>
        <p:txBody>
          <a:bodyPr>
            <a:normAutofit fontScale="92500"/>
          </a:bodyPr>
          <a:lstStyle/>
          <a:p>
            <a:pPr>
              <a:lnSpc>
                <a:spcPct val="90000"/>
              </a:lnSpc>
              <a:buFont typeface="Wingdings" pitchFamily="2" charset="2"/>
              <a:buChar char="§"/>
            </a:pPr>
            <a:r>
              <a:rPr lang="en-US" dirty="0"/>
              <a:t>What should be done if an “Enrolled” tuple with a non-existent student id is inserted?  </a:t>
            </a:r>
            <a:r>
              <a:rPr lang="en-US" dirty="0">
                <a:solidFill>
                  <a:srgbClr val="0070C0"/>
                </a:solidFill>
              </a:rPr>
              <a:t>(</a:t>
            </a:r>
            <a:r>
              <a:rPr lang="en-US" i="1" dirty="0">
                <a:solidFill>
                  <a:srgbClr val="0070C0"/>
                </a:solidFill>
              </a:rPr>
              <a:t>Reject it!</a:t>
            </a:r>
            <a:r>
              <a:rPr lang="en-US" dirty="0">
                <a:solidFill>
                  <a:srgbClr val="0070C0"/>
                </a:solidFill>
              </a:rPr>
              <a:t>)</a:t>
            </a:r>
          </a:p>
          <a:p>
            <a:pPr>
              <a:lnSpc>
                <a:spcPct val="90000"/>
              </a:lnSpc>
              <a:buFont typeface="Wingdings" pitchFamily="2" charset="2"/>
              <a:buChar char="§"/>
            </a:pPr>
            <a:r>
              <a:rPr lang="en-US" dirty="0"/>
              <a:t>What should be done if a “Students” tuple is deleted?</a:t>
            </a:r>
          </a:p>
          <a:p>
            <a:pPr lvl="1">
              <a:lnSpc>
                <a:spcPct val="90000"/>
              </a:lnSpc>
              <a:buSzPct val="75000"/>
              <a:buFont typeface="Wingdings" pitchFamily="2" charset="2"/>
              <a:buChar char="§"/>
            </a:pPr>
            <a:r>
              <a:rPr lang="en-US" dirty="0"/>
              <a:t>Disallow its deletion</a:t>
            </a:r>
          </a:p>
          <a:p>
            <a:pPr lvl="1">
              <a:lnSpc>
                <a:spcPct val="90000"/>
              </a:lnSpc>
              <a:buSzPct val="75000"/>
              <a:buFont typeface="Wingdings" pitchFamily="2" charset="2"/>
              <a:buChar char="§"/>
            </a:pPr>
            <a:r>
              <a:rPr lang="en-US" dirty="0"/>
              <a:t>Delete all Enrolled tuples that refer to it</a:t>
            </a:r>
          </a:p>
          <a:p>
            <a:pPr lvl="1">
              <a:lnSpc>
                <a:spcPct val="90000"/>
              </a:lnSpc>
              <a:buSzPct val="75000"/>
              <a:buFont typeface="Wingdings" pitchFamily="2" charset="2"/>
              <a:buChar char="§"/>
            </a:pPr>
            <a:r>
              <a:rPr lang="en-US" dirty="0"/>
              <a:t>Set </a:t>
            </a:r>
            <a:r>
              <a:rPr lang="en-US" dirty="0" err="1"/>
              <a:t>sid</a:t>
            </a:r>
            <a:r>
              <a:rPr lang="en-US" dirty="0"/>
              <a:t> in Enrolled tuples that refer to it to a </a:t>
            </a:r>
            <a:r>
              <a:rPr lang="en-US" i="1" dirty="0"/>
              <a:t>default </a:t>
            </a:r>
            <a:r>
              <a:rPr lang="en-US" i="1" dirty="0" err="1"/>
              <a:t>sid</a:t>
            </a:r>
            <a:endParaRPr lang="en-US" dirty="0"/>
          </a:p>
          <a:p>
            <a:pPr lvl="1">
              <a:lnSpc>
                <a:spcPct val="90000"/>
              </a:lnSpc>
              <a:buSzPct val="75000"/>
              <a:buFont typeface="Wingdings" pitchFamily="2" charset="2"/>
              <a:buChar char="§"/>
            </a:pPr>
            <a:r>
              <a:rPr lang="en-US" dirty="0"/>
              <a:t>Set </a:t>
            </a:r>
            <a:r>
              <a:rPr lang="en-US" dirty="0" err="1"/>
              <a:t>sid</a:t>
            </a:r>
            <a:r>
              <a:rPr lang="en-US" dirty="0"/>
              <a:t> in Enrolled tuples that refer to it to a special value </a:t>
            </a:r>
            <a:r>
              <a:rPr lang="en-US" i="1" dirty="0">
                <a:solidFill>
                  <a:srgbClr val="0070C0"/>
                </a:solidFill>
              </a:rPr>
              <a:t>null</a:t>
            </a:r>
            <a:r>
              <a:rPr lang="en-US" i="1" dirty="0"/>
              <a:t>, </a:t>
            </a:r>
            <a:r>
              <a:rPr lang="en-US" dirty="0"/>
              <a:t>denoting </a:t>
            </a:r>
            <a:r>
              <a:rPr lang="en-US" i="1" dirty="0"/>
              <a:t>`unknown’</a:t>
            </a:r>
            <a:r>
              <a:rPr lang="en-US" dirty="0"/>
              <a:t> or </a:t>
            </a:r>
            <a:r>
              <a:rPr lang="en-US" i="1" dirty="0"/>
              <a:t>`inapplicable’</a:t>
            </a:r>
            <a:endParaRPr lang="en-US" dirty="0"/>
          </a:p>
          <a:p>
            <a:pPr>
              <a:lnSpc>
                <a:spcPct val="90000"/>
              </a:lnSpc>
              <a:buFont typeface="Wingdings" pitchFamily="2" charset="2"/>
              <a:buChar char="§"/>
            </a:pPr>
            <a:r>
              <a:rPr lang="en-US" dirty="0"/>
              <a:t>What if a “Students” tuple is </a:t>
            </a:r>
            <a:r>
              <a:rPr lang="en-US" u="sng" dirty="0"/>
              <a:t>updated</a:t>
            </a:r>
            <a:r>
              <a:rPr lang="en-US" dirty="0"/>
              <a:t>?</a:t>
            </a:r>
          </a:p>
          <a:p>
            <a:pPr lvl="1">
              <a:lnSpc>
                <a:spcPct val="90000"/>
              </a:lnSpc>
            </a:pPr>
            <a:r>
              <a:rPr lang="en-US" dirty="0"/>
              <a:t>We can extend the Students relation with a column called “partner” and declare this column to be a foreign key referring to Students. </a:t>
            </a:r>
          </a:p>
          <a:p>
            <a:pPr lvl="1">
              <a:lnSpc>
                <a:spcPct val="90000"/>
              </a:lnSpc>
            </a:pPr>
            <a:r>
              <a:rPr lang="en-US" dirty="0"/>
              <a:t>If a students does not have a partner, we can set “partner” to null (this is allowed, denoting ‘unknown’ or ‘inapplicable’- i.e., we do not know the partner yet, or there is no partner)</a:t>
            </a:r>
          </a:p>
          <a:p>
            <a:pPr lvl="1">
              <a:lnSpc>
                <a:spcPct val="90000"/>
              </a:lnSpc>
            </a:pPr>
            <a:endParaRPr lang="en-US" sz="2600" dirty="0"/>
          </a:p>
        </p:txBody>
      </p:sp>
      <p:sp>
        <p:nvSpPr>
          <p:cNvPr id="2" name="Slide Number Placeholder 1">
            <a:extLst>
              <a:ext uri="{FF2B5EF4-FFF2-40B4-BE49-F238E27FC236}">
                <a16:creationId xmlns:a16="http://schemas.microsoft.com/office/drawing/2014/main" id="{21DA5A1F-9593-2325-CB21-CB16E0EACB5A}"/>
              </a:ext>
            </a:extLst>
          </p:cNvPr>
          <p:cNvSpPr>
            <a:spLocks noGrp="1"/>
          </p:cNvSpPr>
          <p:nvPr>
            <p:ph type="sldNum" sz="quarter" idx="12"/>
          </p:nvPr>
        </p:nvSpPr>
        <p:spPr/>
        <p:txBody>
          <a:bodyPr/>
          <a:lstStyle/>
          <a:p>
            <a:fld id="{5FCA4BC5-AE2A-401E-9EDD-DF8812A14A6A}" type="slidenum">
              <a:rPr lang="en-US" smtClean="0"/>
              <a:t>29</a:t>
            </a:fld>
            <a:endParaRPr lang="en-US"/>
          </a:p>
        </p:txBody>
      </p:sp>
    </p:spTree>
    <p:extLst>
      <p:ext uri="{BB962C8B-B14F-4D97-AF65-F5344CB8AC3E}">
        <p14:creationId xmlns:p14="http://schemas.microsoft.com/office/powerpoint/2010/main" val="3456932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42900" y="228600"/>
            <a:ext cx="8458200" cy="868362"/>
          </a:xfrm>
          <a:noFill/>
          <a:ln/>
        </p:spPr>
        <p:txBody>
          <a:bodyPr>
            <a:noAutofit/>
          </a:bodyPr>
          <a:lstStyle/>
          <a:p>
            <a:r>
              <a:rPr lang="en-US" sz="3600" dirty="0"/>
              <a:t>Where do Integrity Constraints Come From?</a:t>
            </a:r>
          </a:p>
        </p:txBody>
      </p:sp>
      <p:sp>
        <p:nvSpPr>
          <p:cNvPr id="39939" name="Rectangle 3"/>
          <p:cNvSpPr>
            <a:spLocks noGrp="1" noChangeArrowheads="1"/>
          </p:cNvSpPr>
          <p:nvPr>
            <p:ph type="body" idx="1"/>
          </p:nvPr>
        </p:nvSpPr>
        <p:spPr>
          <a:xfrm>
            <a:off x="304800" y="1227138"/>
            <a:ext cx="8686800" cy="5181600"/>
          </a:xfrm>
          <a:noFill/>
          <a:ln/>
        </p:spPr>
        <p:txBody>
          <a:bodyPr>
            <a:normAutofit fontScale="92500"/>
          </a:bodyPr>
          <a:lstStyle/>
          <a:p>
            <a:pPr>
              <a:buFont typeface="Wingdings" pitchFamily="2" charset="2"/>
              <a:buChar char="§"/>
            </a:pPr>
            <a:r>
              <a:rPr lang="en-US" dirty="0"/>
              <a:t>ICs are based upon the semantics of the real-world enterprise that is being described in the database relations</a:t>
            </a:r>
          </a:p>
          <a:p>
            <a:pPr>
              <a:buFont typeface="Wingdings" pitchFamily="2" charset="2"/>
              <a:buChar char="§"/>
            </a:pPr>
            <a:endParaRPr lang="en-US" dirty="0"/>
          </a:p>
          <a:p>
            <a:pPr>
              <a:buFont typeface="Wingdings" pitchFamily="2" charset="2"/>
              <a:buChar char="§"/>
            </a:pPr>
            <a:r>
              <a:rPr lang="en-US" dirty="0"/>
              <a:t>We can check a database instance to see if an IC is violated, but we can </a:t>
            </a:r>
            <a:r>
              <a:rPr lang="en-US" dirty="0">
                <a:solidFill>
                  <a:srgbClr val="0070C0"/>
                </a:solidFill>
              </a:rPr>
              <a:t>NEVER</a:t>
            </a:r>
            <a:r>
              <a:rPr lang="en-US" dirty="0"/>
              <a:t> infer that an IC is true by looking at an instance</a:t>
            </a:r>
          </a:p>
          <a:p>
            <a:pPr lvl="1">
              <a:buSzPct val="75000"/>
              <a:buFont typeface="Wingdings" pitchFamily="2" charset="2"/>
              <a:buChar char="§"/>
            </a:pPr>
            <a:r>
              <a:rPr lang="en-US" dirty="0"/>
              <a:t>An IC is a statement about </a:t>
            </a:r>
            <a:r>
              <a:rPr lang="en-US" i="1" u="sng" dirty="0"/>
              <a:t>all possible</a:t>
            </a:r>
            <a:r>
              <a:rPr lang="en-US" i="1" dirty="0"/>
              <a:t> </a:t>
            </a:r>
            <a:r>
              <a:rPr lang="en-US" dirty="0"/>
              <a:t>instances!</a:t>
            </a:r>
          </a:p>
          <a:p>
            <a:pPr lvl="1">
              <a:buSzPct val="75000"/>
              <a:buFont typeface="Wingdings" pitchFamily="2" charset="2"/>
              <a:buChar char="§"/>
            </a:pPr>
            <a:r>
              <a:rPr lang="en-US" dirty="0"/>
              <a:t>From the “Students” relation, we know </a:t>
            </a:r>
            <a:r>
              <a:rPr lang="en-US" i="1" dirty="0"/>
              <a:t>name</a:t>
            </a:r>
            <a:r>
              <a:rPr lang="en-US" dirty="0"/>
              <a:t> is not a key, but the assertion that </a:t>
            </a:r>
            <a:r>
              <a:rPr lang="en-US" i="1" dirty="0" err="1"/>
              <a:t>sid</a:t>
            </a:r>
            <a:r>
              <a:rPr lang="en-US" dirty="0"/>
              <a:t> is a key is given to us</a:t>
            </a:r>
          </a:p>
          <a:p>
            <a:pPr lvl="1">
              <a:buSzPct val="75000"/>
              <a:buFont typeface="Wingdings" pitchFamily="2" charset="2"/>
              <a:buChar char="§"/>
            </a:pPr>
            <a:endParaRPr lang="en-US" dirty="0"/>
          </a:p>
          <a:p>
            <a:r>
              <a:rPr lang="en-US" dirty="0"/>
              <a:t>Key and foreign key are the most common ICs; more general ICs are supported too</a:t>
            </a:r>
          </a:p>
        </p:txBody>
      </p:sp>
      <p:sp>
        <p:nvSpPr>
          <p:cNvPr id="2" name="Slide Number Placeholder 1">
            <a:extLst>
              <a:ext uri="{FF2B5EF4-FFF2-40B4-BE49-F238E27FC236}">
                <a16:creationId xmlns:a16="http://schemas.microsoft.com/office/drawing/2014/main" id="{6C9A8682-51C2-FF53-3B3A-20E0CD04F682}"/>
              </a:ext>
            </a:extLst>
          </p:cNvPr>
          <p:cNvSpPr>
            <a:spLocks noGrp="1"/>
          </p:cNvSpPr>
          <p:nvPr>
            <p:ph type="sldNum" sz="quarter" idx="12"/>
          </p:nvPr>
        </p:nvSpPr>
        <p:spPr/>
        <p:txBody>
          <a:bodyPr/>
          <a:lstStyle/>
          <a:p>
            <a:fld id="{5FCA4BC5-AE2A-401E-9EDD-DF8812A14A6A}" type="slidenum">
              <a:rPr lang="en-US" smtClean="0"/>
              <a:t>30</a:t>
            </a:fld>
            <a:endParaRPr lang="en-US"/>
          </a:p>
        </p:txBody>
      </p:sp>
    </p:spTree>
    <p:extLst>
      <p:ext uri="{BB962C8B-B14F-4D97-AF65-F5344CB8AC3E}">
        <p14:creationId xmlns:p14="http://schemas.microsoft.com/office/powerpoint/2010/main" val="2640054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63"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64" name="Rectangle 4"/>
          <p:cNvSpPr>
            <a:spLocks noGrp="1" noChangeArrowheads="1"/>
          </p:cNvSpPr>
          <p:nvPr>
            <p:ph type="title"/>
          </p:nvPr>
        </p:nvSpPr>
        <p:spPr>
          <a:noFill/>
          <a:ln/>
        </p:spPr>
        <p:txBody>
          <a:bodyPr/>
          <a:lstStyle/>
          <a:p>
            <a:r>
              <a:rPr lang="en-US"/>
              <a:t>Views</a:t>
            </a:r>
          </a:p>
        </p:txBody>
      </p:sp>
      <p:sp>
        <p:nvSpPr>
          <p:cNvPr id="66565" name="Rectangle 5"/>
          <p:cNvSpPr>
            <a:spLocks noGrp="1" noChangeArrowheads="1"/>
          </p:cNvSpPr>
          <p:nvPr>
            <p:ph type="body" idx="1"/>
          </p:nvPr>
        </p:nvSpPr>
        <p:spPr>
          <a:xfrm>
            <a:off x="381000" y="1066800"/>
            <a:ext cx="8610600" cy="4305300"/>
          </a:xfrm>
          <a:noFill/>
          <a:ln/>
        </p:spPr>
        <p:txBody>
          <a:bodyPr>
            <a:normAutofit/>
          </a:bodyPr>
          <a:lstStyle/>
          <a:p>
            <a:pPr>
              <a:buFont typeface="Wingdings" pitchFamily="2" charset="2"/>
              <a:buChar char="§"/>
            </a:pPr>
            <a:r>
              <a:rPr lang="en-US" sz="2400" dirty="0"/>
              <a:t>A </a:t>
            </a:r>
            <a:r>
              <a:rPr lang="en-US" sz="2400" dirty="0">
                <a:solidFill>
                  <a:srgbClr val="0070C0"/>
                </a:solidFill>
              </a:rPr>
              <a:t>view</a:t>
            </a:r>
            <a:r>
              <a:rPr lang="en-US" sz="2400" dirty="0">
                <a:solidFill>
                  <a:schemeClr val="accent2"/>
                </a:solidFill>
              </a:rPr>
              <a:t> </a:t>
            </a:r>
            <a:r>
              <a:rPr lang="en-US" sz="2400" dirty="0"/>
              <a:t>is a table whose rows are not explicitly stored but computed as needed</a:t>
            </a:r>
          </a:p>
        </p:txBody>
      </p:sp>
      <p:sp>
        <p:nvSpPr>
          <p:cNvPr id="66566" name="Rectangle 6"/>
          <p:cNvSpPr>
            <a:spLocks noChangeArrowheads="1"/>
          </p:cNvSpPr>
          <p:nvPr/>
        </p:nvSpPr>
        <p:spPr bwMode="auto">
          <a:xfrm>
            <a:off x="1371600" y="2090870"/>
            <a:ext cx="5956300" cy="1320874"/>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000" dirty="0">
                <a:solidFill>
                  <a:schemeClr val="accent2"/>
                </a:solidFill>
                <a:latin typeface="Book Antiqua" pitchFamily="18" charset="0"/>
              </a:rPr>
              <a:t>CREATE  VIEW  </a:t>
            </a:r>
            <a:r>
              <a:rPr lang="en-US" dirty="0" err="1">
                <a:latin typeface="Book Antiqua" pitchFamily="18" charset="0"/>
              </a:rPr>
              <a:t>YoungActiveStudents</a:t>
            </a:r>
            <a:r>
              <a:rPr lang="en-US" dirty="0">
                <a:latin typeface="Book Antiqua" pitchFamily="18" charset="0"/>
              </a:rPr>
              <a:t> (name, grade)</a:t>
            </a:r>
          </a:p>
          <a:p>
            <a:r>
              <a:rPr lang="en-US" dirty="0">
                <a:latin typeface="Book Antiqua" pitchFamily="18" charset="0"/>
              </a:rPr>
              <a:t>	</a:t>
            </a:r>
            <a:r>
              <a:rPr lang="en-US" sz="2000" dirty="0">
                <a:solidFill>
                  <a:schemeClr val="accent2"/>
                </a:solidFill>
                <a:latin typeface="Book Antiqua" pitchFamily="18" charset="0"/>
              </a:rPr>
              <a:t>AS</a:t>
            </a:r>
            <a:r>
              <a:rPr lang="en-US" sz="2000" dirty="0">
                <a:latin typeface="Book Antiqua" pitchFamily="18" charset="0"/>
              </a:rPr>
              <a:t>  SELECT   </a:t>
            </a:r>
            <a:r>
              <a:rPr lang="en-US" dirty="0">
                <a:latin typeface="Book Antiqua" pitchFamily="18" charset="0"/>
              </a:rPr>
              <a:t>S.name, </a:t>
            </a:r>
            <a:r>
              <a:rPr lang="en-US" dirty="0" err="1">
                <a:latin typeface="Book Antiqua" pitchFamily="18" charset="0"/>
              </a:rPr>
              <a:t>E.grade</a:t>
            </a:r>
            <a:endParaRPr lang="en-US" dirty="0">
              <a:latin typeface="Book Antiqua" pitchFamily="18" charset="0"/>
            </a:endParaRPr>
          </a:p>
          <a:p>
            <a:r>
              <a:rPr lang="en-US" dirty="0">
                <a:latin typeface="Book Antiqua" pitchFamily="18" charset="0"/>
              </a:rPr>
              <a:t>	</a:t>
            </a:r>
            <a:r>
              <a:rPr lang="en-US" sz="2000" dirty="0">
                <a:latin typeface="Book Antiqua" pitchFamily="18" charset="0"/>
              </a:rPr>
              <a:t>FROM</a:t>
            </a:r>
            <a:r>
              <a:rPr lang="en-US" dirty="0">
                <a:latin typeface="Book Antiqua" pitchFamily="18" charset="0"/>
              </a:rPr>
              <a:t>  Students S, Enrolled E</a:t>
            </a:r>
          </a:p>
          <a:p>
            <a:r>
              <a:rPr lang="en-US" dirty="0">
                <a:latin typeface="Book Antiqua" pitchFamily="18" charset="0"/>
              </a:rPr>
              <a:t>	</a:t>
            </a:r>
            <a:r>
              <a:rPr lang="en-US" sz="2000" dirty="0">
                <a:latin typeface="Book Antiqua" pitchFamily="18" charset="0"/>
              </a:rPr>
              <a:t>WHERE</a:t>
            </a:r>
            <a:r>
              <a:rPr lang="en-US" dirty="0">
                <a:latin typeface="Book Antiqua" pitchFamily="18" charset="0"/>
              </a:rPr>
              <a:t>  </a:t>
            </a:r>
            <a:r>
              <a:rPr lang="en-US" dirty="0" err="1">
                <a:latin typeface="Book Antiqua" pitchFamily="18" charset="0"/>
              </a:rPr>
              <a:t>S.sid</a:t>
            </a:r>
            <a:r>
              <a:rPr lang="en-US" dirty="0">
                <a:latin typeface="Book Antiqua" pitchFamily="18" charset="0"/>
              </a:rPr>
              <a:t> = </a:t>
            </a:r>
            <a:r>
              <a:rPr lang="en-US" dirty="0" err="1">
                <a:latin typeface="Book Antiqua" pitchFamily="18" charset="0"/>
              </a:rPr>
              <a:t>E.sid</a:t>
            </a:r>
            <a:r>
              <a:rPr lang="en-US" dirty="0">
                <a:latin typeface="Book Antiqua" pitchFamily="18" charset="0"/>
              </a:rPr>
              <a:t> and </a:t>
            </a:r>
            <a:r>
              <a:rPr lang="en-US" dirty="0" err="1">
                <a:latin typeface="Book Antiqua" pitchFamily="18" charset="0"/>
              </a:rPr>
              <a:t>S.age</a:t>
            </a:r>
            <a:r>
              <a:rPr lang="en-US" dirty="0">
                <a:latin typeface="Book Antiqua" pitchFamily="18" charset="0"/>
              </a:rPr>
              <a:t>&lt;21</a:t>
            </a:r>
          </a:p>
        </p:txBody>
      </p:sp>
      <p:sp>
        <p:nvSpPr>
          <p:cNvPr id="66567" name="Rectangle 7"/>
          <p:cNvSpPr>
            <a:spLocks noChangeArrowheads="1"/>
          </p:cNvSpPr>
          <p:nvPr/>
        </p:nvSpPr>
        <p:spPr bwMode="auto">
          <a:xfrm>
            <a:off x="304800" y="3657600"/>
            <a:ext cx="8305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342900" indent="-342900">
              <a:spcBef>
                <a:spcPct val="20000"/>
              </a:spcBef>
              <a:buClr>
                <a:schemeClr val="tx1"/>
              </a:buClr>
              <a:buSzPct val="100000"/>
              <a:buFont typeface="Wingdings" pitchFamily="2" charset="2"/>
              <a:buChar char="§"/>
            </a:pPr>
            <a:r>
              <a:rPr lang="en-US" sz="2400" dirty="0"/>
              <a:t>Views can be queried</a:t>
            </a:r>
          </a:p>
          <a:p>
            <a:pPr marL="800100" lvl="1" indent="-342900">
              <a:spcBef>
                <a:spcPct val="20000"/>
              </a:spcBef>
              <a:buClr>
                <a:schemeClr val="tx1"/>
              </a:buClr>
              <a:buSzPct val="100000"/>
              <a:buFont typeface="Wingdings" pitchFamily="2" charset="2"/>
              <a:buChar char="§"/>
            </a:pPr>
            <a:r>
              <a:rPr lang="en-US" sz="2000" dirty="0"/>
              <a:t>Querying </a:t>
            </a:r>
            <a:r>
              <a:rPr lang="en-US" sz="2000" dirty="0" err="1"/>
              <a:t>YoungActiveStudents</a:t>
            </a:r>
            <a:r>
              <a:rPr lang="en-US" sz="2000" dirty="0"/>
              <a:t> would necessitate computing it first then applying the query on the result as being like any other relation</a:t>
            </a:r>
          </a:p>
          <a:p>
            <a:pPr marL="800100" lvl="1" indent="-342900">
              <a:spcBef>
                <a:spcPct val="20000"/>
              </a:spcBef>
              <a:buClr>
                <a:schemeClr val="tx1"/>
              </a:buClr>
              <a:buSzPct val="75000"/>
              <a:buFont typeface="Wingdings" pitchFamily="2" charset="2"/>
              <a:buChar char="§"/>
            </a:pPr>
            <a:endParaRPr lang="en-US" sz="2000" dirty="0"/>
          </a:p>
          <a:p>
            <a:pPr marL="457200" indent="-457200">
              <a:spcBef>
                <a:spcPct val="20000"/>
              </a:spcBef>
              <a:buClr>
                <a:schemeClr val="tx1"/>
              </a:buClr>
              <a:buSzPct val="100000"/>
              <a:buFont typeface="Wingdings" pitchFamily="2" charset="2"/>
              <a:buChar char="§"/>
            </a:pPr>
            <a:r>
              <a:rPr lang="en-US" sz="2400" dirty="0"/>
              <a:t>Views can be dropped using the </a:t>
            </a:r>
            <a:r>
              <a:rPr lang="en-US" sz="2400" dirty="0">
                <a:solidFill>
                  <a:srgbClr val="0070C0"/>
                </a:solidFill>
              </a:rPr>
              <a:t>DROP VIEW </a:t>
            </a:r>
            <a:r>
              <a:rPr lang="en-US" sz="2400" dirty="0"/>
              <a:t>command</a:t>
            </a:r>
          </a:p>
          <a:p>
            <a:pPr marL="742950" lvl="1" indent="-285750">
              <a:spcBef>
                <a:spcPct val="20000"/>
              </a:spcBef>
              <a:buClr>
                <a:schemeClr val="tx1"/>
              </a:buClr>
              <a:buSzPct val="100000"/>
              <a:buFont typeface="Wingdings" pitchFamily="2" charset="2"/>
              <a:buChar char="§"/>
            </a:pPr>
            <a:r>
              <a:rPr lang="en-US" sz="2000" dirty="0"/>
              <a:t>How to handle </a:t>
            </a:r>
            <a:r>
              <a:rPr lang="en-US" sz="2000" dirty="0">
                <a:solidFill>
                  <a:srgbClr val="0070C0"/>
                </a:solidFill>
              </a:rPr>
              <a:t>DROP TABLE </a:t>
            </a:r>
            <a:r>
              <a:rPr lang="en-US" sz="2000" dirty="0"/>
              <a:t>if there’s a view on the table?</a:t>
            </a:r>
          </a:p>
          <a:p>
            <a:pPr marL="1257300" lvl="2" indent="-342900">
              <a:spcBef>
                <a:spcPct val="20000"/>
              </a:spcBef>
              <a:buClr>
                <a:schemeClr val="tx1"/>
              </a:buClr>
              <a:buSzPct val="100000"/>
              <a:buFont typeface="Wingdings" pitchFamily="2" charset="2"/>
              <a:buChar char="§"/>
            </a:pPr>
            <a:r>
              <a:rPr lang="en-US" sz="2000" dirty="0"/>
              <a:t>DROP TABLE command has options to let the user specify this</a:t>
            </a:r>
          </a:p>
        </p:txBody>
      </p:sp>
      <p:sp>
        <p:nvSpPr>
          <p:cNvPr id="2" name="Slide Number Placeholder 1">
            <a:extLst>
              <a:ext uri="{FF2B5EF4-FFF2-40B4-BE49-F238E27FC236}">
                <a16:creationId xmlns:a16="http://schemas.microsoft.com/office/drawing/2014/main" id="{DA32088B-91FD-9649-2E44-AC239C049C48}"/>
              </a:ext>
            </a:extLst>
          </p:cNvPr>
          <p:cNvSpPr>
            <a:spLocks noGrp="1"/>
          </p:cNvSpPr>
          <p:nvPr>
            <p:ph type="sldNum" sz="quarter" idx="12"/>
          </p:nvPr>
        </p:nvSpPr>
        <p:spPr/>
        <p:txBody>
          <a:bodyPr/>
          <a:lstStyle/>
          <a:p>
            <a:fld id="{5FCA4BC5-AE2A-401E-9EDD-DF8812A14A6A}" type="slidenum">
              <a:rPr lang="en-US" smtClean="0"/>
              <a:t>31</a:t>
            </a:fld>
            <a:endParaRPr lang="en-US"/>
          </a:p>
        </p:txBody>
      </p:sp>
    </p:spTree>
    <p:extLst>
      <p:ext uri="{BB962C8B-B14F-4D97-AF65-F5344CB8AC3E}">
        <p14:creationId xmlns:p14="http://schemas.microsoft.com/office/powerpoint/2010/main" val="945884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1"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2" name="Rectangle 4"/>
          <p:cNvSpPr>
            <a:spLocks noGrp="1" noChangeArrowheads="1"/>
          </p:cNvSpPr>
          <p:nvPr>
            <p:ph type="title"/>
          </p:nvPr>
        </p:nvSpPr>
        <p:spPr>
          <a:noFill/>
          <a:ln/>
        </p:spPr>
        <p:txBody>
          <a:bodyPr/>
          <a:lstStyle/>
          <a:p>
            <a:r>
              <a:rPr lang="en-US" dirty="0"/>
              <a:t>Views and Security</a:t>
            </a:r>
          </a:p>
        </p:txBody>
      </p:sp>
      <p:sp>
        <p:nvSpPr>
          <p:cNvPr id="68613" name="Rectangle 5"/>
          <p:cNvSpPr>
            <a:spLocks noGrp="1" noChangeArrowheads="1"/>
          </p:cNvSpPr>
          <p:nvPr>
            <p:ph type="body" idx="1"/>
          </p:nvPr>
        </p:nvSpPr>
        <p:spPr>
          <a:xfrm>
            <a:off x="228600" y="1371600"/>
            <a:ext cx="8382000" cy="5334000"/>
          </a:xfrm>
          <a:noFill/>
          <a:ln/>
        </p:spPr>
        <p:txBody>
          <a:bodyPr>
            <a:normAutofit/>
          </a:bodyPr>
          <a:lstStyle/>
          <a:p>
            <a:pPr>
              <a:buFont typeface="Wingdings" pitchFamily="2" charset="2"/>
              <a:buChar char="§"/>
            </a:pPr>
            <a:r>
              <a:rPr lang="en-US" sz="2400" dirty="0"/>
              <a:t>Views can be used to present necessary information, while hiding details in underlying relation(s)</a:t>
            </a:r>
          </a:p>
          <a:p>
            <a:pPr lvl="1">
              <a:buFont typeface="Wingdings" pitchFamily="2" charset="2"/>
              <a:buChar char="§"/>
            </a:pPr>
            <a:r>
              <a:rPr lang="en-US" sz="2200" dirty="0"/>
              <a:t>If the schema of an old relation is </a:t>
            </a:r>
            <a:r>
              <a:rPr lang="en-US" sz="2200" i="1" dirty="0"/>
              <a:t>changed</a:t>
            </a:r>
            <a:r>
              <a:rPr lang="en-US" sz="2200" dirty="0"/>
              <a:t>, a view can be defined to represent the old schema</a:t>
            </a:r>
          </a:p>
          <a:p>
            <a:pPr lvl="2">
              <a:buFont typeface="Wingdings" pitchFamily="2" charset="2"/>
              <a:buChar char="§"/>
            </a:pPr>
            <a:r>
              <a:rPr lang="en-US" sz="2000" dirty="0"/>
              <a:t>This allows applications to </a:t>
            </a:r>
            <a:r>
              <a:rPr lang="en-US" sz="2000" i="1" dirty="0"/>
              <a:t>transparently</a:t>
            </a:r>
            <a:r>
              <a:rPr lang="en-US" sz="2000" dirty="0"/>
              <a:t> assume the old schema</a:t>
            </a:r>
          </a:p>
          <a:p>
            <a:pPr lvl="1">
              <a:buFont typeface="Wingdings" pitchFamily="2" charset="2"/>
              <a:buChar char="§"/>
            </a:pPr>
            <a:endParaRPr lang="en-US" sz="2400" dirty="0"/>
          </a:p>
          <a:p>
            <a:pPr lvl="1">
              <a:buFont typeface="Wingdings" pitchFamily="2" charset="2"/>
              <a:buChar char="§"/>
            </a:pPr>
            <a:endParaRPr lang="en-US" sz="2400" dirty="0"/>
          </a:p>
          <a:p>
            <a:pPr lvl="1">
              <a:buFont typeface="Wingdings" pitchFamily="2" charset="2"/>
              <a:buChar char="§"/>
            </a:pPr>
            <a:r>
              <a:rPr lang="en-US" sz="2400" dirty="0"/>
              <a:t>Views can be defined to give a group of users access to just the information they are allowed to see</a:t>
            </a:r>
          </a:p>
          <a:p>
            <a:pPr lvl="2">
              <a:buFont typeface="Wingdings" pitchFamily="2" charset="2"/>
              <a:buChar char="§"/>
            </a:pPr>
            <a:r>
              <a:rPr lang="en-US" sz="2200" dirty="0"/>
              <a:t>E.g., we can define a view that allows students to see other students’ names and ages, but not GPAs (also students can be prevented from accessing the underlying “Students” relation)</a:t>
            </a:r>
          </a:p>
        </p:txBody>
      </p:sp>
      <p:sp>
        <p:nvSpPr>
          <p:cNvPr id="2" name="Slide Number Placeholder 1">
            <a:extLst>
              <a:ext uri="{FF2B5EF4-FFF2-40B4-BE49-F238E27FC236}">
                <a16:creationId xmlns:a16="http://schemas.microsoft.com/office/drawing/2014/main" id="{EA9F23E4-9061-4E3D-6F5C-78940876ACCC}"/>
              </a:ext>
            </a:extLst>
          </p:cNvPr>
          <p:cNvSpPr>
            <a:spLocks noGrp="1"/>
          </p:cNvSpPr>
          <p:nvPr>
            <p:ph type="sldNum" sz="quarter" idx="12"/>
          </p:nvPr>
        </p:nvSpPr>
        <p:spPr/>
        <p:txBody>
          <a:bodyPr/>
          <a:lstStyle/>
          <a:p>
            <a:fld id="{5FCA4BC5-AE2A-401E-9EDD-DF8812A14A6A}" type="slidenum">
              <a:rPr lang="en-US" smtClean="0"/>
              <a:t>32</a:t>
            </a:fld>
            <a:endParaRPr lang="en-US"/>
          </a:p>
        </p:txBody>
      </p:sp>
      <p:sp>
        <p:nvSpPr>
          <p:cNvPr id="3" name="Rectangle: Rounded Corners 2">
            <a:extLst>
              <a:ext uri="{FF2B5EF4-FFF2-40B4-BE49-F238E27FC236}">
                <a16:creationId xmlns:a16="http://schemas.microsoft.com/office/drawing/2014/main" id="{6A3ADC04-E552-637D-FD39-B55A32F7F5FC}"/>
              </a:ext>
            </a:extLst>
          </p:cNvPr>
          <p:cNvSpPr/>
          <p:nvPr/>
        </p:nvSpPr>
        <p:spPr>
          <a:xfrm>
            <a:off x="685800" y="2209800"/>
            <a:ext cx="8001000" cy="114300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1B6395-8E9A-F73F-2740-552089C97AEC}"/>
              </a:ext>
            </a:extLst>
          </p:cNvPr>
          <p:cNvSpPr txBox="1"/>
          <p:nvPr/>
        </p:nvSpPr>
        <p:spPr>
          <a:xfrm>
            <a:off x="2312633" y="3396605"/>
            <a:ext cx="4572000" cy="461665"/>
          </a:xfrm>
          <a:prstGeom prst="rect">
            <a:avLst/>
          </a:prstGeom>
          <a:noFill/>
        </p:spPr>
        <p:txBody>
          <a:bodyPr wrap="square">
            <a:spAutoFit/>
          </a:bodyPr>
          <a:lstStyle/>
          <a:p>
            <a:pPr algn="ctr"/>
            <a:r>
              <a:rPr lang="en-US" sz="2400" b="1" dirty="0">
                <a:solidFill>
                  <a:srgbClr val="C00000"/>
                </a:solidFill>
              </a:rPr>
              <a:t>Logical Data Independence!</a:t>
            </a:r>
          </a:p>
        </p:txBody>
      </p:sp>
      <p:sp>
        <p:nvSpPr>
          <p:cNvPr id="7" name="Rectangle: Rounded Corners 6">
            <a:extLst>
              <a:ext uri="{FF2B5EF4-FFF2-40B4-BE49-F238E27FC236}">
                <a16:creationId xmlns:a16="http://schemas.microsoft.com/office/drawing/2014/main" id="{08FDBA68-B5CA-71B4-5D0D-DB99D85E4D78}"/>
              </a:ext>
            </a:extLst>
          </p:cNvPr>
          <p:cNvSpPr/>
          <p:nvPr/>
        </p:nvSpPr>
        <p:spPr>
          <a:xfrm>
            <a:off x="685801" y="4132908"/>
            <a:ext cx="8001000" cy="1991022"/>
          </a:xfrm>
          <a:prstGeom prst="roundRect">
            <a:avLst>
              <a:gd name="adj" fmla="val 12654"/>
            </a:avLst>
          </a:prstGeom>
          <a:noFill/>
          <a:ln>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30F5739-3D2C-6499-2E4E-D578D7877F22}"/>
              </a:ext>
            </a:extLst>
          </p:cNvPr>
          <p:cNvSpPr txBox="1"/>
          <p:nvPr/>
        </p:nvSpPr>
        <p:spPr>
          <a:xfrm>
            <a:off x="2401040" y="6167735"/>
            <a:ext cx="4572000" cy="461665"/>
          </a:xfrm>
          <a:prstGeom prst="rect">
            <a:avLst/>
          </a:prstGeom>
          <a:noFill/>
        </p:spPr>
        <p:txBody>
          <a:bodyPr wrap="square">
            <a:spAutoFit/>
          </a:bodyPr>
          <a:lstStyle/>
          <a:p>
            <a:pPr algn="ctr"/>
            <a:r>
              <a:rPr lang="en-US" sz="2400" b="1" dirty="0">
                <a:solidFill>
                  <a:schemeClr val="accent5">
                    <a:lumMod val="75000"/>
                  </a:schemeClr>
                </a:solidFill>
              </a:rPr>
              <a:t>Security!</a:t>
            </a:r>
          </a:p>
        </p:txBody>
      </p:sp>
    </p:spTree>
    <p:extLst>
      <p:ext uri="{BB962C8B-B14F-4D97-AF65-F5344CB8AC3E}">
        <p14:creationId xmlns:p14="http://schemas.microsoft.com/office/powerpoint/2010/main" val="250397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8613">
                                            <p:txEl>
                                              <p:pRg st="5" end="5"/>
                                            </p:txEl>
                                          </p:spTgt>
                                        </p:tgtEl>
                                        <p:attrNameLst>
                                          <p:attrName>style.visibility</p:attrName>
                                        </p:attrNameLst>
                                      </p:cBhvr>
                                      <p:to>
                                        <p:strVal val="visible"/>
                                      </p:to>
                                    </p:set>
                                    <p:animEffect transition="in" filter="fade">
                                      <p:cBhvr>
                                        <p:cTn id="15" dur="500"/>
                                        <p:tgtEl>
                                          <p:spTgt spid="6861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8613">
                                            <p:txEl>
                                              <p:pRg st="6" end="6"/>
                                            </p:txEl>
                                          </p:spTgt>
                                        </p:tgtEl>
                                        <p:attrNameLst>
                                          <p:attrName>style.visibility</p:attrName>
                                        </p:attrNameLst>
                                      </p:cBhvr>
                                      <p:to>
                                        <p:strVal val="visible"/>
                                      </p:to>
                                    </p:set>
                                    <p:animEffect transition="in" filter="fade">
                                      <p:cBhvr>
                                        <p:cTn id="18" dur="500"/>
                                        <p:tgtEl>
                                          <p:spTgt spid="6861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animBg="1"/>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dirty="0"/>
              <a:t>Outline</a:t>
            </a:r>
          </a:p>
        </p:txBody>
      </p:sp>
      <p:graphicFrame>
        <p:nvGraphicFramePr>
          <p:cNvPr id="22" name="Diagram 21"/>
          <p:cNvGraphicFramePr/>
          <p:nvPr/>
        </p:nvGraphicFramePr>
        <p:xfrm>
          <a:off x="1295400" y="1524000"/>
          <a:ext cx="6477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7772400" y="4343400"/>
            <a:ext cx="1021433" cy="861774"/>
          </a:xfrm>
          <a:prstGeom prst="rect">
            <a:avLst/>
          </a:prstGeom>
          <a:noFill/>
        </p:spPr>
        <p:txBody>
          <a:bodyPr wrap="none" rtlCol="0">
            <a:spAutoFit/>
          </a:bodyPr>
          <a:lstStyle/>
          <a:p>
            <a:pPr marL="685800" indent="-685800">
              <a:buClr>
                <a:schemeClr val="tx1"/>
              </a:buClr>
              <a:buFont typeface="Wingdings" pitchFamily="2" charset="2"/>
              <a:buChar char="ü"/>
            </a:pPr>
            <a:r>
              <a:rPr lang="en-US" sz="5000" dirty="0"/>
              <a:t> </a:t>
            </a:r>
          </a:p>
        </p:txBody>
      </p:sp>
      <p:sp>
        <p:nvSpPr>
          <p:cNvPr id="2" name="Slide Number Placeholder 1">
            <a:extLst>
              <a:ext uri="{FF2B5EF4-FFF2-40B4-BE49-F238E27FC236}">
                <a16:creationId xmlns:a16="http://schemas.microsoft.com/office/drawing/2014/main" id="{B7AAF2C3-7446-06C8-E7D7-24AB17D76CEC}"/>
              </a:ext>
            </a:extLst>
          </p:cNvPr>
          <p:cNvSpPr>
            <a:spLocks noGrp="1"/>
          </p:cNvSpPr>
          <p:nvPr>
            <p:ph type="sldNum" sz="quarter" idx="12"/>
          </p:nvPr>
        </p:nvSpPr>
        <p:spPr/>
        <p:txBody>
          <a:bodyPr/>
          <a:lstStyle/>
          <a:p>
            <a:fld id="{5FCA4BC5-AE2A-401E-9EDD-DF8812A14A6A}" type="slidenum">
              <a:rPr lang="en-US" smtClean="0"/>
              <a:t>33</a:t>
            </a:fld>
            <a:endParaRPr lang="en-US" dirty="0"/>
          </a:p>
        </p:txBody>
      </p:sp>
    </p:spTree>
    <p:extLst>
      <p:ext uri="{BB962C8B-B14F-4D97-AF65-F5344CB8AC3E}">
        <p14:creationId xmlns:p14="http://schemas.microsoft.com/office/powerpoint/2010/main" val="932703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788F-5B46-FBFE-6837-41649D28C90F}"/>
              </a:ext>
            </a:extLst>
          </p:cNvPr>
          <p:cNvSpPr>
            <a:spLocks noGrp="1"/>
          </p:cNvSpPr>
          <p:nvPr>
            <p:ph type="title"/>
          </p:nvPr>
        </p:nvSpPr>
        <p:spPr/>
        <p:txBody>
          <a:bodyPr/>
          <a:lstStyle/>
          <a:p>
            <a:r>
              <a:rPr lang="en-US" dirty="0"/>
              <a:t>Strong Entity Sets to Tables</a:t>
            </a:r>
          </a:p>
        </p:txBody>
      </p:sp>
      <p:sp>
        <p:nvSpPr>
          <p:cNvPr id="4" name="Slide Number Placeholder 3">
            <a:extLst>
              <a:ext uri="{FF2B5EF4-FFF2-40B4-BE49-F238E27FC236}">
                <a16:creationId xmlns:a16="http://schemas.microsoft.com/office/drawing/2014/main" id="{BA5800E8-4DD0-9EC7-8C78-1FB4CE5E1089}"/>
              </a:ext>
            </a:extLst>
          </p:cNvPr>
          <p:cNvSpPr>
            <a:spLocks noGrp="1"/>
          </p:cNvSpPr>
          <p:nvPr>
            <p:ph type="sldNum" sz="quarter" idx="12"/>
          </p:nvPr>
        </p:nvSpPr>
        <p:spPr/>
        <p:txBody>
          <a:bodyPr/>
          <a:lstStyle/>
          <a:p>
            <a:fld id="{5FCA4BC5-AE2A-401E-9EDD-DF8812A14A6A}" type="slidenum">
              <a:rPr lang="en-US" smtClean="0"/>
              <a:t>34</a:t>
            </a:fld>
            <a:endParaRPr lang="en-US" dirty="0"/>
          </a:p>
        </p:txBody>
      </p:sp>
      <p:sp>
        <p:nvSpPr>
          <p:cNvPr id="5" name="Rectangle 6">
            <a:extLst>
              <a:ext uri="{FF2B5EF4-FFF2-40B4-BE49-F238E27FC236}">
                <a16:creationId xmlns:a16="http://schemas.microsoft.com/office/drawing/2014/main" id="{A5F63468-9864-398A-0B77-54C7AB4C8531}"/>
              </a:ext>
            </a:extLst>
          </p:cNvPr>
          <p:cNvSpPr>
            <a:spLocks noChangeArrowheads="1"/>
          </p:cNvSpPr>
          <p:nvPr/>
        </p:nvSpPr>
        <p:spPr bwMode="auto">
          <a:xfrm>
            <a:off x="3810000" y="4535549"/>
            <a:ext cx="4985119" cy="1782539"/>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200" dirty="0">
                <a:latin typeface="Book Antiqua" pitchFamily="18" charset="0"/>
              </a:rPr>
              <a:t>CREATE  TABLE  Employees </a:t>
            </a:r>
          </a:p>
          <a:p>
            <a:r>
              <a:rPr lang="en-US" sz="2200" dirty="0">
                <a:latin typeface="Book Antiqua" pitchFamily="18" charset="0"/>
              </a:rPr>
              <a:t>                  	(</a:t>
            </a:r>
            <a:r>
              <a:rPr lang="en-US" sz="2200" dirty="0" err="1">
                <a:latin typeface="Book Antiqua" pitchFamily="18" charset="0"/>
              </a:rPr>
              <a:t>ssn</a:t>
            </a:r>
            <a:r>
              <a:rPr lang="en-US" sz="2200" dirty="0">
                <a:latin typeface="Book Antiqua" pitchFamily="18" charset="0"/>
              </a:rPr>
              <a:t> CHAR(11),</a:t>
            </a:r>
          </a:p>
          <a:p>
            <a:r>
              <a:rPr lang="en-US" sz="2200" dirty="0">
                <a:latin typeface="Book Antiqua" pitchFamily="18" charset="0"/>
              </a:rPr>
              <a:t>                  	name CHAR(20),</a:t>
            </a:r>
          </a:p>
          <a:p>
            <a:r>
              <a:rPr lang="en-US" sz="2200" dirty="0">
                <a:latin typeface="Book Antiqua" pitchFamily="18" charset="0"/>
              </a:rPr>
              <a:t>                  	lot  INTEGER,</a:t>
            </a:r>
          </a:p>
          <a:p>
            <a:r>
              <a:rPr lang="en-US" sz="2200" dirty="0">
                <a:latin typeface="Book Antiqua" pitchFamily="18" charset="0"/>
              </a:rPr>
              <a:t>                  	</a:t>
            </a:r>
            <a:r>
              <a:rPr lang="en-US" sz="2200" dirty="0">
                <a:solidFill>
                  <a:schemeClr val="accent2"/>
                </a:solidFill>
                <a:latin typeface="Book Antiqua" pitchFamily="18" charset="0"/>
              </a:rPr>
              <a:t>PRIMARY KEY  (</a:t>
            </a:r>
            <a:r>
              <a:rPr lang="en-US" sz="2200" dirty="0" err="1">
                <a:solidFill>
                  <a:schemeClr val="accent2"/>
                </a:solidFill>
                <a:latin typeface="Book Antiqua" pitchFamily="18" charset="0"/>
              </a:rPr>
              <a:t>ssn</a:t>
            </a:r>
            <a:r>
              <a:rPr lang="en-US" sz="2200" dirty="0">
                <a:solidFill>
                  <a:schemeClr val="accent2"/>
                </a:solidFill>
                <a:latin typeface="Book Antiqua" pitchFamily="18" charset="0"/>
              </a:rPr>
              <a:t>)</a:t>
            </a:r>
            <a:r>
              <a:rPr lang="en-US" sz="2200" dirty="0">
                <a:latin typeface="Book Antiqua" pitchFamily="18" charset="0"/>
              </a:rPr>
              <a:t>)</a:t>
            </a:r>
          </a:p>
        </p:txBody>
      </p:sp>
      <p:grpSp>
        <p:nvGrpSpPr>
          <p:cNvPr id="6" name="Group 19">
            <a:extLst>
              <a:ext uri="{FF2B5EF4-FFF2-40B4-BE49-F238E27FC236}">
                <a16:creationId xmlns:a16="http://schemas.microsoft.com/office/drawing/2014/main" id="{DB02C7B1-3393-DF8E-0653-BD4FA3D8C60E}"/>
              </a:ext>
            </a:extLst>
          </p:cNvPr>
          <p:cNvGrpSpPr>
            <a:grpSpLocks/>
          </p:cNvGrpSpPr>
          <p:nvPr/>
        </p:nvGrpSpPr>
        <p:grpSpPr bwMode="auto">
          <a:xfrm>
            <a:off x="76200" y="1676400"/>
            <a:ext cx="4406900" cy="1663700"/>
            <a:chOff x="240" y="2112"/>
            <a:chExt cx="2776" cy="1048"/>
          </a:xfrm>
        </p:grpSpPr>
        <p:grpSp>
          <p:nvGrpSpPr>
            <p:cNvPr id="7" name="Group 9">
              <a:extLst>
                <a:ext uri="{FF2B5EF4-FFF2-40B4-BE49-F238E27FC236}">
                  <a16:creationId xmlns:a16="http://schemas.microsoft.com/office/drawing/2014/main" id="{9763C64B-8DF8-47D0-1C2E-0939C0D8B8B4}"/>
                </a:ext>
              </a:extLst>
            </p:cNvPr>
            <p:cNvGrpSpPr>
              <a:grpSpLocks/>
            </p:cNvGrpSpPr>
            <p:nvPr/>
          </p:nvGrpSpPr>
          <p:grpSpPr bwMode="auto">
            <a:xfrm>
              <a:off x="1104" y="2832"/>
              <a:ext cx="1144" cy="328"/>
              <a:chOff x="1104" y="2832"/>
              <a:chExt cx="1144" cy="328"/>
            </a:xfrm>
          </p:grpSpPr>
          <p:sp>
            <p:nvSpPr>
              <p:cNvPr id="17" name="Rectangle 7">
                <a:extLst>
                  <a:ext uri="{FF2B5EF4-FFF2-40B4-BE49-F238E27FC236}">
                    <a16:creationId xmlns:a16="http://schemas.microsoft.com/office/drawing/2014/main" id="{CA4B88C9-89E3-66BE-0E59-4BA5239D455F}"/>
                  </a:ext>
                </a:extLst>
              </p:cNvPr>
              <p:cNvSpPr>
                <a:spLocks noChangeArrowheads="1"/>
              </p:cNvSpPr>
              <p:nvPr/>
            </p:nvSpPr>
            <p:spPr bwMode="auto">
              <a:xfrm>
                <a:off x="1104" y="2832"/>
                <a:ext cx="1144" cy="328"/>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8">
                <a:extLst>
                  <a:ext uri="{FF2B5EF4-FFF2-40B4-BE49-F238E27FC236}">
                    <a16:creationId xmlns:a16="http://schemas.microsoft.com/office/drawing/2014/main" id="{614B61A3-F3A6-00C0-8026-C716A46C5AEE}"/>
                  </a:ext>
                </a:extLst>
              </p:cNvPr>
              <p:cNvSpPr>
                <a:spLocks noChangeArrowheads="1"/>
              </p:cNvSpPr>
              <p:nvPr/>
            </p:nvSpPr>
            <p:spPr bwMode="auto">
              <a:xfrm>
                <a:off x="1187" y="2849"/>
                <a:ext cx="959"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b="1" dirty="0">
                    <a:solidFill>
                      <a:schemeClr val="tx2"/>
                    </a:solidFill>
                    <a:latin typeface="Arial" pitchFamily="34" charset="0"/>
                  </a:rPr>
                  <a:t>Employees</a:t>
                </a:r>
              </a:p>
            </p:txBody>
          </p:sp>
        </p:grpSp>
        <p:sp>
          <p:nvSpPr>
            <p:cNvPr id="8" name="Oval 10">
              <a:extLst>
                <a:ext uri="{FF2B5EF4-FFF2-40B4-BE49-F238E27FC236}">
                  <a16:creationId xmlns:a16="http://schemas.microsoft.com/office/drawing/2014/main" id="{EF8AA26B-AC88-35A5-666E-FBF114290FCA}"/>
                </a:ext>
              </a:extLst>
            </p:cNvPr>
            <p:cNvSpPr>
              <a:spLocks noChangeArrowheads="1"/>
            </p:cNvSpPr>
            <p:nvPr/>
          </p:nvSpPr>
          <p:spPr bwMode="auto">
            <a:xfrm>
              <a:off x="240" y="2256"/>
              <a:ext cx="712" cy="328"/>
            </a:xfrm>
            <a:prstGeom prst="ellipse">
              <a:avLst/>
            </a:prstGeom>
            <a:noFill/>
            <a:ln w="127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11">
              <a:extLst>
                <a:ext uri="{FF2B5EF4-FFF2-40B4-BE49-F238E27FC236}">
                  <a16:creationId xmlns:a16="http://schemas.microsoft.com/office/drawing/2014/main" id="{B5A289C0-A2BD-4CE7-586F-D542D9C4BDCB}"/>
                </a:ext>
              </a:extLst>
            </p:cNvPr>
            <p:cNvSpPr>
              <a:spLocks noChangeArrowheads="1"/>
            </p:cNvSpPr>
            <p:nvPr/>
          </p:nvSpPr>
          <p:spPr bwMode="auto">
            <a:xfrm>
              <a:off x="418" y="2320"/>
              <a:ext cx="39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b="1" u="sng">
                  <a:solidFill>
                    <a:schemeClr val="tx2"/>
                  </a:solidFill>
                  <a:latin typeface="Arial" pitchFamily="34" charset="0"/>
                </a:rPr>
                <a:t>ssn</a:t>
              </a:r>
            </a:p>
          </p:txBody>
        </p:sp>
        <p:sp>
          <p:nvSpPr>
            <p:cNvPr id="10" name="Oval 12">
              <a:extLst>
                <a:ext uri="{FF2B5EF4-FFF2-40B4-BE49-F238E27FC236}">
                  <a16:creationId xmlns:a16="http://schemas.microsoft.com/office/drawing/2014/main" id="{2ADED7EE-2C20-E781-C039-7626679A3511}"/>
                </a:ext>
              </a:extLst>
            </p:cNvPr>
            <p:cNvSpPr>
              <a:spLocks noChangeArrowheads="1"/>
            </p:cNvSpPr>
            <p:nvPr/>
          </p:nvSpPr>
          <p:spPr bwMode="auto">
            <a:xfrm>
              <a:off x="1296" y="2112"/>
              <a:ext cx="712" cy="328"/>
            </a:xfrm>
            <a:prstGeom prst="ellipse">
              <a:avLst/>
            </a:prstGeom>
            <a:noFill/>
            <a:ln w="127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3">
              <a:extLst>
                <a:ext uri="{FF2B5EF4-FFF2-40B4-BE49-F238E27FC236}">
                  <a16:creationId xmlns:a16="http://schemas.microsoft.com/office/drawing/2014/main" id="{29E8B5F4-F489-93D6-2EF3-2E4861C84934}"/>
                </a:ext>
              </a:extLst>
            </p:cNvPr>
            <p:cNvSpPr>
              <a:spLocks noChangeArrowheads="1"/>
            </p:cNvSpPr>
            <p:nvPr/>
          </p:nvSpPr>
          <p:spPr bwMode="auto">
            <a:xfrm>
              <a:off x="2304" y="2256"/>
              <a:ext cx="712" cy="328"/>
            </a:xfrm>
            <a:prstGeom prst="ellipse">
              <a:avLst/>
            </a:prstGeom>
            <a:noFill/>
            <a:ln w="127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4">
              <a:extLst>
                <a:ext uri="{FF2B5EF4-FFF2-40B4-BE49-F238E27FC236}">
                  <a16:creationId xmlns:a16="http://schemas.microsoft.com/office/drawing/2014/main" id="{05D6AE5E-CE86-D750-7A6E-00451F0DF72A}"/>
                </a:ext>
              </a:extLst>
            </p:cNvPr>
            <p:cNvSpPr>
              <a:spLocks noChangeArrowheads="1"/>
            </p:cNvSpPr>
            <p:nvPr/>
          </p:nvSpPr>
          <p:spPr bwMode="auto">
            <a:xfrm>
              <a:off x="1331" y="2177"/>
              <a:ext cx="53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b="1">
                  <a:solidFill>
                    <a:schemeClr val="tx2"/>
                  </a:solidFill>
                  <a:latin typeface="Arial" pitchFamily="34" charset="0"/>
                </a:rPr>
                <a:t>name</a:t>
              </a:r>
            </a:p>
          </p:txBody>
        </p:sp>
        <p:sp>
          <p:nvSpPr>
            <p:cNvPr id="13" name="Rectangle 15">
              <a:extLst>
                <a:ext uri="{FF2B5EF4-FFF2-40B4-BE49-F238E27FC236}">
                  <a16:creationId xmlns:a16="http://schemas.microsoft.com/office/drawing/2014/main" id="{76F08AA4-D783-F1F1-E097-C83336CE5CD5}"/>
                </a:ext>
              </a:extLst>
            </p:cNvPr>
            <p:cNvSpPr>
              <a:spLocks noChangeArrowheads="1"/>
            </p:cNvSpPr>
            <p:nvPr/>
          </p:nvSpPr>
          <p:spPr bwMode="auto">
            <a:xfrm>
              <a:off x="2483" y="2322"/>
              <a:ext cx="309"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b="1">
                  <a:solidFill>
                    <a:schemeClr val="tx2"/>
                  </a:solidFill>
                  <a:latin typeface="Arial" pitchFamily="34" charset="0"/>
                </a:rPr>
                <a:t>lot</a:t>
              </a:r>
            </a:p>
          </p:txBody>
        </p:sp>
        <p:sp>
          <p:nvSpPr>
            <p:cNvPr id="14" name="Line 16">
              <a:extLst>
                <a:ext uri="{FF2B5EF4-FFF2-40B4-BE49-F238E27FC236}">
                  <a16:creationId xmlns:a16="http://schemas.microsoft.com/office/drawing/2014/main" id="{5629782C-D37A-E2A7-22E8-95EB18D2807B}"/>
                </a:ext>
              </a:extLst>
            </p:cNvPr>
            <p:cNvSpPr>
              <a:spLocks noChangeShapeType="1"/>
            </p:cNvSpPr>
            <p:nvPr/>
          </p:nvSpPr>
          <p:spPr bwMode="auto">
            <a:xfrm>
              <a:off x="624" y="2592"/>
              <a:ext cx="472" cy="2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7">
              <a:extLst>
                <a:ext uri="{FF2B5EF4-FFF2-40B4-BE49-F238E27FC236}">
                  <a16:creationId xmlns:a16="http://schemas.microsoft.com/office/drawing/2014/main" id="{0C58D40A-A03F-0E18-E037-D11DE8CF252E}"/>
                </a:ext>
              </a:extLst>
            </p:cNvPr>
            <p:cNvSpPr>
              <a:spLocks noChangeShapeType="1"/>
            </p:cNvSpPr>
            <p:nvPr/>
          </p:nvSpPr>
          <p:spPr bwMode="auto">
            <a:xfrm>
              <a:off x="1676" y="2448"/>
              <a:ext cx="0" cy="376"/>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8">
              <a:extLst>
                <a:ext uri="{FF2B5EF4-FFF2-40B4-BE49-F238E27FC236}">
                  <a16:creationId xmlns:a16="http://schemas.microsoft.com/office/drawing/2014/main" id="{2DE2084C-B52C-238A-F845-6F311687A3B0}"/>
                </a:ext>
              </a:extLst>
            </p:cNvPr>
            <p:cNvSpPr>
              <a:spLocks noChangeShapeType="1"/>
            </p:cNvSpPr>
            <p:nvPr/>
          </p:nvSpPr>
          <p:spPr bwMode="auto">
            <a:xfrm flipV="1">
              <a:off x="2256" y="2584"/>
              <a:ext cx="376" cy="248"/>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9" name="Striped Right Arrow 20">
            <a:extLst>
              <a:ext uri="{FF2B5EF4-FFF2-40B4-BE49-F238E27FC236}">
                <a16:creationId xmlns:a16="http://schemas.microsoft.com/office/drawing/2014/main" id="{219E5A65-9795-19A9-7E7C-78924B6C4BEE}"/>
              </a:ext>
            </a:extLst>
          </p:cNvPr>
          <p:cNvSpPr/>
          <p:nvPr/>
        </p:nvSpPr>
        <p:spPr>
          <a:xfrm>
            <a:off x="4648200" y="2152251"/>
            <a:ext cx="533400" cy="865051"/>
          </a:xfrm>
          <a:prstGeom prst="stripedRight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17">
            <a:extLst>
              <a:ext uri="{FF2B5EF4-FFF2-40B4-BE49-F238E27FC236}">
                <a16:creationId xmlns:a16="http://schemas.microsoft.com/office/drawing/2014/main" id="{FD8F33D9-FF16-B48C-9EAD-14B31C998D80}"/>
              </a:ext>
            </a:extLst>
          </p:cNvPr>
          <p:cNvSpPr txBox="1">
            <a:spLocks noChangeArrowheads="1"/>
          </p:cNvSpPr>
          <p:nvPr/>
        </p:nvSpPr>
        <p:spPr bwMode="auto">
          <a:xfrm>
            <a:off x="5486400" y="1480690"/>
            <a:ext cx="2250627" cy="461665"/>
          </a:xfrm>
          <a:prstGeom prst="rect">
            <a:avLst/>
          </a:prstGeom>
          <a:noFill/>
          <a:ln>
            <a:noFill/>
          </a:ln>
          <a:effectLst/>
        </p:spPr>
        <p:txBody>
          <a:bodyPr wrap="square">
            <a:spAutoFit/>
          </a:bodyPr>
          <a:lstStyle/>
          <a:p>
            <a:pPr algn="ctr">
              <a:spcBef>
                <a:spcPct val="50000"/>
              </a:spcBef>
              <a:defRPr/>
            </a:pPr>
            <a:r>
              <a:rPr lang="en-US" altLang="en-US" sz="2400" dirty="0">
                <a:effectLst>
                  <a:outerShdw blurRad="38100" dist="38100" dir="2700000" algn="tl">
                    <a:srgbClr val="C0C0C0"/>
                  </a:outerShdw>
                </a:effectLst>
              </a:rPr>
              <a:t>Employees</a:t>
            </a:r>
          </a:p>
        </p:txBody>
      </p:sp>
      <p:sp>
        <p:nvSpPr>
          <p:cNvPr id="21" name="Rectangle 20">
            <a:extLst>
              <a:ext uri="{FF2B5EF4-FFF2-40B4-BE49-F238E27FC236}">
                <a16:creationId xmlns:a16="http://schemas.microsoft.com/office/drawing/2014/main" id="{FD12F6B5-5737-60EC-9DBA-DA109DF4A912}"/>
              </a:ext>
            </a:extLst>
          </p:cNvPr>
          <p:cNvSpPr>
            <a:spLocks noChangeArrowheads="1"/>
          </p:cNvSpPr>
          <p:nvPr/>
        </p:nvSpPr>
        <p:spPr bwMode="auto">
          <a:xfrm>
            <a:off x="5899519" y="1953765"/>
            <a:ext cx="2057400" cy="2133600"/>
          </a:xfrm>
          <a:prstGeom prst="rect">
            <a:avLst/>
          </a:prstGeom>
          <a:no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2" name="Text Box 19">
            <a:extLst>
              <a:ext uri="{FF2B5EF4-FFF2-40B4-BE49-F238E27FC236}">
                <a16:creationId xmlns:a16="http://schemas.microsoft.com/office/drawing/2014/main" id="{D9AC7C2D-BF32-9C08-9AB2-5F69242B21AE}"/>
              </a:ext>
            </a:extLst>
          </p:cNvPr>
          <p:cNvSpPr txBox="1">
            <a:spLocks noChangeArrowheads="1"/>
          </p:cNvSpPr>
          <p:nvPr/>
        </p:nvSpPr>
        <p:spPr bwMode="auto">
          <a:xfrm>
            <a:off x="5899519" y="1953765"/>
            <a:ext cx="289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dirty="0" err="1">
                <a:solidFill>
                  <a:srgbClr val="FD020F"/>
                </a:solidFill>
              </a:rPr>
              <a:t>ssn</a:t>
            </a:r>
            <a:r>
              <a:rPr lang="en-US" altLang="en-US" sz="2000" dirty="0">
                <a:solidFill>
                  <a:srgbClr val="FD020F"/>
                </a:solidFill>
              </a:rPr>
              <a:t>    name   lot</a:t>
            </a:r>
            <a:endParaRPr lang="en-US" altLang="en-US" sz="2000" b="0" dirty="0">
              <a:solidFill>
                <a:srgbClr val="FD020F"/>
              </a:solidFill>
            </a:endParaRPr>
          </a:p>
        </p:txBody>
      </p:sp>
      <p:sp>
        <p:nvSpPr>
          <p:cNvPr id="23" name="Line 20">
            <a:extLst>
              <a:ext uri="{FF2B5EF4-FFF2-40B4-BE49-F238E27FC236}">
                <a16:creationId xmlns:a16="http://schemas.microsoft.com/office/drawing/2014/main" id="{0E8B68D6-47B1-0593-313A-97F52A016FAA}"/>
              </a:ext>
            </a:extLst>
          </p:cNvPr>
          <p:cNvSpPr>
            <a:spLocks noChangeShapeType="1"/>
          </p:cNvSpPr>
          <p:nvPr/>
        </p:nvSpPr>
        <p:spPr bwMode="auto">
          <a:xfrm flipV="1">
            <a:off x="5899519" y="2395091"/>
            <a:ext cx="2057400" cy="15874"/>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4" name="Line 21">
            <a:extLst>
              <a:ext uri="{FF2B5EF4-FFF2-40B4-BE49-F238E27FC236}">
                <a16:creationId xmlns:a16="http://schemas.microsoft.com/office/drawing/2014/main" id="{057F30D6-3E19-2159-A3BC-14132853C615}"/>
              </a:ext>
            </a:extLst>
          </p:cNvPr>
          <p:cNvSpPr>
            <a:spLocks noChangeShapeType="1"/>
          </p:cNvSpPr>
          <p:nvPr/>
        </p:nvSpPr>
        <p:spPr bwMode="auto">
          <a:xfrm>
            <a:off x="6585319" y="1953765"/>
            <a:ext cx="0" cy="213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5" name="Line 22">
            <a:extLst>
              <a:ext uri="{FF2B5EF4-FFF2-40B4-BE49-F238E27FC236}">
                <a16:creationId xmlns:a16="http://schemas.microsoft.com/office/drawing/2014/main" id="{F69DCBC1-82AC-C314-353D-5781D9091455}"/>
              </a:ext>
            </a:extLst>
          </p:cNvPr>
          <p:cNvSpPr>
            <a:spLocks noChangeShapeType="1"/>
          </p:cNvSpPr>
          <p:nvPr/>
        </p:nvSpPr>
        <p:spPr bwMode="auto">
          <a:xfrm>
            <a:off x="7423519" y="1953765"/>
            <a:ext cx="0" cy="213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 name="Line 24">
            <a:extLst>
              <a:ext uri="{FF2B5EF4-FFF2-40B4-BE49-F238E27FC236}">
                <a16:creationId xmlns:a16="http://schemas.microsoft.com/office/drawing/2014/main" id="{C74B5AE9-A524-E083-264F-9ACE7312EBFC}"/>
              </a:ext>
            </a:extLst>
          </p:cNvPr>
          <p:cNvSpPr>
            <a:spLocks noChangeShapeType="1"/>
          </p:cNvSpPr>
          <p:nvPr/>
        </p:nvSpPr>
        <p:spPr bwMode="auto">
          <a:xfrm flipV="1">
            <a:off x="5899519" y="2801460"/>
            <a:ext cx="2057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7" name="Line 25">
            <a:extLst>
              <a:ext uri="{FF2B5EF4-FFF2-40B4-BE49-F238E27FC236}">
                <a16:creationId xmlns:a16="http://schemas.microsoft.com/office/drawing/2014/main" id="{9E23D472-811E-BD55-848B-917F8B051629}"/>
              </a:ext>
            </a:extLst>
          </p:cNvPr>
          <p:cNvSpPr>
            <a:spLocks noChangeShapeType="1"/>
          </p:cNvSpPr>
          <p:nvPr/>
        </p:nvSpPr>
        <p:spPr bwMode="auto">
          <a:xfrm>
            <a:off x="5899519" y="3172965"/>
            <a:ext cx="2057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8" name="Text Box 26">
            <a:extLst>
              <a:ext uri="{FF2B5EF4-FFF2-40B4-BE49-F238E27FC236}">
                <a16:creationId xmlns:a16="http://schemas.microsoft.com/office/drawing/2014/main" id="{9640912E-98E2-8791-3618-09E532AB1CA1}"/>
              </a:ext>
            </a:extLst>
          </p:cNvPr>
          <p:cNvSpPr txBox="1">
            <a:spLocks noChangeArrowheads="1"/>
          </p:cNvSpPr>
          <p:nvPr/>
        </p:nvSpPr>
        <p:spPr bwMode="auto">
          <a:xfrm>
            <a:off x="6051919" y="2410965"/>
            <a:ext cx="289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dirty="0">
                <a:solidFill>
                  <a:schemeClr val="tx1"/>
                </a:solidFill>
              </a:rPr>
              <a:t>xx    </a:t>
            </a:r>
            <a:r>
              <a:rPr lang="en-US" altLang="en-US" sz="2000" b="0" dirty="0" err="1">
                <a:solidFill>
                  <a:schemeClr val="tx1"/>
                </a:solidFill>
              </a:rPr>
              <a:t>yy</a:t>
            </a:r>
            <a:r>
              <a:rPr lang="en-US" altLang="en-US" sz="2000" b="0" dirty="0">
                <a:solidFill>
                  <a:schemeClr val="tx1"/>
                </a:solidFill>
              </a:rPr>
              <a:t>        </a:t>
            </a:r>
            <a:r>
              <a:rPr lang="en-US" altLang="en-US" sz="2000" dirty="0" err="1">
                <a:solidFill>
                  <a:schemeClr val="tx1"/>
                </a:solidFill>
              </a:rPr>
              <a:t>zz</a:t>
            </a:r>
            <a:r>
              <a:rPr lang="en-US" altLang="en-US" sz="2000" b="0" dirty="0">
                <a:solidFill>
                  <a:schemeClr val="tx1"/>
                </a:solidFill>
              </a:rPr>
              <a:t>  </a:t>
            </a:r>
          </a:p>
        </p:txBody>
      </p:sp>
      <p:sp>
        <p:nvSpPr>
          <p:cNvPr id="29" name="Text Box 27">
            <a:extLst>
              <a:ext uri="{FF2B5EF4-FFF2-40B4-BE49-F238E27FC236}">
                <a16:creationId xmlns:a16="http://schemas.microsoft.com/office/drawing/2014/main" id="{8E626C52-9C73-5870-E8C6-E8ABF25D8691}"/>
              </a:ext>
            </a:extLst>
          </p:cNvPr>
          <p:cNvSpPr txBox="1">
            <a:spLocks noChangeArrowheads="1"/>
          </p:cNvSpPr>
          <p:nvPr/>
        </p:nvSpPr>
        <p:spPr bwMode="auto">
          <a:xfrm>
            <a:off x="5442319" y="241096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e1</a:t>
            </a:r>
            <a:endParaRPr lang="en-US" altLang="en-US" sz="2000" b="0">
              <a:solidFill>
                <a:srgbClr val="FD020F"/>
              </a:solidFill>
            </a:endParaRPr>
          </a:p>
        </p:txBody>
      </p:sp>
      <p:sp>
        <p:nvSpPr>
          <p:cNvPr id="30" name="Text Box 28">
            <a:extLst>
              <a:ext uri="{FF2B5EF4-FFF2-40B4-BE49-F238E27FC236}">
                <a16:creationId xmlns:a16="http://schemas.microsoft.com/office/drawing/2014/main" id="{7F2E19FD-37FE-6634-630A-CEFC8D866793}"/>
              </a:ext>
            </a:extLst>
          </p:cNvPr>
          <p:cNvSpPr txBox="1">
            <a:spLocks noChangeArrowheads="1"/>
          </p:cNvSpPr>
          <p:nvPr/>
        </p:nvSpPr>
        <p:spPr bwMode="auto">
          <a:xfrm>
            <a:off x="5442319" y="277609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e2</a:t>
            </a:r>
            <a:endParaRPr lang="en-US" altLang="en-US" sz="2000" b="0">
              <a:solidFill>
                <a:srgbClr val="FD020F"/>
              </a:solidFill>
            </a:endParaRPr>
          </a:p>
        </p:txBody>
      </p:sp>
      <p:sp>
        <p:nvSpPr>
          <p:cNvPr id="31" name="Text Box 29">
            <a:extLst>
              <a:ext uri="{FF2B5EF4-FFF2-40B4-BE49-F238E27FC236}">
                <a16:creationId xmlns:a16="http://schemas.microsoft.com/office/drawing/2014/main" id="{7037D54E-3AC9-93C3-8DC9-81F54C91C92E}"/>
              </a:ext>
            </a:extLst>
          </p:cNvPr>
          <p:cNvSpPr txBox="1">
            <a:spLocks noChangeArrowheads="1"/>
          </p:cNvSpPr>
          <p:nvPr/>
        </p:nvSpPr>
        <p:spPr bwMode="auto">
          <a:xfrm>
            <a:off x="5442319" y="330949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2000" b="0">
                <a:latin typeface="Arial Narrow" panose="020B0606020202030204" pitchFamily="34" charset="0"/>
              </a:rPr>
              <a:t>:</a:t>
            </a:r>
            <a:endParaRPr lang="en-US" altLang="en-US" sz="2000" b="0">
              <a:solidFill>
                <a:srgbClr val="FD020F"/>
              </a:solidFill>
            </a:endParaRPr>
          </a:p>
        </p:txBody>
      </p:sp>
      <p:sp>
        <p:nvSpPr>
          <p:cNvPr id="32" name="AutoShape 31">
            <a:extLst>
              <a:ext uri="{FF2B5EF4-FFF2-40B4-BE49-F238E27FC236}">
                <a16:creationId xmlns:a16="http://schemas.microsoft.com/office/drawing/2014/main" id="{7689547A-06CD-06BC-D157-27C151BCD0A1}"/>
              </a:ext>
            </a:extLst>
          </p:cNvPr>
          <p:cNvSpPr>
            <a:spLocks/>
          </p:cNvSpPr>
          <p:nvPr/>
        </p:nvSpPr>
        <p:spPr bwMode="auto">
          <a:xfrm>
            <a:off x="8045820" y="2437012"/>
            <a:ext cx="152400" cy="1676400"/>
          </a:xfrm>
          <a:prstGeom prst="rightBrace">
            <a:avLst>
              <a:gd name="adj1" fmla="val 91667"/>
              <a:gd name="adj2" fmla="val 50000"/>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Text Box 32">
            <a:extLst>
              <a:ext uri="{FF2B5EF4-FFF2-40B4-BE49-F238E27FC236}">
                <a16:creationId xmlns:a16="http://schemas.microsoft.com/office/drawing/2014/main" id="{6CB2654E-CB96-BFBC-E477-3DB74AC6D0FE}"/>
              </a:ext>
            </a:extLst>
          </p:cNvPr>
          <p:cNvSpPr txBox="1">
            <a:spLocks noChangeArrowheads="1"/>
          </p:cNvSpPr>
          <p:nvPr/>
        </p:nvSpPr>
        <p:spPr bwMode="auto">
          <a:xfrm>
            <a:off x="8198220" y="2876750"/>
            <a:ext cx="94578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33"/>
              </a:buClr>
              <a:buSzPct val="75000"/>
              <a:buFont typeface="Zapf Dingbats" charset="2"/>
              <a:buChar char=""/>
              <a:defRPr sz="2400">
                <a:solidFill>
                  <a:schemeClr val="accent2"/>
                </a:solidFill>
                <a:latin typeface="Helvetica" panose="020B0604020202020204" pitchFamily="34" charset="0"/>
              </a:defRPr>
            </a:lvl1pPr>
            <a:lvl2pPr marL="742950" indent="-28575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2pPr>
            <a:lvl3pPr marL="11430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3pPr>
            <a:lvl4pPr marL="16002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4pPr>
            <a:lvl5pPr marL="2057400" indent="-228600">
              <a:spcBef>
                <a:spcPct val="20000"/>
              </a:spcBef>
              <a:buClr>
                <a:schemeClr val="accent2"/>
              </a:buClr>
              <a:buSzPct val="100000"/>
              <a:buFont typeface="Zapf Dingbats" charset="2"/>
              <a:buChar char=""/>
              <a:defRPr sz="2400">
                <a:solidFill>
                  <a:schemeClr val="accent2"/>
                </a:solidFill>
                <a:latin typeface="Helvetica" panose="020B0604020202020204" pitchFamily="34" charset="0"/>
              </a:defRPr>
            </a:lvl5pPr>
            <a:lvl6pPr marL="25146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6pPr>
            <a:lvl7pPr marL="29718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7pPr>
            <a:lvl8pPr marL="34290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8pPr>
            <a:lvl9pPr marL="3886200" indent="-228600" eaLnBrk="0" fontAlgn="base" hangingPunct="0">
              <a:spcBef>
                <a:spcPct val="20000"/>
              </a:spcBef>
              <a:spcAft>
                <a:spcPct val="0"/>
              </a:spcAft>
              <a:buClr>
                <a:schemeClr val="accent2"/>
              </a:buClr>
              <a:buSzPct val="100000"/>
              <a:buFont typeface="Zapf Dingbats" charset="2"/>
              <a:buChar char=""/>
              <a:defRPr sz="2400">
                <a:solidFill>
                  <a:schemeClr val="accent2"/>
                </a:solidFill>
                <a:latin typeface="Helvetica" panose="020B0604020202020204" pitchFamily="34" charset="0"/>
              </a:defRPr>
            </a:lvl9pPr>
          </a:lstStyle>
          <a:p>
            <a:pPr>
              <a:spcBef>
                <a:spcPct val="50000"/>
              </a:spcBef>
              <a:buClrTx/>
              <a:buSzTx/>
              <a:buFontTx/>
              <a:buNone/>
            </a:pPr>
            <a:r>
              <a:rPr lang="en-US" altLang="en-US" sz="1800" b="0" dirty="0">
                <a:solidFill>
                  <a:srgbClr val="FD020F"/>
                </a:solidFill>
                <a:latin typeface="Arial Narrow" panose="020B0606020202030204" pitchFamily="34" charset="0"/>
              </a:rPr>
              <a:t>Data</a:t>
            </a:r>
          </a:p>
          <a:p>
            <a:pPr>
              <a:spcBef>
                <a:spcPct val="50000"/>
              </a:spcBef>
              <a:buClrTx/>
              <a:buSzTx/>
              <a:buFontTx/>
              <a:buNone/>
            </a:pPr>
            <a:r>
              <a:rPr lang="en-US" altLang="en-US" sz="1800" b="0" dirty="0">
                <a:solidFill>
                  <a:srgbClr val="FD020F"/>
                </a:solidFill>
                <a:latin typeface="Arial Narrow" panose="020B0606020202030204" pitchFamily="34" charset="0"/>
              </a:rPr>
              <a:t>(entities)</a:t>
            </a:r>
            <a:endParaRPr lang="en-US" altLang="en-US" b="0" dirty="0">
              <a:solidFill>
                <a:srgbClr val="FD020F"/>
              </a:solidFill>
              <a:latin typeface="Arial Narrow" panose="020B0606020202030204" pitchFamily="34" charset="0"/>
            </a:endParaRPr>
          </a:p>
        </p:txBody>
      </p:sp>
    </p:spTree>
    <p:extLst>
      <p:ext uri="{BB962C8B-B14F-4D97-AF65-F5344CB8AC3E}">
        <p14:creationId xmlns:p14="http://schemas.microsoft.com/office/powerpoint/2010/main" val="769424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64FA8-0EEB-3648-1474-2AA658906B75}"/>
              </a:ext>
            </a:extLst>
          </p:cNvPr>
          <p:cNvSpPr>
            <a:spLocks noGrp="1"/>
          </p:cNvSpPr>
          <p:nvPr>
            <p:ph type="title"/>
          </p:nvPr>
        </p:nvSpPr>
        <p:spPr/>
        <p:txBody>
          <a:bodyPr/>
          <a:lstStyle/>
          <a:p>
            <a:r>
              <a:rPr lang="en-US" dirty="0"/>
              <a:t>M-to-N Relationship Sets to Tables</a:t>
            </a:r>
          </a:p>
        </p:txBody>
      </p:sp>
      <p:sp>
        <p:nvSpPr>
          <p:cNvPr id="4" name="Slide Number Placeholder 3">
            <a:extLst>
              <a:ext uri="{FF2B5EF4-FFF2-40B4-BE49-F238E27FC236}">
                <a16:creationId xmlns:a16="http://schemas.microsoft.com/office/drawing/2014/main" id="{C7E0328F-D8FF-E7F3-AB58-28E8080D1BF2}"/>
              </a:ext>
            </a:extLst>
          </p:cNvPr>
          <p:cNvSpPr>
            <a:spLocks noGrp="1"/>
          </p:cNvSpPr>
          <p:nvPr>
            <p:ph type="sldNum" sz="quarter" idx="12"/>
          </p:nvPr>
        </p:nvSpPr>
        <p:spPr/>
        <p:txBody>
          <a:bodyPr/>
          <a:lstStyle/>
          <a:p>
            <a:fld id="{5FCA4BC5-AE2A-401E-9EDD-DF8812A14A6A}" type="slidenum">
              <a:rPr lang="en-US" smtClean="0"/>
              <a:t>35</a:t>
            </a:fld>
            <a:endParaRPr lang="en-US" dirty="0"/>
          </a:p>
        </p:txBody>
      </p:sp>
      <p:sp>
        <p:nvSpPr>
          <p:cNvPr id="41" name="Freeform 10">
            <a:extLst>
              <a:ext uri="{FF2B5EF4-FFF2-40B4-BE49-F238E27FC236}">
                <a16:creationId xmlns:a16="http://schemas.microsoft.com/office/drawing/2014/main" id="{153D0A07-FC66-5C52-1DD4-D90FABB8E274}"/>
              </a:ext>
            </a:extLst>
          </p:cNvPr>
          <p:cNvSpPr>
            <a:spLocks/>
          </p:cNvSpPr>
          <p:nvPr/>
        </p:nvSpPr>
        <p:spPr bwMode="auto">
          <a:xfrm>
            <a:off x="5343585" y="2008571"/>
            <a:ext cx="720725" cy="519112"/>
          </a:xfrm>
          <a:custGeom>
            <a:avLst/>
            <a:gdLst>
              <a:gd name="T0" fmla="*/ 715963 w 454"/>
              <a:gd name="T1" fmla="*/ 234950 h 327"/>
              <a:gd name="T2" fmla="*/ 706438 w 454"/>
              <a:gd name="T3" fmla="*/ 190500 h 327"/>
              <a:gd name="T4" fmla="*/ 684213 w 454"/>
              <a:gd name="T5" fmla="*/ 149225 h 327"/>
              <a:gd name="T6" fmla="*/ 652463 w 454"/>
              <a:gd name="T7" fmla="*/ 107950 h 327"/>
              <a:gd name="T8" fmla="*/ 612775 w 454"/>
              <a:gd name="T9" fmla="*/ 74612 h 327"/>
              <a:gd name="T10" fmla="*/ 565150 w 454"/>
              <a:gd name="T11" fmla="*/ 46037 h 327"/>
              <a:gd name="T12" fmla="*/ 511175 w 454"/>
              <a:gd name="T13" fmla="*/ 23812 h 327"/>
              <a:gd name="T14" fmla="*/ 452438 w 454"/>
              <a:gd name="T15" fmla="*/ 7937 h 327"/>
              <a:gd name="T16" fmla="*/ 390525 w 454"/>
              <a:gd name="T17" fmla="*/ 0 h 327"/>
              <a:gd name="T18" fmla="*/ 327025 w 454"/>
              <a:gd name="T19" fmla="*/ 0 h 327"/>
              <a:gd name="T20" fmla="*/ 265113 w 454"/>
              <a:gd name="T21" fmla="*/ 7937 h 327"/>
              <a:gd name="T22" fmla="*/ 206375 w 454"/>
              <a:gd name="T23" fmla="*/ 23812 h 327"/>
              <a:gd name="T24" fmla="*/ 152400 w 454"/>
              <a:gd name="T25" fmla="*/ 46037 h 327"/>
              <a:gd name="T26" fmla="*/ 103188 w 454"/>
              <a:gd name="T27" fmla="*/ 74612 h 327"/>
              <a:gd name="T28" fmla="*/ 63500 w 454"/>
              <a:gd name="T29" fmla="*/ 107950 h 327"/>
              <a:gd name="T30" fmla="*/ 33338 w 454"/>
              <a:gd name="T31" fmla="*/ 149225 h 327"/>
              <a:gd name="T32" fmla="*/ 11113 w 454"/>
              <a:gd name="T33" fmla="*/ 190500 h 327"/>
              <a:gd name="T34" fmla="*/ 1588 w 454"/>
              <a:gd name="T35" fmla="*/ 234950 h 327"/>
              <a:gd name="T36" fmla="*/ 1588 w 454"/>
              <a:gd name="T37" fmla="*/ 280987 h 327"/>
              <a:gd name="T38" fmla="*/ 11113 w 454"/>
              <a:gd name="T39" fmla="*/ 325437 h 327"/>
              <a:gd name="T40" fmla="*/ 33338 w 454"/>
              <a:gd name="T41" fmla="*/ 366712 h 327"/>
              <a:gd name="T42" fmla="*/ 63500 w 454"/>
              <a:gd name="T43" fmla="*/ 404812 h 327"/>
              <a:gd name="T44" fmla="*/ 103188 w 454"/>
              <a:gd name="T45" fmla="*/ 441325 h 327"/>
              <a:gd name="T46" fmla="*/ 152400 w 454"/>
              <a:gd name="T47" fmla="*/ 469900 h 327"/>
              <a:gd name="T48" fmla="*/ 206375 w 454"/>
              <a:gd name="T49" fmla="*/ 492125 h 327"/>
              <a:gd name="T50" fmla="*/ 265113 w 454"/>
              <a:gd name="T51" fmla="*/ 508000 h 327"/>
              <a:gd name="T52" fmla="*/ 327025 w 454"/>
              <a:gd name="T53" fmla="*/ 517525 h 327"/>
              <a:gd name="T54" fmla="*/ 390525 w 454"/>
              <a:gd name="T55" fmla="*/ 517525 h 327"/>
              <a:gd name="T56" fmla="*/ 452438 w 454"/>
              <a:gd name="T57" fmla="*/ 508000 h 327"/>
              <a:gd name="T58" fmla="*/ 511175 w 454"/>
              <a:gd name="T59" fmla="*/ 492125 h 327"/>
              <a:gd name="T60" fmla="*/ 565150 w 454"/>
              <a:gd name="T61" fmla="*/ 469900 h 327"/>
              <a:gd name="T62" fmla="*/ 612775 w 454"/>
              <a:gd name="T63" fmla="*/ 441325 h 327"/>
              <a:gd name="T64" fmla="*/ 652463 w 454"/>
              <a:gd name="T65" fmla="*/ 404812 h 327"/>
              <a:gd name="T66" fmla="*/ 684213 w 454"/>
              <a:gd name="T67" fmla="*/ 366712 h 327"/>
              <a:gd name="T68" fmla="*/ 706438 w 454"/>
              <a:gd name="T69" fmla="*/ 325437 h 327"/>
              <a:gd name="T70" fmla="*/ 715963 w 454"/>
              <a:gd name="T71" fmla="*/ 28098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1" y="148"/>
                </a:lnTo>
                <a:lnTo>
                  <a:pt x="448" y="134"/>
                </a:lnTo>
                <a:lnTo>
                  <a:pt x="445" y="120"/>
                </a:lnTo>
                <a:lnTo>
                  <a:pt x="439" y="106"/>
                </a:lnTo>
                <a:lnTo>
                  <a:pt x="431" y="94"/>
                </a:lnTo>
                <a:lnTo>
                  <a:pt x="422" y="80"/>
                </a:lnTo>
                <a:lnTo>
                  <a:pt x="411" y="68"/>
                </a:lnTo>
                <a:lnTo>
                  <a:pt x="399" y="57"/>
                </a:lnTo>
                <a:lnTo>
                  <a:pt x="386" y="47"/>
                </a:lnTo>
                <a:lnTo>
                  <a:pt x="372" y="37"/>
                </a:lnTo>
                <a:lnTo>
                  <a:pt x="356" y="29"/>
                </a:lnTo>
                <a:lnTo>
                  <a:pt x="339" y="21"/>
                </a:lnTo>
                <a:lnTo>
                  <a:pt x="322" y="15"/>
                </a:lnTo>
                <a:lnTo>
                  <a:pt x="303"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5" y="47"/>
                </a:lnTo>
                <a:lnTo>
                  <a:pt x="53" y="57"/>
                </a:lnTo>
                <a:lnTo>
                  <a:pt x="40" y="68"/>
                </a:lnTo>
                <a:lnTo>
                  <a:pt x="29" y="80"/>
                </a:lnTo>
                <a:lnTo>
                  <a:pt x="21" y="94"/>
                </a:lnTo>
                <a:lnTo>
                  <a:pt x="13" y="106"/>
                </a:lnTo>
                <a:lnTo>
                  <a:pt x="7" y="120"/>
                </a:lnTo>
                <a:lnTo>
                  <a:pt x="3" y="134"/>
                </a:lnTo>
                <a:lnTo>
                  <a:pt x="1" y="148"/>
                </a:lnTo>
                <a:lnTo>
                  <a:pt x="0" y="163"/>
                </a:lnTo>
                <a:lnTo>
                  <a:pt x="1" y="177"/>
                </a:lnTo>
                <a:lnTo>
                  <a:pt x="3" y="191"/>
                </a:lnTo>
                <a:lnTo>
                  <a:pt x="7" y="205"/>
                </a:lnTo>
                <a:lnTo>
                  <a:pt x="13" y="217"/>
                </a:lnTo>
                <a:lnTo>
                  <a:pt x="21" y="231"/>
                </a:lnTo>
                <a:lnTo>
                  <a:pt x="29" y="244"/>
                </a:lnTo>
                <a:lnTo>
                  <a:pt x="40" y="255"/>
                </a:lnTo>
                <a:lnTo>
                  <a:pt x="53" y="266"/>
                </a:lnTo>
                <a:lnTo>
                  <a:pt x="65" y="278"/>
                </a:lnTo>
                <a:lnTo>
                  <a:pt x="80" y="288"/>
                </a:lnTo>
                <a:lnTo>
                  <a:pt x="96" y="296"/>
                </a:lnTo>
                <a:lnTo>
                  <a:pt x="113" y="303"/>
                </a:lnTo>
                <a:lnTo>
                  <a:pt x="130" y="310"/>
                </a:lnTo>
                <a:lnTo>
                  <a:pt x="148" y="316"/>
                </a:lnTo>
                <a:lnTo>
                  <a:pt x="167" y="320"/>
                </a:lnTo>
                <a:lnTo>
                  <a:pt x="186" y="323"/>
                </a:lnTo>
                <a:lnTo>
                  <a:pt x="206" y="326"/>
                </a:lnTo>
                <a:lnTo>
                  <a:pt x="225" y="326"/>
                </a:lnTo>
                <a:lnTo>
                  <a:pt x="246" y="326"/>
                </a:lnTo>
                <a:lnTo>
                  <a:pt x="265" y="323"/>
                </a:lnTo>
                <a:lnTo>
                  <a:pt x="285" y="320"/>
                </a:lnTo>
                <a:lnTo>
                  <a:pt x="303" y="316"/>
                </a:lnTo>
                <a:lnTo>
                  <a:pt x="322" y="310"/>
                </a:lnTo>
                <a:lnTo>
                  <a:pt x="339" y="303"/>
                </a:lnTo>
                <a:lnTo>
                  <a:pt x="356" y="296"/>
                </a:lnTo>
                <a:lnTo>
                  <a:pt x="372" y="288"/>
                </a:lnTo>
                <a:lnTo>
                  <a:pt x="386" y="278"/>
                </a:lnTo>
                <a:lnTo>
                  <a:pt x="399" y="266"/>
                </a:lnTo>
                <a:lnTo>
                  <a:pt x="411" y="255"/>
                </a:lnTo>
                <a:lnTo>
                  <a:pt x="422" y="244"/>
                </a:lnTo>
                <a:lnTo>
                  <a:pt x="431" y="231"/>
                </a:lnTo>
                <a:lnTo>
                  <a:pt x="439" y="217"/>
                </a:lnTo>
                <a:lnTo>
                  <a:pt x="445" y="205"/>
                </a:lnTo>
                <a:lnTo>
                  <a:pt x="448" y="191"/>
                </a:lnTo>
                <a:lnTo>
                  <a:pt x="451"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11">
            <a:extLst>
              <a:ext uri="{FF2B5EF4-FFF2-40B4-BE49-F238E27FC236}">
                <a16:creationId xmlns:a16="http://schemas.microsoft.com/office/drawing/2014/main" id="{A20BF101-ACE8-1B7E-8853-348A02999A51}"/>
              </a:ext>
            </a:extLst>
          </p:cNvPr>
          <p:cNvSpPr>
            <a:spLocks/>
          </p:cNvSpPr>
          <p:nvPr/>
        </p:nvSpPr>
        <p:spPr bwMode="auto">
          <a:xfrm>
            <a:off x="6662798" y="2030796"/>
            <a:ext cx="912812" cy="496887"/>
          </a:xfrm>
          <a:custGeom>
            <a:avLst/>
            <a:gdLst>
              <a:gd name="T0" fmla="*/ 1587 w 575"/>
              <a:gd name="T1" fmla="*/ 268287 h 313"/>
              <a:gd name="T2" fmla="*/ 14287 w 575"/>
              <a:gd name="T3" fmla="*/ 311150 h 313"/>
              <a:gd name="T4" fmla="*/ 44450 w 575"/>
              <a:gd name="T5" fmla="*/ 350837 h 313"/>
              <a:gd name="T6" fmla="*/ 82550 w 575"/>
              <a:gd name="T7" fmla="*/ 387350 h 313"/>
              <a:gd name="T8" fmla="*/ 133350 w 575"/>
              <a:gd name="T9" fmla="*/ 422275 h 313"/>
              <a:gd name="T10" fmla="*/ 195262 w 575"/>
              <a:gd name="T11" fmla="*/ 449262 h 313"/>
              <a:gd name="T12" fmla="*/ 261937 w 575"/>
              <a:gd name="T13" fmla="*/ 471487 h 313"/>
              <a:gd name="T14" fmla="*/ 338137 w 575"/>
              <a:gd name="T15" fmla="*/ 485775 h 313"/>
              <a:gd name="T16" fmla="*/ 415925 w 575"/>
              <a:gd name="T17" fmla="*/ 495300 h 313"/>
              <a:gd name="T18" fmla="*/ 493712 w 575"/>
              <a:gd name="T19" fmla="*/ 495300 h 313"/>
              <a:gd name="T20" fmla="*/ 573087 w 575"/>
              <a:gd name="T21" fmla="*/ 485775 h 313"/>
              <a:gd name="T22" fmla="*/ 647700 w 575"/>
              <a:gd name="T23" fmla="*/ 471487 h 313"/>
              <a:gd name="T24" fmla="*/ 715962 w 575"/>
              <a:gd name="T25" fmla="*/ 449262 h 313"/>
              <a:gd name="T26" fmla="*/ 777875 w 575"/>
              <a:gd name="T27" fmla="*/ 422275 h 313"/>
              <a:gd name="T28" fmla="*/ 828675 w 575"/>
              <a:gd name="T29" fmla="*/ 387350 h 313"/>
              <a:gd name="T30" fmla="*/ 868362 w 575"/>
              <a:gd name="T31" fmla="*/ 350837 h 313"/>
              <a:gd name="T32" fmla="*/ 895350 w 575"/>
              <a:gd name="T33" fmla="*/ 311150 h 313"/>
              <a:gd name="T34" fmla="*/ 908050 w 575"/>
              <a:gd name="T35" fmla="*/ 268287 h 313"/>
              <a:gd name="T36" fmla="*/ 908050 w 575"/>
              <a:gd name="T37" fmla="*/ 223837 h 313"/>
              <a:gd name="T38" fmla="*/ 895350 w 575"/>
              <a:gd name="T39" fmla="*/ 180975 h 313"/>
              <a:gd name="T40" fmla="*/ 868362 w 575"/>
              <a:gd name="T41" fmla="*/ 142875 h 313"/>
              <a:gd name="T42" fmla="*/ 828675 w 575"/>
              <a:gd name="T43" fmla="*/ 103187 h 313"/>
              <a:gd name="T44" fmla="*/ 777875 w 575"/>
              <a:gd name="T45" fmla="*/ 71437 h 313"/>
              <a:gd name="T46" fmla="*/ 715962 w 575"/>
              <a:gd name="T47" fmla="*/ 41275 h 313"/>
              <a:gd name="T48" fmla="*/ 647700 w 575"/>
              <a:gd name="T49" fmla="*/ 22225 h 313"/>
              <a:gd name="T50" fmla="*/ 573087 w 575"/>
              <a:gd name="T51" fmla="*/ 7937 h 313"/>
              <a:gd name="T52" fmla="*/ 493712 w 575"/>
              <a:gd name="T53" fmla="*/ 0 h 313"/>
              <a:gd name="T54" fmla="*/ 415925 w 575"/>
              <a:gd name="T55" fmla="*/ 0 h 313"/>
              <a:gd name="T56" fmla="*/ 336550 w 575"/>
              <a:gd name="T57" fmla="*/ 7937 h 313"/>
              <a:gd name="T58" fmla="*/ 261937 w 575"/>
              <a:gd name="T59" fmla="*/ 22225 h 313"/>
              <a:gd name="T60" fmla="*/ 195262 w 575"/>
              <a:gd name="T61" fmla="*/ 44450 h 313"/>
              <a:gd name="T62" fmla="*/ 133350 w 575"/>
              <a:gd name="T63" fmla="*/ 71437 h 313"/>
              <a:gd name="T64" fmla="*/ 82550 w 575"/>
              <a:gd name="T65" fmla="*/ 103187 h 313"/>
              <a:gd name="T66" fmla="*/ 44450 w 575"/>
              <a:gd name="T67" fmla="*/ 142875 h 313"/>
              <a:gd name="T68" fmla="*/ 14287 w 575"/>
              <a:gd name="T69" fmla="*/ 182562 h 313"/>
              <a:gd name="T70" fmla="*/ 1587 w 575"/>
              <a:gd name="T71" fmla="*/ 225425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75"/>
              <a:gd name="T109" fmla="*/ 0 h 313"/>
              <a:gd name="T110" fmla="*/ 575 w 575"/>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75" h="313">
                <a:moveTo>
                  <a:pt x="0" y="156"/>
                </a:moveTo>
                <a:lnTo>
                  <a:pt x="1" y="169"/>
                </a:lnTo>
                <a:lnTo>
                  <a:pt x="5" y="182"/>
                </a:lnTo>
                <a:lnTo>
                  <a:pt x="9" y="196"/>
                </a:lnTo>
                <a:lnTo>
                  <a:pt x="17" y="208"/>
                </a:lnTo>
                <a:lnTo>
                  <a:pt x="28" y="221"/>
                </a:lnTo>
                <a:lnTo>
                  <a:pt x="38" y="234"/>
                </a:lnTo>
                <a:lnTo>
                  <a:pt x="52" y="244"/>
                </a:lnTo>
                <a:lnTo>
                  <a:pt x="67" y="255"/>
                </a:lnTo>
                <a:lnTo>
                  <a:pt x="84" y="266"/>
                </a:lnTo>
                <a:lnTo>
                  <a:pt x="103" y="275"/>
                </a:lnTo>
                <a:lnTo>
                  <a:pt x="123" y="283"/>
                </a:lnTo>
                <a:lnTo>
                  <a:pt x="143" y="290"/>
                </a:lnTo>
                <a:lnTo>
                  <a:pt x="165" y="297"/>
                </a:lnTo>
                <a:lnTo>
                  <a:pt x="189" y="302"/>
                </a:lnTo>
                <a:lnTo>
                  <a:pt x="213" y="306"/>
                </a:lnTo>
                <a:lnTo>
                  <a:pt x="237" y="309"/>
                </a:lnTo>
                <a:lnTo>
                  <a:pt x="262" y="312"/>
                </a:lnTo>
                <a:lnTo>
                  <a:pt x="287" y="312"/>
                </a:lnTo>
                <a:lnTo>
                  <a:pt x="311" y="312"/>
                </a:lnTo>
                <a:lnTo>
                  <a:pt x="337" y="309"/>
                </a:lnTo>
                <a:lnTo>
                  <a:pt x="361" y="306"/>
                </a:lnTo>
                <a:lnTo>
                  <a:pt x="385" y="302"/>
                </a:lnTo>
                <a:lnTo>
                  <a:pt x="408" y="297"/>
                </a:lnTo>
                <a:lnTo>
                  <a:pt x="431" y="290"/>
                </a:lnTo>
                <a:lnTo>
                  <a:pt x="451" y="283"/>
                </a:lnTo>
                <a:lnTo>
                  <a:pt x="471" y="275"/>
                </a:lnTo>
                <a:lnTo>
                  <a:pt x="490" y="266"/>
                </a:lnTo>
                <a:lnTo>
                  <a:pt x="506" y="255"/>
                </a:lnTo>
                <a:lnTo>
                  <a:pt x="522" y="244"/>
                </a:lnTo>
                <a:lnTo>
                  <a:pt x="536" y="234"/>
                </a:lnTo>
                <a:lnTo>
                  <a:pt x="547" y="221"/>
                </a:lnTo>
                <a:lnTo>
                  <a:pt x="556" y="208"/>
                </a:lnTo>
                <a:lnTo>
                  <a:pt x="564" y="196"/>
                </a:lnTo>
                <a:lnTo>
                  <a:pt x="569" y="182"/>
                </a:lnTo>
                <a:lnTo>
                  <a:pt x="572" y="169"/>
                </a:lnTo>
                <a:lnTo>
                  <a:pt x="574" y="156"/>
                </a:lnTo>
                <a:lnTo>
                  <a:pt x="572" y="141"/>
                </a:lnTo>
                <a:lnTo>
                  <a:pt x="569" y="129"/>
                </a:lnTo>
                <a:lnTo>
                  <a:pt x="564" y="114"/>
                </a:lnTo>
                <a:lnTo>
                  <a:pt x="556" y="102"/>
                </a:lnTo>
                <a:lnTo>
                  <a:pt x="547" y="90"/>
                </a:lnTo>
                <a:lnTo>
                  <a:pt x="536" y="76"/>
                </a:lnTo>
                <a:lnTo>
                  <a:pt x="522" y="65"/>
                </a:lnTo>
                <a:lnTo>
                  <a:pt x="506" y="55"/>
                </a:lnTo>
                <a:lnTo>
                  <a:pt x="490" y="45"/>
                </a:lnTo>
                <a:lnTo>
                  <a:pt x="471" y="36"/>
                </a:lnTo>
                <a:lnTo>
                  <a:pt x="451" y="26"/>
                </a:lnTo>
                <a:lnTo>
                  <a:pt x="431" y="20"/>
                </a:lnTo>
                <a:lnTo>
                  <a:pt x="408" y="14"/>
                </a:lnTo>
                <a:lnTo>
                  <a:pt x="385" y="8"/>
                </a:lnTo>
                <a:lnTo>
                  <a:pt x="361" y="5"/>
                </a:lnTo>
                <a:lnTo>
                  <a:pt x="337" y="1"/>
                </a:lnTo>
                <a:lnTo>
                  <a:pt x="311" y="0"/>
                </a:lnTo>
                <a:lnTo>
                  <a:pt x="287" y="0"/>
                </a:lnTo>
                <a:lnTo>
                  <a:pt x="262" y="0"/>
                </a:lnTo>
                <a:lnTo>
                  <a:pt x="237" y="1"/>
                </a:lnTo>
                <a:lnTo>
                  <a:pt x="212" y="5"/>
                </a:lnTo>
                <a:lnTo>
                  <a:pt x="189" y="9"/>
                </a:lnTo>
                <a:lnTo>
                  <a:pt x="165" y="14"/>
                </a:lnTo>
                <a:lnTo>
                  <a:pt x="143" y="20"/>
                </a:lnTo>
                <a:lnTo>
                  <a:pt x="123" y="28"/>
                </a:lnTo>
                <a:lnTo>
                  <a:pt x="102" y="36"/>
                </a:lnTo>
                <a:lnTo>
                  <a:pt x="84" y="45"/>
                </a:lnTo>
                <a:lnTo>
                  <a:pt x="67" y="55"/>
                </a:lnTo>
                <a:lnTo>
                  <a:pt x="52" y="65"/>
                </a:lnTo>
                <a:lnTo>
                  <a:pt x="38" y="78"/>
                </a:lnTo>
                <a:lnTo>
                  <a:pt x="28" y="90"/>
                </a:lnTo>
                <a:lnTo>
                  <a:pt x="17" y="102"/>
                </a:lnTo>
                <a:lnTo>
                  <a:pt x="9" y="115"/>
                </a:lnTo>
                <a:lnTo>
                  <a:pt x="5" y="129"/>
                </a:lnTo>
                <a:lnTo>
                  <a:pt x="1" y="142"/>
                </a:lnTo>
                <a:lnTo>
                  <a:pt x="0" y="15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3" name="Group 12">
            <a:extLst>
              <a:ext uri="{FF2B5EF4-FFF2-40B4-BE49-F238E27FC236}">
                <a16:creationId xmlns:a16="http://schemas.microsoft.com/office/drawing/2014/main" id="{0036CD5C-07AE-E072-30CB-F0E550C7C6B8}"/>
              </a:ext>
            </a:extLst>
          </p:cNvPr>
          <p:cNvGrpSpPr>
            <a:grpSpLocks/>
          </p:cNvGrpSpPr>
          <p:nvPr/>
        </p:nvGrpSpPr>
        <p:grpSpPr bwMode="auto">
          <a:xfrm>
            <a:off x="5913498" y="1627571"/>
            <a:ext cx="939800" cy="519112"/>
            <a:chOff x="4713" y="1060"/>
            <a:chExt cx="592" cy="327"/>
          </a:xfrm>
        </p:grpSpPr>
        <p:sp>
          <p:nvSpPr>
            <p:cNvPr id="44" name="Freeform 13">
              <a:extLst>
                <a:ext uri="{FF2B5EF4-FFF2-40B4-BE49-F238E27FC236}">
                  <a16:creationId xmlns:a16="http://schemas.microsoft.com/office/drawing/2014/main" id="{CFC65729-463E-81E2-0BF7-996D5B7E50FD}"/>
                </a:ext>
              </a:extLst>
            </p:cNvPr>
            <p:cNvSpPr>
              <a:spLocks/>
            </p:cNvSpPr>
            <p:nvPr/>
          </p:nvSpPr>
          <p:spPr bwMode="auto">
            <a:xfrm>
              <a:off x="4713" y="1060"/>
              <a:ext cx="592" cy="327"/>
            </a:xfrm>
            <a:custGeom>
              <a:avLst/>
              <a:gdLst>
                <a:gd name="T0" fmla="*/ 589 w 592"/>
                <a:gd name="T1" fmla="*/ 148 h 327"/>
                <a:gd name="T2" fmla="*/ 581 w 592"/>
                <a:gd name="T3" fmla="*/ 120 h 327"/>
                <a:gd name="T4" fmla="*/ 563 w 592"/>
                <a:gd name="T5" fmla="*/ 94 h 327"/>
                <a:gd name="T6" fmla="*/ 538 w 592"/>
                <a:gd name="T7" fmla="*/ 68 h 327"/>
                <a:gd name="T8" fmla="*/ 505 w 592"/>
                <a:gd name="T9" fmla="*/ 46 h 327"/>
                <a:gd name="T10" fmla="*/ 465 w 592"/>
                <a:gd name="T11" fmla="*/ 29 h 327"/>
                <a:gd name="T12" fmla="*/ 420 w 592"/>
                <a:gd name="T13" fmla="*/ 14 h 327"/>
                <a:gd name="T14" fmla="*/ 372 w 592"/>
                <a:gd name="T15" fmla="*/ 4 h 327"/>
                <a:gd name="T16" fmla="*/ 321 w 592"/>
                <a:gd name="T17" fmla="*/ 0 h 327"/>
                <a:gd name="T18" fmla="*/ 269 w 592"/>
                <a:gd name="T19" fmla="*/ 0 h 327"/>
                <a:gd name="T20" fmla="*/ 218 w 592"/>
                <a:gd name="T21" fmla="*/ 4 h 327"/>
                <a:gd name="T22" fmla="*/ 170 w 592"/>
                <a:gd name="T23" fmla="*/ 14 h 327"/>
                <a:gd name="T24" fmla="*/ 125 w 592"/>
                <a:gd name="T25" fmla="*/ 29 h 327"/>
                <a:gd name="T26" fmla="*/ 85 w 592"/>
                <a:gd name="T27" fmla="*/ 46 h 327"/>
                <a:gd name="T28" fmla="*/ 53 w 592"/>
                <a:gd name="T29" fmla="*/ 68 h 327"/>
                <a:gd name="T30" fmla="*/ 27 w 592"/>
                <a:gd name="T31" fmla="*/ 94 h 327"/>
                <a:gd name="T32" fmla="*/ 9 w 592"/>
                <a:gd name="T33" fmla="*/ 120 h 327"/>
                <a:gd name="T34" fmla="*/ 1 w 592"/>
                <a:gd name="T35" fmla="*/ 148 h 327"/>
                <a:gd name="T36" fmla="*/ 1 w 592"/>
                <a:gd name="T37" fmla="*/ 177 h 327"/>
                <a:gd name="T38" fmla="*/ 9 w 592"/>
                <a:gd name="T39" fmla="*/ 205 h 327"/>
                <a:gd name="T40" fmla="*/ 27 w 592"/>
                <a:gd name="T41" fmla="*/ 231 h 327"/>
                <a:gd name="T42" fmla="*/ 53 w 592"/>
                <a:gd name="T43" fmla="*/ 257 h 327"/>
                <a:gd name="T44" fmla="*/ 85 w 592"/>
                <a:gd name="T45" fmla="*/ 278 h 327"/>
                <a:gd name="T46" fmla="*/ 125 w 592"/>
                <a:gd name="T47" fmla="*/ 296 h 327"/>
                <a:gd name="T48" fmla="*/ 170 w 592"/>
                <a:gd name="T49" fmla="*/ 310 h 327"/>
                <a:gd name="T50" fmla="*/ 218 w 592"/>
                <a:gd name="T51" fmla="*/ 320 h 327"/>
                <a:gd name="T52" fmla="*/ 269 w 592"/>
                <a:gd name="T53" fmla="*/ 326 h 327"/>
                <a:gd name="T54" fmla="*/ 321 w 592"/>
                <a:gd name="T55" fmla="*/ 326 h 327"/>
                <a:gd name="T56" fmla="*/ 372 w 592"/>
                <a:gd name="T57" fmla="*/ 320 h 327"/>
                <a:gd name="T58" fmla="*/ 420 w 592"/>
                <a:gd name="T59" fmla="*/ 310 h 327"/>
                <a:gd name="T60" fmla="*/ 465 w 592"/>
                <a:gd name="T61" fmla="*/ 296 h 327"/>
                <a:gd name="T62" fmla="*/ 505 w 592"/>
                <a:gd name="T63" fmla="*/ 278 h 327"/>
                <a:gd name="T64" fmla="*/ 538 w 592"/>
                <a:gd name="T65" fmla="*/ 257 h 327"/>
                <a:gd name="T66" fmla="*/ 563 w 592"/>
                <a:gd name="T67" fmla="*/ 231 h 327"/>
                <a:gd name="T68" fmla="*/ 581 w 592"/>
                <a:gd name="T69" fmla="*/ 205 h 327"/>
                <a:gd name="T70" fmla="*/ 589 w 592"/>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92"/>
                <a:gd name="T109" fmla="*/ 0 h 327"/>
                <a:gd name="T110" fmla="*/ 592 w 592"/>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92" h="327">
                  <a:moveTo>
                    <a:pt x="591" y="163"/>
                  </a:moveTo>
                  <a:lnTo>
                    <a:pt x="589" y="148"/>
                  </a:lnTo>
                  <a:lnTo>
                    <a:pt x="586" y="133"/>
                  </a:lnTo>
                  <a:lnTo>
                    <a:pt x="581" y="120"/>
                  </a:lnTo>
                  <a:lnTo>
                    <a:pt x="573" y="106"/>
                  </a:lnTo>
                  <a:lnTo>
                    <a:pt x="563" y="94"/>
                  </a:lnTo>
                  <a:lnTo>
                    <a:pt x="550" y="81"/>
                  </a:lnTo>
                  <a:lnTo>
                    <a:pt x="538" y="68"/>
                  </a:lnTo>
                  <a:lnTo>
                    <a:pt x="521" y="57"/>
                  </a:lnTo>
                  <a:lnTo>
                    <a:pt x="505" y="46"/>
                  </a:lnTo>
                  <a:lnTo>
                    <a:pt x="485" y="37"/>
                  </a:lnTo>
                  <a:lnTo>
                    <a:pt x="465" y="29"/>
                  </a:lnTo>
                  <a:lnTo>
                    <a:pt x="442" y="21"/>
                  </a:lnTo>
                  <a:lnTo>
                    <a:pt x="420" y="14"/>
                  </a:lnTo>
                  <a:lnTo>
                    <a:pt x="395" y="9"/>
                  </a:lnTo>
                  <a:lnTo>
                    <a:pt x="372" y="4"/>
                  </a:lnTo>
                  <a:lnTo>
                    <a:pt x="347" y="1"/>
                  </a:lnTo>
                  <a:lnTo>
                    <a:pt x="321" y="0"/>
                  </a:lnTo>
                  <a:lnTo>
                    <a:pt x="294" y="0"/>
                  </a:lnTo>
                  <a:lnTo>
                    <a:pt x="269" y="0"/>
                  </a:lnTo>
                  <a:lnTo>
                    <a:pt x="243" y="1"/>
                  </a:lnTo>
                  <a:lnTo>
                    <a:pt x="218" y="4"/>
                  </a:lnTo>
                  <a:lnTo>
                    <a:pt x="195" y="9"/>
                  </a:lnTo>
                  <a:lnTo>
                    <a:pt x="170" y="14"/>
                  </a:lnTo>
                  <a:lnTo>
                    <a:pt x="148" y="21"/>
                  </a:lnTo>
                  <a:lnTo>
                    <a:pt x="125" y="29"/>
                  </a:lnTo>
                  <a:lnTo>
                    <a:pt x="105" y="37"/>
                  </a:lnTo>
                  <a:lnTo>
                    <a:pt x="85" y="46"/>
                  </a:lnTo>
                  <a:lnTo>
                    <a:pt x="69" y="57"/>
                  </a:lnTo>
                  <a:lnTo>
                    <a:pt x="53" y="68"/>
                  </a:lnTo>
                  <a:lnTo>
                    <a:pt x="40" y="81"/>
                  </a:lnTo>
                  <a:lnTo>
                    <a:pt x="27" y="94"/>
                  </a:lnTo>
                  <a:lnTo>
                    <a:pt x="17" y="106"/>
                  </a:lnTo>
                  <a:lnTo>
                    <a:pt x="9" y="120"/>
                  </a:lnTo>
                  <a:lnTo>
                    <a:pt x="4" y="133"/>
                  </a:lnTo>
                  <a:lnTo>
                    <a:pt x="1" y="148"/>
                  </a:lnTo>
                  <a:lnTo>
                    <a:pt x="0" y="163"/>
                  </a:lnTo>
                  <a:lnTo>
                    <a:pt x="1" y="177"/>
                  </a:lnTo>
                  <a:lnTo>
                    <a:pt x="4" y="191"/>
                  </a:lnTo>
                  <a:lnTo>
                    <a:pt x="9" y="205"/>
                  </a:lnTo>
                  <a:lnTo>
                    <a:pt x="17" y="219"/>
                  </a:lnTo>
                  <a:lnTo>
                    <a:pt x="27" y="231"/>
                  </a:lnTo>
                  <a:lnTo>
                    <a:pt x="40" y="244"/>
                  </a:lnTo>
                  <a:lnTo>
                    <a:pt x="53" y="257"/>
                  </a:lnTo>
                  <a:lnTo>
                    <a:pt x="69" y="268"/>
                  </a:lnTo>
                  <a:lnTo>
                    <a:pt x="85" y="278"/>
                  </a:lnTo>
                  <a:lnTo>
                    <a:pt x="105" y="288"/>
                  </a:lnTo>
                  <a:lnTo>
                    <a:pt x="125" y="296"/>
                  </a:lnTo>
                  <a:lnTo>
                    <a:pt x="148" y="304"/>
                  </a:lnTo>
                  <a:lnTo>
                    <a:pt x="170" y="310"/>
                  </a:lnTo>
                  <a:lnTo>
                    <a:pt x="195" y="316"/>
                  </a:lnTo>
                  <a:lnTo>
                    <a:pt x="218" y="320"/>
                  </a:lnTo>
                  <a:lnTo>
                    <a:pt x="243" y="324"/>
                  </a:lnTo>
                  <a:lnTo>
                    <a:pt x="269" y="326"/>
                  </a:lnTo>
                  <a:lnTo>
                    <a:pt x="294" y="326"/>
                  </a:lnTo>
                  <a:lnTo>
                    <a:pt x="321" y="326"/>
                  </a:lnTo>
                  <a:lnTo>
                    <a:pt x="347" y="324"/>
                  </a:lnTo>
                  <a:lnTo>
                    <a:pt x="372" y="320"/>
                  </a:lnTo>
                  <a:lnTo>
                    <a:pt x="395" y="316"/>
                  </a:lnTo>
                  <a:lnTo>
                    <a:pt x="420" y="310"/>
                  </a:lnTo>
                  <a:lnTo>
                    <a:pt x="442" y="304"/>
                  </a:lnTo>
                  <a:lnTo>
                    <a:pt x="465" y="296"/>
                  </a:lnTo>
                  <a:lnTo>
                    <a:pt x="485" y="288"/>
                  </a:lnTo>
                  <a:lnTo>
                    <a:pt x="505" y="278"/>
                  </a:lnTo>
                  <a:lnTo>
                    <a:pt x="521" y="268"/>
                  </a:lnTo>
                  <a:lnTo>
                    <a:pt x="538" y="257"/>
                  </a:lnTo>
                  <a:lnTo>
                    <a:pt x="550" y="244"/>
                  </a:lnTo>
                  <a:lnTo>
                    <a:pt x="563" y="231"/>
                  </a:lnTo>
                  <a:lnTo>
                    <a:pt x="573" y="219"/>
                  </a:lnTo>
                  <a:lnTo>
                    <a:pt x="581" y="205"/>
                  </a:lnTo>
                  <a:lnTo>
                    <a:pt x="586" y="191"/>
                  </a:lnTo>
                  <a:lnTo>
                    <a:pt x="589" y="177"/>
                  </a:lnTo>
                  <a:lnTo>
                    <a:pt x="591"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Rectangle 14">
              <a:extLst>
                <a:ext uri="{FF2B5EF4-FFF2-40B4-BE49-F238E27FC236}">
                  <a16:creationId xmlns:a16="http://schemas.microsoft.com/office/drawing/2014/main" id="{B1DDADD9-D4C8-FA2B-3475-EE45A75FA3E8}"/>
                </a:ext>
              </a:extLst>
            </p:cNvPr>
            <p:cNvSpPr>
              <a:spLocks noChangeArrowheads="1"/>
            </p:cNvSpPr>
            <p:nvPr/>
          </p:nvSpPr>
          <p:spPr bwMode="auto">
            <a:xfrm>
              <a:off x="4741" y="110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dname</a:t>
              </a:r>
            </a:p>
          </p:txBody>
        </p:sp>
      </p:grpSp>
      <p:sp>
        <p:nvSpPr>
          <p:cNvPr id="46" name="Rectangle 15">
            <a:extLst>
              <a:ext uri="{FF2B5EF4-FFF2-40B4-BE49-F238E27FC236}">
                <a16:creationId xmlns:a16="http://schemas.microsoft.com/office/drawing/2014/main" id="{E9A321A7-D0E5-5465-A4CE-679CB809EB8D}"/>
              </a:ext>
            </a:extLst>
          </p:cNvPr>
          <p:cNvSpPr>
            <a:spLocks noChangeArrowheads="1"/>
          </p:cNvSpPr>
          <p:nvPr/>
        </p:nvSpPr>
        <p:spPr bwMode="auto">
          <a:xfrm>
            <a:off x="6718360" y="2078421"/>
            <a:ext cx="857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47" name="Rectangle 16">
            <a:extLst>
              <a:ext uri="{FF2B5EF4-FFF2-40B4-BE49-F238E27FC236}">
                <a16:creationId xmlns:a16="http://schemas.microsoft.com/office/drawing/2014/main" id="{169DBA96-C931-9F0A-F73A-91D0DFE0815B}"/>
              </a:ext>
            </a:extLst>
          </p:cNvPr>
          <p:cNvSpPr>
            <a:spLocks noChangeArrowheads="1"/>
          </p:cNvSpPr>
          <p:nvPr/>
        </p:nvSpPr>
        <p:spPr bwMode="auto">
          <a:xfrm>
            <a:off x="5448360" y="209270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did</a:t>
            </a:r>
          </a:p>
        </p:txBody>
      </p:sp>
      <p:grpSp>
        <p:nvGrpSpPr>
          <p:cNvPr id="48" name="Group 17">
            <a:extLst>
              <a:ext uri="{FF2B5EF4-FFF2-40B4-BE49-F238E27FC236}">
                <a16:creationId xmlns:a16="http://schemas.microsoft.com/office/drawing/2014/main" id="{02219705-5079-8B30-2380-2721B9DF77C7}"/>
              </a:ext>
            </a:extLst>
          </p:cNvPr>
          <p:cNvGrpSpPr>
            <a:grpSpLocks/>
          </p:cNvGrpSpPr>
          <p:nvPr/>
        </p:nvGrpSpPr>
        <p:grpSpPr bwMode="auto">
          <a:xfrm>
            <a:off x="4259940" y="1408083"/>
            <a:ext cx="720725" cy="519112"/>
            <a:chOff x="3663" y="868"/>
            <a:chExt cx="454" cy="327"/>
          </a:xfrm>
        </p:grpSpPr>
        <p:sp>
          <p:nvSpPr>
            <p:cNvPr id="49" name="Freeform 18">
              <a:extLst>
                <a:ext uri="{FF2B5EF4-FFF2-40B4-BE49-F238E27FC236}">
                  <a16:creationId xmlns:a16="http://schemas.microsoft.com/office/drawing/2014/main" id="{DF520DE2-B2C2-B1EF-5868-6D28E688EA74}"/>
                </a:ext>
              </a:extLst>
            </p:cNvPr>
            <p:cNvSpPr>
              <a:spLocks/>
            </p:cNvSpPr>
            <p:nvPr/>
          </p:nvSpPr>
          <p:spPr bwMode="auto">
            <a:xfrm>
              <a:off x="3663" y="868"/>
              <a:ext cx="454" cy="327"/>
            </a:xfrm>
            <a:custGeom>
              <a:avLst/>
              <a:gdLst>
                <a:gd name="T0" fmla="*/ 1 w 454"/>
                <a:gd name="T1" fmla="*/ 177 h 327"/>
                <a:gd name="T2" fmla="*/ 8 w 454"/>
                <a:gd name="T3" fmla="*/ 205 h 327"/>
                <a:gd name="T4" fmla="*/ 21 w 454"/>
                <a:gd name="T5" fmla="*/ 231 h 327"/>
                <a:gd name="T6" fmla="*/ 41 w 454"/>
                <a:gd name="T7" fmla="*/ 257 h 327"/>
                <a:gd name="T8" fmla="*/ 66 w 454"/>
                <a:gd name="T9" fmla="*/ 278 h 327"/>
                <a:gd name="T10" fmla="*/ 96 w 454"/>
                <a:gd name="T11" fmla="*/ 296 h 327"/>
                <a:gd name="T12" fmla="*/ 131 w 454"/>
                <a:gd name="T13" fmla="*/ 311 h 327"/>
                <a:gd name="T14" fmla="*/ 167 w 454"/>
                <a:gd name="T15" fmla="*/ 320 h 327"/>
                <a:gd name="T16" fmla="*/ 206 w 454"/>
                <a:gd name="T17" fmla="*/ 326 h 327"/>
                <a:gd name="T18" fmla="*/ 246 w 454"/>
                <a:gd name="T19" fmla="*/ 326 h 327"/>
                <a:gd name="T20" fmla="*/ 285 w 454"/>
                <a:gd name="T21" fmla="*/ 320 h 327"/>
                <a:gd name="T22" fmla="*/ 322 w 454"/>
                <a:gd name="T23" fmla="*/ 310 h 327"/>
                <a:gd name="T24" fmla="*/ 356 w 454"/>
                <a:gd name="T25" fmla="*/ 296 h 327"/>
                <a:gd name="T26" fmla="*/ 387 w 454"/>
                <a:gd name="T27" fmla="*/ 278 h 327"/>
                <a:gd name="T28" fmla="*/ 412 w 454"/>
                <a:gd name="T29" fmla="*/ 257 h 327"/>
                <a:gd name="T30" fmla="*/ 431 w 454"/>
                <a:gd name="T31" fmla="*/ 231 h 327"/>
                <a:gd name="T32" fmla="*/ 445 w 454"/>
                <a:gd name="T33" fmla="*/ 205 h 327"/>
                <a:gd name="T34" fmla="*/ 453 w 454"/>
                <a:gd name="T35" fmla="*/ 177 h 327"/>
                <a:gd name="T36" fmla="*/ 453 w 454"/>
                <a:gd name="T37" fmla="*/ 148 h 327"/>
                <a:gd name="T38" fmla="*/ 445 w 454"/>
                <a:gd name="T39" fmla="*/ 120 h 327"/>
                <a:gd name="T40" fmla="*/ 431 w 454"/>
                <a:gd name="T41" fmla="*/ 94 h 327"/>
                <a:gd name="T42" fmla="*/ 412 w 454"/>
                <a:gd name="T43" fmla="*/ 68 h 327"/>
                <a:gd name="T44" fmla="*/ 387 w 454"/>
                <a:gd name="T45" fmla="*/ 47 h 327"/>
                <a:gd name="T46" fmla="*/ 356 w 454"/>
                <a:gd name="T47" fmla="*/ 29 h 327"/>
                <a:gd name="T48" fmla="*/ 322 w 454"/>
                <a:gd name="T49" fmla="*/ 15 h 327"/>
                <a:gd name="T50" fmla="*/ 285 w 454"/>
                <a:gd name="T51" fmla="*/ 5 h 327"/>
                <a:gd name="T52" fmla="*/ 246 w 454"/>
                <a:gd name="T53" fmla="*/ 0 h 327"/>
                <a:gd name="T54" fmla="*/ 206 w 454"/>
                <a:gd name="T55" fmla="*/ 0 h 327"/>
                <a:gd name="T56" fmla="*/ 167 w 454"/>
                <a:gd name="T57" fmla="*/ 5 h 327"/>
                <a:gd name="T58" fmla="*/ 131 w 454"/>
                <a:gd name="T59" fmla="*/ 15 h 327"/>
                <a:gd name="T60" fmla="*/ 96 w 454"/>
                <a:gd name="T61" fmla="*/ 29 h 327"/>
                <a:gd name="T62" fmla="*/ 66 w 454"/>
                <a:gd name="T63" fmla="*/ 47 h 327"/>
                <a:gd name="T64" fmla="*/ 41 w 454"/>
                <a:gd name="T65" fmla="*/ 68 h 327"/>
                <a:gd name="T66" fmla="*/ 21 w 454"/>
                <a:gd name="T67" fmla="*/ 94 h 327"/>
                <a:gd name="T68" fmla="*/ 8 w 454"/>
                <a:gd name="T69" fmla="*/ 120 h 327"/>
                <a:gd name="T70" fmla="*/ 1 w 454"/>
                <a:gd name="T71" fmla="*/ 148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0" y="163"/>
                  </a:moveTo>
                  <a:lnTo>
                    <a:pt x="1" y="177"/>
                  </a:lnTo>
                  <a:lnTo>
                    <a:pt x="3" y="192"/>
                  </a:lnTo>
                  <a:lnTo>
                    <a:pt x="8" y="205"/>
                  </a:lnTo>
                  <a:lnTo>
                    <a:pt x="13" y="219"/>
                  </a:lnTo>
                  <a:lnTo>
                    <a:pt x="21" y="231"/>
                  </a:lnTo>
                  <a:lnTo>
                    <a:pt x="30" y="244"/>
                  </a:lnTo>
                  <a:lnTo>
                    <a:pt x="41" y="257"/>
                  </a:lnTo>
                  <a:lnTo>
                    <a:pt x="53" y="268"/>
                  </a:lnTo>
                  <a:lnTo>
                    <a:pt x="66" y="278"/>
                  </a:lnTo>
                  <a:lnTo>
                    <a:pt x="80" y="288"/>
                  </a:lnTo>
                  <a:lnTo>
                    <a:pt x="96" y="296"/>
                  </a:lnTo>
                  <a:lnTo>
                    <a:pt x="113" y="304"/>
                  </a:lnTo>
                  <a:lnTo>
                    <a:pt x="131" y="311"/>
                  </a:lnTo>
                  <a:lnTo>
                    <a:pt x="149" y="316"/>
                  </a:lnTo>
                  <a:lnTo>
                    <a:pt x="167" y="320"/>
                  </a:lnTo>
                  <a:lnTo>
                    <a:pt x="186" y="324"/>
                  </a:lnTo>
                  <a:lnTo>
                    <a:pt x="206" y="326"/>
                  </a:lnTo>
                  <a:lnTo>
                    <a:pt x="227" y="326"/>
                  </a:lnTo>
                  <a:lnTo>
                    <a:pt x="246" y="326"/>
                  </a:lnTo>
                  <a:lnTo>
                    <a:pt x="266" y="323"/>
                  </a:lnTo>
                  <a:lnTo>
                    <a:pt x="285" y="320"/>
                  </a:lnTo>
                  <a:lnTo>
                    <a:pt x="304" y="316"/>
                  </a:lnTo>
                  <a:lnTo>
                    <a:pt x="322" y="310"/>
                  </a:lnTo>
                  <a:lnTo>
                    <a:pt x="340" y="304"/>
                  </a:lnTo>
                  <a:lnTo>
                    <a:pt x="356" y="296"/>
                  </a:lnTo>
                  <a:lnTo>
                    <a:pt x="372" y="288"/>
                  </a:lnTo>
                  <a:lnTo>
                    <a:pt x="387" y="278"/>
                  </a:lnTo>
                  <a:lnTo>
                    <a:pt x="399" y="266"/>
                  </a:lnTo>
                  <a:lnTo>
                    <a:pt x="412" y="257"/>
                  </a:lnTo>
                  <a:lnTo>
                    <a:pt x="423" y="244"/>
                  </a:lnTo>
                  <a:lnTo>
                    <a:pt x="431" y="231"/>
                  </a:lnTo>
                  <a:lnTo>
                    <a:pt x="439" y="219"/>
                  </a:lnTo>
                  <a:lnTo>
                    <a:pt x="445" y="205"/>
                  </a:lnTo>
                  <a:lnTo>
                    <a:pt x="449" y="191"/>
                  </a:lnTo>
                  <a:lnTo>
                    <a:pt x="453" y="177"/>
                  </a:lnTo>
                  <a:lnTo>
                    <a:pt x="453" y="163"/>
                  </a:ln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1"/>
                  </a:lnTo>
                  <a:lnTo>
                    <a:pt x="246" y="0"/>
                  </a:lnTo>
                  <a:lnTo>
                    <a:pt x="225" y="0"/>
                  </a:lnTo>
                  <a:lnTo>
                    <a:pt x="206" y="0"/>
                  </a:lnTo>
                  <a:lnTo>
                    <a:pt x="186" y="1"/>
                  </a:lnTo>
                  <a:lnTo>
                    <a:pt x="167" y="5"/>
                  </a:lnTo>
                  <a:lnTo>
                    <a:pt x="149" y="9"/>
                  </a:lnTo>
                  <a:lnTo>
                    <a:pt x="131" y="15"/>
                  </a:lnTo>
                  <a:lnTo>
                    <a:pt x="113" y="21"/>
                  </a:lnTo>
                  <a:lnTo>
                    <a:pt x="96" y="29"/>
                  </a:lnTo>
                  <a:lnTo>
                    <a:pt x="80" y="37"/>
                  </a:lnTo>
                  <a:lnTo>
                    <a:pt x="66" y="47"/>
                  </a:lnTo>
                  <a:lnTo>
                    <a:pt x="53" y="57"/>
                  </a:lnTo>
                  <a:lnTo>
                    <a:pt x="41" y="68"/>
                  </a:lnTo>
                  <a:lnTo>
                    <a:pt x="30" y="81"/>
                  </a:lnTo>
                  <a:lnTo>
                    <a:pt x="21" y="94"/>
                  </a:lnTo>
                  <a:lnTo>
                    <a:pt x="13" y="106"/>
                  </a:lnTo>
                  <a:lnTo>
                    <a:pt x="8" y="120"/>
                  </a:lnTo>
                  <a:lnTo>
                    <a:pt x="3" y="134"/>
                  </a:lnTo>
                  <a:lnTo>
                    <a:pt x="1" y="148"/>
                  </a:lnTo>
                  <a:lnTo>
                    <a:pt x="0"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Rectangle 19">
              <a:extLst>
                <a:ext uri="{FF2B5EF4-FFF2-40B4-BE49-F238E27FC236}">
                  <a16:creationId xmlns:a16="http://schemas.microsoft.com/office/drawing/2014/main" id="{A69C7008-934E-D70B-B662-5F754E919D19}"/>
                </a:ext>
              </a:extLst>
            </p:cNvPr>
            <p:cNvSpPr>
              <a:spLocks noChangeArrowheads="1"/>
            </p:cNvSpPr>
            <p:nvPr/>
          </p:nvSpPr>
          <p:spPr bwMode="auto">
            <a:xfrm>
              <a:off x="3666" y="930"/>
              <a:ext cx="44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since</a:t>
              </a:r>
            </a:p>
          </p:txBody>
        </p:sp>
      </p:grpSp>
      <p:grpSp>
        <p:nvGrpSpPr>
          <p:cNvPr id="51" name="Group 20">
            <a:extLst>
              <a:ext uri="{FF2B5EF4-FFF2-40B4-BE49-F238E27FC236}">
                <a16:creationId xmlns:a16="http://schemas.microsoft.com/office/drawing/2014/main" id="{6FCA696B-31E5-1FAF-25F0-E471931DD4C7}"/>
              </a:ext>
            </a:extLst>
          </p:cNvPr>
          <p:cNvGrpSpPr>
            <a:grpSpLocks/>
          </p:cNvGrpSpPr>
          <p:nvPr/>
        </p:nvGrpSpPr>
        <p:grpSpPr bwMode="auto">
          <a:xfrm>
            <a:off x="1752600" y="1611696"/>
            <a:ext cx="2039938" cy="900112"/>
            <a:chOff x="2110" y="1050"/>
            <a:chExt cx="1285" cy="567"/>
          </a:xfrm>
        </p:grpSpPr>
        <p:sp>
          <p:nvSpPr>
            <p:cNvPr id="52" name="Freeform 21">
              <a:extLst>
                <a:ext uri="{FF2B5EF4-FFF2-40B4-BE49-F238E27FC236}">
                  <a16:creationId xmlns:a16="http://schemas.microsoft.com/office/drawing/2014/main" id="{4FE6B98F-4067-309F-C909-B4BA506AADA7}"/>
                </a:ext>
              </a:extLst>
            </p:cNvPr>
            <p:cNvSpPr>
              <a:spLocks/>
            </p:cNvSpPr>
            <p:nvPr/>
          </p:nvSpPr>
          <p:spPr bwMode="auto">
            <a:xfrm>
              <a:off x="2517" y="1050"/>
              <a:ext cx="454" cy="327"/>
            </a:xfrm>
            <a:custGeom>
              <a:avLst/>
              <a:gdLst>
                <a:gd name="T0" fmla="*/ 453 w 454"/>
                <a:gd name="T1" fmla="*/ 148 h 327"/>
                <a:gd name="T2" fmla="*/ 445 w 454"/>
                <a:gd name="T3" fmla="*/ 120 h 327"/>
                <a:gd name="T4" fmla="*/ 431 w 454"/>
                <a:gd name="T5" fmla="*/ 94 h 327"/>
                <a:gd name="T6" fmla="*/ 412 w 454"/>
                <a:gd name="T7" fmla="*/ 68 h 327"/>
                <a:gd name="T8" fmla="*/ 387 w 454"/>
                <a:gd name="T9" fmla="*/ 47 h 327"/>
                <a:gd name="T10" fmla="*/ 356 w 454"/>
                <a:gd name="T11" fmla="*/ 29 h 327"/>
                <a:gd name="T12" fmla="*/ 322 w 454"/>
                <a:gd name="T13" fmla="*/ 15 h 327"/>
                <a:gd name="T14" fmla="*/ 285 w 454"/>
                <a:gd name="T15" fmla="*/ 5 h 327"/>
                <a:gd name="T16" fmla="*/ 246 w 454"/>
                <a:gd name="T17" fmla="*/ 0 h 327"/>
                <a:gd name="T18" fmla="*/ 206 w 454"/>
                <a:gd name="T19" fmla="*/ 0 h 327"/>
                <a:gd name="T20" fmla="*/ 167 w 454"/>
                <a:gd name="T21" fmla="*/ 5 h 327"/>
                <a:gd name="T22" fmla="*/ 131 w 454"/>
                <a:gd name="T23" fmla="*/ 15 h 327"/>
                <a:gd name="T24" fmla="*/ 96 w 454"/>
                <a:gd name="T25" fmla="*/ 29 h 327"/>
                <a:gd name="T26" fmla="*/ 66 w 454"/>
                <a:gd name="T27" fmla="*/ 47 h 327"/>
                <a:gd name="T28" fmla="*/ 41 w 454"/>
                <a:gd name="T29" fmla="*/ 68 h 327"/>
                <a:gd name="T30" fmla="*/ 21 w 454"/>
                <a:gd name="T31" fmla="*/ 94 h 327"/>
                <a:gd name="T32" fmla="*/ 8 w 454"/>
                <a:gd name="T33" fmla="*/ 120 h 327"/>
                <a:gd name="T34" fmla="*/ 1 w 454"/>
                <a:gd name="T35" fmla="*/ 148 h 327"/>
                <a:gd name="T36" fmla="*/ 1 w 454"/>
                <a:gd name="T37" fmla="*/ 177 h 327"/>
                <a:gd name="T38" fmla="*/ 8 w 454"/>
                <a:gd name="T39" fmla="*/ 205 h 327"/>
                <a:gd name="T40" fmla="*/ 21 w 454"/>
                <a:gd name="T41" fmla="*/ 231 h 327"/>
                <a:gd name="T42" fmla="*/ 41 w 454"/>
                <a:gd name="T43" fmla="*/ 257 h 327"/>
                <a:gd name="T44" fmla="*/ 66 w 454"/>
                <a:gd name="T45" fmla="*/ 278 h 327"/>
                <a:gd name="T46" fmla="*/ 96 w 454"/>
                <a:gd name="T47" fmla="*/ 296 h 327"/>
                <a:gd name="T48" fmla="*/ 131 w 454"/>
                <a:gd name="T49" fmla="*/ 310 h 327"/>
                <a:gd name="T50" fmla="*/ 167 w 454"/>
                <a:gd name="T51" fmla="*/ 320 h 327"/>
                <a:gd name="T52" fmla="*/ 206 w 454"/>
                <a:gd name="T53" fmla="*/ 326 h 327"/>
                <a:gd name="T54" fmla="*/ 246 w 454"/>
                <a:gd name="T55" fmla="*/ 326 h 327"/>
                <a:gd name="T56" fmla="*/ 285 w 454"/>
                <a:gd name="T57" fmla="*/ 320 h 327"/>
                <a:gd name="T58" fmla="*/ 322 w 454"/>
                <a:gd name="T59" fmla="*/ 310 h 327"/>
                <a:gd name="T60" fmla="*/ 356 w 454"/>
                <a:gd name="T61" fmla="*/ 296 h 327"/>
                <a:gd name="T62" fmla="*/ 387 w 454"/>
                <a:gd name="T63" fmla="*/ 278 h 327"/>
                <a:gd name="T64" fmla="*/ 412 w 454"/>
                <a:gd name="T65" fmla="*/ 257 h 327"/>
                <a:gd name="T66" fmla="*/ 431 w 454"/>
                <a:gd name="T67" fmla="*/ 231 h 327"/>
                <a:gd name="T68" fmla="*/ 445 w 454"/>
                <a:gd name="T69" fmla="*/ 205 h 327"/>
                <a:gd name="T70" fmla="*/ 453 w 454"/>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2"/>
                  </a:lnTo>
                  <a:lnTo>
                    <a:pt x="246" y="0"/>
                  </a:lnTo>
                  <a:lnTo>
                    <a:pt x="227" y="0"/>
                  </a:lnTo>
                  <a:lnTo>
                    <a:pt x="206" y="0"/>
                  </a:lnTo>
                  <a:lnTo>
                    <a:pt x="187" y="2"/>
                  </a:lnTo>
                  <a:lnTo>
                    <a:pt x="167" y="5"/>
                  </a:lnTo>
                  <a:lnTo>
                    <a:pt x="149" y="9"/>
                  </a:lnTo>
                  <a:lnTo>
                    <a:pt x="131" y="15"/>
                  </a:lnTo>
                  <a:lnTo>
                    <a:pt x="113" y="21"/>
                  </a:lnTo>
                  <a:lnTo>
                    <a:pt x="96" y="29"/>
                  </a:lnTo>
                  <a:lnTo>
                    <a:pt x="81" y="37"/>
                  </a:lnTo>
                  <a:lnTo>
                    <a:pt x="66" y="47"/>
                  </a:lnTo>
                  <a:lnTo>
                    <a:pt x="53" y="57"/>
                  </a:lnTo>
                  <a:lnTo>
                    <a:pt x="41" y="68"/>
                  </a:lnTo>
                  <a:lnTo>
                    <a:pt x="30" y="81"/>
                  </a:lnTo>
                  <a:lnTo>
                    <a:pt x="21" y="94"/>
                  </a:lnTo>
                  <a:lnTo>
                    <a:pt x="13" y="106"/>
                  </a:lnTo>
                  <a:lnTo>
                    <a:pt x="8" y="120"/>
                  </a:lnTo>
                  <a:lnTo>
                    <a:pt x="3" y="134"/>
                  </a:lnTo>
                  <a:lnTo>
                    <a:pt x="1" y="148"/>
                  </a:lnTo>
                  <a:lnTo>
                    <a:pt x="0" y="163"/>
                  </a:lnTo>
                  <a:lnTo>
                    <a:pt x="1" y="177"/>
                  </a:lnTo>
                  <a:lnTo>
                    <a:pt x="3" y="191"/>
                  </a:lnTo>
                  <a:lnTo>
                    <a:pt x="8" y="205"/>
                  </a:lnTo>
                  <a:lnTo>
                    <a:pt x="13" y="219"/>
                  </a:lnTo>
                  <a:lnTo>
                    <a:pt x="21" y="231"/>
                  </a:lnTo>
                  <a:lnTo>
                    <a:pt x="30" y="244"/>
                  </a:lnTo>
                  <a:lnTo>
                    <a:pt x="41" y="257"/>
                  </a:lnTo>
                  <a:lnTo>
                    <a:pt x="53" y="268"/>
                  </a:lnTo>
                  <a:lnTo>
                    <a:pt x="66" y="278"/>
                  </a:lnTo>
                  <a:lnTo>
                    <a:pt x="81" y="288"/>
                  </a:lnTo>
                  <a:lnTo>
                    <a:pt x="96" y="296"/>
                  </a:lnTo>
                  <a:lnTo>
                    <a:pt x="113" y="304"/>
                  </a:lnTo>
                  <a:lnTo>
                    <a:pt x="131" y="310"/>
                  </a:lnTo>
                  <a:lnTo>
                    <a:pt x="149" y="316"/>
                  </a:lnTo>
                  <a:lnTo>
                    <a:pt x="167" y="320"/>
                  </a:lnTo>
                  <a:lnTo>
                    <a:pt x="187" y="324"/>
                  </a:lnTo>
                  <a:lnTo>
                    <a:pt x="206" y="326"/>
                  </a:lnTo>
                  <a:lnTo>
                    <a:pt x="227" y="326"/>
                  </a:lnTo>
                  <a:lnTo>
                    <a:pt x="246" y="326"/>
                  </a:lnTo>
                  <a:lnTo>
                    <a:pt x="266" y="324"/>
                  </a:lnTo>
                  <a:lnTo>
                    <a:pt x="285" y="320"/>
                  </a:lnTo>
                  <a:lnTo>
                    <a:pt x="304" y="316"/>
                  </a:lnTo>
                  <a:lnTo>
                    <a:pt x="322" y="310"/>
                  </a:lnTo>
                  <a:lnTo>
                    <a:pt x="339" y="304"/>
                  </a:lnTo>
                  <a:lnTo>
                    <a:pt x="356" y="296"/>
                  </a:lnTo>
                  <a:lnTo>
                    <a:pt x="372" y="288"/>
                  </a:lnTo>
                  <a:lnTo>
                    <a:pt x="387" y="278"/>
                  </a:lnTo>
                  <a:lnTo>
                    <a:pt x="399" y="268"/>
                  </a:lnTo>
                  <a:lnTo>
                    <a:pt x="412" y="257"/>
                  </a:lnTo>
                  <a:lnTo>
                    <a:pt x="422" y="244"/>
                  </a:lnTo>
                  <a:lnTo>
                    <a:pt x="431" y="231"/>
                  </a:lnTo>
                  <a:lnTo>
                    <a:pt x="439" y="219"/>
                  </a:lnTo>
                  <a:lnTo>
                    <a:pt x="445" y="205"/>
                  </a:lnTo>
                  <a:lnTo>
                    <a:pt x="449" y="191"/>
                  </a:lnTo>
                  <a:lnTo>
                    <a:pt x="453"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22">
              <a:extLst>
                <a:ext uri="{FF2B5EF4-FFF2-40B4-BE49-F238E27FC236}">
                  <a16:creationId xmlns:a16="http://schemas.microsoft.com/office/drawing/2014/main" id="{49DABD2D-5DCC-431B-A1EC-DEB0D0F817A1}"/>
                </a:ext>
              </a:extLst>
            </p:cNvPr>
            <p:cNvSpPr>
              <a:spLocks/>
            </p:cNvSpPr>
            <p:nvPr/>
          </p:nvSpPr>
          <p:spPr bwMode="auto">
            <a:xfrm>
              <a:off x="2110" y="1291"/>
              <a:ext cx="454" cy="326"/>
            </a:xfrm>
            <a:custGeom>
              <a:avLst/>
              <a:gdLst>
                <a:gd name="T0" fmla="*/ 451 w 454"/>
                <a:gd name="T1" fmla="*/ 148 h 326"/>
                <a:gd name="T2" fmla="*/ 445 w 454"/>
                <a:gd name="T3" fmla="*/ 120 h 326"/>
                <a:gd name="T4" fmla="*/ 431 w 454"/>
                <a:gd name="T5" fmla="*/ 93 h 326"/>
                <a:gd name="T6" fmla="*/ 411 w 454"/>
                <a:gd name="T7" fmla="*/ 68 h 326"/>
                <a:gd name="T8" fmla="*/ 386 w 454"/>
                <a:gd name="T9" fmla="*/ 47 h 326"/>
                <a:gd name="T10" fmla="*/ 356 w 454"/>
                <a:gd name="T11" fmla="*/ 29 h 326"/>
                <a:gd name="T12" fmla="*/ 322 w 454"/>
                <a:gd name="T13" fmla="*/ 15 h 326"/>
                <a:gd name="T14" fmla="*/ 285 w 454"/>
                <a:gd name="T15" fmla="*/ 5 h 326"/>
                <a:gd name="T16" fmla="*/ 246 w 454"/>
                <a:gd name="T17" fmla="*/ 0 h 326"/>
                <a:gd name="T18" fmla="*/ 206 w 454"/>
                <a:gd name="T19" fmla="*/ 0 h 326"/>
                <a:gd name="T20" fmla="*/ 167 w 454"/>
                <a:gd name="T21" fmla="*/ 5 h 326"/>
                <a:gd name="T22" fmla="*/ 130 w 454"/>
                <a:gd name="T23" fmla="*/ 15 h 326"/>
                <a:gd name="T24" fmla="*/ 96 w 454"/>
                <a:gd name="T25" fmla="*/ 29 h 326"/>
                <a:gd name="T26" fmla="*/ 66 w 454"/>
                <a:gd name="T27" fmla="*/ 47 h 326"/>
                <a:gd name="T28" fmla="*/ 41 w 454"/>
                <a:gd name="T29" fmla="*/ 68 h 326"/>
                <a:gd name="T30" fmla="*/ 21 w 454"/>
                <a:gd name="T31" fmla="*/ 93 h 326"/>
                <a:gd name="T32" fmla="*/ 7 w 454"/>
                <a:gd name="T33" fmla="*/ 120 h 326"/>
                <a:gd name="T34" fmla="*/ 1 w 454"/>
                <a:gd name="T35" fmla="*/ 148 h 326"/>
                <a:gd name="T36" fmla="*/ 1 w 454"/>
                <a:gd name="T37" fmla="*/ 176 h 326"/>
                <a:gd name="T38" fmla="*/ 7 w 454"/>
                <a:gd name="T39" fmla="*/ 204 h 326"/>
                <a:gd name="T40" fmla="*/ 21 w 454"/>
                <a:gd name="T41" fmla="*/ 231 h 326"/>
                <a:gd name="T42" fmla="*/ 41 w 454"/>
                <a:gd name="T43" fmla="*/ 256 h 326"/>
                <a:gd name="T44" fmla="*/ 66 w 454"/>
                <a:gd name="T45" fmla="*/ 277 h 326"/>
                <a:gd name="T46" fmla="*/ 96 w 454"/>
                <a:gd name="T47" fmla="*/ 295 h 326"/>
                <a:gd name="T48" fmla="*/ 130 w 454"/>
                <a:gd name="T49" fmla="*/ 309 h 326"/>
                <a:gd name="T50" fmla="*/ 167 w 454"/>
                <a:gd name="T51" fmla="*/ 319 h 326"/>
                <a:gd name="T52" fmla="*/ 206 w 454"/>
                <a:gd name="T53" fmla="*/ 325 h 326"/>
                <a:gd name="T54" fmla="*/ 246 w 454"/>
                <a:gd name="T55" fmla="*/ 325 h 326"/>
                <a:gd name="T56" fmla="*/ 285 w 454"/>
                <a:gd name="T57" fmla="*/ 319 h 326"/>
                <a:gd name="T58" fmla="*/ 322 w 454"/>
                <a:gd name="T59" fmla="*/ 309 h 326"/>
                <a:gd name="T60" fmla="*/ 356 w 454"/>
                <a:gd name="T61" fmla="*/ 295 h 326"/>
                <a:gd name="T62" fmla="*/ 386 w 454"/>
                <a:gd name="T63" fmla="*/ 277 h 326"/>
                <a:gd name="T64" fmla="*/ 411 w 454"/>
                <a:gd name="T65" fmla="*/ 256 h 326"/>
                <a:gd name="T66" fmla="*/ 431 w 454"/>
                <a:gd name="T67" fmla="*/ 231 h 326"/>
                <a:gd name="T68" fmla="*/ 445 w 454"/>
                <a:gd name="T69" fmla="*/ 204 h 326"/>
                <a:gd name="T70" fmla="*/ 451 w 454"/>
                <a:gd name="T71" fmla="*/ 176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6"/>
                <a:gd name="T110" fmla="*/ 454 w 454"/>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6">
                  <a:moveTo>
                    <a:pt x="453" y="162"/>
                  </a:moveTo>
                  <a:lnTo>
                    <a:pt x="451" y="148"/>
                  </a:lnTo>
                  <a:lnTo>
                    <a:pt x="449" y="134"/>
                  </a:lnTo>
                  <a:lnTo>
                    <a:pt x="445" y="120"/>
                  </a:lnTo>
                  <a:lnTo>
                    <a:pt x="439" y="106"/>
                  </a:lnTo>
                  <a:lnTo>
                    <a:pt x="431" y="93"/>
                  </a:lnTo>
                  <a:lnTo>
                    <a:pt x="422" y="81"/>
                  </a:lnTo>
                  <a:lnTo>
                    <a:pt x="411" y="68"/>
                  </a:lnTo>
                  <a:lnTo>
                    <a:pt x="399" y="57"/>
                  </a:lnTo>
                  <a:lnTo>
                    <a:pt x="386" y="47"/>
                  </a:lnTo>
                  <a:lnTo>
                    <a:pt x="372" y="37"/>
                  </a:lnTo>
                  <a:lnTo>
                    <a:pt x="356" y="29"/>
                  </a:lnTo>
                  <a:lnTo>
                    <a:pt x="339" y="21"/>
                  </a:lnTo>
                  <a:lnTo>
                    <a:pt x="322" y="15"/>
                  </a:lnTo>
                  <a:lnTo>
                    <a:pt x="304"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6" y="47"/>
                  </a:lnTo>
                  <a:lnTo>
                    <a:pt x="53" y="57"/>
                  </a:lnTo>
                  <a:lnTo>
                    <a:pt x="41" y="68"/>
                  </a:lnTo>
                  <a:lnTo>
                    <a:pt x="30" y="81"/>
                  </a:lnTo>
                  <a:lnTo>
                    <a:pt x="21" y="93"/>
                  </a:lnTo>
                  <a:lnTo>
                    <a:pt x="13" y="106"/>
                  </a:lnTo>
                  <a:lnTo>
                    <a:pt x="7" y="120"/>
                  </a:lnTo>
                  <a:lnTo>
                    <a:pt x="3" y="134"/>
                  </a:lnTo>
                  <a:lnTo>
                    <a:pt x="1" y="148"/>
                  </a:lnTo>
                  <a:lnTo>
                    <a:pt x="0" y="162"/>
                  </a:lnTo>
                  <a:lnTo>
                    <a:pt x="1" y="176"/>
                  </a:lnTo>
                  <a:lnTo>
                    <a:pt x="3" y="190"/>
                  </a:lnTo>
                  <a:lnTo>
                    <a:pt x="7" y="204"/>
                  </a:lnTo>
                  <a:lnTo>
                    <a:pt x="13" y="218"/>
                  </a:lnTo>
                  <a:lnTo>
                    <a:pt x="21" y="231"/>
                  </a:lnTo>
                  <a:lnTo>
                    <a:pt x="30" y="243"/>
                  </a:lnTo>
                  <a:lnTo>
                    <a:pt x="41" y="256"/>
                  </a:lnTo>
                  <a:lnTo>
                    <a:pt x="53" y="266"/>
                  </a:lnTo>
                  <a:lnTo>
                    <a:pt x="66" y="277"/>
                  </a:lnTo>
                  <a:lnTo>
                    <a:pt x="80" y="287"/>
                  </a:lnTo>
                  <a:lnTo>
                    <a:pt x="96" y="295"/>
                  </a:lnTo>
                  <a:lnTo>
                    <a:pt x="113" y="303"/>
                  </a:lnTo>
                  <a:lnTo>
                    <a:pt x="130" y="309"/>
                  </a:lnTo>
                  <a:lnTo>
                    <a:pt x="148" y="315"/>
                  </a:lnTo>
                  <a:lnTo>
                    <a:pt x="167" y="319"/>
                  </a:lnTo>
                  <a:lnTo>
                    <a:pt x="186" y="322"/>
                  </a:lnTo>
                  <a:lnTo>
                    <a:pt x="206" y="325"/>
                  </a:lnTo>
                  <a:lnTo>
                    <a:pt x="225" y="325"/>
                  </a:lnTo>
                  <a:lnTo>
                    <a:pt x="246" y="325"/>
                  </a:lnTo>
                  <a:lnTo>
                    <a:pt x="265" y="322"/>
                  </a:lnTo>
                  <a:lnTo>
                    <a:pt x="285" y="319"/>
                  </a:lnTo>
                  <a:lnTo>
                    <a:pt x="304" y="315"/>
                  </a:lnTo>
                  <a:lnTo>
                    <a:pt x="322" y="309"/>
                  </a:lnTo>
                  <a:lnTo>
                    <a:pt x="339" y="303"/>
                  </a:lnTo>
                  <a:lnTo>
                    <a:pt x="356" y="295"/>
                  </a:lnTo>
                  <a:lnTo>
                    <a:pt x="372" y="287"/>
                  </a:lnTo>
                  <a:lnTo>
                    <a:pt x="386" y="277"/>
                  </a:lnTo>
                  <a:lnTo>
                    <a:pt x="399" y="266"/>
                  </a:lnTo>
                  <a:lnTo>
                    <a:pt x="411" y="256"/>
                  </a:lnTo>
                  <a:lnTo>
                    <a:pt x="422" y="243"/>
                  </a:lnTo>
                  <a:lnTo>
                    <a:pt x="431" y="231"/>
                  </a:lnTo>
                  <a:lnTo>
                    <a:pt x="439" y="218"/>
                  </a:lnTo>
                  <a:lnTo>
                    <a:pt x="445" y="204"/>
                  </a:lnTo>
                  <a:lnTo>
                    <a:pt x="449" y="190"/>
                  </a:lnTo>
                  <a:lnTo>
                    <a:pt x="451" y="176"/>
                  </a:lnTo>
                  <a:lnTo>
                    <a:pt x="453"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23">
              <a:extLst>
                <a:ext uri="{FF2B5EF4-FFF2-40B4-BE49-F238E27FC236}">
                  <a16:creationId xmlns:a16="http://schemas.microsoft.com/office/drawing/2014/main" id="{C247B4CD-F511-D089-0ADD-07218A977BA3}"/>
                </a:ext>
              </a:extLst>
            </p:cNvPr>
            <p:cNvSpPr>
              <a:spLocks/>
            </p:cNvSpPr>
            <p:nvPr/>
          </p:nvSpPr>
          <p:spPr bwMode="auto">
            <a:xfrm>
              <a:off x="2943" y="1291"/>
              <a:ext cx="452" cy="326"/>
            </a:xfrm>
            <a:custGeom>
              <a:avLst/>
              <a:gdLst>
                <a:gd name="T0" fmla="*/ 0 w 452"/>
                <a:gd name="T1" fmla="*/ 176 h 326"/>
                <a:gd name="T2" fmla="*/ 7 w 452"/>
                <a:gd name="T3" fmla="*/ 204 h 326"/>
                <a:gd name="T4" fmla="*/ 21 w 452"/>
                <a:gd name="T5" fmla="*/ 231 h 326"/>
                <a:gd name="T6" fmla="*/ 40 w 452"/>
                <a:gd name="T7" fmla="*/ 256 h 326"/>
                <a:gd name="T8" fmla="*/ 65 w 452"/>
                <a:gd name="T9" fmla="*/ 278 h 326"/>
                <a:gd name="T10" fmla="*/ 96 w 452"/>
                <a:gd name="T11" fmla="*/ 295 h 326"/>
                <a:gd name="T12" fmla="*/ 130 w 452"/>
                <a:gd name="T13" fmla="*/ 309 h 326"/>
                <a:gd name="T14" fmla="*/ 167 w 452"/>
                <a:gd name="T15" fmla="*/ 319 h 326"/>
                <a:gd name="T16" fmla="*/ 206 w 452"/>
                <a:gd name="T17" fmla="*/ 325 h 326"/>
                <a:gd name="T18" fmla="*/ 245 w 452"/>
                <a:gd name="T19" fmla="*/ 325 h 326"/>
                <a:gd name="T20" fmla="*/ 283 w 452"/>
                <a:gd name="T21" fmla="*/ 319 h 326"/>
                <a:gd name="T22" fmla="*/ 320 w 452"/>
                <a:gd name="T23" fmla="*/ 309 h 326"/>
                <a:gd name="T24" fmla="*/ 354 w 452"/>
                <a:gd name="T25" fmla="*/ 295 h 326"/>
                <a:gd name="T26" fmla="*/ 385 w 452"/>
                <a:gd name="T27" fmla="*/ 277 h 326"/>
                <a:gd name="T28" fmla="*/ 410 w 452"/>
                <a:gd name="T29" fmla="*/ 254 h 326"/>
                <a:gd name="T30" fmla="*/ 429 w 452"/>
                <a:gd name="T31" fmla="*/ 231 h 326"/>
                <a:gd name="T32" fmla="*/ 443 w 452"/>
                <a:gd name="T33" fmla="*/ 204 h 326"/>
                <a:gd name="T34" fmla="*/ 451 w 452"/>
                <a:gd name="T35" fmla="*/ 176 h 326"/>
                <a:gd name="T36" fmla="*/ 451 w 452"/>
                <a:gd name="T37" fmla="*/ 148 h 326"/>
                <a:gd name="T38" fmla="*/ 443 w 452"/>
                <a:gd name="T39" fmla="*/ 120 h 326"/>
                <a:gd name="T40" fmla="*/ 429 w 452"/>
                <a:gd name="T41" fmla="*/ 93 h 326"/>
                <a:gd name="T42" fmla="*/ 410 w 452"/>
                <a:gd name="T43" fmla="*/ 68 h 326"/>
                <a:gd name="T44" fmla="*/ 385 w 452"/>
                <a:gd name="T45" fmla="*/ 47 h 326"/>
                <a:gd name="T46" fmla="*/ 354 w 452"/>
                <a:gd name="T47" fmla="*/ 29 h 326"/>
                <a:gd name="T48" fmla="*/ 320 w 452"/>
                <a:gd name="T49" fmla="*/ 15 h 326"/>
                <a:gd name="T50" fmla="*/ 283 w 452"/>
                <a:gd name="T51" fmla="*/ 5 h 326"/>
                <a:gd name="T52" fmla="*/ 245 w 452"/>
                <a:gd name="T53" fmla="*/ 0 h 326"/>
                <a:gd name="T54" fmla="*/ 206 w 452"/>
                <a:gd name="T55" fmla="*/ 0 h 326"/>
                <a:gd name="T56" fmla="*/ 167 w 452"/>
                <a:gd name="T57" fmla="*/ 5 h 326"/>
                <a:gd name="T58" fmla="*/ 130 w 452"/>
                <a:gd name="T59" fmla="*/ 15 h 326"/>
                <a:gd name="T60" fmla="*/ 96 w 452"/>
                <a:gd name="T61" fmla="*/ 29 h 326"/>
                <a:gd name="T62" fmla="*/ 65 w 452"/>
                <a:gd name="T63" fmla="*/ 47 h 326"/>
                <a:gd name="T64" fmla="*/ 40 w 452"/>
                <a:gd name="T65" fmla="*/ 68 h 326"/>
                <a:gd name="T66" fmla="*/ 21 w 452"/>
                <a:gd name="T67" fmla="*/ 93 h 326"/>
                <a:gd name="T68" fmla="*/ 7 w 452"/>
                <a:gd name="T69" fmla="*/ 120 h 326"/>
                <a:gd name="T70" fmla="*/ 0 w 452"/>
                <a:gd name="T71" fmla="*/ 148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2"/>
                <a:gd name="T109" fmla="*/ 0 h 326"/>
                <a:gd name="T110" fmla="*/ 452 w 452"/>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2" h="326">
                  <a:moveTo>
                    <a:pt x="0" y="162"/>
                  </a:moveTo>
                  <a:lnTo>
                    <a:pt x="0" y="176"/>
                  </a:lnTo>
                  <a:lnTo>
                    <a:pt x="3" y="190"/>
                  </a:lnTo>
                  <a:lnTo>
                    <a:pt x="7" y="204"/>
                  </a:lnTo>
                  <a:lnTo>
                    <a:pt x="13" y="218"/>
                  </a:lnTo>
                  <a:lnTo>
                    <a:pt x="21" y="231"/>
                  </a:lnTo>
                  <a:lnTo>
                    <a:pt x="29" y="243"/>
                  </a:lnTo>
                  <a:lnTo>
                    <a:pt x="40" y="256"/>
                  </a:lnTo>
                  <a:lnTo>
                    <a:pt x="52" y="267"/>
                  </a:lnTo>
                  <a:lnTo>
                    <a:pt x="65" y="278"/>
                  </a:lnTo>
                  <a:lnTo>
                    <a:pt x="80" y="287"/>
                  </a:lnTo>
                  <a:lnTo>
                    <a:pt x="96" y="295"/>
                  </a:lnTo>
                  <a:lnTo>
                    <a:pt x="112" y="303"/>
                  </a:lnTo>
                  <a:lnTo>
                    <a:pt x="130" y="309"/>
                  </a:lnTo>
                  <a:lnTo>
                    <a:pt x="148" y="315"/>
                  </a:lnTo>
                  <a:lnTo>
                    <a:pt x="167" y="319"/>
                  </a:lnTo>
                  <a:lnTo>
                    <a:pt x="186" y="322"/>
                  </a:lnTo>
                  <a:lnTo>
                    <a:pt x="206" y="325"/>
                  </a:lnTo>
                  <a:lnTo>
                    <a:pt x="225" y="325"/>
                  </a:lnTo>
                  <a:lnTo>
                    <a:pt x="245" y="325"/>
                  </a:lnTo>
                  <a:lnTo>
                    <a:pt x="264" y="322"/>
                  </a:lnTo>
                  <a:lnTo>
                    <a:pt x="283" y="319"/>
                  </a:lnTo>
                  <a:lnTo>
                    <a:pt x="302" y="315"/>
                  </a:lnTo>
                  <a:lnTo>
                    <a:pt x="320" y="309"/>
                  </a:lnTo>
                  <a:lnTo>
                    <a:pt x="338" y="303"/>
                  </a:lnTo>
                  <a:lnTo>
                    <a:pt x="354" y="295"/>
                  </a:lnTo>
                  <a:lnTo>
                    <a:pt x="370" y="287"/>
                  </a:lnTo>
                  <a:lnTo>
                    <a:pt x="385" y="277"/>
                  </a:lnTo>
                  <a:lnTo>
                    <a:pt x="398" y="266"/>
                  </a:lnTo>
                  <a:lnTo>
                    <a:pt x="410" y="254"/>
                  </a:lnTo>
                  <a:lnTo>
                    <a:pt x="421" y="243"/>
                  </a:lnTo>
                  <a:lnTo>
                    <a:pt x="429" y="231"/>
                  </a:lnTo>
                  <a:lnTo>
                    <a:pt x="437" y="217"/>
                  </a:lnTo>
                  <a:lnTo>
                    <a:pt x="443" y="204"/>
                  </a:lnTo>
                  <a:lnTo>
                    <a:pt x="447" y="190"/>
                  </a:lnTo>
                  <a:lnTo>
                    <a:pt x="451" y="176"/>
                  </a:lnTo>
                  <a:lnTo>
                    <a:pt x="451" y="162"/>
                  </a:lnTo>
                  <a:lnTo>
                    <a:pt x="451" y="148"/>
                  </a:lnTo>
                  <a:lnTo>
                    <a:pt x="447" y="134"/>
                  </a:lnTo>
                  <a:lnTo>
                    <a:pt x="443" y="120"/>
                  </a:lnTo>
                  <a:lnTo>
                    <a:pt x="437" y="106"/>
                  </a:lnTo>
                  <a:lnTo>
                    <a:pt x="429" y="93"/>
                  </a:lnTo>
                  <a:lnTo>
                    <a:pt x="421" y="81"/>
                  </a:lnTo>
                  <a:lnTo>
                    <a:pt x="410" y="68"/>
                  </a:lnTo>
                  <a:lnTo>
                    <a:pt x="398" y="57"/>
                  </a:lnTo>
                  <a:lnTo>
                    <a:pt x="385" y="47"/>
                  </a:lnTo>
                  <a:lnTo>
                    <a:pt x="370" y="37"/>
                  </a:lnTo>
                  <a:lnTo>
                    <a:pt x="354" y="29"/>
                  </a:lnTo>
                  <a:lnTo>
                    <a:pt x="338" y="21"/>
                  </a:lnTo>
                  <a:lnTo>
                    <a:pt x="320" y="15"/>
                  </a:lnTo>
                  <a:lnTo>
                    <a:pt x="302" y="9"/>
                  </a:lnTo>
                  <a:lnTo>
                    <a:pt x="283" y="5"/>
                  </a:lnTo>
                  <a:lnTo>
                    <a:pt x="264" y="1"/>
                  </a:lnTo>
                  <a:lnTo>
                    <a:pt x="245" y="0"/>
                  </a:lnTo>
                  <a:lnTo>
                    <a:pt x="225" y="0"/>
                  </a:lnTo>
                  <a:lnTo>
                    <a:pt x="206" y="0"/>
                  </a:lnTo>
                  <a:lnTo>
                    <a:pt x="186" y="1"/>
                  </a:lnTo>
                  <a:lnTo>
                    <a:pt x="167" y="5"/>
                  </a:lnTo>
                  <a:lnTo>
                    <a:pt x="148" y="9"/>
                  </a:lnTo>
                  <a:lnTo>
                    <a:pt x="130" y="15"/>
                  </a:lnTo>
                  <a:lnTo>
                    <a:pt x="112" y="21"/>
                  </a:lnTo>
                  <a:lnTo>
                    <a:pt x="96" y="29"/>
                  </a:lnTo>
                  <a:lnTo>
                    <a:pt x="80" y="37"/>
                  </a:lnTo>
                  <a:lnTo>
                    <a:pt x="65" y="47"/>
                  </a:lnTo>
                  <a:lnTo>
                    <a:pt x="52" y="57"/>
                  </a:lnTo>
                  <a:lnTo>
                    <a:pt x="40" y="68"/>
                  </a:lnTo>
                  <a:lnTo>
                    <a:pt x="29" y="81"/>
                  </a:lnTo>
                  <a:lnTo>
                    <a:pt x="21" y="93"/>
                  </a:lnTo>
                  <a:lnTo>
                    <a:pt x="13" y="106"/>
                  </a:lnTo>
                  <a:lnTo>
                    <a:pt x="7" y="120"/>
                  </a:lnTo>
                  <a:lnTo>
                    <a:pt x="3" y="134"/>
                  </a:lnTo>
                  <a:lnTo>
                    <a:pt x="0" y="148"/>
                  </a:lnTo>
                  <a:lnTo>
                    <a:pt x="0"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Rectangle 24">
              <a:extLst>
                <a:ext uri="{FF2B5EF4-FFF2-40B4-BE49-F238E27FC236}">
                  <a16:creationId xmlns:a16="http://schemas.microsoft.com/office/drawing/2014/main" id="{C44D7122-94EB-9BA9-620C-DF9236DE365A}"/>
                </a:ext>
              </a:extLst>
            </p:cNvPr>
            <p:cNvSpPr>
              <a:spLocks noChangeArrowheads="1"/>
            </p:cNvSpPr>
            <p:nvPr/>
          </p:nvSpPr>
          <p:spPr bwMode="auto">
            <a:xfrm>
              <a:off x="3021" y="135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56" name="Rectangle 25">
              <a:extLst>
                <a:ext uri="{FF2B5EF4-FFF2-40B4-BE49-F238E27FC236}">
                  <a16:creationId xmlns:a16="http://schemas.microsoft.com/office/drawing/2014/main" id="{3D5D4423-E23E-F683-571B-C495F29F3CEC}"/>
                </a:ext>
              </a:extLst>
            </p:cNvPr>
            <p:cNvSpPr>
              <a:spLocks noChangeArrowheads="1"/>
            </p:cNvSpPr>
            <p:nvPr/>
          </p:nvSpPr>
          <p:spPr bwMode="auto">
            <a:xfrm>
              <a:off x="2515" y="1093"/>
              <a:ext cx="44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57" name="Rectangle 26">
              <a:extLst>
                <a:ext uri="{FF2B5EF4-FFF2-40B4-BE49-F238E27FC236}">
                  <a16:creationId xmlns:a16="http://schemas.microsoft.com/office/drawing/2014/main" id="{9639BB3F-13B0-14DD-1388-CA058397388B}"/>
                </a:ext>
              </a:extLst>
            </p:cNvPr>
            <p:cNvSpPr>
              <a:spLocks noChangeArrowheads="1"/>
            </p:cNvSpPr>
            <p:nvPr/>
          </p:nvSpPr>
          <p:spPr bwMode="auto">
            <a:xfrm>
              <a:off x="2166" y="1346"/>
              <a:ext cx="33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ssn</a:t>
              </a:r>
            </a:p>
          </p:txBody>
        </p:sp>
      </p:grpSp>
      <p:grpSp>
        <p:nvGrpSpPr>
          <p:cNvPr id="58" name="Group 27">
            <a:extLst>
              <a:ext uri="{FF2B5EF4-FFF2-40B4-BE49-F238E27FC236}">
                <a16:creationId xmlns:a16="http://schemas.microsoft.com/office/drawing/2014/main" id="{D25FF7C6-C955-DAE4-65F9-6946090DFB9A}"/>
              </a:ext>
            </a:extLst>
          </p:cNvPr>
          <p:cNvGrpSpPr>
            <a:grpSpLocks/>
          </p:cNvGrpSpPr>
          <p:nvPr/>
        </p:nvGrpSpPr>
        <p:grpSpPr bwMode="auto">
          <a:xfrm>
            <a:off x="3996415" y="2609850"/>
            <a:ext cx="1220787" cy="920750"/>
            <a:chOff x="3497" y="1648"/>
            <a:chExt cx="769" cy="580"/>
          </a:xfrm>
        </p:grpSpPr>
        <p:sp>
          <p:nvSpPr>
            <p:cNvPr id="59" name="Rectangle 28">
              <a:extLst>
                <a:ext uri="{FF2B5EF4-FFF2-40B4-BE49-F238E27FC236}">
                  <a16:creationId xmlns:a16="http://schemas.microsoft.com/office/drawing/2014/main" id="{2FB0C2F4-D921-622B-401E-781FD82DC12B}"/>
                </a:ext>
              </a:extLst>
            </p:cNvPr>
            <p:cNvSpPr>
              <a:spLocks noChangeArrowheads="1"/>
            </p:cNvSpPr>
            <p:nvPr/>
          </p:nvSpPr>
          <p:spPr bwMode="auto">
            <a:xfrm>
              <a:off x="3549" y="1837"/>
              <a:ext cx="69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err="1">
                  <a:solidFill>
                    <a:srgbClr val="000000"/>
                  </a:solidFill>
                  <a:latin typeface="Arial" pitchFamily="34" charset="0"/>
                </a:rPr>
                <a:t>Works_In</a:t>
              </a:r>
              <a:endParaRPr lang="en-US" sz="1600" b="1" dirty="0">
                <a:solidFill>
                  <a:srgbClr val="000000"/>
                </a:solidFill>
                <a:latin typeface="Arial" pitchFamily="34" charset="0"/>
              </a:endParaRPr>
            </a:p>
          </p:txBody>
        </p:sp>
        <p:sp>
          <p:nvSpPr>
            <p:cNvPr id="60" name="Freeform 29">
              <a:extLst>
                <a:ext uri="{FF2B5EF4-FFF2-40B4-BE49-F238E27FC236}">
                  <a16:creationId xmlns:a16="http://schemas.microsoft.com/office/drawing/2014/main" id="{4097ED78-EFF3-BFBF-B256-C8CBEC481F74}"/>
                </a:ext>
              </a:extLst>
            </p:cNvPr>
            <p:cNvSpPr>
              <a:spLocks/>
            </p:cNvSpPr>
            <p:nvPr/>
          </p:nvSpPr>
          <p:spPr bwMode="auto">
            <a:xfrm>
              <a:off x="3497" y="1648"/>
              <a:ext cx="769" cy="580"/>
            </a:xfrm>
            <a:custGeom>
              <a:avLst/>
              <a:gdLst>
                <a:gd name="T0" fmla="*/ 0 w 769"/>
                <a:gd name="T1" fmla="*/ 290 h 580"/>
                <a:gd name="T2" fmla="*/ 378 w 769"/>
                <a:gd name="T3" fmla="*/ 0 h 580"/>
                <a:gd name="T4" fmla="*/ 768 w 769"/>
                <a:gd name="T5" fmla="*/ 300 h 580"/>
                <a:gd name="T6" fmla="*/ 378 w 769"/>
                <a:gd name="T7" fmla="*/ 579 h 580"/>
                <a:gd name="T8" fmla="*/ 0 w 769"/>
                <a:gd name="T9" fmla="*/ 290 h 580"/>
                <a:gd name="T10" fmla="*/ 0 60000 65536"/>
                <a:gd name="T11" fmla="*/ 0 60000 65536"/>
                <a:gd name="T12" fmla="*/ 0 60000 65536"/>
                <a:gd name="T13" fmla="*/ 0 60000 65536"/>
                <a:gd name="T14" fmla="*/ 0 60000 65536"/>
                <a:gd name="T15" fmla="*/ 0 w 769"/>
                <a:gd name="T16" fmla="*/ 0 h 580"/>
                <a:gd name="T17" fmla="*/ 769 w 769"/>
                <a:gd name="T18" fmla="*/ 580 h 580"/>
              </a:gdLst>
              <a:ahLst/>
              <a:cxnLst>
                <a:cxn ang="T10">
                  <a:pos x="T0" y="T1"/>
                </a:cxn>
                <a:cxn ang="T11">
                  <a:pos x="T2" y="T3"/>
                </a:cxn>
                <a:cxn ang="T12">
                  <a:pos x="T4" y="T5"/>
                </a:cxn>
                <a:cxn ang="T13">
                  <a:pos x="T6" y="T7"/>
                </a:cxn>
                <a:cxn ang="T14">
                  <a:pos x="T8" y="T9"/>
                </a:cxn>
              </a:cxnLst>
              <a:rect l="T15" t="T16" r="T17" b="T18"/>
              <a:pathLst>
                <a:path w="769" h="580">
                  <a:moveTo>
                    <a:pt x="0" y="290"/>
                  </a:moveTo>
                  <a:lnTo>
                    <a:pt x="378" y="0"/>
                  </a:lnTo>
                  <a:lnTo>
                    <a:pt x="768" y="300"/>
                  </a:lnTo>
                  <a:lnTo>
                    <a:pt x="378" y="579"/>
                  </a:lnTo>
                  <a:lnTo>
                    <a:pt x="0" y="29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1" name="Freeform 30">
            <a:extLst>
              <a:ext uri="{FF2B5EF4-FFF2-40B4-BE49-F238E27FC236}">
                <a16:creationId xmlns:a16="http://schemas.microsoft.com/office/drawing/2014/main" id="{A3FBD019-CD41-6C88-1166-24DF6777CE59}"/>
              </a:ext>
            </a:extLst>
          </p:cNvPr>
          <p:cNvSpPr>
            <a:spLocks/>
          </p:cNvSpPr>
          <p:nvPr/>
        </p:nvSpPr>
        <p:spPr bwMode="auto">
          <a:xfrm>
            <a:off x="5761098" y="2846771"/>
            <a:ext cx="1295400" cy="479425"/>
          </a:xfrm>
          <a:custGeom>
            <a:avLst/>
            <a:gdLst>
              <a:gd name="T0" fmla="*/ 1293813 w 816"/>
              <a:gd name="T1" fmla="*/ 477838 h 302"/>
              <a:gd name="T2" fmla="*/ 1293813 w 816"/>
              <a:gd name="T3" fmla="*/ 0 h 302"/>
              <a:gd name="T4" fmla="*/ 0 w 816"/>
              <a:gd name="T5" fmla="*/ 0 h 302"/>
              <a:gd name="T6" fmla="*/ 0 w 816"/>
              <a:gd name="T7" fmla="*/ 477838 h 302"/>
              <a:gd name="T8" fmla="*/ 1293813 w 816"/>
              <a:gd name="T9" fmla="*/ 477838 h 302"/>
              <a:gd name="T10" fmla="*/ 0 60000 65536"/>
              <a:gd name="T11" fmla="*/ 0 60000 65536"/>
              <a:gd name="T12" fmla="*/ 0 60000 65536"/>
              <a:gd name="T13" fmla="*/ 0 60000 65536"/>
              <a:gd name="T14" fmla="*/ 0 60000 65536"/>
              <a:gd name="T15" fmla="*/ 0 w 816"/>
              <a:gd name="T16" fmla="*/ 0 h 302"/>
              <a:gd name="T17" fmla="*/ 816 w 816"/>
              <a:gd name="T18" fmla="*/ 302 h 302"/>
            </a:gdLst>
            <a:ahLst/>
            <a:cxnLst>
              <a:cxn ang="T10">
                <a:pos x="T0" y="T1"/>
              </a:cxn>
              <a:cxn ang="T11">
                <a:pos x="T2" y="T3"/>
              </a:cxn>
              <a:cxn ang="T12">
                <a:pos x="T4" y="T5"/>
              </a:cxn>
              <a:cxn ang="T13">
                <a:pos x="T6" y="T7"/>
              </a:cxn>
              <a:cxn ang="T14">
                <a:pos x="T8" y="T9"/>
              </a:cxn>
            </a:cxnLst>
            <a:rect l="T15" t="T16" r="T17" b="T18"/>
            <a:pathLst>
              <a:path w="816" h="302">
                <a:moveTo>
                  <a:pt x="815" y="301"/>
                </a:moveTo>
                <a:lnTo>
                  <a:pt x="815" y="0"/>
                </a:lnTo>
                <a:lnTo>
                  <a:pt x="0" y="0"/>
                </a:lnTo>
                <a:lnTo>
                  <a:pt x="0" y="301"/>
                </a:lnTo>
                <a:lnTo>
                  <a:pt x="815" y="30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2" name="Group 31">
            <a:extLst>
              <a:ext uri="{FF2B5EF4-FFF2-40B4-BE49-F238E27FC236}">
                <a16:creationId xmlns:a16="http://schemas.microsoft.com/office/drawing/2014/main" id="{AA1F3275-FF22-1A84-F6DD-D1681D860BD0}"/>
              </a:ext>
            </a:extLst>
          </p:cNvPr>
          <p:cNvGrpSpPr>
            <a:grpSpLocks/>
          </p:cNvGrpSpPr>
          <p:nvPr/>
        </p:nvGrpSpPr>
        <p:grpSpPr bwMode="auto">
          <a:xfrm>
            <a:off x="2163763" y="2830896"/>
            <a:ext cx="1292225" cy="468312"/>
            <a:chOff x="2369" y="1818"/>
            <a:chExt cx="814" cy="295"/>
          </a:xfrm>
        </p:grpSpPr>
        <p:sp>
          <p:nvSpPr>
            <p:cNvPr id="63" name="Freeform 32">
              <a:extLst>
                <a:ext uri="{FF2B5EF4-FFF2-40B4-BE49-F238E27FC236}">
                  <a16:creationId xmlns:a16="http://schemas.microsoft.com/office/drawing/2014/main" id="{3979A29B-BB53-A7ED-C73B-FC3098D6E2AD}"/>
                </a:ext>
              </a:extLst>
            </p:cNvPr>
            <p:cNvSpPr>
              <a:spLocks/>
            </p:cNvSpPr>
            <p:nvPr/>
          </p:nvSpPr>
          <p:spPr bwMode="auto">
            <a:xfrm>
              <a:off x="2369" y="1818"/>
              <a:ext cx="814" cy="295"/>
            </a:xfrm>
            <a:custGeom>
              <a:avLst/>
              <a:gdLst>
                <a:gd name="T0" fmla="*/ 813 w 814"/>
                <a:gd name="T1" fmla="*/ 294 h 295"/>
                <a:gd name="T2" fmla="*/ 813 w 814"/>
                <a:gd name="T3" fmla="*/ 0 h 295"/>
                <a:gd name="T4" fmla="*/ 0 w 814"/>
                <a:gd name="T5" fmla="*/ 0 h 295"/>
                <a:gd name="T6" fmla="*/ 0 w 814"/>
                <a:gd name="T7" fmla="*/ 294 h 295"/>
                <a:gd name="T8" fmla="*/ 813 w 814"/>
                <a:gd name="T9" fmla="*/ 294 h 295"/>
                <a:gd name="T10" fmla="*/ 0 60000 65536"/>
                <a:gd name="T11" fmla="*/ 0 60000 65536"/>
                <a:gd name="T12" fmla="*/ 0 60000 65536"/>
                <a:gd name="T13" fmla="*/ 0 60000 65536"/>
                <a:gd name="T14" fmla="*/ 0 60000 65536"/>
                <a:gd name="T15" fmla="*/ 0 w 814"/>
                <a:gd name="T16" fmla="*/ 0 h 295"/>
                <a:gd name="T17" fmla="*/ 814 w 814"/>
                <a:gd name="T18" fmla="*/ 295 h 295"/>
              </a:gdLst>
              <a:ahLst/>
              <a:cxnLst>
                <a:cxn ang="T10">
                  <a:pos x="T0" y="T1"/>
                </a:cxn>
                <a:cxn ang="T11">
                  <a:pos x="T2" y="T3"/>
                </a:cxn>
                <a:cxn ang="T12">
                  <a:pos x="T4" y="T5"/>
                </a:cxn>
                <a:cxn ang="T13">
                  <a:pos x="T6" y="T7"/>
                </a:cxn>
                <a:cxn ang="T14">
                  <a:pos x="T8" y="T9"/>
                </a:cxn>
              </a:cxnLst>
              <a:rect l="T15" t="T16" r="T17" b="T18"/>
              <a:pathLst>
                <a:path w="814" h="295">
                  <a:moveTo>
                    <a:pt x="813" y="294"/>
                  </a:moveTo>
                  <a:lnTo>
                    <a:pt x="813" y="0"/>
                  </a:lnTo>
                  <a:lnTo>
                    <a:pt x="0" y="0"/>
                  </a:lnTo>
                  <a:lnTo>
                    <a:pt x="0" y="294"/>
                  </a:lnTo>
                  <a:lnTo>
                    <a:pt x="813" y="294"/>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Rectangle 33">
              <a:extLst>
                <a:ext uri="{FF2B5EF4-FFF2-40B4-BE49-F238E27FC236}">
                  <a16:creationId xmlns:a16="http://schemas.microsoft.com/office/drawing/2014/main" id="{AD15257F-6F32-E2A4-4718-20AF879C2C45}"/>
                </a:ext>
              </a:extLst>
            </p:cNvPr>
            <p:cNvSpPr>
              <a:spLocks noChangeArrowheads="1"/>
            </p:cNvSpPr>
            <p:nvPr/>
          </p:nvSpPr>
          <p:spPr bwMode="auto">
            <a:xfrm>
              <a:off x="2381" y="1862"/>
              <a:ext cx="78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Employees</a:t>
              </a:r>
            </a:p>
          </p:txBody>
        </p:sp>
      </p:grpSp>
      <p:sp>
        <p:nvSpPr>
          <p:cNvPr id="65" name="Rectangle 34">
            <a:extLst>
              <a:ext uri="{FF2B5EF4-FFF2-40B4-BE49-F238E27FC236}">
                <a16:creationId xmlns:a16="http://schemas.microsoft.com/office/drawing/2014/main" id="{501E6629-C4E3-717D-6D2A-7E5C418FA744}"/>
              </a:ext>
            </a:extLst>
          </p:cNvPr>
          <p:cNvSpPr>
            <a:spLocks noChangeArrowheads="1"/>
          </p:cNvSpPr>
          <p:nvPr/>
        </p:nvSpPr>
        <p:spPr bwMode="auto">
          <a:xfrm>
            <a:off x="5680135" y="2916621"/>
            <a:ext cx="1422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Departments</a:t>
            </a:r>
          </a:p>
        </p:txBody>
      </p:sp>
      <p:sp>
        <p:nvSpPr>
          <p:cNvPr id="66" name="Line 35">
            <a:extLst>
              <a:ext uri="{FF2B5EF4-FFF2-40B4-BE49-F238E27FC236}">
                <a16:creationId xmlns:a16="http://schemas.microsoft.com/office/drawing/2014/main" id="{E964D0A3-9A36-06AF-EBEC-C22C082AFB24}"/>
              </a:ext>
            </a:extLst>
          </p:cNvPr>
          <p:cNvSpPr>
            <a:spLocks noChangeShapeType="1"/>
          </p:cNvSpPr>
          <p:nvPr/>
        </p:nvSpPr>
        <p:spPr bwMode="auto">
          <a:xfrm flipH="1">
            <a:off x="3456665" y="3067050"/>
            <a:ext cx="54610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 name="Line 36">
            <a:extLst>
              <a:ext uri="{FF2B5EF4-FFF2-40B4-BE49-F238E27FC236}">
                <a16:creationId xmlns:a16="http://schemas.microsoft.com/office/drawing/2014/main" id="{A7F6B67E-FDF5-5F43-554E-332BB22282A7}"/>
              </a:ext>
            </a:extLst>
          </p:cNvPr>
          <p:cNvSpPr>
            <a:spLocks noChangeShapeType="1"/>
          </p:cNvSpPr>
          <p:nvPr/>
        </p:nvSpPr>
        <p:spPr bwMode="auto">
          <a:xfrm>
            <a:off x="5221965" y="3084806"/>
            <a:ext cx="520700" cy="0"/>
          </a:xfrm>
          <a:prstGeom prst="line">
            <a:avLst/>
          </a:prstGeom>
          <a:noFill/>
          <a:ln w="12700">
            <a:solidFill>
              <a:schemeClr val="tx2"/>
            </a:solidFill>
            <a:round/>
            <a:headEn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 name="Line 37">
            <a:extLst>
              <a:ext uri="{FF2B5EF4-FFF2-40B4-BE49-F238E27FC236}">
                <a16:creationId xmlns:a16="http://schemas.microsoft.com/office/drawing/2014/main" id="{FFA54458-37F6-28C8-887F-42BF7C2AF20B}"/>
              </a:ext>
            </a:extLst>
          </p:cNvPr>
          <p:cNvSpPr>
            <a:spLocks noChangeShapeType="1"/>
          </p:cNvSpPr>
          <p:nvPr/>
        </p:nvSpPr>
        <p:spPr bwMode="auto">
          <a:xfrm flipH="1">
            <a:off x="3170487" y="2514042"/>
            <a:ext cx="241300" cy="292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 name="Line 38">
            <a:extLst>
              <a:ext uri="{FF2B5EF4-FFF2-40B4-BE49-F238E27FC236}">
                <a16:creationId xmlns:a16="http://schemas.microsoft.com/office/drawing/2014/main" id="{B10DEABA-A590-40E4-3D22-9A58EB82A280}"/>
              </a:ext>
            </a:extLst>
          </p:cNvPr>
          <p:cNvSpPr>
            <a:spLocks noChangeShapeType="1"/>
          </p:cNvSpPr>
          <p:nvPr/>
        </p:nvSpPr>
        <p:spPr bwMode="auto">
          <a:xfrm>
            <a:off x="2735262" y="2110170"/>
            <a:ext cx="6965" cy="7207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 name="Line 39">
            <a:extLst>
              <a:ext uri="{FF2B5EF4-FFF2-40B4-BE49-F238E27FC236}">
                <a16:creationId xmlns:a16="http://schemas.microsoft.com/office/drawing/2014/main" id="{BD6DC874-B6B7-F928-BB23-C2570B5C41D6}"/>
              </a:ext>
            </a:extLst>
          </p:cNvPr>
          <p:cNvSpPr>
            <a:spLocks noChangeShapeType="1"/>
          </p:cNvSpPr>
          <p:nvPr/>
        </p:nvSpPr>
        <p:spPr bwMode="auto">
          <a:xfrm>
            <a:off x="2208212" y="2491170"/>
            <a:ext cx="224705" cy="31497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 name="Line 40">
            <a:extLst>
              <a:ext uri="{FF2B5EF4-FFF2-40B4-BE49-F238E27FC236}">
                <a16:creationId xmlns:a16="http://schemas.microsoft.com/office/drawing/2014/main" id="{7DF321F6-687F-4591-0C36-FCD0604A12B8}"/>
              </a:ext>
            </a:extLst>
          </p:cNvPr>
          <p:cNvSpPr>
            <a:spLocks noChangeShapeType="1"/>
          </p:cNvSpPr>
          <p:nvPr/>
        </p:nvSpPr>
        <p:spPr bwMode="auto">
          <a:xfrm>
            <a:off x="4606015" y="1930400"/>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 name="Line 41">
            <a:extLst>
              <a:ext uri="{FF2B5EF4-FFF2-40B4-BE49-F238E27FC236}">
                <a16:creationId xmlns:a16="http://schemas.microsoft.com/office/drawing/2014/main" id="{69F7D56B-CFB7-895B-C2E3-33E4DDF0C361}"/>
              </a:ext>
            </a:extLst>
          </p:cNvPr>
          <p:cNvSpPr>
            <a:spLocks noChangeShapeType="1"/>
          </p:cNvSpPr>
          <p:nvPr/>
        </p:nvSpPr>
        <p:spPr bwMode="auto">
          <a:xfrm>
            <a:off x="5818248" y="2491171"/>
            <a:ext cx="2159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 name="Line 42">
            <a:extLst>
              <a:ext uri="{FF2B5EF4-FFF2-40B4-BE49-F238E27FC236}">
                <a16:creationId xmlns:a16="http://schemas.microsoft.com/office/drawing/2014/main" id="{4C1E3D8E-F36E-4AD8-3CA8-331FB2A73F21}"/>
              </a:ext>
            </a:extLst>
          </p:cNvPr>
          <p:cNvSpPr>
            <a:spLocks noChangeShapeType="1"/>
          </p:cNvSpPr>
          <p:nvPr/>
        </p:nvSpPr>
        <p:spPr bwMode="auto">
          <a:xfrm>
            <a:off x="6345298" y="2186371"/>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4" name="Line 43">
            <a:extLst>
              <a:ext uri="{FF2B5EF4-FFF2-40B4-BE49-F238E27FC236}">
                <a16:creationId xmlns:a16="http://schemas.microsoft.com/office/drawing/2014/main" id="{E71D7B0A-717C-FCC6-126C-26446F44AB0A}"/>
              </a:ext>
            </a:extLst>
          </p:cNvPr>
          <p:cNvSpPr>
            <a:spLocks noChangeShapeType="1"/>
          </p:cNvSpPr>
          <p:nvPr/>
        </p:nvSpPr>
        <p:spPr bwMode="auto">
          <a:xfrm flipH="1">
            <a:off x="6719948" y="2491171"/>
            <a:ext cx="1651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 name="Rectangle 6">
            <a:extLst>
              <a:ext uri="{FF2B5EF4-FFF2-40B4-BE49-F238E27FC236}">
                <a16:creationId xmlns:a16="http://schemas.microsoft.com/office/drawing/2014/main" id="{0D174413-0767-D96A-07C9-5A27DF1AC650}"/>
              </a:ext>
            </a:extLst>
          </p:cNvPr>
          <p:cNvSpPr>
            <a:spLocks noChangeArrowheads="1"/>
          </p:cNvSpPr>
          <p:nvPr/>
        </p:nvSpPr>
        <p:spPr bwMode="auto">
          <a:xfrm>
            <a:off x="1679736" y="3740195"/>
            <a:ext cx="5784528" cy="2859757"/>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000" dirty="0">
                <a:latin typeface="Book Antiqua" pitchFamily="18" charset="0"/>
              </a:rPr>
              <a:t>CREATE TABLE </a:t>
            </a:r>
            <a:r>
              <a:rPr lang="en-US" sz="2000" dirty="0" err="1">
                <a:latin typeface="Book Antiqua" pitchFamily="18" charset="0"/>
              </a:rPr>
              <a:t>Works_In</a:t>
            </a:r>
            <a:r>
              <a:rPr lang="en-US" sz="2000" dirty="0">
                <a:latin typeface="Book Antiqua" pitchFamily="18" charset="0"/>
              </a:rPr>
              <a:t>(</a:t>
            </a:r>
          </a:p>
          <a:p>
            <a:r>
              <a:rPr lang="en-US" sz="2000" dirty="0">
                <a:latin typeface="Book Antiqua" pitchFamily="18" charset="0"/>
              </a:rPr>
              <a:t>  	</a:t>
            </a:r>
            <a:r>
              <a:rPr lang="en-US" sz="2000" dirty="0" err="1">
                <a:latin typeface="Book Antiqua" pitchFamily="18" charset="0"/>
              </a:rPr>
              <a:t>ssn</a:t>
            </a:r>
            <a:r>
              <a:rPr lang="en-US" sz="2000" dirty="0">
                <a:latin typeface="Book Antiqua" pitchFamily="18" charset="0"/>
              </a:rPr>
              <a:t>  CHAR(11),</a:t>
            </a:r>
          </a:p>
          <a:p>
            <a:r>
              <a:rPr lang="en-US" sz="2000" dirty="0">
                <a:latin typeface="Book Antiqua" pitchFamily="18" charset="0"/>
              </a:rPr>
              <a:t> 	did  INTEGER,</a:t>
            </a:r>
          </a:p>
          <a:p>
            <a:r>
              <a:rPr lang="en-US" sz="2000" dirty="0">
                <a:latin typeface="Book Antiqua" pitchFamily="18" charset="0"/>
              </a:rPr>
              <a:t>  	since  DATE,</a:t>
            </a:r>
          </a:p>
          <a:p>
            <a:r>
              <a:rPr lang="en-US" sz="2000" dirty="0">
                <a:latin typeface="Book Antiqua" pitchFamily="18" charset="0"/>
              </a:rPr>
              <a:t>  	</a:t>
            </a:r>
            <a:r>
              <a:rPr lang="en-US" sz="2000" dirty="0">
                <a:solidFill>
                  <a:schemeClr val="accent2"/>
                </a:solidFill>
                <a:latin typeface="Book Antiqua" pitchFamily="18" charset="0"/>
              </a:rPr>
              <a:t>PRIMARY KEY (</a:t>
            </a:r>
            <a:r>
              <a:rPr lang="en-US" sz="2000" dirty="0" err="1">
                <a:solidFill>
                  <a:schemeClr val="accent2"/>
                </a:solidFill>
                <a:latin typeface="Book Antiqua" pitchFamily="18" charset="0"/>
              </a:rPr>
              <a:t>ssn</a:t>
            </a:r>
            <a:r>
              <a:rPr lang="en-US" sz="2000" dirty="0">
                <a:solidFill>
                  <a:schemeClr val="accent2"/>
                </a:solidFill>
                <a:latin typeface="Book Antiqua" pitchFamily="18" charset="0"/>
              </a:rPr>
              <a:t>, did),</a:t>
            </a:r>
          </a:p>
          <a:p>
            <a:r>
              <a:rPr lang="en-US" sz="2000" dirty="0">
                <a:solidFill>
                  <a:schemeClr val="accent2"/>
                </a:solidFill>
                <a:latin typeface="Book Antiqua" pitchFamily="18" charset="0"/>
              </a:rPr>
              <a:t>  	FOREIGN KEY (</a:t>
            </a:r>
            <a:r>
              <a:rPr lang="en-US" sz="2000" dirty="0" err="1">
                <a:solidFill>
                  <a:schemeClr val="accent2"/>
                </a:solidFill>
                <a:latin typeface="Book Antiqua" pitchFamily="18" charset="0"/>
              </a:rPr>
              <a:t>ssn</a:t>
            </a:r>
            <a:r>
              <a:rPr lang="en-US" sz="2000" dirty="0">
                <a:solidFill>
                  <a:schemeClr val="accent2"/>
                </a:solidFill>
                <a:latin typeface="Book Antiqua" pitchFamily="18" charset="0"/>
              </a:rPr>
              <a:t>) </a:t>
            </a:r>
          </a:p>
          <a:p>
            <a:r>
              <a:rPr lang="en-US" sz="2000" dirty="0">
                <a:solidFill>
                  <a:schemeClr val="accent2"/>
                </a:solidFill>
                <a:latin typeface="Book Antiqua" pitchFamily="18" charset="0"/>
              </a:rPr>
              <a:t>        		REFERENCES Employees,</a:t>
            </a:r>
          </a:p>
          <a:p>
            <a:r>
              <a:rPr lang="en-US" sz="2000" dirty="0">
                <a:solidFill>
                  <a:schemeClr val="accent2"/>
                </a:solidFill>
                <a:latin typeface="Book Antiqua" pitchFamily="18" charset="0"/>
              </a:rPr>
              <a:t>  	FOREIGN KEY (did) </a:t>
            </a:r>
          </a:p>
          <a:p>
            <a:r>
              <a:rPr lang="en-US" sz="2000" dirty="0">
                <a:solidFill>
                  <a:schemeClr val="accent2"/>
                </a:solidFill>
                <a:latin typeface="Book Antiqua" pitchFamily="18" charset="0"/>
              </a:rPr>
              <a:t>        		REFERENCES Departments</a:t>
            </a:r>
            <a:r>
              <a:rPr lang="en-US" sz="2000" dirty="0">
                <a:latin typeface="Book Antiqua" pitchFamily="18" charset="0"/>
              </a:rPr>
              <a:t>)</a:t>
            </a:r>
          </a:p>
        </p:txBody>
      </p:sp>
    </p:spTree>
    <p:extLst>
      <p:ext uri="{BB962C8B-B14F-4D97-AF65-F5344CB8AC3E}">
        <p14:creationId xmlns:p14="http://schemas.microsoft.com/office/powerpoint/2010/main" val="665001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82CF-D530-773B-3F37-3793FAE99DA0}"/>
              </a:ext>
            </a:extLst>
          </p:cNvPr>
          <p:cNvSpPr>
            <a:spLocks noGrp="1"/>
          </p:cNvSpPr>
          <p:nvPr>
            <p:ph type="title"/>
          </p:nvPr>
        </p:nvSpPr>
        <p:spPr>
          <a:xfrm>
            <a:off x="457200" y="0"/>
            <a:ext cx="8229600" cy="868362"/>
          </a:xfrm>
        </p:spPr>
        <p:txBody>
          <a:bodyPr/>
          <a:lstStyle/>
          <a:p>
            <a:r>
              <a:rPr lang="en-US" dirty="0"/>
              <a:t>1-to-M Relationship Sets to Tables</a:t>
            </a:r>
          </a:p>
        </p:txBody>
      </p:sp>
      <p:sp>
        <p:nvSpPr>
          <p:cNvPr id="4" name="Slide Number Placeholder 3">
            <a:extLst>
              <a:ext uri="{FF2B5EF4-FFF2-40B4-BE49-F238E27FC236}">
                <a16:creationId xmlns:a16="http://schemas.microsoft.com/office/drawing/2014/main" id="{4F19418C-6E4E-0B6A-A286-87E80567757B}"/>
              </a:ext>
            </a:extLst>
          </p:cNvPr>
          <p:cNvSpPr>
            <a:spLocks noGrp="1"/>
          </p:cNvSpPr>
          <p:nvPr>
            <p:ph type="sldNum" sz="quarter" idx="12"/>
          </p:nvPr>
        </p:nvSpPr>
        <p:spPr/>
        <p:txBody>
          <a:bodyPr/>
          <a:lstStyle/>
          <a:p>
            <a:fld id="{5FCA4BC5-AE2A-401E-9EDD-DF8812A14A6A}" type="slidenum">
              <a:rPr lang="en-US" smtClean="0"/>
              <a:t>36</a:t>
            </a:fld>
            <a:endParaRPr lang="en-US" dirty="0"/>
          </a:p>
        </p:txBody>
      </p:sp>
      <p:sp>
        <p:nvSpPr>
          <p:cNvPr id="40" name="Rectangle 6">
            <a:extLst>
              <a:ext uri="{FF2B5EF4-FFF2-40B4-BE49-F238E27FC236}">
                <a16:creationId xmlns:a16="http://schemas.microsoft.com/office/drawing/2014/main" id="{38AEBDFF-8AFC-9D49-9F1C-0EDDE43870FA}"/>
              </a:ext>
            </a:extLst>
          </p:cNvPr>
          <p:cNvSpPr>
            <a:spLocks noChangeArrowheads="1"/>
          </p:cNvSpPr>
          <p:nvPr/>
        </p:nvSpPr>
        <p:spPr bwMode="auto">
          <a:xfrm>
            <a:off x="322553" y="3086043"/>
            <a:ext cx="4283462" cy="2859757"/>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p>
            <a:r>
              <a:rPr lang="en-US" dirty="0">
                <a:solidFill>
                  <a:schemeClr val="tx1"/>
                </a:solidFill>
                <a:latin typeface="Lucida Console" pitchFamily="49" charset="0"/>
              </a:rPr>
              <a:t>CREATE TABLE  Manages(</a:t>
            </a:r>
          </a:p>
          <a:p>
            <a:r>
              <a:rPr lang="en-US" dirty="0">
                <a:solidFill>
                  <a:schemeClr val="tx1"/>
                </a:solidFill>
                <a:latin typeface="Lucida Console" pitchFamily="49" charset="0"/>
              </a:rPr>
              <a:t> </a:t>
            </a:r>
            <a:r>
              <a:rPr lang="en-US" dirty="0" err="1">
                <a:solidFill>
                  <a:srgbClr val="434FD6"/>
                </a:solidFill>
                <a:latin typeface="Lucida Console" pitchFamily="49" charset="0"/>
              </a:rPr>
              <a:t>ssn</a:t>
            </a:r>
            <a:r>
              <a:rPr lang="en-US" dirty="0">
                <a:solidFill>
                  <a:srgbClr val="434FD6"/>
                </a:solidFill>
                <a:latin typeface="Lucida Console" pitchFamily="49" charset="0"/>
              </a:rPr>
              <a:t>    CHAR(11),</a:t>
            </a:r>
          </a:p>
          <a:p>
            <a:r>
              <a:rPr lang="en-US" dirty="0">
                <a:solidFill>
                  <a:srgbClr val="434FD6"/>
                </a:solidFill>
                <a:latin typeface="Lucida Console" pitchFamily="49" charset="0"/>
              </a:rPr>
              <a:t> did    INTEGER,</a:t>
            </a:r>
          </a:p>
          <a:p>
            <a:r>
              <a:rPr lang="en-US" dirty="0">
                <a:solidFill>
                  <a:srgbClr val="434FD6"/>
                </a:solidFill>
                <a:latin typeface="Lucida Console" pitchFamily="49" charset="0"/>
              </a:rPr>
              <a:t> since  DATE,</a:t>
            </a:r>
            <a:endParaRPr lang="en-US" dirty="0">
              <a:solidFill>
                <a:schemeClr val="tx1"/>
              </a:solidFill>
              <a:latin typeface="Lucida Console" pitchFamily="49" charset="0"/>
            </a:endParaRPr>
          </a:p>
          <a:p>
            <a:r>
              <a:rPr lang="en-US" dirty="0">
                <a:solidFill>
                  <a:schemeClr val="tx1"/>
                </a:solidFill>
                <a:latin typeface="Lucida Console" pitchFamily="49" charset="0"/>
              </a:rPr>
              <a:t> </a:t>
            </a:r>
          </a:p>
          <a:p>
            <a:r>
              <a:rPr lang="en-US" dirty="0">
                <a:solidFill>
                  <a:schemeClr val="accent2"/>
                </a:solidFill>
                <a:latin typeface="Lucida Console" pitchFamily="49" charset="0"/>
              </a:rPr>
              <a:t> PRIMARY KEY (did)</a:t>
            </a:r>
            <a:r>
              <a:rPr lang="en-US" dirty="0">
                <a:solidFill>
                  <a:schemeClr val="tx1"/>
                </a:solidFill>
                <a:latin typeface="Lucida Console" pitchFamily="49" charset="0"/>
              </a:rPr>
              <a:t>,</a:t>
            </a:r>
          </a:p>
          <a:p>
            <a:r>
              <a:rPr lang="en-US" dirty="0">
                <a:solidFill>
                  <a:schemeClr val="tx1"/>
                </a:solidFill>
                <a:latin typeface="Lucida Console" pitchFamily="49" charset="0"/>
              </a:rPr>
              <a:t> </a:t>
            </a:r>
            <a:r>
              <a:rPr lang="en-US" dirty="0">
                <a:solidFill>
                  <a:schemeClr val="accent1"/>
                </a:solidFill>
                <a:latin typeface="Lucida Console" pitchFamily="49" charset="0"/>
              </a:rPr>
              <a:t>FOREIGN KEY (</a:t>
            </a:r>
            <a:r>
              <a:rPr lang="en-US" dirty="0" err="1">
                <a:solidFill>
                  <a:schemeClr val="accent1"/>
                </a:solidFill>
                <a:latin typeface="Lucida Console" pitchFamily="49" charset="0"/>
              </a:rPr>
              <a:t>ssn</a:t>
            </a:r>
            <a:r>
              <a:rPr lang="en-US" dirty="0">
                <a:solidFill>
                  <a:schemeClr val="accent1"/>
                </a:solidFill>
                <a:latin typeface="Lucida Console" pitchFamily="49" charset="0"/>
              </a:rPr>
              <a:t>)     	REFERENCES Employees,</a:t>
            </a:r>
          </a:p>
          <a:p>
            <a:r>
              <a:rPr lang="en-US" dirty="0">
                <a:solidFill>
                  <a:schemeClr val="accent1"/>
                </a:solidFill>
                <a:latin typeface="Lucida Console" pitchFamily="49" charset="0"/>
              </a:rPr>
              <a:t> FOREIGN KEY (did) 	REFERENCES Departments)</a:t>
            </a:r>
          </a:p>
        </p:txBody>
      </p:sp>
      <p:sp>
        <p:nvSpPr>
          <p:cNvPr id="41" name="Rectangle 45">
            <a:extLst>
              <a:ext uri="{FF2B5EF4-FFF2-40B4-BE49-F238E27FC236}">
                <a16:creationId xmlns:a16="http://schemas.microsoft.com/office/drawing/2014/main" id="{AF7ED77B-7010-1BE4-E3D3-B6777DFF4550}"/>
              </a:ext>
            </a:extLst>
          </p:cNvPr>
          <p:cNvSpPr>
            <a:spLocks noChangeArrowheads="1"/>
          </p:cNvSpPr>
          <p:nvPr/>
        </p:nvSpPr>
        <p:spPr bwMode="auto">
          <a:xfrm>
            <a:off x="4846127" y="3559621"/>
            <a:ext cx="3911600" cy="1474763"/>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p>
            <a:r>
              <a:rPr lang="en-US" dirty="0">
                <a:solidFill>
                  <a:schemeClr val="tx1"/>
                </a:solidFill>
                <a:latin typeface="Lucida Console" pitchFamily="49" charset="0"/>
              </a:rPr>
              <a:t>CREATE TABLE  Departments(</a:t>
            </a:r>
          </a:p>
          <a:p>
            <a:r>
              <a:rPr lang="en-US" dirty="0">
                <a:solidFill>
                  <a:schemeClr val="tx1"/>
                </a:solidFill>
                <a:latin typeface="Lucida Console" pitchFamily="49" charset="0"/>
              </a:rPr>
              <a:t> 	</a:t>
            </a:r>
            <a:r>
              <a:rPr lang="en-US" dirty="0">
                <a:solidFill>
                  <a:srgbClr val="434FD6"/>
                </a:solidFill>
                <a:latin typeface="Lucida Console" pitchFamily="49" charset="0"/>
              </a:rPr>
              <a:t>did	 INTEGER,</a:t>
            </a:r>
          </a:p>
          <a:p>
            <a:r>
              <a:rPr lang="en-US" dirty="0">
                <a:solidFill>
                  <a:schemeClr val="accent1"/>
                </a:solidFill>
                <a:latin typeface="Lucida Console" pitchFamily="49" charset="0"/>
              </a:rPr>
              <a:t> 	</a:t>
            </a:r>
            <a:r>
              <a:rPr lang="en-US" dirty="0" err="1">
                <a:solidFill>
                  <a:schemeClr val="accent1"/>
                </a:solidFill>
                <a:latin typeface="Lucida Console" pitchFamily="49" charset="0"/>
              </a:rPr>
              <a:t>dname</a:t>
            </a:r>
            <a:r>
              <a:rPr lang="en-US" dirty="0">
                <a:solidFill>
                  <a:schemeClr val="accent1"/>
                </a:solidFill>
                <a:latin typeface="Lucida Console" pitchFamily="49" charset="0"/>
              </a:rPr>
              <a:t>	 CHAR(20),</a:t>
            </a:r>
          </a:p>
          <a:p>
            <a:r>
              <a:rPr lang="en-US" dirty="0">
                <a:solidFill>
                  <a:schemeClr val="accent1"/>
                </a:solidFill>
                <a:latin typeface="Lucida Console" pitchFamily="49" charset="0"/>
              </a:rPr>
              <a:t> 	budget	 REAL,</a:t>
            </a:r>
            <a:endParaRPr lang="en-US" dirty="0">
              <a:solidFill>
                <a:schemeClr val="tx1"/>
              </a:solidFill>
              <a:latin typeface="Lucida Console" pitchFamily="49" charset="0"/>
            </a:endParaRPr>
          </a:p>
          <a:p>
            <a:r>
              <a:rPr lang="en-US" dirty="0">
                <a:solidFill>
                  <a:schemeClr val="tx1"/>
                </a:solidFill>
                <a:latin typeface="Lucida Console" pitchFamily="49" charset="0"/>
              </a:rPr>
              <a:t> 	</a:t>
            </a:r>
            <a:r>
              <a:rPr lang="en-US" dirty="0">
                <a:solidFill>
                  <a:schemeClr val="accent2"/>
                </a:solidFill>
                <a:latin typeface="Lucida Console" pitchFamily="49" charset="0"/>
              </a:rPr>
              <a:t>PRIMARY KEY  (did)</a:t>
            </a:r>
            <a:r>
              <a:rPr lang="en-US" dirty="0">
                <a:solidFill>
                  <a:schemeClr val="tx1"/>
                </a:solidFill>
                <a:latin typeface="Lucida Console" pitchFamily="49" charset="0"/>
              </a:rPr>
              <a:t>,)</a:t>
            </a:r>
          </a:p>
        </p:txBody>
      </p:sp>
      <p:sp>
        <p:nvSpPr>
          <p:cNvPr id="42" name="Rounded Rectangle 2">
            <a:extLst>
              <a:ext uri="{FF2B5EF4-FFF2-40B4-BE49-F238E27FC236}">
                <a16:creationId xmlns:a16="http://schemas.microsoft.com/office/drawing/2014/main" id="{8DAA08E3-D35A-566A-EEB4-209339C13727}"/>
              </a:ext>
            </a:extLst>
          </p:cNvPr>
          <p:cNvSpPr/>
          <p:nvPr/>
        </p:nvSpPr>
        <p:spPr>
          <a:xfrm>
            <a:off x="324323" y="6051157"/>
            <a:ext cx="8465846" cy="654443"/>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u="sng" dirty="0"/>
              <a:t>Approach 1:</a:t>
            </a:r>
            <a:r>
              <a:rPr lang="en-US" sz="2200" dirty="0"/>
              <a:t> Create separate tables for Manages and Departments</a:t>
            </a:r>
          </a:p>
        </p:txBody>
      </p:sp>
      <p:cxnSp>
        <p:nvCxnSpPr>
          <p:cNvPr id="43" name="Straight Arrow Connector 42">
            <a:extLst>
              <a:ext uri="{FF2B5EF4-FFF2-40B4-BE49-F238E27FC236}">
                <a16:creationId xmlns:a16="http://schemas.microsoft.com/office/drawing/2014/main" id="{D407B41F-B9C9-AFAE-94F2-767F08EB5C26}"/>
              </a:ext>
            </a:extLst>
          </p:cNvPr>
          <p:cNvCxnSpPr>
            <a:cxnSpLocks/>
          </p:cNvCxnSpPr>
          <p:nvPr/>
        </p:nvCxnSpPr>
        <p:spPr>
          <a:xfrm flipH="1">
            <a:off x="3533482" y="2740408"/>
            <a:ext cx="657518" cy="345635"/>
          </a:xfrm>
          <a:prstGeom prst="straightConnector1">
            <a:avLst/>
          </a:prstGeom>
          <a:ln w="2222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5091B54-EF5C-B3A8-B40E-D1090B4678D7}"/>
              </a:ext>
            </a:extLst>
          </p:cNvPr>
          <p:cNvCxnSpPr>
            <a:endCxn id="41" idx="0"/>
          </p:cNvCxnSpPr>
          <p:nvPr/>
        </p:nvCxnSpPr>
        <p:spPr>
          <a:xfrm>
            <a:off x="6259803" y="2884140"/>
            <a:ext cx="542124" cy="675481"/>
          </a:xfrm>
          <a:prstGeom prst="straightConnector1">
            <a:avLst/>
          </a:prstGeom>
          <a:ln w="2222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45" name="Freeform 10">
            <a:extLst>
              <a:ext uri="{FF2B5EF4-FFF2-40B4-BE49-F238E27FC236}">
                <a16:creationId xmlns:a16="http://schemas.microsoft.com/office/drawing/2014/main" id="{C51DFA3F-06D6-6F17-C507-CC5C235DEAF1}"/>
              </a:ext>
            </a:extLst>
          </p:cNvPr>
          <p:cNvSpPr>
            <a:spLocks/>
          </p:cNvSpPr>
          <p:nvPr/>
        </p:nvSpPr>
        <p:spPr bwMode="auto">
          <a:xfrm>
            <a:off x="5343585" y="1449771"/>
            <a:ext cx="720725" cy="519112"/>
          </a:xfrm>
          <a:custGeom>
            <a:avLst/>
            <a:gdLst>
              <a:gd name="T0" fmla="*/ 715963 w 454"/>
              <a:gd name="T1" fmla="*/ 234950 h 327"/>
              <a:gd name="T2" fmla="*/ 706438 w 454"/>
              <a:gd name="T3" fmla="*/ 190500 h 327"/>
              <a:gd name="T4" fmla="*/ 684213 w 454"/>
              <a:gd name="T5" fmla="*/ 149225 h 327"/>
              <a:gd name="T6" fmla="*/ 652463 w 454"/>
              <a:gd name="T7" fmla="*/ 107950 h 327"/>
              <a:gd name="T8" fmla="*/ 612775 w 454"/>
              <a:gd name="T9" fmla="*/ 74612 h 327"/>
              <a:gd name="T10" fmla="*/ 565150 w 454"/>
              <a:gd name="T11" fmla="*/ 46037 h 327"/>
              <a:gd name="T12" fmla="*/ 511175 w 454"/>
              <a:gd name="T13" fmla="*/ 23812 h 327"/>
              <a:gd name="T14" fmla="*/ 452438 w 454"/>
              <a:gd name="T15" fmla="*/ 7937 h 327"/>
              <a:gd name="T16" fmla="*/ 390525 w 454"/>
              <a:gd name="T17" fmla="*/ 0 h 327"/>
              <a:gd name="T18" fmla="*/ 327025 w 454"/>
              <a:gd name="T19" fmla="*/ 0 h 327"/>
              <a:gd name="T20" fmla="*/ 265113 w 454"/>
              <a:gd name="T21" fmla="*/ 7937 h 327"/>
              <a:gd name="T22" fmla="*/ 206375 w 454"/>
              <a:gd name="T23" fmla="*/ 23812 h 327"/>
              <a:gd name="T24" fmla="*/ 152400 w 454"/>
              <a:gd name="T25" fmla="*/ 46037 h 327"/>
              <a:gd name="T26" fmla="*/ 103188 w 454"/>
              <a:gd name="T27" fmla="*/ 74612 h 327"/>
              <a:gd name="T28" fmla="*/ 63500 w 454"/>
              <a:gd name="T29" fmla="*/ 107950 h 327"/>
              <a:gd name="T30" fmla="*/ 33338 w 454"/>
              <a:gd name="T31" fmla="*/ 149225 h 327"/>
              <a:gd name="T32" fmla="*/ 11113 w 454"/>
              <a:gd name="T33" fmla="*/ 190500 h 327"/>
              <a:gd name="T34" fmla="*/ 1588 w 454"/>
              <a:gd name="T35" fmla="*/ 234950 h 327"/>
              <a:gd name="T36" fmla="*/ 1588 w 454"/>
              <a:gd name="T37" fmla="*/ 280987 h 327"/>
              <a:gd name="T38" fmla="*/ 11113 w 454"/>
              <a:gd name="T39" fmla="*/ 325437 h 327"/>
              <a:gd name="T40" fmla="*/ 33338 w 454"/>
              <a:gd name="T41" fmla="*/ 366712 h 327"/>
              <a:gd name="T42" fmla="*/ 63500 w 454"/>
              <a:gd name="T43" fmla="*/ 404812 h 327"/>
              <a:gd name="T44" fmla="*/ 103188 w 454"/>
              <a:gd name="T45" fmla="*/ 441325 h 327"/>
              <a:gd name="T46" fmla="*/ 152400 w 454"/>
              <a:gd name="T47" fmla="*/ 469900 h 327"/>
              <a:gd name="T48" fmla="*/ 206375 w 454"/>
              <a:gd name="T49" fmla="*/ 492125 h 327"/>
              <a:gd name="T50" fmla="*/ 265113 w 454"/>
              <a:gd name="T51" fmla="*/ 508000 h 327"/>
              <a:gd name="T52" fmla="*/ 327025 w 454"/>
              <a:gd name="T53" fmla="*/ 517525 h 327"/>
              <a:gd name="T54" fmla="*/ 390525 w 454"/>
              <a:gd name="T55" fmla="*/ 517525 h 327"/>
              <a:gd name="T56" fmla="*/ 452438 w 454"/>
              <a:gd name="T57" fmla="*/ 508000 h 327"/>
              <a:gd name="T58" fmla="*/ 511175 w 454"/>
              <a:gd name="T59" fmla="*/ 492125 h 327"/>
              <a:gd name="T60" fmla="*/ 565150 w 454"/>
              <a:gd name="T61" fmla="*/ 469900 h 327"/>
              <a:gd name="T62" fmla="*/ 612775 w 454"/>
              <a:gd name="T63" fmla="*/ 441325 h 327"/>
              <a:gd name="T64" fmla="*/ 652463 w 454"/>
              <a:gd name="T65" fmla="*/ 404812 h 327"/>
              <a:gd name="T66" fmla="*/ 684213 w 454"/>
              <a:gd name="T67" fmla="*/ 366712 h 327"/>
              <a:gd name="T68" fmla="*/ 706438 w 454"/>
              <a:gd name="T69" fmla="*/ 325437 h 327"/>
              <a:gd name="T70" fmla="*/ 715963 w 454"/>
              <a:gd name="T71" fmla="*/ 28098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1" y="148"/>
                </a:lnTo>
                <a:lnTo>
                  <a:pt x="448" y="134"/>
                </a:lnTo>
                <a:lnTo>
                  <a:pt x="445" y="120"/>
                </a:lnTo>
                <a:lnTo>
                  <a:pt x="439" y="106"/>
                </a:lnTo>
                <a:lnTo>
                  <a:pt x="431" y="94"/>
                </a:lnTo>
                <a:lnTo>
                  <a:pt x="422" y="80"/>
                </a:lnTo>
                <a:lnTo>
                  <a:pt x="411" y="68"/>
                </a:lnTo>
                <a:lnTo>
                  <a:pt x="399" y="57"/>
                </a:lnTo>
                <a:lnTo>
                  <a:pt x="386" y="47"/>
                </a:lnTo>
                <a:lnTo>
                  <a:pt x="372" y="37"/>
                </a:lnTo>
                <a:lnTo>
                  <a:pt x="356" y="29"/>
                </a:lnTo>
                <a:lnTo>
                  <a:pt x="339" y="21"/>
                </a:lnTo>
                <a:lnTo>
                  <a:pt x="322" y="15"/>
                </a:lnTo>
                <a:lnTo>
                  <a:pt x="303"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5" y="47"/>
                </a:lnTo>
                <a:lnTo>
                  <a:pt x="53" y="57"/>
                </a:lnTo>
                <a:lnTo>
                  <a:pt x="40" y="68"/>
                </a:lnTo>
                <a:lnTo>
                  <a:pt x="29" y="80"/>
                </a:lnTo>
                <a:lnTo>
                  <a:pt x="21" y="94"/>
                </a:lnTo>
                <a:lnTo>
                  <a:pt x="13" y="106"/>
                </a:lnTo>
                <a:lnTo>
                  <a:pt x="7" y="120"/>
                </a:lnTo>
                <a:lnTo>
                  <a:pt x="3" y="134"/>
                </a:lnTo>
                <a:lnTo>
                  <a:pt x="1" y="148"/>
                </a:lnTo>
                <a:lnTo>
                  <a:pt x="0" y="163"/>
                </a:lnTo>
                <a:lnTo>
                  <a:pt x="1" y="177"/>
                </a:lnTo>
                <a:lnTo>
                  <a:pt x="3" y="191"/>
                </a:lnTo>
                <a:lnTo>
                  <a:pt x="7" y="205"/>
                </a:lnTo>
                <a:lnTo>
                  <a:pt x="13" y="217"/>
                </a:lnTo>
                <a:lnTo>
                  <a:pt x="21" y="231"/>
                </a:lnTo>
                <a:lnTo>
                  <a:pt x="29" y="244"/>
                </a:lnTo>
                <a:lnTo>
                  <a:pt x="40" y="255"/>
                </a:lnTo>
                <a:lnTo>
                  <a:pt x="53" y="266"/>
                </a:lnTo>
                <a:lnTo>
                  <a:pt x="65" y="278"/>
                </a:lnTo>
                <a:lnTo>
                  <a:pt x="80" y="288"/>
                </a:lnTo>
                <a:lnTo>
                  <a:pt x="96" y="296"/>
                </a:lnTo>
                <a:lnTo>
                  <a:pt x="113" y="303"/>
                </a:lnTo>
                <a:lnTo>
                  <a:pt x="130" y="310"/>
                </a:lnTo>
                <a:lnTo>
                  <a:pt x="148" y="316"/>
                </a:lnTo>
                <a:lnTo>
                  <a:pt x="167" y="320"/>
                </a:lnTo>
                <a:lnTo>
                  <a:pt x="186" y="323"/>
                </a:lnTo>
                <a:lnTo>
                  <a:pt x="206" y="326"/>
                </a:lnTo>
                <a:lnTo>
                  <a:pt x="225" y="326"/>
                </a:lnTo>
                <a:lnTo>
                  <a:pt x="246" y="326"/>
                </a:lnTo>
                <a:lnTo>
                  <a:pt x="265" y="323"/>
                </a:lnTo>
                <a:lnTo>
                  <a:pt x="285" y="320"/>
                </a:lnTo>
                <a:lnTo>
                  <a:pt x="303" y="316"/>
                </a:lnTo>
                <a:lnTo>
                  <a:pt x="322" y="310"/>
                </a:lnTo>
                <a:lnTo>
                  <a:pt x="339" y="303"/>
                </a:lnTo>
                <a:lnTo>
                  <a:pt x="356" y="296"/>
                </a:lnTo>
                <a:lnTo>
                  <a:pt x="372" y="288"/>
                </a:lnTo>
                <a:lnTo>
                  <a:pt x="386" y="278"/>
                </a:lnTo>
                <a:lnTo>
                  <a:pt x="399" y="266"/>
                </a:lnTo>
                <a:lnTo>
                  <a:pt x="411" y="255"/>
                </a:lnTo>
                <a:lnTo>
                  <a:pt x="422" y="244"/>
                </a:lnTo>
                <a:lnTo>
                  <a:pt x="431" y="231"/>
                </a:lnTo>
                <a:lnTo>
                  <a:pt x="439" y="217"/>
                </a:lnTo>
                <a:lnTo>
                  <a:pt x="445" y="205"/>
                </a:lnTo>
                <a:lnTo>
                  <a:pt x="448" y="191"/>
                </a:lnTo>
                <a:lnTo>
                  <a:pt x="451"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1">
            <a:extLst>
              <a:ext uri="{FF2B5EF4-FFF2-40B4-BE49-F238E27FC236}">
                <a16:creationId xmlns:a16="http://schemas.microsoft.com/office/drawing/2014/main" id="{6F18A355-E181-FC1F-5F70-5C0CAC71948B}"/>
              </a:ext>
            </a:extLst>
          </p:cNvPr>
          <p:cNvSpPr>
            <a:spLocks/>
          </p:cNvSpPr>
          <p:nvPr/>
        </p:nvSpPr>
        <p:spPr bwMode="auto">
          <a:xfrm>
            <a:off x="6662798" y="1471996"/>
            <a:ext cx="912812" cy="496887"/>
          </a:xfrm>
          <a:custGeom>
            <a:avLst/>
            <a:gdLst>
              <a:gd name="T0" fmla="*/ 1587 w 575"/>
              <a:gd name="T1" fmla="*/ 268287 h 313"/>
              <a:gd name="T2" fmla="*/ 14287 w 575"/>
              <a:gd name="T3" fmla="*/ 311150 h 313"/>
              <a:gd name="T4" fmla="*/ 44450 w 575"/>
              <a:gd name="T5" fmla="*/ 350837 h 313"/>
              <a:gd name="T6" fmla="*/ 82550 w 575"/>
              <a:gd name="T7" fmla="*/ 387350 h 313"/>
              <a:gd name="T8" fmla="*/ 133350 w 575"/>
              <a:gd name="T9" fmla="*/ 422275 h 313"/>
              <a:gd name="T10" fmla="*/ 195262 w 575"/>
              <a:gd name="T11" fmla="*/ 449262 h 313"/>
              <a:gd name="T12" fmla="*/ 261937 w 575"/>
              <a:gd name="T13" fmla="*/ 471487 h 313"/>
              <a:gd name="T14" fmla="*/ 338137 w 575"/>
              <a:gd name="T15" fmla="*/ 485775 h 313"/>
              <a:gd name="T16" fmla="*/ 415925 w 575"/>
              <a:gd name="T17" fmla="*/ 495300 h 313"/>
              <a:gd name="T18" fmla="*/ 493712 w 575"/>
              <a:gd name="T19" fmla="*/ 495300 h 313"/>
              <a:gd name="T20" fmla="*/ 573087 w 575"/>
              <a:gd name="T21" fmla="*/ 485775 h 313"/>
              <a:gd name="T22" fmla="*/ 647700 w 575"/>
              <a:gd name="T23" fmla="*/ 471487 h 313"/>
              <a:gd name="T24" fmla="*/ 715962 w 575"/>
              <a:gd name="T25" fmla="*/ 449262 h 313"/>
              <a:gd name="T26" fmla="*/ 777875 w 575"/>
              <a:gd name="T27" fmla="*/ 422275 h 313"/>
              <a:gd name="T28" fmla="*/ 828675 w 575"/>
              <a:gd name="T29" fmla="*/ 387350 h 313"/>
              <a:gd name="T30" fmla="*/ 868362 w 575"/>
              <a:gd name="T31" fmla="*/ 350837 h 313"/>
              <a:gd name="T32" fmla="*/ 895350 w 575"/>
              <a:gd name="T33" fmla="*/ 311150 h 313"/>
              <a:gd name="T34" fmla="*/ 908050 w 575"/>
              <a:gd name="T35" fmla="*/ 268287 h 313"/>
              <a:gd name="T36" fmla="*/ 908050 w 575"/>
              <a:gd name="T37" fmla="*/ 223837 h 313"/>
              <a:gd name="T38" fmla="*/ 895350 w 575"/>
              <a:gd name="T39" fmla="*/ 180975 h 313"/>
              <a:gd name="T40" fmla="*/ 868362 w 575"/>
              <a:gd name="T41" fmla="*/ 142875 h 313"/>
              <a:gd name="T42" fmla="*/ 828675 w 575"/>
              <a:gd name="T43" fmla="*/ 103187 h 313"/>
              <a:gd name="T44" fmla="*/ 777875 w 575"/>
              <a:gd name="T45" fmla="*/ 71437 h 313"/>
              <a:gd name="T46" fmla="*/ 715962 w 575"/>
              <a:gd name="T47" fmla="*/ 41275 h 313"/>
              <a:gd name="T48" fmla="*/ 647700 w 575"/>
              <a:gd name="T49" fmla="*/ 22225 h 313"/>
              <a:gd name="T50" fmla="*/ 573087 w 575"/>
              <a:gd name="T51" fmla="*/ 7937 h 313"/>
              <a:gd name="T52" fmla="*/ 493712 w 575"/>
              <a:gd name="T53" fmla="*/ 0 h 313"/>
              <a:gd name="T54" fmla="*/ 415925 w 575"/>
              <a:gd name="T55" fmla="*/ 0 h 313"/>
              <a:gd name="T56" fmla="*/ 336550 w 575"/>
              <a:gd name="T57" fmla="*/ 7937 h 313"/>
              <a:gd name="T58" fmla="*/ 261937 w 575"/>
              <a:gd name="T59" fmla="*/ 22225 h 313"/>
              <a:gd name="T60" fmla="*/ 195262 w 575"/>
              <a:gd name="T61" fmla="*/ 44450 h 313"/>
              <a:gd name="T62" fmla="*/ 133350 w 575"/>
              <a:gd name="T63" fmla="*/ 71437 h 313"/>
              <a:gd name="T64" fmla="*/ 82550 w 575"/>
              <a:gd name="T65" fmla="*/ 103187 h 313"/>
              <a:gd name="T66" fmla="*/ 44450 w 575"/>
              <a:gd name="T67" fmla="*/ 142875 h 313"/>
              <a:gd name="T68" fmla="*/ 14287 w 575"/>
              <a:gd name="T69" fmla="*/ 182562 h 313"/>
              <a:gd name="T70" fmla="*/ 1587 w 575"/>
              <a:gd name="T71" fmla="*/ 225425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75"/>
              <a:gd name="T109" fmla="*/ 0 h 313"/>
              <a:gd name="T110" fmla="*/ 575 w 575"/>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75" h="313">
                <a:moveTo>
                  <a:pt x="0" y="156"/>
                </a:moveTo>
                <a:lnTo>
                  <a:pt x="1" y="169"/>
                </a:lnTo>
                <a:lnTo>
                  <a:pt x="5" y="182"/>
                </a:lnTo>
                <a:lnTo>
                  <a:pt x="9" y="196"/>
                </a:lnTo>
                <a:lnTo>
                  <a:pt x="17" y="208"/>
                </a:lnTo>
                <a:lnTo>
                  <a:pt x="28" y="221"/>
                </a:lnTo>
                <a:lnTo>
                  <a:pt x="38" y="234"/>
                </a:lnTo>
                <a:lnTo>
                  <a:pt x="52" y="244"/>
                </a:lnTo>
                <a:lnTo>
                  <a:pt x="67" y="255"/>
                </a:lnTo>
                <a:lnTo>
                  <a:pt x="84" y="266"/>
                </a:lnTo>
                <a:lnTo>
                  <a:pt x="103" y="275"/>
                </a:lnTo>
                <a:lnTo>
                  <a:pt x="123" y="283"/>
                </a:lnTo>
                <a:lnTo>
                  <a:pt x="143" y="290"/>
                </a:lnTo>
                <a:lnTo>
                  <a:pt x="165" y="297"/>
                </a:lnTo>
                <a:lnTo>
                  <a:pt x="189" y="302"/>
                </a:lnTo>
                <a:lnTo>
                  <a:pt x="213" y="306"/>
                </a:lnTo>
                <a:lnTo>
                  <a:pt x="237" y="309"/>
                </a:lnTo>
                <a:lnTo>
                  <a:pt x="262" y="312"/>
                </a:lnTo>
                <a:lnTo>
                  <a:pt x="287" y="312"/>
                </a:lnTo>
                <a:lnTo>
                  <a:pt x="311" y="312"/>
                </a:lnTo>
                <a:lnTo>
                  <a:pt x="337" y="309"/>
                </a:lnTo>
                <a:lnTo>
                  <a:pt x="361" y="306"/>
                </a:lnTo>
                <a:lnTo>
                  <a:pt x="385" y="302"/>
                </a:lnTo>
                <a:lnTo>
                  <a:pt x="408" y="297"/>
                </a:lnTo>
                <a:lnTo>
                  <a:pt x="431" y="290"/>
                </a:lnTo>
                <a:lnTo>
                  <a:pt x="451" y="283"/>
                </a:lnTo>
                <a:lnTo>
                  <a:pt x="471" y="275"/>
                </a:lnTo>
                <a:lnTo>
                  <a:pt x="490" y="266"/>
                </a:lnTo>
                <a:lnTo>
                  <a:pt x="506" y="255"/>
                </a:lnTo>
                <a:lnTo>
                  <a:pt x="522" y="244"/>
                </a:lnTo>
                <a:lnTo>
                  <a:pt x="536" y="234"/>
                </a:lnTo>
                <a:lnTo>
                  <a:pt x="547" y="221"/>
                </a:lnTo>
                <a:lnTo>
                  <a:pt x="556" y="208"/>
                </a:lnTo>
                <a:lnTo>
                  <a:pt x="564" y="196"/>
                </a:lnTo>
                <a:lnTo>
                  <a:pt x="569" y="182"/>
                </a:lnTo>
                <a:lnTo>
                  <a:pt x="572" y="169"/>
                </a:lnTo>
                <a:lnTo>
                  <a:pt x="574" y="156"/>
                </a:lnTo>
                <a:lnTo>
                  <a:pt x="572" y="141"/>
                </a:lnTo>
                <a:lnTo>
                  <a:pt x="569" y="129"/>
                </a:lnTo>
                <a:lnTo>
                  <a:pt x="564" y="114"/>
                </a:lnTo>
                <a:lnTo>
                  <a:pt x="556" y="102"/>
                </a:lnTo>
                <a:lnTo>
                  <a:pt x="547" y="90"/>
                </a:lnTo>
                <a:lnTo>
                  <a:pt x="536" y="76"/>
                </a:lnTo>
                <a:lnTo>
                  <a:pt x="522" y="65"/>
                </a:lnTo>
                <a:lnTo>
                  <a:pt x="506" y="55"/>
                </a:lnTo>
                <a:lnTo>
                  <a:pt x="490" y="45"/>
                </a:lnTo>
                <a:lnTo>
                  <a:pt x="471" y="36"/>
                </a:lnTo>
                <a:lnTo>
                  <a:pt x="451" y="26"/>
                </a:lnTo>
                <a:lnTo>
                  <a:pt x="431" y="20"/>
                </a:lnTo>
                <a:lnTo>
                  <a:pt x="408" y="14"/>
                </a:lnTo>
                <a:lnTo>
                  <a:pt x="385" y="8"/>
                </a:lnTo>
                <a:lnTo>
                  <a:pt x="361" y="5"/>
                </a:lnTo>
                <a:lnTo>
                  <a:pt x="337" y="1"/>
                </a:lnTo>
                <a:lnTo>
                  <a:pt x="311" y="0"/>
                </a:lnTo>
                <a:lnTo>
                  <a:pt x="287" y="0"/>
                </a:lnTo>
                <a:lnTo>
                  <a:pt x="262" y="0"/>
                </a:lnTo>
                <a:lnTo>
                  <a:pt x="237" y="1"/>
                </a:lnTo>
                <a:lnTo>
                  <a:pt x="212" y="5"/>
                </a:lnTo>
                <a:lnTo>
                  <a:pt x="189" y="9"/>
                </a:lnTo>
                <a:lnTo>
                  <a:pt x="165" y="14"/>
                </a:lnTo>
                <a:lnTo>
                  <a:pt x="143" y="20"/>
                </a:lnTo>
                <a:lnTo>
                  <a:pt x="123" y="28"/>
                </a:lnTo>
                <a:lnTo>
                  <a:pt x="102" y="36"/>
                </a:lnTo>
                <a:lnTo>
                  <a:pt x="84" y="45"/>
                </a:lnTo>
                <a:lnTo>
                  <a:pt x="67" y="55"/>
                </a:lnTo>
                <a:lnTo>
                  <a:pt x="52" y="65"/>
                </a:lnTo>
                <a:lnTo>
                  <a:pt x="38" y="78"/>
                </a:lnTo>
                <a:lnTo>
                  <a:pt x="28" y="90"/>
                </a:lnTo>
                <a:lnTo>
                  <a:pt x="17" y="102"/>
                </a:lnTo>
                <a:lnTo>
                  <a:pt x="9" y="115"/>
                </a:lnTo>
                <a:lnTo>
                  <a:pt x="5" y="129"/>
                </a:lnTo>
                <a:lnTo>
                  <a:pt x="1" y="142"/>
                </a:lnTo>
                <a:lnTo>
                  <a:pt x="0" y="15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7" name="Group 12">
            <a:extLst>
              <a:ext uri="{FF2B5EF4-FFF2-40B4-BE49-F238E27FC236}">
                <a16:creationId xmlns:a16="http://schemas.microsoft.com/office/drawing/2014/main" id="{7D086470-FD76-34B2-05C2-3014A92DD368}"/>
              </a:ext>
            </a:extLst>
          </p:cNvPr>
          <p:cNvGrpSpPr>
            <a:grpSpLocks/>
          </p:cNvGrpSpPr>
          <p:nvPr/>
        </p:nvGrpSpPr>
        <p:grpSpPr bwMode="auto">
          <a:xfrm>
            <a:off x="5913498" y="1068771"/>
            <a:ext cx="939800" cy="519112"/>
            <a:chOff x="4713" y="1060"/>
            <a:chExt cx="592" cy="327"/>
          </a:xfrm>
        </p:grpSpPr>
        <p:sp>
          <p:nvSpPr>
            <p:cNvPr id="48" name="Freeform 13">
              <a:extLst>
                <a:ext uri="{FF2B5EF4-FFF2-40B4-BE49-F238E27FC236}">
                  <a16:creationId xmlns:a16="http://schemas.microsoft.com/office/drawing/2014/main" id="{1379B274-EF3D-EF2B-AD40-8D86F8F3A9DB}"/>
                </a:ext>
              </a:extLst>
            </p:cNvPr>
            <p:cNvSpPr>
              <a:spLocks/>
            </p:cNvSpPr>
            <p:nvPr/>
          </p:nvSpPr>
          <p:spPr bwMode="auto">
            <a:xfrm>
              <a:off x="4713" y="1060"/>
              <a:ext cx="592" cy="327"/>
            </a:xfrm>
            <a:custGeom>
              <a:avLst/>
              <a:gdLst>
                <a:gd name="T0" fmla="*/ 589 w 592"/>
                <a:gd name="T1" fmla="*/ 148 h 327"/>
                <a:gd name="T2" fmla="*/ 581 w 592"/>
                <a:gd name="T3" fmla="*/ 120 h 327"/>
                <a:gd name="T4" fmla="*/ 563 w 592"/>
                <a:gd name="T5" fmla="*/ 94 h 327"/>
                <a:gd name="T6" fmla="*/ 538 w 592"/>
                <a:gd name="T7" fmla="*/ 68 h 327"/>
                <a:gd name="T8" fmla="*/ 505 w 592"/>
                <a:gd name="T9" fmla="*/ 46 h 327"/>
                <a:gd name="T10" fmla="*/ 465 w 592"/>
                <a:gd name="T11" fmla="*/ 29 h 327"/>
                <a:gd name="T12" fmla="*/ 420 w 592"/>
                <a:gd name="T13" fmla="*/ 14 h 327"/>
                <a:gd name="T14" fmla="*/ 372 w 592"/>
                <a:gd name="T15" fmla="*/ 4 h 327"/>
                <a:gd name="T16" fmla="*/ 321 w 592"/>
                <a:gd name="T17" fmla="*/ 0 h 327"/>
                <a:gd name="T18" fmla="*/ 269 w 592"/>
                <a:gd name="T19" fmla="*/ 0 h 327"/>
                <a:gd name="T20" fmla="*/ 218 w 592"/>
                <a:gd name="T21" fmla="*/ 4 h 327"/>
                <a:gd name="T22" fmla="*/ 170 w 592"/>
                <a:gd name="T23" fmla="*/ 14 h 327"/>
                <a:gd name="T24" fmla="*/ 125 w 592"/>
                <a:gd name="T25" fmla="*/ 29 h 327"/>
                <a:gd name="T26" fmla="*/ 85 w 592"/>
                <a:gd name="T27" fmla="*/ 46 h 327"/>
                <a:gd name="T28" fmla="*/ 53 w 592"/>
                <a:gd name="T29" fmla="*/ 68 h 327"/>
                <a:gd name="T30" fmla="*/ 27 w 592"/>
                <a:gd name="T31" fmla="*/ 94 h 327"/>
                <a:gd name="T32" fmla="*/ 9 w 592"/>
                <a:gd name="T33" fmla="*/ 120 h 327"/>
                <a:gd name="T34" fmla="*/ 1 w 592"/>
                <a:gd name="T35" fmla="*/ 148 h 327"/>
                <a:gd name="T36" fmla="*/ 1 w 592"/>
                <a:gd name="T37" fmla="*/ 177 h 327"/>
                <a:gd name="T38" fmla="*/ 9 w 592"/>
                <a:gd name="T39" fmla="*/ 205 h 327"/>
                <a:gd name="T40" fmla="*/ 27 w 592"/>
                <a:gd name="T41" fmla="*/ 231 h 327"/>
                <a:gd name="T42" fmla="*/ 53 w 592"/>
                <a:gd name="T43" fmla="*/ 257 h 327"/>
                <a:gd name="T44" fmla="*/ 85 w 592"/>
                <a:gd name="T45" fmla="*/ 278 h 327"/>
                <a:gd name="T46" fmla="*/ 125 w 592"/>
                <a:gd name="T47" fmla="*/ 296 h 327"/>
                <a:gd name="T48" fmla="*/ 170 w 592"/>
                <a:gd name="T49" fmla="*/ 310 h 327"/>
                <a:gd name="T50" fmla="*/ 218 w 592"/>
                <a:gd name="T51" fmla="*/ 320 h 327"/>
                <a:gd name="T52" fmla="*/ 269 w 592"/>
                <a:gd name="T53" fmla="*/ 326 h 327"/>
                <a:gd name="T54" fmla="*/ 321 w 592"/>
                <a:gd name="T55" fmla="*/ 326 h 327"/>
                <a:gd name="T56" fmla="*/ 372 w 592"/>
                <a:gd name="T57" fmla="*/ 320 h 327"/>
                <a:gd name="T58" fmla="*/ 420 w 592"/>
                <a:gd name="T59" fmla="*/ 310 h 327"/>
                <a:gd name="T60" fmla="*/ 465 w 592"/>
                <a:gd name="T61" fmla="*/ 296 h 327"/>
                <a:gd name="T62" fmla="*/ 505 w 592"/>
                <a:gd name="T63" fmla="*/ 278 h 327"/>
                <a:gd name="T64" fmla="*/ 538 w 592"/>
                <a:gd name="T65" fmla="*/ 257 h 327"/>
                <a:gd name="T66" fmla="*/ 563 w 592"/>
                <a:gd name="T67" fmla="*/ 231 h 327"/>
                <a:gd name="T68" fmla="*/ 581 w 592"/>
                <a:gd name="T69" fmla="*/ 205 h 327"/>
                <a:gd name="T70" fmla="*/ 589 w 592"/>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92"/>
                <a:gd name="T109" fmla="*/ 0 h 327"/>
                <a:gd name="T110" fmla="*/ 592 w 592"/>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92" h="327">
                  <a:moveTo>
                    <a:pt x="591" y="163"/>
                  </a:moveTo>
                  <a:lnTo>
                    <a:pt x="589" y="148"/>
                  </a:lnTo>
                  <a:lnTo>
                    <a:pt x="586" y="133"/>
                  </a:lnTo>
                  <a:lnTo>
                    <a:pt x="581" y="120"/>
                  </a:lnTo>
                  <a:lnTo>
                    <a:pt x="573" y="106"/>
                  </a:lnTo>
                  <a:lnTo>
                    <a:pt x="563" y="94"/>
                  </a:lnTo>
                  <a:lnTo>
                    <a:pt x="550" y="81"/>
                  </a:lnTo>
                  <a:lnTo>
                    <a:pt x="538" y="68"/>
                  </a:lnTo>
                  <a:lnTo>
                    <a:pt x="521" y="57"/>
                  </a:lnTo>
                  <a:lnTo>
                    <a:pt x="505" y="46"/>
                  </a:lnTo>
                  <a:lnTo>
                    <a:pt x="485" y="37"/>
                  </a:lnTo>
                  <a:lnTo>
                    <a:pt x="465" y="29"/>
                  </a:lnTo>
                  <a:lnTo>
                    <a:pt x="442" y="21"/>
                  </a:lnTo>
                  <a:lnTo>
                    <a:pt x="420" y="14"/>
                  </a:lnTo>
                  <a:lnTo>
                    <a:pt x="395" y="9"/>
                  </a:lnTo>
                  <a:lnTo>
                    <a:pt x="372" y="4"/>
                  </a:lnTo>
                  <a:lnTo>
                    <a:pt x="347" y="1"/>
                  </a:lnTo>
                  <a:lnTo>
                    <a:pt x="321" y="0"/>
                  </a:lnTo>
                  <a:lnTo>
                    <a:pt x="294" y="0"/>
                  </a:lnTo>
                  <a:lnTo>
                    <a:pt x="269" y="0"/>
                  </a:lnTo>
                  <a:lnTo>
                    <a:pt x="243" y="1"/>
                  </a:lnTo>
                  <a:lnTo>
                    <a:pt x="218" y="4"/>
                  </a:lnTo>
                  <a:lnTo>
                    <a:pt x="195" y="9"/>
                  </a:lnTo>
                  <a:lnTo>
                    <a:pt x="170" y="14"/>
                  </a:lnTo>
                  <a:lnTo>
                    <a:pt x="148" y="21"/>
                  </a:lnTo>
                  <a:lnTo>
                    <a:pt x="125" y="29"/>
                  </a:lnTo>
                  <a:lnTo>
                    <a:pt x="105" y="37"/>
                  </a:lnTo>
                  <a:lnTo>
                    <a:pt x="85" y="46"/>
                  </a:lnTo>
                  <a:lnTo>
                    <a:pt x="69" y="57"/>
                  </a:lnTo>
                  <a:lnTo>
                    <a:pt x="53" y="68"/>
                  </a:lnTo>
                  <a:lnTo>
                    <a:pt x="40" y="81"/>
                  </a:lnTo>
                  <a:lnTo>
                    <a:pt x="27" y="94"/>
                  </a:lnTo>
                  <a:lnTo>
                    <a:pt x="17" y="106"/>
                  </a:lnTo>
                  <a:lnTo>
                    <a:pt x="9" y="120"/>
                  </a:lnTo>
                  <a:lnTo>
                    <a:pt x="4" y="133"/>
                  </a:lnTo>
                  <a:lnTo>
                    <a:pt x="1" y="148"/>
                  </a:lnTo>
                  <a:lnTo>
                    <a:pt x="0" y="163"/>
                  </a:lnTo>
                  <a:lnTo>
                    <a:pt x="1" y="177"/>
                  </a:lnTo>
                  <a:lnTo>
                    <a:pt x="4" y="191"/>
                  </a:lnTo>
                  <a:lnTo>
                    <a:pt x="9" y="205"/>
                  </a:lnTo>
                  <a:lnTo>
                    <a:pt x="17" y="219"/>
                  </a:lnTo>
                  <a:lnTo>
                    <a:pt x="27" y="231"/>
                  </a:lnTo>
                  <a:lnTo>
                    <a:pt x="40" y="244"/>
                  </a:lnTo>
                  <a:lnTo>
                    <a:pt x="53" y="257"/>
                  </a:lnTo>
                  <a:lnTo>
                    <a:pt x="69" y="268"/>
                  </a:lnTo>
                  <a:lnTo>
                    <a:pt x="85" y="278"/>
                  </a:lnTo>
                  <a:lnTo>
                    <a:pt x="105" y="288"/>
                  </a:lnTo>
                  <a:lnTo>
                    <a:pt x="125" y="296"/>
                  </a:lnTo>
                  <a:lnTo>
                    <a:pt x="148" y="304"/>
                  </a:lnTo>
                  <a:lnTo>
                    <a:pt x="170" y="310"/>
                  </a:lnTo>
                  <a:lnTo>
                    <a:pt x="195" y="316"/>
                  </a:lnTo>
                  <a:lnTo>
                    <a:pt x="218" y="320"/>
                  </a:lnTo>
                  <a:lnTo>
                    <a:pt x="243" y="324"/>
                  </a:lnTo>
                  <a:lnTo>
                    <a:pt x="269" y="326"/>
                  </a:lnTo>
                  <a:lnTo>
                    <a:pt x="294" y="326"/>
                  </a:lnTo>
                  <a:lnTo>
                    <a:pt x="321" y="326"/>
                  </a:lnTo>
                  <a:lnTo>
                    <a:pt x="347" y="324"/>
                  </a:lnTo>
                  <a:lnTo>
                    <a:pt x="372" y="320"/>
                  </a:lnTo>
                  <a:lnTo>
                    <a:pt x="395" y="316"/>
                  </a:lnTo>
                  <a:lnTo>
                    <a:pt x="420" y="310"/>
                  </a:lnTo>
                  <a:lnTo>
                    <a:pt x="442" y="304"/>
                  </a:lnTo>
                  <a:lnTo>
                    <a:pt x="465" y="296"/>
                  </a:lnTo>
                  <a:lnTo>
                    <a:pt x="485" y="288"/>
                  </a:lnTo>
                  <a:lnTo>
                    <a:pt x="505" y="278"/>
                  </a:lnTo>
                  <a:lnTo>
                    <a:pt x="521" y="268"/>
                  </a:lnTo>
                  <a:lnTo>
                    <a:pt x="538" y="257"/>
                  </a:lnTo>
                  <a:lnTo>
                    <a:pt x="550" y="244"/>
                  </a:lnTo>
                  <a:lnTo>
                    <a:pt x="563" y="231"/>
                  </a:lnTo>
                  <a:lnTo>
                    <a:pt x="573" y="219"/>
                  </a:lnTo>
                  <a:lnTo>
                    <a:pt x="581" y="205"/>
                  </a:lnTo>
                  <a:lnTo>
                    <a:pt x="586" y="191"/>
                  </a:lnTo>
                  <a:lnTo>
                    <a:pt x="589" y="177"/>
                  </a:lnTo>
                  <a:lnTo>
                    <a:pt x="591"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Rectangle 14">
              <a:extLst>
                <a:ext uri="{FF2B5EF4-FFF2-40B4-BE49-F238E27FC236}">
                  <a16:creationId xmlns:a16="http://schemas.microsoft.com/office/drawing/2014/main" id="{7840FB03-4BFC-56C7-8416-8D836E2D1289}"/>
                </a:ext>
              </a:extLst>
            </p:cNvPr>
            <p:cNvSpPr>
              <a:spLocks noChangeArrowheads="1"/>
            </p:cNvSpPr>
            <p:nvPr/>
          </p:nvSpPr>
          <p:spPr bwMode="auto">
            <a:xfrm>
              <a:off x="4741" y="110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dname</a:t>
              </a:r>
            </a:p>
          </p:txBody>
        </p:sp>
      </p:grpSp>
      <p:sp>
        <p:nvSpPr>
          <p:cNvPr id="50" name="Rectangle 15">
            <a:extLst>
              <a:ext uri="{FF2B5EF4-FFF2-40B4-BE49-F238E27FC236}">
                <a16:creationId xmlns:a16="http://schemas.microsoft.com/office/drawing/2014/main" id="{F0602168-7B81-ADF0-24F4-DC4F60FC02E8}"/>
              </a:ext>
            </a:extLst>
          </p:cNvPr>
          <p:cNvSpPr>
            <a:spLocks noChangeArrowheads="1"/>
          </p:cNvSpPr>
          <p:nvPr/>
        </p:nvSpPr>
        <p:spPr bwMode="auto">
          <a:xfrm>
            <a:off x="6718360" y="1519621"/>
            <a:ext cx="857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51" name="Rectangle 16">
            <a:extLst>
              <a:ext uri="{FF2B5EF4-FFF2-40B4-BE49-F238E27FC236}">
                <a16:creationId xmlns:a16="http://schemas.microsoft.com/office/drawing/2014/main" id="{36173E32-2150-376F-B72B-E9A2E2F76478}"/>
              </a:ext>
            </a:extLst>
          </p:cNvPr>
          <p:cNvSpPr>
            <a:spLocks noChangeArrowheads="1"/>
          </p:cNvSpPr>
          <p:nvPr/>
        </p:nvSpPr>
        <p:spPr bwMode="auto">
          <a:xfrm>
            <a:off x="5448360" y="153390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did</a:t>
            </a:r>
          </a:p>
        </p:txBody>
      </p:sp>
      <p:grpSp>
        <p:nvGrpSpPr>
          <p:cNvPr id="52" name="Group 17">
            <a:extLst>
              <a:ext uri="{FF2B5EF4-FFF2-40B4-BE49-F238E27FC236}">
                <a16:creationId xmlns:a16="http://schemas.microsoft.com/office/drawing/2014/main" id="{F361CE4A-391D-26A5-F3D3-A0B45A5FDA09}"/>
              </a:ext>
            </a:extLst>
          </p:cNvPr>
          <p:cNvGrpSpPr>
            <a:grpSpLocks/>
          </p:cNvGrpSpPr>
          <p:nvPr/>
        </p:nvGrpSpPr>
        <p:grpSpPr bwMode="auto">
          <a:xfrm>
            <a:off x="4259940" y="849283"/>
            <a:ext cx="720725" cy="519112"/>
            <a:chOff x="3663" y="868"/>
            <a:chExt cx="454" cy="327"/>
          </a:xfrm>
        </p:grpSpPr>
        <p:sp>
          <p:nvSpPr>
            <p:cNvPr id="53" name="Freeform 18">
              <a:extLst>
                <a:ext uri="{FF2B5EF4-FFF2-40B4-BE49-F238E27FC236}">
                  <a16:creationId xmlns:a16="http://schemas.microsoft.com/office/drawing/2014/main" id="{62FF0CFB-1B87-29FD-1D00-7E600F21B782}"/>
                </a:ext>
              </a:extLst>
            </p:cNvPr>
            <p:cNvSpPr>
              <a:spLocks/>
            </p:cNvSpPr>
            <p:nvPr/>
          </p:nvSpPr>
          <p:spPr bwMode="auto">
            <a:xfrm>
              <a:off x="3663" y="868"/>
              <a:ext cx="454" cy="327"/>
            </a:xfrm>
            <a:custGeom>
              <a:avLst/>
              <a:gdLst>
                <a:gd name="T0" fmla="*/ 1 w 454"/>
                <a:gd name="T1" fmla="*/ 177 h 327"/>
                <a:gd name="T2" fmla="*/ 8 w 454"/>
                <a:gd name="T3" fmla="*/ 205 h 327"/>
                <a:gd name="T4" fmla="*/ 21 w 454"/>
                <a:gd name="T5" fmla="*/ 231 h 327"/>
                <a:gd name="T6" fmla="*/ 41 w 454"/>
                <a:gd name="T7" fmla="*/ 257 h 327"/>
                <a:gd name="T8" fmla="*/ 66 w 454"/>
                <a:gd name="T9" fmla="*/ 278 h 327"/>
                <a:gd name="T10" fmla="*/ 96 w 454"/>
                <a:gd name="T11" fmla="*/ 296 h 327"/>
                <a:gd name="T12" fmla="*/ 131 w 454"/>
                <a:gd name="T13" fmla="*/ 311 h 327"/>
                <a:gd name="T14" fmla="*/ 167 w 454"/>
                <a:gd name="T15" fmla="*/ 320 h 327"/>
                <a:gd name="T16" fmla="*/ 206 w 454"/>
                <a:gd name="T17" fmla="*/ 326 h 327"/>
                <a:gd name="T18" fmla="*/ 246 w 454"/>
                <a:gd name="T19" fmla="*/ 326 h 327"/>
                <a:gd name="T20" fmla="*/ 285 w 454"/>
                <a:gd name="T21" fmla="*/ 320 h 327"/>
                <a:gd name="T22" fmla="*/ 322 w 454"/>
                <a:gd name="T23" fmla="*/ 310 h 327"/>
                <a:gd name="T24" fmla="*/ 356 w 454"/>
                <a:gd name="T25" fmla="*/ 296 h 327"/>
                <a:gd name="T26" fmla="*/ 387 w 454"/>
                <a:gd name="T27" fmla="*/ 278 h 327"/>
                <a:gd name="T28" fmla="*/ 412 w 454"/>
                <a:gd name="T29" fmla="*/ 257 h 327"/>
                <a:gd name="T30" fmla="*/ 431 w 454"/>
                <a:gd name="T31" fmla="*/ 231 h 327"/>
                <a:gd name="T32" fmla="*/ 445 w 454"/>
                <a:gd name="T33" fmla="*/ 205 h 327"/>
                <a:gd name="T34" fmla="*/ 453 w 454"/>
                <a:gd name="T35" fmla="*/ 177 h 327"/>
                <a:gd name="T36" fmla="*/ 453 w 454"/>
                <a:gd name="T37" fmla="*/ 148 h 327"/>
                <a:gd name="T38" fmla="*/ 445 w 454"/>
                <a:gd name="T39" fmla="*/ 120 h 327"/>
                <a:gd name="T40" fmla="*/ 431 w 454"/>
                <a:gd name="T41" fmla="*/ 94 h 327"/>
                <a:gd name="T42" fmla="*/ 412 w 454"/>
                <a:gd name="T43" fmla="*/ 68 h 327"/>
                <a:gd name="T44" fmla="*/ 387 w 454"/>
                <a:gd name="T45" fmla="*/ 47 h 327"/>
                <a:gd name="T46" fmla="*/ 356 w 454"/>
                <a:gd name="T47" fmla="*/ 29 h 327"/>
                <a:gd name="T48" fmla="*/ 322 w 454"/>
                <a:gd name="T49" fmla="*/ 15 h 327"/>
                <a:gd name="T50" fmla="*/ 285 w 454"/>
                <a:gd name="T51" fmla="*/ 5 h 327"/>
                <a:gd name="T52" fmla="*/ 246 w 454"/>
                <a:gd name="T53" fmla="*/ 0 h 327"/>
                <a:gd name="T54" fmla="*/ 206 w 454"/>
                <a:gd name="T55" fmla="*/ 0 h 327"/>
                <a:gd name="T56" fmla="*/ 167 w 454"/>
                <a:gd name="T57" fmla="*/ 5 h 327"/>
                <a:gd name="T58" fmla="*/ 131 w 454"/>
                <a:gd name="T59" fmla="*/ 15 h 327"/>
                <a:gd name="T60" fmla="*/ 96 w 454"/>
                <a:gd name="T61" fmla="*/ 29 h 327"/>
                <a:gd name="T62" fmla="*/ 66 w 454"/>
                <a:gd name="T63" fmla="*/ 47 h 327"/>
                <a:gd name="T64" fmla="*/ 41 w 454"/>
                <a:gd name="T65" fmla="*/ 68 h 327"/>
                <a:gd name="T66" fmla="*/ 21 w 454"/>
                <a:gd name="T67" fmla="*/ 94 h 327"/>
                <a:gd name="T68" fmla="*/ 8 w 454"/>
                <a:gd name="T69" fmla="*/ 120 h 327"/>
                <a:gd name="T70" fmla="*/ 1 w 454"/>
                <a:gd name="T71" fmla="*/ 148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0" y="163"/>
                  </a:moveTo>
                  <a:lnTo>
                    <a:pt x="1" y="177"/>
                  </a:lnTo>
                  <a:lnTo>
                    <a:pt x="3" y="192"/>
                  </a:lnTo>
                  <a:lnTo>
                    <a:pt x="8" y="205"/>
                  </a:lnTo>
                  <a:lnTo>
                    <a:pt x="13" y="219"/>
                  </a:lnTo>
                  <a:lnTo>
                    <a:pt x="21" y="231"/>
                  </a:lnTo>
                  <a:lnTo>
                    <a:pt x="30" y="244"/>
                  </a:lnTo>
                  <a:lnTo>
                    <a:pt x="41" y="257"/>
                  </a:lnTo>
                  <a:lnTo>
                    <a:pt x="53" y="268"/>
                  </a:lnTo>
                  <a:lnTo>
                    <a:pt x="66" y="278"/>
                  </a:lnTo>
                  <a:lnTo>
                    <a:pt x="80" y="288"/>
                  </a:lnTo>
                  <a:lnTo>
                    <a:pt x="96" y="296"/>
                  </a:lnTo>
                  <a:lnTo>
                    <a:pt x="113" y="304"/>
                  </a:lnTo>
                  <a:lnTo>
                    <a:pt x="131" y="311"/>
                  </a:lnTo>
                  <a:lnTo>
                    <a:pt x="149" y="316"/>
                  </a:lnTo>
                  <a:lnTo>
                    <a:pt x="167" y="320"/>
                  </a:lnTo>
                  <a:lnTo>
                    <a:pt x="186" y="324"/>
                  </a:lnTo>
                  <a:lnTo>
                    <a:pt x="206" y="326"/>
                  </a:lnTo>
                  <a:lnTo>
                    <a:pt x="227" y="326"/>
                  </a:lnTo>
                  <a:lnTo>
                    <a:pt x="246" y="326"/>
                  </a:lnTo>
                  <a:lnTo>
                    <a:pt x="266" y="323"/>
                  </a:lnTo>
                  <a:lnTo>
                    <a:pt x="285" y="320"/>
                  </a:lnTo>
                  <a:lnTo>
                    <a:pt x="304" y="316"/>
                  </a:lnTo>
                  <a:lnTo>
                    <a:pt x="322" y="310"/>
                  </a:lnTo>
                  <a:lnTo>
                    <a:pt x="340" y="304"/>
                  </a:lnTo>
                  <a:lnTo>
                    <a:pt x="356" y="296"/>
                  </a:lnTo>
                  <a:lnTo>
                    <a:pt x="372" y="288"/>
                  </a:lnTo>
                  <a:lnTo>
                    <a:pt x="387" y="278"/>
                  </a:lnTo>
                  <a:lnTo>
                    <a:pt x="399" y="266"/>
                  </a:lnTo>
                  <a:lnTo>
                    <a:pt x="412" y="257"/>
                  </a:lnTo>
                  <a:lnTo>
                    <a:pt x="423" y="244"/>
                  </a:lnTo>
                  <a:lnTo>
                    <a:pt x="431" y="231"/>
                  </a:lnTo>
                  <a:lnTo>
                    <a:pt x="439" y="219"/>
                  </a:lnTo>
                  <a:lnTo>
                    <a:pt x="445" y="205"/>
                  </a:lnTo>
                  <a:lnTo>
                    <a:pt x="449" y="191"/>
                  </a:lnTo>
                  <a:lnTo>
                    <a:pt x="453" y="177"/>
                  </a:lnTo>
                  <a:lnTo>
                    <a:pt x="453" y="163"/>
                  </a:ln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1"/>
                  </a:lnTo>
                  <a:lnTo>
                    <a:pt x="246" y="0"/>
                  </a:lnTo>
                  <a:lnTo>
                    <a:pt x="225" y="0"/>
                  </a:lnTo>
                  <a:lnTo>
                    <a:pt x="206" y="0"/>
                  </a:lnTo>
                  <a:lnTo>
                    <a:pt x="186" y="1"/>
                  </a:lnTo>
                  <a:lnTo>
                    <a:pt x="167" y="5"/>
                  </a:lnTo>
                  <a:lnTo>
                    <a:pt x="149" y="9"/>
                  </a:lnTo>
                  <a:lnTo>
                    <a:pt x="131" y="15"/>
                  </a:lnTo>
                  <a:lnTo>
                    <a:pt x="113" y="21"/>
                  </a:lnTo>
                  <a:lnTo>
                    <a:pt x="96" y="29"/>
                  </a:lnTo>
                  <a:lnTo>
                    <a:pt x="80" y="37"/>
                  </a:lnTo>
                  <a:lnTo>
                    <a:pt x="66" y="47"/>
                  </a:lnTo>
                  <a:lnTo>
                    <a:pt x="53" y="57"/>
                  </a:lnTo>
                  <a:lnTo>
                    <a:pt x="41" y="68"/>
                  </a:lnTo>
                  <a:lnTo>
                    <a:pt x="30" y="81"/>
                  </a:lnTo>
                  <a:lnTo>
                    <a:pt x="21" y="94"/>
                  </a:lnTo>
                  <a:lnTo>
                    <a:pt x="13" y="106"/>
                  </a:lnTo>
                  <a:lnTo>
                    <a:pt x="8" y="120"/>
                  </a:lnTo>
                  <a:lnTo>
                    <a:pt x="3" y="134"/>
                  </a:lnTo>
                  <a:lnTo>
                    <a:pt x="1" y="148"/>
                  </a:lnTo>
                  <a:lnTo>
                    <a:pt x="0"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Rectangle 19">
              <a:extLst>
                <a:ext uri="{FF2B5EF4-FFF2-40B4-BE49-F238E27FC236}">
                  <a16:creationId xmlns:a16="http://schemas.microsoft.com/office/drawing/2014/main" id="{21BE4071-A104-DDF3-B693-6866D68BA342}"/>
                </a:ext>
              </a:extLst>
            </p:cNvPr>
            <p:cNvSpPr>
              <a:spLocks noChangeArrowheads="1"/>
            </p:cNvSpPr>
            <p:nvPr/>
          </p:nvSpPr>
          <p:spPr bwMode="auto">
            <a:xfrm>
              <a:off x="3666" y="930"/>
              <a:ext cx="44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since</a:t>
              </a:r>
            </a:p>
          </p:txBody>
        </p:sp>
      </p:grpSp>
      <p:grpSp>
        <p:nvGrpSpPr>
          <p:cNvPr id="55" name="Group 20">
            <a:extLst>
              <a:ext uri="{FF2B5EF4-FFF2-40B4-BE49-F238E27FC236}">
                <a16:creationId xmlns:a16="http://schemas.microsoft.com/office/drawing/2014/main" id="{4070D43B-3681-2229-3634-1C96F8E67CE6}"/>
              </a:ext>
            </a:extLst>
          </p:cNvPr>
          <p:cNvGrpSpPr>
            <a:grpSpLocks/>
          </p:cNvGrpSpPr>
          <p:nvPr/>
        </p:nvGrpSpPr>
        <p:grpSpPr bwMode="auto">
          <a:xfrm>
            <a:off x="1752600" y="1052896"/>
            <a:ext cx="2039938" cy="900112"/>
            <a:chOff x="2110" y="1050"/>
            <a:chExt cx="1285" cy="567"/>
          </a:xfrm>
        </p:grpSpPr>
        <p:sp>
          <p:nvSpPr>
            <p:cNvPr id="56" name="Freeform 21">
              <a:extLst>
                <a:ext uri="{FF2B5EF4-FFF2-40B4-BE49-F238E27FC236}">
                  <a16:creationId xmlns:a16="http://schemas.microsoft.com/office/drawing/2014/main" id="{CC0E93DB-46CA-F21F-5332-4DDAE63A0628}"/>
                </a:ext>
              </a:extLst>
            </p:cNvPr>
            <p:cNvSpPr>
              <a:spLocks/>
            </p:cNvSpPr>
            <p:nvPr/>
          </p:nvSpPr>
          <p:spPr bwMode="auto">
            <a:xfrm>
              <a:off x="2517" y="1050"/>
              <a:ext cx="454" cy="327"/>
            </a:xfrm>
            <a:custGeom>
              <a:avLst/>
              <a:gdLst>
                <a:gd name="T0" fmla="*/ 453 w 454"/>
                <a:gd name="T1" fmla="*/ 148 h 327"/>
                <a:gd name="T2" fmla="*/ 445 w 454"/>
                <a:gd name="T3" fmla="*/ 120 h 327"/>
                <a:gd name="T4" fmla="*/ 431 w 454"/>
                <a:gd name="T5" fmla="*/ 94 h 327"/>
                <a:gd name="T6" fmla="*/ 412 w 454"/>
                <a:gd name="T7" fmla="*/ 68 h 327"/>
                <a:gd name="T8" fmla="*/ 387 w 454"/>
                <a:gd name="T9" fmla="*/ 47 h 327"/>
                <a:gd name="T10" fmla="*/ 356 w 454"/>
                <a:gd name="T11" fmla="*/ 29 h 327"/>
                <a:gd name="T12" fmla="*/ 322 w 454"/>
                <a:gd name="T13" fmla="*/ 15 h 327"/>
                <a:gd name="T14" fmla="*/ 285 w 454"/>
                <a:gd name="T15" fmla="*/ 5 h 327"/>
                <a:gd name="T16" fmla="*/ 246 w 454"/>
                <a:gd name="T17" fmla="*/ 0 h 327"/>
                <a:gd name="T18" fmla="*/ 206 w 454"/>
                <a:gd name="T19" fmla="*/ 0 h 327"/>
                <a:gd name="T20" fmla="*/ 167 w 454"/>
                <a:gd name="T21" fmla="*/ 5 h 327"/>
                <a:gd name="T22" fmla="*/ 131 w 454"/>
                <a:gd name="T23" fmla="*/ 15 h 327"/>
                <a:gd name="T24" fmla="*/ 96 w 454"/>
                <a:gd name="T25" fmla="*/ 29 h 327"/>
                <a:gd name="T26" fmla="*/ 66 w 454"/>
                <a:gd name="T27" fmla="*/ 47 h 327"/>
                <a:gd name="T28" fmla="*/ 41 w 454"/>
                <a:gd name="T29" fmla="*/ 68 h 327"/>
                <a:gd name="T30" fmla="*/ 21 w 454"/>
                <a:gd name="T31" fmla="*/ 94 h 327"/>
                <a:gd name="T32" fmla="*/ 8 w 454"/>
                <a:gd name="T33" fmla="*/ 120 h 327"/>
                <a:gd name="T34" fmla="*/ 1 w 454"/>
                <a:gd name="T35" fmla="*/ 148 h 327"/>
                <a:gd name="T36" fmla="*/ 1 w 454"/>
                <a:gd name="T37" fmla="*/ 177 h 327"/>
                <a:gd name="T38" fmla="*/ 8 w 454"/>
                <a:gd name="T39" fmla="*/ 205 h 327"/>
                <a:gd name="T40" fmla="*/ 21 w 454"/>
                <a:gd name="T41" fmla="*/ 231 h 327"/>
                <a:gd name="T42" fmla="*/ 41 w 454"/>
                <a:gd name="T43" fmla="*/ 257 h 327"/>
                <a:gd name="T44" fmla="*/ 66 w 454"/>
                <a:gd name="T45" fmla="*/ 278 h 327"/>
                <a:gd name="T46" fmla="*/ 96 w 454"/>
                <a:gd name="T47" fmla="*/ 296 h 327"/>
                <a:gd name="T48" fmla="*/ 131 w 454"/>
                <a:gd name="T49" fmla="*/ 310 h 327"/>
                <a:gd name="T50" fmla="*/ 167 w 454"/>
                <a:gd name="T51" fmla="*/ 320 h 327"/>
                <a:gd name="T52" fmla="*/ 206 w 454"/>
                <a:gd name="T53" fmla="*/ 326 h 327"/>
                <a:gd name="T54" fmla="*/ 246 w 454"/>
                <a:gd name="T55" fmla="*/ 326 h 327"/>
                <a:gd name="T56" fmla="*/ 285 w 454"/>
                <a:gd name="T57" fmla="*/ 320 h 327"/>
                <a:gd name="T58" fmla="*/ 322 w 454"/>
                <a:gd name="T59" fmla="*/ 310 h 327"/>
                <a:gd name="T60" fmla="*/ 356 w 454"/>
                <a:gd name="T61" fmla="*/ 296 h 327"/>
                <a:gd name="T62" fmla="*/ 387 w 454"/>
                <a:gd name="T63" fmla="*/ 278 h 327"/>
                <a:gd name="T64" fmla="*/ 412 w 454"/>
                <a:gd name="T65" fmla="*/ 257 h 327"/>
                <a:gd name="T66" fmla="*/ 431 w 454"/>
                <a:gd name="T67" fmla="*/ 231 h 327"/>
                <a:gd name="T68" fmla="*/ 445 w 454"/>
                <a:gd name="T69" fmla="*/ 205 h 327"/>
                <a:gd name="T70" fmla="*/ 453 w 454"/>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2"/>
                  </a:lnTo>
                  <a:lnTo>
                    <a:pt x="246" y="0"/>
                  </a:lnTo>
                  <a:lnTo>
                    <a:pt x="227" y="0"/>
                  </a:lnTo>
                  <a:lnTo>
                    <a:pt x="206" y="0"/>
                  </a:lnTo>
                  <a:lnTo>
                    <a:pt x="187" y="2"/>
                  </a:lnTo>
                  <a:lnTo>
                    <a:pt x="167" y="5"/>
                  </a:lnTo>
                  <a:lnTo>
                    <a:pt x="149" y="9"/>
                  </a:lnTo>
                  <a:lnTo>
                    <a:pt x="131" y="15"/>
                  </a:lnTo>
                  <a:lnTo>
                    <a:pt x="113" y="21"/>
                  </a:lnTo>
                  <a:lnTo>
                    <a:pt x="96" y="29"/>
                  </a:lnTo>
                  <a:lnTo>
                    <a:pt x="81" y="37"/>
                  </a:lnTo>
                  <a:lnTo>
                    <a:pt x="66" y="47"/>
                  </a:lnTo>
                  <a:lnTo>
                    <a:pt x="53" y="57"/>
                  </a:lnTo>
                  <a:lnTo>
                    <a:pt x="41" y="68"/>
                  </a:lnTo>
                  <a:lnTo>
                    <a:pt x="30" y="81"/>
                  </a:lnTo>
                  <a:lnTo>
                    <a:pt x="21" y="94"/>
                  </a:lnTo>
                  <a:lnTo>
                    <a:pt x="13" y="106"/>
                  </a:lnTo>
                  <a:lnTo>
                    <a:pt x="8" y="120"/>
                  </a:lnTo>
                  <a:lnTo>
                    <a:pt x="3" y="134"/>
                  </a:lnTo>
                  <a:lnTo>
                    <a:pt x="1" y="148"/>
                  </a:lnTo>
                  <a:lnTo>
                    <a:pt x="0" y="163"/>
                  </a:lnTo>
                  <a:lnTo>
                    <a:pt x="1" y="177"/>
                  </a:lnTo>
                  <a:lnTo>
                    <a:pt x="3" y="191"/>
                  </a:lnTo>
                  <a:lnTo>
                    <a:pt x="8" y="205"/>
                  </a:lnTo>
                  <a:lnTo>
                    <a:pt x="13" y="219"/>
                  </a:lnTo>
                  <a:lnTo>
                    <a:pt x="21" y="231"/>
                  </a:lnTo>
                  <a:lnTo>
                    <a:pt x="30" y="244"/>
                  </a:lnTo>
                  <a:lnTo>
                    <a:pt x="41" y="257"/>
                  </a:lnTo>
                  <a:lnTo>
                    <a:pt x="53" y="268"/>
                  </a:lnTo>
                  <a:lnTo>
                    <a:pt x="66" y="278"/>
                  </a:lnTo>
                  <a:lnTo>
                    <a:pt x="81" y="288"/>
                  </a:lnTo>
                  <a:lnTo>
                    <a:pt x="96" y="296"/>
                  </a:lnTo>
                  <a:lnTo>
                    <a:pt x="113" y="304"/>
                  </a:lnTo>
                  <a:lnTo>
                    <a:pt x="131" y="310"/>
                  </a:lnTo>
                  <a:lnTo>
                    <a:pt x="149" y="316"/>
                  </a:lnTo>
                  <a:lnTo>
                    <a:pt x="167" y="320"/>
                  </a:lnTo>
                  <a:lnTo>
                    <a:pt x="187" y="324"/>
                  </a:lnTo>
                  <a:lnTo>
                    <a:pt x="206" y="326"/>
                  </a:lnTo>
                  <a:lnTo>
                    <a:pt x="227" y="326"/>
                  </a:lnTo>
                  <a:lnTo>
                    <a:pt x="246" y="326"/>
                  </a:lnTo>
                  <a:lnTo>
                    <a:pt x="266" y="324"/>
                  </a:lnTo>
                  <a:lnTo>
                    <a:pt x="285" y="320"/>
                  </a:lnTo>
                  <a:lnTo>
                    <a:pt x="304" y="316"/>
                  </a:lnTo>
                  <a:lnTo>
                    <a:pt x="322" y="310"/>
                  </a:lnTo>
                  <a:lnTo>
                    <a:pt x="339" y="304"/>
                  </a:lnTo>
                  <a:lnTo>
                    <a:pt x="356" y="296"/>
                  </a:lnTo>
                  <a:lnTo>
                    <a:pt x="372" y="288"/>
                  </a:lnTo>
                  <a:lnTo>
                    <a:pt x="387" y="278"/>
                  </a:lnTo>
                  <a:lnTo>
                    <a:pt x="399" y="268"/>
                  </a:lnTo>
                  <a:lnTo>
                    <a:pt x="412" y="257"/>
                  </a:lnTo>
                  <a:lnTo>
                    <a:pt x="422" y="244"/>
                  </a:lnTo>
                  <a:lnTo>
                    <a:pt x="431" y="231"/>
                  </a:lnTo>
                  <a:lnTo>
                    <a:pt x="439" y="219"/>
                  </a:lnTo>
                  <a:lnTo>
                    <a:pt x="445" y="205"/>
                  </a:lnTo>
                  <a:lnTo>
                    <a:pt x="449" y="191"/>
                  </a:lnTo>
                  <a:lnTo>
                    <a:pt x="453"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2">
              <a:extLst>
                <a:ext uri="{FF2B5EF4-FFF2-40B4-BE49-F238E27FC236}">
                  <a16:creationId xmlns:a16="http://schemas.microsoft.com/office/drawing/2014/main" id="{95B5028C-04B7-E26A-F1D7-4034C4FF0A19}"/>
                </a:ext>
              </a:extLst>
            </p:cNvPr>
            <p:cNvSpPr>
              <a:spLocks/>
            </p:cNvSpPr>
            <p:nvPr/>
          </p:nvSpPr>
          <p:spPr bwMode="auto">
            <a:xfrm>
              <a:off x="2110" y="1291"/>
              <a:ext cx="454" cy="326"/>
            </a:xfrm>
            <a:custGeom>
              <a:avLst/>
              <a:gdLst>
                <a:gd name="T0" fmla="*/ 451 w 454"/>
                <a:gd name="T1" fmla="*/ 148 h 326"/>
                <a:gd name="T2" fmla="*/ 445 w 454"/>
                <a:gd name="T3" fmla="*/ 120 h 326"/>
                <a:gd name="T4" fmla="*/ 431 w 454"/>
                <a:gd name="T5" fmla="*/ 93 h 326"/>
                <a:gd name="T6" fmla="*/ 411 w 454"/>
                <a:gd name="T7" fmla="*/ 68 h 326"/>
                <a:gd name="T8" fmla="*/ 386 w 454"/>
                <a:gd name="T9" fmla="*/ 47 h 326"/>
                <a:gd name="T10" fmla="*/ 356 w 454"/>
                <a:gd name="T11" fmla="*/ 29 h 326"/>
                <a:gd name="T12" fmla="*/ 322 w 454"/>
                <a:gd name="T13" fmla="*/ 15 h 326"/>
                <a:gd name="T14" fmla="*/ 285 w 454"/>
                <a:gd name="T15" fmla="*/ 5 h 326"/>
                <a:gd name="T16" fmla="*/ 246 w 454"/>
                <a:gd name="T17" fmla="*/ 0 h 326"/>
                <a:gd name="T18" fmla="*/ 206 w 454"/>
                <a:gd name="T19" fmla="*/ 0 h 326"/>
                <a:gd name="T20" fmla="*/ 167 w 454"/>
                <a:gd name="T21" fmla="*/ 5 h 326"/>
                <a:gd name="T22" fmla="*/ 130 w 454"/>
                <a:gd name="T23" fmla="*/ 15 h 326"/>
                <a:gd name="T24" fmla="*/ 96 w 454"/>
                <a:gd name="T25" fmla="*/ 29 h 326"/>
                <a:gd name="T26" fmla="*/ 66 w 454"/>
                <a:gd name="T27" fmla="*/ 47 h 326"/>
                <a:gd name="T28" fmla="*/ 41 w 454"/>
                <a:gd name="T29" fmla="*/ 68 h 326"/>
                <a:gd name="T30" fmla="*/ 21 w 454"/>
                <a:gd name="T31" fmla="*/ 93 h 326"/>
                <a:gd name="T32" fmla="*/ 7 w 454"/>
                <a:gd name="T33" fmla="*/ 120 h 326"/>
                <a:gd name="T34" fmla="*/ 1 w 454"/>
                <a:gd name="T35" fmla="*/ 148 h 326"/>
                <a:gd name="T36" fmla="*/ 1 w 454"/>
                <a:gd name="T37" fmla="*/ 176 h 326"/>
                <a:gd name="T38" fmla="*/ 7 w 454"/>
                <a:gd name="T39" fmla="*/ 204 h 326"/>
                <a:gd name="T40" fmla="*/ 21 w 454"/>
                <a:gd name="T41" fmla="*/ 231 h 326"/>
                <a:gd name="T42" fmla="*/ 41 w 454"/>
                <a:gd name="T43" fmla="*/ 256 h 326"/>
                <a:gd name="T44" fmla="*/ 66 w 454"/>
                <a:gd name="T45" fmla="*/ 277 h 326"/>
                <a:gd name="T46" fmla="*/ 96 w 454"/>
                <a:gd name="T47" fmla="*/ 295 h 326"/>
                <a:gd name="T48" fmla="*/ 130 w 454"/>
                <a:gd name="T49" fmla="*/ 309 h 326"/>
                <a:gd name="T50" fmla="*/ 167 w 454"/>
                <a:gd name="T51" fmla="*/ 319 h 326"/>
                <a:gd name="T52" fmla="*/ 206 w 454"/>
                <a:gd name="T53" fmla="*/ 325 h 326"/>
                <a:gd name="T54" fmla="*/ 246 w 454"/>
                <a:gd name="T55" fmla="*/ 325 h 326"/>
                <a:gd name="T56" fmla="*/ 285 w 454"/>
                <a:gd name="T57" fmla="*/ 319 h 326"/>
                <a:gd name="T58" fmla="*/ 322 w 454"/>
                <a:gd name="T59" fmla="*/ 309 h 326"/>
                <a:gd name="T60" fmla="*/ 356 w 454"/>
                <a:gd name="T61" fmla="*/ 295 h 326"/>
                <a:gd name="T62" fmla="*/ 386 w 454"/>
                <a:gd name="T63" fmla="*/ 277 h 326"/>
                <a:gd name="T64" fmla="*/ 411 w 454"/>
                <a:gd name="T65" fmla="*/ 256 h 326"/>
                <a:gd name="T66" fmla="*/ 431 w 454"/>
                <a:gd name="T67" fmla="*/ 231 h 326"/>
                <a:gd name="T68" fmla="*/ 445 w 454"/>
                <a:gd name="T69" fmla="*/ 204 h 326"/>
                <a:gd name="T70" fmla="*/ 451 w 454"/>
                <a:gd name="T71" fmla="*/ 176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6"/>
                <a:gd name="T110" fmla="*/ 454 w 454"/>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6">
                  <a:moveTo>
                    <a:pt x="453" y="162"/>
                  </a:moveTo>
                  <a:lnTo>
                    <a:pt x="451" y="148"/>
                  </a:lnTo>
                  <a:lnTo>
                    <a:pt x="449" y="134"/>
                  </a:lnTo>
                  <a:lnTo>
                    <a:pt x="445" y="120"/>
                  </a:lnTo>
                  <a:lnTo>
                    <a:pt x="439" y="106"/>
                  </a:lnTo>
                  <a:lnTo>
                    <a:pt x="431" y="93"/>
                  </a:lnTo>
                  <a:lnTo>
                    <a:pt x="422" y="81"/>
                  </a:lnTo>
                  <a:lnTo>
                    <a:pt x="411" y="68"/>
                  </a:lnTo>
                  <a:lnTo>
                    <a:pt x="399" y="57"/>
                  </a:lnTo>
                  <a:lnTo>
                    <a:pt x="386" y="47"/>
                  </a:lnTo>
                  <a:lnTo>
                    <a:pt x="372" y="37"/>
                  </a:lnTo>
                  <a:lnTo>
                    <a:pt x="356" y="29"/>
                  </a:lnTo>
                  <a:lnTo>
                    <a:pt x="339" y="21"/>
                  </a:lnTo>
                  <a:lnTo>
                    <a:pt x="322" y="15"/>
                  </a:lnTo>
                  <a:lnTo>
                    <a:pt x="304"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6" y="47"/>
                  </a:lnTo>
                  <a:lnTo>
                    <a:pt x="53" y="57"/>
                  </a:lnTo>
                  <a:lnTo>
                    <a:pt x="41" y="68"/>
                  </a:lnTo>
                  <a:lnTo>
                    <a:pt x="30" y="81"/>
                  </a:lnTo>
                  <a:lnTo>
                    <a:pt x="21" y="93"/>
                  </a:lnTo>
                  <a:lnTo>
                    <a:pt x="13" y="106"/>
                  </a:lnTo>
                  <a:lnTo>
                    <a:pt x="7" y="120"/>
                  </a:lnTo>
                  <a:lnTo>
                    <a:pt x="3" y="134"/>
                  </a:lnTo>
                  <a:lnTo>
                    <a:pt x="1" y="148"/>
                  </a:lnTo>
                  <a:lnTo>
                    <a:pt x="0" y="162"/>
                  </a:lnTo>
                  <a:lnTo>
                    <a:pt x="1" y="176"/>
                  </a:lnTo>
                  <a:lnTo>
                    <a:pt x="3" y="190"/>
                  </a:lnTo>
                  <a:lnTo>
                    <a:pt x="7" y="204"/>
                  </a:lnTo>
                  <a:lnTo>
                    <a:pt x="13" y="218"/>
                  </a:lnTo>
                  <a:lnTo>
                    <a:pt x="21" y="231"/>
                  </a:lnTo>
                  <a:lnTo>
                    <a:pt x="30" y="243"/>
                  </a:lnTo>
                  <a:lnTo>
                    <a:pt x="41" y="256"/>
                  </a:lnTo>
                  <a:lnTo>
                    <a:pt x="53" y="266"/>
                  </a:lnTo>
                  <a:lnTo>
                    <a:pt x="66" y="277"/>
                  </a:lnTo>
                  <a:lnTo>
                    <a:pt x="80" y="287"/>
                  </a:lnTo>
                  <a:lnTo>
                    <a:pt x="96" y="295"/>
                  </a:lnTo>
                  <a:lnTo>
                    <a:pt x="113" y="303"/>
                  </a:lnTo>
                  <a:lnTo>
                    <a:pt x="130" y="309"/>
                  </a:lnTo>
                  <a:lnTo>
                    <a:pt x="148" y="315"/>
                  </a:lnTo>
                  <a:lnTo>
                    <a:pt x="167" y="319"/>
                  </a:lnTo>
                  <a:lnTo>
                    <a:pt x="186" y="322"/>
                  </a:lnTo>
                  <a:lnTo>
                    <a:pt x="206" y="325"/>
                  </a:lnTo>
                  <a:lnTo>
                    <a:pt x="225" y="325"/>
                  </a:lnTo>
                  <a:lnTo>
                    <a:pt x="246" y="325"/>
                  </a:lnTo>
                  <a:lnTo>
                    <a:pt x="265" y="322"/>
                  </a:lnTo>
                  <a:lnTo>
                    <a:pt x="285" y="319"/>
                  </a:lnTo>
                  <a:lnTo>
                    <a:pt x="304" y="315"/>
                  </a:lnTo>
                  <a:lnTo>
                    <a:pt x="322" y="309"/>
                  </a:lnTo>
                  <a:lnTo>
                    <a:pt x="339" y="303"/>
                  </a:lnTo>
                  <a:lnTo>
                    <a:pt x="356" y="295"/>
                  </a:lnTo>
                  <a:lnTo>
                    <a:pt x="372" y="287"/>
                  </a:lnTo>
                  <a:lnTo>
                    <a:pt x="386" y="277"/>
                  </a:lnTo>
                  <a:lnTo>
                    <a:pt x="399" y="266"/>
                  </a:lnTo>
                  <a:lnTo>
                    <a:pt x="411" y="256"/>
                  </a:lnTo>
                  <a:lnTo>
                    <a:pt x="422" y="243"/>
                  </a:lnTo>
                  <a:lnTo>
                    <a:pt x="431" y="231"/>
                  </a:lnTo>
                  <a:lnTo>
                    <a:pt x="439" y="218"/>
                  </a:lnTo>
                  <a:lnTo>
                    <a:pt x="445" y="204"/>
                  </a:lnTo>
                  <a:lnTo>
                    <a:pt x="449" y="190"/>
                  </a:lnTo>
                  <a:lnTo>
                    <a:pt x="451" y="176"/>
                  </a:lnTo>
                  <a:lnTo>
                    <a:pt x="453"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3">
              <a:extLst>
                <a:ext uri="{FF2B5EF4-FFF2-40B4-BE49-F238E27FC236}">
                  <a16:creationId xmlns:a16="http://schemas.microsoft.com/office/drawing/2014/main" id="{A809C841-E38A-4009-F329-06D8A2119A98}"/>
                </a:ext>
              </a:extLst>
            </p:cNvPr>
            <p:cNvSpPr>
              <a:spLocks/>
            </p:cNvSpPr>
            <p:nvPr/>
          </p:nvSpPr>
          <p:spPr bwMode="auto">
            <a:xfrm>
              <a:off x="2943" y="1291"/>
              <a:ext cx="452" cy="326"/>
            </a:xfrm>
            <a:custGeom>
              <a:avLst/>
              <a:gdLst>
                <a:gd name="T0" fmla="*/ 0 w 452"/>
                <a:gd name="T1" fmla="*/ 176 h 326"/>
                <a:gd name="T2" fmla="*/ 7 w 452"/>
                <a:gd name="T3" fmla="*/ 204 h 326"/>
                <a:gd name="T4" fmla="*/ 21 w 452"/>
                <a:gd name="T5" fmla="*/ 231 h 326"/>
                <a:gd name="T6" fmla="*/ 40 w 452"/>
                <a:gd name="T7" fmla="*/ 256 h 326"/>
                <a:gd name="T8" fmla="*/ 65 w 452"/>
                <a:gd name="T9" fmla="*/ 278 h 326"/>
                <a:gd name="T10" fmla="*/ 96 w 452"/>
                <a:gd name="T11" fmla="*/ 295 h 326"/>
                <a:gd name="T12" fmla="*/ 130 w 452"/>
                <a:gd name="T13" fmla="*/ 309 h 326"/>
                <a:gd name="T14" fmla="*/ 167 w 452"/>
                <a:gd name="T15" fmla="*/ 319 h 326"/>
                <a:gd name="T16" fmla="*/ 206 w 452"/>
                <a:gd name="T17" fmla="*/ 325 h 326"/>
                <a:gd name="T18" fmla="*/ 245 w 452"/>
                <a:gd name="T19" fmla="*/ 325 h 326"/>
                <a:gd name="T20" fmla="*/ 283 w 452"/>
                <a:gd name="T21" fmla="*/ 319 h 326"/>
                <a:gd name="T22" fmla="*/ 320 w 452"/>
                <a:gd name="T23" fmla="*/ 309 h 326"/>
                <a:gd name="T24" fmla="*/ 354 w 452"/>
                <a:gd name="T25" fmla="*/ 295 h 326"/>
                <a:gd name="T26" fmla="*/ 385 w 452"/>
                <a:gd name="T27" fmla="*/ 277 h 326"/>
                <a:gd name="T28" fmla="*/ 410 w 452"/>
                <a:gd name="T29" fmla="*/ 254 h 326"/>
                <a:gd name="T30" fmla="*/ 429 w 452"/>
                <a:gd name="T31" fmla="*/ 231 h 326"/>
                <a:gd name="T32" fmla="*/ 443 w 452"/>
                <a:gd name="T33" fmla="*/ 204 h 326"/>
                <a:gd name="T34" fmla="*/ 451 w 452"/>
                <a:gd name="T35" fmla="*/ 176 h 326"/>
                <a:gd name="T36" fmla="*/ 451 w 452"/>
                <a:gd name="T37" fmla="*/ 148 h 326"/>
                <a:gd name="T38" fmla="*/ 443 w 452"/>
                <a:gd name="T39" fmla="*/ 120 h 326"/>
                <a:gd name="T40" fmla="*/ 429 w 452"/>
                <a:gd name="T41" fmla="*/ 93 h 326"/>
                <a:gd name="T42" fmla="*/ 410 w 452"/>
                <a:gd name="T43" fmla="*/ 68 h 326"/>
                <a:gd name="T44" fmla="*/ 385 w 452"/>
                <a:gd name="T45" fmla="*/ 47 h 326"/>
                <a:gd name="T46" fmla="*/ 354 w 452"/>
                <a:gd name="T47" fmla="*/ 29 h 326"/>
                <a:gd name="T48" fmla="*/ 320 w 452"/>
                <a:gd name="T49" fmla="*/ 15 h 326"/>
                <a:gd name="T50" fmla="*/ 283 w 452"/>
                <a:gd name="T51" fmla="*/ 5 h 326"/>
                <a:gd name="T52" fmla="*/ 245 w 452"/>
                <a:gd name="T53" fmla="*/ 0 h 326"/>
                <a:gd name="T54" fmla="*/ 206 w 452"/>
                <a:gd name="T55" fmla="*/ 0 h 326"/>
                <a:gd name="T56" fmla="*/ 167 w 452"/>
                <a:gd name="T57" fmla="*/ 5 h 326"/>
                <a:gd name="T58" fmla="*/ 130 w 452"/>
                <a:gd name="T59" fmla="*/ 15 h 326"/>
                <a:gd name="T60" fmla="*/ 96 w 452"/>
                <a:gd name="T61" fmla="*/ 29 h 326"/>
                <a:gd name="T62" fmla="*/ 65 w 452"/>
                <a:gd name="T63" fmla="*/ 47 h 326"/>
                <a:gd name="T64" fmla="*/ 40 w 452"/>
                <a:gd name="T65" fmla="*/ 68 h 326"/>
                <a:gd name="T66" fmla="*/ 21 w 452"/>
                <a:gd name="T67" fmla="*/ 93 h 326"/>
                <a:gd name="T68" fmla="*/ 7 w 452"/>
                <a:gd name="T69" fmla="*/ 120 h 326"/>
                <a:gd name="T70" fmla="*/ 0 w 452"/>
                <a:gd name="T71" fmla="*/ 148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2"/>
                <a:gd name="T109" fmla="*/ 0 h 326"/>
                <a:gd name="T110" fmla="*/ 452 w 452"/>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2" h="326">
                  <a:moveTo>
                    <a:pt x="0" y="162"/>
                  </a:moveTo>
                  <a:lnTo>
                    <a:pt x="0" y="176"/>
                  </a:lnTo>
                  <a:lnTo>
                    <a:pt x="3" y="190"/>
                  </a:lnTo>
                  <a:lnTo>
                    <a:pt x="7" y="204"/>
                  </a:lnTo>
                  <a:lnTo>
                    <a:pt x="13" y="218"/>
                  </a:lnTo>
                  <a:lnTo>
                    <a:pt x="21" y="231"/>
                  </a:lnTo>
                  <a:lnTo>
                    <a:pt x="29" y="243"/>
                  </a:lnTo>
                  <a:lnTo>
                    <a:pt x="40" y="256"/>
                  </a:lnTo>
                  <a:lnTo>
                    <a:pt x="52" y="267"/>
                  </a:lnTo>
                  <a:lnTo>
                    <a:pt x="65" y="278"/>
                  </a:lnTo>
                  <a:lnTo>
                    <a:pt x="80" y="287"/>
                  </a:lnTo>
                  <a:lnTo>
                    <a:pt x="96" y="295"/>
                  </a:lnTo>
                  <a:lnTo>
                    <a:pt x="112" y="303"/>
                  </a:lnTo>
                  <a:lnTo>
                    <a:pt x="130" y="309"/>
                  </a:lnTo>
                  <a:lnTo>
                    <a:pt x="148" y="315"/>
                  </a:lnTo>
                  <a:lnTo>
                    <a:pt x="167" y="319"/>
                  </a:lnTo>
                  <a:lnTo>
                    <a:pt x="186" y="322"/>
                  </a:lnTo>
                  <a:lnTo>
                    <a:pt x="206" y="325"/>
                  </a:lnTo>
                  <a:lnTo>
                    <a:pt x="225" y="325"/>
                  </a:lnTo>
                  <a:lnTo>
                    <a:pt x="245" y="325"/>
                  </a:lnTo>
                  <a:lnTo>
                    <a:pt x="264" y="322"/>
                  </a:lnTo>
                  <a:lnTo>
                    <a:pt x="283" y="319"/>
                  </a:lnTo>
                  <a:lnTo>
                    <a:pt x="302" y="315"/>
                  </a:lnTo>
                  <a:lnTo>
                    <a:pt x="320" y="309"/>
                  </a:lnTo>
                  <a:lnTo>
                    <a:pt x="338" y="303"/>
                  </a:lnTo>
                  <a:lnTo>
                    <a:pt x="354" y="295"/>
                  </a:lnTo>
                  <a:lnTo>
                    <a:pt x="370" y="287"/>
                  </a:lnTo>
                  <a:lnTo>
                    <a:pt x="385" y="277"/>
                  </a:lnTo>
                  <a:lnTo>
                    <a:pt x="398" y="266"/>
                  </a:lnTo>
                  <a:lnTo>
                    <a:pt x="410" y="254"/>
                  </a:lnTo>
                  <a:lnTo>
                    <a:pt x="421" y="243"/>
                  </a:lnTo>
                  <a:lnTo>
                    <a:pt x="429" y="231"/>
                  </a:lnTo>
                  <a:lnTo>
                    <a:pt x="437" y="217"/>
                  </a:lnTo>
                  <a:lnTo>
                    <a:pt x="443" y="204"/>
                  </a:lnTo>
                  <a:lnTo>
                    <a:pt x="447" y="190"/>
                  </a:lnTo>
                  <a:lnTo>
                    <a:pt x="451" y="176"/>
                  </a:lnTo>
                  <a:lnTo>
                    <a:pt x="451" y="162"/>
                  </a:lnTo>
                  <a:lnTo>
                    <a:pt x="451" y="148"/>
                  </a:lnTo>
                  <a:lnTo>
                    <a:pt x="447" y="134"/>
                  </a:lnTo>
                  <a:lnTo>
                    <a:pt x="443" y="120"/>
                  </a:lnTo>
                  <a:lnTo>
                    <a:pt x="437" y="106"/>
                  </a:lnTo>
                  <a:lnTo>
                    <a:pt x="429" y="93"/>
                  </a:lnTo>
                  <a:lnTo>
                    <a:pt x="421" y="81"/>
                  </a:lnTo>
                  <a:lnTo>
                    <a:pt x="410" y="68"/>
                  </a:lnTo>
                  <a:lnTo>
                    <a:pt x="398" y="57"/>
                  </a:lnTo>
                  <a:lnTo>
                    <a:pt x="385" y="47"/>
                  </a:lnTo>
                  <a:lnTo>
                    <a:pt x="370" y="37"/>
                  </a:lnTo>
                  <a:lnTo>
                    <a:pt x="354" y="29"/>
                  </a:lnTo>
                  <a:lnTo>
                    <a:pt x="338" y="21"/>
                  </a:lnTo>
                  <a:lnTo>
                    <a:pt x="320" y="15"/>
                  </a:lnTo>
                  <a:lnTo>
                    <a:pt x="302" y="9"/>
                  </a:lnTo>
                  <a:lnTo>
                    <a:pt x="283" y="5"/>
                  </a:lnTo>
                  <a:lnTo>
                    <a:pt x="264" y="1"/>
                  </a:lnTo>
                  <a:lnTo>
                    <a:pt x="245" y="0"/>
                  </a:lnTo>
                  <a:lnTo>
                    <a:pt x="225" y="0"/>
                  </a:lnTo>
                  <a:lnTo>
                    <a:pt x="206" y="0"/>
                  </a:lnTo>
                  <a:lnTo>
                    <a:pt x="186" y="1"/>
                  </a:lnTo>
                  <a:lnTo>
                    <a:pt x="167" y="5"/>
                  </a:lnTo>
                  <a:lnTo>
                    <a:pt x="148" y="9"/>
                  </a:lnTo>
                  <a:lnTo>
                    <a:pt x="130" y="15"/>
                  </a:lnTo>
                  <a:lnTo>
                    <a:pt x="112" y="21"/>
                  </a:lnTo>
                  <a:lnTo>
                    <a:pt x="96" y="29"/>
                  </a:lnTo>
                  <a:lnTo>
                    <a:pt x="80" y="37"/>
                  </a:lnTo>
                  <a:lnTo>
                    <a:pt x="65" y="47"/>
                  </a:lnTo>
                  <a:lnTo>
                    <a:pt x="52" y="57"/>
                  </a:lnTo>
                  <a:lnTo>
                    <a:pt x="40" y="68"/>
                  </a:lnTo>
                  <a:lnTo>
                    <a:pt x="29" y="81"/>
                  </a:lnTo>
                  <a:lnTo>
                    <a:pt x="21" y="93"/>
                  </a:lnTo>
                  <a:lnTo>
                    <a:pt x="13" y="106"/>
                  </a:lnTo>
                  <a:lnTo>
                    <a:pt x="7" y="120"/>
                  </a:lnTo>
                  <a:lnTo>
                    <a:pt x="3" y="134"/>
                  </a:lnTo>
                  <a:lnTo>
                    <a:pt x="0" y="148"/>
                  </a:lnTo>
                  <a:lnTo>
                    <a:pt x="0"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Rectangle 24">
              <a:extLst>
                <a:ext uri="{FF2B5EF4-FFF2-40B4-BE49-F238E27FC236}">
                  <a16:creationId xmlns:a16="http://schemas.microsoft.com/office/drawing/2014/main" id="{6211F131-CEBB-16B3-5A59-1D808E7DBB2E}"/>
                </a:ext>
              </a:extLst>
            </p:cNvPr>
            <p:cNvSpPr>
              <a:spLocks noChangeArrowheads="1"/>
            </p:cNvSpPr>
            <p:nvPr/>
          </p:nvSpPr>
          <p:spPr bwMode="auto">
            <a:xfrm>
              <a:off x="3021" y="135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60" name="Rectangle 25">
              <a:extLst>
                <a:ext uri="{FF2B5EF4-FFF2-40B4-BE49-F238E27FC236}">
                  <a16:creationId xmlns:a16="http://schemas.microsoft.com/office/drawing/2014/main" id="{15CC44D5-31EB-585E-1D19-3563DB1A1846}"/>
                </a:ext>
              </a:extLst>
            </p:cNvPr>
            <p:cNvSpPr>
              <a:spLocks noChangeArrowheads="1"/>
            </p:cNvSpPr>
            <p:nvPr/>
          </p:nvSpPr>
          <p:spPr bwMode="auto">
            <a:xfrm>
              <a:off x="2515" y="1093"/>
              <a:ext cx="44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61" name="Rectangle 26">
              <a:extLst>
                <a:ext uri="{FF2B5EF4-FFF2-40B4-BE49-F238E27FC236}">
                  <a16:creationId xmlns:a16="http://schemas.microsoft.com/office/drawing/2014/main" id="{78315C7B-7886-B1EB-F43E-47069D3D6C91}"/>
                </a:ext>
              </a:extLst>
            </p:cNvPr>
            <p:cNvSpPr>
              <a:spLocks noChangeArrowheads="1"/>
            </p:cNvSpPr>
            <p:nvPr/>
          </p:nvSpPr>
          <p:spPr bwMode="auto">
            <a:xfrm>
              <a:off x="2166" y="1346"/>
              <a:ext cx="33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ssn</a:t>
              </a:r>
            </a:p>
          </p:txBody>
        </p:sp>
      </p:grpSp>
      <p:grpSp>
        <p:nvGrpSpPr>
          <p:cNvPr id="62" name="Group 27">
            <a:extLst>
              <a:ext uri="{FF2B5EF4-FFF2-40B4-BE49-F238E27FC236}">
                <a16:creationId xmlns:a16="http://schemas.microsoft.com/office/drawing/2014/main" id="{8F836B17-8EE7-0AEA-7369-EF87287AF122}"/>
              </a:ext>
            </a:extLst>
          </p:cNvPr>
          <p:cNvGrpSpPr>
            <a:grpSpLocks/>
          </p:cNvGrpSpPr>
          <p:nvPr/>
        </p:nvGrpSpPr>
        <p:grpSpPr bwMode="auto">
          <a:xfrm>
            <a:off x="3996415" y="2051050"/>
            <a:ext cx="1220787" cy="920750"/>
            <a:chOff x="3497" y="1648"/>
            <a:chExt cx="769" cy="580"/>
          </a:xfrm>
        </p:grpSpPr>
        <p:sp>
          <p:nvSpPr>
            <p:cNvPr id="63" name="Rectangle 28">
              <a:extLst>
                <a:ext uri="{FF2B5EF4-FFF2-40B4-BE49-F238E27FC236}">
                  <a16:creationId xmlns:a16="http://schemas.microsoft.com/office/drawing/2014/main" id="{D83D1539-FFD9-AE24-8D8B-5B410BF1E573}"/>
                </a:ext>
              </a:extLst>
            </p:cNvPr>
            <p:cNvSpPr>
              <a:spLocks noChangeArrowheads="1"/>
            </p:cNvSpPr>
            <p:nvPr/>
          </p:nvSpPr>
          <p:spPr bwMode="auto">
            <a:xfrm>
              <a:off x="3549" y="1837"/>
              <a:ext cx="69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Manages</a:t>
              </a:r>
            </a:p>
          </p:txBody>
        </p:sp>
        <p:sp>
          <p:nvSpPr>
            <p:cNvPr id="64" name="Freeform 29">
              <a:extLst>
                <a:ext uri="{FF2B5EF4-FFF2-40B4-BE49-F238E27FC236}">
                  <a16:creationId xmlns:a16="http://schemas.microsoft.com/office/drawing/2014/main" id="{D3164B81-D73D-6E8D-3736-E636108B45A9}"/>
                </a:ext>
              </a:extLst>
            </p:cNvPr>
            <p:cNvSpPr>
              <a:spLocks/>
            </p:cNvSpPr>
            <p:nvPr/>
          </p:nvSpPr>
          <p:spPr bwMode="auto">
            <a:xfrm>
              <a:off x="3497" y="1648"/>
              <a:ext cx="769" cy="580"/>
            </a:xfrm>
            <a:custGeom>
              <a:avLst/>
              <a:gdLst>
                <a:gd name="T0" fmla="*/ 0 w 769"/>
                <a:gd name="T1" fmla="*/ 290 h 580"/>
                <a:gd name="T2" fmla="*/ 378 w 769"/>
                <a:gd name="T3" fmla="*/ 0 h 580"/>
                <a:gd name="T4" fmla="*/ 768 w 769"/>
                <a:gd name="T5" fmla="*/ 300 h 580"/>
                <a:gd name="T6" fmla="*/ 378 w 769"/>
                <a:gd name="T7" fmla="*/ 579 h 580"/>
                <a:gd name="T8" fmla="*/ 0 w 769"/>
                <a:gd name="T9" fmla="*/ 290 h 580"/>
                <a:gd name="T10" fmla="*/ 0 60000 65536"/>
                <a:gd name="T11" fmla="*/ 0 60000 65536"/>
                <a:gd name="T12" fmla="*/ 0 60000 65536"/>
                <a:gd name="T13" fmla="*/ 0 60000 65536"/>
                <a:gd name="T14" fmla="*/ 0 60000 65536"/>
                <a:gd name="T15" fmla="*/ 0 w 769"/>
                <a:gd name="T16" fmla="*/ 0 h 580"/>
                <a:gd name="T17" fmla="*/ 769 w 769"/>
                <a:gd name="T18" fmla="*/ 580 h 580"/>
              </a:gdLst>
              <a:ahLst/>
              <a:cxnLst>
                <a:cxn ang="T10">
                  <a:pos x="T0" y="T1"/>
                </a:cxn>
                <a:cxn ang="T11">
                  <a:pos x="T2" y="T3"/>
                </a:cxn>
                <a:cxn ang="T12">
                  <a:pos x="T4" y="T5"/>
                </a:cxn>
                <a:cxn ang="T13">
                  <a:pos x="T6" y="T7"/>
                </a:cxn>
                <a:cxn ang="T14">
                  <a:pos x="T8" y="T9"/>
                </a:cxn>
              </a:cxnLst>
              <a:rect l="T15" t="T16" r="T17" b="T18"/>
              <a:pathLst>
                <a:path w="769" h="580">
                  <a:moveTo>
                    <a:pt x="0" y="290"/>
                  </a:moveTo>
                  <a:lnTo>
                    <a:pt x="378" y="0"/>
                  </a:lnTo>
                  <a:lnTo>
                    <a:pt x="768" y="300"/>
                  </a:lnTo>
                  <a:lnTo>
                    <a:pt x="378" y="579"/>
                  </a:lnTo>
                  <a:lnTo>
                    <a:pt x="0" y="29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5" name="Freeform 30">
            <a:extLst>
              <a:ext uri="{FF2B5EF4-FFF2-40B4-BE49-F238E27FC236}">
                <a16:creationId xmlns:a16="http://schemas.microsoft.com/office/drawing/2014/main" id="{C742DB62-F132-AC82-83EB-A30933B4014F}"/>
              </a:ext>
            </a:extLst>
          </p:cNvPr>
          <p:cNvSpPr>
            <a:spLocks/>
          </p:cNvSpPr>
          <p:nvPr/>
        </p:nvSpPr>
        <p:spPr bwMode="auto">
          <a:xfrm>
            <a:off x="5761098" y="2287971"/>
            <a:ext cx="1295400" cy="479425"/>
          </a:xfrm>
          <a:custGeom>
            <a:avLst/>
            <a:gdLst>
              <a:gd name="T0" fmla="*/ 1293813 w 816"/>
              <a:gd name="T1" fmla="*/ 477838 h 302"/>
              <a:gd name="T2" fmla="*/ 1293813 w 816"/>
              <a:gd name="T3" fmla="*/ 0 h 302"/>
              <a:gd name="T4" fmla="*/ 0 w 816"/>
              <a:gd name="T5" fmla="*/ 0 h 302"/>
              <a:gd name="T6" fmla="*/ 0 w 816"/>
              <a:gd name="T7" fmla="*/ 477838 h 302"/>
              <a:gd name="T8" fmla="*/ 1293813 w 816"/>
              <a:gd name="T9" fmla="*/ 477838 h 302"/>
              <a:gd name="T10" fmla="*/ 0 60000 65536"/>
              <a:gd name="T11" fmla="*/ 0 60000 65536"/>
              <a:gd name="T12" fmla="*/ 0 60000 65536"/>
              <a:gd name="T13" fmla="*/ 0 60000 65536"/>
              <a:gd name="T14" fmla="*/ 0 60000 65536"/>
              <a:gd name="T15" fmla="*/ 0 w 816"/>
              <a:gd name="T16" fmla="*/ 0 h 302"/>
              <a:gd name="T17" fmla="*/ 816 w 816"/>
              <a:gd name="T18" fmla="*/ 302 h 302"/>
            </a:gdLst>
            <a:ahLst/>
            <a:cxnLst>
              <a:cxn ang="T10">
                <a:pos x="T0" y="T1"/>
              </a:cxn>
              <a:cxn ang="T11">
                <a:pos x="T2" y="T3"/>
              </a:cxn>
              <a:cxn ang="T12">
                <a:pos x="T4" y="T5"/>
              </a:cxn>
              <a:cxn ang="T13">
                <a:pos x="T6" y="T7"/>
              </a:cxn>
              <a:cxn ang="T14">
                <a:pos x="T8" y="T9"/>
              </a:cxn>
            </a:cxnLst>
            <a:rect l="T15" t="T16" r="T17" b="T18"/>
            <a:pathLst>
              <a:path w="816" h="302">
                <a:moveTo>
                  <a:pt x="815" y="301"/>
                </a:moveTo>
                <a:lnTo>
                  <a:pt x="815" y="0"/>
                </a:lnTo>
                <a:lnTo>
                  <a:pt x="0" y="0"/>
                </a:lnTo>
                <a:lnTo>
                  <a:pt x="0" y="301"/>
                </a:lnTo>
                <a:lnTo>
                  <a:pt x="815" y="30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6" name="Group 31">
            <a:extLst>
              <a:ext uri="{FF2B5EF4-FFF2-40B4-BE49-F238E27FC236}">
                <a16:creationId xmlns:a16="http://schemas.microsoft.com/office/drawing/2014/main" id="{0429F44D-302F-E948-15C0-FF37ABD49788}"/>
              </a:ext>
            </a:extLst>
          </p:cNvPr>
          <p:cNvGrpSpPr>
            <a:grpSpLocks/>
          </p:cNvGrpSpPr>
          <p:nvPr/>
        </p:nvGrpSpPr>
        <p:grpSpPr bwMode="auto">
          <a:xfrm>
            <a:off x="2163763" y="2272096"/>
            <a:ext cx="1292225" cy="468312"/>
            <a:chOff x="2369" y="1818"/>
            <a:chExt cx="814" cy="295"/>
          </a:xfrm>
        </p:grpSpPr>
        <p:sp>
          <p:nvSpPr>
            <p:cNvPr id="67" name="Freeform 32">
              <a:extLst>
                <a:ext uri="{FF2B5EF4-FFF2-40B4-BE49-F238E27FC236}">
                  <a16:creationId xmlns:a16="http://schemas.microsoft.com/office/drawing/2014/main" id="{CF2E0F2E-F451-2510-07F1-D11CD501B190}"/>
                </a:ext>
              </a:extLst>
            </p:cNvPr>
            <p:cNvSpPr>
              <a:spLocks/>
            </p:cNvSpPr>
            <p:nvPr/>
          </p:nvSpPr>
          <p:spPr bwMode="auto">
            <a:xfrm>
              <a:off x="2369" y="1818"/>
              <a:ext cx="814" cy="295"/>
            </a:xfrm>
            <a:custGeom>
              <a:avLst/>
              <a:gdLst>
                <a:gd name="T0" fmla="*/ 813 w 814"/>
                <a:gd name="T1" fmla="*/ 294 h 295"/>
                <a:gd name="T2" fmla="*/ 813 w 814"/>
                <a:gd name="T3" fmla="*/ 0 h 295"/>
                <a:gd name="T4" fmla="*/ 0 w 814"/>
                <a:gd name="T5" fmla="*/ 0 h 295"/>
                <a:gd name="T6" fmla="*/ 0 w 814"/>
                <a:gd name="T7" fmla="*/ 294 h 295"/>
                <a:gd name="T8" fmla="*/ 813 w 814"/>
                <a:gd name="T9" fmla="*/ 294 h 295"/>
                <a:gd name="T10" fmla="*/ 0 60000 65536"/>
                <a:gd name="T11" fmla="*/ 0 60000 65536"/>
                <a:gd name="T12" fmla="*/ 0 60000 65536"/>
                <a:gd name="T13" fmla="*/ 0 60000 65536"/>
                <a:gd name="T14" fmla="*/ 0 60000 65536"/>
                <a:gd name="T15" fmla="*/ 0 w 814"/>
                <a:gd name="T16" fmla="*/ 0 h 295"/>
                <a:gd name="T17" fmla="*/ 814 w 814"/>
                <a:gd name="T18" fmla="*/ 295 h 295"/>
              </a:gdLst>
              <a:ahLst/>
              <a:cxnLst>
                <a:cxn ang="T10">
                  <a:pos x="T0" y="T1"/>
                </a:cxn>
                <a:cxn ang="T11">
                  <a:pos x="T2" y="T3"/>
                </a:cxn>
                <a:cxn ang="T12">
                  <a:pos x="T4" y="T5"/>
                </a:cxn>
                <a:cxn ang="T13">
                  <a:pos x="T6" y="T7"/>
                </a:cxn>
                <a:cxn ang="T14">
                  <a:pos x="T8" y="T9"/>
                </a:cxn>
              </a:cxnLst>
              <a:rect l="T15" t="T16" r="T17" b="T18"/>
              <a:pathLst>
                <a:path w="814" h="295">
                  <a:moveTo>
                    <a:pt x="813" y="294"/>
                  </a:moveTo>
                  <a:lnTo>
                    <a:pt x="813" y="0"/>
                  </a:lnTo>
                  <a:lnTo>
                    <a:pt x="0" y="0"/>
                  </a:lnTo>
                  <a:lnTo>
                    <a:pt x="0" y="294"/>
                  </a:lnTo>
                  <a:lnTo>
                    <a:pt x="813" y="294"/>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 name="Rectangle 33">
              <a:extLst>
                <a:ext uri="{FF2B5EF4-FFF2-40B4-BE49-F238E27FC236}">
                  <a16:creationId xmlns:a16="http://schemas.microsoft.com/office/drawing/2014/main" id="{38A42AAE-373C-5838-9748-9C7AE1AD6526}"/>
                </a:ext>
              </a:extLst>
            </p:cNvPr>
            <p:cNvSpPr>
              <a:spLocks noChangeArrowheads="1"/>
            </p:cNvSpPr>
            <p:nvPr/>
          </p:nvSpPr>
          <p:spPr bwMode="auto">
            <a:xfrm>
              <a:off x="2381" y="1862"/>
              <a:ext cx="78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Employees</a:t>
              </a:r>
            </a:p>
          </p:txBody>
        </p:sp>
      </p:grpSp>
      <p:sp>
        <p:nvSpPr>
          <p:cNvPr id="69" name="Rectangle 34">
            <a:extLst>
              <a:ext uri="{FF2B5EF4-FFF2-40B4-BE49-F238E27FC236}">
                <a16:creationId xmlns:a16="http://schemas.microsoft.com/office/drawing/2014/main" id="{52327384-756E-5F4B-0396-32B62E35EB03}"/>
              </a:ext>
            </a:extLst>
          </p:cNvPr>
          <p:cNvSpPr>
            <a:spLocks noChangeArrowheads="1"/>
          </p:cNvSpPr>
          <p:nvPr/>
        </p:nvSpPr>
        <p:spPr bwMode="auto">
          <a:xfrm>
            <a:off x="5680135" y="2357821"/>
            <a:ext cx="1422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Departments</a:t>
            </a:r>
          </a:p>
        </p:txBody>
      </p:sp>
      <p:sp>
        <p:nvSpPr>
          <p:cNvPr id="70" name="Line 35">
            <a:extLst>
              <a:ext uri="{FF2B5EF4-FFF2-40B4-BE49-F238E27FC236}">
                <a16:creationId xmlns:a16="http://schemas.microsoft.com/office/drawing/2014/main" id="{E400365E-CCB3-25D3-6088-0B21B8E37733}"/>
              </a:ext>
            </a:extLst>
          </p:cNvPr>
          <p:cNvSpPr>
            <a:spLocks noChangeShapeType="1"/>
          </p:cNvSpPr>
          <p:nvPr/>
        </p:nvSpPr>
        <p:spPr bwMode="auto">
          <a:xfrm flipH="1">
            <a:off x="3456665" y="2508250"/>
            <a:ext cx="54610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 name="Line 36">
            <a:extLst>
              <a:ext uri="{FF2B5EF4-FFF2-40B4-BE49-F238E27FC236}">
                <a16:creationId xmlns:a16="http://schemas.microsoft.com/office/drawing/2014/main" id="{A741B3EA-E172-785D-34C8-4318CC7CFE2E}"/>
              </a:ext>
            </a:extLst>
          </p:cNvPr>
          <p:cNvSpPr>
            <a:spLocks noChangeShapeType="1"/>
          </p:cNvSpPr>
          <p:nvPr/>
        </p:nvSpPr>
        <p:spPr bwMode="auto">
          <a:xfrm>
            <a:off x="5221965" y="2526006"/>
            <a:ext cx="520700" cy="0"/>
          </a:xfrm>
          <a:prstGeom prst="line">
            <a:avLst/>
          </a:prstGeom>
          <a:noFill/>
          <a:ln w="19050">
            <a:solidFill>
              <a:srgbClr val="FF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37">
            <a:extLst>
              <a:ext uri="{FF2B5EF4-FFF2-40B4-BE49-F238E27FC236}">
                <a16:creationId xmlns:a16="http://schemas.microsoft.com/office/drawing/2014/main" id="{202A1A17-7DC0-EAF5-ACC1-4387A72A75BF}"/>
              </a:ext>
            </a:extLst>
          </p:cNvPr>
          <p:cNvSpPr>
            <a:spLocks noChangeShapeType="1"/>
          </p:cNvSpPr>
          <p:nvPr/>
        </p:nvSpPr>
        <p:spPr bwMode="auto">
          <a:xfrm flipH="1">
            <a:off x="3170487" y="1955242"/>
            <a:ext cx="241300" cy="292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 name="Line 38">
            <a:extLst>
              <a:ext uri="{FF2B5EF4-FFF2-40B4-BE49-F238E27FC236}">
                <a16:creationId xmlns:a16="http://schemas.microsoft.com/office/drawing/2014/main" id="{5C4E07FD-B617-ED63-188D-2A790B94FAA2}"/>
              </a:ext>
            </a:extLst>
          </p:cNvPr>
          <p:cNvSpPr>
            <a:spLocks noChangeShapeType="1"/>
          </p:cNvSpPr>
          <p:nvPr/>
        </p:nvSpPr>
        <p:spPr bwMode="auto">
          <a:xfrm>
            <a:off x="2735262" y="1551370"/>
            <a:ext cx="6965" cy="7207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4" name="Line 39">
            <a:extLst>
              <a:ext uri="{FF2B5EF4-FFF2-40B4-BE49-F238E27FC236}">
                <a16:creationId xmlns:a16="http://schemas.microsoft.com/office/drawing/2014/main" id="{2604F516-C69D-3CB6-279C-E510A009FD13}"/>
              </a:ext>
            </a:extLst>
          </p:cNvPr>
          <p:cNvSpPr>
            <a:spLocks noChangeShapeType="1"/>
          </p:cNvSpPr>
          <p:nvPr/>
        </p:nvSpPr>
        <p:spPr bwMode="auto">
          <a:xfrm>
            <a:off x="2208212" y="1932370"/>
            <a:ext cx="224705" cy="31497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 name="Line 40">
            <a:extLst>
              <a:ext uri="{FF2B5EF4-FFF2-40B4-BE49-F238E27FC236}">
                <a16:creationId xmlns:a16="http://schemas.microsoft.com/office/drawing/2014/main" id="{6F904785-A673-044A-C144-7DAF7377BDF0}"/>
              </a:ext>
            </a:extLst>
          </p:cNvPr>
          <p:cNvSpPr>
            <a:spLocks noChangeShapeType="1"/>
          </p:cNvSpPr>
          <p:nvPr/>
        </p:nvSpPr>
        <p:spPr bwMode="auto">
          <a:xfrm>
            <a:off x="4606015" y="1371600"/>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6" name="Line 41">
            <a:extLst>
              <a:ext uri="{FF2B5EF4-FFF2-40B4-BE49-F238E27FC236}">
                <a16:creationId xmlns:a16="http://schemas.microsoft.com/office/drawing/2014/main" id="{0B50054E-0D86-669E-02EA-40EFDA737AF2}"/>
              </a:ext>
            </a:extLst>
          </p:cNvPr>
          <p:cNvSpPr>
            <a:spLocks noChangeShapeType="1"/>
          </p:cNvSpPr>
          <p:nvPr/>
        </p:nvSpPr>
        <p:spPr bwMode="auto">
          <a:xfrm>
            <a:off x="5818248" y="1932371"/>
            <a:ext cx="2159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 name="Line 42">
            <a:extLst>
              <a:ext uri="{FF2B5EF4-FFF2-40B4-BE49-F238E27FC236}">
                <a16:creationId xmlns:a16="http://schemas.microsoft.com/office/drawing/2014/main" id="{0E458B75-D42D-FD90-0CA4-C6A59EB6830D}"/>
              </a:ext>
            </a:extLst>
          </p:cNvPr>
          <p:cNvSpPr>
            <a:spLocks noChangeShapeType="1"/>
          </p:cNvSpPr>
          <p:nvPr/>
        </p:nvSpPr>
        <p:spPr bwMode="auto">
          <a:xfrm>
            <a:off x="6345298" y="1627571"/>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8" name="Line 43">
            <a:extLst>
              <a:ext uri="{FF2B5EF4-FFF2-40B4-BE49-F238E27FC236}">
                <a16:creationId xmlns:a16="http://schemas.microsoft.com/office/drawing/2014/main" id="{DD0A8275-6E1D-F1FC-A839-834495FE5340}"/>
              </a:ext>
            </a:extLst>
          </p:cNvPr>
          <p:cNvSpPr>
            <a:spLocks noChangeShapeType="1"/>
          </p:cNvSpPr>
          <p:nvPr/>
        </p:nvSpPr>
        <p:spPr bwMode="auto">
          <a:xfrm flipH="1">
            <a:off x="6719948" y="1932371"/>
            <a:ext cx="1651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22301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82CF-D530-773B-3F37-3793FAE99DA0}"/>
              </a:ext>
            </a:extLst>
          </p:cNvPr>
          <p:cNvSpPr>
            <a:spLocks noGrp="1"/>
          </p:cNvSpPr>
          <p:nvPr>
            <p:ph type="title"/>
          </p:nvPr>
        </p:nvSpPr>
        <p:spPr>
          <a:xfrm>
            <a:off x="457200" y="0"/>
            <a:ext cx="8229600" cy="868362"/>
          </a:xfrm>
        </p:spPr>
        <p:txBody>
          <a:bodyPr/>
          <a:lstStyle/>
          <a:p>
            <a:r>
              <a:rPr lang="en-US" dirty="0"/>
              <a:t>1-to-M Relationship Sets to Tables</a:t>
            </a:r>
          </a:p>
        </p:txBody>
      </p:sp>
      <p:sp>
        <p:nvSpPr>
          <p:cNvPr id="4" name="Slide Number Placeholder 3">
            <a:extLst>
              <a:ext uri="{FF2B5EF4-FFF2-40B4-BE49-F238E27FC236}">
                <a16:creationId xmlns:a16="http://schemas.microsoft.com/office/drawing/2014/main" id="{4F19418C-6E4E-0B6A-A286-87E80567757B}"/>
              </a:ext>
            </a:extLst>
          </p:cNvPr>
          <p:cNvSpPr>
            <a:spLocks noGrp="1"/>
          </p:cNvSpPr>
          <p:nvPr>
            <p:ph type="sldNum" sz="quarter" idx="12"/>
          </p:nvPr>
        </p:nvSpPr>
        <p:spPr/>
        <p:txBody>
          <a:bodyPr/>
          <a:lstStyle/>
          <a:p>
            <a:fld id="{5FCA4BC5-AE2A-401E-9EDD-DF8812A14A6A}" type="slidenum">
              <a:rPr lang="en-US" smtClean="0"/>
              <a:t>37</a:t>
            </a:fld>
            <a:endParaRPr lang="en-US" dirty="0"/>
          </a:p>
        </p:txBody>
      </p:sp>
      <p:sp>
        <p:nvSpPr>
          <p:cNvPr id="45" name="Freeform 10">
            <a:extLst>
              <a:ext uri="{FF2B5EF4-FFF2-40B4-BE49-F238E27FC236}">
                <a16:creationId xmlns:a16="http://schemas.microsoft.com/office/drawing/2014/main" id="{C51DFA3F-06D6-6F17-C507-CC5C235DEAF1}"/>
              </a:ext>
            </a:extLst>
          </p:cNvPr>
          <p:cNvSpPr>
            <a:spLocks/>
          </p:cNvSpPr>
          <p:nvPr/>
        </p:nvSpPr>
        <p:spPr bwMode="auto">
          <a:xfrm>
            <a:off x="5343585" y="1449771"/>
            <a:ext cx="720725" cy="519112"/>
          </a:xfrm>
          <a:custGeom>
            <a:avLst/>
            <a:gdLst>
              <a:gd name="T0" fmla="*/ 715963 w 454"/>
              <a:gd name="T1" fmla="*/ 234950 h 327"/>
              <a:gd name="T2" fmla="*/ 706438 w 454"/>
              <a:gd name="T3" fmla="*/ 190500 h 327"/>
              <a:gd name="T4" fmla="*/ 684213 w 454"/>
              <a:gd name="T5" fmla="*/ 149225 h 327"/>
              <a:gd name="T6" fmla="*/ 652463 w 454"/>
              <a:gd name="T7" fmla="*/ 107950 h 327"/>
              <a:gd name="T8" fmla="*/ 612775 w 454"/>
              <a:gd name="T9" fmla="*/ 74612 h 327"/>
              <a:gd name="T10" fmla="*/ 565150 w 454"/>
              <a:gd name="T11" fmla="*/ 46037 h 327"/>
              <a:gd name="T12" fmla="*/ 511175 w 454"/>
              <a:gd name="T13" fmla="*/ 23812 h 327"/>
              <a:gd name="T14" fmla="*/ 452438 w 454"/>
              <a:gd name="T15" fmla="*/ 7937 h 327"/>
              <a:gd name="T16" fmla="*/ 390525 w 454"/>
              <a:gd name="T17" fmla="*/ 0 h 327"/>
              <a:gd name="T18" fmla="*/ 327025 w 454"/>
              <a:gd name="T19" fmla="*/ 0 h 327"/>
              <a:gd name="T20" fmla="*/ 265113 w 454"/>
              <a:gd name="T21" fmla="*/ 7937 h 327"/>
              <a:gd name="T22" fmla="*/ 206375 w 454"/>
              <a:gd name="T23" fmla="*/ 23812 h 327"/>
              <a:gd name="T24" fmla="*/ 152400 w 454"/>
              <a:gd name="T25" fmla="*/ 46037 h 327"/>
              <a:gd name="T26" fmla="*/ 103188 w 454"/>
              <a:gd name="T27" fmla="*/ 74612 h 327"/>
              <a:gd name="T28" fmla="*/ 63500 w 454"/>
              <a:gd name="T29" fmla="*/ 107950 h 327"/>
              <a:gd name="T30" fmla="*/ 33338 w 454"/>
              <a:gd name="T31" fmla="*/ 149225 h 327"/>
              <a:gd name="T32" fmla="*/ 11113 w 454"/>
              <a:gd name="T33" fmla="*/ 190500 h 327"/>
              <a:gd name="T34" fmla="*/ 1588 w 454"/>
              <a:gd name="T35" fmla="*/ 234950 h 327"/>
              <a:gd name="T36" fmla="*/ 1588 w 454"/>
              <a:gd name="T37" fmla="*/ 280987 h 327"/>
              <a:gd name="T38" fmla="*/ 11113 w 454"/>
              <a:gd name="T39" fmla="*/ 325437 h 327"/>
              <a:gd name="T40" fmla="*/ 33338 w 454"/>
              <a:gd name="T41" fmla="*/ 366712 h 327"/>
              <a:gd name="T42" fmla="*/ 63500 w 454"/>
              <a:gd name="T43" fmla="*/ 404812 h 327"/>
              <a:gd name="T44" fmla="*/ 103188 w 454"/>
              <a:gd name="T45" fmla="*/ 441325 h 327"/>
              <a:gd name="T46" fmla="*/ 152400 w 454"/>
              <a:gd name="T47" fmla="*/ 469900 h 327"/>
              <a:gd name="T48" fmla="*/ 206375 w 454"/>
              <a:gd name="T49" fmla="*/ 492125 h 327"/>
              <a:gd name="T50" fmla="*/ 265113 w 454"/>
              <a:gd name="T51" fmla="*/ 508000 h 327"/>
              <a:gd name="T52" fmla="*/ 327025 w 454"/>
              <a:gd name="T53" fmla="*/ 517525 h 327"/>
              <a:gd name="T54" fmla="*/ 390525 w 454"/>
              <a:gd name="T55" fmla="*/ 517525 h 327"/>
              <a:gd name="T56" fmla="*/ 452438 w 454"/>
              <a:gd name="T57" fmla="*/ 508000 h 327"/>
              <a:gd name="T58" fmla="*/ 511175 w 454"/>
              <a:gd name="T59" fmla="*/ 492125 h 327"/>
              <a:gd name="T60" fmla="*/ 565150 w 454"/>
              <a:gd name="T61" fmla="*/ 469900 h 327"/>
              <a:gd name="T62" fmla="*/ 612775 w 454"/>
              <a:gd name="T63" fmla="*/ 441325 h 327"/>
              <a:gd name="T64" fmla="*/ 652463 w 454"/>
              <a:gd name="T65" fmla="*/ 404812 h 327"/>
              <a:gd name="T66" fmla="*/ 684213 w 454"/>
              <a:gd name="T67" fmla="*/ 366712 h 327"/>
              <a:gd name="T68" fmla="*/ 706438 w 454"/>
              <a:gd name="T69" fmla="*/ 325437 h 327"/>
              <a:gd name="T70" fmla="*/ 715963 w 454"/>
              <a:gd name="T71" fmla="*/ 28098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1" y="148"/>
                </a:lnTo>
                <a:lnTo>
                  <a:pt x="448" y="134"/>
                </a:lnTo>
                <a:lnTo>
                  <a:pt x="445" y="120"/>
                </a:lnTo>
                <a:lnTo>
                  <a:pt x="439" y="106"/>
                </a:lnTo>
                <a:lnTo>
                  <a:pt x="431" y="94"/>
                </a:lnTo>
                <a:lnTo>
                  <a:pt x="422" y="80"/>
                </a:lnTo>
                <a:lnTo>
                  <a:pt x="411" y="68"/>
                </a:lnTo>
                <a:lnTo>
                  <a:pt x="399" y="57"/>
                </a:lnTo>
                <a:lnTo>
                  <a:pt x="386" y="47"/>
                </a:lnTo>
                <a:lnTo>
                  <a:pt x="372" y="37"/>
                </a:lnTo>
                <a:lnTo>
                  <a:pt x="356" y="29"/>
                </a:lnTo>
                <a:lnTo>
                  <a:pt x="339" y="21"/>
                </a:lnTo>
                <a:lnTo>
                  <a:pt x="322" y="15"/>
                </a:lnTo>
                <a:lnTo>
                  <a:pt x="303"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5" y="47"/>
                </a:lnTo>
                <a:lnTo>
                  <a:pt x="53" y="57"/>
                </a:lnTo>
                <a:lnTo>
                  <a:pt x="40" y="68"/>
                </a:lnTo>
                <a:lnTo>
                  <a:pt x="29" y="80"/>
                </a:lnTo>
                <a:lnTo>
                  <a:pt x="21" y="94"/>
                </a:lnTo>
                <a:lnTo>
                  <a:pt x="13" y="106"/>
                </a:lnTo>
                <a:lnTo>
                  <a:pt x="7" y="120"/>
                </a:lnTo>
                <a:lnTo>
                  <a:pt x="3" y="134"/>
                </a:lnTo>
                <a:lnTo>
                  <a:pt x="1" y="148"/>
                </a:lnTo>
                <a:lnTo>
                  <a:pt x="0" y="163"/>
                </a:lnTo>
                <a:lnTo>
                  <a:pt x="1" y="177"/>
                </a:lnTo>
                <a:lnTo>
                  <a:pt x="3" y="191"/>
                </a:lnTo>
                <a:lnTo>
                  <a:pt x="7" y="205"/>
                </a:lnTo>
                <a:lnTo>
                  <a:pt x="13" y="217"/>
                </a:lnTo>
                <a:lnTo>
                  <a:pt x="21" y="231"/>
                </a:lnTo>
                <a:lnTo>
                  <a:pt x="29" y="244"/>
                </a:lnTo>
                <a:lnTo>
                  <a:pt x="40" y="255"/>
                </a:lnTo>
                <a:lnTo>
                  <a:pt x="53" y="266"/>
                </a:lnTo>
                <a:lnTo>
                  <a:pt x="65" y="278"/>
                </a:lnTo>
                <a:lnTo>
                  <a:pt x="80" y="288"/>
                </a:lnTo>
                <a:lnTo>
                  <a:pt x="96" y="296"/>
                </a:lnTo>
                <a:lnTo>
                  <a:pt x="113" y="303"/>
                </a:lnTo>
                <a:lnTo>
                  <a:pt x="130" y="310"/>
                </a:lnTo>
                <a:lnTo>
                  <a:pt x="148" y="316"/>
                </a:lnTo>
                <a:lnTo>
                  <a:pt x="167" y="320"/>
                </a:lnTo>
                <a:lnTo>
                  <a:pt x="186" y="323"/>
                </a:lnTo>
                <a:lnTo>
                  <a:pt x="206" y="326"/>
                </a:lnTo>
                <a:lnTo>
                  <a:pt x="225" y="326"/>
                </a:lnTo>
                <a:lnTo>
                  <a:pt x="246" y="326"/>
                </a:lnTo>
                <a:lnTo>
                  <a:pt x="265" y="323"/>
                </a:lnTo>
                <a:lnTo>
                  <a:pt x="285" y="320"/>
                </a:lnTo>
                <a:lnTo>
                  <a:pt x="303" y="316"/>
                </a:lnTo>
                <a:lnTo>
                  <a:pt x="322" y="310"/>
                </a:lnTo>
                <a:lnTo>
                  <a:pt x="339" y="303"/>
                </a:lnTo>
                <a:lnTo>
                  <a:pt x="356" y="296"/>
                </a:lnTo>
                <a:lnTo>
                  <a:pt x="372" y="288"/>
                </a:lnTo>
                <a:lnTo>
                  <a:pt x="386" y="278"/>
                </a:lnTo>
                <a:lnTo>
                  <a:pt x="399" y="266"/>
                </a:lnTo>
                <a:lnTo>
                  <a:pt x="411" y="255"/>
                </a:lnTo>
                <a:lnTo>
                  <a:pt x="422" y="244"/>
                </a:lnTo>
                <a:lnTo>
                  <a:pt x="431" y="231"/>
                </a:lnTo>
                <a:lnTo>
                  <a:pt x="439" y="217"/>
                </a:lnTo>
                <a:lnTo>
                  <a:pt x="445" y="205"/>
                </a:lnTo>
                <a:lnTo>
                  <a:pt x="448" y="191"/>
                </a:lnTo>
                <a:lnTo>
                  <a:pt x="451"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1">
            <a:extLst>
              <a:ext uri="{FF2B5EF4-FFF2-40B4-BE49-F238E27FC236}">
                <a16:creationId xmlns:a16="http://schemas.microsoft.com/office/drawing/2014/main" id="{6F18A355-E181-FC1F-5F70-5C0CAC71948B}"/>
              </a:ext>
            </a:extLst>
          </p:cNvPr>
          <p:cNvSpPr>
            <a:spLocks/>
          </p:cNvSpPr>
          <p:nvPr/>
        </p:nvSpPr>
        <p:spPr bwMode="auto">
          <a:xfrm>
            <a:off x="6662798" y="1471996"/>
            <a:ext cx="912812" cy="496887"/>
          </a:xfrm>
          <a:custGeom>
            <a:avLst/>
            <a:gdLst>
              <a:gd name="T0" fmla="*/ 1587 w 575"/>
              <a:gd name="T1" fmla="*/ 268287 h 313"/>
              <a:gd name="T2" fmla="*/ 14287 w 575"/>
              <a:gd name="T3" fmla="*/ 311150 h 313"/>
              <a:gd name="T4" fmla="*/ 44450 w 575"/>
              <a:gd name="T5" fmla="*/ 350837 h 313"/>
              <a:gd name="T6" fmla="*/ 82550 w 575"/>
              <a:gd name="T7" fmla="*/ 387350 h 313"/>
              <a:gd name="T8" fmla="*/ 133350 w 575"/>
              <a:gd name="T9" fmla="*/ 422275 h 313"/>
              <a:gd name="T10" fmla="*/ 195262 w 575"/>
              <a:gd name="T11" fmla="*/ 449262 h 313"/>
              <a:gd name="T12" fmla="*/ 261937 w 575"/>
              <a:gd name="T13" fmla="*/ 471487 h 313"/>
              <a:gd name="T14" fmla="*/ 338137 w 575"/>
              <a:gd name="T15" fmla="*/ 485775 h 313"/>
              <a:gd name="T16" fmla="*/ 415925 w 575"/>
              <a:gd name="T17" fmla="*/ 495300 h 313"/>
              <a:gd name="T18" fmla="*/ 493712 w 575"/>
              <a:gd name="T19" fmla="*/ 495300 h 313"/>
              <a:gd name="T20" fmla="*/ 573087 w 575"/>
              <a:gd name="T21" fmla="*/ 485775 h 313"/>
              <a:gd name="T22" fmla="*/ 647700 w 575"/>
              <a:gd name="T23" fmla="*/ 471487 h 313"/>
              <a:gd name="T24" fmla="*/ 715962 w 575"/>
              <a:gd name="T25" fmla="*/ 449262 h 313"/>
              <a:gd name="T26" fmla="*/ 777875 w 575"/>
              <a:gd name="T27" fmla="*/ 422275 h 313"/>
              <a:gd name="T28" fmla="*/ 828675 w 575"/>
              <a:gd name="T29" fmla="*/ 387350 h 313"/>
              <a:gd name="T30" fmla="*/ 868362 w 575"/>
              <a:gd name="T31" fmla="*/ 350837 h 313"/>
              <a:gd name="T32" fmla="*/ 895350 w 575"/>
              <a:gd name="T33" fmla="*/ 311150 h 313"/>
              <a:gd name="T34" fmla="*/ 908050 w 575"/>
              <a:gd name="T35" fmla="*/ 268287 h 313"/>
              <a:gd name="T36" fmla="*/ 908050 w 575"/>
              <a:gd name="T37" fmla="*/ 223837 h 313"/>
              <a:gd name="T38" fmla="*/ 895350 w 575"/>
              <a:gd name="T39" fmla="*/ 180975 h 313"/>
              <a:gd name="T40" fmla="*/ 868362 w 575"/>
              <a:gd name="T41" fmla="*/ 142875 h 313"/>
              <a:gd name="T42" fmla="*/ 828675 w 575"/>
              <a:gd name="T43" fmla="*/ 103187 h 313"/>
              <a:gd name="T44" fmla="*/ 777875 w 575"/>
              <a:gd name="T45" fmla="*/ 71437 h 313"/>
              <a:gd name="T46" fmla="*/ 715962 w 575"/>
              <a:gd name="T47" fmla="*/ 41275 h 313"/>
              <a:gd name="T48" fmla="*/ 647700 w 575"/>
              <a:gd name="T49" fmla="*/ 22225 h 313"/>
              <a:gd name="T50" fmla="*/ 573087 w 575"/>
              <a:gd name="T51" fmla="*/ 7937 h 313"/>
              <a:gd name="T52" fmla="*/ 493712 w 575"/>
              <a:gd name="T53" fmla="*/ 0 h 313"/>
              <a:gd name="T54" fmla="*/ 415925 w 575"/>
              <a:gd name="T55" fmla="*/ 0 h 313"/>
              <a:gd name="T56" fmla="*/ 336550 w 575"/>
              <a:gd name="T57" fmla="*/ 7937 h 313"/>
              <a:gd name="T58" fmla="*/ 261937 w 575"/>
              <a:gd name="T59" fmla="*/ 22225 h 313"/>
              <a:gd name="T60" fmla="*/ 195262 w 575"/>
              <a:gd name="T61" fmla="*/ 44450 h 313"/>
              <a:gd name="T62" fmla="*/ 133350 w 575"/>
              <a:gd name="T63" fmla="*/ 71437 h 313"/>
              <a:gd name="T64" fmla="*/ 82550 w 575"/>
              <a:gd name="T65" fmla="*/ 103187 h 313"/>
              <a:gd name="T66" fmla="*/ 44450 w 575"/>
              <a:gd name="T67" fmla="*/ 142875 h 313"/>
              <a:gd name="T68" fmla="*/ 14287 w 575"/>
              <a:gd name="T69" fmla="*/ 182562 h 313"/>
              <a:gd name="T70" fmla="*/ 1587 w 575"/>
              <a:gd name="T71" fmla="*/ 225425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75"/>
              <a:gd name="T109" fmla="*/ 0 h 313"/>
              <a:gd name="T110" fmla="*/ 575 w 575"/>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75" h="313">
                <a:moveTo>
                  <a:pt x="0" y="156"/>
                </a:moveTo>
                <a:lnTo>
                  <a:pt x="1" y="169"/>
                </a:lnTo>
                <a:lnTo>
                  <a:pt x="5" y="182"/>
                </a:lnTo>
                <a:lnTo>
                  <a:pt x="9" y="196"/>
                </a:lnTo>
                <a:lnTo>
                  <a:pt x="17" y="208"/>
                </a:lnTo>
                <a:lnTo>
                  <a:pt x="28" y="221"/>
                </a:lnTo>
                <a:lnTo>
                  <a:pt x="38" y="234"/>
                </a:lnTo>
                <a:lnTo>
                  <a:pt x="52" y="244"/>
                </a:lnTo>
                <a:lnTo>
                  <a:pt x="67" y="255"/>
                </a:lnTo>
                <a:lnTo>
                  <a:pt x="84" y="266"/>
                </a:lnTo>
                <a:lnTo>
                  <a:pt x="103" y="275"/>
                </a:lnTo>
                <a:lnTo>
                  <a:pt x="123" y="283"/>
                </a:lnTo>
                <a:lnTo>
                  <a:pt x="143" y="290"/>
                </a:lnTo>
                <a:lnTo>
                  <a:pt x="165" y="297"/>
                </a:lnTo>
                <a:lnTo>
                  <a:pt x="189" y="302"/>
                </a:lnTo>
                <a:lnTo>
                  <a:pt x="213" y="306"/>
                </a:lnTo>
                <a:lnTo>
                  <a:pt x="237" y="309"/>
                </a:lnTo>
                <a:lnTo>
                  <a:pt x="262" y="312"/>
                </a:lnTo>
                <a:lnTo>
                  <a:pt x="287" y="312"/>
                </a:lnTo>
                <a:lnTo>
                  <a:pt x="311" y="312"/>
                </a:lnTo>
                <a:lnTo>
                  <a:pt x="337" y="309"/>
                </a:lnTo>
                <a:lnTo>
                  <a:pt x="361" y="306"/>
                </a:lnTo>
                <a:lnTo>
                  <a:pt x="385" y="302"/>
                </a:lnTo>
                <a:lnTo>
                  <a:pt x="408" y="297"/>
                </a:lnTo>
                <a:lnTo>
                  <a:pt x="431" y="290"/>
                </a:lnTo>
                <a:lnTo>
                  <a:pt x="451" y="283"/>
                </a:lnTo>
                <a:lnTo>
                  <a:pt x="471" y="275"/>
                </a:lnTo>
                <a:lnTo>
                  <a:pt x="490" y="266"/>
                </a:lnTo>
                <a:lnTo>
                  <a:pt x="506" y="255"/>
                </a:lnTo>
                <a:lnTo>
                  <a:pt x="522" y="244"/>
                </a:lnTo>
                <a:lnTo>
                  <a:pt x="536" y="234"/>
                </a:lnTo>
                <a:lnTo>
                  <a:pt x="547" y="221"/>
                </a:lnTo>
                <a:lnTo>
                  <a:pt x="556" y="208"/>
                </a:lnTo>
                <a:lnTo>
                  <a:pt x="564" y="196"/>
                </a:lnTo>
                <a:lnTo>
                  <a:pt x="569" y="182"/>
                </a:lnTo>
                <a:lnTo>
                  <a:pt x="572" y="169"/>
                </a:lnTo>
                <a:lnTo>
                  <a:pt x="574" y="156"/>
                </a:lnTo>
                <a:lnTo>
                  <a:pt x="572" y="141"/>
                </a:lnTo>
                <a:lnTo>
                  <a:pt x="569" y="129"/>
                </a:lnTo>
                <a:lnTo>
                  <a:pt x="564" y="114"/>
                </a:lnTo>
                <a:lnTo>
                  <a:pt x="556" y="102"/>
                </a:lnTo>
                <a:lnTo>
                  <a:pt x="547" y="90"/>
                </a:lnTo>
                <a:lnTo>
                  <a:pt x="536" y="76"/>
                </a:lnTo>
                <a:lnTo>
                  <a:pt x="522" y="65"/>
                </a:lnTo>
                <a:lnTo>
                  <a:pt x="506" y="55"/>
                </a:lnTo>
                <a:lnTo>
                  <a:pt x="490" y="45"/>
                </a:lnTo>
                <a:lnTo>
                  <a:pt x="471" y="36"/>
                </a:lnTo>
                <a:lnTo>
                  <a:pt x="451" y="26"/>
                </a:lnTo>
                <a:lnTo>
                  <a:pt x="431" y="20"/>
                </a:lnTo>
                <a:lnTo>
                  <a:pt x="408" y="14"/>
                </a:lnTo>
                <a:lnTo>
                  <a:pt x="385" y="8"/>
                </a:lnTo>
                <a:lnTo>
                  <a:pt x="361" y="5"/>
                </a:lnTo>
                <a:lnTo>
                  <a:pt x="337" y="1"/>
                </a:lnTo>
                <a:lnTo>
                  <a:pt x="311" y="0"/>
                </a:lnTo>
                <a:lnTo>
                  <a:pt x="287" y="0"/>
                </a:lnTo>
                <a:lnTo>
                  <a:pt x="262" y="0"/>
                </a:lnTo>
                <a:lnTo>
                  <a:pt x="237" y="1"/>
                </a:lnTo>
                <a:lnTo>
                  <a:pt x="212" y="5"/>
                </a:lnTo>
                <a:lnTo>
                  <a:pt x="189" y="9"/>
                </a:lnTo>
                <a:lnTo>
                  <a:pt x="165" y="14"/>
                </a:lnTo>
                <a:lnTo>
                  <a:pt x="143" y="20"/>
                </a:lnTo>
                <a:lnTo>
                  <a:pt x="123" y="28"/>
                </a:lnTo>
                <a:lnTo>
                  <a:pt x="102" y="36"/>
                </a:lnTo>
                <a:lnTo>
                  <a:pt x="84" y="45"/>
                </a:lnTo>
                <a:lnTo>
                  <a:pt x="67" y="55"/>
                </a:lnTo>
                <a:lnTo>
                  <a:pt x="52" y="65"/>
                </a:lnTo>
                <a:lnTo>
                  <a:pt x="38" y="78"/>
                </a:lnTo>
                <a:lnTo>
                  <a:pt x="28" y="90"/>
                </a:lnTo>
                <a:lnTo>
                  <a:pt x="17" y="102"/>
                </a:lnTo>
                <a:lnTo>
                  <a:pt x="9" y="115"/>
                </a:lnTo>
                <a:lnTo>
                  <a:pt x="5" y="129"/>
                </a:lnTo>
                <a:lnTo>
                  <a:pt x="1" y="142"/>
                </a:lnTo>
                <a:lnTo>
                  <a:pt x="0" y="15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7" name="Group 12">
            <a:extLst>
              <a:ext uri="{FF2B5EF4-FFF2-40B4-BE49-F238E27FC236}">
                <a16:creationId xmlns:a16="http://schemas.microsoft.com/office/drawing/2014/main" id="{7D086470-FD76-34B2-05C2-3014A92DD368}"/>
              </a:ext>
            </a:extLst>
          </p:cNvPr>
          <p:cNvGrpSpPr>
            <a:grpSpLocks/>
          </p:cNvGrpSpPr>
          <p:nvPr/>
        </p:nvGrpSpPr>
        <p:grpSpPr bwMode="auto">
          <a:xfrm>
            <a:off x="5913498" y="1068771"/>
            <a:ext cx="939800" cy="519112"/>
            <a:chOff x="4713" y="1060"/>
            <a:chExt cx="592" cy="327"/>
          </a:xfrm>
        </p:grpSpPr>
        <p:sp>
          <p:nvSpPr>
            <p:cNvPr id="48" name="Freeform 13">
              <a:extLst>
                <a:ext uri="{FF2B5EF4-FFF2-40B4-BE49-F238E27FC236}">
                  <a16:creationId xmlns:a16="http://schemas.microsoft.com/office/drawing/2014/main" id="{1379B274-EF3D-EF2B-AD40-8D86F8F3A9DB}"/>
                </a:ext>
              </a:extLst>
            </p:cNvPr>
            <p:cNvSpPr>
              <a:spLocks/>
            </p:cNvSpPr>
            <p:nvPr/>
          </p:nvSpPr>
          <p:spPr bwMode="auto">
            <a:xfrm>
              <a:off x="4713" y="1060"/>
              <a:ext cx="592" cy="327"/>
            </a:xfrm>
            <a:custGeom>
              <a:avLst/>
              <a:gdLst>
                <a:gd name="T0" fmla="*/ 589 w 592"/>
                <a:gd name="T1" fmla="*/ 148 h 327"/>
                <a:gd name="T2" fmla="*/ 581 w 592"/>
                <a:gd name="T3" fmla="*/ 120 h 327"/>
                <a:gd name="T4" fmla="*/ 563 w 592"/>
                <a:gd name="T5" fmla="*/ 94 h 327"/>
                <a:gd name="T6" fmla="*/ 538 w 592"/>
                <a:gd name="T7" fmla="*/ 68 h 327"/>
                <a:gd name="T8" fmla="*/ 505 w 592"/>
                <a:gd name="T9" fmla="*/ 46 h 327"/>
                <a:gd name="T10" fmla="*/ 465 w 592"/>
                <a:gd name="T11" fmla="*/ 29 h 327"/>
                <a:gd name="T12" fmla="*/ 420 w 592"/>
                <a:gd name="T13" fmla="*/ 14 h 327"/>
                <a:gd name="T14" fmla="*/ 372 w 592"/>
                <a:gd name="T15" fmla="*/ 4 h 327"/>
                <a:gd name="T16" fmla="*/ 321 w 592"/>
                <a:gd name="T17" fmla="*/ 0 h 327"/>
                <a:gd name="T18" fmla="*/ 269 w 592"/>
                <a:gd name="T19" fmla="*/ 0 h 327"/>
                <a:gd name="T20" fmla="*/ 218 w 592"/>
                <a:gd name="T21" fmla="*/ 4 h 327"/>
                <a:gd name="T22" fmla="*/ 170 w 592"/>
                <a:gd name="T23" fmla="*/ 14 h 327"/>
                <a:gd name="T24" fmla="*/ 125 w 592"/>
                <a:gd name="T25" fmla="*/ 29 h 327"/>
                <a:gd name="T26" fmla="*/ 85 w 592"/>
                <a:gd name="T27" fmla="*/ 46 h 327"/>
                <a:gd name="T28" fmla="*/ 53 w 592"/>
                <a:gd name="T29" fmla="*/ 68 h 327"/>
                <a:gd name="T30" fmla="*/ 27 w 592"/>
                <a:gd name="T31" fmla="*/ 94 h 327"/>
                <a:gd name="T32" fmla="*/ 9 w 592"/>
                <a:gd name="T33" fmla="*/ 120 h 327"/>
                <a:gd name="T34" fmla="*/ 1 w 592"/>
                <a:gd name="T35" fmla="*/ 148 h 327"/>
                <a:gd name="T36" fmla="*/ 1 w 592"/>
                <a:gd name="T37" fmla="*/ 177 h 327"/>
                <a:gd name="T38" fmla="*/ 9 w 592"/>
                <a:gd name="T39" fmla="*/ 205 h 327"/>
                <a:gd name="T40" fmla="*/ 27 w 592"/>
                <a:gd name="T41" fmla="*/ 231 h 327"/>
                <a:gd name="T42" fmla="*/ 53 w 592"/>
                <a:gd name="T43" fmla="*/ 257 h 327"/>
                <a:gd name="T44" fmla="*/ 85 w 592"/>
                <a:gd name="T45" fmla="*/ 278 h 327"/>
                <a:gd name="T46" fmla="*/ 125 w 592"/>
                <a:gd name="T47" fmla="*/ 296 h 327"/>
                <a:gd name="T48" fmla="*/ 170 w 592"/>
                <a:gd name="T49" fmla="*/ 310 h 327"/>
                <a:gd name="T50" fmla="*/ 218 w 592"/>
                <a:gd name="T51" fmla="*/ 320 h 327"/>
                <a:gd name="T52" fmla="*/ 269 w 592"/>
                <a:gd name="T53" fmla="*/ 326 h 327"/>
                <a:gd name="T54" fmla="*/ 321 w 592"/>
                <a:gd name="T55" fmla="*/ 326 h 327"/>
                <a:gd name="T56" fmla="*/ 372 w 592"/>
                <a:gd name="T57" fmla="*/ 320 h 327"/>
                <a:gd name="T58" fmla="*/ 420 w 592"/>
                <a:gd name="T59" fmla="*/ 310 h 327"/>
                <a:gd name="T60" fmla="*/ 465 w 592"/>
                <a:gd name="T61" fmla="*/ 296 h 327"/>
                <a:gd name="T62" fmla="*/ 505 w 592"/>
                <a:gd name="T63" fmla="*/ 278 h 327"/>
                <a:gd name="T64" fmla="*/ 538 w 592"/>
                <a:gd name="T65" fmla="*/ 257 h 327"/>
                <a:gd name="T66" fmla="*/ 563 w 592"/>
                <a:gd name="T67" fmla="*/ 231 h 327"/>
                <a:gd name="T68" fmla="*/ 581 w 592"/>
                <a:gd name="T69" fmla="*/ 205 h 327"/>
                <a:gd name="T70" fmla="*/ 589 w 592"/>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92"/>
                <a:gd name="T109" fmla="*/ 0 h 327"/>
                <a:gd name="T110" fmla="*/ 592 w 592"/>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92" h="327">
                  <a:moveTo>
                    <a:pt x="591" y="163"/>
                  </a:moveTo>
                  <a:lnTo>
                    <a:pt x="589" y="148"/>
                  </a:lnTo>
                  <a:lnTo>
                    <a:pt x="586" y="133"/>
                  </a:lnTo>
                  <a:lnTo>
                    <a:pt x="581" y="120"/>
                  </a:lnTo>
                  <a:lnTo>
                    <a:pt x="573" y="106"/>
                  </a:lnTo>
                  <a:lnTo>
                    <a:pt x="563" y="94"/>
                  </a:lnTo>
                  <a:lnTo>
                    <a:pt x="550" y="81"/>
                  </a:lnTo>
                  <a:lnTo>
                    <a:pt x="538" y="68"/>
                  </a:lnTo>
                  <a:lnTo>
                    <a:pt x="521" y="57"/>
                  </a:lnTo>
                  <a:lnTo>
                    <a:pt x="505" y="46"/>
                  </a:lnTo>
                  <a:lnTo>
                    <a:pt x="485" y="37"/>
                  </a:lnTo>
                  <a:lnTo>
                    <a:pt x="465" y="29"/>
                  </a:lnTo>
                  <a:lnTo>
                    <a:pt x="442" y="21"/>
                  </a:lnTo>
                  <a:lnTo>
                    <a:pt x="420" y="14"/>
                  </a:lnTo>
                  <a:lnTo>
                    <a:pt x="395" y="9"/>
                  </a:lnTo>
                  <a:lnTo>
                    <a:pt x="372" y="4"/>
                  </a:lnTo>
                  <a:lnTo>
                    <a:pt x="347" y="1"/>
                  </a:lnTo>
                  <a:lnTo>
                    <a:pt x="321" y="0"/>
                  </a:lnTo>
                  <a:lnTo>
                    <a:pt x="294" y="0"/>
                  </a:lnTo>
                  <a:lnTo>
                    <a:pt x="269" y="0"/>
                  </a:lnTo>
                  <a:lnTo>
                    <a:pt x="243" y="1"/>
                  </a:lnTo>
                  <a:lnTo>
                    <a:pt x="218" y="4"/>
                  </a:lnTo>
                  <a:lnTo>
                    <a:pt x="195" y="9"/>
                  </a:lnTo>
                  <a:lnTo>
                    <a:pt x="170" y="14"/>
                  </a:lnTo>
                  <a:lnTo>
                    <a:pt x="148" y="21"/>
                  </a:lnTo>
                  <a:lnTo>
                    <a:pt x="125" y="29"/>
                  </a:lnTo>
                  <a:lnTo>
                    <a:pt x="105" y="37"/>
                  </a:lnTo>
                  <a:lnTo>
                    <a:pt x="85" y="46"/>
                  </a:lnTo>
                  <a:lnTo>
                    <a:pt x="69" y="57"/>
                  </a:lnTo>
                  <a:lnTo>
                    <a:pt x="53" y="68"/>
                  </a:lnTo>
                  <a:lnTo>
                    <a:pt x="40" y="81"/>
                  </a:lnTo>
                  <a:lnTo>
                    <a:pt x="27" y="94"/>
                  </a:lnTo>
                  <a:lnTo>
                    <a:pt x="17" y="106"/>
                  </a:lnTo>
                  <a:lnTo>
                    <a:pt x="9" y="120"/>
                  </a:lnTo>
                  <a:lnTo>
                    <a:pt x="4" y="133"/>
                  </a:lnTo>
                  <a:lnTo>
                    <a:pt x="1" y="148"/>
                  </a:lnTo>
                  <a:lnTo>
                    <a:pt x="0" y="163"/>
                  </a:lnTo>
                  <a:lnTo>
                    <a:pt x="1" y="177"/>
                  </a:lnTo>
                  <a:lnTo>
                    <a:pt x="4" y="191"/>
                  </a:lnTo>
                  <a:lnTo>
                    <a:pt x="9" y="205"/>
                  </a:lnTo>
                  <a:lnTo>
                    <a:pt x="17" y="219"/>
                  </a:lnTo>
                  <a:lnTo>
                    <a:pt x="27" y="231"/>
                  </a:lnTo>
                  <a:lnTo>
                    <a:pt x="40" y="244"/>
                  </a:lnTo>
                  <a:lnTo>
                    <a:pt x="53" y="257"/>
                  </a:lnTo>
                  <a:lnTo>
                    <a:pt x="69" y="268"/>
                  </a:lnTo>
                  <a:lnTo>
                    <a:pt x="85" y="278"/>
                  </a:lnTo>
                  <a:lnTo>
                    <a:pt x="105" y="288"/>
                  </a:lnTo>
                  <a:lnTo>
                    <a:pt x="125" y="296"/>
                  </a:lnTo>
                  <a:lnTo>
                    <a:pt x="148" y="304"/>
                  </a:lnTo>
                  <a:lnTo>
                    <a:pt x="170" y="310"/>
                  </a:lnTo>
                  <a:lnTo>
                    <a:pt x="195" y="316"/>
                  </a:lnTo>
                  <a:lnTo>
                    <a:pt x="218" y="320"/>
                  </a:lnTo>
                  <a:lnTo>
                    <a:pt x="243" y="324"/>
                  </a:lnTo>
                  <a:lnTo>
                    <a:pt x="269" y="326"/>
                  </a:lnTo>
                  <a:lnTo>
                    <a:pt x="294" y="326"/>
                  </a:lnTo>
                  <a:lnTo>
                    <a:pt x="321" y="326"/>
                  </a:lnTo>
                  <a:lnTo>
                    <a:pt x="347" y="324"/>
                  </a:lnTo>
                  <a:lnTo>
                    <a:pt x="372" y="320"/>
                  </a:lnTo>
                  <a:lnTo>
                    <a:pt x="395" y="316"/>
                  </a:lnTo>
                  <a:lnTo>
                    <a:pt x="420" y="310"/>
                  </a:lnTo>
                  <a:lnTo>
                    <a:pt x="442" y="304"/>
                  </a:lnTo>
                  <a:lnTo>
                    <a:pt x="465" y="296"/>
                  </a:lnTo>
                  <a:lnTo>
                    <a:pt x="485" y="288"/>
                  </a:lnTo>
                  <a:lnTo>
                    <a:pt x="505" y="278"/>
                  </a:lnTo>
                  <a:lnTo>
                    <a:pt x="521" y="268"/>
                  </a:lnTo>
                  <a:lnTo>
                    <a:pt x="538" y="257"/>
                  </a:lnTo>
                  <a:lnTo>
                    <a:pt x="550" y="244"/>
                  </a:lnTo>
                  <a:lnTo>
                    <a:pt x="563" y="231"/>
                  </a:lnTo>
                  <a:lnTo>
                    <a:pt x="573" y="219"/>
                  </a:lnTo>
                  <a:lnTo>
                    <a:pt x="581" y="205"/>
                  </a:lnTo>
                  <a:lnTo>
                    <a:pt x="586" y="191"/>
                  </a:lnTo>
                  <a:lnTo>
                    <a:pt x="589" y="177"/>
                  </a:lnTo>
                  <a:lnTo>
                    <a:pt x="591"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Rectangle 14">
              <a:extLst>
                <a:ext uri="{FF2B5EF4-FFF2-40B4-BE49-F238E27FC236}">
                  <a16:creationId xmlns:a16="http://schemas.microsoft.com/office/drawing/2014/main" id="{7840FB03-4BFC-56C7-8416-8D836E2D1289}"/>
                </a:ext>
              </a:extLst>
            </p:cNvPr>
            <p:cNvSpPr>
              <a:spLocks noChangeArrowheads="1"/>
            </p:cNvSpPr>
            <p:nvPr/>
          </p:nvSpPr>
          <p:spPr bwMode="auto">
            <a:xfrm>
              <a:off x="4741" y="110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dname</a:t>
              </a:r>
            </a:p>
          </p:txBody>
        </p:sp>
      </p:grpSp>
      <p:sp>
        <p:nvSpPr>
          <p:cNvPr id="50" name="Rectangle 15">
            <a:extLst>
              <a:ext uri="{FF2B5EF4-FFF2-40B4-BE49-F238E27FC236}">
                <a16:creationId xmlns:a16="http://schemas.microsoft.com/office/drawing/2014/main" id="{F0602168-7B81-ADF0-24F4-DC4F60FC02E8}"/>
              </a:ext>
            </a:extLst>
          </p:cNvPr>
          <p:cNvSpPr>
            <a:spLocks noChangeArrowheads="1"/>
          </p:cNvSpPr>
          <p:nvPr/>
        </p:nvSpPr>
        <p:spPr bwMode="auto">
          <a:xfrm>
            <a:off x="6718360" y="1519621"/>
            <a:ext cx="857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51" name="Rectangle 16">
            <a:extLst>
              <a:ext uri="{FF2B5EF4-FFF2-40B4-BE49-F238E27FC236}">
                <a16:creationId xmlns:a16="http://schemas.microsoft.com/office/drawing/2014/main" id="{36173E32-2150-376F-B72B-E9A2E2F76478}"/>
              </a:ext>
            </a:extLst>
          </p:cNvPr>
          <p:cNvSpPr>
            <a:spLocks noChangeArrowheads="1"/>
          </p:cNvSpPr>
          <p:nvPr/>
        </p:nvSpPr>
        <p:spPr bwMode="auto">
          <a:xfrm>
            <a:off x="5448360" y="153390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did</a:t>
            </a:r>
          </a:p>
        </p:txBody>
      </p:sp>
      <p:grpSp>
        <p:nvGrpSpPr>
          <p:cNvPr id="52" name="Group 17">
            <a:extLst>
              <a:ext uri="{FF2B5EF4-FFF2-40B4-BE49-F238E27FC236}">
                <a16:creationId xmlns:a16="http://schemas.microsoft.com/office/drawing/2014/main" id="{F361CE4A-391D-26A5-F3D3-A0B45A5FDA09}"/>
              </a:ext>
            </a:extLst>
          </p:cNvPr>
          <p:cNvGrpSpPr>
            <a:grpSpLocks/>
          </p:cNvGrpSpPr>
          <p:nvPr/>
        </p:nvGrpSpPr>
        <p:grpSpPr bwMode="auto">
          <a:xfrm>
            <a:off x="4259940" y="849283"/>
            <a:ext cx="720725" cy="519112"/>
            <a:chOff x="3663" y="868"/>
            <a:chExt cx="454" cy="327"/>
          </a:xfrm>
        </p:grpSpPr>
        <p:sp>
          <p:nvSpPr>
            <p:cNvPr id="53" name="Freeform 18">
              <a:extLst>
                <a:ext uri="{FF2B5EF4-FFF2-40B4-BE49-F238E27FC236}">
                  <a16:creationId xmlns:a16="http://schemas.microsoft.com/office/drawing/2014/main" id="{62FF0CFB-1B87-29FD-1D00-7E600F21B782}"/>
                </a:ext>
              </a:extLst>
            </p:cNvPr>
            <p:cNvSpPr>
              <a:spLocks/>
            </p:cNvSpPr>
            <p:nvPr/>
          </p:nvSpPr>
          <p:spPr bwMode="auto">
            <a:xfrm>
              <a:off x="3663" y="868"/>
              <a:ext cx="454" cy="327"/>
            </a:xfrm>
            <a:custGeom>
              <a:avLst/>
              <a:gdLst>
                <a:gd name="T0" fmla="*/ 1 w 454"/>
                <a:gd name="T1" fmla="*/ 177 h 327"/>
                <a:gd name="T2" fmla="*/ 8 w 454"/>
                <a:gd name="T3" fmla="*/ 205 h 327"/>
                <a:gd name="T4" fmla="*/ 21 w 454"/>
                <a:gd name="T5" fmla="*/ 231 h 327"/>
                <a:gd name="T6" fmla="*/ 41 w 454"/>
                <a:gd name="T7" fmla="*/ 257 h 327"/>
                <a:gd name="T8" fmla="*/ 66 w 454"/>
                <a:gd name="T9" fmla="*/ 278 h 327"/>
                <a:gd name="T10" fmla="*/ 96 w 454"/>
                <a:gd name="T11" fmla="*/ 296 h 327"/>
                <a:gd name="T12" fmla="*/ 131 w 454"/>
                <a:gd name="T13" fmla="*/ 311 h 327"/>
                <a:gd name="T14" fmla="*/ 167 w 454"/>
                <a:gd name="T15" fmla="*/ 320 h 327"/>
                <a:gd name="T16" fmla="*/ 206 w 454"/>
                <a:gd name="T17" fmla="*/ 326 h 327"/>
                <a:gd name="T18" fmla="*/ 246 w 454"/>
                <a:gd name="T19" fmla="*/ 326 h 327"/>
                <a:gd name="T20" fmla="*/ 285 w 454"/>
                <a:gd name="T21" fmla="*/ 320 h 327"/>
                <a:gd name="T22" fmla="*/ 322 w 454"/>
                <a:gd name="T23" fmla="*/ 310 h 327"/>
                <a:gd name="T24" fmla="*/ 356 w 454"/>
                <a:gd name="T25" fmla="*/ 296 h 327"/>
                <a:gd name="T26" fmla="*/ 387 w 454"/>
                <a:gd name="T27" fmla="*/ 278 h 327"/>
                <a:gd name="T28" fmla="*/ 412 w 454"/>
                <a:gd name="T29" fmla="*/ 257 h 327"/>
                <a:gd name="T30" fmla="*/ 431 w 454"/>
                <a:gd name="T31" fmla="*/ 231 h 327"/>
                <a:gd name="T32" fmla="*/ 445 w 454"/>
                <a:gd name="T33" fmla="*/ 205 h 327"/>
                <a:gd name="T34" fmla="*/ 453 w 454"/>
                <a:gd name="T35" fmla="*/ 177 h 327"/>
                <a:gd name="T36" fmla="*/ 453 w 454"/>
                <a:gd name="T37" fmla="*/ 148 h 327"/>
                <a:gd name="T38" fmla="*/ 445 w 454"/>
                <a:gd name="T39" fmla="*/ 120 h 327"/>
                <a:gd name="T40" fmla="*/ 431 w 454"/>
                <a:gd name="T41" fmla="*/ 94 h 327"/>
                <a:gd name="T42" fmla="*/ 412 w 454"/>
                <a:gd name="T43" fmla="*/ 68 h 327"/>
                <a:gd name="T44" fmla="*/ 387 w 454"/>
                <a:gd name="T45" fmla="*/ 47 h 327"/>
                <a:gd name="T46" fmla="*/ 356 w 454"/>
                <a:gd name="T47" fmla="*/ 29 h 327"/>
                <a:gd name="T48" fmla="*/ 322 w 454"/>
                <a:gd name="T49" fmla="*/ 15 h 327"/>
                <a:gd name="T50" fmla="*/ 285 w 454"/>
                <a:gd name="T51" fmla="*/ 5 h 327"/>
                <a:gd name="T52" fmla="*/ 246 w 454"/>
                <a:gd name="T53" fmla="*/ 0 h 327"/>
                <a:gd name="T54" fmla="*/ 206 w 454"/>
                <a:gd name="T55" fmla="*/ 0 h 327"/>
                <a:gd name="T56" fmla="*/ 167 w 454"/>
                <a:gd name="T57" fmla="*/ 5 h 327"/>
                <a:gd name="T58" fmla="*/ 131 w 454"/>
                <a:gd name="T59" fmla="*/ 15 h 327"/>
                <a:gd name="T60" fmla="*/ 96 w 454"/>
                <a:gd name="T61" fmla="*/ 29 h 327"/>
                <a:gd name="T62" fmla="*/ 66 w 454"/>
                <a:gd name="T63" fmla="*/ 47 h 327"/>
                <a:gd name="T64" fmla="*/ 41 w 454"/>
                <a:gd name="T65" fmla="*/ 68 h 327"/>
                <a:gd name="T66" fmla="*/ 21 w 454"/>
                <a:gd name="T67" fmla="*/ 94 h 327"/>
                <a:gd name="T68" fmla="*/ 8 w 454"/>
                <a:gd name="T69" fmla="*/ 120 h 327"/>
                <a:gd name="T70" fmla="*/ 1 w 454"/>
                <a:gd name="T71" fmla="*/ 148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0" y="163"/>
                  </a:moveTo>
                  <a:lnTo>
                    <a:pt x="1" y="177"/>
                  </a:lnTo>
                  <a:lnTo>
                    <a:pt x="3" y="192"/>
                  </a:lnTo>
                  <a:lnTo>
                    <a:pt x="8" y="205"/>
                  </a:lnTo>
                  <a:lnTo>
                    <a:pt x="13" y="219"/>
                  </a:lnTo>
                  <a:lnTo>
                    <a:pt x="21" y="231"/>
                  </a:lnTo>
                  <a:lnTo>
                    <a:pt x="30" y="244"/>
                  </a:lnTo>
                  <a:lnTo>
                    <a:pt x="41" y="257"/>
                  </a:lnTo>
                  <a:lnTo>
                    <a:pt x="53" y="268"/>
                  </a:lnTo>
                  <a:lnTo>
                    <a:pt x="66" y="278"/>
                  </a:lnTo>
                  <a:lnTo>
                    <a:pt x="80" y="288"/>
                  </a:lnTo>
                  <a:lnTo>
                    <a:pt x="96" y="296"/>
                  </a:lnTo>
                  <a:lnTo>
                    <a:pt x="113" y="304"/>
                  </a:lnTo>
                  <a:lnTo>
                    <a:pt x="131" y="311"/>
                  </a:lnTo>
                  <a:lnTo>
                    <a:pt x="149" y="316"/>
                  </a:lnTo>
                  <a:lnTo>
                    <a:pt x="167" y="320"/>
                  </a:lnTo>
                  <a:lnTo>
                    <a:pt x="186" y="324"/>
                  </a:lnTo>
                  <a:lnTo>
                    <a:pt x="206" y="326"/>
                  </a:lnTo>
                  <a:lnTo>
                    <a:pt x="227" y="326"/>
                  </a:lnTo>
                  <a:lnTo>
                    <a:pt x="246" y="326"/>
                  </a:lnTo>
                  <a:lnTo>
                    <a:pt x="266" y="323"/>
                  </a:lnTo>
                  <a:lnTo>
                    <a:pt x="285" y="320"/>
                  </a:lnTo>
                  <a:lnTo>
                    <a:pt x="304" y="316"/>
                  </a:lnTo>
                  <a:lnTo>
                    <a:pt x="322" y="310"/>
                  </a:lnTo>
                  <a:lnTo>
                    <a:pt x="340" y="304"/>
                  </a:lnTo>
                  <a:lnTo>
                    <a:pt x="356" y="296"/>
                  </a:lnTo>
                  <a:lnTo>
                    <a:pt x="372" y="288"/>
                  </a:lnTo>
                  <a:lnTo>
                    <a:pt x="387" y="278"/>
                  </a:lnTo>
                  <a:lnTo>
                    <a:pt x="399" y="266"/>
                  </a:lnTo>
                  <a:lnTo>
                    <a:pt x="412" y="257"/>
                  </a:lnTo>
                  <a:lnTo>
                    <a:pt x="423" y="244"/>
                  </a:lnTo>
                  <a:lnTo>
                    <a:pt x="431" y="231"/>
                  </a:lnTo>
                  <a:lnTo>
                    <a:pt x="439" y="219"/>
                  </a:lnTo>
                  <a:lnTo>
                    <a:pt x="445" y="205"/>
                  </a:lnTo>
                  <a:lnTo>
                    <a:pt x="449" y="191"/>
                  </a:lnTo>
                  <a:lnTo>
                    <a:pt x="453" y="177"/>
                  </a:lnTo>
                  <a:lnTo>
                    <a:pt x="453" y="163"/>
                  </a:ln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1"/>
                  </a:lnTo>
                  <a:lnTo>
                    <a:pt x="246" y="0"/>
                  </a:lnTo>
                  <a:lnTo>
                    <a:pt x="225" y="0"/>
                  </a:lnTo>
                  <a:lnTo>
                    <a:pt x="206" y="0"/>
                  </a:lnTo>
                  <a:lnTo>
                    <a:pt x="186" y="1"/>
                  </a:lnTo>
                  <a:lnTo>
                    <a:pt x="167" y="5"/>
                  </a:lnTo>
                  <a:lnTo>
                    <a:pt x="149" y="9"/>
                  </a:lnTo>
                  <a:lnTo>
                    <a:pt x="131" y="15"/>
                  </a:lnTo>
                  <a:lnTo>
                    <a:pt x="113" y="21"/>
                  </a:lnTo>
                  <a:lnTo>
                    <a:pt x="96" y="29"/>
                  </a:lnTo>
                  <a:lnTo>
                    <a:pt x="80" y="37"/>
                  </a:lnTo>
                  <a:lnTo>
                    <a:pt x="66" y="47"/>
                  </a:lnTo>
                  <a:lnTo>
                    <a:pt x="53" y="57"/>
                  </a:lnTo>
                  <a:lnTo>
                    <a:pt x="41" y="68"/>
                  </a:lnTo>
                  <a:lnTo>
                    <a:pt x="30" y="81"/>
                  </a:lnTo>
                  <a:lnTo>
                    <a:pt x="21" y="94"/>
                  </a:lnTo>
                  <a:lnTo>
                    <a:pt x="13" y="106"/>
                  </a:lnTo>
                  <a:lnTo>
                    <a:pt x="8" y="120"/>
                  </a:lnTo>
                  <a:lnTo>
                    <a:pt x="3" y="134"/>
                  </a:lnTo>
                  <a:lnTo>
                    <a:pt x="1" y="148"/>
                  </a:lnTo>
                  <a:lnTo>
                    <a:pt x="0"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Rectangle 19">
              <a:extLst>
                <a:ext uri="{FF2B5EF4-FFF2-40B4-BE49-F238E27FC236}">
                  <a16:creationId xmlns:a16="http://schemas.microsoft.com/office/drawing/2014/main" id="{21BE4071-A104-DDF3-B693-6866D68BA342}"/>
                </a:ext>
              </a:extLst>
            </p:cNvPr>
            <p:cNvSpPr>
              <a:spLocks noChangeArrowheads="1"/>
            </p:cNvSpPr>
            <p:nvPr/>
          </p:nvSpPr>
          <p:spPr bwMode="auto">
            <a:xfrm>
              <a:off x="3666" y="930"/>
              <a:ext cx="44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since</a:t>
              </a:r>
            </a:p>
          </p:txBody>
        </p:sp>
      </p:grpSp>
      <p:grpSp>
        <p:nvGrpSpPr>
          <p:cNvPr id="55" name="Group 20">
            <a:extLst>
              <a:ext uri="{FF2B5EF4-FFF2-40B4-BE49-F238E27FC236}">
                <a16:creationId xmlns:a16="http://schemas.microsoft.com/office/drawing/2014/main" id="{4070D43B-3681-2229-3634-1C96F8E67CE6}"/>
              </a:ext>
            </a:extLst>
          </p:cNvPr>
          <p:cNvGrpSpPr>
            <a:grpSpLocks/>
          </p:cNvGrpSpPr>
          <p:nvPr/>
        </p:nvGrpSpPr>
        <p:grpSpPr bwMode="auto">
          <a:xfrm>
            <a:off x="1752600" y="1052896"/>
            <a:ext cx="2039938" cy="900112"/>
            <a:chOff x="2110" y="1050"/>
            <a:chExt cx="1285" cy="567"/>
          </a:xfrm>
        </p:grpSpPr>
        <p:sp>
          <p:nvSpPr>
            <p:cNvPr id="56" name="Freeform 21">
              <a:extLst>
                <a:ext uri="{FF2B5EF4-FFF2-40B4-BE49-F238E27FC236}">
                  <a16:creationId xmlns:a16="http://schemas.microsoft.com/office/drawing/2014/main" id="{CC0E93DB-46CA-F21F-5332-4DDAE63A0628}"/>
                </a:ext>
              </a:extLst>
            </p:cNvPr>
            <p:cNvSpPr>
              <a:spLocks/>
            </p:cNvSpPr>
            <p:nvPr/>
          </p:nvSpPr>
          <p:spPr bwMode="auto">
            <a:xfrm>
              <a:off x="2517" y="1050"/>
              <a:ext cx="454" cy="327"/>
            </a:xfrm>
            <a:custGeom>
              <a:avLst/>
              <a:gdLst>
                <a:gd name="T0" fmla="*/ 453 w 454"/>
                <a:gd name="T1" fmla="*/ 148 h 327"/>
                <a:gd name="T2" fmla="*/ 445 w 454"/>
                <a:gd name="T3" fmla="*/ 120 h 327"/>
                <a:gd name="T4" fmla="*/ 431 w 454"/>
                <a:gd name="T5" fmla="*/ 94 h 327"/>
                <a:gd name="T6" fmla="*/ 412 w 454"/>
                <a:gd name="T7" fmla="*/ 68 h 327"/>
                <a:gd name="T8" fmla="*/ 387 w 454"/>
                <a:gd name="T9" fmla="*/ 47 h 327"/>
                <a:gd name="T10" fmla="*/ 356 w 454"/>
                <a:gd name="T11" fmla="*/ 29 h 327"/>
                <a:gd name="T12" fmla="*/ 322 w 454"/>
                <a:gd name="T13" fmla="*/ 15 h 327"/>
                <a:gd name="T14" fmla="*/ 285 w 454"/>
                <a:gd name="T15" fmla="*/ 5 h 327"/>
                <a:gd name="T16" fmla="*/ 246 w 454"/>
                <a:gd name="T17" fmla="*/ 0 h 327"/>
                <a:gd name="T18" fmla="*/ 206 w 454"/>
                <a:gd name="T19" fmla="*/ 0 h 327"/>
                <a:gd name="T20" fmla="*/ 167 w 454"/>
                <a:gd name="T21" fmla="*/ 5 h 327"/>
                <a:gd name="T22" fmla="*/ 131 w 454"/>
                <a:gd name="T23" fmla="*/ 15 h 327"/>
                <a:gd name="T24" fmla="*/ 96 w 454"/>
                <a:gd name="T25" fmla="*/ 29 h 327"/>
                <a:gd name="T26" fmla="*/ 66 w 454"/>
                <a:gd name="T27" fmla="*/ 47 h 327"/>
                <a:gd name="T28" fmla="*/ 41 w 454"/>
                <a:gd name="T29" fmla="*/ 68 h 327"/>
                <a:gd name="T30" fmla="*/ 21 w 454"/>
                <a:gd name="T31" fmla="*/ 94 h 327"/>
                <a:gd name="T32" fmla="*/ 8 w 454"/>
                <a:gd name="T33" fmla="*/ 120 h 327"/>
                <a:gd name="T34" fmla="*/ 1 w 454"/>
                <a:gd name="T35" fmla="*/ 148 h 327"/>
                <a:gd name="T36" fmla="*/ 1 w 454"/>
                <a:gd name="T37" fmla="*/ 177 h 327"/>
                <a:gd name="T38" fmla="*/ 8 w 454"/>
                <a:gd name="T39" fmla="*/ 205 h 327"/>
                <a:gd name="T40" fmla="*/ 21 w 454"/>
                <a:gd name="T41" fmla="*/ 231 h 327"/>
                <a:gd name="T42" fmla="*/ 41 w 454"/>
                <a:gd name="T43" fmla="*/ 257 h 327"/>
                <a:gd name="T44" fmla="*/ 66 w 454"/>
                <a:gd name="T45" fmla="*/ 278 h 327"/>
                <a:gd name="T46" fmla="*/ 96 w 454"/>
                <a:gd name="T47" fmla="*/ 296 h 327"/>
                <a:gd name="T48" fmla="*/ 131 w 454"/>
                <a:gd name="T49" fmla="*/ 310 h 327"/>
                <a:gd name="T50" fmla="*/ 167 w 454"/>
                <a:gd name="T51" fmla="*/ 320 h 327"/>
                <a:gd name="T52" fmla="*/ 206 w 454"/>
                <a:gd name="T53" fmla="*/ 326 h 327"/>
                <a:gd name="T54" fmla="*/ 246 w 454"/>
                <a:gd name="T55" fmla="*/ 326 h 327"/>
                <a:gd name="T56" fmla="*/ 285 w 454"/>
                <a:gd name="T57" fmla="*/ 320 h 327"/>
                <a:gd name="T58" fmla="*/ 322 w 454"/>
                <a:gd name="T59" fmla="*/ 310 h 327"/>
                <a:gd name="T60" fmla="*/ 356 w 454"/>
                <a:gd name="T61" fmla="*/ 296 h 327"/>
                <a:gd name="T62" fmla="*/ 387 w 454"/>
                <a:gd name="T63" fmla="*/ 278 h 327"/>
                <a:gd name="T64" fmla="*/ 412 w 454"/>
                <a:gd name="T65" fmla="*/ 257 h 327"/>
                <a:gd name="T66" fmla="*/ 431 w 454"/>
                <a:gd name="T67" fmla="*/ 231 h 327"/>
                <a:gd name="T68" fmla="*/ 445 w 454"/>
                <a:gd name="T69" fmla="*/ 205 h 327"/>
                <a:gd name="T70" fmla="*/ 453 w 454"/>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7"/>
                <a:gd name="T110" fmla="*/ 454 w 454"/>
                <a:gd name="T111" fmla="*/ 327 h 3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7">
                  <a:moveTo>
                    <a:pt x="453" y="163"/>
                  </a:move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2"/>
                  </a:lnTo>
                  <a:lnTo>
                    <a:pt x="246" y="0"/>
                  </a:lnTo>
                  <a:lnTo>
                    <a:pt x="227" y="0"/>
                  </a:lnTo>
                  <a:lnTo>
                    <a:pt x="206" y="0"/>
                  </a:lnTo>
                  <a:lnTo>
                    <a:pt x="187" y="2"/>
                  </a:lnTo>
                  <a:lnTo>
                    <a:pt x="167" y="5"/>
                  </a:lnTo>
                  <a:lnTo>
                    <a:pt x="149" y="9"/>
                  </a:lnTo>
                  <a:lnTo>
                    <a:pt x="131" y="15"/>
                  </a:lnTo>
                  <a:lnTo>
                    <a:pt x="113" y="21"/>
                  </a:lnTo>
                  <a:lnTo>
                    <a:pt x="96" y="29"/>
                  </a:lnTo>
                  <a:lnTo>
                    <a:pt x="81" y="37"/>
                  </a:lnTo>
                  <a:lnTo>
                    <a:pt x="66" y="47"/>
                  </a:lnTo>
                  <a:lnTo>
                    <a:pt x="53" y="57"/>
                  </a:lnTo>
                  <a:lnTo>
                    <a:pt x="41" y="68"/>
                  </a:lnTo>
                  <a:lnTo>
                    <a:pt x="30" y="81"/>
                  </a:lnTo>
                  <a:lnTo>
                    <a:pt x="21" y="94"/>
                  </a:lnTo>
                  <a:lnTo>
                    <a:pt x="13" y="106"/>
                  </a:lnTo>
                  <a:lnTo>
                    <a:pt x="8" y="120"/>
                  </a:lnTo>
                  <a:lnTo>
                    <a:pt x="3" y="134"/>
                  </a:lnTo>
                  <a:lnTo>
                    <a:pt x="1" y="148"/>
                  </a:lnTo>
                  <a:lnTo>
                    <a:pt x="0" y="163"/>
                  </a:lnTo>
                  <a:lnTo>
                    <a:pt x="1" y="177"/>
                  </a:lnTo>
                  <a:lnTo>
                    <a:pt x="3" y="191"/>
                  </a:lnTo>
                  <a:lnTo>
                    <a:pt x="8" y="205"/>
                  </a:lnTo>
                  <a:lnTo>
                    <a:pt x="13" y="219"/>
                  </a:lnTo>
                  <a:lnTo>
                    <a:pt x="21" y="231"/>
                  </a:lnTo>
                  <a:lnTo>
                    <a:pt x="30" y="244"/>
                  </a:lnTo>
                  <a:lnTo>
                    <a:pt x="41" y="257"/>
                  </a:lnTo>
                  <a:lnTo>
                    <a:pt x="53" y="268"/>
                  </a:lnTo>
                  <a:lnTo>
                    <a:pt x="66" y="278"/>
                  </a:lnTo>
                  <a:lnTo>
                    <a:pt x="81" y="288"/>
                  </a:lnTo>
                  <a:lnTo>
                    <a:pt x="96" y="296"/>
                  </a:lnTo>
                  <a:lnTo>
                    <a:pt x="113" y="304"/>
                  </a:lnTo>
                  <a:lnTo>
                    <a:pt x="131" y="310"/>
                  </a:lnTo>
                  <a:lnTo>
                    <a:pt x="149" y="316"/>
                  </a:lnTo>
                  <a:lnTo>
                    <a:pt x="167" y="320"/>
                  </a:lnTo>
                  <a:lnTo>
                    <a:pt x="187" y="324"/>
                  </a:lnTo>
                  <a:lnTo>
                    <a:pt x="206" y="326"/>
                  </a:lnTo>
                  <a:lnTo>
                    <a:pt x="227" y="326"/>
                  </a:lnTo>
                  <a:lnTo>
                    <a:pt x="246" y="326"/>
                  </a:lnTo>
                  <a:lnTo>
                    <a:pt x="266" y="324"/>
                  </a:lnTo>
                  <a:lnTo>
                    <a:pt x="285" y="320"/>
                  </a:lnTo>
                  <a:lnTo>
                    <a:pt x="304" y="316"/>
                  </a:lnTo>
                  <a:lnTo>
                    <a:pt x="322" y="310"/>
                  </a:lnTo>
                  <a:lnTo>
                    <a:pt x="339" y="304"/>
                  </a:lnTo>
                  <a:lnTo>
                    <a:pt x="356" y="296"/>
                  </a:lnTo>
                  <a:lnTo>
                    <a:pt x="372" y="288"/>
                  </a:lnTo>
                  <a:lnTo>
                    <a:pt x="387" y="278"/>
                  </a:lnTo>
                  <a:lnTo>
                    <a:pt x="399" y="268"/>
                  </a:lnTo>
                  <a:lnTo>
                    <a:pt x="412" y="257"/>
                  </a:lnTo>
                  <a:lnTo>
                    <a:pt x="422" y="244"/>
                  </a:lnTo>
                  <a:lnTo>
                    <a:pt x="431" y="231"/>
                  </a:lnTo>
                  <a:lnTo>
                    <a:pt x="439" y="219"/>
                  </a:lnTo>
                  <a:lnTo>
                    <a:pt x="445" y="205"/>
                  </a:lnTo>
                  <a:lnTo>
                    <a:pt x="449" y="191"/>
                  </a:lnTo>
                  <a:lnTo>
                    <a:pt x="453" y="177"/>
                  </a:lnTo>
                  <a:lnTo>
                    <a:pt x="453" y="1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2">
              <a:extLst>
                <a:ext uri="{FF2B5EF4-FFF2-40B4-BE49-F238E27FC236}">
                  <a16:creationId xmlns:a16="http://schemas.microsoft.com/office/drawing/2014/main" id="{95B5028C-04B7-E26A-F1D7-4034C4FF0A19}"/>
                </a:ext>
              </a:extLst>
            </p:cNvPr>
            <p:cNvSpPr>
              <a:spLocks/>
            </p:cNvSpPr>
            <p:nvPr/>
          </p:nvSpPr>
          <p:spPr bwMode="auto">
            <a:xfrm>
              <a:off x="2110" y="1291"/>
              <a:ext cx="454" cy="326"/>
            </a:xfrm>
            <a:custGeom>
              <a:avLst/>
              <a:gdLst>
                <a:gd name="T0" fmla="*/ 451 w 454"/>
                <a:gd name="T1" fmla="*/ 148 h 326"/>
                <a:gd name="T2" fmla="*/ 445 w 454"/>
                <a:gd name="T3" fmla="*/ 120 h 326"/>
                <a:gd name="T4" fmla="*/ 431 w 454"/>
                <a:gd name="T5" fmla="*/ 93 h 326"/>
                <a:gd name="T6" fmla="*/ 411 w 454"/>
                <a:gd name="T7" fmla="*/ 68 h 326"/>
                <a:gd name="T8" fmla="*/ 386 w 454"/>
                <a:gd name="T9" fmla="*/ 47 h 326"/>
                <a:gd name="T10" fmla="*/ 356 w 454"/>
                <a:gd name="T11" fmla="*/ 29 h 326"/>
                <a:gd name="T12" fmla="*/ 322 w 454"/>
                <a:gd name="T13" fmla="*/ 15 h 326"/>
                <a:gd name="T14" fmla="*/ 285 w 454"/>
                <a:gd name="T15" fmla="*/ 5 h 326"/>
                <a:gd name="T16" fmla="*/ 246 w 454"/>
                <a:gd name="T17" fmla="*/ 0 h 326"/>
                <a:gd name="T18" fmla="*/ 206 w 454"/>
                <a:gd name="T19" fmla="*/ 0 h 326"/>
                <a:gd name="T20" fmla="*/ 167 w 454"/>
                <a:gd name="T21" fmla="*/ 5 h 326"/>
                <a:gd name="T22" fmla="*/ 130 w 454"/>
                <a:gd name="T23" fmla="*/ 15 h 326"/>
                <a:gd name="T24" fmla="*/ 96 w 454"/>
                <a:gd name="T25" fmla="*/ 29 h 326"/>
                <a:gd name="T26" fmla="*/ 66 w 454"/>
                <a:gd name="T27" fmla="*/ 47 h 326"/>
                <a:gd name="T28" fmla="*/ 41 w 454"/>
                <a:gd name="T29" fmla="*/ 68 h 326"/>
                <a:gd name="T30" fmla="*/ 21 w 454"/>
                <a:gd name="T31" fmla="*/ 93 h 326"/>
                <a:gd name="T32" fmla="*/ 7 w 454"/>
                <a:gd name="T33" fmla="*/ 120 h 326"/>
                <a:gd name="T34" fmla="*/ 1 w 454"/>
                <a:gd name="T35" fmla="*/ 148 h 326"/>
                <a:gd name="T36" fmla="*/ 1 w 454"/>
                <a:gd name="T37" fmla="*/ 176 h 326"/>
                <a:gd name="T38" fmla="*/ 7 w 454"/>
                <a:gd name="T39" fmla="*/ 204 h 326"/>
                <a:gd name="T40" fmla="*/ 21 w 454"/>
                <a:gd name="T41" fmla="*/ 231 h 326"/>
                <a:gd name="T42" fmla="*/ 41 w 454"/>
                <a:gd name="T43" fmla="*/ 256 h 326"/>
                <a:gd name="T44" fmla="*/ 66 w 454"/>
                <a:gd name="T45" fmla="*/ 277 h 326"/>
                <a:gd name="T46" fmla="*/ 96 w 454"/>
                <a:gd name="T47" fmla="*/ 295 h 326"/>
                <a:gd name="T48" fmla="*/ 130 w 454"/>
                <a:gd name="T49" fmla="*/ 309 h 326"/>
                <a:gd name="T50" fmla="*/ 167 w 454"/>
                <a:gd name="T51" fmla="*/ 319 h 326"/>
                <a:gd name="T52" fmla="*/ 206 w 454"/>
                <a:gd name="T53" fmla="*/ 325 h 326"/>
                <a:gd name="T54" fmla="*/ 246 w 454"/>
                <a:gd name="T55" fmla="*/ 325 h 326"/>
                <a:gd name="T56" fmla="*/ 285 w 454"/>
                <a:gd name="T57" fmla="*/ 319 h 326"/>
                <a:gd name="T58" fmla="*/ 322 w 454"/>
                <a:gd name="T59" fmla="*/ 309 h 326"/>
                <a:gd name="T60" fmla="*/ 356 w 454"/>
                <a:gd name="T61" fmla="*/ 295 h 326"/>
                <a:gd name="T62" fmla="*/ 386 w 454"/>
                <a:gd name="T63" fmla="*/ 277 h 326"/>
                <a:gd name="T64" fmla="*/ 411 w 454"/>
                <a:gd name="T65" fmla="*/ 256 h 326"/>
                <a:gd name="T66" fmla="*/ 431 w 454"/>
                <a:gd name="T67" fmla="*/ 231 h 326"/>
                <a:gd name="T68" fmla="*/ 445 w 454"/>
                <a:gd name="T69" fmla="*/ 204 h 326"/>
                <a:gd name="T70" fmla="*/ 451 w 454"/>
                <a:gd name="T71" fmla="*/ 176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4"/>
                <a:gd name="T109" fmla="*/ 0 h 326"/>
                <a:gd name="T110" fmla="*/ 454 w 454"/>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4" h="326">
                  <a:moveTo>
                    <a:pt x="453" y="162"/>
                  </a:moveTo>
                  <a:lnTo>
                    <a:pt x="451" y="148"/>
                  </a:lnTo>
                  <a:lnTo>
                    <a:pt x="449" y="134"/>
                  </a:lnTo>
                  <a:lnTo>
                    <a:pt x="445" y="120"/>
                  </a:lnTo>
                  <a:lnTo>
                    <a:pt x="439" y="106"/>
                  </a:lnTo>
                  <a:lnTo>
                    <a:pt x="431" y="93"/>
                  </a:lnTo>
                  <a:lnTo>
                    <a:pt x="422" y="81"/>
                  </a:lnTo>
                  <a:lnTo>
                    <a:pt x="411" y="68"/>
                  </a:lnTo>
                  <a:lnTo>
                    <a:pt x="399" y="57"/>
                  </a:lnTo>
                  <a:lnTo>
                    <a:pt x="386" y="47"/>
                  </a:lnTo>
                  <a:lnTo>
                    <a:pt x="372" y="37"/>
                  </a:lnTo>
                  <a:lnTo>
                    <a:pt x="356" y="29"/>
                  </a:lnTo>
                  <a:lnTo>
                    <a:pt x="339" y="21"/>
                  </a:lnTo>
                  <a:lnTo>
                    <a:pt x="322" y="15"/>
                  </a:lnTo>
                  <a:lnTo>
                    <a:pt x="304"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6" y="47"/>
                  </a:lnTo>
                  <a:lnTo>
                    <a:pt x="53" y="57"/>
                  </a:lnTo>
                  <a:lnTo>
                    <a:pt x="41" y="68"/>
                  </a:lnTo>
                  <a:lnTo>
                    <a:pt x="30" y="81"/>
                  </a:lnTo>
                  <a:lnTo>
                    <a:pt x="21" y="93"/>
                  </a:lnTo>
                  <a:lnTo>
                    <a:pt x="13" y="106"/>
                  </a:lnTo>
                  <a:lnTo>
                    <a:pt x="7" y="120"/>
                  </a:lnTo>
                  <a:lnTo>
                    <a:pt x="3" y="134"/>
                  </a:lnTo>
                  <a:lnTo>
                    <a:pt x="1" y="148"/>
                  </a:lnTo>
                  <a:lnTo>
                    <a:pt x="0" y="162"/>
                  </a:lnTo>
                  <a:lnTo>
                    <a:pt x="1" y="176"/>
                  </a:lnTo>
                  <a:lnTo>
                    <a:pt x="3" y="190"/>
                  </a:lnTo>
                  <a:lnTo>
                    <a:pt x="7" y="204"/>
                  </a:lnTo>
                  <a:lnTo>
                    <a:pt x="13" y="218"/>
                  </a:lnTo>
                  <a:lnTo>
                    <a:pt x="21" y="231"/>
                  </a:lnTo>
                  <a:lnTo>
                    <a:pt x="30" y="243"/>
                  </a:lnTo>
                  <a:lnTo>
                    <a:pt x="41" y="256"/>
                  </a:lnTo>
                  <a:lnTo>
                    <a:pt x="53" y="266"/>
                  </a:lnTo>
                  <a:lnTo>
                    <a:pt x="66" y="277"/>
                  </a:lnTo>
                  <a:lnTo>
                    <a:pt x="80" y="287"/>
                  </a:lnTo>
                  <a:lnTo>
                    <a:pt x="96" y="295"/>
                  </a:lnTo>
                  <a:lnTo>
                    <a:pt x="113" y="303"/>
                  </a:lnTo>
                  <a:lnTo>
                    <a:pt x="130" y="309"/>
                  </a:lnTo>
                  <a:lnTo>
                    <a:pt x="148" y="315"/>
                  </a:lnTo>
                  <a:lnTo>
                    <a:pt x="167" y="319"/>
                  </a:lnTo>
                  <a:lnTo>
                    <a:pt x="186" y="322"/>
                  </a:lnTo>
                  <a:lnTo>
                    <a:pt x="206" y="325"/>
                  </a:lnTo>
                  <a:lnTo>
                    <a:pt x="225" y="325"/>
                  </a:lnTo>
                  <a:lnTo>
                    <a:pt x="246" y="325"/>
                  </a:lnTo>
                  <a:lnTo>
                    <a:pt x="265" y="322"/>
                  </a:lnTo>
                  <a:lnTo>
                    <a:pt x="285" y="319"/>
                  </a:lnTo>
                  <a:lnTo>
                    <a:pt x="304" y="315"/>
                  </a:lnTo>
                  <a:lnTo>
                    <a:pt x="322" y="309"/>
                  </a:lnTo>
                  <a:lnTo>
                    <a:pt x="339" y="303"/>
                  </a:lnTo>
                  <a:lnTo>
                    <a:pt x="356" y="295"/>
                  </a:lnTo>
                  <a:lnTo>
                    <a:pt x="372" y="287"/>
                  </a:lnTo>
                  <a:lnTo>
                    <a:pt x="386" y="277"/>
                  </a:lnTo>
                  <a:lnTo>
                    <a:pt x="399" y="266"/>
                  </a:lnTo>
                  <a:lnTo>
                    <a:pt x="411" y="256"/>
                  </a:lnTo>
                  <a:lnTo>
                    <a:pt x="422" y="243"/>
                  </a:lnTo>
                  <a:lnTo>
                    <a:pt x="431" y="231"/>
                  </a:lnTo>
                  <a:lnTo>
                    <a:pt x="439" y="218"/>
                  </a:lnTo>
                  <a:lnTo>
                    <a:pt x="445" y="204"/>
                  </a:lnTo>
                  <a:lnTo>
                    <a:pt x="449" y="190"/>
                  </a:lnTo>
                  <a:lnTo>
                    <a:pt x="451" y="176"/>
                  </a:lnTo>
                  <a:lnTo>
                    <a:pt x="453"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3">
              <a:extLst>
                <a:ext uri="{FF2B5EF4-FFF2-40B4-BE49-F238E27FC236}">
                  <a16:creationId xmlns:a16="http://schemas.microsoft.com/office/drawing/2014/main" id="{A809C841-E38A-4009-F329-06D8A2119A98}"/>
                </a:ext>
              </a:extLst>
            </p:cNvPr>
            <p:cNvSpPr>
              <a:spLocks/>
            </p:cNvSpPr>
            <p:nvPr/>
          </p:nvSpPr>
          <p:spPr bwMode="auto">
            <a:xfrm>
              <a:off x="2943" y="1291"/>
              <a:ext cx="452" cy="326"/>
            </a:xfrm>
            <a:custGeom>
              <a:avLst/>
              <a:gdLst>
                <a:gd name="T0" fmla="*/ 0 w 452"/>
                <a:gd name="T1" fmla="*/ 176 h 326"/>
                <a:gd name="T2" fmla="*/ 7 w 452"/>
                <a:gd name="T3" fmla="*/ 204 h 326"/>
                <a:gd name="T4" fmla="*/ 21 w 452"/>
                <a:gd name="T5" fmla="*/ 231 h 326"/>
                <a:gd name="T6" fmla="*/ 40 w 452"/>
                <a:gd name="T7" fmla="*/ 256 h 326"/>
                <a:gd name="T8" fmla="*/ 65 w 452"/>
                <a:gd name="T9" fmla="*/ 278 h 326"/>
                <a:gd name="T10" fmla="*/ 96 w 452"/>
                <a:gd name="T11" fmla="*/ 295 h 326"/>
                <a:gd name="T12" fmla="*/ 130 w 452"/>
                <a:gd name="T13" fmla="*/ 309 h 326"/>
                <a:gd name="T14" fmla="*/ 167 w 452"/>
                <a:gd name="T15" fmla="*/ 319 h 326"/>
                <a:gd name="T16" fmla="*/ 206 w 452"/>
                <a:gd name="T17" fmla="*/ 325 h 326"/>
                <a:gd name="T18" fmla="*/ 245 w 452"/>
                <a:gd name="T19" fmla="*/ 325 h 326"/>
                <a:gd name="T20" fmla="*/ 283 w 452"/>
                <a:gd name="T21" fmla="*/ 319 h 326"/>
                <a:gd name="T22" fmla="*/ 320 w 452"/>
                <a:gd name="T23" fmla="*/ 309 h 326"/>
                <a:gd name="T24" fmla="*/ 354 w 452"/>
                <a:gd name="T25" fmla="*/ 295 h 326"/>
                <a:gd name="T26" fmla="*/ 385 w 452"/>
                <a:gd name="T27" fmla="*/ 277 h 326"/>
                <a:gd name="T28" fmla="*/ 410 w 452"/>
                <a:gd name="T29" fmla="*/ 254 h 326"/>
                <a:gd name="T30" fmla="*/ 429 w 452"/>
                <a:gd name="T31" fmla="*/ 231 h 326"/>
                <a:gd name="T32" fmla="*/ 443 w 452"/>
                <a:gd name="T33" fmla="*/ 204 h 326"/>
                <a:gd name="T34" fmla="*/ 451 w 452"/>
                <a:gd name="T35" fmla="*/ 176 h 326"/>
                <a:gd name="T36" fmla="*/ 451 w 452"/>
                <a:gd name="T37" fmla="*/ 148 h 326"/>
                <a:gd name="T38" fmla="*/ 443 w 452"/>
                <a:gd name="T39" fmla="*/ 120 h 326"/>
                <a:gd name="T40" fmla="*/ 429 w 452"/>
                <a:gd name="T41" fmla="*/ 93 h 326"/>
                <a:gd name="T42" fmla="*/ 410 w 452"/>
                <a:gd name="T43" fmla="*/ 68 h 326"/>
                <a:gd name="T44" fmla="*/ 385 w 452"/>
                <a:gd name="T45" fmla="*/ 47 h 326"/>
                <a:gd name="T46" fmla="*/ 354 w 452"/>
                <a:gd name="T47" fmla="*/ 29 h 326"/>
                <a:gd name="T48" fmla="*/ 320 w 452"/>
                <a:gd name="T49" fmla="*/ 15 h 326"/>
                <a:gd name="T50" fmla="*/ 283 w 452"/>
                <a:gd name="T51" fmla="*/ 5 h 326"/>
                <a:gd name="T52" fmla="*/ 245 w 452"/>
                <a:gd name="T53" fmla="*/ 0 h 326"/>
                <a:gd name="T54" fmla="*/ 206 w 452"/>
                <a:gd name="T55" fmla="*/ 0 h 326"/>
                <a:gd name="T56" fmla="*/ 167 w 452"/>
                <a:gd name="T57" fmla="*/ 5 h 326"/>
                <a:gd name="T58" fmla="*/ 130 w 452"/>
                <a:gd name="T59" fmla="*/ 15 h 326"/>
                <a:gd name="T60" fmla="*/ 96 w 452"/>
                <a:gd name="T61" fmla="*/ 29 h 326"/>
                <a:gd name="T62" fmla="*/ 65 w 452"/>
                <a:gd name="T63" fmla="*/ 47 h 326"/>
                <a:gd name="T64" fmla="*/ 40 w 452"/>
                <a:gd name="T65" fmla="*/ 68 h 326"/>
                <a:gd name="T66" fmla="*/ 21 w 452"/>
                <a:gd name="T67" fmla="*/ 93 h 326"/>
                <a:gd name="T68" fmla="*/ 7 w 452"/>
                <a:gd name="T69" fmla="*/ 120 h 326"/>
                <a:gd name="T70" fmla="*/ 0 w 452"/>
                <a:gd name="T71" fmla="*/ 148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2"/>
                <a:gd name="T109" fmla="*/ 0 h 326"/>
                <a:gd name="T110" fmla="*/ 452 w 452"/>
                <a:gd name="T111" fmla="*/ 326 h 32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2" h="326">
                  <a:moveTo>
                    <a:pt x="0" y="162"/>
                  </a:moveTo>
                  <a:lnTo>
                    <a:pt x="0" y="176"/>
                  </a:lnTo>
                  <a:lnTo>
                    <a:pt x="3" y="190"/>
                  </a:lnTo>
                  <a:lnTo>
                    <a:pt x="7" y="204"/>
                  </a:lnTo>
                  <a:lnTo>
                    <a:pt x="13" y="218"/>
                  </a:lnTo>
                  <a:lnTo>
                    <a:pt x="21" y="231"/>
                  </a:lnTo>
                  <a:lnTo>
                    <a:pt x="29" y="243"/>
                  </a:lnTo>
                  <a:lnTo>
                    <a:pt x="40" y="256"/>
                  </a:lnTo>
                  <a:lnTo>
                    <a:pt x="52" y="267"/>
                  </a:lnTo>
                  <a:lnTo>
                    <a:pt x="65" y="278"/>
                  </a:lnTo>
                  <a:lnTo>
                    <a:pt x="80" y="287"/>
                  </a:lnTo>
                  <a:lnTo>
                    <a:pt x="96" y="295"/>
                  </a:lnTo>
                  <a:lnTo>
                    <a:pt x="112" y="303"/>
                  </a:lnTo>
                  <a:lnTo>
                    <a:pt x="130" y="309"/>
                  </a:lnTo>
                  <a:lnTo>
                    <a:pt x="148" y="315"/>
                  </a:lnTo>
                  <a:lnTo>
                    <a:pt x="167" y="319"/>
                  </a:lnTo>
                  <a:lnTo>
                    <a:pt x="186" y="322"/>
                  </a:lnTo>
                  <a:lnTo>
                    <a:pt x="206" y="325"/>
                  </a:lnTo>
                  <a:lnTo>
                    <a:pt x="225" y="325"/>
                  </a:lnTo>
                  <a:lnTo>
                    <a:pt x="245" y="325"/>
                  </a:lnTo>
                  <a:lnTo>
                    <a:pt x="264" y="322"/>
                  </a:lnTo>
                  <a:lnTo>
                    <a:pt x="283" y="319"/>
                  </a:lnTo>
                  <a:lnTo>
                    <a:pt x="302" y="315"/>
                  </a:lnTo>
                  <a:lnTo>
                    <a:pt x="320" y="309"/>
                  </a:lnTo>
                  <a:lnTo>
                    <a:pt x="338" y="303"/>
                  </a:lnTo>
                  <a:lnTo>
                    <a:pt x="354" y="295"/>
                  </a:lnTo>
                  <a:lnTo>
                    <a:pt x="370" y="287"/>
                  </a:lnTo>
                  <a:lnTo>
                    <a:pt x="385" y="277"/>
                  </a:lnTo>
                  <a:lnTo>
                    <a:pt x="398" y="266"/>
                  </a:lnTo>
                  <a:lnTo>
                    <a:pt x="410" y="254"/>
                  </a:lnTo>
                  <a:lnTo>
                    <a:pt x="421" y="243"/>
                  </a:lnTo>
                  <a:lnTo>
                    <a:pt x="429" y="231"/>
                  </a:lnTo>
                  <a:lnTo>
                    <a:pt x="437" y="217"/>
                  </a:lnTo>
                  <a:lnTo>
                    <a:pt x="443" y="204"/>
                  </a:lnTo>
                  <a:lnTo>
                    <a:pt x="447" y="190"/>
                  </a:lnTo>
                  <a:lnTo>
                    <a:pt x="451" y="176"/>
                  </a:lnTo>
                  <a:lnTo>
                    <a:pt x="451" y="162"/>
                  </a:lnTo>
                  <a:lnTo>
                    <a:pt x="451" y="148"/>
                  </a:lnTo>
                  <a:lnTo>
                    <a:pt x="447" y="134"/>
                  </a:lnTo>
                  <a:lnTo>
                    <a:pt x="443" y="120"/>
                  </a:lnTo>
                  <a:lnTo>
                    <a:pt x="437" y="106"/>
                  </a:lnTo>
                  <a:lnTo>
                    <a:pt x="429" y="93"/>
                  </a:lnTo>
                  <a:lnTo>
                    <a:pt x="421" y="81"/>
                  </a:lnTo>
                  <a:lnTo>
                    <a:pt x="410" y="68"/>
                  </a:lnTo>
                  <a:lnTo>
                    <a:pt x="398" y="57"/>
                  </a:lnTo>
                  <a:lnTo>
                    <a:pt x="385" y="47"/>
                  </a:lnTo>
                  <a:lnTo>
                    <a:pt x="370" y="37"/>
                  </a:lnTo>
                  <a:lnTo>
                    <a:pt x="354" y="29"/>
                  </a:lnTo>
                  <a:lnTo>
                    <a:pt x="338" y="21"/>
                  </a:lnTo>
                  <a:lnTo>
                    <a:pt x="320" y="15"/>
                  </a:lnTo>
                  <a:lnTo>
                    <a:pt x="302" y="9"/>
                  </a:lnTo>
                  <a:lnTo>
                    <a:pt x="283" y="5"/>
                  </a:lnTo>
                  <a:lnTo>
                    <a:pt x="264" y="1"/>
                  </a:lnTo>
                  <a:lnTo>
                    <a:pt x="245" y="0"/>
                  </a:lnTo>
                  <a:lnTo>
                    <a:pt x="225" y="0"/>
                  </a:lnTo>
                  <a:lnTo>
                    <a:pt x="206" y="0"/>
                  </a:lnTo>
                  <a:lnTo>
                    <a:pt x="186" y="1"/>
                  </a:lnTo>
                  <a:lnTo>
                    <a:pt x="167" y="5"/>
                  </a:lnTo>
                  <a:lnTo>
                    <a:pt x="148" y="9"/>
                  </a:lnTo>
                  <a:lnTo>
                    <a:pt x="130" y="15"/>
                  </a:lnTo>
                  <a:lnTo>
                    <a:pt x="112" y="21"/>
                  </a:lnTo>
                  <a:lnTo>
                    <a:pt x="96" y="29"/>
                  </a:lnTo>
                  <a:lnTo>
                    <a:pt x="80" y="37"/>
                  </a:lnTo>
                  <a:lnTo>
                    <a:pt x="65" y="47"/>
                  </a:lnTo>
                  <a:lnTo>
                    <a:pt x="52" y="57"/>
                  </a:lnTo>
                  <a:lnTo>
                    <a:pt x="40" y="68"/>
                  </a:lnTo>
                  <a:lnTo>
                    <a:pt x="29" y="81"/>
                  </a:lnTo>
                  <a:lnTo>
                    <a:pt x="21" y="93"/>
                  </a:lnTo>
                  <a:lnTo>
                    <a:pt x="13" y="106"/>
                  </a:lnTo>
                  <a:lnTo>
                    <a:pt x="7" y="120"/>
                  </a:lnTo>
                  <a:lnTo>
                    <a:pt x="3" y="134"/>
                  </a:lnTo>
                  <a:lnTo>
                    <a:pt x="0" y="148"/>
                  </a:lnTo>
                  <a:lnTo>
                    <a:pt x="0" y="16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Rectangle 24">
              <a:extLst>
                <a:ext uri="{FF2B5EF4-FFF2-40B4-BE49-F238E27FC236}">
                  <a16:creationId xmlns:a16="http://schemas.microsoft.com/office/drawing/2014/main" id="{6211F131-CEBB-16B3-5A59-1D808E7DBB2E}"/>
                </a:ext>
              </a:extLst>
            </p:cNvPr>
            <p:cNvSpPr>
              <a:spLocks noChangeArrowheads="1"/>
            </p:cNvSpPr>
            <p:nvPr/>
          </p:nvSpPr>
          <p:spPr bwMode="auto">
            <a:xfrm>
              <a:off x="3021" y="135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60" name="Rectangle 25">
              <a:extLst>
                <a:ext uri="{FF2B5EF4-FFF2-40B4-BE49-F238E27FC236}">
                  <a16:creationId xmlns:a16="http://schemas.microsoft.com/office/drawing/2014/main" id="{15CC44D5-31EB-585E-1D19-3563DB1A1846}"/>
                </a:ext>
              </a:extLst>
            </p:cNvPr>
            <p:cNvSpPr>
              <a:spLocks noChangeArrowheads="1"/>
            </p:cNvSpPr>
            <p:nvPr/>
          </p:nvSpPr>
          <p:spPr bwMode="auto">
            <a:xfrm>
              <a:off x="2515" y="1093"/>
              <a:ext cx="44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61" name="Rectangle 26">
              <a:extLst>
                <a:ext uri="{FF2B5EF4-FFF2-40B4-BE49-F238E27FC236}">
                  <a16:creationId xmlns:a16="http://schemas.microsoft.com/office/drawing/2014/main" id="{78315C7B-7886-B1EB-F43E-47069D3D6C91}"/>
                </a:ext>
              </a:extLst>
            </p:cNvPr>
            <p:cNvSpPr>
              <a:spLocks noChangeArrowheads="1"/>
            </p:cNvSpPr>
            <p:nvPr/>
          </p:nvSpPr>
          <p:spPr bwMode="auto">
            <a:xfrm>
              <a:off x="2166" y="1346"/>
              <a:ext cx="33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ssn</a:t>
              </a:r>
            </a:p>
          </p:txBody>
        </p:sp>
      </p:grpSp>
      <p:grpSp>
        <p:nvGrpSpPr>
          <p:cNvPr id="62" name="Group 27">
            <a:extLst>
              <a:ext uri="{FF2B5EF4-FFF2-40B4-BE49-F238E27FC236}">
                <a16:creationId xmlns:a16="http://schemas.microsoft.com/office/drawing/2014/main" id="{8F836B17-8EE7-0AEA-7369-EF87287AF122}"/>
              </a:ext>
            </a:extLst>
          </p:cNvPr>
          <p:cNvGrpSpPr>
            <a:grpSpLocks/>
          </p:cNvGrpSpPr>
          <p:nvPr/>
        </p:nvGrpSpPr>
        <p:grpSpPr bwMode="auto">
          <a:xfrm>
            <a:off x="3996415" y="2051050"/>
            <a:ext cx="1220787" cy="920750"/>
            <a:chOff x="3497" y="1648"/>
            <a:chExt cx="769" cy="580"/>
          </a:xfrm>
        </p:grpSpPr>
        <p:sp>
          <p:nvSpPr>
            <p:cNvPr id="63" name="Rectangle 28">
              <a:extLst>
                <a:ext uri="{FF2B5EF4-FFF2-40B4-BE49-F238E27FC236}">
                  <a16:creationId xmlns:a16="http://schemas.microsoft.com/office/drawing/2014/main" id="{D83D1539-FFD9-AE24-8D8B-5B410BF1E573}"/>
                </a:ext>
              </a:extLst>
            </p:cNvPr>
            <p:cNvSpPr>
              <a:spLocks noChangeArrowheads="1"/>
            </p:cNvSpPr>
            <p:nvPr/>
          </p:nvSpPr>
          <p:spPr bwMode="auto">
            <a:xfrm>
              <a:off x="3549" y="1837"/>
              <a:ext cx="69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Manages</a:t>
              </a:r>
            </a:p>
          </p:txBody>
        </p:sp>
        <p:sp>
          <p:nvSpPr>
            <p:cNvPr id="64" name="Freeform 29">
              <a:extLst>
                <a:ext uri="{FF2B5EF4-FFF2-40B4-BE49-F238E27FC236}">
                  <a16:creationId xmlns:a16="http://schemas.microsoft.com/office/drawing/2014/main" id="{D3164B81-D73D-6E8D-3736-E636108B45A9}"/>
                </a:ext>
              </a:extLst>
            </p:cNvPr>
            <p:cNvSpPr>
              <a:spLocks/>
            </p:cNvSpPr>
            <p:nvPr/>
          </p:nvSpPr>
          <p:spPr bwMode="auto">
            <a:xfrm>
              <a:off x="3497" y="1648"/>
              <a:ext cx="769" cy="580"/>
            </a:xfrm>
            <a:custGeom>
              <a:avLst/>
              <a:gdLst>
                <a:gd name="T0" fmla="*/ 0 w 769"/>
                <a:gd name="T1" fmla="*/ 290 h 580"/>
                <a:gd name="T2" fmla="*/ 378 w 769"/>
                <a:gd name="T3" fmla="*/ 0 h 580"/>
                <a:gd name="T4" fmla="*/ 768 w 769"/>
                <a:gd name="T5" fmla="*/ 300 h 580"/>
                <a:gd name="T6" fmla="*/ 378 w 769"/>
                <a:gd name="T7" fmla="*/ 579 h 580"/>
                <a:gd name="T8" fmla="*/ 0 w 769"/>
                <a:gd name="T9" fmla="*/ 290 h 580"/>
                <a:gd name="T10" fmla="*/ 0 60000 65536"/>
                <a:gd name="T11" fmla="*/ 0 60000 65536"/>
                <a:gd name="T12" fmla="*/ 0 60000 65536"/>
                <a:gd name="T13" fmla="*/ 0 60000 65536"/>
                <a:gd name="T14" fmla="*/ 0 60000 65536"/>
                <a:gd name="T15" fmla="*/ 0 w 769"/>
                <a:gd name="T16" fmla="*/ 0 h 580"/>
                <a:gd name="T17" fmla="*/ 769 w 769"/>
                <a:gd name="T18" fmla="*/ 580 h 580"/>
              </a:gdLst>
              <a:ahLst/>
              <a:cxnLst>
                <a:cxn ang="T10">
                  <a:pos x="T0" y="T1"/>
                </a:cxn>
                <a:cxn ang="T11">
                  <a:pos x="T2" y="T3"/>
                </a:cxn>
                <a:cxn ang="T12">
                  <a:pos x="T4" y="T5"/>
                </a:cxn>
                <a:cxn ang="T13">
                  <a:pos x="T6" y="T7"/>
                </a:cxn>
                <a:cxn ang="T14">
                  <a:pos x="T8" y="T9"/>
                </a:cxn>
              </a:cxnLst>
              <a:rect l="T15" t="T16" r="T17" b="T18"/>
              <a:pathLst>
                <a:path w="769" h="580">
                  <a:moveTo>
                    <a:pt x="0" y="290"/>
                  </a:moveTo>
                  <a:lnTo>
                    <a:pt x="378" y="0"/>
                  </a:lnTo>
                  <a:lnTo>
                    <a:pt x="768" y="300"/>
                  </a:lnTo>
                  <a:lnTo>
                    <a:pt x="378" y="579"/>
                  </a:lnTo>
                  <a:lnTo>
                    <a:pt x="0" y="29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5" name="Freeform 30">
            <a:extLst>
              <a:ext uri="{FF2B5EF4-FFF2-40B4-BE49-F238E27FC236}">
                <a16:creationId xmlns:a16="http://schemas.microsoft.com/office/drawing/2014/main" id="{C742DB62-F132-AC82-83EB-A30933B4014F}"/>
              </a:ext>
            </a:extLst>
          </p:cNvPr>
          <p:cNvSpPr>
            <a:spLocks/>
          </p:cNvSpPr>
          <p:nvPr/>
        </p:nvSpPr>
        <p:spPr bwMode="auto">
          <a:xfrm>
            <a:off x="5761098" y="2287971"/>
            <a:ext cx="1295400" cy="479425"/>
          </a:xfrm>
          <a:custGeom>
            <a:avLst/>
            <a:gdLst>
              <a:gd name="T0" fmla="*/ 1293813 w 816"/>
              <a:gd name="T1" fmla="*/ 477838 h 302"/>
              <a:gd name="T2" fmla="*/ 1293813 w 816"/>
              <a:gd name="T3" fmla="*/ 0 h 302"/>
              <a:gd name="T4" fmla="*/ 0 w 816"/>
              <a:gd name="T5" fmla="*/ 0 h 302"/>
              <a:gd name="T6" fmla="*/ 0 w 816"/>
              <a:gd name="T7" fmla="*/ 477838 h 302"/>
              <a:gd name="T8" fmla="*/ 1293813 w 816"/>
              <a:gd name="T9" fmla="*/ 477838 h 302"/>
              <a:gd name="T10" fmla="*/ 0 60000 65536"/>
              <a:gd name="T11" fmla="*/ 0 60000 65536"/>
              <a:gd name="T12" fmla="*/ 0 60000 65536"/>
              <a:gd name="T13" fmla="*/ 0 60000 65536"/>
              <a:gd name="T14" fmla="*/ 0 60000 65536"/>
              <a:gd name="T15" fmla="*/ 0 w 816"/>
              <a:gd name="T16" fmla="*/ 0 h 302"/>
              <a:gd name="T17" fmla="*/ 816 w 816"/>
              <a:gd name="T18" fmla="*/ 302 h 302"/>
            </a:gdLst>
            <a:ahLst/>
            <a:cxnLst>
              <a:cxn ang="T10">
                <a:pos x="T0" y="T1"/>
              </a:cxn>
              <a:cxn ang="T11">
                <a:pos x="T2" y="T3"/>
              </a:cxn>
              <a:cxn ang="T12">
                <a:pos x="T4" y="T5"/>
              </a:cxn>
              <a:cxn ang="T13">
                <a:pos x="T6" y="T7"/>
              </a:cxn>
              <a:cxn ang="T14">
                <a:pos x="T8" y="T9"/>
              </a:cxn>
            </a:cxnLst>
            <a:rect l="T15" t="T16" r="T17" b="T18"/>
            <a:pathLst>
              <a:path w="816" h="302">
                <a:moveTo>
                  <a:pt x="815" y="301"/>
                </a:moveTo>
                <a:lnTo>
                  <a:pt x="815" y="0"/>
                </a:lnTo>
                <a:lnTo>
                  <a:pt x="0" y="0"/>
                </a:lnTo>
                <a:lnTo>
                  <a:pt x="0" y="301"/>
                </a:lnTo>
                <a:lnTo>
                  <a:pt x="815" y="30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6" name="Group 31">
            <a:extLst>
              <a:ext uri="{FF2B5EF4-FFF2-40B4-BE49-F238E27FC236}">
                <a16:creationId xmlns:a16="http://schemas.microsoft.com/office/drawing/2014/main" id="{0429F44D-302F-E948-15C0-FF37ABD49788}"/>
              </a:ext>
            </a:extLst>
          </p:cNvPr>
          <p:cNvGrpSpPr>
            <a:grpSpLocks/>
          </p:cNvGrpSpPr>
          <p:nvPr/>
        </p:nvGrpSpPr>
        <p:grpSpPr bwMode="auto">
          <a:xfrm>
            <a:off x="2163763" y="2272096"/>
            <a:ext cx="1292225" cy="468312"/>
            <a:chOff x="2369" y="1818"/>
            <a:chExt cx="814" cy="295"/>
          </a:xfrm>
        </p:grpSpPr>
        <p:sp>
          <p:nvSpPr>
            <p:cNvPr id="67" name="Freeform 32">
              <a:extLst>
                <a:ext uri="{FF2B5EF4-FFF2-40B4-BE49-F238E27FC236}">
                  <a16:creationId xmlns:a16="http://schemas.microsoft.com/office/drawing/2014/main" id="{CF2E0F2E-F451-2510-07F1-D11CD501B190}"/>
                </a:ext>
              </a:extLst>
            </p:cNvPr>
            <p:cNvSpPr>
              <a:spLocks/>
            </p:cNvSpPr>
            <p:nvPr/>
          </p:nvSpPr>
          <p:spPr bwMode="auto">
            <a:xfrm>
              <a:off x="2369" y="1818"/>
              <a:ext cx="814" cy="295"/>
            </a:xfrm>
            <a:custGeom>
              <a:avLst/>
              <a:gdLst>
                <a:gd name="T0" fmla="*/ 813 w 814"/>
                <a:gd name="T1" fmla="*/ 294 h 295"/>
                <a:gd name="T2" fmla="*/ 813 w 814"/>
                <a:gd name="T3" fmla="*/ 0 h 295"/>
                <a:gd name="T4" fmla="*/ 0 w 814"/>
                <a:gd name="T5" fmla="*/ 0 h 295"/>
                <a:gd name="T6" fmla="*/ 0 w 814"/>
                <a:gd name="T7" fmla="*/ 294 h 295"/>
                <a:gd name="T8" fmla="*/ 813 w 814"/>
                <a:gd name="T9" fmla="*/ 294 h 295"/>
                <a:gd name="T10" fmla="*/ 0 60000 65536"/>
                <a:gd name="T11" fmla="*/ 0 60000 65536"/>
                <a:gd name="T12" fmla="*/ 0 60000 65536"/>
                <a:gd name="T13" fmla="*/ 0 60000 65536"/>
                <a:gd name="T14" fmla="*/ 0 60000 65536"/>
                <a:gd name="T15" fmla="*/ 0 w 814"/>
                <a:gd name="T16" fmla="*/ 0 h 295"/>
                <a:gd name="T17" fmla="*/ 814 w 814"/>
                <a:gd name="T18" fmla="*/ 295 h 295"/>
              </a:gdLst>
              <a:ahLst/>
              <a:cxnLst>
                <a:cxn ang="T10">
                  <a:pos x="T0" y="T1"/>
                </a:cxn>
                <a:cxn ang="T11">
                  <a:pos x="T2" y="T3"/>
                </a:cxn>
                <a:cxn ang="T12">
                  <a:pos x="T4" y="T5"/>
                </a:cxn>
                <a:cxn ang="T13">
                  <a:pos x="T6" y="T7"/>
                </a:cxn>
                <a:cxn ang="T14">
                  <a:pos x="T8" y="T9"/>
                </a:cxn>
              </a:cxnLst>
              <a:rect l="T15" t="T16" r="T17" b="T18"/>
              <a:pathLst>
                <a:path w="814" h="295">
                  <a:moveTo>
                    <a:pt x="813" y="294"/>
                  </a:moveTo>
                  <a:lnTo>
                    <a:pt x="813" y="0"/>
                  </a:lnTo>
                  <a:lnTo>
                    <a:pt x="0" y="0"/>
                  </a:lnTo>
                  <a:lnTo>
                    <a:pt x="0" y="294"/>
                  </a:lnTo>
                  <a:lnTo>
                    <a:pt x="813" y="294"/>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 name="Rectangle 33">
              <a:extLst>
                <a:ext uri="{FF2B5EF4-FFF2-40B4-BE49-F238E27FC236}">
                  <a16:creationId xmlns:a16="http://schemas.microsoft.com/office/drawing/2014/main" id="{38A42AAE-373C-5838-9748-9C7AE1AD6526}"/>
                </a:ext>
              </a:extLst>
            </p:cNvPr>
            <p:cNvSpPr>
              <a:spLocks noChangeArrowheads="1"/>
            </p:cNvSpPr>
            <p:nvPr/>
          </p:nvSpPr>
          <p:spPr bwMode="auto">
            <a:xfrm>
              <a:off x="2381" y="1862"/>
              <a:ext cx="78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dirty="0">
                  <a:solidFill>
                    <a:srgbClr val="000000"/>
                  </a:solidFill>
                  <a:latin typeface="Arial" pitchFamily="34" charset="0"/>
                </a:rPr>
                <a:t>Employees</a:t>
              </a:r>
            </a:p>
          </p:txBody>
        </p:sp>
      </p:grpSp>
      <p:sp>
        <p:nvSpPr>
          <p:cNvPr id="69" name="Rectangle 34">
            <a:extLst>
              <a:ext uri="{FF2B5EF4-FFF2-40B4-BE49-F238E27FC236}">
                <a16:creationId xmlns:a16="http://schemas.microsoft.com/office/drawing/2014/main" id="{52327384-756E-5F4B-0396-32B62E35EB03}"/>
              </a:ext>
            </a:extLst>
          </p:cNvPr>
          <p:cNvSpPr>
            <a:spLocks noChangeArrowheads="1"/>
          </p:cNvSpPr>
          <p:nvPr/>
        </p:nvSpPr>
        <p:spPr bwMode="auto">
          <a:xfrm>
            <a:off x="5680135" y="2357821"/>
            <a:ext cx="1422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Departments</a:t>
            </a:r>
          </a:p>
        </p:txBody>
      </p:sp>
      <p:sp>
        <p:nvSpPr>
          <p:cNvPr id="70" name="Line 35">
            <a:extLst>
              <a:ext uri="{FF2B5EF4-FFF2-40B4-BE49-F238E27FC236}">
                <a16:creationId xmlns:a16="http://schemas.microsoft.com/office/drawing/2014/main" id="{E400365E-CCB3-25D3-6088-0B21B8E37733}"/>
              </a:ext>
            </a:extLst>
          </p:cNvPr>
          <p:cNvSpPr>
            <a:spLocks noChangeShapeType="1"/>
          </p:cNvSpPr>
          <p:nvPr/>
        </p:nvSpPr>
        <p:spPr bwMode="auto">
          <a:xfrm flipH="1">
            <a:off x="3456665" y="2508250"/>
            <a:ext cx="54610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 name="Line 36">
            <a:extLst>
              <a:ext uri="{FF2B5EF4-FFF2-40B4-BE49-F238E27FC236}">
                <a16:creationId xmlns:a16="http://schemas.microsoft.com/office/drawing/2014/main" id="{A741B3EA-E172-785D-34C8-4318CC7CFE2E}"/>
              </a:ext>
            </a:extLst>
          </p:cNvPr>
          <p:cNvSpPr>
            <a:spLocks noChangeShapeType="1"/>
          </p:cNvSpPr>
          <p:nvPr/>
        </p:nvSpPr>
        <p:spPr bwMode="auto">
          <a:xfrm>
            <a:off x="5221965" y="2526006"/>
            <a:ext cx="520700" cy="0"/>
          </a:xfrm>
          <a:prstGeom prst="line">
            <a:avLst/>
          </a:prstGeom>
          <a:noFill/>
          <a:ln w="19050">
            <a:solidFill>
              <a:srgbClr val="FF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37">
            <a:extLst>
              <a:ext uri="{FF2B5EF4-FFF2-40B4-BE49-F238E27FC236}">
                <a16:creationId xmlns:a16="http://schemas.microsoft.com/office/drawing/2014/main" id="{202A1A17-7DC0-EAF5-ACC1-4387A72A75BF}"/>
              </a:ext>
            </a:extLst>
          </p:cNvPr>
          <p:cNvSpPr>
            <a:spLocks noChangeShapeType="1"/>
          </p:cNvSpPr>
          <p:nvPr/>
        </p:nvSpPr>
        <p:spPr bwMode="auto">
          <a:xfrm flipH="1">
            <a:off x="3170487" y="1955242"/>
            <a:ext cx="241300" cy="292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 name="Line 38">
            <a:extLst>
              <a:ext uri="{FF2B5EF4-FFF2-40B4-BE49-F238E27FC236}">
                <a16:creationId xmlns:a16="http://schemas.microsoft.com/office/drawing/2014/main" id="{5C4E07FD-B617-ED63-188D-2A790B94FAA2}"/>
              </a:ext>
            </a:extLst>
          </p:cNvPr>
          <p:cNvSpPr>
            <a:spLocks noChangeShapeType="1"/>
          </p:cNvSpPr>
          <p:nvPr/>
        </p:nvSpPr>
        <p:spPr bwMode="auto">
          <a:xfrm>
            <a:off x="2735262" y="1551370"/>
            <a:ext cx="6965" cy="7207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4" name="Line 39">
            <a:extLst>
              <a:ext uri="{FF2B5EF4-FFF2-40B4-BE49-F238E27FC236}">
                <a16:creationId xmlns:a16="http://schemas.microsoft.com/office/drawing/2014/main" id="{2604F516-C69D-3CB6-279C-E510A009FD13}"/>
              </a:ext>
            </a:extLst>
          </p:cNvPr>
          <p:cNvSpPr>
            <a:spLocks noChangeShapeType="1"/>
          </p:cNvSpPr>
          <p:nvPr/>
        </p:nvSpPr>
        <p:spPr bwMode="auto">
          <a:xfrm>
            <a:off x="2208212" y="1932370"/>
            <a:ext cx="224705" cy="31497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 name="Line 40">
            <a:extLst>
              <a:ext uri="{FF2B5EF4-FFF2-40B4-BE49-F238E27FC236}">
                <a16:creationId xmlns:a16="http://schemas.microsoft.com/office/drawing/2014/main" id="{6F904785-A673-044A-C144-7DAF7377BDF0}"/>
              </a:ext>
            </a:extLst>
          </p:cNvPr>
          <p:cNvSpPr>
            <a:spLocks noChangeShapeType="1"/>
          </p:cNvSpPr>
          <p:nvPr/>
        </p:nvSpPr>
        <p:spPr bwMode="auto">
          <a:xfrm>
            <a:off x="4606015" y="1371600"/>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6" name="Line 41">
            <a:extLst>
              <a:ext uri="{FF2B5EF4-FFF2-40B4-BE49-F238E27FC236}">
                <a16:creationId xmlns:a16="http://schemas.microsoft.com/office/drawing/2014/main" id="{0B50054E-0D86-669E-02EA-40EFDA737AF2}"/>
              </a:ext>
            </a:extLst>
          </p:cNvPr>
          <p:cNvSpPr>
            <a:spLocks noChangeShapeType="1"/>
          </p:cNvSpPr>
          <p:nvPr/>
        </p:nvSpPr>
        <p:spPr bwMode="auto">
          <a:xfrm>
            <a:off x="5818248" y="1932371"/>
            <a:ext cx="2159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 name="Line 42">
            <a:extLst>
              <a:ext uri="{FF2B5EF4-FFF2-40B4-BE49-F238E27FC236}">
                <a16:creationId xmlns:a16="http://schemas.microsoft.com/office/drawing/2014/main" id="{0E458B75-D42D-FD90-0CA4-C6A59EB6830D}"/>
              </a:ext>
            </a:extLst>
          </p:cNvPr>
          <p:cNvSpPr>
            <a:spLocks noChangeShapeType="1"/>
          </p:cNvSpPr>
          <p:nvPr/>
        </p:nvSpPr>
        <p:spPr bwMode="auto">
          <a:xfrm>
            <a:off x="6345298" y="1627571"/>
            <a:ext cx="0" cy="673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8" name="Line 43">
            <a:extLst>
              <a:ext uri="{FF2B5EF4-FFF2-40B4-BE49-F238E27FC236}">
                <a16:creationId xmlns:a16="http://schemas.microsoft.com/office/drawing/2014/main" id="{DD0A8275-6E1D-F1FC-A839-834495FE5340}"/>
              </a:ext>
            </a:extLst>
          </p:cNvPr>
          <p:cNvSpPr>
            <a:spLocks noChangeShapeType="1"/>
          </p:cNvSpPr>
          <p:nvPr/>
        </p:nvSpPr>
        <p:spPr bwMode="auto">
          <a:xfrm flipH="1">
            <a:off x="6719948" y="1932371"/>
            <a:ext cx="165100" cy="3683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 name="Rectangle 2">
            <a:extLst>
              <a:ext uri="{FF2B5EF4-FFF2-40B4-BE49-F238E27FC236}">
                <a16:creationId xmlns:a16="http://schemas.microsoft.com/office/drawing/2014/main" id="{B5B5DB8C-E408-9E52-C49D-062AAC0F18F4}"/>
              </a:ext>
            </a:extLst>
          </p:cNvPr>
          <p:cNvSpPr>
            <a:spLocks noChangeArrowheads="1"/>
          </p:cNvSpPr>
          <p:nvPr/>
        </p:nvSpPr>
        <p:spPr bwMode="auto">
          <a:xfrm>
            <a:off x="679501" y="588482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Rectangle 3">
            <a:extLst>
              <a:ext uri="{FF2B5EF4-FFF2-40B4-BE49-F238E27FC236}">
                <a16:creationId xmlns:a16="http://schemas.microsoft.com/office/drawing/2014/main" id="{CFB4982C-1479-C0EF-2EC1-B22C4DCAB561}"/>
              </a:ext>
            </a:extLst>
          </p:cNvPr>
          <p:cNvSpPr>
            <a:spLocks noChangeArrowheads="1"/>
          </p:cNvSpPr>
          <p:nvPr/>
        </p:nvSpPr>
        <p:spPr bwMode="auto">
          <a:xfrm>
            <a:off x="3117901" y="5884823"/>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6">
            <a:extLst>
              <a:ext uri="{FF2B5EF4-FFF2-40B4-BE49-F238E27FC236}">
                <a16:creationId xmlns:a16="http://schemas.microsoft.com/office/drawing/2014/main" id="{FBFB818D-990E-5BF9-C389-A32C381BD4B6}"/>
              </a:ext>
            </a:extLst>
          </p:cNvPr>
          <p:cNvSpPr>
            <a:spLocks noChangeArrowheads="1"/>
          </p:cNvSpPr>
          <p:nvPr/>
        </p:nvSpPr>
        <p:spPr bwMode="auto">
          <a:xfrm>
            <a:off x="2590800" y="3138209"/>
            <a:ext cx="4958090" cy="2582758"/>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p>
            <a:r>
              <a:rPr lang="en-US" dirty="0">
                <a:solidFill>
                  <a:schemeClr val="tx1"/>
                </a:solidFill>
                <a:latin typeface="Lucida Console" pitchFamily="49" charset="0"/>
              </a:rPr>
              <a:t>CREATE TABLE  </a:t>
            </a:r>
            <a:r>
              <a:rPr lang="en-US" dirty="0" err="1">
                <a:solidFill>
                  <a:schemeClr val="tx1"/>
                </a:solidFill>
                <a:latin typeface="Lucida Console" pitchFamily="49" charset="0"/>
              </a:rPr>
              <a:t>Dept_Mgr</a:t>
            </a:r>
            <a:r>
              <a:rPr lang="en-US" dirty="0">
                <a:solidFill>
                  <a:schemeClr val="tx1"/>
                </a:solidFill>
                <a:latin typeface="Lucida Console" pitchFamily="49" charset="0"/>
              </a:rPr>
              <a:t>(</a:t>
            </a:r>
          </a:p>
          <a:p>
            <a:r>
              <a:rPr lang="en-US" dirty="0">
                <a:solidFill>
                  <a:schemeClr val="tx1"/>
                </a:solidFill>
                <a:latin typeface="Lucida Console" pitchFamily="49" charset="0"/>
              </a:rPr>
              <a:t> 	</a:t>
            </a:r>
            <a:r>
              <a:rPr lang="en-US" dirty="0" err="1">
                <a:solidFill>
                  <a:schemeClr val="folHlink"/>
                </a:solidFill>
                <a:latin typeface="Lucida Console" pitchFamily="49" charset="0"/>
              </a:rPr>
              <a:t>ssn</a:t>
            </a:r>
            <a:r>
              <a:rPr lang="en-US" dirty="0">
                <a:solidFill>
                  <a:schemeClr val="folHlink"/>
                </a:solidFill>
                <a:latin typeface="Lucida Console" pitchFamily="49" charset="0"/>
              </a:rPr>
              <a:t>    CHAR(11),</a:t>
            </a:r>
            <a:r>
              <a:rPr lang="en-US" dirty="0">
                <a:solidFill>
                  <a:schemeClr val="tx1"/>
                </a:solidFill>
                <a:latin typeface="Lucida Console" pitchFamily="49" charset="0"/>
              </a:rPr>
              <a:t> </a:t>
            </a:r>
          </a:p>
          <a:p>
            <a:r>
              <a:rPr lang="en-US" dirty="0">
                <a:solidFill>
                  <a:schemeClr val="tx1"/>
                </a:solidFill>
                <a:latin typeface="Lucida Console" pitchFamily="49" charset="0"/>
              </a:rPr>
              <a:t> 	</a:t>
            </a:r>
            <a:r>
              <a:rPr lang="en-US" dirty="0">
                <a:solidFill>
                  <a:schemeClr val="accent1"/>
                </a:solidFill>
                <a:latin typeface="Lucida Console" pitchFamily="49" charset="0"/>
              </a:rPr>
              <a:t>did    INTEGER,</a:t>
            </a:r>
          </a:p>
          <a:p>
            <a:r>
              <a:rPr lang="en-US" dirty="0">
                <a:solidFill>
                  <a:srgbClr val="434FD6"/>
                </a:solidFill>
                <a:latin typeface="Lucida Console" pitchFamily="49" charset="0"/>
              </a:rPr>
              <a:t> 	</a:t>
            </a:r>
            <a:r>
              <a:rPr lang="en-US" dirty="0">
                <a:solidFill>
                  <a:schemeClr val="folHlink"/>
                </a:solidFill>
                <a:latin typeface="Lucida Console" pitchFamily="49" charset="0"/>
              </a:rPr>
              <a:t>since  DATE,</a:t>
            </a:r>
          </a:p>
          <a:p>
            <a:r>
              <a:rPr lang="en-US" dirty="0">
                <a:solidFill>
                  <a:schemeClr val="tx1"/>
                </a:solidFill>
                <a:latin typeface="Lucida Console" pitchFamily="49" charset="0"/>
              </a:rPr>
              <a:t> 	</a:t>
            </a:r>
            <a:r>
              <a:rPr lang="en-US" dirty="0" err="1">
                <a:solidFill>
                  <a:schemeClr val="accent1"/>
                </a:solidFill>
                <a:latin typeface="Lucida Console" pitchFamily="49" charset="0"/>
              </a:rPr>
              <a:t>dname</a:t>
            </a:r>
            <a:r>
              <a:rPr lang="en-US" dirty="0">
                <a:solidFill>
                  <a:schemeClr val="accent1"/>
                </a:solidFill>
                <a:latin typeface="Lucida Console" pitchFamily="49" charset="0"/>
              </a:rPr>
              <a:t>  CHAR(20),</a:t>
            </a:r>
          </a:p>
          <a:p>
            <a:r>
              <a:rPr lang="en-US" dirty="0">
                <a:solidFill>
                  <a:schemeClr val="accent1"/>
                </a:solidFill>
                <a:latin typeface="Lucida Console" pitchFamily="49" charset="0"/>
              </a:rPr>
              <a:t> 	budget REAL,</a:t>
            </a:r>
          </a:p>
          <a:p>
            <a:r>
              <a:rPr lang="en-US" dirty="0">
                <a:solidFill>
                  <a:schemeClr val="tx1"/>
                </a:solidFill>
                <a:latin typeface="Lucida Console" pitchFamily="49" charset="0"/>
              </a:rPr>
              <a:t> 	</a:t>
            </a:r>
            <a:r>
              <a:rPr lang="en-US" dirty="0">
                <a:solidFill>
                  <a:schemeClr val="accent2"/>
                </a:solidFill>
                <a:latin typeface="Lucida Console" pitchFamily="49" charset="0"/>
              </a:rPr>
              <a:t>PRIMARY KEY (did),</a:t>
            </a:r>
          </a:p>
          <a:p>
            <a:r>
              <a:rPr lang="en-US" dirty="0">
                <a:solidFill>
                  <a:srgbClr val="434FD6"/>
                </a:solidFill>
                <a:latin typeface="Lucida Console" pitchFamily="49" charset="0"/>
              </a:rPr>
              <a:t> 	</a:t>
            </a:r>
            <a:r>
              <a:rPr lang="en-US" dirty="0">
                <a:solidFill>
                  <a:schemeClr val="folHlink"/>
                </a:solidFill>
                <a:latin typeface="Lucida Console" pitchFamily="49" charset="0"/>
              </a:rPr>
              <a:t>FOREIGN KEY (</a:t>
            </a:r>
            <a:r>
              <a:rPr lang="en-US" dirty="0" err="1">
                <a:solidFill>
                  <a:schemeClr val="folHlink"/>
                </a:solidFill>
                <a:latin typeface="Lucida Console" pitchFamily="49" charset="0"/>
              </a:rPr>
              <a:t>ssn</a:t>
            </a:r>
            <a:r>
              <a:rPr lang="en-US" dirty="0">
                <a:solidFill>
                  <a:schemeClr val="folHlink"/>
                </a:solidFill>
                <a:latin typeface="Lucida Console" pitchFamily="49" charset="0"/>
              </a:rPr>
              <a:t>) </a:t>
            </a:r>
          </a:p>
          <a:p>
            <a:r>
              <a:rPr lang="en-US" dirty="0">
                <a:solidFill>
                  <a:schemeClr val="folHlink"/>
                </a:solidFill>
                <a:latin typeface="Lucida Console" pitchFamily="49" charset="0"/>
              </a:rPr>
              <a:t>  		REFERENCES Employees)</a:t>
            </a:r>
          </a:p>
        </p:txBody>
      </p:sp>
      <p:sp>
        <p:nvSpPr>
          <p:cNvPr id="7" name="Rounded Rectangle 80">
            <a:extLst>
              <a:ext uri="{FF2B5EF4-FFF2-40B4-BE49-F238E27FC236}">
                <a16:creationId xmlns:a16="http://schemas.microsoft.com/office/drawing/2014/main" id="{0A3AAE1B-E995-B04F-FB26-D565EE80E46E}"/>
              </a:ext>
            </a:extLst>
          </p:cNvPr>
          <p:cNvSpPr/>
          <p:nvPr/>
        </p:nvSpPr>
        <p:spPr>
          <a:xfrm>
            <a:off x="663601" y="5791200"/>
            <a:ext cx="7816799" cy="707579"/>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u="sng" dirty="0"/>
              <a:t>Approach 2:</a:t>
            </a:r>
            <a:r>
              <a:rPr lang="en-US" sz="2200" dirty="0"/>
              <a:t> Create a table for only the Departments entity set</a:t>
            </a:r>
          </a:p>
          <a:p>
            <a:pPr algn="ctr"/>
            <a:r>
              <a:rPr lang="en-US" sz="2200" dirty="0"/>
              <a:t> (i.e., take advantage of the key constraint)</a:t>
            </a:r>
          </a:p>
        </p:txBody>
      </p:sp>
      <p:cxnSp>
        <p:nvCxnSpPr>
          <p:cNvPr id="8" name="Straight Arrow Connector 7">
            <a:extLst>
              <a:ext uri="{FF2B5EF4-FFF2-40B4-BE49-F238E27FC236}">
                <a16:creationId xmlns:a16="http://schemas.microsoft.com/office/drawing/2014/main" id="{10DA52BF-9C08-79C1-79D0-433E5D780A8B}"/>
              </a:ext>
            </a:extLst>
          </p:cNvPr>
          <p:cNvCxnSpPr/>
          <p:nvPr/>
        </p:nvCxnSpPr>
        <p:spPr>
          <a:xfrm flipH="1">
            <a:off x="5188291" y="2843728"/>
            <a:ext cx="1065213" cy="218281"/>
          </a:xfrm>
          <a:prstGeom prst="straightConnector1">
            <a:avLst/>
          </a:prstGeom>
          <a:ln w="22225">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9" name="Rounded Rectangle 83">
            <a:extLst>
              <a:ext uri="{FF2B5EF4-FFF2-40B4-BE49-F238E27FC236}">
                <a16:creationId xmlns:a16="http://schemas.microsoft.com/office/drawing/2014/main" id="{BD3B8DDC-3970-EE79-4265-5F1AC4D8C248}"/>
              </a:ext>
            </a:extLst>
          </p:cNvPr>
          <p:cNvSpPr/>
          <p:nvPr/>
        </p:nvSpPr>
        <p:spPr>
          <a:xfrm>
            <a:off x="3229390" y="3465095"/>
            <a:ext cx="2605378" cy="30480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C58B234-EF50-DB71-D377-8E9F9EA278EC}"/>
              </a:ext>
            </a:extLst>
          </p:cNvPr>
          <p:cNvSpPr txBox="1"/>
          <p:nvPr/>
        </p:nvSpPr>
        <p:spPr>
          <a:xfrm>
            <a:off x="5913499" y="3366809"/>
            <a:ext cx="1706501" cy="707886"/>
          </a:xfrm>
          <a:prstGeom prst="rect">
            <a:avLst/>
          </a:prstGeom>
          <a:noFill/>
        </p:spPr>
        <p:txBody>
          <a:bodyPr wrap="square" rtlCol="0">
            <a:spAutoFit/>
          </a:bodyPr>
          <a:lstStyle/>
          <a:p>
            <a:r>
              <a:rPr lang="en-US" sz="2000" dirty="0">
                <a:solidFill>
                  <a:srgbClr val="FF0000"/>
                </a:solidFill>
              </a:rPr>
              <a:t>Can </a:t>
            </a:r>
            <a:r>
              <a:rPr lang="en-US" sz="2000" dirty="0" err="1">
                <a:solidFill>
                  <a:srgbClr val="FF0000"/>
                </a:solidFill>
              </a:rPr>
              <a:t>ssn</a:t>
            </a:r>
            <a:r>
              <a:rPr lang="en-US" sz="2000" dirty="0">
                <a:solidFill>
                  <a:srgbClr val="FF0000"/>
                </a:solidFill>
              </a:rPr>
              <a:t> take a </a:t>
            </a:r>
            <a:br>
              <a:rPr lang="en-US" sz="2000" dirty="0">
                <a:solidFill>
                  <a:srgbClr val="FF0000"/>
                </a:solidFill>
              </a:rPr>
            </a:br>
            <a:r>
              <a:rPr lang="en-US" sz="2000" i="1" dirty="0">
                <a:solidFill>
                  <a:srgbClr val="FF0000"/>
                </a:solidFill>
              </a:rPr>
              <a:t>null</a:t>
            </a:r>
            <a:r>
              <a:rPr lang="en-US" sz="2000" dirty="0">
                <a:solidFill>
                  <a:srgbClr val="FF0000"/>
                </a:solidFill>
              </a:rPr>
              <a:t> value?</a:t>
            </a:r>
          </a:p>
        </p:txBody>
      </p:sp>
    </p:spTree>
    <p:extLst>
      <p:ext uri="{BB962C8B-B14F-4D97-AF65-F5344CB8AC3E}">
        <p14:creationId xmlns:p14="http://schemas.microsoft.com/office/powerpoint/2010/main" val="270561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0A6C-34D6-9AD4-7582-7E4C67C7D590}"/>
              </a:ext>
            </a:extLst>
          </p:cNvPr>
          <p:cNvSpPr>
            <a:spLocks noGrp="1"/>
          </p:cNvSpPr>
          <p:nvPr>
            <p:ph type="title"/>
          </p:nvPr>
        </p:nvSpPr>
        <p:spPr/>
        <p:txBody>
          <a:bodyPr>
            <a:normAutofit fontScale="90000"/>
          </a:bodyPr>
          <a:lstStyle/>
          <a:p>
            <a:r>
              <a:rPr lang="en-US" dirty="0"/>
              <a:t>One-Table vs. Two-Table Approaches</a:t>
            </a:r>
          </a:p>
        </p:txBody>
      </p:sp>
      <p:sp>
        <p:nvSpPr>
          <p:cNvPr id="3" name="Content Placeholder 2">
            <a:extLst>
              <a:ext uri="{FF2B5EF4-FFF2-40B4-BE49-F238E27FC236}">
                <a16:creationId xmlns:a16="http://schemas.microsoft.com/office/drawing/2014/main" id="{A855AA88-AD86-A2F2-11C0-2F3272DE40B3}"/>
              </a:ext>
            </a:extLst>
          </p:cNvPr>
          <p:cNvSpPr>
            <a:spLocks noGrp="1"/>
          </p:cNvSpPr>
          <p:nvPr>
            <p:ph idx="1"/>
          </p:nvPr>
        </p:nvSpPr>
        <p:spPr/>
        <p:txBody>
          <a:bodyPr/>
          <a:lstStyle/>
          <a:p>
            <a:pPr>
              <a:buFont typeface="Wingdings" pitchFamily="2" charset="2"/>
              <a:buChar char="§"/>
            </a:pPr>
            <a:r>
              <a:rPr lang="en-US" sz="2800" dirty="0"/>
              <a:t>The </a:t>
            </a:r>
            <a:r>
              <a:rPr lang="en-US" sz="2800" dirty="0">
                <a:solidFill>
                  <a:srgbClr val="0070C0"/>
                </a:solidFill>
              </a:rPr>
              <a:t>one-table approach</a:t>
            </a:r>
            <a:r>
              <a:rPr lang="en-US" sz="2800" dirty="0"/>
              <a:t>:</a:t>
            </a:r>
          </a:p>
          <a:p>
            <a:pPr marL="457200" lvl="1" indent="0">
              <a:buNone/>
            </a:pPr>
            <a:r>
              <a:rPr lang="en-US" dirty="0"/>
              <a:t>(</a:t>
            </a:r>
            <a:r>
              <a:rPr lang="en-US" b="1" dirty="0">
                <a:solidFill>
                  <a:srgbClr val="0070C0"/>
                </a:solidFill>
              </a:rPr>
              <a:t>+</a:t>
            </a:r>
            <a:r>
              <a:rPr lang="en-US" dirty="0"/>
              <a:t>) Eliminates the need for a separate table for the involved relationship set (e.g., Manages)</a:t>
            </a:r>
          </a:p>
          <a:p>
            <a:pPr marL="457200" lvl="1" indent="0">
              <a:buNone/>
            </a:pPr>
            <a:r>
              <a:rPr lang="en-US" dirty="0"/>
              <a:t>(</a:t>
            </a:r>
            <a:r>
              <a:rPr lang="en-US" b="1" dirty="0">
                <a:solidFill>
                  <a:srgbClr val="0070C0"/>
                </a:solidFill>
              </a:rPr>
              <a:t>+</a:t>
            </a:r>
            <a:r>
              <a:rPr lang="en-US" dirty="0"/>
              <a:t>) Queries can be answered without combining information from two relations</a:t>
            </a:r>
          </a:p>
          <a:p>
            <a:pPr marL="457200" lvl="1" indent="0">
              <a:buNone/>
            </a:pPr>
            <a:r>
              <a:rPr lang="en-US" dirty="0"/>
              <a:t>(</a:t>
            </a:r>
            <a:r>
              <a:rPr lang="en-US" b="1" dirty="0">
                <a:solidFill>
                  <a:srgbClr val="FF0000"/>
                </a:solidFill>
              </a:rPr>
              <a:t>-</a:t>
            </a:r>
            <a:r>
              <a:rPr lang="en-US" dirty="0"/>
              <a:t>) Space could be wasted!</a:t>
            </a:r>
          </a:p>
          <a:p>
            <a:pPr lvl="2">
              <a:buFont typeface="Wingdings" pitchFamily="2" charset="2"/>
              <a:buChar char="§"/>
            </a:pPr>
            <a:r>
              <a:rPr lang="en-US" dirty="0"/>
              <a:t>What if several departments have no managers?</a:t>
            </a:r>
          </a:p>
          <a:p>
            <a:pPr lvl="2"/>
            <a:endParaRPr lang="en-US" dirty="0"/>
          </a:p>
          <a:p>
            <a:pPr>
              <a:buFont typeface="Wingdings" pitchFamily="2" charset="2"/>
              <a:buChar char="§"/>
            </a:pPr>
            <a:r>
              <a:rPr lang="en-US" dirty="0"/>
              <a:t>The </a:t>
            </a:r>
            <a:r>
              <a:rPr lang="en-US" dirty="0">
                <a:solidFill>
                  <a:srgbClr val="0070C0"/>
                </a:solidFill>
              </a:rPr>
              <a:t>two-table approach</a:t>
            </a:r>
            <a:r>
              <a:rPr lang="en-US" dirty="0"/>
              <a:t>:</a:t>
            </a:r>
          </a:p>
          <a:p>
            <a:pPr lvl="1">
              <a:buFont typeface="Wingdings" pitchFamily="2" charset="2"/>
              <a:buChar char="§"/>
            </a:pPr>
            <a:r>
              <a:rPr lang="en-US" dirty="0"/>
              <a:t>The opposite of the one-table approach!</a:t>
            </a:r>
          </a:p>
        </p:txBody>
      </p:sp>
      <p:sp>
        <p:nvSpPr>
          <p:cNvPr id="4" name="Slide Number Placeholder 3">
            <a:extLst>
              <a:ext uri="{FF2B5EF4-FFF2-40B4-BE49-F238E27FC236}">
                <a16:creationId xmlns:a16="http://schemas.microsoft.com/office/drawing/2014/main" id="{0CB8B112-33B1-AE08-55D3-2D1305A65502}"/>
              </a:ext>
            </a:extLst>
          </p:cNvPr>
          <p:cNvSpPr>
            <a:spLocks noGrp="1"/>
          </p:cNvSpPr>
          <p:nvPr>
            <p:ph type="sldNum" sz="quarter" idx="12"/>
          </p:nvPr>
        </p:nvSpPr>
        <p:spPr/>
        <p:txBody>
          <a:bodyPr/>
          <a:lstStyle/>
          <a:p>
            <a:fld id="{5FCA4BC5-AE2A-401E-9EDD-DF8812A14A6A}" type="slidenum">
              <a:rPr lang="en-US" smtClean="0"/>
              <a:t>38</a:t>
            </a:fld>
            <a:endParaRPr lang="en-US" dirty="0"/>
          </a:p>
        </p:txBody>
      </p:sp>
    </p:spTree>
    <p:extLst>
      <p:ext uri="{BB962C8B-B14F-4D97-AF65-F5344CB8AC3E}">
        <p14:creationId xmlns:p14="http://schemas.microsoft.com/office/powerpoint/2010/main" val="932101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4D35-B960-373C-D809-7CB3DBDAC7D7}"/>
              </a:ext>
            </a:extLst>
          </p:cNvPr>
          <p:cNvSpPr>
            <a:spLocks noGrp="1"/>
          </p:cNvSpPr>
          <p:nvPr>
            <p:ph type="title"/>
          </p:nvPr>
        </p:nvSpPr>
        <p:spPr/>
        <p:txBody>
          <a:bodyPr>
            <a:normAutofit fontScale="90000"/>
          </a:bodyPr>
          <a:lstStyle/>
          <a:p>
            <a:r>
              <a:rPr lang="en-US" dirty="0"/>
              <a:t>Translating Relationship Sets with Participation Constraints</a:t>
            </a:r>
          </a:p>
        </p:txBody>
      </p:sp>
      <p:sp>
        <p:nvSpPr>
          <p:cNvPr id="3" name="Content Placeholder 2">
            <a:extLst>
              <a:ext uri="{FF2B5EF4-FFF2-40B4-BE49-F238E27FC236}">
                <a16:creationId xmlns:a16="http://schemas.microsoft.com/office/drawing/2014/main" id="{8D8B01A8-37AD-2372-DCBC-C20D6306EC6B}"/>
              </a:ext>
            </a:extLst>
          </p:cNvPr>
          <p:cNvSpPr>
            <a:spLocks noGrp="1"/>
          </p:cNvSpPr>
          <p:nvPr>
            <p:ph idx="1"/>
          </p:nvPr>
        </p:nvSpPr>
        <p:spPr/>
        <p:txBody>
          <a:bodyPr>
            <a:normAutofit/>
          </a:bodyPr>
          <a:lstStyle/>
          <a:p>
            <a:pPr>
              <a:buFont typeface="Wingdings" pitchFamily="2" charset="2"/>
              <a:buChar char="§"/>
            </a:pPr>
            <a:r>
              <a:rPr lang="en-US" sz="2400" dirty="0"/>
              <a:t>What does the following ER diagram entail (with respect to Departments and Managers)?</a:t>
            </a:r>
          </a:p>
        </p:txBody>
      </p:sp>
      <p:sp>
        <p:nvSpPr>
          <p:cNvPr id="4" name="Slide Number Placeholder 3">
            <a:extLst>
              <a:ext uri="{FF2B5EF4-FFF2-40B4-BE49-F238E27FC236}">
                <a16:creationId xmlns:a16="http://schemas.microsoft.com/office/drawing/2014/main" id="{13B4F9D0-191E-FE24-2CC0-C21412E900BE}"/>
              </a:ext>
            </a:extLst>
          </p:cNvPr>
          <p:cNvSpPr>
            <a:spLocks noGrp="1"/>
          </p:cNvSpPr>
          <p:nvPr>
            <p:ph type="sldNum" sz="quarter" idx="12"/>
          </p:nvPr>
        </p:nvSpPr>
        <p:spPr/>
        <p:txBody>
          <a:bodyPr/>
          <a:lstStyle/>
          <a:p>
            <a:fld id="{5FCA4BC5-AE2A-401E-9EDD-DF8812A14A6A}" type="slidenum">
              <a:rPr lang="en-US" smtClean="0"/>
              <a:t>39</a:t>
            </a:fld>
            <a:endParaRPr lang="en-US" dirty="0"/>
          </a:p>
        </p:txBody>
      </p:sp>
      <p:sp>
        <p:nvSpPr>
          <p:cNvPr id="5" name="Freeform 6">
            <a:extLst>
              <a:ext uri="{FF2B5EF4-FFF2-40B4-BE49-F238E27FC236}">
                <a16:creationId xmlns:a16="http://schemas.microsoft.com/office/drawing/2014/main" id="{4DAEE6B0-4F78-88F4-50B7-E01BE1AF8712}"/>
              </a:ext>
            </a:extLst>
          </p:cNvPr>
          <p:cNvSpPr>
            <a:spLocks/>
          </p:cNvSpPr>
          <p:nvPr/>
        </p:nvSpPr>
        <p:spPr bwMode="auto">
          <a:xfrm>
            <a:off x="5130006" y="2764547"/>
            <a:ext cx="1057275" cy="371475"/>
          </a:xfrm>
          <a:custGeom>
            <a:avLst/>
            <a:gdLst>
              <a:gd name="T0" fmla="*/ 662 w 666"/>
              <a:gd name="T1" fmla="*/ 106 h 234"/>
              <a:gd name="T2" fmla="*/ 652 w 666"/>
              <a:gd name="T3" fmla="*/ 86 h 234"/>
              <a:gd name="T4" fmla="*/ 633 w 666"/>
              <a:gd name="T5" fmla="*/ 68 h 234"/>
              <a:gd name="T6" fmla="*/ 604 w 666"/>
              <a:gd name="T7" fmla="*/ 50 h 234"/>
              <a:gd name="T8" fmla="*/ 566 w 666"/>
              <a:gd name="T9" fmla="*/ 34 h 234"/>
              <a:gd name="T10" fmla="*/ 522 w 666"/>
              <a:gd name="T11" fmla="*/ 21 h 234"/>
              <a:gd name="T12" fmla="*/ 472 w 666"/>
              <a:gd name="T13" fmla="*/ 11 h 234"/>
              <a:gd name="T14" fmla="*/ 419 w 666"/>
              <a:gd name="T15" fmla="*/ 4 h 234"/>
              <a:gd name="T16" fmla="*/ 360 w 666"/>
              <a:gd name="T17" fmla="*/ 1 h 234"/>
              <a:gd name="T18" fmla="*/ 304 w 666"/>
              <a:gd name="T19" fmla="*/ 1 h 234"/>
              <a:gd name="T20" fmla="*/ 247 w 666"/>
              <a:gd name="T21" fmla="*/ 4 h 234"/>
              <a:gd name="T22" fmla="*/ 191 w 666"/>
              <a:gd name="T23" fmla="*/ 11 h 234"/>
              <a:gd name="T24" fmla="*/ 141 w 666"/>
              <a:gd name="T25" fmla="*/ 21 h 234"/>
              <a:gd name="T26" fmla="*/ 98 w 666"/>
              <a:gd name="T27" fmla="*/ 34 h 234"/>
              <a:gd name="T28" fmla="*/ 60 w 666"/>
              <a:gd name="T29" fmla="*/ 50 h 234"/>
              <a:gd name="T30" fmla="*/ 31 w 666"/>
              <a:gd name="T31" fmla="*/ 68 h 234"/>
              <a:gd name="T32" fmla="*/ 10 w 666"/>
              <a:gd name="T33" fmla="*/ 86 h 234"/>
              <a:gd name="T34" fmla="*/ 1 w 666"/>
              <a:gd name="T35" fmla="*/ 106 h 234"/>
              <a:gd name="T36" fmla="*/ 1 w 666"/>
              <a:gd name="T37" fmla="*/ 127 h 234"/>
              <a:gd name="T38" fmla="*/ 10 w 666"/>
              <a:gd name="T39" fmla="*/ 147 h 234"/>
              <a:gd name="T40" fmla="*/ 31 w 666"/>
              <a:gd name="T41" fmla="*/ 166 h 234"/>
              <a:gd name="T42" fmla="*/ 60 w 666"/>
              <a:gd name="T43" fmla="*/ 183 h 234"/>
              <a:gd name="T44" fmla="*/ 98 w 666"/>
              <a:gd name="T45" fmla="*/ 199 h 234"/>
              <a:gd name="T46" fmla="*/ 141 w 666"/>
              <a:gd name="T47" fmla="*/ 212 h 234"/>
              <a:gd name="T48" fmla="*/ 191 w 666"/>
              <a:gd name="T49" fmla="*/ 222 h 234"/>
              <a:gd name="T50" fmla="*/ 247 w 666"/>
              <a:gd name="T51" fmla="*/ 229 h 234"/>
              <a:gd name="T52" fmla="*/ 304 w 666"/>
              <a:gd name="T53" fmla="*/ 232 h 234"/>
              <a:gd name="T54" fmla="*/ 360 w 666"/>
              <a:gd name="T55" fmla="*/ 232 h 234"/>
              <a:gd name="T56" fmla="*/ 419 w 666"/>
              <a:gd name="T57" fmla="*/ 229 h 234"/>
              <a:gd name="T58" fmla="*/ 472 w 666"/>
              <a:gd name="T59" fmla="*/ 222 h 234"/>
              <a:gd name="T60" fmla="*/ 522 w 666"/>
              <a:gd name="T61" fmla="*/ 212 h 234"/>
              <a:gd name="T62" fmla="*/ 566 w 666"/>
              <a:gd name="T63" fmla="*/ 199 h 234"/>
              <a:gd name="T64" fmla="*/ 604 w 666"/>
              <a:gd name="T65" fmla="*/ 183 h 234"/>
              <a:gd name="T66" fmla="*/ 633 w 666"/>
              <a:gd name="T67" fmla="*/ 166 h 234"/>
              <a:gd name="T68" fmla="*/ 652 w 666"/>
              <a:gd name="T69" fmla="*/ 147 h 234"/>
              <a:gd name="T70" fmla="*/ 662 w 666"/>
              <a:gd name="T71" fmla="*/ 12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6" h="234">
                <a:moveTo>
                  <a:pt x="665" y="117"/>
                </a:moveTo>
                <a:lnTo>
                  <a:pt x="662" y="106"/>
                </a:lnTo>
                <a:lnTo>
                  <a:pt x="658" y="96"/>
                </a:lnTo>
                <a:lnTo>
                  <a:pt x="652" y="86"/>
                </a:lnTo>
                <a:lnTo>
                  <a:pt x="644" y="77"/>
                </a:lnTo>
                <a:lnTo>
                  <a:pt x="633" y="68"/>
                </a:lnTo>
                <a:lnTo>
                  <a:pt x="620" y="58"/>
                </a:lnTo>
                <a:lnTo>
                  <a:pt x="604" y="50"/>
                </a:lnTo>
                <a:lnTo>
                  <a:pt x="586" y="42"/>
                </a:lnTo>
                <a:lnTo>
                  <a:pt x="566" y="34"/>
                </a:lnTo>
                <a:lnTo>
                  <a:pt x="546" y="27"/>
                </a:lnTo>
                <a:lnTo>
                  <a:pt x="522" y="21"/>
                </a:lnTo>
                <a:lnTo>
                  <a:pt x="497" y="16"/>
                </a:lnTo>
                <a:lnTo>
                  <a:pt x="472" y="11"/>
                </a:lnTo>
                <a:lnTo>
                  <a:pt x="445" y="7"/>
                </a:lnTo>
                <a:lnTo>
                  <a:pt x="419" y="4"/>
                </a:lnTo>
                <a:lnTo>
                  <a:pt x="390" y="2"/>
                </a:lnTo>
                <a:lnTo>
                  <a:pt x="360" y="1"/>
                </a:lnTo>
                <a:lnTo>
                  <a:pt x="331" y="0"/>
                </a:lnTo>
                <a:lnTo>
                  <a:pt x="304" y="1"/>
                </a:lnTo>
                <a:lnTo>
                  <a:pt x="274" y="2"/>
                </a:lnTo>
                <a:lnTo>
                  <a:pt x="247" y="4"/>
                </a:lnTo>
                <a:lnTo>
                  <a:pt x="218" y="7"/>
                </a:lnTo>
                <a:lnTo>
                  <a:pt x="191" y="11"/>
                </a:lnTo>
                <a:lnTo>
                  <a:pt x="165" y="16"/>
                </a:lnTo>
                <a:lnTo>
                  <a:pt x="141" y="21"/>
                </a:lnTo>
                <a:lnTo>
                  <a:pt x="118" y="27"/>
                </a:lnTo>
                <a:lnTo>
                  <a:pt x="98" y="34"/>
                </a:lnTo>
                <a:lnTo>
                  <a:pt x="77" y="42"/>
                </a:lnTo>
                <a:lnTo>
                  <a:pt x="60" y="50"/>
                </a:lnTo>
                <a:lnTo>
                  <a:pt x="44" y="58"/>
                </a:lnTo>
                <a:lnTo>
                  <a:pt x="31" y="68"/>
                </a:lnTo>
                <a:lnTo>
                  <a:pt x="20" y="77"/>
                </a:lnTo>
                <a:lnTo>
                  <a:pt x="10" y="86"/>
                </a:lnTo>
                <a:lnTo>
                  <a:pt x="6" y="96"/>
                </a:lnTo>
                <a:lnTo>
                  <a:pt x="1" y="106"/>
                </a:lnTo>
                <a:lnTo>
                  <a:pt x="0" y="117"/>
                </a:lnTo>
                <a:lnTo>
                  <a:pt x="1" y="127"/>
                </a:lnTo>
                <a:lnTo>
                  <a:pt x="6" y="137"/>
                </a:lnTo>
                <a:lnTo>
                  <a:pt x="10" y="147"/>
                </a:lnTo>
                <a:lnTo>
                  <a:pt x="20" y="156"/>
                </a:lnTo>
                <a:lnTo>
                  <a:pt x="31" y="166"/>
                </a:lnTo>
                <a:lnTo>
                  <a:pt x="44" y="175"/>
                </a:lnTo>
                <a:lnTo>
                  <a:pt x="60" y="183"/>
                </a:lnTo>
                <a:lnTo>
                  <a:pt x="77" y="191"/>
                </a:lnTo>
                <a:lnTo>
                  <a:pt x="98" y="199"/>
                </a:lnTo>
                <a:lnTo>
                  <a:pt x="118" y="205"/>
                </a:lnTo>
                <a:lnTo>
                  <a:pt x="141" y="212"/>
                </a:lnTo>
                <a:lnTo>
                  <a:pt x="165" y="217"/>
                </a:lnTo>
                <a:lnTo>
                  <a:pt x="191" y="222"/>
                </a:lnTo>
                <a:lnTo>
                  <a:pt x="218" y="226"/>
                </a:lnTo>
                <a:lnTo>
                  <a:pt x="247" y="229"/>
                </a:lnTo>
                <a:lnTo>
                  <a:pt x="274" y="231"/>
                </a:lnTo>
                <a:lnTo>
                  <a:pt x="304" y="232"/>
                </a:lnTo>
                <a:lnTo>
                  <a:pt x="331" y="233"/>
                </a:lnTo>
                <a:lnTo>
                  <a:pt x="360" y="232"/>
                </a:lnTo>
                <a:lnTo>
                  <a:pt x="390" y="231"/>
                </a:lnTo>
                <a:lnTo>
                  <a:pt x="419" y="229"/>
                </a:lnTo>
                <a:lnTo>
                  <a:pt x="445" y="226"/>
                </a:lnTo>
                <a:lnTo>
                  <a:pt x="472" y="222"/>
                </a:lnTo>
                <a:lnTo>
                  <a:pt x="497" y="217"/>
                </a:lnTo>
                <a:lnTo>
                  <a:pt x="522" y="212"/>
                </a:lnTo>
                <a:lnTo>
                  <a:pt x="546" y="205"/>
                </a:lnTo>
                <a:lnTo>
                  <a:pt x="566" y="199"/>
                </a:lnTo>
                <a:lnTo>
                  <a:pt x="586" y="191"/>
                </a:lnTo>
                <a:lnTo>
                  <a:pt x="604" y="183"/>
                </a:lnTo>
                <a:lnTo>
                  <a:pt x="620" y="175"/>
                </a:lnTo>
                <a:lnTo>
                  <a:pt x="633" y="166"/>
                </a:lnTo>
                <a:lnTo>
                  <a:pt x="644" y="156"/>
                </a:lnTo>
                <a:lnTo>
                  <a:pt x="652" y="147"/>
                </a:lnTo>
                <a:lnTo>
                  <a:pt x="658" y="137"/>
                </a:lnTo>
                <a:lnTo>
                  <a:pt x="662" y="127"/>
                </a:lnTo>
                <a:lnTo>
                  <a:pt x="665" y="1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Freeform 7">
            <a:extLst>
              <a:ext uri="{FF2B5EF4-FFF2-40B4-BE49-F238E27FC236}">
                <a16:creationId xmlns:a16="http://schemas.microsoft.com/office/drawing/2014/main" id="{F958D1C4-8D94-A588-7062-837E7EB5EF86}"/>
              </a:ext>
            </a:extLst>
          </p:cNvPr>
          <p:cNvSpPr>
            <a:spLocks/>
          </p:cNvSpPr>
          <p:nvPr/>
        </p:nvSpPr>
        <p:spPr bwMode="auto">
          <a:xfrm>
            <a:off x="7069931" y="2764547"/>
            <a:ext cx="1185863" cy="371475"/>
          </a:xfrm>
          <a:custGeom>
            <a:avLst/>
            <a:gdLst>
              <a:gd name="T0" fmla="*/ 1 w 747"/>
              <a:gd name="T1" fmla="*/ 127 h 234"/>
              <a:gd name="T2" fmla="*/ 12 w 747"/>
              <a:gd name="T3" fmla="*/ 147 h 234"/>
              <a:gd name="T4" fmla="*/ 35 w 747"/>
              <a:gd name="T5" fmla="*/ 166 h 234"/>
              <a:gd name="T6" fmla="*/ 66 w 747"/>
              <a:gd name="T7" fmla="*/ 183 h 234"/>
              <a:gd name="T8" fmla="*/ 108 w 747"/>
              <a:gd name="T9" fmla="*/ 199 h 234"/>
              <a:gd name="T10" fmla="*/ 159 w 747"/>
              <a:gd name="T11" fmla="*/ 212 h 234"/>
              <a:gd name="T12" fmla="*/ 215 w 747"/>
              <a:gd name="T13" fmla="*/ 222 h 234"/>
              <a:gd name="T14" fmla="*/ 276 w 747"/>
              <a:gd name="T15" fmla="*/ 229 h 234"/>
              <a:gd name="T16" fmla="*/ 340 w 747"/>
              <a:gd name="T17" fmla="*/ 232 h 234"/>
              <a:gd name="T18" fmla="*/ 405 w 747"/>
              <a:gd name="T19" fmla="*/ 232 h 234"/>
              <a:gd name="T20" fmla="*/ 469 w 747"/>
              <a:gd name="T21" fmla="*/ 229 h 234"/>
              <a:gd name="T22" fmla="*/ 530 w 747"/>
              <a:gd name="T23" fmla="*/ 222 h 234"/>
              <a:gd name="T24" fmla="*/ 586 w 747"/>
              <a:gd name="T25" fmla="*/ 212 h 234"/>
              <a:gd name="T26" fmla="*/ 637 w 747"/>
              <a:gd name="T27" fmla="*/ 198 h 234"/>
              <a:gd name="T28" fmla="*/ 677 w 747"/>
              <a:gd name="T29" fmla="*/ 183 h 234"/>
              <a:gd name="T30" fmla="*/ 710 w 747"/>
              <a:gd name="T31" fmla="*/ 166 h 234"/>
              <a:gd name="T32" fmla="*/ 733 w 747"/>
              <a:gd name="T33" fmla="*/ 146 h 234"/>
              <a:gd name="T34" fmla="*/ 744 w 747"/>
              <a:gd name="T35" fmla="*/ 126 h 234"/>
              <a:gd name="T36" fmla="*/ 744 w 747"/>
              <a:gd name="T37" fmla="*/ 106 h 234"/>
              <a:gd name="T38" fmla="*/ 733 w 747"/>
              <a:gd name="T39" fmla="*/ 86 h 234"/>
              <a:gd name="T40" fmla="*/ 710 w 747"/>
              <a:gd name="T41" fmla="*/ 67 h 234"/>
              <a:gd name="T42" fmla="*/ 677 w 747"/>
              <a:gd name="T43" fmla="*/ 50 h 234"/>
              <a:gd name="T44" fmla="*/ 637 w 747"/>
              <a:gd name="T45" fmla="*/ 34 h 234"/>
              <a:gd name="T46" fmla="*/ 586 w 747"/>
              <a:gd name="T47" fmla="*/ 21 h 234"/>
              <a:gd name="T48" fmla="*/ 530 w 747"/>
              <a:gd name="T49" fmla="*/ 11 h 234"/>
              <a:gd name="T50" fmla="*/ 469 w 747"/>
              <a:gd name="T51" fmla="*/ 4 h 234"/>
              <a:gd name="T52" fmla="*/ 405 w 747"/>
              <a:gd name="T53" fmla="*/ 1 h 234"/>
              <a:gd name="T54" fmla="*/ 340 w 747"/>
              <a:gd name="T55" fmla="*/ 1 h 234"/>
              <a:gd name="T56" fmla="*/ 276 w 747"/>
              <a:gd name="T57" fmla="*/ 4 h 234"/>
              <a:gd name="T58" fmla="*/ 215 w 747"/>
              <a:gd name="T59" fmla="*/ 11 h 234"/>
              <a:gd name="T60" fmla="*/ 159 w 747"/>
              <a:gd name="T61" fmla="*/ 21 h 234"/>
              <a:gd name="T62" fmla="*/ 108 w 747"/>
              <a:gd name="T63" fmla="*/ 34 h 234"/>
              <a:gd name="T64" fmla="*/ 66 w 747"/>
              <a:gd name="T65" fmla="*/ 50 h 234"/>
              <a:gd name="T66" fmla="*/ 35 w 747"/>
              <a:gd name="T67" fmla="*/ 68 h 234"/>
              <a:gd name="T68" fmla="*/ 12 w 747"/>
              <a:gd name="T69" fmla="*/ 86 h 234"/>
              <a:gd name="T70" fmla="*/ 1 w 747"/>
              <a:gd name="T71" fmla="*/ 10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7" h="234">
                <a:moveTo>
                  <a:pt x="0" y="117"/>
                </a:moveTo>
                <a:lnTo>
                  <a:pt x="1" y="127"/>
                </a:lnTo>
                <a:lnTo>
                  <a:pt x="5" y="137"/>
                </a:lnTo>
                <a:lnTo>
                  <a:pt x="12" y="147"/>
                </a:lnTo>
                <a:lnTo>
                  <a:pt x="21" y="156"/>
                </a:lnTo>
                <a:lnTo>
                  <a:pt x="35" y="166"/>
                </a:lnTo>
                <a:lnTo>
                  <a:pt x="49" y="175"/>
                </a:lnTo>
                <a:lnTo>
                  <a:pt x="66" y="183"/>
                </a:lnTo>
                <a:lnTo>
                  <a:pt x="87" y="191"/>
                </a:lnTo>
                <a:lnTo>
                  <a:pt x="108" y="199"/>
                </a:lnTo>
                <a:lnTo>
                  <a:pt x="133" y="205"/>
                </a:lnTo>
                <a:lnTo>
                  <a:pt x="159" y="212"/>
                </a:lnTo>
                <a:lnTo>
                  <a:pt x="186" y="217"/>
                </a:lnTo>
                <a:lnTo>
                  <a:pt x="215" y="222"/>
                </a:lnTo>
                <a:lnTo>
                  <a:pt x="245" y="226"/>
                </a:lnTo>
                <a:lnTo>
                  <a:pt x="276" y="229"/>
                </a:lnTo>
                <a:lnTo>
                  <a:pt x="307" y="231"/>
                </a:lnTo>
                <a:lnTo>
                  <a:pt x="340" y="232"/>
                </a:lnTo>
                <a:lnTo>
                  <a:pt x="373" y="233"/>
                </a:lnTo>
                <a:lnTo>
                  <a:pt x="405" y="232"/>
                </a:lnTo>
                <a:lnTo>
                  <a:pt x="436" y="231"/>
                </a:lnTo>
                <a:lnTo>
                  <a:pt x="469" y="229"/>
                </a:lnTo>
                <a:lnTo>
                  <a:pt x="500" y="226"/>
                </a:lnTo>
                <a:lnTo>
                  <a:pt x="530" y="222"/>
                </a:lnTo>
                <a:lnTo>
                  <a:pt x="559" y="217"/>
                </a:lnTo>
                <a:lnTo>
                  <a:pt x="586" y="212"/>
                </a:lnTo>
                <a:lnTo>
                  <a:pt x="612" y="205"/>
                </a:lnTo>
                <a:lnTo>
                  <a:pt x="637" y="198"/>
                </a:lnTo>
                <a:lnTo>
                  <a:pt x="658" y="191"/>
                </a:lnTo>
                <a:lnTo>
                  <a:pt x="677" y="183"/>
                </a:lnTo>
                <a:lnTo>
                  <a:pt x="695" y="175"/>
                </a:lnTo>
                <a:lnTo>
                  <a:pt x="710" y="166"/>
                </a:lnTo>
                <a:lnTo>
                  <a:pt x="722" y="156"/>
                </a:lnTo>
                <a:lnTo>
                  <a:pt x="733" y="146"/>
                </a:lnTo>
                <a:lnTo>
                  <a:pt x="740" y="137"/>
                </a:lnTo>
                <a:lnTo>
                  <a:pt x="744" y="126"/>
                </a:lnTo>
                <a:lnTo>
                  <a:pt x="746" y="117"/>
                </a:lnTo>
                <a:lnTo>
                  <a:pt x="744" y="106"/>
                </a:lnTo>
                <a:lnTo>
                  <a:pt x="740" y="96"/>
                </a:lnTo>
                <a:lnTo>
                  <a:pt x="733" y="86"/>
                </a:lnTo>
                <a:lnTo>
                  <a:pt x="722" y="77"/>
                </a:lnTo>
                <a:lnTo>
                  <a:pt x="710" y="67"/>
                </a:lnTo>
                <a:lnTo>
                  <a:pt x="695" y="58"/>
                </a:lnTo>
                <a:lnTo>
                  <a:pt x="677" y="50"/>
                </a:lnTo>
                <a:lnTo>
                  <a:pt x="658" y="42"/>
                </a:lnTo>
                <a:lnTo>
                  <a:pt x="637" y="34"/>
                </a:lnTo>
                <a:lnTo>
                  <a:pt x="612" y="27"/>
                </a:lnTo>
                <a:lnTo>
                  <a:pt x="586" y="21"/>
                </a:lnTo>
                <a:lnTo>
                  <a:pt x="559" y="16"/>
                </a:lnTo>
                <a:lnTo>
                  <a:pt x="530" y="11"/>
                </a:lnTo>
                <a:lnTo>
                  <a:pt x="500" y="7"/>
                </a:lnTo>
                <a:lnTo>
                  <a:pt x="469" y="4"/>
                </a:lnTo>
                <a:lnTo>
                  <a:pt x="436" y="2"/>
                </a:lnTo>
                <a:lnTo>
                  <a:pt x="405" y="1"/>
                </a:lnTo>
                <a:lnTo>
                  <a:pt x="373" y="0"/>
                </a:lnTo>
                <a:lnTo>
                  <a:pt x="340" y="1"/>
                </a:lnTo>
                <a:lnTo>
                  <a:pt x="307" y="2"/>
                </a:lnTo>
                <a:lnTo>
                  <a:pt x="276" y="4"/>
                </a:lnTo>
                <a:lnTo>
                  <a:pt x="245" y="7"/>
                </a:lnTo>
                <a:lnTo>
                  <a:pt x="215" y="11"/>
                </a:lnTo>
                <a:lnTo>
                  <a:pt x="186" y="16"/>
                </a:lnTo>
                <a:lnTo>
                  <a:pt x="159" y="21"/>
                </a:lnTo>
                <a:lnTo>
                  <a:pt x="132" y="28"/>
                </a:lnTo>
                <a:lnTo>
                  <a:pt x="108" y="34"/>
                </a:lnTo>
                <a:lnTo>
                  <a:pt x="87" y="42"/>
                </a:lnTo>
                <a:lnTo>
                  <a:pt x="66" y="50"/>
                </a:lnTo>
                <a:lnTo>
                  <a:pt x="49" y="58"/>
                </a:lnTo>
                <a:lnTo>
                  <a:pt x="35" y="68"/>
                </a:lnTo>
                <a:lnTo>
                  <a:pt x="21" y="77"/>
                </a:lnTo>
                <a:lnTo>
                  <a:pt x="12" y="86"/>
                </a:lnTo>
                <a:lnTo>
                  <a:pt x="5" y="97"/>
                </a:lnTo>
                <a:lnTo>
                  <a:pt x="1" y="106"/>
                </a:lnTo>
                <a:lnTo>
                  <a:pt x="0" y="1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Freeform 8">
            <a:extLst>
              <a:ext uri="{FF2B5EF4-FFF2-40B4-BE49-F238E27FC236}">
                <a16:creationId xmlns:a16="http://schemas.microsoft.com/office/drawing/2014/main" id="{50BD0FCC-FDDF-E51F-1DF0-A9A9BEAD806F}"/>
              </a:ext>
            </a:extLst>
          </p:cNvPr>
          <p:cNvSpPr>
            <a:spLocks/>
          </p:cNvSpPr>
          <p:nvPr/>
        </p:nvSpPr>
        <p:spPr bwMode="auto">
          <a:xfrm>
            <a:off x="910431" y="2753434"/>
            <a:ext cx="1055688" cy="371475"/>
          </a:xfrm>
          <a:custGeom>
            <a:avLst/>
            <a:gdLst>
              <a:gd name="T0" fmla="*/ 662 w 665"/>
              <a:gd name="T1" fmla="*/ 106 h 234"/>
              <a:gd name="T2" fmla="*/ 653 w 665"/>
              <a:gd name="T3" fmla="*/ 86 h 234"/>
              <a:gd name="T4" fmla="*/ 633 w 665"/>
              <a:gd name="T5" fmla="*/ 68 h 234"/>
              <a:gd name="T6" fmla="*/ 604 w 665"/>
              <a:gd name="T7" fmla="*/ 50 h 234"/>
              <a:gd name="T8" fmla="*/ 567 w 665"/>
              <a:gd name="T9" fmla="*/ 34 h 234"/>
              <a:gd name="T10" fmla="*/ 522 w 665"/>
              <a:gd name="T11" fmla="*/ 21 h 234"/>
              <a:gd name="T12" fmla="*/ 472 w 665"/>
              <a:gd name="T13" fmla="*/ 11 h 234"/>
              <a:gd name="T14" fmla="*/ 418 w 665"/>
              <a:gd name="T15" fmla="*/ 5 h 234"/>
              <a:gd name="T16" fmla="*/ 361 w 665"/>
              <a:gd name="T17" fmla="*/ 1 h 234"/>
              <a:gd name="T18" fmla="*/ 302 w 665"/>
              <a:gd name="T19" fmla="*/ 1 h 234"/>
              <a:gd name="T20" fmla="*/ 247 w 665"/>
              <a:gd name="T21" fmla="*/ 5 h 234"/>
              <a:gd name="T22" fmla="*/ 191 w 665"/>
              <a:gd name="T23" fmla="*/ 11 h 234"/>
              <a:gd name="T24" fmla="*/ 141 w 665"/>
              <a:gd name="T25" fmla="*/ 21 h 234"/>
              <a:gd name="T26" fmla="*/ 96 w 665"/>
              <a:gd name="T27" fmla="*/ 34 h 234"/>
              <a:gd name="T28" fmla="*/ 60 w 665"/>
              <a:gd name="T29" fmla="*/ 50 h 234"/>
              <a:gd name="T30" fmla="*/ 31 w 665"/>
              <a:gd name="T31" fmla="*/ 68 h 234"/>
              <a:gd name="T32" fmla="*/ 10 w 665"/>
              <a:gd name="T33" fmla="*/ 86 h 234"/>
              <a:gd name="T34" fmla="*/ 1 w 665"/>
              <a:gd name="T35" fmla="*/ 106 h 234"/>
              <a:gd name="T36" fmla="*/ 1 w 665"/>
              <a:gd name="T37" fmla="*/ 127 h 234"/>
              <a:gd name="T38" fmla="*/ 10 w 665"/>
              <a:gd name="T39" fmla="*/ 147 h 234"/>
              <a:gd name="T40" fmla="*/ 31 w 665"/>
              <a:gd name="T41" fmla="*/ 166 h 234"/>
              <a:gd name="T42" fmla="*/ 60 w 665"/>
              <a:gd name="T43" fmla="*/ 183 h 234"/>
              <a:gd name="T44" fmla="*/ 96 w 665"/>
              <a:gd name="T45" fmla="*/ 199 h 234"/>
              <a:gd name="T46" fmla="*/ 141 w 665"/>
              <a:gd name="T47" fmla="*/ 212 h 234"/>
              <a:gd name="T48" fmla="*/ 191 w 665"/>
              <a:gd name="T49" fmla="*/ 222 h 234"/>
              <a:gd name="T50" fmla="*/ 247 w 665"/>
              <a:gd name="T51" fmla="*/ 229 h 234"/>
              <a:gd name="T52" fmla="*/ 302 w 665"/>
              <a:gd name="T53" fmla="*/ 232 h 234"/>
              <a:gd name="T54" fmla="*/ 361 w 665"/>
              <a:gd name="T55" fmla="*/ 232 h 234"/>
              <a:gd name="T56" fmla="*/ 418 w 665"/>
              <a:gd name="T57" fmla="*/ 229 h 234"/>
              <a:gd name="T58" fmla="*/ 472 w 665"/>
              <a:gd name="T59" fmla="*/ 222 h 234"/>
              <a:gd name="T60" fmla="*/ 522 w 665"/>
              <a:gd name="T61" fmla="*/ 212 h 234"/>
              <a:gd name="T62" fmla="*/ 567 w 665"/>
              <a:gd name="T63" fmla="*/ 199 h 234"/>
              <a:gd name="T64" fmla="*/ 604 w 665"/>
              <a:gd name="T65" fmla="*/ 183 h 234"/>
              <a:gd name="T66" fmla="*/ 633 w 665"/>
              <a:gd name="T67" fmla="*/ 166 h 234"/>
              <a:gd name="T68" fmla="*/ 653 w 665"/>
              <a:gd name="T69" fmla="*/ 147 h 234"/>
              <a:gd name="T70" fmla="*/ 662 w 665"/>
              <a:gd name="T71" fmla="*/ 12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5" h="234">
                <a:moveTo>
                  <a:pt x="664" y="117"/>
                </a:moveTo>
                <a:lnTo>
                  <a:pt x="662" y="106"/>
                </a:lnTo>
                <a:lnTo>
                  <a:pt x="659" y="97"/>
                </a:lnTo>
                <a:lnTo>
                  <a:pt x="653" y="86"/>
                </a:lnTo>
                <a:lnTo>
                  <a:pt x="644" y="77"/>
                </a:lnTo>
                <a:lnTo>
                  <a:pt x="633" y="68"/>
                </a:lnTo>
                <a:lnTo>
                  <a:pt x="620" y="58"/>
                </a:lnTo>
                <a:lnTo>
                  <a:pt x="604" y="50"/>
                </a:lnTo>
                <a:lnTo>
                  <a:pt x="586" y="42"/>
                </a:lnTo>
                <a:lnTo>
                  <a:pt x="567" y="34"/>
                </a:lnTo>
                <a:lnTo>
                  <a:pt x="546" y="28"/>
                </a:lnTo>
                <a:lnTo>
                  <a:pt x="522" y="21"/>
                </a:lnTo>
                <a:lnTo>
                  <a:pt x="498" y="16"/>
                </a:lnTo>
                <a:lnTo>
                  <a:pt x="472" y="11"/>
                </a:lnTo>
                <a:lnTo>
                  <a:pt x="445" y="7"/>
                </a:lnTo>
                <a:lnTo>
                  <a:pt x="418" y="5"/>
                </a:lnTo>
                <a:lnTo>
                  <a:pt x="390" y="2"/>
                </a:lnTo>
                <a:lnTo>
                  <a:pt x="361" y="1"/>
                </a:lnTo>
                <a:lnTo>
                  <a:pt x="332" y="0"/>
                </a:lnTo>
                <a:lnTo>
                  <a:pt x="302" y="1"/>
                </a:lnTo>
                <a:lnTo>
                  <a:pt x="275" y="2"/>
                </a:lnTo>
                <a:lnTo>
                  <a:pt x="247" y="5"/>
                </a:lnTo>
                <a:lnTo>
                  <a:pt x="218" y="7"/>
                </a:lnTo>
                <a:lnTo>
                  <a:pt x="191" y="11"/>
                </a:lnTo>
                <a:lnTo>
                  <a:pt x="166" y="16"/>
                </a:lnTo>
                <a:lnTo>
                  <a:pt x="141" y="21"/>
                </a:lnTo>
                <a:lnTo>
                  <a:pt x="118" y="28"/>
                </a:lnTo>
                <a:lnTo>
                  <a:pt x="96" y="34"/>
                </a:lnTo>
                <a:lnTo>
                  <a:pt x="77" y="42"/>
                </a:lnTo>
                <a:lnTo>
                  <a:pt x="60" y="50"/>
                </a:lnTo>
                <a:lnTo>
                  <a:pt x="44" y="58"/>
                </a:lnTo>
                <a:lnTo>
                  <a:pt x="31" y="68"/>
                </a:lnTo>
                <a:lnTo>
                  <a:pt x="20" y="77"/>
                </a:lnTo>
                <a:lnTo>
                  <a:pt x="10" y="86"/>
                </a:lnTo>
                <a:lnTo>
                  <a:pt x="4" y="97"/>
                </a:lnTo>
                <a:lnTo>
                  <a:pt x="1" y="106"/>
                </a:lnTo>
                <a:lnTo>
                  <a:pt x="0" y="117"/>
                </a:lnTo>
                <a:lnTo>
                  <a:pt x="1" y="127"/>
                </a:lnTo>
                <a:lnTo>
                  <a:pt x="4" y="137"/>
                </a:lnTo>
                <a:lnTo>
                  <a:pt x="10" y="147"/>
                </a:lnTo>
                <a:lnTo>
                  <a:pt x="20" y="156"/>
                </a:lnTo>
                <a:lnTo>
                  <a:pt x="31" y="166"/>
                </a:lnTo>
                <a:lnTo>
                  <a:pt x="44" y="175"/>
                </a:lnTo>
                <a:lnTo>
                  <a:pt x="60" y="183"/>
                </a:lnTo>
                <a:lnTo>
                  <a:pt x="77" y="191"/>
                </a:lnTo>
                <a:lnTo>
                  <a:pt x="96" y="199"/>
                </a:lnTo>
                <a:lnTo>
                  <a:pt x="118" y="206"/>
                </a:lnTo>
                <a:lnTo>
                  <a:pt x="141" y="212"/>
                </a:lnTo>
                <a:lnTo>
                  <a:pt x="166" y="217"/>
                </a:lnTo>
                <a:lnTo>
                  <a:pt x="191" y="222"/>
                </a:lnTo>
                <a:lnTo>
                  <a:pt x="218" y="226"/>
                </a:lnTo>
                <a:lnTo>
                  <a:pt x="247" y="229"/>
                </a:lnTo>
                <a:lnTo>
                  <a:pt x="275" y="231"/>
                </a:lnTo>
                <a:lnTo>
                  <a:pt x="302" y="232"/>
                </a:lnTo>
                <a:lnTo>
                  <a:pt x="332" y="233"/>
                </a:lnTo>
                <a:lnTo>
                  <a:pt x="361" y="232"/>
                </a:lnTo>
                <a:lnTo>
                  <a:pt x="390" y="231"/>
                </a:lnTo>
                <a:lnTo>
                  <a:pt x="418" y="229"/>
                </a:lnTo>
                <a:lnTo>
                  <a:pt x="445" y="226"/>
                </a:lnTo>
                <a:lnTo>
                  <a:pt x="472" y="222"/>
                </a:lnTo>
                <a:lnTo>
                  <a:pt x="498" y="217"/>
                </a:lnTo>
                <a:lnTo>
                  <a:pt x="522" y="212"/>
                </a:lnTo>
                <a:lnTo>
                  <a:pt x="546" y="206"/>
                </a:lnTo>
                <a:lnTo>
                  <a:pt x="567" y="199"/>
                </a:lnTo>
                <a:lnTo>
                  <a:pt x="586" y="191"/>
                </a:lnTo>
                <a:lnTo>
                  <a:pt x="604" y="183"/>
                </a:lnTo>
                <a:lnTo>
                  <a:pt x="620" y="175"/>
                </a:lnTo>
                <a:lnTo>
                  <a:pt x="633" y="166"/>
                </a:lnTo>
                <a:lnTo>
                  <a:pt x="644" y="156"/>
                </a:lnTo>
                <a:lnTo>
                  <a:pt x="653" y="147"/>
                </a:lnTo>
                <a:lnTo>
                  <a:pt x="659" y="137"/>
                </a:lnTo>
                <a:lnTo>
                  <a:pt x="662" y="127"/>
                </a:lnTo>
                <a:lnTo>
                  <a:pt x="664" y="1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9">
            <a:extLst>
              <a:ext uri="{FF2B5EF4-FFF2-40B4-BE49-F238E27FC236}">
                <a16:creationId xmlns:a16="http://schemas.microsoft.com/office/drawing/2014/main" id="{266094DE-EC19-4D3C-A537-2E641438BE13}"/>
              </a:ext>
            </a:extLst>
          </p:cNvPr>
          <p:cNvSpPr>
            <a:spLocks/>
          </p:cNvSpPr>
          <p:nvPr/>
        </p:nvSpPr>
        <p:spPr bwMode="auto">
          <a:xfrm>
            <a:off x="1859756" y="2483559"/>
            <a:ext cx="1057275" cy="369888"/>
          </a:xfrm>
          <a:custGeom>
            <a:avLst/>
            <a:gdLst>
              <a:gd name="T0" fmla="*/ 663 w 666"/>
              <a:gd name="T1" fmla="*/ 106 h 233"/>
              <a:gd name="T2" fmla="*/ 652 w 666"/>
              <a:gd name="T3" fmla="*/ 86 h 233"/>
              <a:gd name="T4" fmla="*/ 633 w 666"/>
              <a:gd name="T5" fmla="*/ 66 h 233"/>
              <a:gd name="T6" fmla="*/ 605 w 666"/>
              <a:gd name="T7" fmla="*/ 49 h 233"/>
              <a:gd name="T8" fmla="*/ 568 w 666"/>
              <a:gd name="T9" fmla="*/ 34 h 233"/>
              <a:gd name="T10" fmla="*/ 523 w 666"/>
              <a:gd name="T11" fmla="*/ 21 h 233"/>
              <a:gd name="T12" fmla="*/ 472 w 666"/>
              <a:gd name="T13" fmla="*/ 10 h 233"/>
              <a:gd name="T14" fmla="*/ 419 w 666"/>
              <a:gd name="T15" fmla="*/ 3 h 233"/>
              <a:gd name="T16" fmla="*/ 362 w 666"/>
              <a:gd name="T17" fmla="*/ 0 h 233"/>
              <a:gd name="T18" fmla="*/ 304 w 666"/>
              <a:gd name="T19" fmla="*/ 0 h 233"/>
              <a:gd name="T20" fmla="*/ 247 w 666"/>
              <a:gd name="T21" fmla="*/ 3 h 233"/>
              <a:gd name="T22" fmla="*/ 192 w 666"/>
              <a:gd name="T23" fmla="*/ 10 h 233"/>
              <a:gd name="T24" fmla="*/ 141 w 666"/>
              <a:gd name="T25" fmla="*/ 21 h 233"/>
              <a:gd name="T26" fmla="*/ 98 w 666"/>
              <a:gd name="T27" fmla="*/ 34 h 233"/>
              <a:gd name="T28" fmla="*/ 60 w 666"/>
              <a:gd name="T29" fmla="*/ 49 h 233"/>
              <a:gd name="T30" fmla="*/ 31 w 666"/>
              <a:gd name="T31" fmla="*/ 66 h 233"/>
              <a:gd name="T32" fmla="*/ 12 w 666"/>
              <a:gd name="T33" fmla="*/ 86 h 233"/>
              <a:gd name="T34" fmla="*/ 1 w 666"/>
              <a:gd name="T35" fmla="*/ 106 h 233"/>
              <a:gd name="T36" fmla="*/ 1 w 666"/>
              <a:gd name="T37" fmla="*/ 126 h 233"/>
              <a:gd name="T38" fmla="*/ 12 w 666"/>
              <a:gd name="T39" fmla="*/ 146 h 233"/>
              <a:gd name="T40" fmla="*/ 31 w 666"/>
              <a:gd name="T41" fmla="*/ 165 h 233"/>
              <a:gd name="T42" fmla="*/ 60 w 666"/>
              <a:gd name="T43" fmla="*/ 182 h 233"/>
              <a:gd name="T44" fmla="*/ 98 w 666"/>
              <a:gd name="T45" fmla="*/ 198 h 233"/>
              <a:gd name="T46" fmla="*/ 141 w 666"/>
              <a:gd name="T47" fmla="*/ 211 h 233"/>
              <a:gd name="T48" fmla="*/ 192 w 666"/>
              <a:gd name="T49" fmla="*/ 221 h 233"/>
              <a:gd name="T50" fmla="*/ 247 w 666"/>
              <a:gd name="T51" fmla="*/ 228 h 233"/>
              <a:gd name="T52" fmla="*/ 304 w 666"/>
              <a:gd name="T53" fmla="*/ 232 h 233"/>
              <a:gd name="T54" fmla="*/ 362 w 666"/>
              <a:gd name="T55" fmla="*/ 232 h 233"/>
              <a:gd name="T56" fmla="*/ 419 w 666"/>
              <a:gd name="T57" fmla="*/ 228 h 233"/>
              <a:gd name="T58" fmla="*/ 472 w 666"/>
              <a:gd name="T59" fmla="*/ 221 h 233"/>
              <a:gd name="T60" fmla="*/ 523 w 666"/>
              <a:gd name="T61" fmla="*/ 211 h 233"/>
              <a:gd name="T62" fmla="*/ 568 w 666"/>
              <a:gd name="T63" fmla="*/ 198 h 233"/>
              <a:gd name="T64" fmla="*/ 605 w 666"/>
              <a:gd name="T65" fmla="*/ 182 h 233"/>
              <a:gd name="T66" fmla="*/ 633 w 666"/>
              <a:gd name="T67" fmla="*/ 165 h 233"/>
              <a:gd name="T68" fmla="*/ 652 w 666"/>
              <a:gd name="T69" fmla="*/ 146 h 233"/>
              <a:gd name="T70" fmla="*/ 663 w 666"/>
              <a:gd name="T71" fmla="*/ 12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6" h="233">
                <a:moveTo>
                  <a:pt x="665" y="116"/>
                </a:moveTo>
                <a:lnTo>
                  <a:pt x="663" y="106"/>
                </a:lnTo>
                <a:lnTo>
                  <a:pt x="660" y="95"/>
                </a:lnTo>
                <a:lnTo>
                  <a:pt x="652" y="86"/>
                </a:lnTo>
                <a:lnTo>
                  <a:pt x="644" y="76"/>
                </a:lnTo>
                <a:lnTo>
                  <a:pt x="633" y="66"/>
                </a:lnTo>
                <a:lnTo>
                  <a:pt x="620" y="58"/>
                </a:lnTo>
                <a:lnTo>
                  <a:pt x="605" y="49"/>
                </a:lnTo>
                <a:lnTo>
                  <a:pt x="587" y="41"/>
                </a:lnTo>
                <a:lnTo>
                  <a:pt x="568" y="34"/>
                </a:lnTo>
                <a:lnTo>
                  <a:pt x="546" y="27"/>
                </a:lnTo>
                <a:lnTo>
                  <a:pt x="523" y="21"/>
                </a:lnTo>
                <a:lnTo>
                  <a:pt x="499" y="15"/>
                </a:lnTo>
                <a:lnTo>
                  <a:pt x="472" y="10"/>
                </a:lnTo>
                <a:lnTo>
                  <a:pt x="445" y="7"/>
                </a:lnTo>
                <a:lnTo>
                  <a:pt x="419" y="3"/>
                </a:lnTo>
                <a:lnTo>
                  <a:pt x="391" y="1"/>
                </a:lnTo>
                <a:lnTo>
                  <a:pt x="362" y="0"/>
                </a:lnTo>
                <a:lnTo>
                  <a:pt x="331" y="0"/>
                </a:lnTo>
                <a:lnTo>
                  <a:pt x="304" y="0"/>
                </a:lnTo>
                <a:lnTo>
                  <a:pt x="274" y="1"/>
                </a:lnTo>
                <a:lnTo>
                  <a:pt x="247" y="3"/>
                </a:lnTo>
                <a:lnTo>
                  <a:pt x="219" y="7"/>
                </a:lnTo>
                <a:lnTo>
                  <a:pt x="192" y="10"/>
                </a:lnTo>
                <a:lnTo>
                  <a:pt x="165" y="15"/>
                </a:lnTo>
                <a:lnTo>
                  <a:pt x="141" y="21"/>
                </a:lnTo>
                <a:lnTo>
                  <a:pt x="119" y="27"/>
                </a:lnTo>
                <a:lnTo>
                  <a:pt x="98" y="34"/>
                </a:lnTo>
                <a:lnTo>
                  <a:pt x="78" y="41"/>
                </a:lnTo>
                <a:lnTo>
                  <a:pt x="60" y="49"/>
                </a:lnTo>
                <a:lnTo>
                  <a:pt x="46" y="58"/>
                </a:lnTo>
                <a:lnTo>
                  <a:pt x="31" y="66"/>
                </a:lnTo>
                <a:lnTo>
                  <a:pt x="20" y="76"/>
                </a:lnTo>
                <a:lnTo>
                  <a:pt x="12" y="86"/>
                </a:lnTo>
                <a:lnTo>
                  <a:pt x="6" y="95"/>
                </a:lnTo>
                <a:lnTo>
                  <a:pt x="1" y="106"/>
                </a:lnTo>
                <a:lnTo>
                  <a:pt x="0" y="116"/>
                </a:lnTo>
                <a:lnTo>
                  <a:pt x="1" y="126"/>
                </a:lnTo>
                <a:lnTo>
                  <a:pt x="6" y="136"/>
                </a:lnTo>
                <a:lnTo>
                  <a:pt x="12" y="146"/>
                </a:lnTo>
                <a:lnTo>
                  <a:pt x="20" y="155"/>
                </a:lnTo>
                <a:lnTo>
                  <a:pt x="31" y="165"/>
                </a:lnTo>
                <a:lnTo>
                  <a:pt x="46" y="174"/>
                </a:lnTo>
                <a:lnTo>
                  <a:pt x="60" y="182"/>
                </a:lnTo>
                <a:lnTo>
                  <a:pt x="78" y="190"/>
                </a:lnTo>
                <a:lnTo>
                  <a:pt x="98" y="198"/>
                </a:lnTo>
                <a:lnTo>
                  <a:pt x="119" y="205"/>
                </a:lnTo>
                <a:lnTo>
                  <a:pt x="141" y="211"/>
                </a:lnTo>
                <a:lnTo>
                  <a:pt x="165" y="217"/>
                </a:lnTo>
                <a:lnTo>
                  <a:pt x="192" y="221"/>
                </a:lnTo>
                <a:lnTo>
                  <a:pt x="219" y="225"/>
                </a:lnTo>
                <a:lnTo>
                  <a:pt x="247" y="228"/>
                </a:lnTo>
                <a:lnTo>
                  <a:pt x="274" y="230"/>
                </a:lnTo>
                <a:lnTo>
                  <a:pt x="304" y="232"/>
                </a:lnTo>
                <a:lnTo>
                  <a:pt x="331" y="232"/>
                </a:lnTo>
                <a:lnTo>
                  <a:pt x="362" y="232"/>
                </a:lnTo>
                <a:lnTo>
                  <a:pt x="391" y="230"/>
                </a:lnTo>
                <a:lnTo>
                  <a:pt x="419" y="228"/>
                </a:lnTo>
                <a:lnTo>
                  <a:pt x="445" y="225"/>
                </a:lnTo>
                <a:lnTo>
                  <a:pt x="472" y="221"/>
                </a:lnTo>
                <a:lnTo>
                  <a:pt x="499" y="217"/>
                </a:lnTo>
                <a:lnTo>
                  <a:pt x="523" y="211"/>
                </a:lnTo>
                <a:lnTo>
                  <a:pt x="546" y="205"/>
                </a:lnTo>
                <a:lnTo>
                  <a:pt x="568" y="198"/>
                </a:lnTo>
                <a:lnTo>
                  <a:pt x="587" y="190"/>
                </a:lnTo>
                <a:lnTo>
                  <a:pt x="605" y="182"/>
                </a:lnTo>
                <a:lnTo>
                  <a:pt x="620" y="174"/>
                </a:lnTo>
                <a:lnTo>
                  <a:pt x="633" y="165"/>
                </a:lnTo>
                <a:lnTo>
                  <a:pt x="644" y="155"/>
                </a:lnTo>
                <a:lnTo>
                  <a:pt x="652" y="146"/>
                </a:lnTo>
                <a:lnTo>
                  <a:pt x="660" y="136"/>
                </a:lnTo>
                <a:lnTo>
                  <a:pt x="663" y="126"/>
                </a:lnTo>
                <a:lnTo>
                  <a:pt x="665" y="11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10">
            <a:extLst>
              <a:ext uri="{FF2B5EF4-FFF2-40B4-BE49-F238E27FC236}">
                <a16:creationId xmlns:a16="http://schemas.microsoft.com/office/drawing/2014/main" id="{E4265BDD-D7F5-A201-BD9D-5BBE9F03BCAB}"/>
              </a:ext>
            </a:extLst>
          </p:cNvPr>
          <p:cNvSpPr>
            <a:spLocks/>
          </p:cNvSpPr>
          <p:nvPr/>
        </p:nvSpPr>
        <p:spPr bwMode="auto">
          <a:xfrm>
            <a:off x="4076347" y="4990222"/>
            <a:ext cx="1055687" cy="369887"/>
          </a:xfrm>
          <a:custGeom>
            <a:avLst/>
            <a:gdLst>
              <a:gd name="T0" fmla="*/ 1 w 665"/>
              <a:gd name="T1" fmla="*/ 126 h 233"/>
              <a:gd name="T2" fmla="*/ 12 w 665"/>
              <a:gd name="T3" fmla="*/ 146 h 233"/>
              <a:gd name="T4" fmla="*/ 31 w 665"/>
              <a:gd name="T5" fmla="*/ 165 h 233"/>
              <a:gd name="T6" fmla="*/ 60 w 665"/>
              <a:gd name="T7" fmla="*/ 183 h 233"/>
              <a:gd name="T8" fmla="*/ 96 w 665"/>
              <a:gd name="T9" fmla="*/ 198 h 233"/>
              <a:gd name="T10" fmla="*/ 141 w 665"/>
              <a:gd name="T11" fmla="*/ 211 h 233"/>
              <a:gd name="T12" fmla="*/ 192 w 665"/>
              <a:gd name="T13" fmla="*/ 221 h 233"/>
              <a:gd name="T14" fmla="*/ 245 w 665"/>
              <a:gd name="T15" fmla="*/ 228 h 233"/>
              <a:gd name="T16" fmla="*/ 302 w 665"/>
              <a:gd name="T17" fmla="*/ 232 h 233"/>
              <a:gd name="T18" fmla="*/ 361 w 665"/>
              <a:gd name="T19" fmla="*/ 232 h 233"/>
              <a:gd name="T20" fmla="*/ 418 w 665"/>
              <a:gd name="T21" fmla="*/ 228 h 233"/>
              <a:gd name="T22" fmla="*/ 472 w 665"/>
              <a:gd name="T23" fmla="*/ 221 h 233"/>
              <a:gd name="T24" fmla="*/ 523 w 665"/>
              <a:gd name="T25" fmla="*/ 211 h 233"/>
              <a:gd name="T26" fmla="*/ 567 w 665"/>
              <a:gd name="T27" fmla="*/ 198 h 233"/>
              <a:gd name="T28" fmla="*/ 604 w 665"/>
              <a:gd name="T29" fmla="*/ 183 h 233"/>
              <a:gd name="T30" fmla="*/ 633 w 665"/>
              <a:gd name="T31" fmla="*/ 165 h 233"/>
              <a:gd name="T32" fmla="*/ 653 w 665"/>
              <a:gd name="T33" fmla="*/ 146 h 233"/>
              <a:gd name="T34" fmla="*/ 664 w 665"/>
              <a:gd name="T35" fmla="*/ 126 h 233"/>
              <a:gd name="T36" fmla="*/ 664 w 665"/>
              <a:gd name="T37" fmla="*/ 106 h 233"/>
              <a:gd name="T38" fmla="*/ 653 w 665"/>
              <a:gd name="T39" fmla="*/ 86 h 233"/>
              <a:gd name="T40" fmla="*/ 633 w 665"/>
              <a:gd name="T41" fmla="*/ 67 h 233"/>
              <a:gd name="T42" fmla="*/ 604 w 665"/>
              <a:gd name="T43" fmla="*/ 49 h 233"/>
              <a:gd name="T44" fmla="*/ 567 w 665"/>
              <a:gd name="T45" fmla="*/ 34 h 233"/>
              <a:gd name="T46" fmla="*/ 523 w 665"/>
              <a:gd name="T47" fmla="*/ 21 h 233"/>
              <a:gd name="T48" fmla="*/ 472 w 665"/>
              <a:gd name="T49" fmla="*/ 11 h 233"/>
              <a:gd name="T50" fmla="*/ 418 w 665"/>
              <a:gd name="T51" fmla="*/ 4 h 233"/>
              <a:gd name="T52" fmla="*/ 361 w 665"/>
              <a:gd name="T53" fmla="*/ 0 h 233"/>
              <a:gd name="T54" fmla="*/ 302 w 665"/>
              <a:gd name="T55" fmla="*/ 0 h 233"/>
              <a:gd name="T56" fmla="*/ 245 w 665"/>
              <a:gd name="T57" fmla="*/ 4 h 233"/>
              <a:gd name="T58" fmla="*/ 192 w 665"/>
              <a:gd name="T59" fmla="*/ 11 h 233"/>
              <a:gd name="T60" fmla="*/ 141 w 665"/>
              <a:gd name="T61" fmla="*/ 21 h 233"/>
              <a:gd name="T62" fmla="*/ 96 w 665"/>
              <a:gd name="T63" fmla="*/ 34 h 233"/>
              <a:gd name="T64" fmla="*/ 60 w 665"/>
              <a:gd name="T65" fmla="*/ 50 h 233"/>
              <a:gd name="T66" fmla="*/ 31 w 665"/>
              <a:gd name="T67" fmla="*/ 67 h 233"/>
              <a:gd name="T68" fmla="*/ 12 w 665"/>
              <a:gd name="T69" fmla="*/ 86 h 233"/>
              <a:gd name="T70" fmla="*/ 1 w 665"/>
              <a:gd name="T71" fmla="*/ 10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5" h="233">
                <a:moveTo>
                  <a:pt x="0" y="116"/>
                </a:moveTo>
                <a:lnTo>
                  <a:pt x="1" y="126"/>
                </a:lnTo>
                <a:lnTo>
                  <a:pt x="4" y="136"/>
                </a:lnTo>
                <a:lnTo>
                  <a:pt x="12" y="146"/>
                </a:lnTo>
                <a:lnTo>
                  <a:pt x="20" y="156"/>
                </a:lnTo>
                <a:lnTo>
                  <a:pt x="31" y="165"/>
                </a:lnTo>
                <a:lnTo>
                  <a:pt x="44" y="174"/>
                </a:lnTo>
                <a:lnTo>
                  <a:pt x="60" y="183"/>
                </a:lnTo>
                <a:lnTo>
                  <a:pt x="77" y="191"/>
                </a:lnTo>
                <a:lnTo>
                  <a:pt x="96" y="198"/>
                </a:lnTo>
                <a:lnTo>
                  <a:pt x="118" y="205"/>
                </a:lnTo>
                <a:lnTo>
                  <a:pt x="141" y="211"/>
                </a:lnTo>
                <a:lnTo>
                  <a:pt x="167" y="217"/>
                </a:lnTo>
                <a:lnTo>
                  <a:pt x="192" y="221"/>
                </a:lnTo>
                <a:lnTo>
                  <a:pt x="219" y="225"/>
                </a:lnTo>
                <a:lnTo>
                  <a:pt x="245" y="228"/>
                </a:lnTo>
                <a:lnTo>
                  <a:pt x="275" y="231"/>
                </a:lnTo>
                <a:lnTo>
                  <a:pt x="302" y="232"/>
                </a:lnTo>
                <a:lnTo>
                  <a:pt x="333" y="232"/>
                </a:lnTo>
                <a:lnTo>
                  <a:pt x="361" y="232"/>
                </a:lnTo>
                <a:lnTo>
                  <a:pt x="390" y="231"/>
                </a:lnTo>
                <a:lnTo>
                  <a:pt x="418" y="228"/>
                </a:lnTo>
                <a:lnTo>
                  <a:pt x="445" y="225"/>
                </a:lnTo>
                <a:lnTo>
                  <a:pt x="472" y="221"/>
                </a:lnTo>
                <a:lnTo>
                  <a:pt x="499" y="217"/>
                </a:lnTo>
                <a:lnTo>
                  <a:pt x="523" y="211"/>
                </a:lnTo>
                <a:lnTo>
                  <a:pt x="546" y="205"/>
                </a:lnTo>
                <a:lnTo>
                  <a:pt x="567" y="198"/>
                </a:lnTo>
                <a:lnTo>
                  <a:pt x="587" y="191"/>
                </a:lnTo>
                <a:lnTo>
                  <a:pt x="604" y="183"/>
                </a:lnTo>
                <a:lnTo>
                  <a:pt x="620" y="174"/>
                </a:lnTo>
                <a:lnTo>
                  <a:pt x="633" y="165"/>
                </a:lnTo>
                <a:lnTo>
                  <a:pt x="644" y="156"/>
                </a:lnTo>
                <a:lnTo>
                  <a:pt x="653" y="146"/>
                </a:lnTo>
                <a:lnTo>
                  <a:pt x="659" y="136"/>
                </a:lnTo>
                <a:lnTo>
                  <a:pt x="664" y="126"/>
                </a:lnTo>
                <a:lnTo>
                  <a:pt x="664" y="116"/>
                </a:lnTo>
                <a:lnTo>
                  <a:pt x="664" y="106"/>
                </a:lnTo>
                <a:lnTo>
                  <a:pt x="659" y="96"/>
                </a:lnTo>
                <a:lnTo>
                  <a:pt x="653" y="86"/>
                </a:lnTo>
                <a:lnTo>
                  <a:pt x="644" y="76"/>
                </a:lnTo>
                <a:lnTo>
                  <a:pt x="633" y="67"/>
                </a:lnTo>
                <a:lnTo>
                  <a:pt x="619" y="58"/>
                </a:lnTo>
                <a:lnTo>
                  <a:pt x="604" y="49"/>
                </a:lnTo>
                <a:lnTo>
                  <a:pt x="587" y="41"/>
                </a:lnTo>
                <a:lnTo>
                  <a:pt x="567" y="34"/>
                </a:lnTo>
                <a:lnTo>
                  <a:pt x="546" y="27"/>
                </a:lnTo>
                <a:lnTo>
                  <a:pt x="523" y="21"/>
                </a:lnTo>
                <a:lnTo>
                  <a:pt x="498" y="15"/>
                </a:lnTo>
                <a:lnTo>
                  <a:pt x="472" y="11"/>
                </a:lnTo>
                <a:lnTo>
                  <a:pt x="445" y="7"/>
                </a:lnTo>
                <a:lnTo>
                  <a:pt x="418" y="4"/>
                </a:lnTo>
                <a:lnTo>
                  <a:pt x="390" y="2"/>
                </a:lnTo>
                <a:lnTo>
                  <a:pt x="361" y="0"/>
                </a:lnTo>
                <a:lnTo>
                  <a:pt x="332" y="0"/>
                </a:lnTo>
                <a:lnTo>
                  <a:pt x="302" y="0"/>
                </a:lnTo>
                <a:lnTo>
                  <a:pt x="275" y="2"/>
                </a:lnTo>
                <a:lnTo>
                  <a:pt x="245" y="4"/>
                </a:lnTo>
                <a:lnTo>
                  <a:pt x="219" y="7"/>
                </a:lnTo>
                <a:lnTo>
                  <a:pt x="192" y="11"/>
                </a:lnTo>
                <a:lnTo>
                  <a:pt x="166" y="15"/>
                </a:lnTo>
                <a:lnTo>
                  <a:pt x="141" y="21"/>
                </a:lnTo>
                <a:lnTo>
                  <a:pt x="118" y="27"/>
                </a:lnTo>
                <a:lnTo>
                  <a:pt x="96" y="34"/>
                </a:lnTo>
                <a:lnTo>
                  <a:pt x="77" y="42"/>
                </a:lnTo>
                <a:lnTo>
                  <a:pt x="60" y="50"/>
                </a:lnTo>
                <a:lnTo>
                  <a:pt x="44" y="58"/>
                </a:lnTo>
                <a:lnTo>
                  <a:pt x="31" y="67"/>
                </a:lnTo>
                <a:lnTo>
                  <a:pt x="20" y="77"/>
                </a:lnTo>
                <a:lnTo>
                  <a:pt x="12" y="86"/>
                </a:lnTo>
                <a:lnTo>
                  <a:pt x="4" y="96"/>
                </a:lnTo>
                <a:lnTo>
                  <a:pt x="1" y="106"/>
                </a:lnTo>
                <a:lnTo>
                  <a:pt x="0" y="11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1">
            <a:extLst>
              <a:ext uri="{FF2B5EF4-FFF2-40B4-BE49-F238E27FC236}">
                <a16:creationId xmlns:a16="http://schemas.microsoft.com/office/drawing/2014/main" id="{BBAB2D0B-3E59-98A9-FEA8-84D1023C5852}"/>
              </a:ext>
            </a:extLst>
          </p:cNvPr>
          <p:cNvSpPr>
            <a:spLocks/>
          </p:cNvSpPr>
          <p:nvPr/>
        </p:nvSpPr>
        <p:spPr bwMode="auto">
          <a:xfrm>
            <a:off x="3969544" y="2209800"/>
            <a:ext cx="1055687" cy="371475"/>
          </a:xfrm>
          <a:custGeom>
            <a:avLst/>
            <a:gdLst>
              <a:gd name="T0" fmla="*/ 1 w 665"/>
              <a:gd name="T1" fmla="*/ 127 h 234"/>
              <a:gd name="T2" fmla="*/ 12 w 665"/>
              <a:gd name="T3" fmla="*/ 147 h 234"/>
              <a:gd name="T4" fmla="*/ 31 w 665"/>
              <a:gd name="T5" fmla="*/ 166 h 234"/>
              <a:gd name="T6" fmla="*/ 60 w 665"/>
              <a:gd name="T7" fmla="*/ 183 h 234"/>
              <a:gd name="T8" fmla="*/ 96 w 665"/>
              <a:gd name="T9" fmla="*/ 199 h 234"/>
              <a:gd name="T10" fmla="*/ 141 w 665"/>
              <a:gd name="T11" fmla="*/ 212 h 234"/>
              <a:gd name="T12" fmla="*/ 192 w 665"/>
              <a:gd name="T13" fmla="*/ 222 h 234"/>
              <a:gd name="T14" fmla="*/ 245 w 665"/>
              <a:gd name="T15" fmla="*/ 229 h 234"/>
              <a:gd name="T16" fmla="*/ 302 w 665"/>
              <a:gd name="T17" fmla="*/ 232 h 234"/>
              <a:gd name="T18" fmla="*/ 361 w 665"/>
              <a:gd name="T19" fmla="*/ 232 h 234"/>
              <a:gd name="T20" fmla="*/ 418 w 665"/>
              <a:gd name="T21" fmla="*/ 229 h 234"/>
              <a:gd name="T22" fmla="*/ 472 w 665"/>
              <a:gd name="T23" fmla="*/ 222 h 234"/>
              <a:gd name="T24" fmla="*/ 523 w 665"/>
              <a:gd name="T25" fmla="*/ 212 h 234"/>
              <a:gd name="T26" fmla="*/ 567 w 665"/>
              <a:gd name="T27" fmla="*/ 199 h 234"/>
              <a:gd name="T28" fmla="*/ 604 w 665"/>
              <a:gd name="T29" fmla="*/ 183 h 234"/>
              <a:gd name="T30" fmla="*/ 633 w 665"/>
              <a:gd name="T31" fmla="*/ 166 h 234"/>
              <a:gd name="T32" fmla="*/ 653 w 665"/>
              <a:gd name="T33" fmla="*/ 147 h 234"/>
              <a:gd name="T34" fmla="*/ 664 w 665"/>
              <a:gd name="T35" fmla="*/ 127 h 234"/>
              <a:gd name="T36" fmla="*/ 664 w 665"/>
              <a:gd name="T37" fmla="*/ 106 h 234"/>
              <a:gd name="T38" fmla="*/ 653 w 665"/>
              <a:gd name="T39" fmla="*/ 87 h 234"/>
              <a:gd name="T40" fmla="*/ 633 w 665"/>
              <a:gd name="T41" fmla="*/ 68 h 234"/>
              <a:gd name="T42" fmla="*/ 604 w 665"/>
              <a:gd name="T43" fmla="*/ 50 h 234"/>
              <a:gd name="T44" fmla="*/ 567 w 665"/>
              <a:gd name="T45" fmla="*/ 34 h 234"/>
              <a:gd name="T46" fmla="*/ 523 w 665"/>
              <a:gd name="T47" fmla="*/ 21 h 234"/>
              <a:gd name="T48" fmla="*/ 472 w 665"/>
              <a:gd name="T49" fmla="*/ 12 h 234"/>
              <a:gd name="T50" fmla="*/ 418 w 665"/>
              <a:gd name="T51" fmla="*/ 5 h 234"/>
              <a:gd name="T52" fmla="*/ 361 w 665"/>
              <a:gd name="T53" fmla="*/ 1 h 234"/>
              <a:gd name="T54" fmla="*/ 302 w 665"/>
              <a:gd name="T55" fmla="*/ 1 h 234"/>
              <a:gd name="T56" fmla="*/ 245 w 665"/>
              <a:gd name="T57" fmla="*/ 5 h 234"/>
              <a:gd name="T58" fmla="*/ 192 w 665"/>
              <a:gd name="T59" fmla="*/ 12 h 234"/>
              <a:gd name="T60" fmla="*/ 141 w 665"/>
              <a:gd name="T61" fmla="*/ 22 h 234"/>
              <a:gd name="T62" fmla="*/ 96 w 665"/>
              <a:gd name="T63" fmla="*/ 35 h 234"/>
              <a:gd name="T64" fmla="*/ 60 w 665"/>
              <a:gd name="T65" fmla="*/ 50 h 234"/>
              <a:gd name="T66" fmla="*/ 31 w 665"/>
              <a:gd name="T67" fmla="*/ 68 h 234"/>
              <a:gd name="T68" fmla="*/ 12 w 665"/>
              <a:gd name="T69" fmla="*/ 87 h 234"/>
              <a:gd name="T70" fmla="*/ 1 w 665"/>
              <a:gd name="T71" fmla="*/ 10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5" h="234">
                <a:moveTo>
                  <a:pt x="0" y="117"/>
                </a:moveTo>
                <a:lnTo>
                  <a:pt x="1" y="127"/>
                </a:lnTo>
                <a:lnTo>
                  <a:pt x="4" y="137"/>
                </a:lnTo>
                <a:lnTo>
                  <a:pt x="12" y="147"/>
                </a:lnTo>
                <a:lnTo>
                  <a:pt x="20" y="157"/>
                </a:lnTo>
                <a:lnTo>
                  <a:pt x="31" y="166"/>
                </a:lnTo>
                <a:lnTo>
                  <a:pt x="44" y="175"/>
                </a:lnTo>
                <a:lnTo>
                  <a:pt x="60" y="183"/>
                </a:lnTo>
                <a:lnTo>
                  <a:pt x="77" y="191"/>
                </a:lnTo>
                <a:lnTo>
                  <a:pt x="96" y="199"/>
                </a:lnTo>
                <a:lnTo>
                  <a:pt x="118" y="206"/>
                </a:lnTo>
                <a:lnTo>
                  <a:pt x="141" y="212"/>
                </a:lnTo>
                <a:lnTo>
                  <a:pt x="167" y="217"/>
                </a:lnTo>
                <a:lnTo>
                  <a:pt x="192" y="222"/>
                </a:lnTo>
                <a:lnTo>
                  <a:pt x="219" y="226"/>
                </a:lnTo>
                <a:lnTo>
                  <a:pt x="245" y="229"/>
                </a:lnTo>
                <a:lnTo>
                  <a:pt x="275" y="231"/>
                </a:lnTo>
                <a:lnTo>
                  <a:pt x="302" y="232"/>
                </a:lnTo>
                <a:lnTo>
                  <a:pt x="333" y="233"/>
                </a:lnTo>
                <a:lnTo>
                  <a:pt x="361" y="232"/>
                </a:lnTo>
                <a:lnTo>
                  <a:pt x="390" y="231"/>
                </a:lnTo>
                <a:lnTo>
                  <a:pt x="418" y="229"/>
                </a:lnTo>
                <a:lnTo>
                  <a:pt x="445" y="226"/>
                </a:lnTo>
                <a:lnTo>
                  <a:pt x="472" y="222"/>
                </a:lnTo>
                <a:lnTo>
                  <a:pt x="499" y="217"/>
                </a:lnTo>
                <a:lnTo>
                  <a:pt x="523" y="212"/>
                </a:lnTo>
                <a:lnTo>
                  <a:pt x="546" y="206"/>
                </a:lnTo>
                <a:lnTo>
                  <a:pt x="567" y="199"/>
                </a:lnTo>
                <a:lnTo>
                  <a:pt x="587" y="191"/>
                </a:lnTo>
                <a:lnTo>
                  <a:pt x="604" y="183"/>
                </a:lnTo>
                <a:lnTo>
                  <a:pt x="620" y="175"/>
                </a:lnTo>
                <a:lnTo>
                  <a:pt x="633" y="166"/>
                </a:lnTo>
                <a:lnTo>
                  <a:pt x="644" y="157"/>
                </a:lnTo>
                <a:lnTo>
                  <a:pt x="653" y="147"/>
                </a:lnTo>
                <a:lnTo>
                  <a:pt x="659" y="137"/>
                </a:lnTo>
                <a:lnTo>
                  <a:pt x="664" y="127"/>
                </a:lnTo>
                <a:lnTo>
                  <a:pt x="664" y="117"/>
                </a:lnTo>
                <a:lnTo>
                  <a:pt x="664" y="106"/>
                </a:lnTo>
                <a:lnTo>
                  <a:pt x="659" y="97"/>
                </a:lnTo>
                <a:lnTo>
                  <a:pt x="653" y="87"/>
                </a:lnTo>
                <a:lnTo>
                  <a:pt x="644" y="77"/>
                </a:lnTo>
                <a:lnTo>
                  <a:pt x="633" y="68"/>
                </a:lnTo>
                <a:lnTo>
                  <a:pt x="619" y="59"/>
                </a:lnTo>
                <a:lnTo>
                  <a:pt x="604" y="50"/>
                </a:lnTo>
                <a:lnTo>
                  <a:pt x="587" y="42"/>
                </a:lnTo>
                <a:lnTo>
                  <a:pt x="567" y="34"/>
                </a:lnTo>
                <a:lnTo>
                  <a:pt x="546" y="28"/>
                </a:lnTo>
                <a:lnTo>
                  <a:pt x="523" y="21"/>
                </a:lnTo>
                <a:lnTo>
                  <a:pt x="498" y="16"/>
                </a:lnTo>
                <a:lnTo>
                  <a:pt x="472" y="12"/>
                </a:lnTo>
                <a:lnTo>
                  <a:pt x="445" y="7"/>
                </a:lnTo>
                <a:lnTo>
                  <a:pt x="418" y="5"/>
                </a:lnTo>
                <a:lnTo>
                  <a:pt x="390" y="3"/>
                </a:lnTo>
                <a:lnTo>
                  <a:pt x="361" y="1"/>
                </a:lnTo>
                <a:lnTo>
                  <a:pt x="332" y="0"/>
                </a:lnTo>
                <a:lnTo>
                  <a:pt x="302" y="1"/>
                </a:lnTo>
                <a:lnTo>
                  <a:pt x="275" y="3"/>
                </a:lnTo>
                <a:lnTo>
                  <a:pt x="245" y="5"/>
                </a:lnTo>
                <a:lnTo>
                  <a:pt x="219" y="8"/>
                </a:lnTo>
                <a:lnTo>
                  <a:pt x="192" y="12"/>
                </a:lnTo>
                <a:lnTo>
                  <a:pt x="166" y="16"/>
                </a:lnTo>
                <a:lnTo>
                  <a:pt x="141" y="22"/>
                </a:lnTo>
                <a:lnTo>
                  <a:pt x="118" y="28"/>
                </a:lnTo>
                <a:lnTo>
                  <a:pt x="96" y="35"/>
                </a:lnTo>
                <a:lnTo>
                  <a:pt x="77" y="42"/>
                </a:lnTo>
                <a:lnTo>
                  <a:pt x="60" y="50"/>
                </a:lnTo>
                <a:lnTo>
                  <a:pt x="44" y="59"/>
                </a:lnTo>
                <a:lnTo>
                  <a:pt x="31" y="68"/>
                </a:lnTo>
                <a:lnTo>
                  <a:pt x="20" y="77"/>
                </a:lnTo>
                <a:lnTo>
                  <a:pt x="12" y="87"/>
                </a:lnTo>
                <a:lnTo>
                  <a:pt x="4" y="97"/>
                </a:lnTo>
                <a:lnTo>
                  <a:pt x="1" y="107"/>
                </a:lnTo>
                <a:lnTo>
                  <a:pt x="0" y="1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2">
            <a:extLst>
              <a:ext uri="{FF2B5EF4-FFF2-40B4-BE49-F238E27FC236}">
                <a16:creationId xmlns:a16="http://schemas.microsoft.com/office/drawing/2014/main" id="{005B1CD9-2F22-1ADD-C766-379EBF5E1BBF}"/>
              </a:ext>
            </a:extLst>
          </p:cNvPr>
          <p:cNvSpPr>
            <a:spLocks/>
          </p:cNvSpPr>
          <p:nvPr/>
        </p:nvSpPr>
        <p:spPr bwMode="auto">
          <a:xfrm>
            <a:off x="2850356" y="2753434"/>
            <a:ext cx="1055688" cy="371475"/>
          </a:xfrm>
          <a:custGeom>
            <a:avLst/>
            <a:gdLst>
              <a:gd name="T0" fmla="*/ 1 w 665"/>
              <a:gd name="T1" fmla="*/ 127 h 234"/>
              <a:gd name="T2" fmla="*/ 10 w 665"/>
              <a:gd name="T3" fmla="*/ 147 h 234"/>
              <a:gd name="T4" fmla="*/ 31 w 665"/>
              <a:gd name="T5" fmla="*/ 166 h 234"/>
              <a:gd name="T6" fmla="*/ 59 w 665"/>
              <a:gd name="T7" fmla="*/ 183 h 234"/>
              <a:gd name="T8" fmla="*/ 96 w 665"/>
              <a:gd name="T9" fmla="*/ 199 h 234"/>
              <a:gd name="T10" fmla="*/ 141 w 665"/>
              <a:gd name="T11" fmla="*/ 212 h 234"/>
              <a:gd name="T12" fmla="*/ 191 w 665"/>
              <a:gd name="T13" fmla="*/ 222 h 234"/>
              <a:gd name="T14" fmla="*/ 245 w 665"/>
              <a:gd name="T15" fmla="*/ 229 h 234"/>
              <a:gd name="T16" fmla="*/ 302 w 665"/>
              <a:gd name="T17" fmla="*/ 232 h 234"/>
              <a:gd name="T18" fmla="*/ 361 w 665"/>
              <a:gd name="T19" fmla="*/ 232 h 234"/>
              <a:gd name="T20" fmla="*/ 418 w 665"/>
              <a:gd name="T21" fmla="*/ 229 h 234"/>
              <a:gd name="T22" fmla="*/ 472 w 665"/>
              <a:gd name="T23" fmla="*/ 222 h 234"/>
              <a:gd name="T24" fmla="*/ 522 w 665"/>
              <a:gd name="T25" fmla="*/ 212 h 234"/>
              <a:gd name="T26" fmla="*/ 565 w 665"/>
              <a:gd name="T27" fmla="*/ 199 h 234"/>
              <a:gd name="T28" fmla="*/ 603 w 665"/>
              <a:gd name="T29" fmla="*/ 183 h 234"/>
              <a:gd name="T30" fmla="*/ 632 w 665"/>
              <a:gd name="T31" fmla="*/ 166 h 234"/>
              <a:gd name="T32" fmla="*/ 653 w 665"/>
              <a:gd name="T33" fmla="*/ 147 h 234"/>
              <a:gd name="T34" fmla="*/ 662 w 665"/>
              <a:gd name="T35" fmla="*/ 127 h 234"/>
              <a:gd name="T36" fmla="*/ 662 w 665"/>
              <a:gd name="T37" fmla="*/ 106 h 234"/>
              <a:gd name="T38" fmla="*/ 653 w 665"/>
              <a:gd name="T39" fmla="*/ 86 h 234"/>
              <a:gd name="T40" fmla="*/ 632 w 665"/>
              <a:gd name="T41" fmla="*/ 68 h 234"/>
              <a:gd name="T42" fmla="*/ 603 w 665"/>
              <a:gd name="T43" fmla="*/ 50 h 234"/>
              <a:gd name="T44" fmla="*/ 565 w 665"/>
              <a:gd name="T45" fmla="*/ 34 h 234"/>
              <a:gd name="T46" fmla="*/ 522 w 665"/>
              <a:gd name="T47" fmla="*/ 21 h 234"/>
              <a:gd name="T48" fmla="*/ 472 w 665"/>
              <a:gd name="T49" fmla="*/ 11 h 234"/>
              <a:gd name="T50" fmla="*/ 416 w 665"/>
              <a:gd name="T51" fmla="*/ 5 h 234"/>
              <a:gd name="T52" fmla="*/ 361 w 665"/>
              <a:gd name="T53" fmla="*/ 1 h 234"/>
              <a:gd name="T54" fmla="*/ 302 w 665"/>
              <a:gd name="T55" fmla="*/ 1 h 234"/>
              <a:gd name="T56" fmla="*/ 245 w 665"/>
              <a:gd name="T57" fmla="*/ 5 h 234"/>
              <a:gd name="T58" fmla="*/ 191 w 665"/>
              <a:gd name="T59" fmla="*/ 12 h 234"/>
              <a:gd name="T60" fmla="*/ 141 w 665"/>
              <a:gd name="T61" fmla="*/ 21 h 234"/>
              <a:gd name="T62" fmla="*/ 96 w 665"/>
              <a:gd name="T63" fmla="*/ 35 h 234"/>
              <a:gd name="T64" fmla="*/ 59 w 665"/>
              <a:gd name="T65" fmla="*/ 50 h 234"/>
              <a:gd name="T66" fmla="*/ 31 w 665"/>
              <a:gd name="T67" fmla="*/ 68 h 234"/>
              <a:gd name="T68" fmla="*/ 10 w 665"/>
              <a:gd name="T69" fmla="*/ 86 h 234"/>
              <a:gd name="T70" fmla="*/ 1 w 665"/>
              <a:gd name="T71" fmla="*/ 10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5" h="234">
                <a:moveTo>
                  <a:pt x="0" y="117"/>
                </a:moveTo>
                <a:lnTo>
                  <a:pt x="1" y="127"/>
                </a:lnTo>
                <a:lnTo>
                  <a:pt x="4" y="137"/>
                </a:lnTo>
                <a:lnTo>
                  <a:pt x="10" y="147"/>
                </a:lnTo>
                <a:lnTo>
                  <a:pt x="19" y="156"/>
                </a:lnTo>
                <a:lnTo>
                  <a:pt x="31" y="166"/>
                </a:lnTo>
                <a:lnTo>
                  <a:pt x="43" y="175"/>
                </a:lnTo>
                <a:lnTo>
                  <a:pt x="59" y="183"/>
                </a:lnTo>
                <a:lnTo>
                  <a:pt x="77" y="191"/>
                </a:lnTo>
                <a:lnTo>
                  <a:pt x="96" y="199"/>
                </a:lnTo>
                <a:lnTo>
                  <a:pt x="118" y="206"/>
                </a:lnTo>
                <a:lnTo>
                  <a:pt x="141" y="212"/>
                </a:lnTo>
                <a:lnTo>
                  <a:pt x="166" y="217"/>
                </a:lnTo>
                <a:lnTo>
                  <a:pt x="191" y="222"/>
                </a:lnTo>
                <a:lnTo>
                  <a:pt x="218" y="226"/>
                </a:lnTo>
                <a:lnTo>
                  <a:pt x="245" y="229"/>
                </a:lnTo>
                <a:lnTo>
                  <a:pt x="273" y="231"/>
                </a:lnTo>
                <a:lnTo>
                  <a:pt x="302" y="232"/>
                </a:lnTo>
                <a:lnTo>
                  <a:pt x="332" y="233"/>
                </a:lnTo>
                <a:lnTo>
                  <a:pt x="361" y="232"/>
                </a:lnTo>
                <a:lnTo>
                  <a:pt x="388" y="231"/>
                </a:lnTo>
                <a:lnTo>
                  <a:pt x="418" y="229"/>
                </a:lnTo>
                <a:lnTo>
                  <a:pt x="445" y="226"/>
                </a:lnTo>
                <a:lnTo>
                  <a:pt x="472" y="222"/>
                </a:lnTo>
                <a:lnTo>
                  <a:pt x="498" y="217"/>
                </a:lnTo>
                <a:lnTo>
                  <a:pt x="522" y="212"/>
                </a:lnTo>
                <a:lnTo>
                  <a:pt x="545" y="205"/>
                </a:lnTo>
                <a:lnTo>
                  <a:pt x="565" y="199"/>
                </a:lnTo>
                <a:lnTo>
                  <a:pt x="586" y="191"/>
                </a:lnTo>
                <a:lnTo>
                  <a:pt x="603" y="183"/>
                </a:lnTo>
                <a:lnTo>
                  <a:pt x="619" y="175"/>
                </a:lnTo>
                <a:lnTo>
                  <a:pt x="632" y="166"/>
                </a:lnTo>
                <a:lnTo>
                  <a:pt x="643" y="156"/>
                </a:lnTo>
                <a:lnTo>
                  <a:pt x="653" y="147"/>
                </a:lnTo>
                <a:lnTo>
                  <a:pt x="659" y="137"/>
                </a:lnTo>
                <a:lnTo>
                  <a:pt x="662" y="127"/>
                </a:lnTo>
                <a:lnTo>
                  <a:pt x="664" y="117"/>
                </a:lnTo>
                <a:lnTo>
                  <a:pt x="662" y="106"/>
                </a:lnTo>
                <a:lnTo>
                  <a:pt x="659" y="96"/>
                </a:lnTo>
                <a:lnTo>
                  <a:pt x="653" y="86"/>
                </a:lnTo>
                <a:lnTo>
                  <a:pt x="643" y="77"/>
                </a:lnTo>
                <a:lnTo>
                  <a:pt x="632" y="68"/>
                </a:lnTo>
                <a:lnTo>
                  <a:pt x="619" y="58"/>
                </a:lnTo>
                <a:lnTo>
                  <a:pt x="603" y="50"/>
                </a:lnTo>
                <a:lnTo>
                  <a:pt x="586" y="42"/>
                </a:lnTo>
                <a:lnTo>
                  <a:pt x="565" y="34"/>
                </a:lnTo>
                <a:lnTo>
                  <a:pt x="545" y="28"/>
                </a:lnTo>
                <a:lnTo>
                  <a:pt x="522" y="21"/>
                </a:lnTo>
                <a:lnTo>
                  <a:pt x="498" y="16"/>
                </a:lnTo>
                <a:lnTo>
                  <a:pt x="472" y="11"/>
                </a:lnTo>
                <a:lnTo>
                  <a:pt x="445" y="7"/>
                </a:lnTo>
                <a:lnTo>
                  <a:pt x="416" y="5"/>
                </a:lnTo>
                <a:lnTo>
                  <a:pt x="388" y="2"/>
                </a:lnTo>
                <a:lnTo>
                  <a:pt x="361" y="1"/>
                </a:lnTo>
                <a:lnTo>
                  <a:pt x="332" y="0"/>
                </a:lnTo>
                <a:lnTo>
                  <a:pt x="302" y="1"/>
                </a:lnTo>
                <a:lnTo>
                  <a:pt x="273" y="2"/>
                </a:lnTo>
                <a:lnTo>
                  <a:pt x="245" y="5"/>
                </a:lnTo>
                <a:lnTo>
                  <a:pt x="218" y="7"/>
                </a:lnTo>
                <a:lnTo>
                  <a:pt x="191" y="12"/>
                </a:lnTo>
                <a:lnTo>
                  <a:pt x="166" y="16"/>
                </a:lnTo>
                <a:lnTo>
                  <a:pt x="141" y="21"/>
                </a:lnTo>
                <a:lnTo>
                  <a:pt x="117" y="28"/>
                </a:lnTo>
                <a:lnTo>
                  <a:pt x="96" y="35"/>
                </a:lnTo>
                <a:lnTo>
                  <a:pt x="77" y="42"/>
                </a:lnTo>
                <a:lnTo>
                  <a:pt x="59" y="50"/>
                </a:lnTo>
                <a:lnTo>
                  <a:pt x="43" y="58"/>
                </a:lnTo>
                <a:lnTo>
                  <a:pt x="31" y="68"/>
                </a:lnTo>
                <a:lnTo>
                  <a:pt x="19" y="77"/>
                </a:lnTo>
                <a:lnTo>
                  <a:pt x="10" y="86"/>
                </a:lnTo>
                <a:lnTo>
                  <a:pt x="4" y="97"/>
                </a:lnTo>
                <a:lnTo>
                  <a:pt x="1" y="107"/>
                </a:lnTo>
                <a:lnTo>
                  <a:pt x="0" y="11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3">
            <a:extLst>
              <a:ext uri="{FF2B5EF4-FFF2-40B4-BE49-F238E27FC236}">
                <a16:creationId xmlns:a16="http://schemas.microsoft.com/office/drawing/2014/main" id="{C8B5AB33-779A-4D61-442A-95306A517B35}"/>
              </a:ext>
            </a:extLst>
          </p:cNvPr>
          <p:cNvSpPr>
            <a:spLocks/>
          </p:cNvSpPr>
          <p:nvPr/>
        </p:nvSpPr>
        <p:spPr bwMode="auto">
          <a:xfrm>
            <a:off x="3917156" y="3210634"/>
            <a:ext cx="1176338" cy="609600"/>
          </a:xfrm>
          <a:custGeom>
            <a:avLst/>
            <a:gdLst>
              <a:gd name="T0" fmla="*/ 0 w 741"/>
              <a:gd name="T1" fmla="*/ 191 h 384"/>
              <a:gd name="T2" fmla="*/ 365 w 741"/>
              <a:gd name="T3" fmla="*/ 0 h 384"/>
              <a:gd name="T4" fmla="*/ 740 w 741"/>
              <a:gd name="T5" fmla="*/ 198 h 384"/>
              <a:gd name="T6" fmla="*/ 365 w 741"/>
              <a:gd name="T7" fmla="*/ 383 h 384"/>
              <a:gd name="T8" fmla="*/ 0 w 741"/>
              <a:gd name="T9" fmla="*/ 191 h 384"/>
            </a:gdLst>
            <a:ahLst/>
            <a:cxnLst>
              <a:cxn ang="0">
                <a:pos x="T0" y="T1"/>
              </a:cxn>
              <a:cxn ang="0">
                <a:pos x="T2" y="T3"/>
              </a:cxn>
              <a:cxn ang="0">
                <a:pos x="T4" y="T5"/>
              </a:cxn>
              <a:cxn ang="0">
                <a:pos x="T6" y="T7"/>
              </a:cxn>
              <a:cxn ang="0">
                <a:pos x="T8" y="T9"/>
              </a:cxn>
            </a:cxnLst>
            <a:rect l="0" t="0" r="r" b="b"/>
            <a:pathLst>
              <a:path w="741" h="384">
                <a:moveTo>
                  <a:pt x="0" y="191"/>
                </a:moveTo>
                <a:lnTo>
                  <a:pt x="365" y="0"/>
                </a:lnTo>
                <a:lnTo>
                  <a:pt x="740" y="198"/>
                </a:lnTo>
                <a:lnTo>
                  <a:pt x="365" y="383"/>
                </a:lnTo>
                <a:lnTo>
                  <a:pt x="0" y="191"/>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4">
            <a:extLst>
              <a:ext uri="{FF2B5EF4-FFF2-40B4-BE49-F238E27FC236}">
                <a16:creationId xmlns:a16="http://schemas.microsoft.com/office/drawing/2014/main" id="{9D1FB6E0-11D6-5DC8-3C18-7F3A0F1F9D2A}"/>
              </a:ext>
            </a:extLst>
          </p:cNvPr>
          <p:cNvSpPr>
            <a:spLocks/>
          </p:cNvSpPr>
          <p:nvPr/>
        </p:nvSpPr>
        <p:spPr bwMode="auto">
          <a:xfrm>
            <a:off x="1859756" y="3351922"/>
            <a:ext cx="1249363" cy="331787"/>
          </a:xfrm>
          <a:custGeom>
            <a:avLst/>
            <a:gdLst>
              <a:gd name="T0" fmla="*/ 786 w 787"/>
              <a:gd name="T1" fmla="*/ 208 h 209"/>
              <a:gd name="T2" fmla="*/ 786 w 787"/>
              <a:gd name="T3" fmla="*/ 0 h 209"/>
              <a:gd name="T4" fmla="*/ 0 w 787"/>
              <a:gd name="T5" fmla="*/ 0 h 209"/>
              <a:gd name="T6" fmla="*/ 0 w 787"/>
              <a:gd name="T7" fmla="*/ 208 h 209"/>
              <a:gd name="T8" fmla="*/ 786 w 787"/>
              <a:gd name="T9" fmla="*/ 208 h 209"/>
            </a:gdLst>
            <a:ahLst/>
            <a:cxnLst>
              <a:cxn ang="0">
                <a:pos x="T0" y="T1"/>
              </a:cxn>
              <a:cxn ang="0">
                <a:pos x="T2" y="T3"/>
              </a:cxn>
              <a:cxn ang="0">
                <a:pos x="T4" y="T5"/>
              </a:cxn>
              <a:cxn ang="0">
                <a:pos x="T6" y="T7"/>
              </a:cxn>
              <a:cxn ang="0">
                <a:pos x="T8" y="T9"/>
              </a:cxn>
            </a:cxnLst>
            <a:rect l="0" t="0" r="r" b="b"/>
            <a:pathLst>
              <a:path w="787" h="209">
                <a:moveTo>
                  <a:pt x="786" y="208"/>
                </a:moveTo>
                <a:lnTo>
                  <a:pt x="786" y="0"/>
                </a:lnTo>
                <a:lnTo>
                  <a:pt x="0" y="0"/>
                </a:lnTo>
                <a:lnTo>
                  <a:pt x="0" y="208"/>
                </a:lnTo>
                <a:lnTo>
                  <a:pt x="786" y="20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5">
            <a:extLst>
              <a:ext uri="{FF2B5EF4-FFF2-40B4-BE49-F238E27FC236}">
                <a16:creationId xmlns:a16="http://schemas.microsoft.com/office/drawing/2014/main" id="{BDC84DC9-A882-2A01-0776-1C8CEE0EB9EA}"/>
              </a:ext>
            </a:extLst>
          </p:cNvPr>
          <p:cNvSpPr>
            <a:spLocks/>
          </p:cNvSpPr>
          <p:nvPr/>
        </p:nvSpPr>
        <p:spPr bwMode="auto">
          <a:xfrm>
            <a:off x="6077744" y="2493084"/>
            <a:ext cx="1058862" cy="371475"/>
          </a:xfrm>
          <a:custGeom>
            <a:avLst/>
            <a:gdLst>
              <a:gd name="T0" fmla="*/ 664 w 667"/>
              <a:gd name="T1" fmla="*/ 107 h 234"/>
              <a:gd name="T2" fmla="*/ 655 w 667"/>
              <a:gd name="T3" fmla="*/ 86 h 234"/>
              <a:gd name="T4" fmla="*/ 634 w 667"/>
              <a:gd name="T5" fmla="*/ 67 h 234"/>
              <a:gd name="T6" fmla="*/ 606 w 667"/>
              <a:gd name="T7" fmla="*/ 50 h 234"/>
              <a:gd name="T8" fmla="*/ 568 w 667"/>
              <a:gd name="T9" fmla="*/ 35 h 234"/>
              <a:gd name="T10" fmla="*/ 524 w 667"/>
              <a:gd name="T11" fmla="*/ 21 h 234"/>
              <a:gd name="T12" fmla="*/ 474 w 667"/>
              <a:gd name="T13" fmla="*/ 11 h 234"/>
              <a:gd name="T14" fmla="*/ 419 w 667"/>
              <a:gd name="T15" fmla="*/ 4 h 234"/>
              <a:gd name="T16" fmla="*/ 362 w 667"/>
              <a:gd name="T17" fmla="*/ 1 h 234"/>
              <a:gd name="T18" fmla="*/ 304 w 667"/>
              <a:gd name="T19" fmla="*/ 1 h 234"/>
              <a:gd name="T20" fmla="*/ 247 w 667"/>
              <a:gd name="T21" fmla="*/ 4 h 234"/>
              <a:gd name="T22" fmla="*/ 192 w 667"/>
              <a:gd name="T23" fmla="*/ 11 h 234"/>
              <a:gd name="T24" fmla="*/ 143 w 667"/>
              <a:gd name="T25" fmla="*/ 21 h 234"/>
              <a:gd name="T26" fmla="*/ 98 w 667"/>
              <a:gd name="T27" fmla="*/ 35 h 234"/>
              <a:gd name="T28" fmla="*/ 60 w 667"/>
              <a:gd name="T29" fmla="*/ 50 h 234"/>
              <a:gd name="T30" fmla="*/ 31 w 667"/>
              <a:gd name="T31" fmla="*/ 67 h 234"/>
              <a:gd name="T32" fmla="*/ 12 w 667"/>
              <a:gd name="T33" fmla="*/ 86 h 234"/>
              <a:gd name="T34" fmla="*/ 2 w 667"/>
              <a:gd name="T35" fmla="*/ 107 h 234"/>
              <a:gd name="T36" fmla="*/ 2 w 667"/>
              <a:gd name="T37" fmla="*/ 127 h 234"/>
              <a:gd name="T38" fmla="*/ 12 w 667"/>
              <a:gd name="T39" fmla="*/ 147 h 234"/>
              <a:gd name="T40" fmla="*/ 31 w 667"/>
              <a:gd name="T41" fmla="*/ 166 h 234"/>
              <a:gd name="T42" fmla="*/ 60 w 667"/>
              <a:gd name="T43" fmla="*/ 183 h 234"/>
              <a:gd name="T44" fmla="*/ 98 w 667"/>
              <a:gd name="T45" fmla="*/ 199 h 234"/>
              <a:gd name="T46" fmla="*/ 143 w 667"/>
              <a:gd name="T47" fmla="*/ 212 h 234"/>
              <a:gd name="T48" fmla="*/ 192 w 667"/>
              <a:gd name="T49" fmla="*/ 222 h 234"/>
              <a:gd name="T50" fmla="*/ 247 w 667"/>
              <a:gd name="T51" fmla="*/ 229 h 234"/>
              <a:gd name="T52" fmla="*/ 304 w 667"/>
              <a:gd name="T53" fmla="*/ 232 h 234"/>
              <a:gd name="T54" fmla="*/ 362 w 667"/>
              <a:gd name="T55" fmla="*/ 232 h 234"/>
              <a:gd name="T56" fmla="*/ 419 w 667"/>
              <a:gd name="T57" fmla="*/ 229 h 234"/>
              <a:gd name="T58" fmla="*/ 474 w 667"/>
              <a:gd name="T59" fmla="*/ 222 h 234"/>
              <a:gd name="T60" fmla="*/ 524 w 667"/>
              <a:gd name="T61" fmla="*/ 212 h 234"/>
              <a:gd name="T62" fmla="*/ 568 w 667"/>
              <a:gd name="T63" fmla="*/ 199 h 234"/>
              <a:gd name="T64" fmla="*/ 606 w 667"/>
              <a:gd name="T65" fmla="*/ 183 h 234"/>
              <a:gd name="T66" fmla="*/ 634 w 667"/>
              <a:gd name="T67" fmla="*/ 166 h 234"/>
              <a:gd name="T68" fmla="*/ 655 w 667"/>
              <a:gd name="T69" fmla="*/ 147 h 234"/>
              <a:gd name="T70" fmla="*/ 664 w 667"/>
              <a:gd name="T71" fmla="*/ 12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7" h="234">
                <a:moveTo>
                  <a:pt x="666" y="116"/>
                </a:moveTo>
                <a:lnTo>
                  <a:pt x="664" y="107"/>
                </a:lnTo>
                <a:lnTo>
                  <a:pt x="661" y="96"/>
                </a:lnTo>
                <a:lnTo>
                  <a:pt x="655" y="86"/>
                </a:lnTo>
                <a:lnTo>
                  <a:pt x="646" y="77"/>
                </a:lnTo>
                <a:lnTo>
                  <a:pt x="634" y="67"/>
                </a:lnTo>
                <a:lnTo>
                  <a:pt x="621" y="58"/>
                </a:lnTo>
                <a:lnTo>
                  <a:pt x="606" y="50"/>
                </a:lnTo>
                <a:lnTo>
                  <a:pt x="588" y="42"/>
                </a:lnTo>
                <a:lnTo>
                  <a:pt x="568" y="35"/>
                </a:lnTo>
                <a:lnTo>
                  <a:pt x="547" y="28"/>
                </a:lnTo>
                <a:lnTo>
                  <a:pt x="524" y="21"/>
                </a:lnTo>
                <a:lnTo>
                  <a:pt x="499" y="16"/>
                </a:lnTo>
                <a:lnTo>
                  <a:pt x="474" y="11"/>
                </a:lnTo>
                <a:lnTo>
                  <a:pt x="447" y="7"/>
                </a:lnTo>
                <a:lnTo>
                  <a:pt x="419" y="4"/>
                </a:lnTo>
                <a:lnTo>
                  <a:pt x="391" y="2"/>
                </a:lnTo>
                <a:lnTo>
                  <a:pt x="362" y="1"/>
                </a:lnTo>
                <a:lnTo>
                  <a:pt x="333" y="0"/>
                </a:lnTo>
                <a:lnTo>
                  <a:pt x="304" y="1"/>
                </a:lnTo>
                <a:lnTo>
                  <a:pt x="275" y="2"/>
                </a:lnTo>
                <a:lnTo>
                  <a:pt x="247" y="4"/>
                </a:lnTo>
                <a:lnTo>
                  <a:pt x="219" y="7"/>
                </a:lnTo>
                <a:lnTo>
                  <a:pt x="192" y="11"/>
                </a:lnTo>
                <a:lnTo>
                  <a:pt x="167" y="16"/>
                </a:lnTo>
                <a:lnTo>
                  <a:pt x="143" y="21"/>
                </a:lnTo>
                <a:lnTo>
                  <a:pt x="120" y="28"/>
                </a:lnTo>
                <a:lnTo>
                  <a:pt x="98" y="35"/>
                </a:lnTo>
                <a:lnTo>
                  <a:pt x="78" y="42"/>
                </a:lnTo>
                <a:lnTo>
                  <a:pt x="60" y="50"/>
                </a:lnTo>
                <a:lnTo>
                  <a:pt x="46" y="58"/>
                </a:lnTo>
                <a:lnTo>
                  <a:pt x="31" y="67"/>
                </a:lnTo>
                <a:lnTo>
                  <a:pt x="20" y="77"/>
                </a:lnTo>
                <a:lnTo>
                  <a:pt x="12" y="86"/>
                </a:lnTo>
                <a:lnTo>
                  <a:pt x="6" y="96"/>
                </a:lnTo>
                <a:lnTo>
                  <a:pt x="2" y="107"/>
                </a:lnTo>
                <a:lnTo>
                  <a:pt x="0" y="116"/>
                </a:lnTo>
                <a:lnTo>
                  <a:pt x="2" y="127"/>
                </a:lnTo>
                <a:lnTo>
                  <a:pt x="6" y="137"/>
                </a:lnTo>
                <a:lnTo>
                  <a:pt x="12" y="147"/>
                </a:lnTo>
                <a:lnTo>
                  <a:pt x="20" y="156"/>
                </a:lnTo>
                <a:lnTo>
                  <a:pt x="31" y="166"/>
                </a:lnTo>
                <a:lnTo>
                  <a:pt x="46" y="175"/>
                </a:lnTo>
                <a:lnTo>
                  <a:pt x="60" y="183"/>
                </a:lnTo>
                <a:lnTo>
                  <a:pt x="78" y="191"/>
                </a:lnTo>
                <a:lnTo>
                  <a:pt x="98" y="199"/>
                </a:lnTo>
                <a:lnTo>
                  <a:pt x="120" y="206"/>
                </a:lnTo>
                <a:lnTo>
                  <a:pt x="143" y="212"/>
                </a:lnTo>
                <a:lnTo>
                  <a:pt x="167" y="217"/>
                </a:lnTo>
                <a:lnTo>
                  <a:pt x="192" y="222"/>
                </a:lnTo>
                <a:lnTo>
                  <a:pt x="219" y="226"/>
                </a:lnTo>
                <a:lnTo>
                  <a:pt x="247" y="229"/>
                </a:lnTo>
                <a:lnTo>
                  <a:pt x="275" y="231"/>
                </a:lnTo>
                <a:lnTo>
                  <a:pt x="304" y="232"/>
                </a:lnTo>
                <a:lnTo>
                  <a:pt x="333" y="233"/>
                </a:lnTo>
                <a:lnTo>
                  <a:pt x="362" y="232"/>
                </a:lnTo>
                <a:lnTo>
                  <a:pt x="391" y="231"/>
                </a:lnTo>
                <a:lnTo>
                  <a:pt x="419" y="229"/>
                </a:lnTo>
                <a:lnTo>
                  <a:pt x="447" y="226"/>
                </a:lnTo>
                <a:lnTo>
                  <a:pt x="474" y="222"/>
                </a:lnTo>
                <a:lnTo>
                  <a:pt x="499" y="217"/>
                </a:lnTo>
                <a:lnTo>
                  <a:pt x="524" y="212"/>
                </a:lnTo>
                <a:lnTo>
                  <a:pt x="547" y="206"/>
                </a:lnTo>
                <a:lnTo>
                  <a:pt x="568" y="199"/>
                </a:lnTo>
                <a:lnTo>
                  <a:pt x="588" y="191"/>
                </a:lnTo>
                <a:lnTo>
                  <a:pt x="606" y="183"/>
                </a:lnTo>
                <a:lnTo>
                  <a:pt x="621" y="175"/>
                </a:lnTo>
                <a:lnTo>
                  <a:pt x="634" y="166"/>
                </a:lnTo>
                <a:lnTo>
                  <a:pt x="646" y="156"/>
                </a:lnTo>
                <a:lnTo>
                  <a:pt x="655" y="147"/>
                </a:lnTo>
                <a:lnTo>
                  <a:pt x="661" y="137"/>
                </a:lnTo>
                <a:lnTo>
                  <a:pt x="664" y="127"/>
                </a:lnTo>
                <a:lnTo>
                  <a:pt x="666" y="11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Rectangle 16">
            <a:extLst>
              <a:ext uri="{FF2B5EF4-FFF2-40B4-BE49-F238E27FC236}">
                <a16:creationId xmlns:a16="http://schemas.microsoft.com/office/drawing/2014/main" id="{66D2F616-C631-8E26-2AA3-FA3C2A919EFF}"/>
              </a:ext>
            </a:extLst>
          </p:cNvPr>
          <p:cNvSpPr>
            <a:spLocks noChangeArrowheads="1"/>
          </p:cNvSpPr>
          <p:nvPr/>
        </p:nvSpPr>
        <p:spPr bwMode="auto">
          <a:xfrm>
            <a:off x="3169444" y="2755022"/>
            <a:ext cx="428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16" name="Freeform 17">
            <a:extLst>
              <a:ext uri="{FF2B5EF4-FFF2-40B4-BE49-F238E27FC236}">
                <a16:creationId xmlns:a16="http://schemas.microsoft.com/office/drawing/2014/main" id="{14902CF6-AD00-B862-F798-943523795736}"/>
              </a:ext>
            </a:extLst>
          </p:cNvPr>
          <p:cNvSpPr>
            <a:spLocks/>
          </p:cNvSpPr>
          <p:nvPr/>
        </p:nvSpPr>
        <p:spPr bwMode="auto">
          <a:xfrm>
            <a:off x="6077744" y="3361447"/>
            <a:ext cx="1474787" cy="361950"/>
          </a:xfrm>
          <a:custGeom>
            <a:avLst/>
            <a:gdLst>
              <a:gd name="T0" fmla="*/ 928 w 929"/>
              <a:gd name="T1" fmla="*/ 227 h 228"/>
              <a:gd name="T2" fmla="*/ 928 w 929"/>
              <a:gd name="T3" fmla="*/ 0 h 228"/>
              <a:gd name="T4" fmla="*/ 0 w 929"/>
              <a:gd name="T5" fmla="*/ 0 h 228"/>
              <a:gd name="T6" fmla="*/ 0 w 929"/>
              <a:gd name="T7" fmla="*/ 227 h 228"/>
              <a:gd name="T8" fmla="*/ 928 w 929"/>
              <a:gd name="T9" fmla="*/ 227 h 228"/>
            </a:gdLst>
            <a:ahLst/>
            <a:cxnLst>
              <a:cxn ang="0">
                <a:pos x="T0" y="T1"/>
              </a:cxn>
              <a:cxn ang="0">
                <a:pos x="T2" y="T3"/>
              </a:cxn>
              <a:cxn ang="0">
                <a:pos x="T4" y="T5"/>
              </a:cxn>
              <a:cxn ang="0">
                <a:pos x="T6" y="T7"/>
              </a:cxn>
              <a:cxn ang="0">
                <a:pos x="T8" y="T9"/>
              </a:cxn>
            </a:cxnLst>
            <a:rect l="0" t="0" r="r" b="b"/>
            <a:pathLst>
              <a:path w="929" h="228">
                <a:moveTo>
                  <a:pt x="928" y="227"/>
                </a:moveTo>
                <a:lnTo>
                  <a:pt x="928" y="0"/>
                </a:lnTo>
                <a:lnTo>
                  <a:pt x="0" y="0"/>
                </a:lnTo>
                <a:lnTo>
                  <a:pt x="0" y="227"/>
                </a:lnTo>
                <a:lnTo>
                  <a:pt x="928" y="22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8">
            <a:extLst>
              <a:ext uri="{FF2B5EF4-FFF2-40B4-BE49-F238E27FC236}">
                <a16:creationId xmlns:a16="http://schemas.microsoft.com/office/drawing/2014/main" id="{04CAD1EA-F6F1-2496-1970-BB8A64D415EB}"/>
              </a:ext>
            </a:extLst>
          </p:cNvPr>
          <p:cNvSpPr>
            <a:spLocks/>
          </p:cNvSpPr>
          <p:nvPr/>
        </p:nvSpPr>
        <p:spPr bwMode="auto">
          <a:xfrm>
            <a:off x="3917156" y="4023434"/>
            <a:ext cx="1404938" cy="609600"/>
          </a:xfrm>
          <a:custGeom>
            <a:avLst/>
            <a:gdLst>
              <a:gd name="T0" fmla="*/ 0 w 885"/>
              <a:gd name="T1" fmla="*/ 192 h 384"/>
              <a:gd name="T2" fmla="*/ 436 w 885"/>
              <a:gd name="T3" fmla="*/ 0 h 384"/>
              <a:gd name="T4" fmla="*/ 884 w 885"/>
              <a:gd name="T5" fmla="*/ 198 h 384"/>
              <a:gd name="T6" fmla="*/ 436 w 885"/>
              <a:gd name="T7" fmla="*/ 383 h 384"/>
              <a:gd name="T8" fmla="*/ 0 w 885"/>
              <a:gd name="T9" fmla="*/ 192 h 384"/>
            </a:gdLst>
            <a:ahLst/>
            <a:cxnLst>
              <a:cxn ang="0">
                <a:pos x="T0" y="T1"/>
              </a:cxn>
              <a:cxn ang="0">
                <a:pos x="T2" y="T3"/>
              </a:cxn>
              <a:cxn ang="0">
                <a:pos x="T4" y="T5"/>
              </a:cxn>
              <a:cxn ang="0">
                <a:pos x="T6" y="T7"/>
              </a:cxn>
              <a:cxn ang="0">
                <a:pos x="T8" y="T9"/>
              </a:cxn>
            </a:cxnLst>
            <a:rect l="0" t="0" r="r" b="b"/>
            <a:pathLst>
              <a:path w="885" h="384">
                <a:moveTo>
                  <a:pt x="0" y="192"/>
                </a:moveTo>
                <a:lnTo>
                  <a:pt x="436" y="0"/>
                </a:lnTo>
                <a:lnTo>
                  <a:pt x="884" y="198"/>
                </a:lnTo>
                <a:lnTo>
                  <a:pt x="436" y="383"/>
                </a:lnTo>
                <a:lnTo>
                  <a:pt x="0" y="19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Rectangle 19">
            <a:extLst>
              <a:ext uri="{FF2B5EF4-FFF2-40B4-BE49-F238E27FC236}">
                <a16:creationId xmlns:a16="http://schemas.microsoft.com/office/drawing/2014/main" id="{00C664BC-C790-A1B3-08D7-E6CCEC15D3B0}"/>
              </a:ext>
            </a:extLst>
          </p:cNvPr>
          <p:cNvSpPr>
            <a:spLocks noChangeArrowheads="1"/>
          </p:cNvSpPr>
          <p:nvPr/>
        </p:nvSpPr>
        <p:spPr bwMode="auto">
          <a:xfrm>
            <a:off x="2099469" y="2461334"/>
            <a:ext cx="7112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19" name="Rectangle 20">
            <a:extLst>
              <a:ext uri="{FF2B5EF4-FFF2-40B4-BE49-F238E27FC236}">
                <a16:creationId xmlns:a16="http://schemas.microsoft.com/office/drawing/2014/main" id="{69F7C80B-8883-E7D7-CFDC-410039F89CDC}"/>
              </a:ext>
            </a:extLst>
          </p:cNvPr>
          <p:cNvSpPr>
            <a:spLocks noChangeArrowheads="1"/>
          </p:cNvSpPr>
          <p:nvPr/>
        </p:nvSpPr>
        <p:spPr bwMode="auto">
          <a:xfrm>
            <a:off x="6280944" y="2470859"/>
            <a:ext cx="836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dname</a:t>
            </a:r>
          </a:p>
        </p:txBody>
      </p:sp>
      <p:sp>
        <p:nvSpPr>
          <p:cNvPr id="20" name="Rectangle 21">
            <a:extLst>
              <a:ext uri="{FF2B5EF4-FFF2-40B4-BE49-F238E27FC236}">
                <a16:creationId xmlns:a16="http://schemas.microsoft.com/office/drawing/2014/main" id="{24E5F081-9794-A599-DB75-3542FDED5D25}"/>
              </a:ext>
            </a:extLst>
          </p:cNvPr>
          <p:cNvSpPr>
            <a:spLocks noChangeArrowheads="1"/>
          </p:cNvSpPr>
          <p:nvPr/>
        </p:nvSpPr>
        <p:spPr bwMode="auto">
          <a:xfrm>
            <a:off x="7296944" y="2753434"/>
            <a:ext cx="8588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21" name="Rectangle 22">
            <a:extLst>
              <a:ext uri="{FF2B5EF4-FFF2-40B4-BE49-F238E27FC236}">
                <a16:creationId xmlns:a16="http://schemas.microsoft.com/office/drawing/2014/main" id="{DBE0791F-A356-4B7C-1DE9-8F626276DFD4}"/>
              </a:ext>
            </a:extLst>
          </p:cNvPr>
          <p:cNvSpPr>
            <a:spLocks noChangeArrowheads="1"/>
          </p:cNvSpPr>
          <p:nvPr/>
        </p:nvSpPr>
        <p:spPr bwMode="auto">
          <a:xfrm>
            <a:off x="5422106" y="2753434"/>
            <a:ext cx="485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did</a:t>
            </a:r>
          </a:p>
        </p:txBody>
      </p:sp>
      <p:sp>
        <p:nvSpPr>
          <p:cNvPr id="22" name="Rectangle 23">
            <a:extLst>
              <a:ext uri="{FF2B5EF4-FFF2-40B4-BE49-F238E27FC236}">
                <a16:creationId xmlns:a16="http://schemas.microsoft.com/office/drawing/2014/main" id="{6B207051-6510-8A22-BB64-9D57A4BBD87C}"/>
              </a:ext>
            </a:extLst>
          </p:cNvPr>
          <p:cNvSpPr>
            <a:spLocks noChangeArrowheads="1"/>
          </p:cNvSpPr>
          <p:nvPr/>
        </p:nvSpPr>
        <p:spPr bwMode="auto">
          <a:xfrm>
            <a:off x="4176712" y="2209800"/>
            <a:ext cx="7000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dirty="0">
                <a:solidFill>
                  <a:srgbClr val="000000"/>
                </a:solidFill>
                <a:latin typeface="Arial" pitchFamily="34" charset="0"/>
              </a:rPr>
              <a:t>since</a:t>
            </a:r>
          </a:p>
        </p:txBody>
      </p:sp>
      <p:sp>
        <p:nvSpPr>
          <p:cNvPr id="23" name="Rectangle 24">
            <a:extLst>
              <a:ext uri="{FF2B5EF4-FFF2-40B4-BE49-F238E27FC236}">
                <a16:creationId xmlns:a16="http://schemas.microsoft.com/office/drawing/2014/main" id="{99EE04D0-B3BF-E5C6-AFC6-D4FED2E804E4}"/>
              </a:ext>
            </a:extLst>
          </p:cNvPr>
          <p:cNvSpPr>
            <a:spLocks noChangeArrowheads="1"/>
          </p:cNvSpPr>
          <p:nvPr/>
        </p:nvSpPr>
        <p:spPr bwMode="auto">
          <a:xfrm>
            <a:off x="2099469" y="2461334"/>
            <a:ext cx="7112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24" name="Rectangle 25">
            <a:extLst>
              <a:ext uri="{FF2B5EF4-FFF2-40B4-BE49-F238E27FC236}">
                <a16:creationId xmlns:a16="http://schemas.microsoft.com/office/drawing/2014/main" id="{07531E40-62AD-90AE-B3F7-46B42989C9E9}"/>
              </a:ext>
            </a:extLst>
          </p:cNvPr>
          <p:cNvSpPr>
            <a:spLocks noChangeArrowheads="1"/>
          </p:cNvSpPr>
          <p:nvPr/>
        </p:nvSpPr>
        <p:spPr bwMode="auto">
          <a:xfrm>
            <a:off x="6280944" y="2470859"/>
            <a:ext cx="836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dname</a:t>
            </a:r>
          </a:p>
        </p:txBody>
      </p:sp>
      <p:sp>
        <p:nvSpPr>
          <p:cNvPr id="25" name="Rectangle 26">
            <a:extLst>
              <a:ext uri="{FF2B5EF4-FFF2-40B4-BE49-F238E27FC236}">
                <a16:creationId xmlns:a16="http://schemas.microsoft.com/office/drawing/2014/main" id="{87D55ECA-00E7-F89F-FD1E-668F820C0B3D}"/>
              </a:ext>
            </a:extLst>
          </p:cNvPr>
          <p:cNvSpPr>
            <a:spLocks noChangeArrowheads="1"/>
          </p:cNvSpPr>
          <p:nvPr/>
        </p:nvSpPr>
        <p:spPr bwMode="auto">
          <a:xfrm>
            <a:off x="7296944" y="2753434"/>
            <a:ext cx="8588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26" name="Rectangle 27">
            <a:extLst>
              <a:ext uri="{FF2B5EF4-FFF2-40B4-BE49-F238E27FC236}">
                <a16:creationId xmlns:a16="http://schemas.microsoft.com/office/drawing/2014/main" id="{3163411C-0643-C430-7E6A-1829F71562D5}"/>
              </a:ext>
            </a:extLst>
          </p:cNvPr>
          <p:cNvSpPr>
            <a:spLocks noChangeArrowheads="1"/>
          </p:cNvSpPr>
          <p:nvPr/>
        </p:nvSpPr>
        <p:spPr bwMode="auto">
          <a:xfrm>
            <a:off x="5422106" y="2753434"/>
            <a:ext cx="485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u="sng">
                <a:solidFill>
                  <a:srgbClr val="000000"/>
                </a:solidFill>
                <a:latin typeface="Arial" pitchFamily="34" charset="0"/>
              </a:rPr>
              <a:t>did</a:t>
            </a:r>
          </a:p>
        </p:txBody>
      </p:sp>
      <p:sp>
        <p:nvSpPr>
          <p:cNvPr id="28" name="Rectangle 29">
            <a:extLst>
              <a:ext uri="{FF2B5EF4-FFF2-40B4-BE49-F238E27FC236}">
                <a16:creationId xmlns:a16="http://schemas.microsoft.com/office/drawing/2014/main" id="{C24BCB8C-C0AF-3953-DC60-FB5842FC1CC0}"/>
              </a:ext>
            </a:extLst>
          </p:cNvPr>
          <p:cNvSpPr>
            <a:spLocks noChangeArrowheads="1"/>
          </p:cNvSpPr>
          <p:nvPr/>
        </p:nvSpPr>
        <p:spPr bwMode="auto">
          <a:xfrm>
            <a:off x="3961606" y="3367797"/>
            <a:ext cx="10509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Manages</a:t>
            </a:r>
          </a:p>
        </p:txBody>
      </p:sp>
      <p:sp>
        <p:nvSpPr>
          <p:cNvPr id="29" name="Rectangle 30">
            <a:extLst>
              <a:ext uri="{FF2B5EF4-FFF2-40B4-BE49-F238E27FC236}">
                <a16:creationId xmlns:a16="http://schemas.microsoft.com/office/drawing/2014/main" id="{BE005958-ED90-A8FE-2EA0-A735B0214379}"/>
              </a:ext>
            </a:extLst>
          </p:cNvPr>
          <p:cNvSpPr>
            <a:spLocks noChangeArrowheads="1"/>
          </p:cNvSpPr>
          <p:nvPr/>
        </p:nvSpPr>
        <p:spPr bwMode="auto">
          <a:xfrm>
            <a:off x="4254146" y="4975195"/>
            <a:ext cx="7000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dirty="0">
                <a:solidFill>
                  <a:srgbClr val="000000"/>
                </a:solidFill>
                <a:latin typeface="Arial" pitchFamily="34" charset="0"/>
              </a:rPr>
              <a:t>since</a:t>
            </a:r>
          </a:p>
        </p:txBody>
      </p:sp>
      <p:sp>
        <p:nvSpPr>
          <p:cNvPr id="30" name="Rectangle 31">
            <a:extLst>
              <a:ext uri="{FF2B5EF4-FFF2-40B4-BE49-F238E27FC236}">
                <a16:creationId xmlns:a16="http://schemas.microsoft.com/office/drawing/2014/main" id="{C69407DD-0216-6F65-22CB-E603F4333DB0}"/>
              </a:ext>
            </a:extLst>
          </p:cNvPr>
          <p:cNvSpPr>
            <a:spLocks noChangeArrowheads="1"/>
          </p:cNvSpPr>
          <p:nvPr/>
        </p:nvSpPr>
        <p:spPr bwMode="auto">
          <a:xfrm>
            <a:off x="6136481" y="3350334"/>
            <a:ext cx="14224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Departments</a:t>
            </a:r>
          </a:p>
        </p:txBody>
      </p:sp>
      <p:sp>
        <p:nvSpPr>
          <p:cNvPr id="31" name="Rectangle 32">
            <a:extLst>
              <a:ext uri="{FF2B5EF4-FFF2-40B4-BE49-F238E27FC236}">
                <a16:creationId xmlns:a16="http://schemas.microsoft.com/office/drawing/2014/main" id="{80BC41C6-C08D-E291-14A4-75C3D6B2BEEC}"/>
              </a:ext>
            </a:extLst>
          </p:cNvPr>
          <p:cNvSpPr>
            <a:spLocks noChangeArrowheads="1"/>
          </p:cNvSpPr>
          <p:nvPr/>
        </p:nvSpPr>
        <p:spPr bwMode="auto">
          <a:xfrm>
            <a:off x="1942306" y="3351922"/>
            <a:ext cx="1254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Employees</a:t>
            </a:r>
          </a:p>
        </p:txBody>
      </p:sp>
      <p:sp>
        <p:nvSpPr>
          <p:cNvPr id="32" name="Rectangle 33">
            <a:extLst>
              <a:ext uri="{FF2B5EF4-FFF2-40B4-BE49-F238E27FC236}">
                <a16:creationId xmlns:a16="http://schemas.microsoft.com/office/drawing/2014/main" id="{A07ACEBB-4072-125D-1FBD-37385B2FEF21}"/>
              </a:ext>
            </a:extLst>
          </p:cNvPr>
          <p:cNvSpPr>
            <a:spLocks noChangeArrowheads="1"/>
          </p:cNvSpPr>
          <p:nvPr/>
        </p:nvSpPr>
        <p:spPr bwMode="auto">
          <a:xfrm>
            <a:off x="1177131" y="2743909"/>
            <a:ext cx="5318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u="sng">
                <a:solidFill>
                  <a:srgbClr val="000000"/>
                </a:solidFill>
                <a:latin typeface="Arial" pitchFamily="34" charset="0"/>
              </a:rPr>
              <a:t>ssn</a:t>
            </a:r>
          </a:p>
        </p:txBody>
      </p:sp>
      <p:sp>
        <p:nvSpPr>
          <p:cNvPr id="33" name="Rectangle 34">
            <a:extLst>
              <a:ext uri="{FF2B5EF4-FFF2-40B4-BE49-F238E27FC236}">
                <a16:creationId xmlns:a16="http://schemas.microsoft.com/office/drawing/2014/main" id="{91C9C3FF-BF99-68EB-D027-B8DBA598AA3F}"/>
              </a:ext>
            </a:extLst>
          </p:cNvPr>
          <p:cNvSpPr>
            <a:spLocks noChangeArrowheads="1"/>
          </p:cNvSpPr>
          <p:nvPr/>
        </p:nvSpPr>
        <p:spPr bwMode="auto">
          <a:xfrm>
            <a:off x="4131469" y="4153609"/>
            <a:ext cx="1095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Works_In</a:t>
            </a:r>
          </a:p>
        </p:txBody>
      </p:sp>
      <p:sp>
        <p:nvSpPr>
          <p:cNvPr id="34" name="Line 35">
            <a:extLst>
              <a:ext uri="{FF2B5EF4-FFF2-40B4-BE49-F238E27FC236}">
                <a16:creationId xmlns:a16="http://schemas.microsoft.com/office/drawing/2014/main" id="{A1ACD864-D021-A446-D552-EAD03809C955}"/>
              </a:ext>
            </a:extLst>
          </p:cNvPr>
          <p:cNvSpPr>
            <a:spLocks noChangeShapeType="1"/>
          </p:cNvSpPr>
          <p:nvPr/>
        </p:nvSpPr>
        <p:spPr bwMode="auto">
          <a:xfrm>
            <a:off x="1435894" y="3147134"/>
            <a:ext cx="646112" cy="20796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6">
            <a:extLst>
              <a:ext uri="{FF2B5EF4-FFF2-40B4-BE49-F238E27FC236}">
                <a16:creationId xmlns:a16="http://schemas.microsoft.com/office/drawing/2014/main" id="{1098A38F-1239-3D72-F7A2-B14D5E01104E}"/>
              </a:ext>
            </a:extLst>
          </p:cNvPr>
          <p:cNvSpPr>
            <a:spLocks noChangeShapeType="1"/>
          </p:cNvSpPr>
          <p:nvPr/>
        </p:nvSpPr>
        <p:spPr bwMode="auto">
          <a:xfrm>
            <a:off x="2378869" y="2866147"/>
            <a:ext cx="0" cy="488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7">
            <a:extLst>
              <a:ext uri="{FF2B5EF4-FFF2-40B4-BE49-F238E27FC236}">
                <a16:creationId xmlns:a16="http://schemas.microsoft.com/office/drawing/2014/main" id="{03B1A6DF-A69F-42B0-1B49-795A38F49351}"/>
              </a:ext>
            </a:extLst>
          </p:cNvPr>
          <p:cNvSpPr>
            <a:spLocks noChangeShapeType="1"/>
          </p:cNvSpPr>
          <p:nvPr/>
        </p:nvSpPr>
        <p:spPr bwMode="auto">
          <a:xfrm flipH="1">
            <a:off x="2690019" y="3147134"/>
            <a:ext cx="668337" cy="20796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8">
            <a:extLst>
              <a:ext uri="{FF2B5EF4-FFF2-40B4-BE49-F238E27FC236}">
                <a16:creationId xmlns:a16="http://schemas.microsoft.com/office/drawing/2014/main" id="{FF1FC2E3-DF83-A73C-D834-8726BF15C748}"/>
              </a:ext>
            </a:extLst>
          </p:cNvPr>
          <p:cNvSpPr>
            <a:spLocks noChangeShapeType="1"/>
          </p:cNvSpPr>
          <p:nvPr/>
        </p:nvSpPr>
        <p:spPr bwMode="auto">
          <a:xfrm flipV="1">
            <a:off x="4495006" y="2599447"/>
            <a:ext cx="0" cy="59531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9">
            <a:extLst>
              <a:ext uri="{FF2B5EF4-FFF2-40B4-BE49-F238E27FC236}">
                <a16:creationId xmlns:a16="http://schemas.microsoft.com/office/drawing/2014/main" id="{21D7853E-4DE0-F49F-BBB6-B50962F2E641}"/>
              </a:ext>
            </a:extLst>
          </p:cNvPr>
          <p:cNvSpPr>
            <a:spLocks noChangeShapeType="1"/>
          </p:cNvSpPr>
          <p:nvPr/>
        </p:nvSpPr>
        <p:spPr bwMode="auto">
          <a:xfrm>
            <a:off x="5644356" y="3147134"/>
            <a:ext cx="838200" cy="20796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0">
            <a:extLst>
              <a:ext uri="{FF2B5EF4-FFF2-40B4-BE49-F238E27FC236}">
                <a16:creationId xmlns:a16="http://schemas.microsoft.com/office/drawing/2014/main" id="{0F6DA48E-ADF8-AF74-566B-BF5B284A15C0}"/>
              </a:ext>
            </a:extLst>
          </p:cNvPr>
          <p:cNvSpPr>
            <a:spLocks noChangeShapeType="1"/>
          </p:cNvSpPr>
          <p:nvPr/>
        </p:nvSpPr>
        <p:spPr bwMode="auto">
          <a:xfrm>
            <a:off x="6609556" y="2866147"/>
            <a:ext cx="0" cy="488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41">
            <a:extLst>
              <a:ext uri="{FF2B5EF4-FFF2-40B4-BE49-F238E27FC236}">
                <a16:creationId xmlns:a16="http://schemas.microsoft.com/office/drawing/2014/main" id="{8959B020-7AC2-AA11-1EA4-DBC36E4E7526}"/>
              </a:ext>
            </a:extLst>
          </p:cNvPr>
          <p:cNvSpPr>
            <a:spLocks noChangeShapeType="1"/>
          </p:cNvSpPr>
          <p:nvPr/>
        </p:nvSpPr>
        <p:spPr bwMode="auto">
          <a:xfrm flipH="1">
            <a:off x="7065169" y="3147134"/>
            <a:ext cx="547687" cy="22701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2">
            <a:extLst>
              <a:ext uri="{FF2B5EF4-FFF2-40B4-BE49-F238E27FC236}">
                <a16:creationId xmlns:a16="http://schemas.microsoft.com/office/drawing/2014/main" id="{7B7B2945-B46D-FE01-1C63-366EA132CE2B}"/>
              </a:ext>
            </a:extLst>
          </p:cNvPr>
          <p:cNvSpPr>
            <a:spLocks noChangeShapeType="1"/>
          </p:cNvSpPr>
          <p:nvPr/>
        </p:nvSpPr>
        <p:spPr bwMode="auto">
          <a:xfrm flipH="1">
            <a:off x="4608249" y="4633034"/>
            <a:ext cx="0" cy="3556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3">
            <a:extLst>
              <a:ext uri="{FF2B5EF4-FFF2-40B4-BE49-F238E27FC236}">
                <a16:creationId xmlns:a16="http://schemas.microsoft.com/office/drawing/2014/main" id="{FABC9BA3-0A63-8AB7-05D7-EB29FC6F6701}"/>
              </a:ext>
            </a:extLst>
          </p:cNvPr>
          <p:cNvSpPr>
            <a:spLocks noChangeShapeType="1"/>
          </p:cNvSpPr>
          <p:nvPr/>
        </p:nvSpPr>
        <p:spPr bwMode="auto">
          <a:xfrm>
            <a:off x="5103018" y="3521784"/>
            <a:ext cx="968375" cy="0"/>
          </a:xfrm>
          <a:prstGeom prst="line">
            <a:avLst/>
          </a:prstGeom>
          <a:noFill/>
          <a:ln w="50800">
            <a:solidFill>
              <a:schemeClr val="tx2"/>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4">
            <a:extLst>
              <a:ext uri="{FF2B5EF4-FFF2-40B4-BE49-F238E27FC236}">
                <a16:creationId xmlns:a16="http://schemas.microsoft.com/office/drawing/2014/main" id="{25CA667F-B7AE-659E-4105-F850EA36B4CE}"/>
              </a:ext>
            </a:extLst>
          </p:cNvPr>
          <p:cNvSpPr>
            <a:spLocks noChangeShapeType="1"/>
          </p:cNvSpPr>
          <p:nvPr/>
        </p:nvSpPr>
        <p:spPr bwMode="auto">
          <a:xfrm flipH="1">
            <a:off x="3126581" y="3521784"/>
            <a:ext cx="766763"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45">
            <a:extLst>
              <a:ext uri="{FF2B5EF4-FFF2-40B4-BE49-F238E27FC236}">
                <a16:creationId xmlns:a16="http://schemas.microsoft.com/office/drawing/2014/main" id="{9C122BB3-7CB4-DB21-B634-A364A68BFAF6}"/>
              </a:ext>
            </a:extLst>
          </p:cNvPr>
          <p:cNvSpPr>
            <a:spLocks noChangeShapeType="1"/>
          </p:cNvSpPr>
          <p:nvPr/>
        </p:nvSpPr>
        <p:spPr bwMode="auto">
          <a:xfrm flipH="1" flipV="1">
            <a:off x="3109118" y="3648782"/>
            <a:ext cx="790575" cy="687389"/>
          </a:xfrm>
          <a:prstGeom prst="line">
            <a:avLst/>
          </a:prstGeom>
          <a:noFill/>
          <a:ln w="508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6">
            <a:extLst>
              <a:ext uri="{FF2B5EF4-FFF2-40B4-BE49-F238E27FC236}">
                <a16:creationId xmlns:a16="http://schemas.microsoft.com/office/drawing/2014/main" id="{6B3EC553-E342-EE47-9E78-0CB2DE9CCB08}"/>
              </a:ext>
            </a:extLst>
          </p:cNvPr>
          <p:cNvSpPr>
            <a:spLocks noChangeShapeType="1"/>
          </p:cNvSpPr>
          <p:nvPr/>
        </p:nvSpPr>
        <p:spPr bwMode="auto">
          <a:xfrm flipV="1">
            <a:off x="5339556" y="3720221"/>
            <a:ext cx="1404938" cy="602369"/>
          </a:xfrm>
          <a:prstGeom prst="line">
            <a:avLst/>
          </a:prstGeom>
          <a:noFill/>
          <a:ln w="508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Rounded Rectangle 1">
            <a:extLst>
              <a:ext uri="{FF2B5EF4-FFF2-40B4-BE49-F238E27FC236}">
                <a16:creationId xmlns:a16="http://schemas.microsoft.com/office/drawing/2014/main" id="{07F44961-B707-958E-D48D-ECF27890A095}"/>
              </a:ext>
            </a:extLst>
          </p:cNvPr>
          <p:cNvSpPr/>
          <p:nvPr/>
        </p:nvSpPr>
        <p:spPr>
          <a:xfrm>
            <a:off x="342900" y="5562600"/>
            <a:ext cx="8458200" cy="947735"/>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a:r>
              <a:rPr lang="en-US" sz="2400" dirty="0"/>
              <a:t>Every </a:t>
            </a:r>
            <a:r>
              <a:rPr lang="en-US" sz="2400" i="1" dirty="0"/>
              <a:t>did</a:t>
            </a:r>
            <a:r>
              <a:rPr lang="en-US" sz="2400" dirty="0"/>
              <a:t> value in Departments table must appear in a row of the Manages table- </a:t>
            </a:r>
            <a:r>
              <a:rPr lang="en-US" sz="2400" i="1" dirty="0"/>
              <a:t>if defined</a:t>
            </a:r>
            <a:r>
              <a:rPr lang="en-US" sz="2400" dirty="0"/>
              <a:t>- (with a non-null </a:t>
            </a:r>
            <a:r>
              <a:rPr lang="en-US" sz="2400" i="1" dirty="0" err="1"/>
              <a:t>ssn</a:t>
            </a:r>
            <a:r>
              <a:rPr lang="en-US" sz="2400" dirty="0"/>
              <a:t> value!)</a:t>
            </a:r>
          </a:p>
        </p:txBody>
      </p:sp>
    </p:spTree>
    <p:extLst>
      <p:ext uri="{BB962C8B-B14F-4D97-AF65-F5344CB8AC3E}">
        <p14:creationId xmlns:p14="http://schemas.microsoft.com/office/powerpoint/2010/main" val="2379152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4D35-B960-373C-D809-7CB3DBDAC7D7}"/>
              </a:ext>
            </a:extLst>
          </p:cNvPr>
          <p:cNvSpPr>
            <a:spLocks noGrp="1"/>
          </p:cNvSpPr>
          <p:nvPr>
            <p:ph type="title"/>
          </p:nvPr>
        </p:nvSpPr>
        <p:spPr/>
        <p:txBody>
          <a:bodyPr>
            <a:normAutofit fontScale="90000"/>
          </a:bodyPr>
          <a:lstStyle/>
          <a:p>
            <a:r>
              <a:rPr lang="en-US" dirty="0"/>
              <a:t>Translating Relationship Sets with Participation Constraints</a:t>
            </a:r>
          </a:p>
        </p:txBody>
      </p:sp>
      <p:sp>
        <p:nvSpPr>
          <p:cNvPr id="3" name="Content Placeholder 2">
            <a:extLst>
              <a:ext uri="{FF2B5EF4-FFF2-40B4-BE49-F238E27FC236}">
                <a16:creationId xmlns:a16="http://schemas.microsoft.com/office/drawing/2014/main" id="{8D8B01A8-37AD-2372-DCBC-C20D6306EC6B}"/>
              </a:ext>
            </a:extLst>
          </p:cNvPr>
          <p:cNvSpPr>
            <a:spLocks noGrp="1"/>
          </p:cNvSpPr>
          <p:nvPr>
            <p:ph idx="1"/>
          </p:nvPr>
        </p:nvSpPr>
        <p:spPr>
          <a:xfrm>
            <a:off x="457200" y="1524000"/>
            <a:ext cx="8229600" cy="4800600"/>
          </a:xfrm>
        </p:spPr>
        <p:txBody>
          <a:bodyPr>
            <a:normAutofit/>
          </a:bodyPr>
          <a:lstStyle/>
          <a:p>
            <a:pPr>
              <a:buFont typeface="Wingdings" pitchFamily="2" charset="2"/>
              <a:buChar char="§"/>
            </a:pPr>
            <a:r>
              <a:rPr lang="en-US" sz="2400" dirty="0"/>
              <a:t>Here is how to create the “</a:t>
            </a:r>
            <a:r>
              <a:rPr lang="en-US" sz="2400" dirty="0" err="1"/>
              <a:t>Dept_Mgr</a:t>
            </a:r>
            <a:r>
              <a:rPr lang="en-US" sz="2400" dirty="0"/>
              <a:t>” table using the one-table approach:</a:t>
            </a:r>
          </a:p>
        </p:txBody>
      </p:sp>
      <p:sp>
        <p:nvSpPr>
          <p:cNvPr id="4" name="Slide Number Placeholder 3">
            <a:extLst>
              <a:ext uri="{FF2B5EF4-FFF2-40B4-BE49-F238E27FC236}">
                <a16:creationId xmlns:a16="http://schemas.microsoft.com/office/drawing/2014/main" id="{13B4F9D0-191E-FE24-2CC0-C21412E900BE}"/>
              </a:ext>
            </a:extLst>
          </p:cNvPr>
          <p:cNvSpPr>
            <a:spLocks noGrp="1"/>
          </p:cNvSpPr>
          <p:nvPr>
            <p:ph type="sldNum" sz="quarter" idx="12"/>
          </p:nvPr>
        </p:nvSpPr>
        <p:spPr/>
        <p:txBody>
          <a:bodyPr/>
          <a:lstStyle/>
          <a:p>
            <a:fld id="{5FCA4BC5-AE2A-401E-9EDD-DF8812A14A6A}" type="slidenum">
              <a:rPr lang="en-US" smtClean="0"/>
              <a:t>40</a:t>
            </a:fld>
            <a:endParaRPr lang="en-US" dirty="0"/>
          </a:p>
        </p:txBody>
      </p:sp>
      <p:sp>
        <p:nvSpPr>
          <p:cNvPr id="27" name="Rectangle 6">
            <a:extLst>
              <a:ext uri="{FF2B5EF4-FFF2-40B4-BE49-F238E27FC236}">
                <a16:creationId xmlns:a16="http://schemas.microsoft.com/office/drawing/2014/main" id="{BBDDE643-4C1C-8DEA-643B-E8A7D7134CFA}"/>
              </a:ext>
            </a:extLst>
          </p:cNvPr>
          <p:cNvSpPr>
            <a:spLocks noChangeArrowheads="1"/>
          </p:cNvSpPr>
          <p:nvPr/>
        </p:nvSpPr>
        <p:spPr bwMode="auto">
          <a:xfrm>
            <a:off x="1453549" y="2782019"/>
            <a:ext cx="6689333" cy="2551981"/>
          </a:xfrm>
          <a:prstGeom prst="rect">
            <a:avLst/>
          </a:prstGeom>
          <a:noFill/>
          <a:ln w="127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dirty="0">
                <a:latin typeface="Book Antiqua" pitchFamily="18" charset="0"/>
              </a:rPr>
              <a:t>CREATE TABLE  </a:t>
            </a:r>
            <a:r>
              <a:rPr lang="en-US" sz="2000" dirty="0" err="1">
                <a:latin typeface="Book Antiqua" pitchFamily="18" charset="0"/>
              </a:rPr>
              <a:t>Dept_Mgr</a:t>
            </a:r>
            <a:r>
              <a:rPr lang="en-US" sz="2000" dirty="0">
                <a:latin typeface="Book Antiqua" pitchFamily="18" charset="0"/>
              </a:rPr>
              <a:t>(</a:t>
            </a:r>
          </a:p>
          <a:p>
            <a:r>
              <a:rPr lang="en-US" sz="2000" dirty="0">
                <a:latin typeface="Book Antiqua" pitchFamily="18" charset="0"/>
              </a:rPr>
              <a:t>   	</a:t>
            </a:r>
            <a:r>
              <a:rPr lang="en-US" sz="2000" dirty="0">
                <a:solidFill>
                  <a:srgbClr val="434FD6"/>
                </a:solidFill>
                <a:latin typeface="Book Antiqua" pitchFamily="18" charset="0"/>
              </a:rPr>
              <a:t>did  INTEGER,</a:t>
            </a:r>
          </a:p>
          <a:p>
            <a:r>
              <a:rPr lang="en-US" sz="2000" dirty="0">
                <a:solidFill>
                  <a:srgbClr val="434FD6"/>
                </a:solidFill>
                <a:latin typeface="Book Antiqua" pitchFamily="18" charset="0"/>
              </a:rPr>
              <a:t>   	</a:t>
            </a:r>
            <a:r>
              <a:rPr lang="en-US" sz="2000" dirty="0" err="1">
                <a:solidFill>
                  <a:srgbClr val="434FD6"/>
                </a:solidFill>
                <a:latin typeface="Book Antiqua" pitchFamily="18" charset="0"/>
              </a:rPr>
              <a:t>dname</a:t>
            </a:r>
            <a:r>
              <a:rPr lang="en-US" sz="2000" dirty="0">
                <a:solidFill>
                  <a:srgbClr val="434FD6"/>
                </a:solidFill>
                <a:latin typeface="Book Antiqua" pitchFamily="18" charset="0"/>
              </a:rPr>
              <a:t>  CHAR(20),</a:t>
            </a:r>
          </a:p>
          <a:p>
            <a:r>
              <a:rPr lang="en-US" sz="2000" dirty="0">
                <a:solidFill>
                  <a:srgbClr val="434FD6"/>
                </a:solidFill>
                <a:latin typeface="Book Antiqua" pitchFamily="18" charset="0"/>
              </a:rPr>
              <a:t>   	budget  REAL,</a:t>
            </a:r>
          </a:p>
          <a:p>
            <a:r>
              <a:rPr lang="en-US" sz="2000" dirty="0">
                <a:solidFill>
                  <a:srgbClr val="434FD6"/>
                </a:solidFill>
                <a:latin typeface="Book Antiqua" pitchFamily="18" charset="0"/>
              </a:rPr>
              <a:t>   	</a:t>
            </a:r>
            <a:r>
              <a:rPr lang="en-US" sz="2000" dirty="0" err="1">
                <a:solidFill>
                  <a:srgbClr val="434FD6"/>
                </a:solidFill>
                <a:latin typeface="Book Antiqua" pitchFamily="18" charset="0"/>
              </a:rPr>
              <a:t>ssn</a:t>
            </a:r>
            <a:r>
              <a:rPr lang="en-US" sz="2000" dirty="0">
                <a:solidFill>
                  <a:srgbClr val="434FD6"/>
                </a:solidFill>
                <a:latin typeface="Book Antiqua" pitchFamily="18" charset="0"/>
              </a:rPr>
              <a:t>  CHAR(11) </a:t>
            </a:r>
            <a:r>
              <a:rPr lang="en-US" sz="2000" dirty="0">
                <a:solidFill>
                  <a:schemeClr val="accent2"/>
                </a:solidFill>
                <a:latin typeface="Book Antiqua" pitchFamily="18" charset="0"/>
              </a:rPr>
              <a:t>NOT NULL</a:t>
            </a:r>
            <a:r>
              <a:rPr lang="en-US" sz="2000" dirty="0">
                <a:solidFill>
                  <a:srgbClr val="434FD6"/>
                </a:solidFill>
                <a:latin typeface="Book Antiqua" pitchFamily="18" charset="0"/>
              </a:rPr>
              <a:t>,</a:t>
            </a:r>
          </a:p>
          <a:p>
            <a:r>
              <a:rPr lang="en-US" sz="2000" dirty="0">
                <a:solidFill>
                  <a:srgbClr val="434FD6"/>
                </a:solidFill>
                <a:latin typeface="Book Antiqua" pitchFamily="18" charset="0"/>
              </a:rPr>
              <a:t>   	since  DATE,</a:t>
            </a:r>
          </a:p>
          <a:p>
            <a:r>
              <a:rPr lang="en-US" sz="2000" dirty="0">
                <a:solidFill>
                  <a:srgbClr val="434FD6"/>
                </a:solidFill>
                <a:latin typeface="Book Antiqua" pitchFamily="18" charset="0"/>
              </a:rPr>
              <a:t>   	</a:t>
            </a:r>
            <a:r>
              <a:rPr lang="en-US" sz="2000" dirty="0">
                <a:solidFill>
                  <a:schemeClr val="folHlink"/>
                </a:solidFill>
                <a:latin typeface="Book Antiqua" pitchFamily="18" charset="0"/>
              </a:rPr>
              <a:t>PRIMARY KEY  (did),</a:t>
            </a:r>
          </a:p>
          <a:p>
            <a:r>
              <a:rPr lang="en-US" sz="2000" dirty="0">
                <a:solidFill>
                  <a:schemeClr val="folHlink"/>
                </a:solidFill>
                <a:latin typeface="Book Antiqua" pitchFamily="18" charset="0"/>
              </a:rPr>
              <a:t>   	FOREIGN KEY  (</a:t>
            </a:r>
            <a:r>
              <a:rPr lang="en-US" sz="2000" dirty="0" err="1">
                <a:solidFill>
                  <a:schemeClr val="folHlink"/>
                </a:solidFill>
                <a:latin typeface="Book Antiqua" pitchFamily="18" charset="0"/>
              </a:rPr>
              <a:t>ssn</a:t>
            </a:r>
            <a:r>
              <a:rPr lang="en-US" sz="2000" dirty="0">
                <a:solidFill>
                  <a:schemeClr val="folHlink"/>
                </a:solidFill>
                <a:latin typeface="Book Antiqua" pitchFamily="18" charset="0"/>
              </a:rPr>
              <a:t>) REFERENCES Employees,</a:t>
            </a:r>
            <a:r>
              <a:rPr lang="en-US" sz="2000" dirty="0">
                <a:latin typeface="Book Antiqua" pitchFamily="18" charset="0"/>
              </a:rPr>
              <a:t>)</a:t>
            </a:r>
          </a:p>
        </p:txBody>
      </p:sp>
      <p:sp>
        <p:nvSpPr>
          <p:cNvPr id="49" name="Oval 48">
            <a:extLst>
              <a:ext uri="{FF2B5EF4-FFF2-40B4-BE49-F238E27FC236}">
                <a16:creationId xmlns:a16="http://schemas.microsoft.com/office/drawing/2014/main" id="{15E09092-6BF3-AAC3-0740-DDB4E036E2D8}"/>
              </a:ext>
            </a:extLst>
          </p:cNvPr>
          <p:cNvSpPr/>
          <p:nvPr/>
        </p:nvSpPr>
        <p:spPr>
          <a:xfrm>
            <a:off x="4120549" y="3925019"/>
            <a:ext cx="1600200" cy="56747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12AB3B9E-9431-D55C-0282-F2D15127397D}"/>
              </a:ext>
            </a:extLst>
          </p:cNvPr>
          <p:cNvSpPr txBox="1"/>
          <p:nvPr/>
        </p:nvSpPr>
        <p:spPr>
          <a:xfrm>
            <a:off x="5720749" y="3848819"/>
            <a:ext cx="2983806" cy="707886"/>
          </a:xfrm>
          <a:prstGeom prst="rect">
            <a:avLst/>
          </a:prstGeom>
          <a:solidFill>
            <a:schemeClr val="bg1"/>
          </a:solidFill>
          <a:ln w="28575">
            <a:solidFill>
              <a:srgbClr val="FF0000"/>
            </a:solidFill>
          </a:ln>
        </p:spPr>
        <p:txBody>
          <a:bodyPr wrap="square">
            <a:spAutoFit/>
          </a:bodyPr>
          <a:lstStyle/>
          <a:p>
            <a:r>
              <a:rPr lang="en-US" sz="2000" b="0" i="0" dirty="0">
                <a:solidFill>
                  <a:srgbClr val="FF0000"/>
                </a:solidFill>
                <a:effectLst/>
                <a:latin typeface="Google Sans"/>
              </a:rPr>
              <a:t>Enforces a column to NOT accept NULL values</a:t>
            </a:r>
            <a:endParaRPr lang="en-US" sz="2000" dirty="0">
              <a:solidFill>
                <a:srgbClr val="FF0000"/>
              </a:solidFill>
            </a:endParaRPr>
          </a:p>
        </p:txBody>
      </p:sp>
    </p:spTree>
    <p:extLst>
      <p:ext uri="{BB962C8B-B14F-4D97-AF65-F5344CB8AC3E}">
        <p14:creationId xmlns:p14="http://schemas.microsoft.com/office/powerpoint/2010/main" val="194940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937A-DB0A-F430-29D2-46966F3CD973}"/>
              </a:ext>
            </a:extLst>
          </p:cNvPr>
          <p:cNvSpPr>
            <a:spLocks noGrp="1"/>
          </p:cNvSpPr>
          <p:nvPr>
            <p:ph type="title"/>
          </p:nvPr>
        </p:nvSpPr>
        <p:spPr/>
        <p:txBody>
          <a:bodyPr/>
          <a:lstStyle/>
          <a:p>
            <a:r>
              <a:rPr lang="en-US" dirty="0"/>
              <a:t>Translating Weak Entity Sets</a:t>
            </a:r>
          </a:p>
        </p:txBody>
      </p:sp>
      <p:sp>
        <p:nvSpPr>
          <p:cNvPr id="3" name="Content Placeholder 2">
            <a:extLst>
              <a:ext uri="{FF2B5EF4-FFF2-40B4-BE49-F238E27FC236}">
                <a16:creationId xmlns:a16="http://schemas.microsoft.com/office/drawing/2014/main" id="{9EEFAC36-3563-3AAF-493A-14FCA4A59698}"/>
              </a:ext>
            </a:extLst>
          </p:cNvPr>
          <p:cNvSpPr>
            <a:spLocks noGrp="1"/>
          </p:cNvSpPr>
          <p:nvPr>
            <p:ph idx="1"/>
          </p:nvPr>
        </p:nvSpPr>
        <p:spPr/>
        <p:txBody>
          <a:bodyPr/>
          <a:lstStyle/>
          <a:p>
            <a:pPr>
              <a:buFont typeface="Wingdings" pitchFamily="2" charset="2"/>
              <a:buChar char="§"/>
            </a:pPr>
            <a:r>
              <a:rPr lang="en-US" sz="2800" dirty="0"/>
              <a:t>A weak entity set always:</a:t>
            </a:r>
          </a:p>
          <a:p>
            <a:pPr lvl="1">
              <a:buFont typeface="Wingdings" pitchFamily="2" charset="2"/>
              <a:buChar char="§"/>
            </a:pPr>
            <a:r>
              <a:rPr lang="en-US" sz="2400" dirty="0"/>
              <a:t>Participates in a one-to-many binary relationship </a:t>
            </a:r>
          </a:p>
          <a:p>
            <a:pPr lvl="1">
              <a:buFont typeface="Wingdings" pitchFamily="2" charset="2"/>
              <a:buChar char="§"/>
            </a:pPr>
            <a:r>
              <a:rPr lang="en-US" sz="2400" dirty="0"/>
              <a:t>Has a key constraint and total participation</a:t>
            </a:r>
          </a:p>
          <a:p>
            <a:pPr lvl="1"/>
            <a:endParaRPr lang="en-US" sz="2400" dirty="0"/>
          </a:p>
          <a:p>
            <a:endParaRPr lang="en-US" dirty="0"/>
          </a:p>
          <a:p>
            <a:endParaRPr lang="en-US" dirty="0"/>
          </a:p>
          <a:p>
            <a:endParaRPr lang="en-US" dirty="0"/>
          </a:p>
          <a:p>
            <a:pPr>
              <a:buFont typeface="Wingdings" pitchFamily="2" charset="2"/>
              <a:buChar char="§"/>
            </a:pPr>
            <a:endParaRPr lang="en-US" dirty="0"/>
          </a:p>
          <a:p>
            <a:pPr>
              <a:buFont typeface="Wingdings" pitchFamily="2" charset="2"/>
              <a:buChar char="§"/>
            </a:pPr>
            <a:r>
              <a:rPr lang="en-US" dirty="0"/>
              <a:t>Which approach is ideal for that?</a:t>
            </a:r>
          </a:p>
          <a:p>
            <a:pPr lvl="1">
              <a:buFont typeface="Wingdings" pitchFamily="2" charset="2"/>
              <a:buChar char="§"/>
            </a:pPr>
            <a:r>
              <a:rPr lang="en-US" dirty="0"/>
              <a:t>The one-table approach</a:t>
            </a:r>
          </a:p>
        </p:txBody>
      </p:sp>
      <p:sp>
        <p:nvSpPr>
          <p:cNvPr id="4" name="Slide Number Placeholder 3">
            <a:extLst>
              <a:ext uri="{FF2B5EF4-FFF2-40B4-BE49-F238E27FC236}">
                <a16:creationId xmlns:a16="http://schemas.microsoft.com/office/drawing/2014/main" id="{E663B8E3-C7C1-06AE-5188-AA2BAB2F1093}"/>
              </a:ext>
            </a:extLst>
          </p:cNvPr>
          <p:cNvSpPr>
            <a:spLocks noGrp="1"/>
          </p:cNvSpPr>
          <p:nvPr>
            <p:ph type="sldNum" sz="quarter" idx="12"/>
          </p:nvPr>
        </p:nvSpPr>
        <p:spPr/>
        <p:txBody>
          <a:bodyPr/>
          <a:lstStyle/>
          <a:p>
            <a:fld id="{5FCA4BC5-AE2A-401E-9EDD-DF8812A14A6A}" type="slidenum">
              <a:rPr lang="en-US" smtClean="0"/>
              <a:t>41</a:t>
            </a:fld>
            <a:endParaRPr lang="en-US" dirty="0"/>
          </a:p>
        </p:txBody>
      </p:sp>
      <p:sp>
        <p:nvSpPr>
          <p:cNvPr id="5" name="Freeform 6">
            <a:extLst>
              <a:ext uri="{FF2B5EF4-FFF2-40B4-BE49-F238E27FC236}">
                <a16:creationId xmlns:a16="http://schemas.microsoft.com/office/drawing/2014/main" id="{EFFD4458-E663-8735-58EB-B39C0706857C}"/>
              </a:ext>
            </a:extLst>
          </p:cNvPr>
          <p:cNvSpPr>
            <a:spLocks/>
          </p:cNvSpPr>
          <p:nvPr/>
        </p:nvSpPr>
        <p:spPr bwMode="auto">
          <a:xfrm>
            <a:off x="5806967" y="3258491"/>
            <a:ext cx="1254125" cy="530225"/>
          </a:xfrm>
          <a:custGeom>
            <a:avLst/>
            <a:gdLst>
              <a:gd name="T0" fmla="*/ 1250950 w 790"/>
              <a:gd name="T1" fmla="*/ 242888 h 334"/>
              <a:gd name="T2" fmla="*/ 1230313 w 790"/>
              <a:gd name="T3" fmla="*/ 196850 h 334"/>
              <a:gd name="T4" fmla="*/ 1193800 w 790"/>
              <a:gd name="T5" fmla="*/ 153988 h 334"/>
              <a:gd name="T6" fmla="*/ 1139825 w 790"/>
              <a:gd name="T7" fmla="*/ 112713 h 334"/>
              <a:gd name="T8" fmla="*/ 1069975 w 790"/>
              <a:gd name="T9" fmla="*/ 79375 h 334"/>
              <a:gd name="T10" fmla="*/ 985838 w 790"/>
              <a:gd name="T11" fmla="*/ 47625 h 334"/>
              <a:gd name="T12" fmla="*/ 890588 w 790"/>
              <a:gd name="T13" fmla="*/ 26988 h 334"/>
              <a:gd name="T14" fmla="*/ 788988 w 790"/>
              <a:gd name="T15" fmla="*/ 9525 h 334"/>
              <a:gd name="T16" fmla="*/ 681038 w 790"/>
              <a:gd name="T17" fmla="*/ 1588 h 334"/>
              <a:gd name="T18" fmla="*/ 571500 w 790"/>
              <a:gd name="T19" fmla="*/ 1588 h 334"/>
              <a:gd name="T20" fmla="*/ 465138 w 790"/>
              <a:gd name="T21" fmla="*/ 9525 h 334"/>
              <a:gd name="T22" fmla="*/ 361950 w 790"/>
              <a:gd name="T23" fmla="*/ 26988 h 334"/>
              <a:gd name="T24" fmla="*/ 268288 w 790"/>
              <a:gd name="T25" fmla="*/ 47625 h 334"/>
              <a:gd name="T26" fmla="*/ 184150 w 790"/>
              <a:gd name="T27" fmla="*/ 79375 h 334"/>
              <a:gd name="T28" fmla="*/ 114300 w 790"/>
              <a:gd name="T29" fmla="*/ 112713 h 334"/>
              <a:gd name="T30" fmla="*/ 60325 w 790"/>
              <a:gd name="T31" fmla="*/ 153988 h 334"/>
              <a:gd name="T32" fmla="*/ 22225 w 790"/>
              <a:gd name="T33" fmla="*/ 196850 h 334"/>
              <a:gd name="T34" fmla="*/ 3175 w 790"/>
              <a:gd name="T35" fmla="*/ 242888 h 334"/>
              <a:gd name="T36" fmla="*/ 3175 w 790"/>
              <a:gd name="T37" fmla="*/ 287338 h 334"/>
              <a:gd name="T38" fmla="*/ 22225 w 790"/>
              <a:gd name="T39" fmla="*/ 333375 h 334"/>
              <a:gd name="T40" fmla="*/ 60325 w 790"/>
              <a:gd name="T41" fmla="*/ 376238 h 334"/>
              <a:gd name="T42" fmla="*/ 114300 w 790"/>
              <a:gd name="T43" fmla="*/ 415925 h 334"/>
              <a:gd name="T44" fmla="*/ 184150 w 790"/>
              <a:gd name="T45" fmla="*/ 450850 h 334"/>
              <a:gd name="T46" fmla="*/ 268288 w 790"/>
              <a:gd name="T47" fmla="*/ 481013 h 334"/>
              <a:gd name="T48" fmla="*/ 361950 w 790"/>
              <a:gd name="T49" fmla="*/ 503238 h 334"/>
              <a:gd name="T50" fmla="*/ 465138 w 790"/>
              <a:gd name="T51" fmla="*/ 519113 h 334"/>
              <a:gd name="T52" fmla="*/ 571500 w 790"/>
              <a:gd name="T53" fmla="*/ 527050 h 334"/>
              <a:gd name="T54" fmla="*/ 681038 w 790"/>
              <a:gd name="T55" fmla="*/ 527050 h 334"/>
              <a:gd name="T56" fmla="*/ 788988 w 790"/>
              <a:gd name="T57" fmla="*/ 519113 h 334"/>
              <a:gd name="T58" fmla="*/ 890588 w 790"/>
              <a:gd name="T59" fmla="*/ 503238 h 334"/>
              <a:gd name="T60" fmla="*/ 985838 w 790"/>
              <a:gd name="T61" fmla="*/ 481013 h 334"/>
              <a:gd name="T62" fmla="*/ 1069975 w 790"/>
              <a:gd name="T63" fmla="*/ 450850 h 334"/>
              <a:gd name="T64" fmla="*/ 1139825 w 790"/>
              <a:gd name="T65" fmla="*/ 415925 h 334"/>
              <a:gd name="T66" fmla="*/ 1193800 w 790"/>
              <a:gd name="T67" fmla="*/ 376238 h 334"/>
              <a:gd name="T68" fmla="*/ 1230313 w 790"/>
              <a:gd name="T69" fmla="*/ 333375 h 334"/>
              <a:gd name="T70" fmla="*/ 1250950 w 790"/>
              <a:gd name="T71" fmla="*/ 287338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789" y="167"/>
                </a:moveTo>
                <a:lnTo>
                  <a:pt x="788" y="153"/>
                </a:lnTo>
                <a:lnTo>
                  <a:pt x="783" y="138"/>
                </a:lnTo>
                <a:lnTo>
                  <a:pt x="775" y="124"/>
                </a:lnTo>
                <a:lnTo>
                  <a:pt x="765" y="110"/>
                </a:lnTo>
                <a:lnTo>
                  <a:pt x="752" y="97"/>
                </a:lnTo>
                <a:lnTo>
                  <a:pt x="736" y="83"/>
                </a:lnTo>
                <a:lnTo>
                  <a:pt x="718" y="71"/>
                </a:lnTo>
                <a:lnTo>
                  <a:pt x="697" y="60"/>
                </a:lnTo>
                <a:lnTo>
                  <a:pt x="674" y="50"/>
                </a:lnTo>
                <a:lnTo>
                  <a:pt x="648" y="40"/>
                </a:lnTo>
                <a:lnTo>
                  <a:pt x="621" y="30"/>
                </a:lnTo>
                <a:lnTo>
                  <a:pt x="592" y="23"/>
                </a:lnTo>
                <a:lnTo>
                  <a:pt x="561" y="17"/>
                </a:lnTo>
                <a:lnTo>
                  <a:pt x="529" y="10"/>
                </a:lnTo>
                <a:lnTo>
                  <a:pt x="497" y="6"/>
                </a:lnTo>
                <a:lnTo>
                  <a:pt x="463" y="3"/>
                </a:lnTo>
                <a:lnTo>
                  <a:pt x="429" y="1"/>
                </a:lnTo>
                <a:lnTo>
                  <a:pt x="394" y="0"/>
                </a:lnTo>
                <a:lnTo>
                  <a:pt x="360" y="1"/>
                </a:lnTo>
                <a:lnTo>
                  <a:pt x="326" y="3"/>
                </a:lnTo>
                <a:lnTo>
                  <a:pt x="293" y="6"/>
                </a:lnTo>
                <a:lnTo>
                  <a:pt x="260" y="10"/>
                </a:lnTo>
                <a:lnTo>
                  <a:pt x="228" y="17"/>
                </a:lnTo>
                <a:lnTo>
                  <a:pt x="197" y="23"/>
                </a:lnTo>
                <a:lnTo>
                  <a:pt x="169" y="30"/>
                </a:lnTo>
                <a:lnTo>
                  <a:pt x="142" y="40"/>
                </a:lnTo>
                <a:lnTo>
                  <a:pt x="116" y="50"/>
                </a:lnTo>
                <a:lnTo>
                  <a:pt x="93" y="60"/>
                </a:lnTo>
                <a:lnTo>
                  <a:pt x="72" y="71"/>
                </a:lnTo>
                <a:lnTo>
                  <a:pt x="54" y="83"/>
                </a:lnTo>
                <a:lnTo>
                  <a:pt x="38" y="97"/>
                </a:lnTo>
                <a:lnTo>
                  <a:pt x="24" y="110"/>
                </a:lnTo>
                <a:lnTo>
                  <a:pt x="14" y="124"/>
                </a:lnTo>
                <a:lnTo>
                  <a:pt x="7" y="138"/>
                </a:lnTo>
                <a:lnTo>
                  <a:pt x="2" y="153"/>
                </a:lnTo>
                <a:lnTo>
                  <a:pt x="0" y="167"/>
                </a:lnTo>
                <a:lnTo>
                  <a:pt x="2" y="181"/>
                </a:lnTo>
                <a:lnTo>
                  <a:pt x="7" y="196"/>
                </a:lnTo>
                <a:lnTo>
                  <a:pt x="14" y="210"/>
                </a:lnTo>
                <a:lnTo>
                  <a:pt x="24" y="224"/>
                </a:lnTo>
                <a:lnTo>
                  <a:pt x="38" y="237"/>
                </a:lnTo>
                <a:lnTo>
                  <a:pt x="54" y="250"/>
                </a:lnTo>
                <a:lnTo>
                  <a:pt x="72" y="262"/>
                </a:lnTo>
                <a:lnTo>
                  <a:pt x="93" y="274"/>
                </a:lnTo>
                <a:lnTo>
                  <a:pt x="116" y="284"/>
                </a:lnTo>
                <a:lnTo>
                  <a:pt x="142" y="294"/>
                </a:lnTo>
                <a:lnTo>
                  <a:pt x="169" y="303"/>
                </a:lnTo>
                <a:lnTo>
                  <a:pt x="197" y="311"/>
                </a:lnTo>
                <a:lnTo>
                  <a:pt x="228" y="317"/>
                </a:lnTo>
                <a:lnTo>
                  <a:pt x="260" y="323"/>
                </a:lnTo>
                <a:lnTo>
                  <a:pt x="293" y="327"/>
                </a:lnTo>
                <a:lnTo>
                  <a:pt x="326" y="331"/>
                </a:lnTo>
                <a:lnTo>
                  <a:pt x="360" y="332"/>
                </a:lnTo>
                <a:lnTo>
                  <a:pt x="394" y="333"/>
                </a:lnTo>
                <a:lnTo>
                  <a:pt x="429" y="332"/>
                </a:lnTo>
                <a:lnTo>
                  <a:pt x="463" y="331"/>
                </a:lnTo>
                <a:lnTo>
                  <a:pt x="497" y="327"/>
                </a:lnTo>
                <a:lnTo>
                  <a:pt x="529" y="323"/>
                </a:lnTo>
                <a:lnTo>
                  <a:pt x="561" y="317"/>
                </a:lnTo>
                <a:lnTo>
                  <a:pt x="592" y="311"/>
                </a:lnTo>
                <a:lnTo>
                  <a:pt x="621" y="303"/>
                </a:lnTo>
                <a:lnTo>
                  <a:pt x="648" y="294"/>
                </a:lnTo>
                <a:lnTo>
                  <a:pt x="674" y="284"/>
                </a:lnTo>
                <a:lnTo>
                  <a:pt x="697" y="274"/>
                </a:lnTo>
                <a:lnTo>
                  <a:pt x="718" y="262"/>
                </a:lnTo>
                <a:lnTo>
                  <a:pt x="736" y="250"/>
                </a:lnTo>
                <a:lnTo>
                  <a:pt x="752" y="237"/>
                </a:lnTo>
                <a:lnTo>
                  <a:pt x="765" y="224"/>
                </a:lnTo>
                <a:lnTo>
                  <a:pt x="775" y="210"/>
                </a:lnTo>
                <a:lnTo>
                  <a:pt x="783" y="196"/>
                </a:lnTo>
                <a:lnTo>
                  <a:pt x="788" y="181"/>
                </a:lnTo>
                <a:lnTo>
                  <a:pt x="789"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Freeform 7">
            <a:extLst>
              <a:ext uri="{FF2B5EF4-FFF2-40B4-BE49-F238E27FC236}">
                <a16:creationId xmlns:a16="http://schemas.microsoft.com/office/drawing/2014/main" id="{C6E522AD-8D09-E442-EE46-ABF34412E40D}"/>
              </a:ext>
            </a:extLst>
          </p:cNvPr>
          <p:cNvSpPr>
            <a:spLocks/>
          </p:cNvSpPr>
          <p:nvPr/>
        </p:nvSpPr>
        <p:spPr bwMode="auto">
          <a:xfrm>
            <a:off x="7340492" y="3274366"/>
            <a:ext cx="1254125" cy="530225"/>
          </a:xfrm>
          <a:custGeom>
            <a:avLst/>
            <a:gdLst>
              <a:gd name="T0" fmla="*/ 3175 w 790"/>
              <a:gd name="T1" fmla="*/ 287338 h 334"/>
              <a:gd name="T2" fmla="*/ 20638 w 790"/>
              <a:gd name="T3" fmla="*/ 333375 h 334"/>
              <a:gd name="T4" fmla="*/ 60325 w 790"/>
              <a:gd name="T5" fmla="*/ 376238 h 334"/>
              <a:gd name="T6" fmla="*/ 114300 w 790"/>
              <a:gd name="T7" fmla="*/ 415925 h 334"/>
              <a:gd name="T8" fmla="*/ 184150 w 790"/>
              <a:gd name="T9" fmla="*/ 450850 h 334"/>
              <a:gd name="T10" fmla="*/ 268288 w 790"/>
              <a:gd name="T11" fmla="*/ 481013 h 334"/>
              <a:gd name="T12" fmla="*/ 361950 w 790"/>
              <a:gd name="T13" fmla="*/ 503238 h 334"/>
              <a:gd name="T14" fmla="*/ 465138 w 790"/>
              <a:gd name="T15" fmla="*/ 519113 h 334"/>
              <a:gd name="T16" fmla="*/ 571500 w 790"/>
              <a:gd name="T17" fmla="*/ 527050 h 334"/>
              <a:gd name="T18" fmla="*/ 681038 w 790"/>
              <a:gd name="T19" fmla="*/ 527050 h 334"/>
              <a:gd name="T20" fmla="*/ 788988 w 790"/>
              <a:gd name="T21" fmla="*/ 519113 h 334"/>
              <a:gd name="T22" fmla="*/ 890588 w 790"/>
              <a:gd name="T23" fmla="*/ 503238 h 334"/>
              <a:gd name="T24" fmla="*/ 985838 w 790"/>
              <a:gd name="T25" fmla="*/ 481013 h 334"/>
              <a:gd name="T26" fmla="*/ 1068388 w 790"/>
              <a:gd name="T27" fmla="*/ 450850 h 334"/>
              <a:gd name="T28" fmla="*/ 1138238 w 790"/>
              <a:gd name="T29" fmla="*/ 415925 h 334"/>
              <a:gd name="T30" fmla="*/ 1193800 w 790"/>
              <a:gd name="T31" fmla="*/ 376238 h 334"/>
              <a:gd name="T32" fmla="*/ 1230313 w 790"/>
              <a:gd name="T33" fmla="*/ 333375 h 334"/>
              <a:gd name="T34" fmla="*/ 1249363 w 790"/>
              <a:gd name="T35" fmla="*/ 287338 h 334"/>
              <a:gd name="T36" fmla="*/ 1249363 w 790"/>
              <a:gd name="T37" fmla="*/ 241300 h 334"/>
              <a:gd name="T38" fmla="*/ 1230313 w 790"/>
              <a:gd name="T39" fmla="*/ 196850 h 334"/>
              <a:gd name="T40" fmla="*/ 1192213 w 790"/>
              <a:gd name="T41" fmla="*/ 153988 h 334"/>
              <a:gd name="T42" fmla="*/ 1138238 w 790"/>
              <a:gd name="T43" fmla="*/ 112713 h 334"/>
              <a:gd name="T44" fmla="*/ 1068388 w 790"/>
              <a:gd name="T45" fmla="*/ 77788 h 334"/>
              <a:gd name="T46" fmla="*/ 984250 w 790"/>
              <a:gd name="T47" fmla="*/ 47625 h 334"/>
              <a:gd name="T48" fmla="*/ 890588 w 790"/>
              <a:gd name="T49" fmla="*/ 25400 h 334"/>
              <a:gd name="T50" fmla="*/ 787400 w 790"/>
              <a:gd name="T51" fmla="*/ 9525 h 334"/>
              <a:gd name="T52" fmla="*/ 681038 w 790"/>
              <a:gd name="T53" fmla="*/ 1588 h 334"/>
              <a:gd name="T54" fmla="*/ 571500 w 790"/>
              <a:gd name="T55" fmla="*/ 1588 h 334"/>
              <a:gd name="T56" fmla="*/ 465138 w 790"/>
              <a:gd name="T57" fmla="*/ 11113 h 334"/>
              <a:gd name="T58" fmla="*/ 361950 w 790"/>
              <a:gd name="T59" fmla="*/ 25400 h 334"/>
              <a:gd name="T60" fmla="*/ 268288 w 790"/>
              <a:gd name="T61" fmla="*/ 47625 h 334"/>
              <a:gd name="T62" fmla="*/ 184150 w 790"/>
              <a:gd name="T63" fmla="*/ 79375 h 334"/>
              <a:gd name="T64" fmla="*/ 114300 w 790"/>
              <a:gd name="T65" fmla="*/ 112713 h 334"/>
              <a:gd name="T66" fmla="*/ 60325 w 790"/>
              <a:gd name="T67" fmla="*/ 153988 h 334"/>
              <a:gd name="T68" fmla="*/ 20638 w 790"/>
              <a:gd name="T69" fmla="*/ 196850 h 334"/>
              <a:gd name="T70" fmla="*/ 3175 w 790"/>
              <a:gd name="T71" fmla="*/ 241300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0" y="167"/>
                </a:moveTo>
                <a:lnTo>
                  <a:pt x="2" y="181"/>
                </a:lnTo>
                <a:lnTo>
                  <a:pt x="6" y="196"/>
                </a:lnTo>
                <a:lnTo>
                  <a:pt x="13" y="210"/>
                </a:lnTo>
                <a:lnTo>
                  <a:pt x="24" y="224"/>
                </a:lnTo>
                <a:lnTo>
                  <a:pt x="38" y="237"/>
                </a:lnTo>
                <a:lnTo>
                  <a:pt x="53" y="250"/>
                </a:lnTo>
                <a:lnTo>
                  <a:pt x="72" y="262"/>
                </a:lnTo>
                <a:lnTo>
                  <a:pt x="93" y="274"/>
                </a:lnTo>
                <a:lnTo>
                  <a:pt x="116" y="284"/>
                </a:lnTo>
                <a:lnTo>
                  <a:pt x="141" y="294"/>
                </a:lnTo>
                <a:lnTo>
                  <a:pt x="169" y="303"/>
                </a:lnTo>
                <a:lnTo>
                  <a:pt x="197" y="311"/>
                </a:lnTo>
                <a:lnTo>
                  <a:pt x="228" y="317"/>
                </a:lnTo>
                <a:lnTo>
                  <a:pt x="259" y="323"/>
                </a:lnTo>
                <a:lnTo>
                  <a:pt x="293" y="327"/>
                </a:lnTo>
                <a:lnTo>
                  <a:pt x="326" y="331"/>
                </a:lnTo>
                <a:lnTo>
                  <a:pt x="360" y="332"/>
                </a:lnTo>
                <a:lnTo>
                  <a:pt x="394" y="333"/>
                </a:lnTo>
                <a:lnTo>
                  <a:pt x="429" y="332"/>
                </a:lnTo>
                <a:lnTo>
                  <a:pt x="463" y="331"/>
                </a:lnTo>
                <a:lnTo>
                  <a:pt x="497" y="327"/>
                </a:lnTo>
                <a:lnTo>
                  <a:pt x="529" y="323"/>
                </a:lnTo>
                <a:lnTo>
                  <a:pt x="561" y="317"/>
                </a:lnTo>
                <a:lnTo>
                  <a:pt x="591" y="311"/>
                </a:lnTo>
                <a:lnTo>
                  <a:pt x="621" y="303"/>
                </a:lnTo>
                <a:lnTo>
                  <a:pt x="648" y="294"/>
                </a:lnTo>
                <a:lnTo>
                  <a:pt x="673" y="284"/>
                </a:lnTo>
                <a:lnTo>
                  <a:pt x="696" y="274"/>
                </a:lnTo>
                <a:lnTo>
                  <a:pt x="717" y="262"/>
                </a:lnTo>
                <a:lnTo>
                  <a:pt x="736" y="250"/>
                </a:lnTo>
                <a:lnTo>
                  <a:pt x="752" y="237"/>
                </a:lnTo>
                <a:lnTo>
                  <a:pt x="765" y="224"/>
                </a:lnTo>
                <a:lnTo>
                  <a:pt x="775" y="210"/>
                </a:lnTo>
                <a:lnTo>
                  <a:pt x="782" y="195"/>
                </a:lnTo>
                <a:lnTo>
                  <a:pt x="787" y="181"/>
                </a:lnTo>
                <a:lnTo>
                  <a:pt x="789" y="167"/>
                </a:lnTo>
                <a:lnTo>
                  <a:pt x="787" y="152"/>
                </a:lnTo>
                <a:lnTo>
                  <a:pt x="782" y="137"/>
                </a:lnTo>
                <a:lnTo>
                  <a:pt x="775" y="124"/>
                </a:lnTo>
                <a:lnTo>
                  <a:pt x="765" y="110"/>
                </a:lnTo>
                <a:lnTo>
                  <a:pt x="751" y="97"/>
                </a:lnTo>
                <a:lnTo>
                  <a:pt x="736" y="83"/>
                </a:lnTo>
                <a:lnTo>
                  <a:pt x="717" y="71"/>
                </a:lnTo>
                <a:lnTo>
                  <a:pt x="696" y="60"/>
                </a:lnTo>
                <a:lnTo>
                  <a:pt x="673" y="49"/>
                </a:lnTo>
                <a:lnTo>
                  <a:pt x="648" y="40"/>
                </a:lnTo>
                <a:lnTo>
                  <a:pt x="620" y="30"/>
                </a:lnTo>
                <a:lnTo>
                  <a:pt x="591" y="23"/>
                </a:lnTo>
                <a:lnTo>
                  <a:pt x="561" y="16"/>
                </a:lnTo>
                <a:lnTo>
                  <a:pt x="529" y="10"/>
                </a:lnTo>
                <a:lnTo>
                  <a:pt x="496" y="6"/>
                </a:lnTo>
                <a:lnTo>
                  <a:pt x="463" y="3"/>
                </a:lnTo>
                <a:lnTo>
                  <a:pt x="429" y="1"/>
                </a:lnTo>
                <a:lnTo>
                  <a:pt x="394" y="0"/>
                </a:lnTo>
                <a:lnTo>
                  <a:pt x="360" y="1"/>
                </a:lnTo>
                <a:lnTo>
                  <a:pt x="326" y="3"/>
                </a:lnTo>
                <a:lnTo>
                  <a:pt x="293" y="7"/>
                </a:lnTo>
                <a:lnTo>
                  <a:pt x="259" y="10"/>
                </a:lnTo>
                <a:lnTo>
                  <a:pt x="228" y="16"/>
                </a:lnTo>
                <a:lnTo>
                  <a:pt x="197" y="23"/>
                </a:lnTo>
                <a:lnTo>
                  <a:pt x="169" y="30"/>
                </a:lnTo>
                <a:lnTo>
                  <a:pt x="141" y="40"/>
                </a:lnTo>
                <a:lnTo>
                  <a:pt x="116" y="50"/>
                </a:lnTo>
                <a:lnTo>
                  <a:pt x="93" y="60"/>
                </a:lnTo>
                <a:lnTo>
                  <a:pt x="72" y="71"/>
                </a:lnTo>
                <a:lnTo>
                  <a:pt x="53" y="83"/>
                </a:lnTo>
                <a:lnTo>
                  <a:pt x="38" y="97"/>
                </a:lnTo>
                <a:lnTo>
                  <a:pt x="24" y="110"/>
                </a:lnTo>
                <a:lnTo>
                  <a:pt x="13" y="124"/>
                </a:lnTo>
                <a:lnTo>
                  <a:pt x="6" y="138"/>
                </a:lnTo>
                <a:lnTo>
                  <a:pt x="2" y="152"/>
                </a:lnTo>
                <a:lnTo>
                  <a:pt x="0"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 name="Freeform 8">
            <a:extLst>
              <a:ext uri="{FF2B5EF4-FFF2-40B4-BE49-F238E27FC236}">
                <a16:creationId xmlns:a16="http://schemas.microsoft.com/office/drawing/2014/main" id="{F2A692B9-F23F-56C1-F930-76678C0817A7}"/>
              </a:ext>
            </a:extLst>
          </p:cNvPr>
          <p:cNvSpPr>
            <a:spLocks/>
          </p:cNvSpPr>
          <p:nvPr/>
        </p:nvSpPr>
        <p:spPr bwMode="auto">
          <a:xfrm>
            <a:off x="458680" y="3290241"/>
            <a:ext cx="1254125" cy="530225"/>
          </a:xfrm>
          <a:custGeom>
            <a:avLst/>
            <a:gdLst>
              <a:gd name="T0" fmla="*/ 1249363 w 790"/>
              <a:gd name="T1" fmla="*/ 241300 h 334"/>
              <a:gd name="T2" fmla="*/ 1231900 w 790"/>
              <a:gd name="T3" fmla="*/ 196850 h 334"/>
              <a:gd name="T4" fmla="*/ 1193800 w 790"/>
              <a:gd name="T5" fmla="*/ 152400 h 334"/>
              <a:gd name="T6" fmla="*/ 1138238 w 790"/>
              <a:gd name="T7" fmla="*/ 112713 h 334"/>
              <a:gd name="T8" fmla="*/ 1068388 w 790"/>
              <a:gd name="T9" fmla="*/ 77788 h 334"/>
              <a:gd name="T10" fmla="*/ 984250 w 790"/>
              <a:gd name="T11" fmla="*/ 47625 h 334"/>
              <a:gd name="T12" fmla="*/ 890588 w 790"/>
              <a:gd name="T13" fmla="*/ 25400 h 334"/>
              <a:gd name="T14" fmla="*/ 788988 w 790"/>
              <a:gd name="T15" fmla="*/ 9525 h 334"/>
              <a:gd name="T16" fmla="*/ 681038 w 790"/>
              <a:gd name="T17" fmla="*/ 1588 h 334"/>
              <a:gd name="T18" fmla="*/ 571500 w 790"/>
              <a:gd name="T19" fmla="*/ 1588 h 334"/>
              <a:gd name="T20" fmla="*/ 465138 w 790"/>
              <a:gd name="T21" fmla="*/ 9525 h 334"/>
              <a:gd name="T22" fmla="*/ 361950 w 790"/>
              <a:gd name="T23" fmla="*/ 25400 h 334"/>
              <a:gd name="T24" fmla="*/ 268288 w 790"/>
              <a:gd name="T25" fmla="*/ 47625 h 334"/>
              <a:gd name="T26" fmla="*/ 184150 w 790"/>
              <a:gd name="T27" fmla="*/ 77788 h 334"/>
              <a:gd name="T28" fmla="*/ 114300 w 790"/>
              <a:gd name="T29" fmla="*/ 112713 h 334"/>
              <a:gd name="T30" fmla="*/ 60325 w 790"/>
              <a:gd name="T31" fmla="*/ 152400 h 334"/>
              <a:gd name="T32" fmla="*/ 22225 w 790"/>
              <a:gd name="T33" fmla="*/ 196850 h 334"/>
              <a:gd name="T34" fmla="*/ 3175 w 790"/>
              <a:gd name="T35" fmla="*/ 241300 h 334"/>
              <a:gd name="T36" fmla="*/ 3175 w 790"/>
              <a:gd name="T37" fmla="*/ 287338 h 334"/>
              <a:gd name="T38" fmla="*/ 22225 w 790"/>
              <a:gd name="T39" fmla="*/ 333375 h 334"/>
              <a:gd name="T40" fmla="*/ 60325 w 790"/>
              <a:gd name="T41" fmla="*/ 376238 h 334"/>
              <a:gd name="T42" fmla="*/ 114300 w 790"/>
              <a:gd name="T43" fmla="*/ 415925 h 334"/>
              <a:gd name="T44" fmla="*/ 184150 w 790"/>
              <a:gd name="T45" fmla="*/ 450850 h 334"/>
              <a:gd name="T46" fmla="*/ 268288 w 790"/>
              <a:gd name="T47" fmla="*/ 481013 h 334"/>
              <a:gd name="T48" fmla="*/ 361950 w 790"/>
              <a:gd name="T49" fmla="*/ 503238 h 334"/>
              <a:gd name="T50" fmla="*/ 465138 w 790"/>
              <a:gd name="T51" fmla="*/ 519113 h 334"/>
              <a:gd name="T52" fmla="*/ 571500 w 790"/>
              <a:gd name="T53" fmla="*/ 527050 h 334"/>
              <a:gd name="T54" fmla="*/ 681038 w 790"/>
              <a:gd name="T55" fmla="*/ 527050 h 334"/>
              <a:gd name="T56" fmla="*/ 788988 w 790"/>
              <a:gd name="T57" fmla="*/ 519113 h 334"/>
              <a:gd name="T58" fmla="*/ 890588 w 790"/>
              <a:gd name="T59" fmla="*/ 503238 h 334"/>
              <a:gd name="T60" fmla="*/ 984250 w 790"/>
              <a:gd name="T61" fmla="*/ 481013 h 334"/>
              <a:gd name="T62" fmla="*/ 1068388 w 790"/>
              <a:gd name="T63" fmla="*/ 450850 h 334"/>
              <a:gd name="T64" fmla="*/ 1138238 w 790"/>
              <a:gd name="T65" fmla="*/ 415925 h 334"/>
              <a:gd name="T66" fmla="*/ 1193800 w 790"/>
              <a:gd name="T67" fmla="*/ 376238 h 334"/>
              <a:gd name="T68" fmla="*/ 1231900 w 790"/>
              <a:gd name="T69" fmla="*/ 333375 h 334"/>
              <a:gd name="T70" fmla="*/ 1249363 w 790"/>
              <a:gd name="T71" fmla="*/ 287338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789" y="167"/>
                </a:moveTo>
                <a:lnTo>
                  <a:pt x="787" y="152"/>
                </a:lnTo>
                <a:lnTo>
                  <a:pt x="783" y="137"/>
                </a:lnTo>
                <a:lnTo>
                  <a:pt x="776" y="124"/>
                </a:lnTo>
                <a:lnTo>
                  <a:pt x="765" y="110"/>
                </a:lnTo>
                <a:lnTo>
                  <a:pt x="752" y="96"/>
                </a:lnTo>
                <a:lnTo>
                  <a:pt x="736" y="83"/>
                </a:lnTo>
                <a:lnTo>
                  <a:pt x="717" y="71"/>
                </a:lnTo>
                <a:lnTo>
                  <a:pt x="696" y="60"/>
                </a:lnTo>
                <a:lnTo>
                  <a:pt x="673" y="49"/>
                </a:lnTo>
                <a:lnTo>
                  <a:pt x="648" y="39"/>
                </a:lnTo>
                <a:lnTo>
                  <a:pt x="620" y="30"/>
                </a:lnTo>
                <a:lnTo>
                  <a:pt x="592" y="23"/>
                </a:lnTo>
                <a:lnTo>
                  <a:pt x="561" y="16"/>
                </a:lnTo>
                <a:lnTo>
                  <a:pt x="530" y="10"/>
                </a:lnTo>
                <a:lnTo>
                  <a:pt x="497" y="6"/>
                </a:lnTo>
                <a:lnTo>
                  <a:pt x="463" y="3"/>
                </a:lnTo>
                <a:lnTo>
                  <a:pt x="429" y="1"/>
                </a:lnTo>
                <a:lnTo>
                  <a:pt x="395" y="0"/>
                </a:lnTo>
                <a:lnTo>
                  <a:pt x="360" y="1"/>
                </a:lnTo>
                <a:lnTo>
                  <a:pt x="326" y="3"/>
                </a:lnTo>
                <a:lnTo>
                  <a:pt x="293" y="6"/>
                </a:lnTo>
                <a:lnTo>
                  <a:pt x="260" y="10"/>
                </a:lnTo>
                <a:lnTo>
                  <a:pt x="228" y="16"/>
                </a:lnTo>
                <a:lnTo>
                  <a:pt x="198" y="23"/>
                </a:lnTo>
                <a:lnTo>
                  <a:pt x="169" y="30"/>
                </a:lnTo>
                <a:lnTo>
                  <a:pt x="142" y="39"/>
                </a:lnTo>
                <a:lnTo>
                  <a:pt x="116" y="49"/>
                </a:lnTo>
                <a:lnTo>
                  <a:pt x="93" y="60"/>
                </a:lnTo>
                <a:lnTo>
                  <a:pt x="72" y="71"/>
                </a:lnTo>
                <a:lnTo>
                  <a:pt x="53" y="83"/>
                </a:lnTo>
                <a:lnTo>
                  <a:pt x="38" y="96"/>
                </a:lnTo>
                <a:lnTo>
                  <a:pt x="24" y="110"/>
                </a:lnTo>
                <a:lnTo>
                  <a:pt x="14" y="124"/>
                </a:lnTo>
                <a:lnTo>
                  <a:pt x="7" y="137"/>
                </a:lnTo>
                <a:lnTo>
                  <a:pt x="2" y="152"/>
                </a:lnTo>
                <a:lnTo>
                  <a:pt x="0" y="167"/>
                </a:lnTo>
                <a:lnTo>
                  <a:pt x="2" y="181"/>
                </a:lnTo>
                <a:lnTo>
                  <a:pt x="7" y="195"/>
                </a:lnTo>
                <a:lnTo>
                  <a:pt x="14" y="210"/>
                </a:lnTo>
                <a:lnTo>
                  <a:pt x="24" y="224"/>
                </a:lnTo>
                <a:lnTo>
                  <a:pt x="38" y="237"/>
                </a:lnTo>
                <a:lnTo>
                  <a:pt x="53" y="250"/>
                </a:lnTo>
                <a:lnTo>
                  <a:pt x="72" y="262"/>
                </a:lnTo>
                <a:lnTo>
                  <a:pt x="93" y="273"/>
                </a:lnTo>
                <a:lnTo>
                  <a:pt x="116" y="284"/>
                </a:lnTo>
                <a:lnTo>
                  <a:pt x="142" y="294"/>
                </a:lnTo>
                <a:lnTo>
                  <a:pt x="169" y="303"/>
                </a:lnTo>
                <a:lnTo>
                  <a:pt x="198" y="311"/>
                </a:lnTo>
                <a:lnTo>
                  <a:pt x="228" y="317"/>
                </a:lnTo>
                <a:lnTo>
                  <a:pt x="260" y="323"/>
                </a:lnTo>
                <a:lnTo>
                  <a:pt x="293" y="327"/>
                </a:lnTo>
                <a:lnTo>
                  <a:pt x="326" y="330"/>
                </a:lnTo>
                <a:lnTo>
                  <a:pt x="360" y="332"/>
                </a:lnTo>
                <a:lnTo>
                  <a:pt x="395" y="333"/>
                </a:lnTo>
                <a:lnTo>
                  <a:pt x="429" y="332"/>
                </a:lnTo>
                <a:lnTo>
                  <a:pt x="463" y="330"/>
                </a:lnTo>
                <a:lnTo>
                  <a:pt x="497" y="327"/>
                </a:lnTo>
                <a:lnTo>
                  <a:pt x="530" y="323"/>
                </a:lnTo>
                <a:lnTo>
                  <a:pt x="561" y="317"/>
                </a:lnTo>
                <a:lnTo>
                  <a:pt x="592" y="311"/>
                </a:lnTo>
                <a:lnTo>
                  <a:pt x="620" y="303"/>
                </a:lnTo>
                <a:lnTo>
                  <a:pt x="648" y="294"/>
                </a:lnTo>
                <a:lnTo>
                  <a:pt x="673" y="284"/>
                </a:lnTo>
                <a:lnTo>
                  <a:pt x="696" y="273"/>
                </a:lnTo>
                <a:lnTo>
                  <a:pt x="717" y="262"/>
                </a:lnTo>
                <a:lnTo>
                  <a:pt x="736" y="250"/>
                </a:lnTo>
                <a:lnTo>
                  <a:pt x="752" y="237"/>
                </a:lnTo>
                <a:lnTo>
                  <a:pt x="765" y="224"/>
                </a:lnTo>
                <a:lnTo>
                  <a:pt x="776" y="210"/>
                </a:lnTo>
                <a:lnTo>
                  <a:pt x="783" y="195"/>
                </a:lnTo>
                <a:lnTo>
                  <a:pt x="787" y="181"/>
                </a:lnTo>
                <a:lnTo>
                  <a:pt x="789"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Freeform 9">
            <a:extLst>
              <a:ext uri="{FF2B5EF4-FFF2-40B4-BE49-F238E27FC236}">
                <a16:creationId xmlns:a16="http://schemas.microsoft.com/office/drawing/2014/main" id="{F9D2EE48-87D9-3C06-3051-D2DBC459AF82}"/>
              </a:ext>
            </a:extLst>
          </p:cNvPr>
          <p:cNvSpPr>
            <a:spLocks/>
          </p:cNvSpPr>
          <p:nvPr/>
        </p:nvSpPr>
        <p:spPr bwMode="auto">
          <a:xfrm>
            <a:off x="2758967" y="3290241"/>
            <a:ext cx="1252538" cy="530225"/>
          </a:xfrm>
          <a:custGeom>
            <a:avLst/>
            <a:gdLst>
              <a:gd name="T0" fmla="*/ 3175 w 789"/>
              <a:gd name="T1" fmla="*/ 287338 h 334"/>
              <a:gd name="T2" fmla="*/ 20638 w 789"/>
              <a:gd name="T3" fmla="*/ 333375 h 334"/>
              <a:gd name="T4" fmla="*/ 58738 w 789"/>
              <a:gd name="T5" fmla="*/ 376238 h 334"/>
              <a:gd name="T6" fmla="*/ 112713 w 789"/>
              <a:gd name="T7" fmla="*/ 415925 h 334"/>
              <a:gd name="T8" fmla="*/ 184150 w 789"/>
              <a:gd name="T9" fmla="*/ 450850 h 334"/>
              <a:gd name="T10" fmla="*/ 266700 w 789"/>
              <a:gd name="T11" fmla="*/ 481013 h 334"/>
              <a:gd name="T12" fmla="*/ 360363 w 789"/>
              <a:gd name="T13" fmla="*/ 503238 h 334"/>
              <a:gd name="T14" fmla="*/ 465138 w 789"/>
              <a:gd name="T15" fmla="*/ 519113 h 334"/>
              <a:gd name="T16" fmla="*/ 571500 w 789"/>
              <a:gd name="T17" fmla="*/ 527050 h 334"/>
              <a:gd name="T18" fmla="*/ 679450 w 789"/>
              <a:gd name="T19" fmla="*/ 527050 h 334"/>
              <a:gd name="T20" fmla="*/ 788988 w 789"/>
              <a:gd name="T21" fmla="*/ 519113 h 334"/>
              <a:gd name="T22" fmla="*/ 890588 w 789"/>
              <a:gd name="T23" fmla="*/ 503238 h 334"/>
              <a:gd name="T24" fmla="*/ 984250 w 789"/>
              <a:gd name="T25" fmla="*/ 479425 h 334"/>
              <a:gd name="T26" fmla="*/ 1068388 w 789"/>
              <a:gd name="T27" fmla="*/ 450850 h 334"/>
              <a:gd name="T28" fmla="*/ 1138238 w 789"/>
              <a:gd name="T29" fmla="*/ 414338 h 334"/>
              <a:gd name="T30" fmla="*/ 1192213 w 789"/>
              <a:gd name="T31" fmla="*/ 376238 h 334"/>
              <a:gd name="T32" fmla="*/ 1230313 w 789"/>
              <a:gd name="T33" fmla="*/ 331788 h 334"/>
              <a:gd name="T34" fmla="*/ 1249363 w 789"/>
              <a:gd name="T35" fmla="*/ 285750 h 334"/>
              <a:gd name="T36" fmla="*/ 1249363 w 789"/>
              <a:gd name="T37" fmla="*/ 241300 h 334"/>
              <a:gd name="T38" fmla="*/ 1230313 w 789"/>
              <a:gd name="T39" fmla="*/ 196850 h 334"/>
              <a:gd name="T40" fmla="*/ 1192213 w 789"/>
              <a:gd name="T41" fmla="*/ 152400 h 334"/>
              <a:gd name="T42" fmla="*/ 1138238 w 789"/>
              <a:gd name="T43" fmla="*/ 112713 h 334"/>
              <a:gd name="T44" fmla="*/ 1068388 w 789"/>
              <a:gd name="T45" fmla="*/ 77788 h 334"/>
              <a:gd name="T46" fmla="*/ 984250 w 789"/>
              <a:gd name="T47" fmla="*/ 47625 h 334"/>
              <a:gd name="T48" fmla="*/ 890588 w 789"/>
              <a:gd name="T49" fmla="*/ 25400 h 334"/>
              <a:gd name="T50" fmla="*/ 787400 w 789"/>
              <a:gd name="T51" fmla="*/ 9525 h 334"/>
              <a:gd name="T52" fmla="*/ 679450 w 789"/>
              <a:gd name="T53" fmla="*/ 1588 h 334"/>
              <a:gd name="T54" fmla="*/ 571500 w 789"/>
              <a:gd name="T55" fmla="*/ 1588 h 334"/>
              <a:gd name="T56" fmla="*/ 463550 w 789"/>
              <a:gd name="T57" fmla="*/ 9525 h 334"/>
              <a:gd name="T58" fmla="*/ 360363 w 789"/>
              <a:gd name="T59" fmla="*/ 25400 h 334"/>
              <a:gd name="T60" fmla="*/ 266700 w 789"/>
              <a:gd name="T61" fmla="*/ 47625 h 334"/>
              <a:gd name="T62" fmla="*/ 184150 w 789"/>
              <a:gd name="T63" fmla="*/ 77788 h 334"/>
              <a:gd name="T64" fmla="*/ 112713 w 789"/>
              <a:gd name="T65" fmla="*/ 112713 h 334"/>
              <a:gd name="T66" fmla="*/ 58738 w 789"/>
              <a:gd name="T67" fmla="*/ 153988 h 334"/>
              <a:gd name="T68" fmla="*/ 20638 w 789"/>
              <a:gd name="T69" fmla="*/ 196850 h 334"/>
              <a:gd name="T70" fmla="*/ 3175 w 789"/>
              <a:gd name="T71" fmla="*/ 241300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4"/>
              <a:gd name="T110" fmla="*/ 789 w 789"/>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4">
                <a:moveTo>
                  <a:pt x="0" y="167"/>
                </a:moveTo>
                <a:lnTo>
                  <a:pt x="2" y="181"/>
                </a:lnTo>
                <a:lnTo>
                  <a:pt x="6" y="195"/>
                </a:lnTo>
                <a:lnTo>
                  <a:pt x="13" y="210"/>
                </a:lnTo>
                <a:lnTo>
                  <a:pt x="24" y="224"/>
                </a:lnTo>
                <a:lnTo>
                  <a:pt x="37" y="237"/>
                </a:lnTo>
                <a:lnTo>
                  <a:pt x="53" y="250"/>
                </a:lnTo>
                <a:lnTo>
                  <a:pt x="71" y="262"/>
                </a:lnTo>
                <a:lnTo>
                  <a:pt x="92" y="274"/>
                </a:lnTo>
                <a:lnTo>
                  <a:pt x="116" y="284"/>
                </a:lnTo>
                <a:lnTo>
                  <a:pt x="141" y="294"/>
                </a:lnTo>
                <a:lnTo>
                  <a:pt x="168" y="303"/>
                </a:lnTo>
                <a:lnTo>
                  <a:pt x="197" y="311"/>
                </a:lnTo>
                <a:lnTo>
                  <a:pt x="227" y="317"/>
                </a:lnTo>
                <a:lnTo>
                  <a:pt x="259" y="323"/>
                </a:lnTo>
                <a:lnTo>
                  <a:pt x="293" y="327"/>
                </a:lnTo>
                <a:lnTo>
                  <a:pt x="326" y="330"/>
                </a:lnTo>
                <a:lnTo>
                  <a:pt x="360" y="332"/>
                </a:lnTo>
                <a:lnTo>
                  <a:pt x="394" y="333"/>
                </a:lnTo>
                <a:lnTo>
                  <a:pt x="428" y="332"/>
                </a:lnTo>
                <a:lnTo>
                  <a:pt x="462" y="330"/>
                </a:lnTo>
                <a:lnTo>
                  <a:pt x="497" y="327"/>
                </a:lnTo>
                <a:lnTo>
                  <a:pt x="529" y="323"/>
                </a:lnTo>
                <a:lnTo>
                  <a:pt x="561" y="317"/>
                </a:lnTo>
                <a:lnTo>
                  <a:pt x="591" y="311"/>
                </a:lnTo>
                <a:lnTo>
                  <a:pt x="620" y="302"/>
                </a:lnTo>
                <a:lnTo>
                  <a:pt x="648" y="294"/>
                </a:lnTo>
                <a:lnTo>
                  <a:pt x="673" y="284"/>
                </a:lnTo>
                <a:lnTo>
                  <a:pt x="696" y="273"/>
                </a:lnTo>
                <a:lnTo>
                  <a:pt x="717" y="261"/>
                </a:lnTo>
                <a:lnTo>
                  <a:pt x="736" y="250"/>
                </a:lnTo>
                <a:lnTo>
                  <a:pt x="751" y="237"/>
                </a:lnTo>
                <a:lnTo>
                  <a:pt x="764" y="223"/>
                </a:lnTo>
                <a:lnTo>
                  <a:pt x="775" y="209"/>
                </a:lnTo>
                <a:lnTo>
                  <a:pt x="782" y="195"/>
                </a:lnTo>
                <a:lnTo>
                  <a:pt x="787" y="180"/>
                </a:lnTo>
                <a:lnTo>
                  <a:pt x="788" y="167"/>
                </a:lnTo>
                <a:lnTo>
                  <a:pt x="787" y="152"/>
                </a:lnTo>
                <a:lnTo>
                  <a:pt x="782" y="137"/>
                </a:lnTo>
                <a:lnTo>
                  <a:pt x="775" y="124"/>
                </a:lnTo>
                <a:lnTo>
                  <a:pt x="764" y="110"/>
                </a:lnTo>
                <a:lnTo>
                  <a:pt x="751" y="96"/>
                </a:lnTo>
                <a:lnTo>
                  <a:pt x="736" y="83"/>
                </a:lnTo>
                <a:lnTo>
                  <a:pt x="717" y="71"/>
                </a:lnTo>
                <a:lnTo>
                  <a:pt x="696" y="60"/>
                </a:lnTo>
                <a:lnTo>
                  <a:pt x="673" y="49"/>
                </a:lnTo>
                <a:lnTo>
                  <a:pt x="647" y="39"/>
                </a:lnTo>
                <a:lnTo>
                  <a:pt x="620" y="30"/>
                </a:lnTo>
                <a:lnTo>
                  <a:pt x="591" y="23"/>
                </a:lnTo>
                <a:lnTo>
                  <a:pt x="561" y="16"/>
                </a:lnTo>
                <a:lnTo>
                  <a:pt x="529" y="10"/>
                </a:lnTo>
                <a:lnTo>
                  <a:pt x="496" y="6"/>
                </a:lnTo>
                <a:lnTo>
                  <a:pt x="462" y="3"/>
                </a:lnTo>
                <a:lnTo>
                  <a:pt x="428" y="1"/>
                </a:lnTo>
                <a:lnTo>
                  <a:pt x="394" y="0"/>
                </a:lnTo>
                <a:lnTo>
                  <a:pt x="360" y="1"/>
                </a:lnTo>
                <a:lnTo>
                  <a:pt x="326" y="3"/>
                </a:lnTo>
                <a:lnTo>
                  <a:pt x="292" y="6"/>
                </a:lnTo>
                <a:lnTo>
                  <a:pt x="259" y="10"/>
                </a:lnTo>
                <a:lnTo>
                  <a:pt x="227" y="16"/>
                </a:lnTo>
                <a:lnTo>
                  <a:pt x="197" y="23"/>
                </a:lnTo>
                <a:lnTo>
                  <a:pt x="168" y="30"/>
                </a:lnTo>
                <a:lnTo>
                  <a:pt x="140" y="39"/>
                </a:lnTo>
                <a:lnTo>
                  <a:pt x="116" y="49"/>
                </a:lnTo>
                <a:lnTo>
                  <a:pt x="92" y="60"/>
                </a:lnTo>
                <a:lnTo>
                  <a:pt x="71" y="71"/>
                </a:lnTo>
                <a:lnTo>
                  <a:pt x="53" y="83"/>
                </a:lnTo>
                <a:lnTo>
                  <a:pt x="37" y="97"/>
                </a:lnTo>
                <a:lnTo>
                  <a:pt x="24" y="110"/>
                </a:lnTo>
                <a:lnTo>
                  <a:pt x="13" y="124"/>
                </a:lnTo>
                <a:lnTo>
                  <a:pt x="6" y="137"/>
                </a:lnTo>
                <a:lnTo>
                  <a:pt x="2" y="152"/>
                </a:lnTo>
                <a:lnTo>
                  <a:pt x="0"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Freeform 10">
            <a:extLst>
              <a:ext uri="{FF2B5EF4-FFF2-40B4-BE49-F238E27FC236}">
                <a16:creationId xmlns:a16="http://schemas.microsoft.com/office/drawing/2014/main" id="{666E15A6-7990-4A68-D761-7C28F44C0150}"/>
              </a:ext>
            </a:extLst>
          </p:cNvPr>
          <p:cNvSpPr>
            <a:spLocks/>
          </p:cNvSpPr>
          <p:nvPr/>
        </p:nvSpPr>
        <p:spPr bwMode="auto">
          <a:xfrm>
            <a:off x="4306780" y="3166416"/>
            <a:ext cx="1252537" cy="528637"/>
          </a:xfrm>
          <a:custGeom>
            <a:avLst/>
            <a:gdLst>
              <a:gd name="T0" fmla="*/ 3175 w 789"/>
              <a:gd name="T1" fmla="*/ 287337 h 333"/>
              <a:gd name="T2" fmla="*/ 22225 w 789"/>
              <a:gd name="T3" fmla="*/ 331787 h 333"/>
              <a:gd name="T4" fmla="*/ 60325 w 789"/>
              <a:gd name="T5" fmla="*/ 376237 h 333"/>
              <a:gd name="T6" fmla="*/ 114300 w 789"/>
              <a:gd name="T7" fmla="*/ 415925 h 333"/>
              <a:gd name="T8" fmla="*/ 184150 w 789"/>
              <a:gd name="T9" fmla="*/ 450850 h 333"/>
              <a:gd name="T10" fmla="*/ 268287 w 789"/>
              <a:gd name="T11" fmla="*/ 479425 h 333"/>
              <a:gd name="T12" fmla="*/ 361950 w 789"/>
              <a:gd name="T13" fmla="*/ 503237 h 333"/>
              <a:gd name="T14" fmla="*/ 463550 w 789"/>
              <a:gd name="T15" fmla="*/ 519112 h 333"/>
              <a:gd name="T16" fmla="*/ 571500 w 789"/>
              <a:gd name="T17" fmla="*/ 527050 h 333"/>
              <a:gd name="T18" fmla="*/ 681037 w 789"/>
              <a:gd name="T19" fmla="*/ 527050 h 333"/>
              <a:gd name="T20" fmla="*/ 787400 w 789"/>
              <a:gd name="T21" fmla="*/ 519112 h 333"/>
              <a:gd name="T22" fmla="*/ 889000 w 789"/>
              <a:gd name="T23" fmla="*/ 503237 h 333"/>
              <a:gd name="T24" fmla="*/ 984250 w 789"/>
              <a:gd name="T25" fmla="*/ 479425 h 333"/>
              <a:gd name="T26" fmla="*/ 1068387 w 789"/>
              <a:gd name="T27" fmla="*/ 450850 h 333"/>
              <a:gd name="T28" fmla="*/ 1136650 w 789"/>
              <a:gd name="T29" fmla="*/ 415925 h 333"/>
              <a:gd name="T30" fmla="*/ 1192212 w 789"/>
              <a:gd name="T31" fmla="*/ 374650 h 333"/>
              <a:gd name="T32" fmla="*/ 1230312 w 789"/>
              <a:gd name="T33" fmla="*/ 331787 h 333"/>
              <a:gd name="T34" fmla="*/ 1247775 w 789"/>
              <a:gd name="T35" fmla="*/ 287337 h 333"/>
              <a:gd name="T36" fmla="*/ 1247775 w 789"/>
              <a:gd name="T37" fmla="*/ 239712 h 333"/>
              <a:gd name="T38" fmla="*/ 1230312 w 789"/>
              <a:gd name="T39" fmla="*/ 195262 h 333"/>
              <a:gd name="T40" fmla="*/ 1192212 w 789"/>
              <a:gd name="T41" fmla="*/ 152400 h 333"/>
              <a:gd name="T42" fmla="*/ 1136650 w 789"/>
              <a:gd name="T43" fmla="*/ 112712 h 333"/>
              <a:gd name="T44" fmla="*/ 1066800 w 789"/>
              <a:gd name="T45" fmla="*/ 76200 h 333"/>
              <a:gd name="T46" fmla="*/ 984250 w 789"/>
              <a:gd name="T47" fmla="*/ 47625 h 333"/>
              <a:gd name="T48" fmla="*/ 889000 w 789"/>
              <a:gd name="T49" fmla="*/ 23812 h 333"/>
              <a:gd name="T50" fmla="*/ 787400 w 789"/>
              <a:gd name="T51" fmla="*/ 9525 h 333"/>
              <a:gd name="T52" fmla="*/ 679450 w 789"/>
              <a:gd name="T53" fmla="*/ 1587 h 333"/>
              <a:gd name="T54" fmla="*/ 571500 w 789"/>
              <a:gd name="T55" fmla="*/ 1587 h 333"/>
              <a:gd name="T56" fmla="*/ 463550 w 789"/>
              <a:gd name="T57" fmla="*/ 9525 h 333"/>
              <a:gd name="T58" fmla="*/ 361950 w 789"/>
              <a:gd name="T59" fmla="*/ 25400 h 333"/>
              <a:gd name="T60" fmla="*/ 268287 w 789"/>
              <a:gd name="T61" fmla="*/ 47625 h 333"/>
              <a:gd name="T62" fmla="*/ 184150 w 789"/>
              <a:gd name="T63" fmla="*/ 77787 h 333"/>
              <a:gd name="T64" fmla="*/ 114300 w 789"/>
              <a:gd name="T65" fmla="*/ 112712 h 333"/>
              <a:gd name="T66" fmla="*/ 60325 w 789"/>
              <a:gd name="T67" fmla="*/ 152400 h 333"/>
              <a:gd name="T68" fmla="*/ 22225 w 789"/>
              <a:gd name="T69" fmla="*/ 195262 h 333"/>
              <a:gd name="T70" fmla="*/ 3175 w 789"/>
              <a:gd name="T71" fmla="*/ 241300 h 3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3"/>
              <a:gd name="T110" fmla="*/ 789 w 789"/>
              <a:gd name="T111" fmla="*/ 333 h 3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3">
                <a:moveTo>
                  <a:pt x="0" y="166"/>
                </a:moveTo>
                <a:lnTo>
                  <a:pt x="2" y="181"/>
                </a:lnTo>
                <a:lnTo>
                  <a:pt x="6" y="195"/>
                </a:lnTo>
                <a:lnTo>
                  <a:pt x="14" y="209"/>
                </a:lnTo>
                <a:lnTo>
                  <a:pt x="24" y="223"/>
                </a:lnTo>
                <a:lnTo>
                  <a:pt x="38" y="237"/>
                </a:lnTo>
                <a:lnTo>
                  <a:pt x="53" y="249"/>
                </a:lnTo>
                <a:lnTo>
                  <a:pt x="72" y="262"/>
                </a:lnTo>
                <a:lnTo>
                  <a:pt x="93" y="273"/>
                </a:lnTo>
                <a:lnTo>
                  <a:pt x="116" y="284"/>
                </a:lnTo>
                <a:lnTo>
                  <a:pt x="141" y="294"/>
                </a:lnTo>
                <a:lnTo>
                  <a:pt x="169" y="302"/>
                </a:lnTo>
                <a:lnTo>
                  <a:pt x="197" y="310"/>
                </a:lnTo>
                <a:lnTo>
                  <a:pt x="228" y="317"/>
                </a:lnTo>
                <a:lnTo>
                  <a:pt x="259" y="322"/>
                </a:lnTo>
                <a:lnTo>
                  <a:pt x="292" y="327"/>
                </a:lnTo>
                <a:lnTo>
                  <a:pt x="325" y="330"/>
                </a:lnTo>
                <a:lnTo>
                  <a:pt x="360" y="332"/>
                </a:lnTo>
                <a:lnTo>
                  <a:pt x="394" y="332"/>
                </a:lnTo>
                <a:lnTo>
                  <a:pt x="429" y="332"/>
                </a:lnTo>
                <a:lnTo>
                  <a:pt x="463" y="330"/>
                </a:lnTo>
                <a:lnTo>
                  <a:pt x="496" y="327"/>
                </a:lnTo>
                <a:lnTo>
                  <a:pt x="529" y="322"/>
                </a:lnTo>
                <a:lnTo>
                  <a:pt x="560" y="317"/>
                </a:lnTo>
                <a:lnTo>
                  <a:pt x="591" y="310"/>
                </a:lnTo>
                <a:lnTo>
                  <a:pt x="620" y="302"/>
                </a:lnTo>
                <a:lnTo>
                  <a:pt x="647" y="293"/>
                </a:lnTo>
                <a:lnTo>
                  <a:pt x="673" y="284"/>
                </a:lnTo>
                <a:lnTo>
                  <a:pt x="696" y="273"/>
                </a:lnTo>
                <a:lnTo>
                  <a:pt x="716" y="262"/>
                </a:lnTo>
                <a:lnTo>
                  <a:pt x="735" y="249"/>
                </a:lnTo>
                <a:lnTo>
                  <a:pt x="751" y="236"/>
                </a:lnTo>
                <a:lnTo>
                  <a:pt x="765" y="223"/>
                </a:lnTo>
                <a:lnTo>
                  <a:pt x="775" y="209"/>
                </a:lnTo>
                <a:lnTo>
                  <a:pt x="782" y="195"/>
                </a:lnTo>
                <a:lnTo>
                  <a:pt x="786" y="181"/>
                </a:lnTo>
                <a:lnTo>
                  <a:pt x="788" y="166"/>
                </a:lnTo>
                <a:lnTo>
                  <a:pt x="786" y="151"/>
                </a:lnTo>
                <a:lnTo>
                  <a:pt x="782" y="137"/>
                </a:lnTo>
                <a:lnTo>
                  <a:pt x="775" y="123"/>
                </a:lnTo>
                <a:lnTo>
                  <a:pt x="765" y="109"/>
                </a:lnTo>
                <a:lnTo>
                  <a:pt x="751" y="96"/>
                </a:lnTo>
                <a:lnTo>
                  <a:pt x="735" y="83"/>
                </a:lnTo>
                <a:lnTo>
                  <a:pt x="716" y="71"/>
                </a:lnTo>
                <a:lnTo>
                  <a:pt x="695" y="59"/>
                </a:lnTo>
                <a:lnTo>
                  <a:pt x="672" y="48"/>
                </a:lnTo>
                <a:lnTo>
                  <a:pt x="647" y="39"/>
                </a:lnTo>
                <a:lnTo>
                  <a:pt x="620" y="30"/>
                </a:lnTo>
                <a:lnTo>
                  <a:pt x="591" y="22"/>
                </a:lnTo>
                <a:lnTo>
                  <a:pt x="560" y="15"/>
                </a:lnTo>
                <a:lnTo>
                  <a:pt x="529" y="10"/>
                </a:lnTo>
                <a:lnTo>
                  <a:pt x="496" y="6"/>
                </a:lnTo>
                <a:lnTo>
                  <a:pt x="462" y="2"/>
                </a:lnTo>
                <a:lnTo>
                  <a:pt x="428" y="1"/>
                </a:lnTo>
                <a:lnTo>
                  <a:pt x="394" y="0"/>
                </a:lnTo>
                <a:lnTo>
                  <a:pt x="360" y="1"/>
                </a:lnTo>
                <a:lnTo>
                  <a:pt x="325" y="3"/>
                </a:lnTo>
                <a:lnTo>
                  <a:pt x="292" y="6"/>
                </a:lnTo>
                <a:lnTo>
                  <a:pt x="259" y="10"/>
                </a:lnTo>
                <a:lnTo>
                  <a:pt x="228" y="16"/>
                </a:lnTo>
                <a:lnTo>
                  <a:pt x="197" y="22"/>
                </a:lnTo>
                <a:lnTo>
                  <a:pt x="169" y="30"/>
                </a:lnTo>
                <a:lnTo>
                  <a:pt x="141" y="39"/>
                </a:lnTo>
                <a:lnTo>
                  <a:pt x="116" y="49"/>
                </a:lnTo>
                <a:lnTo>
                  <a:pt x="93" y="60"/>
                </a:lnTo>
                <a:lnTo>
                  <a:pt x="72" y="71"/>
                </a:lnTo>
                <a:lnTo>
                  <a:pt x="53" y="83"/>
                </a:lnTo>
                <a:lnTo>
                  <a:pt x="38" y="96"/>
                </a:lnTo>
                <a:lnTo>
                  <a:pt x="24" y="109"/>
                </a:lnTo>
                <a:lnTo>
                  <a:pt x="14" y="123"/>
                </a:lnTo>
                <a:lnTo>
                  <a:pt x="6" y="138"/>
                </a:lnTo>
                <a:lnTo>
                  <a:pt x="2" y="152"/>
                </a:lnTo>
                <a:lnTo>
                  <a:pt x="0" y="16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 name="Freeform 11">
            <a:extLst>
              <a:ext uri="{FF2B5EF4-FFF2-40B4-BE49-F238E27FC236}">
                <a16:creationId xmlns:a16="http://schemas.microsoft.com/office/drawing/2014/main" id="{42BC52FE-5101-1B94-9ECB-916B43287525}"/>
              </a:ext>
            </a:extLst>
          </p:cNvPr>
          <p:cNvSpPr>
            <a:spLocks/>
          </p:cNvSpPr>
          <p:nvPr/>
        </p:nvSpPr>
        <p:spPr bwMode="auto">
          <a:xfrm>
            <a:off x="6589605" y="4160191"/>
            <a:ext cx="1449387" cy="544512"/>
          </a:xfrm>
          <a:custGeom>
            <a:avLst/>
            <a:gdLst>
              <a:gd name="T0" fmla="*/ 1447800 w 913"/>
              <a:gd name="T1" fmla="*/ 542925 h 343"/>
              <a:gd name="T2" fmla="*/ 1447800 w 913"/>
              <a:gd name="T3" fmla="*/ 0 h 343"/>
              <a:gd name="T4" fmla="*/ 0 w 913"/>
              <a:gd name="T5" fmla="*/ 0 h 343"/>
              <a:gd name="T6" fmla="*/ 0 w 913"/>
              <a:gd name="T7" fmla="*/ 542925 h 343"/>
              <a:gd name="T8" fmla="*/ 1447800 w 913"/>
              <a:gd name="T9" fmla="*/ 542925 h 343"/>
              <a:gd name="T10" fmla="*/ 0 60000 65536"/>
              <a:gd name="T11" fmla="*/ 0 60000 65536"/>
              <a:gd name="T12" fmla="*/ 0 60000 65536"/>
              <a:gd name="T13" fmla="*/ 0 60000 65536"/>
              <a:gd name="T14" fmla="*/ 0 60000 65536"/>
              <a:gd name="T15" fmla="*/ 0 w 913"/>
              <a:gd name="T16" fmla="*/ 0 h 343"/>
              <a:gd name="T17" fmla="*/ 913 w 913"/>
              <a:gd name="T18" fmla="*/ 343 h 343"/>
            </a:gdLst>
            <a:ahLst/>
            <a:cxnLst>
              <a:cxn ang="T10">
                <a:pos x="T0" y="T1"/>
              </a:cxn>
              <a:cxn ang="T11">
                <a:pos x="T2" y="T3"/>
              </a:cxn>
              <a:cxn ang="T12">
                <a:pos x="T4" y="T5"/>
              </a:cxn>
              <a:cxn ang="T13">
                <a:pos x="T6" y="T7"/>
              </a:cxn>
              <a:cxn ang="T14">
                <a:pos x="T8" y="T9"/>
              </a:cxn>
            </a:cxnLst>
            <a:rect l="T15" t="T16" r="T17" b="T18"/>
            <a:pathLst>
              <a:path w="913" h="343">
                <a:moveTo>
                  <a:pt x="912" y="342"/>
                </a:moveTo>
                <a:lnTo>
                  <a:pt x="912" y="0"/>
                </a:lnTo>
                <a:lnTo>
                  <a:pt x="0" y="0"/>
                </a:lnTo>
                <a:lnTo>
                  <a:pt x="0" y="342"/>
                </a:lnTo>
                <a:lnTo>
                  <a:pt x="912" y="342"/>
                </a:lnTo>
              </a:path>
            </a:pathLst>
          </a:custGeom>
          <a:noFill/>
          <a:ln w="508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Freeform 12">
            <a:extLst>
              <a:ext uri="{FF2B5EF4-FFF2-40B4-BE49-F238E27FC236}">
                <a16:creationId xmlns:a16="http://schemas.microsoft.com/office/drawing/2014/main" id="{294F1D50-C625-459D-8611-E2BF358D5124}"/>
              </a:ext>
            </a:extLst>
          </p:cNvPr>
          <p:cNvSpPr>
            <a:spLocks/>
          </p:cNvSpPr>
          <p:nvPr/>
        </p:nvSpPr>
        <p:spPr bwMode="auto">
          <a:xfrm>
            <a:off x="1585805" y="4144316"/>
            <a:ext cx="1252537" cy="544512"/>
          </a:xfrm>
          <a:custGeom>
            <a:avLst/>
            <a:gdLst>
              <a:gd name="T0" fmla="*/ 1250950 w 789"/>
              <a:gd name="T1" fmla="*/ 542925 h 343"/>
              <a:gd name="T2" fmla="*/ 1250950 w 789"/>
              <a:gd name="T3" fmla="*/ 0 h 343"/>
              <a:gd name="T4" fmla="*/ 0 w 789"/>
              <a:gd name="T5" fmla="*/ 0 h 343"/>
              <a:gd name="T6" fmla="*/ 0 w 789"/>
              <a:gd name="T7" fmla="*/ 542925 h 343"/>
              <a:gd name="T8" fmla="*/ 1250950 w 789"/>
              <a:gd name="T9" fmla="*/ 542925 h 343"/>
              <a:gd name="T10" fmla="*/ 0 60000 65536"/>
              <a:gd name="T11" fmla="*/ 0 60000 65536"/>
              <a:gd name="T12" fmla="*/ 0 60000 65536"/>
              <a:gd name="T13" fmla="*/ 0 60000 65536"/>
              <a:gd name="T14" fmla="*/ 0 60000 65536"/>
              <a:gd name="T15" fmla="*/ 0 w 789"/>
              <a:gd name="T16" fmla="*/ 0 h 343"/>
              <a:gd name="T17" fmla="*/ 789 w 789"/>
              <a:gd name="T18" fmla="*/ 343 h 343"/>
            </a:gdLst>
            <a:ahLst/>
            <a:cxnLst>
              <a:cxn ang="T10">
                <a:pos x="T0" y="T1"/>
              </a:cxn>
              <a:cxn ang="T11">
                <a:pos x="T2" y="T3"/>
              </a:cxn>
              <a:cxn ang="T12">
                <a:pos x="T4" y="T5"/>
              </a:cxn>
              <a:cxn ang="T13">
                <a:pos x="T6" y="T7"/>
              </a:cxn>
              <a:cxn ang="T14">
                <a:pos x="T8" y="T9"/>
              </a:cxn>
            </a:cxnLst>
            <a:rect l="T15" t="T16" r="T17" b="T18"/>
            <a:pathLst>
              <a:path w="789" h="343">
                <a:moveTo>
                  <a:pt x="788" y="342"/>
                </a:moveTo>
                <a:lnTo>
                  <a:pt x="788" y="0"/>
                </a:lnTo>
                <a:lnTo>
                  <a:pt x="0" y="0"/>
                </a:lnTo>
                <a:lnTo>
                  <a:pt x="0" y="342"/>
                </a:lnTo>
                <a:lnTo>
                  <a:pt x="788" y="34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13">
            <a:extLst>
              <a:ext uri="{FF2B5EF4-FFF2-40B4-BE49-F238E27FC236}">
                <a16:creationId xmlns:a16="http://schemas.microsoft.com/office/drawing/2014/main" id="{507E6ABB-B0B0-116E-AE93-13211FF96A79}"/>
              </a:ext>
            </a:extLst>
          </p:cNvPr>
          <p:cNvSpPr>
            <a:spLocks/>
          </p:cNvSpPr>
          <p:nvPr/>
        </p:nvSpPr>
        <p:spPr bwMode="auto">
          <a:xfrm>
            <a:off x="1585805" y="2902891"/>
            <a:ext cx="1252537" cy="528637"/>
          </a:xfrm>
          <a:custGeom>
            <a:avLst/>
            <a:gdLst>
              <a:gd name="T0" fmla="*/ 1249362 w 789"/>
              <a:gd name="T1" fmla="*/ 239712 h 333"/>
              <a:gd name="T2" fmla="*/ 1230312 w 789"/>
              <a:gd name="T3" fmla="*/ 195262 h 333"/>
              <a:gd name="T4" fmla="*/ 1192212 w 789"/>
              <a:gd name="T5" fmla="*/ 152400 h 333"/>
              <a:gd name="T6" fmla="*/ 1138237 w 789"/>
              <a:gd name="T7" fmla="*/ 111125 h 333"/>
              <a:gd name="T8" fmla="*/ 1068387 w 789"/>
              <a:gd name="T9" fmla="*/ 77787 h 333"/>
              <a:gd name="T10" fmla="*/ 984250 w 789"/>
              <a:gd name="T11" fmla="*/ 47625 h 333"/>
              <a:gd name="T12" fmla="*/ 890587 w 789"/>
              <a:gd name="T13" fmla="*/ 25400 h 333"/>
              <a:gd name="T14" fmla="*/ 787400 w 789"/>
              <a:gd name="T15" fmla="*/ 9525 h 333"/>
              <a:gd name="T16" fmla="*/ 681037 w 789"/>
              <a:gd name="T17" fmla="*/ 0 h 333"/>
              <a:gd name="T18" fmla="*/ 571500 w 789"/>
              <a:gd name="T19" fmla="*/ 0 h 333"/>
              <a:gd name="T20" fmla="*/ 463550 w 789"/>
              <a:gd name="T21" fmla="*/ 9525 h 333"/>
              <a:gd name="T22" fmla="*/ 361950 w 789"/>
              <a:gd name="T23" fmla="*/ 25400 h 333"/>
              <a:gd name="T24" fmla="*/ 266700 w 789"/>
              <a:gd name="T25" fmla="*/ 47625 h 333"/>
              <a:gd name="T26" fmla="*/ 182562 w 789"/>
              <a:gd name="T27" fmla="*/ 77787 h 333"/>
              <a:gd name="T28" fmla="*/ 112712 w 789"/>
              <a:gd name="T29" fmla="*/ 111125 h 333"/>
              <a:gd name="T30" fmla="*/ 58737 w 789"/>
              <a:gd name="T31" fmla="*/ 152400 h 333"/>
              <a:gd name="T32" fmla="*/ 22225 w 789"/>
              <a:gd name="T33" fmla="*/ 195262 h 333"/>
              <a:gd name="T34" fmla="*/ 1587 w 789"/>
              <a:gd name="T35" fmla="*/ 239712 h 333"/>
              <a:gd name="T36" fmla="*/ 1587 w 789"/>
              <a:gd name="T37" fmla="*/ 285750 h 333"/>
              <a:gd name="T38" fmla="*/ 22225 w 789"/>
              <a:gd name="T39" fmla="*/ 331787 h 333"/>
              <a:gd name="T40" fmla="*/ 58737 w 789"/>
              <a:gd name="T41" fmla="*/ 374650 h 333"/>
              <a:gd name="T42" fmla="*/ 112712 w 789"/>
              <a:gd name="T43" fmla="*/ 414337 h 333"/>
              <a:gd name="T44" fmla="*/ 182562 w 789"/>
              <a:gd name="T45" fmla="*/ 450850 h 333"/>
              <a:gd name="T46" fmla="*/ 266700 w 789"/>
              <a:gd name="T47" fmla="*/ 479425 h 333"/>
              <a:gd name="T48" fmla="*/ 361950 w 789"/>
              <a:gd name="T49" fmla="*/ 503237 h 333"/>
              <a:gd name="T50" fmla="*/ 463550 w 789"/>
              <a:gd name="T51" fmla="*/ 519112 h 333"/>
              <a:gd name="T52" fmla="*/ 571500 w 789"/>
              <a:gd name="T53" fmla="*/ 525462 h 333"/>
              <a:gd name="T54" fmla="*/ 681037 w 789"/>
              <a:gd name="T55" fmla="*/ 525462 h 333"/>
              <a:gd name="T56" fmla="*/ 787400 w 789"/>
              <a:gd name="T57" fmla="*/ 519112 h 333"/>
              <a:gd name="T58" fmla="*/ 890587 w 789"/>
              <a:gd name="T59" fmla="*/ 503237 h 333"/>
              <a:gd name="T60" fmla="*/ 984250 w 789"/>
              <a:gd name="T61" fmla="*/ 479425 h 333"/>
              <a:gd name="T62" fmla="*/ 1068387 w 789"/>
              <a:gd name="T63" fmla="*/ 450850 h 333"/>
              <a:gd name="T64" fmla="*/ 1138237 w 789"/>
              <a:gd name="T65" fmla="*/ 414337 h 333"/>
              <a:gd name="T66" fmla="*/ 1192212 w 789"/>
              <a:gd name="T67" fmla="*/ 374650 h 333"/>
              <a:gd name="T68" fmla="*/ 1230312 w 789"/>
              <a:gd name="T69" fmla="*/ 331787 h 333"/>
              <a:gd name="T70" fmla="*/ 1249362 w 789"/>
              <a:gd name="T71" fmla="*/ 285750 h 3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3"/>
              <a:gd name="T110" fmla="*/ 789 w 789"/>
              <a:gd name="T111" fmla="*/ 333 h 3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3">
                <a:moveTo>
                  <a:pt x="788" y="166"/>
                </a:moveTo>
                <a:lnTo>
                  <a:pt x="787" y="151"/>
                </a:lnTo>
                <a:lnTo>
                  <a:pt x="782" y="137"/>
                </a:lnTo>
                <a:lnTo>
                  <a:pt x="775" y="123"/>
                </a:lnTo>
                <a:lnTo>
                  <a:pt x="765" y="109"/>
                </a:lnTo>
                <a:lnTo>
                  <a:pt x="751" y="96"/>
                </a:lnTo>
                <a:lnTo>
                  <a:pt x="735" y="83"/>
                </a:lnTo>
                <a:lnTo>
                  <a:pt x="717" y="70"/>
                </a:lnTo>
                <a:lnTo>
                  <a:pt x="696" y="59"/>
                </a:lnTo>
                <a:lnTo>
                  <a:pt x="673" y="49"/>
                </a:lnTo>
                <a:lnTo>
                  <a:pt x="647" y="39"/>
                </a:lnTo>
                <a:lnTo>
                  <a:pt x="620" y="30"/>
                </a:lnTo>
                <a:lnTo>
                  <a:pt x="591" y="22"/>
                </a:lnTo>
                <a:lnTo>
                  <a:pt x="561" y="16"/>
                </a:lnTo>
                <a:lnTo>
                  <a:pt x="529" y="10"/>
                </a:lnTo>
                <a:lnTo>
                  <a:pt x="496" y="6"/>
                </a:lnTo>
                <a:lnTo>
                  <a:pt x="463" y="3"/>
                </a:lnTo>
                <a:lnTo>
                  <a:pt x="429" y="0"/>
                </a:lnTo>
                <a:lnTo>
                  <a:pt x="394" y="0"/>
                </a:lnTo>
                <a:lnTo>
                  <a:pt x="360" y="0"/>
                </a:lnTo>
                <a:lnTo>
                  <a:pt x="325" y="3"/>
                </a:lnTo>
                <a:lnTo>
                  <a:pt x="292" y="6"/>
                </a:lnTo>
                <a:lnTo>
                  <a:pt x="260" y="10"/>
                </a:lnTo>
                <a:lnTo>
                  <a:pt x="228" y="16"/>
                </a:lnTo>
                <a:lnTo>
                  <a:pt x="197" y="22"/>
                </a:lnTo>
                <a:lnTo>
                  <a:pt x="168" y="30"/>
                </a:lnTo>
                <a:lnTo>
                  <a:pt x="141" y="39"/>
                </a:lnTo>
                <a:lnTo>
                  <a:pt x="115" y="49"/>
                </a:lnTo>
                <a:lnTo>
                  <a:pt x="92" y="59"/>
                </a:lnTo>
                <a:lnTo>
                  <a:pt x="71" y="70"/>
                </a:lnTo>
                <a:lnTo>
                  <a:pt x="53" y="83"/>
                </a:lnTo>
                <a:lnTo>
                  <a:pt x="37" y="96"/>
                </a:lnTo>
                <a:lnTo>
                  <a:pt x="24" y="109"/>
                </a:lnTo>
                <a:lnTo>
                  <a:pt x="14" y="123"/>
                </a:lnTo>
                <a:lnTo>
                  <a:pt x="6" y="137"/>
                </a:lnTo>
                <a:lnTo>
                  <a:pt x="1" y="151"/>
                </a:lnTo>
                <a:lnTo>
                  <a:pt x="0" y="166"/>
                </a:lnTo>
                <a:lnTo>
                  <a:pt x="1" y="180"/>
                </a:lnTo>
                <a:lnTo>
                  <a:pt x="6" y="195"/>
                </a:lnTo>
                <a:lnTo>
                  <a:pt x="14" y="209"/>
                </a:lnTo>
                <a:lnTo>
                  <a:pt x="24" y="223"/>
                </a:lnTo>
                <a:lnTo>
                  <a:pt x="37" y="236"/>
                </a:lnTo>
                <a:lnTo>
                  <a:pt x="53" y="249"/>
                </a:lnTo>
                <a:lnTo>
                  <a:pt x="71" y="261"/>
                </a:lnTo>
                <a:lnTo>
                  <a:pt x="92" y="273"/>
                </a:lnTo>
                <a:lnTo>
                  <a:pt x="115" y="284"/>
                </a:lnTo>
                <a:lnTo>
                  <a:pt x="141" y="294"/>
                </a:lnTo>
                <a:lnTo>
                  <a:pt x="168" y="302"/>
                </a:lnTo>
                <a:lnTo>
                  <a:pt x="197" y="310"/>
                </a:lnTo>
                <a:lnTo>
                  <a:pt x="228" y="317"/>
                </a:lnTo>
                <a:lnTo>
                  <a:pt x="260" y="322"/>
                </a:lnTo>
                <a:lnTo>
                  <a:pt x="292" y="327"/>
                </a:lnTo>
                <a:lnTo>
                  <a:pt x="325" y="330"/>
                </a:lnTo>
                <a:lnTo>
                  <a:pt x="360" y="331"/>
                </a:lnTo>
                <a:lnTo>
                  <a:pt x="394" y="332"/>
                </a:lnTo>
                <a:lnTo>
                  <a:pt x="429" y="331"/>
                </a:lnTo>
                <a:lnTo>
                  <a:pt x="463" y="330"/>
                </a:lnTo>
                <a:lnTo>
                  <a:pt x="496" y="327"/>
                </a:lnTo>
                <a:lnTo>
                  <a:pt x="529" y="322"/>
                </a:lnTo>
                <a:lnTo>
                  <a:pt x="561" y="317"/>
                </a:lnTo>
                <a:lnTo>
                  <a:pt x="591" y="310"/>
                </a:lnTo>
                <a:lnTo>
                  <a:pt x="620" y="302"/>
                </a:lnTo>
                <a:lnTo>
                  <a:pt x="647" y="294"/>
                </a:lnTo>
                <a:lnTo>
                  <a:pt x="673" y="284"/>
                </a:lnTo>
                <a:lnTo>
                  <a:pt x="696" y="273"/>
                </a:lnTo>
                <a:lnTo>
                  <a:pt x="717" y="261"/>
                </a:lnTo>
                <a:lnTo>
                  <a:pt x="735" y="249"/>
                </a:lnTo>
                <a:lnTo>
                  <a:pt x="751" y="236"/>
                </a:lnTo>
                <a:lnTo>
                  <a:pt x="765" y="223"/>
                </a:lnTo>
                <a:lnTo>
                  <a:pt x="775" y="209"/>
                </a:lnTo>
                <a:lnTo>
                  <a:pt x="782" y="195"/>
                </a:lnTo>
                <a:lnTo>
                  <a:pt x="787" y="180"/>
                </a:lnTo>
                <a:lnTo>
                  <a:pt x="788" y="16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Rectangle 14">
            <a:extLst>
              <a:ext uri="{FF2B5EF4-FFF2-40B4-BE49-F238E27FC236}">
                <a16:creationId xmlns:a16="http://schemas.microsoft.com/office/drawing/2014/main" id="{5F2ACCAE-EE61-9939-9D80-EA66B615DF7A}"/>
              </a:ext>
            </a:extLst>
          </p:cNvPr>
          <p:cNvSpPr>
            <a:spLocks noChangeArrowheads="1"/>
          </p:cNvSpPr>
          <p:nvPr/>
        </p:nvSpPr>
        <p:spPr bwMode="auto">
          <a:xfrm>
            <a:off x="3201880" y="340295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14" name="Freeform 15">
            <a:extLst>
              <a:ext uri="{FF2B5EF4-FFF2-40B4-BE49-F238E27FC236}">
                <a16:creationId xmlns:a16="http://schemas.microsoft.com/office/drawing/2014/main" id="{5CEF7A76-7A02-8CDC-2F67-CC10931415C1}"/>
              </a:ext>
            </a:extLst>
          </p:cNvPr>
          <p:cNvSpPr>
            <a:spLocks/>
          </p:cNvSpPr>
          <p:nvPr/>
        </p:nvSpPr>
        <p:spPr bwMode="auto">
          <a:xfrm>
            <a:off x="4322655" y="4082403"/>
            <a:ext cx="1252537" cy="622300"/>
          </a:xfrm>
          <a:custGeom>
            <a:avLst/>
            <a:gdLst>
              <a:gd name="T0" fmla="*/ 0 w 789"/>
              <a:gd name="T1" fmla="*/ 311150 h 392"/>
              <a:gd name="T2" fmla="*/ 625475 w 789"/>
              <a:gd name="T3" fmla="*/ 0 h 392"/>
              <a:gd name="T4" fmla="*/ 1250950 w 789"/>
              <a:gd name="T5" fmla="*/ 311150 h 392"/>
              <a:gd name="T6" fmla="*/ 625475 w 789"/>
              <a:gd name="T7" fmla="*/ 620713 h 392"/>
              <a:gd name="T8" fmla="*/ 0 w 789"/>
              <a:gd name="T9" fmla="*/ 311150 h 392"/>
              <a:gd name="T10" fmla="*/ 0 60000 65536"/>
              <a:gd name="T11" fmla="*/ 0 60000 65536"/>
              <a:gd name="T12" fmla="*/ 0 60000 65536"/>
              <a:gd name="T13" fmla="*/ 0 60000 65536"/>
              <a:gd name="T14" fmla="*/ 0 60000 65536"/>
              <a:gd name="T15" fmla="*/ 0 w 789"/>
              <a:gd name="T16" fmla="*/ 0 h 392"/>
              <a:gd name="T17" fmla="*/ 789 w 789"/>
              <a:gd name="T18" fmla="*/ 392 h 392"/>
            </a:gdLst>
            <a:ahLst/>
            <a:cxnLst>
              <a:cxn ang="T10">
                <a:pos x="T0" y="T1"/>
              </a:cxn>
              <a:cxn ang="T11">
                <a:pos x="T2" y="T3"/>
              </a:cxn>
              <a:cxn ang="T12">
                <a:pos x="T4" y="T5"/>
              </a:cxn>
              <a:cxn ang="T13">
                <a:pos x="T6" y="T7"/>
              </a:cxn>
              <a:cxn ang="T14">
                <a:pos x="T8" y="T9"/>
              </a:cxn>
            </a:cxnLst>
            <a:rect l="T15" t="T16" r="T17" b="T18"/>
            <a:pathLst>
              <a:path w="789" h="392">
                <a:moveTo>
                  <a:pt x="0" y="196"/>
                </a:moveTo>
                <a:lnTo>
                  <a:pt x="394" y="0"/>
                </a:lnTo>
                <a:lnTo>
                  <a:pt x="788" y="196"/>
                </a:lnTo>
                <a:lnTo>
                  <a:pt x="394" y="391"/>
                </a:lnTo>
                <a:lnTo>
                  <a:pt x="0" y="196"/>
                </a:lnTo>
              </a:path>
            </a:pathLst>
          </a:custGeom>
          <a:noFill/>
          <a:ln w="508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Rectangle 16">
            <a:extLst>
              <a:ext uri="{FF2B5EF4-FFF2-40B4-BE49-F238E27FC236}">
                <a16:creationId xmlns:a16="http://schemas.microsoft.com/office/drawing/2014/main" id="{027209E8-A1E7-9771-9A3F-8BFA0A108B67}"/>
              </a:ext>
            </a:extLst>
          </p:cNvPr>
          <p:cNvSpPr>
            <a:spLocks noChangeArrowheads="1"/>
          </p:cNvSpPr>
          <p:nvPr/>
        </p:nvSpPr>
        <p:spPr bwMode="auto">
          <a:xfrm>
            <a:off x="1935055" y="2983853"/>
            <a:ext cx="711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16" name="Rectangle 17">
            <a:extLst>
              <a:ext uri="{FF2B5EF4-FFF2-40B4-BE49-F238E27FC236}">
                <a16:creationId xmlns:a16="http://schemas.microsoft.com/office/drawing/2014/main" id="{AB78BF81-9020-8BE2-3FA0-9A9A0C83E8CB}"/>
              </a:ext>
            </a:extLst>
          </p:cNvPr>
          <p:cNvSpPr>
            <a:spLocks noChangeArrowheads="1"/>
          </p:cNvSpPr>
          <p:nvPr/>
        </p:nvSpPr>
        <p:spPr bwMode="auto">
          <a:xfrm>
            <a:off x="7765942" y="3356916"/>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age</a:t>
            </a:r>
          </a:p>
        </p:txBody>
      </p:sp>
      <p:sp>
        <p:nvSpPr>
          <p:cNvPr id="17" name="Rectangle 18">
            <a:extLst>
              <a:ext uri="{FF2B5EF4-FFF2-40B4-BE49-F238E27FC236}">
                <a16:creationId xmlns:a16="http://schemas.microsoft.com/office/drawing/2014/main" id="{158882A3-8BF5-256F-6CFF-A26D80AEB280}"/>
              </a:ext>
            </a:extLst>
          </p:cNvPr>
          <p:cNvSpPr>
            <a:spLocks noChangeArrowheads="1"/>
          </p:cNvSpPr>
          <p:nvPr/>
        </p:nvSpPr>
        <p:spPr bwMode="auto">
          <a:xfrm>
            <a:off x="6108592" y="3341041"/>
            <a:ext cx="835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dname</a:t>
            </a:r>
          </a:p>
        </p:txBody>
      </p:sp>
      <p:sp>
        <p:nvSpPr>
          <p:cNvPr id="18" name="Rectangle 19">
            <a:extLst>
              <a:ext uri="{FF2B5EF4-FFF2-40B4-BE49-F238E27FC236}">
                <a16:creationId xmlns:a16="http://schemas.microsoft.com/office/drawing/2014/main" id="{3EB67766-D853-4D8D-F584-7CD111196EC9}"/>
              </a:ext>
            </a:extLst>
          </p:cNvPr>
          <p:cNvSpPr>
            <a:spLocks noChangeArrowheads="1"/>
          </p:cNvSpPr>
          <p:nvPr/>
        </p:nvSpPr>
        <p:spPr bwMode="auto">
          <a:xfrm>
            <a:off x="6703905" y="4241153"/>
            <a:ext cx="1341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Dependents</a:t>
            </a:r>
          </a:p>
        </p:txBody>
      </p:sp>
      <p:sp>
        <p:nvSpPr>
          <p:cNvPr id="19" name="Rectangle 20">
            <a:extLst>
              <a:ext uri="{FF2B5EF4-FFF2-40B4-BE49-F238E27FC236}">
                <a16:creationId xmlns:a16="http://schemas.microsoft.com/office/drawing/2014/main" id="{230F9599-32DF-2C29-7FAD-118B4D66ACDB}"/>
              </a:ext>
            </a:extLst>
          </p:cNvPr>
          <p:cNvSpPr>
            <a:spLocks noChangeArrowheads="1"/>
          </p:cNvSpPr>
          <p:nvPr/>
        </p:nvSpPr>
        <p:spPr bwMode="auto">
          <a:xfrm>
            <a:off x="1581042" y="4258616"/>
            <a:ext cx="1252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Employees</a:t>
            </a:r>
          </a:p>
        </p:txBody>
      </p:sp>
      <p:sp>
        <p:nvSpPr>
          <p:cNvPr id="20" name="Rectangle 21">
            <a:extLst>
              <a:ext uri="{FF2B5EF4-FFF2-40B4-BE49-F238E27FC236}">
                <a16:creationId xmlns:a16="http://schemas.microsoft.com/office/drawing/2014/main" id="{5A44343C-ED1B-A896-5E60-BA7EA47FD9A5}"/>
              </a:ext>
            </a:extLst>
          </p:cNvPr>
          <p:cNvSpPr>
            <a:spLocks noChangeArrowheads="1"/>
          </p:cNvSpPr>
          <p:nvPr/>
        </p:nvSpPr>
        <p:spPr bwMode="auto">
          <a:xfrm>
            <a:off x="839680" y="3388666"/>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ssn</a:t>
            </a:r>
          </a:p>
        </p:txBody>
      </p:sp>
      <p:sp>
        <p:nvSpPr>
          <p:cNvPr id="21" name="Rectangle 22">
            <a:extLst>
              <a:ext uri="{FF2B5EF4-FFF2-40B4-BE49-F238E27FC236}">
                <a16:creationId xmlns:a16="http://schemas.microsoft.com/office/drawing/2014/main" id="{2AE7CD1A-1333-B6EF-34D6-02C50EFD6DC9}"/>
              </a:ext>
            </a:extLst>
          </p:cNvPr>
          <p:cNvSpPr>
            <a:spLocks noChangeArrowheads="1"/>
          </p:cNvSpPr>
          <p:nvPr/>
        </p:nvSpPr>
        <p:spPr bwMode="auto">
          <a:xfrm>
            <a:off x="4556017" y="4241153"/>
            <a:ext cx="7794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Policy</a:t>
            </a:r>
          </a:p>
        </p:txBody>
      </p:sp>
      <p:sp>
        <p:nvSpPr>
          <p:cNvPr id="22" name="Rectangle 23">
            <a:extLst>
              <a:ext uri="{FF2B5EF4-FFF2-40B4-BE49-F238E27FC236}">
                <a16:creationId xmlns:a16="http://schemas.microsoft.com/office/drawing/2014/main" id="{CBAEA34F-E3EE-20C8-1B04-B3767BFF0207}"/>
              </a:ext>
            </a:extLst>
          </p:cNvPr>
          <p:cNvSpPr>
            <a:spLocks noChangeArrowheads="1"/>
          </p:cNvSpPr>
          <p:nvPr/>
        </p:nvSpPr>
        <p:spPr bwMode="auto">
          <a:xfrm>
            <a:off x="4670317" y="3279128"/>
            <a:ext cx="5984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cost</a:t>
            </a:r>
          </a:p>
        </p:txBody>
      </p:sp>
      <p:sp>
        <p:nvSpPr>
          <p:cNvPr id="23" name="Line 24">
            <a:extLst>
              <a:ext uri="{FF2B5EF4-FFF2-40B4-BE49-F238E27FC236}">
                <a16:creationId xmlns:a16="http://schemas.microsoft.com/office/drawing/2014/main" id="{C0CD4854-3FE1-1938-55D4-B38AD45C1C83}"/>
              </a:ext>
            </a:extLst>
          </p:cNvPr>
          <p:cNvSpPr>
            <a:spLocks noChangeShapeType="1"/>
          </p:cNvSpPr>
          <p:nvPr/>
        </p:nvSpPr>
        <p:spPr bwMode="auto">
          <a:xfrm flipH="1">
            <a:off x="6199080" y="3644253"/>
            <a:ext cx="609600" cy="0"/>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5">
            <a:extLst>
              <a:ext uri="{FF2B5EF4-FFF2-40B4-BE49-F238E27FC236}">
                <a16:creationId xmlns:a16="http://schemas.microsoft.com/office/drawing/2014/main" id="{DF404997-D8AA-4992-64ED-DFCD9EDC42B2}"/>
              </a:ext>
            </a:extLst>
          </p:cNvPr>
          <p:cNvSpPr>
            <a:spLocks noChangeShapeType="1"/>
          </p:cNvSpPr>
          <p:nvPr/>
        </p:nvSpPr>
        <p:spPr bwMode="auto">
          <a:xfrm>
            <a:off x="2227155" y="3455341"/>
            <a:ext cx="0" cy="6683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6">
            <a:extLst>
              <a:ext uri="{FF2B5EF4-FFF2-40B4-BE49-F238E27FC236}">
                <a16:creationId xmlns:a16="http://schemas.microsoft.com/office/drawing/2014/main" id="{DEC51B4E-17AA-6187-7A2A-ED7FD9A4CEFC}"/>
              </a:ext>
            </a:extLst>
          </p:cNvPr>
          <p:cNvSpPr>
            <a:spLocks noChangeShapeType="1"/>
          </p:cNvSpPr>
          <p:nvPr/>
        </p:nvSpPr>
        <p:spPr bwMode="auto">
          <a:xfrm>
            <a:off x="1069867" y="3834753"/>
            <a:ext cx="809625" cy="3095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7">
            <a:extLst>
              <a:ext uri="{FF2B5EF4-FFF2-40B4-BE49-F238E27FC236}">
                <a16:creationId xmlns:a16="http://schemas.microsoft.com/office/drawing/2014/main" id="{782E8617-281F-D6C4-E833-538C138C4DBC}"/>
              </a:ext>
            </a:extLst>
          </p:cNvPr>
          <p:cNvSpPr>
            <a:spLocks noChangeShapeType="1"/>
          </p:cNvSpPr>
          <p:nvPr/>
        </p:nvSpPr>
        <p:spPr bwMode="auto">
          <a:xfrm flipH="1">
            <a:off x="2562117" y="3815703"/>
            <a:ext cx="814388" cy="32861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8">
            <a:extLst>
              <a:ext uri="{FF2B5EF4-FFF2-40B4-BE49-F238E27FC236}">
                <a16:creationId xmlns:a16="http://schemas.microsoft.com/office/drawing/2014/main" id="{ACBF1E99-D497-BB98-C37F-6DBD3D607138}"/>
              </a:ext>
            </a:extLst>
          </p:cNvPr>
          <p:cNvSpPr>
            <a:spLocks noChangeShapeType="1"/>
          </p:cNvSpPr>
          <p:nvPr/>
        </p:nvSpPr>
        <p:spPr bwMode="auto">
          <a:xfrm flipV="1">
            <a:off x="4935430" y="3680766"/>
            <a:ext cx="0" cy="4143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9">
            <a:extLst>
              <a:ext uri="{FF2B5EF4-FFF2-40B4-BE49-F238E27FC236}">
                <a16:creationId xmlns:a16="http://schemas.microsoft.com/office/drawing/2014/main" id="{C8FF880A-9E6E-6F9C-9C33-EB18CA329552}"/>
              </a:ext>
            </a:extLst>
          </p:cNvPr>
          <p:cNvSpPr>
            <a:spLocks noChangeShapeType="1"/>
          </p:cNvSpPr>
          <p:nvPr/>
        </p:nvSpPr>
        <p:spPr bwMode="auto">
          <a:xfrm>
            <a:off x="6445142" y="3815703"/>
            <a:ext cx="369888" cy="3476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30">
            <a:extLst>
              <a:ext uri="{FF2B5EF4-FFF2-40B4-BE49-F238E27FC236}">
                <a16:creationId xmlns:a16="http://schemas.microsoft.com/office/drawing/2014/main" id="{C559C224-A9FD-CBE2-F09E-9385170354CB}"/>
              </a:ext>
            </a:extLst>
          </p:cNvPr>
          <p:cNvSpPr>
            <a:spLocks noChangeShapeType="1"/>
          </p:cNvSpPr>
          <p:nvPr/>
        </p:nvSpPr>
        <p:spPr bwMode="auto">
          <a:xfrm flipH="1">
            <a:off x="7435742" y="3815703"/>
            <a:ext cx="514350" cy="3476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1">
            <a:extLst>
              <a:ext uri="{FF2B5EF4-FFF2-40B4-BE49-F238E27FC236}">
                <a16:creationId xmlns:a16="http://schemas.microsoft.com/office/drawing/2014/main" id="{8D65BABD-3ECA-3C19-DE1F-3716B6A2AC75}"/>
              </a:ext>
            </a:extLst>
          </p:cNvPr>
          <p:cNvSpPr>
            <a:spLocks noChangeShapeType="1"/>
          </p:cNvSpPr>
          <p:nvPr/>
        </p:nvSpPr>
        <p:spPr bwMode="auto">
          <a:xfrm flipH="1">
            <a:off x="2843105" y="4390378"/>
            <a:ext cx="141605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2">
            <a:extLst>
              <a:ext uri="{FF2B5EF4-FFF2-40B4-BE49-F238E27FC236}">
                <a16:creationId xmlns:a16="http://schemas.microsoft.com/office/drawing/2014/main" id="{9CC2D096-D600-BD32-B5C8-588F95D15128}"/>
              </a:ext>
            </a:extLst>
          </p:cNvPr>
          <p:cNvSpPr>
            <a:spLocks noChangeShapeType="1"/>
          </p:cNvSpPr>
          <p:nvPr/>
        </p:nvSpPr>
        <p:spPr bwMode="auto">
          <a:xfrm>
            <a:off x="5602180" y="4390378"/>
            <a:ext cx="931862" cy="0"/>
          </a:xfrm>
          <a:prstGeom prst="line">
            <a:avLst/>
          </a:prstGeom>
          <a:noFill/>
          <a:ln w="50800">
            <a:solidFill>
              <a:schemeClr val="tx2"/>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795272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937A-DB0A-F430-29D2-46966F3CD973}"/>
              </a:ext>
            </a:extLst>
          </p:cNvPr>
          <p:cNvSpPr>
            <a:spLocks noGrp="1"/>
          </p:cNvSpPr>
          <p:nvPr>
            <p:ph type="title"/>
          </p:nvPr>
        </p:nvSpPr>
        <p:spPr>
          <a:xfrm>
            <a:off x="457200" y="50155"/>
            <a:ext cx="8229600" cy="868362"/>
          </a:xfrm>
        </p:spPr>
        <p:txBody>
          <a:bodyPr/>
          <a:lstStyle/>
          <a:p>
            <a:r>
              <a:rPr lang="en-US" dirty="0"/>
              <a:t>Translating Weak Entity Sets</a:t>
            </a:r>
          </a:p>
        </p:txBody>
      </p:sp>
      <p:sp>
        <p:nvSpPr>
          <p:cNvPr id="3" name="Content Placeholder 2">
            <a:extLst>
              <a:ext uri="{FF2B5EF4-FFF2-40B4-BE49-F238E27FC236}">
                <a16:creationId xmlns:a16="http://schemas.microsoft.com/office/drawing/2014/main" id="{9EEFAC36-3563-3AAF-493A-14FCA4A59698}"/>
              </a:ext>
            </a:extLst>
          </p:cNvPr>
          <p:cNvSpPr>
            <a:spLocks noGrp="1"/>
          </p:cNvSpPr>
          <p:nvPr>
            <p:ph idx="1"/>
          </p:nvPr>
        </p:nvSpPr>
        <p:spPr>
          <a:xfrm>
            <a:off x="457863" y="2667000"/>
            <a:ext cx="8229600" cy="1467496"/>
          </a:xfrm>
        </p:spPr>
        <p:txBody>
          <a:bodyPr/>
          <a:lstStyle/>
          <a:p>
            <a:pPr>
              <a:buFont typeface="Wingdings" pitchFamily="2" charset="2"/>
              <a:buChar char="§"/>
            </a:pPr>
            <a:r>
              <a:rPr lang="en-US" sz="2800" dirty="0"/>
              <a:t>Here is how to create “</a:t>
            </a:r>
            <a:r>
              <a:rPr lang="en-US" sz="2800" dirty="0" err="1"/>
              <a:t>Dep_Policy</a:t>
            </a:r>
            <a:r>
              <a:rPr lang="en-US" sz="2800" dirty="0"/>
              <a:t>” using the </a:t>
            </a:r>
            <a:br>
              <a:rPr lang="en-US" sz="2800" dirty="0"/>
            </a:br>
            <a:r>
              <a:rPr lang="en-US" sz="2800" dirty="0"/>
              <a:t>one-table approach</a:t>
            </a:r>
            <a:endParaRPr lang="en-US" dirty="0"/>
          </a:p>
        </p:txBody>
      </p:sp>
      <p:sp>
        <p:nvSpPr>
          <p:cNvPr id="4" name="Slide Number Placeholder 3">
            <a:extLst>
              <a:ext uri="{FF2B5EF4-FFF2-40B4-BE49-F238E27FC236}">
                <a16:creationId xmlns:a16="http://schemas.microsoft.com/office/drawing/2014/main" id="{E663B8E3-C7C1-06AE-5188-AA2BAB2F1093}"/>
              </a:ext>
            </a:extLst>
          </p:cNvPr>
          <p:cNvSpPr>
            <a:spLocks noGrp="1"/>
          </p:cNvSpPr>
          <p:nvPr>
            <p:ph type="sldNum" sz="quarter" idx="12"/>
          </p:nvPr>
        </p:nvSpPr>
        <p:spPr/>
        <p:txBody>
          <a:bodyPr/>
          <a:lstStyle/>
          <a:p>
            <a:fld id="{5FCA4BC5-AE2A-401E-9EDD-DF8812A14A6A}" type="slidenum">
              <a:rPr lang="en-US" smtClean="0"/>
              <a:t>42</a:t>
            </a:fld>
            <a:endParaRPr lang="en-US" dirty="0"/>
          </a:p>
        </p:txBody>
      </p:sp>
      <p:sp>
        <p:nvSpPr>
          <p:cNvPr id="5" name="Freeform 6">
            <a:extLst>
              <a:ext uri="{FF2B5EF4-FFF2-40B4-BE49-F238E27FC236}">
                <a16:creationId xmlns:a16="http://schemas.microsoft.com/office/drawing/2014/main" id="{EFFD4458-E663-8735-58EB-B39C0706857C}"/>
              </a:ext>
            </a:extLst>
          </p:cNvPr>
          <p:cNvSpPr>
            <a:spLocks/>
          </p:cNvSpPr>
          <p:nvPr/>
        </p:nvSpPr>
        <p:spPr bwMode="auto">
          <a:xfrm>
            <a:off x="5806967" y="1201091"/>
            <a:ext cx="1254125" cy="530225"/>
          </a:xfrm>
          <a:custGeom>
            <a:avLst/>
            <a:gdLst>
              <a:gd name="T0" fmla="*/ 1250950 w 790"/>
              <a:gd name="T1" fmla="*/ 242888 h 334"/>
              <a:gd name="T2" fmla="*/ 1230313 w 790"/>
              <a:gd name="T3" fmla="*/ 196850 h 334"/>
              <a:gd name="T4" fmla="*/ 1193800 w 790"/>
              <a:gd name="T5" fmla="*/ 153988 h 334"/>
              <a:gd name="T6" fmla="*/ 1139825 w 790"/>
              <a:gd name="T7" fmla="*/ 112713 h 334"/>
              <a:gd name="T8" fmla="*/ 1069975 w 790"/>
              <a:gd name="T9" fmla="*/ 79375 h 334"/>
              <a:gd name="T10" fmla="*/ 985838 w 790"/>
              <a:gd name="T11" fmla="*/ 47625 h 334"/>
              <a:gd name="T12" fmla="*/ 890588 w 790"/>
              <a:gd name="T13" fmla="*/ 26988 h 334"/>
              <a:gd name="T14" fmla="*/ 788988 w 790"/>
              <a:gd name="T15" fmla="*/ 9525 h 334"/>
              <a:gd name="T16" fmla="*/ 681038 w 790"/>
              <a:gd name="T17" fmla="*/ 1588 h 334"/>
              <a:gd name="T18" fmla="*/ 571500 w 790"/>
              <a:gd name="T19" fmla="*/ 1588 h 334"/>
              <a:gd name="T20" fmla="*/ 465138 w 790"/>
              <a:gd name="T21" fmla="*/ 9525 h 334"/>
              <a:gd name="T22" fmla="*/ 361950 w 790"/>
              <a:gd name="T23" fmla="*/ 26988 h 334"/>
              <a:gd name="T24" fmla="*/ 268288 w 790"/>
              <a:gd name="T25" fmla="*/ 47625 h 334"/>
              <a:gd name="T26" fmla="*/ 184150 w 790"/>
              <a:gd name="T27" fmla="*/ 79375 h 334"/>
              <a:gd name="T28" fmla="*/ 114300 w 790"/>
              <a:gd name="T29" fmla="*/ 112713 h 334"/>
              <a:gd name="T30" fmla="*/ 60325 w 790"/>
              <a:gd name="T31" fmla="*/ 153988 h 334"/>
              <a:gd name="T32" fmla="*/ 22225 w 790"/>
              <a:gd name="T33" fmla="*/ 196850 h 334"/>
              <a:gd name="T34" fmla="*/ 3175 w 790"/>
              <a:gd name="T35" fmla="*/ 242888 h 334"/>
              <a:gd name="T36" fmla="*/ 3175 w 790"/>
              <a:gd name="T37" fmla="*/ 287338 h 334"/>
              <a:gd name="T38" fmla="*/ 22225 w 790"/>
              <a:gd name="T39" fmla="*/ 333375 h 334"/>
              <a:gd name="T40" fmla="*/ 60325 w 790"/>
              <a:gd name="T41" fmla="*/ 376238 h 334"/>
              <a:gd name="T42" fmla="*/ 114300 w 790"/>
              <a:gd name="T43" fmla="*/ 415925 h 334"/>
              <a:gd name="T44" fmla="*/ 184150 w 790"/>
              <a:gd name="T45" fmla="*/ 450850 h 334"/>
              <a:gd name="T46" fmla="*/ 268288 w 790"/>
              <a:gd name="T47" fmla="*/ 481013 h 334"/>
              <a:gd name="T48" fmla="*/ 361950 w 790"/>
              <a:gd name="T49" fmla="*/ 503238 h 334"/>
              <a:gd name="T50" fmla="*/ 465138 w 790"/>
              <a:gd name="T51" fmla="*/ 519113 h 334"/>
              <a:gd name="T52" fmla="*/ 571500 w 790"/>
              <a:gd name="T53" fmla="*/ 527050 h 334"/>
              <a:gd name="T54" fmla="*/ 681038 w 790"/>
              <a:gd name="T55" fmla="*/ 527050 h 334"/>
              <a:gd name="T56" fmla="*/ 788988 w 790"/>
              <a:gd name="T57" fmla="*/ 519113 h 334"/>
              <a:gd name="T58" fmla="*/ 890588 w 790"/>
              <a:gd name="T59" fmla="*/ 503238 h 334"/>
              <a:gd name="T60" fmla="*/ 985838 w 790"/>
              <a:gd name="T61" fmla="*/ 481013 h 334"/>
              <a:gd name="T62" fmla="*/ 1069975 w 790"/>
              <a:gd name="T63" fmla="*/ 450850 h 334"/>
              <a:gd name="T64" fmla="*/ 1139825 w 790"/>
              <a:gd name="T65" fmla="*/ 415925 h 334"/>
              <a:gd name="T66" fmla="*/ 1193800 w 790"/>
              <a:gd name="T67" fmla="*/ 376238 h 334"/>
              <a:gd name="T68" fmla="*/ 1230313 w 790"/>
              <a:gd name="T69" fmla="*/ 333375 h 334"/>
              <a:gd name="T70" fmla="*/ 1250950 w 790"/>
              <a:gd name="T71" fmla="*/ 287338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789" y="167"/>
                </a:moveTo>
                <a:lnTo>
                  <a:pt x="788" y="153"/>
                </a:lnTo>
                <a:lnTo>
                  <a:pt x="783" y="138"/>
                </a:lnTo>
                <a:lnTo>
                  <a:pt x="775" y="124"/>
                </a:lnTo>
                <a:lnTo>
                  <a:pt x="765" y="110"/>
                </a:lnTo>
                <a:lnTo>
                  <a:pt x="752" y="97"/>
                </a:lnTo>
                <a:lnTo>
                  <a:pt x="736" y="83"/>
                </a:lnTo>
                <a:lnTo>
                  <a:pt x="718" y="71"/>
                </a:lnTo>
                <a:lnTo>
                  <a:pt x="697" y="60"/>
                </a:lnTo>
                <a:lnTo>
                  <a:pt x="674" y="50"/>
                </a:lnTo>
                <a:lnTo>
                  <a:pt x="648" y="40"/>
                </a:lnTo>
                <a:lnTo>
                  <a:pt x="621" y="30"/>
                </a:lnTo>
                <a:lnTo>
                  <a:pt x="592" y="23"/>
                </a:lnTo>
                <a:lnTo>
                  <a:pt x="561" y="17"/>
                </a:lnTo>
                <a:lnTo>
                  <a:pt x="529" y="10"/>
                </a:lnTo>
                <a:lnTo>
                  <a:pt x="497" y="6"/>
                </a:lnTo>
                <a:lnTo>
                  <a:pt x="463" y="3"/>
                </a:lnTo>
                <a:lnTo>
                  <a:pt x="429" y="1"/>
                </a:lnTo>
                <a:lnTo>
                  <a:pt x="394" y="0"/>
                </a:lnTo>
                <a:lnTo>
                  <a:pt x="360" y="1"/>
                </a:lnTo>
                <a:lnTo>
                  <a:pt x="326" y="3"/>
                </a:lnTo>
                <a:lnTo>
                  <a:pt x="293" y="6"/>
                </a:lnTo>
                <a:lnTo>
                  <a:pt x="260" y="10"/>
                </a:lnTo>
                <a:lnTo>
                  <a:pt x="228" y="17"/>
                </a:lnTo>
                <a:lnTo>
                  <a:pt x="197" y="23"/>
                </a:lnTo>
                <a:lnTo>
                  <a:pt x="169" y="30"/>
                </a:lnTo>
                <a:lnTo>
                  <a:pt x="142" y="40"/>
                </a:lnTo>
                <a:lnTo>
                  <a:pt x="116" y="50"/>
                </a:lnTo>
                <a:lnTo>
                  <a:pt x="93" y="60"/>
                </a:lnTo>
                <a:lnTo>
                  <a:pt x="72" y="71"/>
                </a:lnTo>
                <a:lnTo>
                  <a:pt x="54" y="83"/>
                </a:lnTo>
                <a:lnTo>
                  <a:pt x="38" y="97"/>
                </a:lnTo>
                <a:lnTo>
                  <a:pt x="24" y="110"/>
                </a:lnTo>
                <a:lnTo>
                  <a:pt x="14" y="124"/>
                </a:lnTo>
                <a:lnTo>
                  <a:pt x="7" y="138"/>
                </a:lnTo>
                <a:lnTo>
                  <a:pt x="2" y="153"/>
                </a:lnTo>
                <a:lnTo>
                  <a:pt x="0" y="167"/>
                </a:lnTo>
                <a:lnTo>
                  <a:pt x="2" y="181"/>
                </a:lnTo>
                <a:lnTo>
                  <a:pt x="7" y="196"/>
                </a:lnTo>
                <a:lnTo>
                  <a:pt x="14" y="210"/>
                </a:lnTo>
                <a:lnTo>
                  <a:pt x="24" y="224"/>
                </a:lnTo>
                <a:lnTo>
                  <a:pt x="38" y="237"/>
                </a:lnTo>
                <a:lnTo>
                  <a:pt x="54" y="250"/>
                </a:lnTo>
                <a:lnTo>
                  <a:pt x="72" y="262"/>
                </a:lnTo>
                <a:lnTo>
                  <a:pt x="93" y="274"/>
                </a:lnTo>
                <a:lnTo>
                  <a:pt x="116" y="284"/>
                </a:lnTo>
                <a:lnTo>
                  <a:pt x="142" y="294"/>
                </a:lnTo>
                <a:lnTo>
                  <a:pt x="169" y="303"/>
                </a:lnTo>
                <a:lnTo>
                  <a:pt x="197" y="311"/>
                </a:lnTo>
                <a:lnTo>
                  <a:pt x="228" y="317"/>
                </a:lnTo>
                <a:lnTo>
                  <a:pt x="260" y="323"/>
                </a:lnTo>
                <a:lnTo>
                  <a:pt x="293" y="327"/>
                </a:lnTo>
                <a:lnTo>
                  <a:pt x="326" y="331"/>
                </a:lnTo>
                <a:lnTo>
                  <a:pt x="360" y="332"/>
                </a:lnTo>
                <a:lnTo>
                  <a:pt x="394" y="333"/>
                </a:lnTo>
                <a:lnTo>
                  <a:pt x="429" y="332"/>
                </a:lnTo>
                <a:lnTo>
                  <a:pt x="463" y="331"/>
                </a:lnTo>
                <a:lnTo>
                  <a:pt x="497" y="327"/>
                </a:lnTo>
                <a:lnTo>
                  <a:pt x="529" y="323"/>
                </a:lnTo>
                <a:lnTo>
                  <a:pt x="561" y="317"/>
                </a:lnTo>
                <a:lnTo>
                  <a:pt x="592" y="311"/>
                </a:lnTo>
                <a:lnTo>
                  <a:pt x="621" y="303"/>
                </a:lnTo>
                <a:lnTo>
                  <a:pt x="648" y="294"/>
                </a:lnTo>
                <a:lnTo>
                  <a:pt x="674" y="284"/>
                </a:lnTo>
                <a:lnTo>
                  <a:pt x="697" y="274"/>
                </a:lnTo>
                <a:lnTo>
                  <a:pt x="718" y="262"/>
                </a:lnTo>
                <a:lnTo>
                  <a:pt x="736" y="250"/>
                </a:lnTo>
                <a:lnTo>
                  <a:pt x="752" y="237"/>
                </a:lnTo>
                <a:lnTo>
                  <a:pt x="765" y="224"/>
                </a:lnTo>
                <a:lnTo>
                  <a:pt x="775" y="210"/>
                </a:lnTo>
                <a:lnTo>
                  <a:pt x="783" y="196"/>
                </a:lnTo>
                <a:lnTo>
                  <a:pt x="788" y="181"/>
                </a:lnTo>
                <a:lnTo>
                  <a:pt x="789"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Freeform 7">
            <a:extLst>
              <a:ext uri="{FF2B5EF4-FFF2-40B4-BE49-F238E27FC236}">
                <a16:creationId xmlns:a16="http://schemas.microsoft.com/office/drawing/2014/main" id="{C6E522AD-8D09-E442-EE46-ABF34412E40D}"/>
              </a:ext>
            </a:extLst>
          </p:cNvPr>
          <p:cNvSpPr>
            <a:spLocks/>
          </p:cNvSpPr>
          <p:nvPr/>
        </p:nvSpPr>
        <p:spPr bwMode="auto">
          <a:xfrm>
            <a:off x="7340492" y="1216966"/>
            <a:ext cx="1254125" cy="530225"/>
          </a:xfrm>
          <a:custGeom>
            <a:avLst/>
            <a:gdLst>
              <a:gd name="T0" fmla="*/ 3175 w 790"/>
              <a:gd name="T1" fmla="*/ 287338 h 334"/>
              <a:gd name="T2" fmla="*/ 20638 w 790"/>
              <a:gd name="T3" fmla="*/ 333375 h 334"/>
              <a:gd name="T4" fmla="*/ 60325 w 790"/>
              <a:gd name="T5" fmla="*/ 376238 h 334"/>
              <a:gd name="T6" fmla="*/ 114300 w 790"/>
              <a:gd name="T7" fmla="*/ 415925 h 334"/>
              <a:gd name="T8" fmla="*/ 184150 w 790"/>
              <a:gd name="T9" fmla="*/ 450850 h 334"/>
              <a:gd name="T10" fmla="*/ 268288 w 790"/>
              <a:gd name="T11" fmla="*/ 481013 h 334"/>
              <a:gd name="T12" fmla="*/ 361950 w 790"/>
              <a:gd name="T13" fmla="*/ 503238 h 334"/>
              <a:gd name="T14" fmla="*/ 465138 w 790"/>
              <a:gd name="T15" fmla="*/ 519113 h 334"/>
              <a:gd name="T16" fmla="*/ 571500 w 790"/>
              <a:gd name="T17" fmla="*/ 527050 h 334"/>
              <a:gd name="T18" fmla="*/ 681038 w 790"/>
              <a:gd name="T19" fmla="*/ 527050 h 334"/>
              <a:gd name="T20" fmla="*/ 788988 w 790"/>
              <a:gd name="T21" fmla="*/ 519113 h 334"/>
              <a:gd name="T22" fmla="*/ 890588 w 790"/>
              <a:gd name="T23" fmla="*/ 503238 h 334"/>
              <a:gd name="T24" fmla="*/ 985838 w 790"/>
              <a:gd name="T25" fmla="*/ 481013 h 334"/>
              <a:gd name="T26" fmla="*/ 1068388 w 790"/>
              <a:gd name="T27" fmla="*/ 450850 h 334"/>
              <a:gd name="T28" fmla="*/ 1138238 w 790"/>
              <a:gd name="T29" fmla="*/ 415925 h 334"/>
              <a:gd name="T30" fmla="*/ 1193800 w 790"/>
              <a:gd name="T31" fmla="*/ 376238 h 334"/>
              <a:gd name="T32" fmla="*/ 1230313 w 790"/>
              <a:gd name="T33" fmla="*/ 333375 h 334"/>
              <a:gd name="T34" fmla="*/ 1249363 w 790"/>
              <a:gd name="T35" fmla="*/ 287338 h 334"/>
              <a:gd name="T36" fmla="*/ 1249363 w 790"/>
              <a:gd name="T37" fmla="*/ 241300 h 334"/>
              <a:gd name="T38" fmla="*/ 1230313 w 790"/>
              <a:gd name="T39" fmla="*/ 196850 h 334"/>
              <a:gd name="T40" fmla="*/ 1192213 w 790"/>
              <a:gd name="T41" fmla="*/ 153988 h 334"/>
              <a:gd name="T42" fmla="*/ 1138238 w 790"/>
              <a:gd name="T43" fmla="*/ 112713 h 334"/>
              <a:gd name="T44" fmla="*/ 1068388 w 790"/>
              <a:gd name="T45" fmla="*/ 77788 h 334"/>
              <a:gd name="T46" fmla="*/ 984250 w 790"/>
              <a:gd name="T47" fmla="*/ 47625 h 334"/>
              <a:gd name="T48" fmla="*/ 890588 w 790"/>
              <a:gd name="T49" fmla="*/ 25400 h 334"/>
              <a:gd name="T50" fmla="*/ 787400 w 790"/>
              <a:gd name="T51" fmla="*/ 9525 h 334"/>
              <a:gd name="T52" fmla="*/ 681038 w 790"/>
              <a:gd name="T53" fmla="*/ 1588 h 334"/>
              <a:gd name="T54" fmla="*/ 571500 w 790"/>
              <a:gd name="T55" fmla="*/ 1588 h 334"/>
              <a:gd name="T56" fmla="*/ 465138 w 790"/>
              <a:gd name="T57" fmla="*/ 11113 h 334"/>
              <a:gd name="T58" fmla="*/ 361950 w 790"/>
              <a:gd name="T59" fmla="*/ 25400 h 334"/>
              <a:gd name="T60" fmla="*/ 268288 w 790"/>
              <a:gd name="T61" fmla="*/ 47625 h 334"/>
              <a:gd name="T62" fmla="*/ 184150 w 790"/>
              <a:gd name="T63" fmla="*/ 79375 h 334"/>
              <a:gd name="T64" fmla="*/ 114300 w 790"/>
              <a:gd name="T65" fmla="*/ 112713 h 334"/>
              <a:gd name="T66" fmla="*/ 60325 w 790"/>
              <a:gd name="T67" fmla="*/ 153988 h 334"/>
              <a:gd name="T68" fmla="*/ 20638 w 790"/>
              <a:gd name="T69" fmla="*/ 196850 h 334"/>
              <a:gd name="T70" fmla="*/ 3175 w 790"/>
              <a:gd name="T71" fmla="*/ 241300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0" y="167"/>
                </a:moveTo>
                <a:lnTo>
                  <a:pt x="2" y="181"/>
                </a:lnTo>
                <a:lnTo>
                  <a:pt x="6" y="196"/>
                </a:lnTo>
                <a:lnTo>
                  <a:pt x="13" y="210"/>
                </a:lnTo>
                <a:lnTo>
                  <a:pt x="24" y="224"/>
                </a:lnTo>
                <a:lnTo>
                  <a:pt x="38" y="237"/>
                </a:lnTo>
                <a:lnTo>
                  <a:pt x="53" y="250"/>
                </a:lnTo>
                <a:lnTo>
                  <a:pt x="72" y="262"/>
                </a:lnTo>
                <a:lnTo>
                  <a:pt x="93" y="274"/>
                </a:lnTo>
                <a:lnTo>
                  <a:pt x="116" y="284"/>
                </a:lnTo>
                <a:lnTo>
                  <a:pt x="141" y="294"/>
                </a:lnTo>
                <a:lnTo>
                  <a:pt x="169" y="303"/>
                </a:lnTo>
                <a:lnTo>
                  <a:pt x="197" y="311"/>
                </a:lnTo>
                <a:lnTo>
                  <a:pt x="228" y="317"/>
                </a:lnTo>
                <a:lnTo>
                  <a:pt x="259" y="323"/>
                </a:lnTo>
                <a:lnTo>
                  <a:pt x="293" y="327"/>
                </a:lnTo>
                <a:lnTo>
                  <a:pt x="326" y="331"/>
                </a:lnTo>
                <a:lnTo>
                  <a:pt x="360" y="332"/>
                </a:lnTo>
                <a:lnTo>
                  <a:pt x="394" y="333"/>
                </a:lnTo>
                <a:lnTo>
                  <a:pt x="429" y="332"/>
                </a:lnTo>
                <a:lnTo>
                  <a:pt x="463" y="331"/>
                </a:lnTo>
                <a:lnTo>
                  <a:pt x="497" y="327"/>
                </a:lnTo>
                <a:lnTo>
                  <a:pt x="529" y="323"/>
                </a:lnTo>
                <a:lnTo>
                  <a:pt x="561" y="317"/>
                </a:lnTo>
                <a:lnTo>
                  <a:pt x="591" y="311"/>
                </a:lnTo>
                <a:lnTo>
                  <a:pt x="621" y="303"/>
                </a:lnTo>
                <a:lnTo>
                  <a:pt x="648" y="294"/>
                </a:lnTo>
                <a:lnTo>
                  <a:pt x="673" y="284"/>
                </a:lnTo>
                <a:lnTo>
                  <a:pt x="696" y="274"/>
                </a:lnTo>
                <a:lnTo>
                  <a:pt x="717" y="262"/>
                </a:lnTo>
                <a:lnTo>
                  <a:pt x="736" y="250"/>
                </a:lnTo>
                <a:lnTo>
                  <a:pt x="752" y="237"/>
                </a:lnTo>
                <a:lnTo>
                  <a:pt x="765" y="224"/>
                </a:lnTo>
                <a:lnTo>
                  <a:pt x="775" y="210"/>
                </a:lnTo>
                <a:lnTo>
                  <a:pt x="782" y="195"/>
                </a:lnTo>
                <a:lnTo>
                  <a:pt x="787" y="181"/>
                </a:lnTo>
                <a:lnTo>
                  <a:pt x="789" y="167"/>
                </a:lnTo>
                <a:lnTo>
                  <a:pt x="787" y="152"/>
                </a:lnTo>
                <a:lnTo>
                  <a:pt x="782" y="137"/>
                </a:lnTo>
                <a:lnTo>
                  <a:pt x="775" y="124"/>
                </a:lnTo>
                <a:lnTo>
                  <a:pt x="765" y="110"/>
                </a:lnTo>
                <a:lnTo>
                  <a:pt x="751" y="97"/>
                </a:lnTo>
                <a:lnTo>
                  <a:pt x="736" y="83"/>
                </a:lnTo>
                <a:lnTo>
                  <a:pt x="717" y="71"/>
                </a:lnTo>
                <a:lnTo>
                  <a:pt x="696" y="60"/>
                </a:lnTo>
                <a:lnTo>
                  <a:pt x="673" y="49"/>
                </a:lnTo>
                <a:lnTo>
                  <a:pt x="648" y="40"/>
                </a:lnTo>
                <a:lnTo>
                  <a:pt x="620" y="30"/>
                </a:lnTo>
                <a:lnTo>
                  <a:pt x="591" y="23"/>
                </a:lnTo>
                <a:lnTo>
                  <a:pt x="561" y="16"/>
                </a:lnTo>
                <a:lnTo>
                  <a:pt x="529" y="10"/>
                </a:lnTo>
                <a:lnTo>
                  <a:pt x="496" y="6"/>
                </a:lnTo>
                <a:lnTo>
                  <a:pt x="463" y="3"/>
                </a:lnTo>
                <a:lnTo>
                  <a:pt x="429" y="1"/>
                </a:lnTo>
                <a:lnTo>
                  <a:pt x="394" y="0"/>
                </a:lnTo>
                <a:lnTo>
                  <a:pt x="360" y="1"/>
                </a:lnTo>
                <a:lnTo>
                  <a:pt x="326" y="3"/>
                </a:lnTo>
                <a:lnTo>
                  <a:pt x="293" y="7"/>
                </a:lnTo>
                <a:lnTo>
                  <a:pt x="259" y="10"/>
                </a:lnTo>
                <a:lnTo>
                  <a:pt x="228" y="16"/>
                </a:lnTo>
                <a:lnTo>
                  <a:pt x="197" y="23"/>
                </a:lnTo>
                <a:lnTo>
                  <a:pt x="169" y="30"/>
                </a:lnTo>
                <a:lnTo>
                  <a:pt x="141" y="40"/>
                </a:lnTo>
                <a:lnTo>
                  <a:pt x="116" y="50"/>
                </a:lnTo>
                <a:lnTo>
                  <a:pt x="93" y="60"/>
                </a:lnTo>
                <a:lnTo>
                  <a:pt x="72" y="71"/>
                </a:lnTo>
                <a:lnTo>
                  <a:pt x="53" y="83"/>
                </a:lnTo>
                <a:lnTo>
                  <a:pt x="38" y="97"/>
                </a:lnTo>
                <a:lnTo>
                  <a:pt x="24" y="110"/>
                </a:lnTo>
                <a:lnTo>
                  <a:pt x="13" y="124"/>
                </a:lnTo>
                <a:lnTo>
                  <a:pt x="6" y="138"/>
                </a:lnTo>
                <a:lnTo>
                  <a:pt x="2" y="152"/>
                </a:lnTo>
                <a:lnTo>
                  <a:pt x="0"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 name="Freeform 8">
            <a:extLst>
              <a:ext uri="{FF2B5EF4-FFF2-40B4-BE49-F238E27FC236}">
                <a16:creationId xmlns:a16="http://schemas.microsoft.com/office/drawing/2014/main" id="{F2A692B9-F23F-56C1-F930-76678C0817A7}"/>
              </a:ext>
            </a:extLst>
          </p:cNvPr>
          <p:cNvSpPr>
            <a:spLocks/>
          </p:cNvSpPr>
          <p:nvPr/>
        </p:nvSpPr>
        <p:spPr bwMode="auto">
          <a:xfrm>
            <a:off x="458680" y="1232841"/>
            <a:ext cx="1254125" cy="530225"/>
          </a:xfrm>
          <a:custGeom>
            <a:avLst/>
            <a:gdLst>
              <a:gd name="T0" fmla="*/ 1249363 w 790"/>
              <a:gd name="T1" fmla="*/ 241300 h 334"/>
              <a:gd name="T2" fmla="*/ 1231900 w 790"/>
              <a:gd name="T3" fmla="*/ 196850 h 334"/>
              <a:gd name="T4" fmla="*/ 1193800 w 790"/>
              <a:gd name="T5" fmla="*/ 152400 h 334"/>
              <a:gd name="T6" fmla="*/ 1138238 w 790"/>
              <a:gd name="T7" fmla="*/ 112713 h 334"/>
              <a:gd name="T8" fmla="*/ 1068388 w 790"/>
              <a:gd name="T9" fmla="*/ 77788 h 334"/>
              <a:gd name="T10" fmla="*/ 984250 w 790"/>
              <a:gd name="T11" fmla="*/ 47625 h 334"/>
              <a:gd name="T12" fmla="*/ 890588 w 790"/>
              <a:gd name="T13" fmla="*/ 25400 h 334"/>
              <a:gd name="T14" fmla="*/ 788988 w 790"/>
              <a:gd name="T15" fmla="*/ 9525 h 334"/>
              <a:gd name="T16" fmla="*/ 681038 w 790"/>
              <a:gd name="T17" fmla="*/ 1588 h 334"/>
              <a:gd name="T18" fmla="*/ 571500 w 790"/>
              <a:gd name="T19" fmla="*/ 1588 h 334"/>
              <a:gd name="T20" fmla="*/ 465138 w 790"/>
              <a:gd name="T21" fmla="*/ 9525 h 334"/>
              <a:gd name="T22" fmla="*/ 361950 w 790"/>
              <a:gd name="T23" fmla="*/ 25400 h 334"/>
              <a:gd name="T24" fmla="*/ 268288 w 790"/>
              <a:gd name="T25" fmla="*/ 47625 h 334"/>
              <a:gd name="T26" fmla="*/ 184150 w 790"/>
              <a:gd name="T27" fmla="*/ 77788 h 334"/>
              <a:gd name="T28" fmla="*/ 114300 w 790"/>
              <a:gd name="T29" fmla="*/ 112713 h 334"/>
              <a:gd name="T30" fmla="*/ 60325 w 790"/>
              <a:gd name="T31" fmla="*/ 152400 h 334"/>
              <a:gd name="T32" fmla="*/ 22225 w 790"/>
              <a:gd name="T33" fmla="*/ 196850 h 334"/>
              <a:gd name="T34" fmla="*/ 3175 w 790"/>
              <a:gd name="T35" fmla="*/ 241300 h 334"/>
              <a:gd name="T36" fmla="*/ 3175 w 790"/>
              <a:gd name="T37" fmla="*/ 287338 h 334"/>
              <a:gd name="T38" fmla="*/ 22225 w 790"/>
              <a:gd name="T39" fmla="*/ 333375 h 334"/>
              <a:gd name="T40" fmla="*/ 60325 w 790"/>
              <a:gd name="T41" fmla="*/ 376238 h 334"/>
              <a:gd name="T42" fmla="*/ 114300 w 790"/>
              <a:gd name="T43" fmla="*/ 415925 h 334"/>
              <a:gd name="T44" fmla="*/ 184150 w 790"/>
              <a:gd name="T45" fmla="*/ 450850 h 334"/>
              <a:gd name="T46" fmla="*/ 268288 w 790"/>
              <a:gd name="T47" fmla="*/ 481013 h 334"/>
              <a:gd name="T48" fmla="*/ 361950 w 790"/>
              <a:gd name="T49" fmla="*/ 503238 h 334"/>
              <a:gd name="T50" fmla="*/ 465138 w 790"/>
              <a:gd name="T51" fmla="*/ 519113 h 334"/>
              <a:gd name="T52" fmla="*/ 571500 w 790"/>
              <a:gd name="T53" fmla="*/ 527050 h 334"/>
              <a:gd name="T54" fmla="*/ 681038 w 790"/>
              <a:gd name="T55" fmla="*/ 527050 h 334"/>
              <a:gd name="T56" fmla="*/ 788988 w 790"/>
              <a:gd name="T57" fmla="*/ 519113 h 334"/>
              <a:gd name="T58" fmla="*/ 890588 w 790"/>
              <a:gd name="T59" fmla="*/ 503238 h 334"/>
              <a:gd name="T60" fmla="*/ 984250 w 790"/>
              <a:gd name="T61" fmla="*/ 481013 h 334"/>
              <a:gd name="T62" fmla="*/ 1068388 w 790"/>
              <a:gd name="T63" fmla="*/ 450850 h 334"/>
              <a:gd name="T64" fmla="*/ 1138238 w 790"/>
              <a:gd name="T65" fmla="*/ 415925 h 334"/>
              <a:gd name="T66" fmla="*/ 1193800 w 790"/>
              <a:gd name="T67" fmla="*/ 376238 h 334"/>
              <a:gd name="T68" fmla="*/ 1231900 w 790"/>
              <a:gd name="T69" fmla="*/ 333375 h 334"/>
              <a:gd name="T70" fmla="*/ 1249363 w 790"/>
              <a:gd name="T71" fmla="*/ 287338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90"/>
              <a:gd name="T109" fmla="*/ 0 h 334"/>
              <a:gd name="T110" fmla="*/ 790 w 790"/>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90" h="334">
                <a:moveTo>
                  <a:pt x="789" y="167"/>
                </a:moveTo>
                <a:lnTo>
                  <a:pt x="787" y="152"/>
                </a:lnTo>
                <a:lnTo>
                  <a:pt x="783" y="137"/>
                </a:lnTo>
                <a:lnTo>
                  <a:pt x="776" y="124"/>
                </a:lnTo>
                <a:lnTo>
                  <a:pt x="765" y="110"/>
                </a:lnTo>
                <a:lnTo>
                  <a:pt x="752" y="96"/>
                </a:lnTo>
                <a:lnTo>
                  <a:pt x="736" y="83"/>
                </a:lnTo>
                <a:lnTo>
                  <a:pt x="717" y="71"/>
                </a:lnTo>
                <a:lnTo>
                  <a:pt x="696" y="60"/>
                </a:lnTo>
                <a:lnTo>
                  <a:pt x="673" y="49"/>
                </a:lnTo>
                <a:lnTo>
                  <a:pt x="648" y="39"/>
                </a:lnTo>
                <a:lnTo>
                  <a:pt x="620" y="30"/>
                </a:lnTo>
                <a:lnTo>
                  <a:pt x="592" y="23"/>
                </a:lnTo>
                <a:lnTo>
                  <a:pt x="561" y="16"/>
                </a:lnTo>
                <a:lnTo>
                  <a:pt x="530" y="10"/>
                </a:lnTo>
                <a:lnTo>
                  <a:pt x="497" y="6"/>
                </a:lnTo>
                <a:lnTo>
                  <a:pt x="463" y="3"/>
                </a:lnTo>
                <a:lnTo>
                  <a:pt x="429" y="1"/>
                </a:lnTo>
                <a:lnTo>
                  <a:pt x="395" y="0"/>
                </a:lnTo>
                <a:lnTo>
                  <a:pt x="360" y="1"/>
                </a:lnTo>
                <a:lnTo>
                  <a:pt x="326" y="3"/>
                </a:lnTo>
                <a:lnTo>
                  <a:pt x="293" y="6"/>
                </a:lnTo>
                <a:lnTo>
                  <a:pt x="260" y="10"/>
                </a:lnTo>
                <a:lnTo>
                  <a:pt x="228" y="16"/>
                </a:lnTo>
                <a:lnTo>
                  <a:pt x="198" y="23"/>
                </a:lnTo>
                <a:lnTo>
                  <a:pt x="169" y="30"/>
                </a:lnTo>
                <a:lnTo>
                  <a:pt x="142" y="39"/>
                </a:lnTo>
                <a:lnTo>
                  <a:pt x="116" y="49"/>
                </a:lnTo>
                <a:lnTo>
                  <a:pt x="93" y="60"/>
                </a:lnTo>
                <a:lnTo>
                  <a:pt x="72" y="71"/>
                </a:lnTo>
                <a:lnTo>
                  <a:pt x="53" y="83"/>
                </a:lnTo>
                <a:lnTo>
                  <a:pt x="38" y="96"/>
                </a:lnTo>
                <a:lnTo>
                  <a:pt x="24" y="110"/>
                </a:lnTo>
                <a:lnTo>
                  <a:pt x="14" y="124"/>
                </a:lnTo>
                <a:lnTo>
                  <a:pt x="7" y="137"/>
                </a:lnTo>
                <a:lnTo>
                  <a:pt x="2" y="152"/>
                </a:lnTo>
                <a:lnTo>
                  <a:pt x="0" y="167"/>
                </a:lnTo>
                <a:lnTo>
                  <a:pt x="2" y="181"/>
                </a:lnTo>
                <a:lnTo>
                  <a:pt x="7" y="195"/>
                </a:lnTo>
                <a:lnTo>
                  <a:pt x="14" y="210"/>
                </a:lnTo>
                <a:lnTo>
                  <a:pt x="24" y="224"/>
                </a:lnTo>
                <a:lnTo>
                  <a:pt x="38" y="237"/>
                </a:lnTo>
                <a:lnTo>
                  <a:pt x="53" y="250"/>
                </a:lnTo>
                <a:lnTo>
                  <a:pt x="72" y="262"/>
                </a:lnTo>
                <a:lnTo>
                  <a:pt x="93" y="273"/>
                </a:lnTo>
                <a:lnTo>
                  <a:pt x="116" y="284"/>
                </a:lnTo>
                <a:lnTo>
                  <a:pt x="142" y="294"/>
                </a:lnTo>
                <a:lnTo>
                  <a:pt x="169" y="303"/>
                </a:lnTo>
                <a:lnTo>
                  <a:pt x="198" y="311"/>
                </a:lnTo>
                <a:lnTo>
                  <a:pt x="228" y="317"/>
                </a:lnTo>
                <a:lnTo>
                  <a:pt x="260" y="323"/>
                </a:lnTo>
                <a:lnTo>
                  <a:pt x="293" y="327"/>
                </a:lnTo>
                <a:lnTo>
                  <a:pt x="326" y="330"/>
                </a:lnTo>
                <a:lnTo>
                  <a:pt x="360" y="332"/>
                </a:lnTo>
                <a:lnTo>
                  <a:pt x="395" y="333"/>
                </a:lnTo>
                <a:lnTo>
                  <a:pt x="429" y="332"/>
                </a:lnTo>
                <a:lnTo>
                  <a:pt x="463" y="330"/>
                </a:lnTo>
                <a:lnTo>
                  <a:pt x="497" y="327"/>
                </a:lnTo>
                <a:lnTo>
                  <a:pt x="530" y="323"/>
                </a:lnTo>
                <a:lnTo>
                  <a:pt x="561" y="317"/>
                </a:lnTo>
                <a:lnTo>
                  <a:pt x="592" y="311"/>
                </a:lnTo>
                <a:lnTo>
                  <a:pt x="620" y="303"/>
                </a:lnTo>
                <a:lnTo>
                  <a:pt x="648" y="294"/>
                </a:lnTo>
                <a:lnTo>
                  <a:pt x="673" y="284"/>
                </a:lnTo>
                <a:lnTo>
                  <a:pt x="696" y="273"/>
                </a:lnTo>
                <a:lnTo>
                  <a:pt x="717" y="262"/>
                </a:lnTo>
                <a:lnTo>
                  <a:pt x="736" y="250"/>
                </a:lnTo>
                <a:lnTo>
                  <a:pt x="752" y="237"/>
                </a:lnTo>
                <a:lnTo>
                  <a:pt x="765" y="224"/>
                </a:lnTo>
                <a:lnTo>
                  <a:pt x="776" y="210"/>
                </a:lnTo>
                <a:lnTo>
                  <a:pt x="783" y="195"/>
                </a:lnTo>
                <a:lnTo>
                  <a:pt x="787" y="181"/>
                </a:lnTo>
                <a:lnTo>
                  <a:pt x="789"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Freeform 9">
            <a:extLst>
              <a:ext uri="{FF2B5EF4-FFF2-40B4-BE49-F238E27FC236}">
                <a16:creationId xmlns:a16="http://schemas.microsoft.com/office/drawing/2014/main" id="{F9D2EE48-87D9-3C06-3051-D2DBC459AF82}"/>
              </a:ext>
            </a:extLst>
          </p:cNvPr>
          <p:cNvSpPr>
            <a:spLocks/>
          </p:cNvSpPr>
          <p:nvPr/>
        </p:nvSpPr>
        <p:spPr bwMode="auto">
          <a:xfrm>
            <a:off x="2758967" y="1232841"/>
            <a:ext cx="1252538" cy="530225"/>
          </a:xfrm>
          <a:custGeom>
            <a:avLst/>
            <a:gdLst>
              <a:gd name="T0" fmla="*/ 3175 w 789"/>
              <a:gd name="T1" fmla="*/ 287338 h 334"/>
              <a:gd name="T2" fmla="*/ 20638 w 789"/>
              <a:gd name="T3" fmla="*/ 333375 h 334"/>
              <a:gd name="T4" fmla="*/ 58738 w 789"/>
              <a:gd name="T5" fmla="*/ 376238 h 334"/>
              <a:gd name="T6" fmla="*/ 112713 w 789"/>
              <a:gd name="T7" fmla="*/ 415925 h 334"/>
              <a:gd name="T8" fmla="*/ 184150 w 789"/>
              <a:gd name="T9" fmla="*/ 450850 h 334"/>
              <a:gd name="T10" fmla="*/ 266700 w 789"/>
              <a:gd name="T11" fmla="*/ 481013 h 334"/>
              <a:gd name="T12" fmla="*/ 360363 w 789"/>
              <a:gd name="T13" fmla="*/ 503238 h 334"/>
              <a:gd name="T14" fmla="*/ 465138 w 789"/>
              <a:gd name="T15" fmla="*/ 519113 h 334"/>
              <a:gd name="T16" fmla="*/ 571500 w 789"/>
              <a:gd name="T17" fmla="*/ 527050 h 334"/>
              <a:gd name="T18" fmla="*/ 679450 w 789"/>
              <a:gd name="T19" fmla="*/ 527050 h 334"/>
              <a:gd name="T20" fmla="*/ 788988 w 789"/>
              <a:gd name="T21" fmla="*/ 519113 h 334"/>
              <a:gd name="T22" fmla="*/ 890588 w 789"/>
              <a:gd name="T23" fmla="*/ 503238 h 334"/>
              <a:gd name="T24" fmla="*/ 984250 w 789"/>
              <a:gd name="T25" fmla="*/ 479425 h 334"/>
              <a:gd name="T26" fmla="*/ 1068388 w 789"/>
              <a:gd name="T27" fmla="*/ 450850 h 334"/>
              <a:gd name="T28" fmla="*/ 1138238 w 789"/>
              <a:gd name="T29" fmla="*/ 414338 h 334"/>
              <a:gd name="T30" fmla="*/ 1192213 w 789"/>
              <a:gd name="T31" fmla="*/ 376238 h 334"/>
              <a:gd name="T32" fmla="*/ 1230313 w 789"/>
              <a:gd name="T33" fmla="*/ 331788 h 334"/>
              <a:gd name="T34" fmla="*/ 1249363 w 789"/>
              <a:gd name="T35" fmla="*/ 285750 h 334"/>
              <a:gd name="T36" fmla="*/ 1249363 w 789"/>
              <a:gd name="T37" fmla="*/ 241300 h 334"/>
              <a:gd name="T38" fmla="*/ 1230313 w 789"/>
              <a:gd name="T39" fmla="*/ 196850 h 334"/>
              <a:gd name="T40" fmla="*/ 1192213 w 789"/>
              <a:gd name="T41" fmla="*/ 152400 h 334"/>
              <a:gd name="T42" fmla="*/ 1138238 w 789"/>
              <a:gd name="T43" fmla="*/ 112713 h 334"/>
              <a:gd name="T44" fmla="*/ 1068388 w 789"/>
              <a:gd name="T45" fmla="*/ 77788 h 334"/>
              <a:gd name="T46" fmla="*/ 984250 w 789"/>
              <a:gd name="T47" fmla="*/ 47625 h 334"/>
              <a:gd name="T48" fmla="*/ 890588 w 789"/>
              <a:gd name="T49" fmla="*/ 25400 h 334"/>
              <a:gd name="T50" fmla="*/ 787400 w 789"/>
              <a:gd name="T51" fmla="*/ 9525 h 334"/>
              <a:gd name="T52" fmla="*/ 679450 w 789"/>
              <a:gd name="T53" fmla="*/ 1588 h 334"/>
              <a:gd name="T54" fmla="*/ 571500 w 789"/>
              <a:gd name="T55" fmla="*/ 1588 h 334"/>
              <a:gd name="T56" fmla="*/ 463550 w 789"/>
              <a:gd name="T57" fmla="*/ 9525 h 334"/>
              <a:gd name="T58" fmla="*/ 360363 w 789"/>
              <a:gd name="T59" fmla="*/ 25400 h 334"/>
              <a:gd name="T60" fmla="*/ 266700 w 789"/>
              <a:gd name="T61" fmla="*/ 47625 h 334"/>
              <a:gd name="T62" fmla="*/ 184150 w 789"/>
              <a:gd name="T63" fmla="*/ 77788 h 334"/>
              <a:gd name="T64" fmla="*/ 112713 w 789"/>
              <a:gd name="T65" fmla="*/ 112713 h 334"/>
              <a:gd name="T66" fmla="*/ 58738 w 789"/>
              <a:gd name="T67" fmla="*/ 153988 h 334"/>
              <a:gd name="T68" fmla="*/ 20638 w 789"/>
              <a:gd name="T69" fmla="*/ 196850 h 334"/>
              <a:gd name="T70" fmla="*/ 3175 w 789"/>
              <a:gd name="T71" fmla="*/ 241300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4"/>
              <a:gd name="T110" fmla="*/ 789 w 789"/>
              <a:gd name="T111" fmla="*/ 334 h 3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4">
                <a:moveTo>
                  <a:pt x="0" y="167"/>
                </a:moveTo>
                <a:lnTo>
                  <a:pt x="2" y="181"/>
                </a:lnTo>
                <a:lnTo>
                  <a:pt x="6" y="195"/>
                </a:lnTo>
                <a:lnTo>
                  <a:pt x="13" y="210"/>
                </a:lnTo>
                <a:lnTo>
                  <a:pt x="24" y="224"/>
                </a:lnTo>
                <a:lnTo>
                  <a:pt x="37" y="237"/>
                </a:lnTo>
                <a:lnTo>
                  <a:pt x="53" y="250"/>
                </a:lnTo>
                <a:lnTo>
                  <a:pt x="71" y="262"/>
                </a:lnTo>
                <a:lnTo>
                  <a:pt x="92" y="274"/>
                </a:lnTo>
                <a:lnTo>
                  <a:pt x="116" y="284"/>
                </a:lnTo>
                <a:lnTo>
                  <a:pt x="141" y="294"/>
                </a:lnTo>
                <a:lnTo>
                  <a:pt x="168" y="303"/>
                </a:lnTo>
                <a:lnTo>
                  <a:pt x="197" y="311"/>
                </a:lnTo>
                <a:lnTo>
                  <a:pt x="227" y="317"/>
                </a:lnTo>
                <a:lnTo>
                  <a:pt x="259" y="323"/>
                </a:lnTo>
                <a:lnTo>
                  <a:pt x="293" y="327"/>
                </a:lnTo>
                <a:lnTo>
                  <a:pt x="326" y="330"/>
                </a:lnTo>
                <a:lnTo>
                  <a:pt x="360" y="332"/>
                </a:lnTo>
                <a:lnTo>
                  <a:pt x="394" y="333"/>
                </a:lnTo>
                <a:lnTo>
                  <a:pt x="428" y="332"/>
                </a:lnTo>
                <a:lnTo>
                  <a:pt x="462" y="330"/>
                </a:lnTo>
                <a:lnTo>
                  <a:pt x="497" y="327"/>
                </a:lnTo>
                <a:lnTo>
                  <a:pt x="529" y="323"/>
                </a:lnTo>
                <a:lnTo>
                  <a:pt x="561" y="317"/>
                </a:lnTo>
                <a:lnTo>
                  <a:pt x="591" y="311"/>
                </a:lnTo>
                <a:lnTo>
                  <a:pt x="620" y="302"/>
                </a:lnTo>
                <a:lnTo>
                  <a:pt x="648" y="294"/>
                </a:lnTo>
                <a:lnTo>
                  <a:pt x="673" y="284"/>
                </a:lnTo>
                <a:lnTo>
                  <a:pt x="696" y="273"/>
                </a:lnTo>
                <a:lnTo>
                  <a:pt x="717" y="261"/>
                </a:lnTo>
                <a:lnTo>
                  <a:pt x="736" y="250"/>
                </a:lnTo>
                <a:lnTo>
                  <a:pt x="751" y="237"/>
                </a:lnTo>
                <a:lnTo>
                  <a:pt x="764" y="223"/>
                </a:lnTo>
                <a:lnTo>
                  <a:pt x="775" y="209"/>
                </a:lnTo>
                <a:lnTo>
                  <a:pt x="782" y="195"/>
                </a:lnTo>
                <a:lnTo>
                  <a:pt x="787" y="180"/>
                </a:lnTo>
                <a:lnTo>
                  <a:pt x="788" y="167"/>
                </a:lnTo>
                <a:lnTo>
                  <a:pt x="787" y="152"/>
                </a:lnTo>
                <a:lnTo>
                  <a:pt x="782" y="137"/>
                </a:lnTo>
                <a:lnTo>
                  <a:pt x="775" y="124"/>
                </a:lnTo>
                <a:lnTo>
                  <a:pt x="764" y="110"/>
                </a:lnTo>
                <a:lnTo>
                  <a:pt x="751" y="96"/>
                </a:lnTo>
                <a:lnTo>
                  <a:pt x="736" y="83"/>
                </a:lnTo>
                <a:lnTo>
                  <a:pt x="717" y="71"/>
                </a:lnTo>
                <a:lnTo>
                  <a:pt x="696" y="60"/>
                </a:lnTo>
                <a:lnTo>
                  <a:pt x="673" y="49"/>
                </a:lnTo>
                <a:lnTo>
                  <a:pt x="647" y="39"/>
                </a:lnTo>
                <a:lnTo>
                  <a:pt x="620" y="30"/>
                </a:lnTo>
                <a:lnTo>
                  <a:pt x="591" y="23"/>
                </a:lnTo>
                <a:lnTo>
                  <a:pt x="561" y="16"/>
                </a:lnTo>
                <a:lnTo>
                  <a:pt x="529" y="10"/>
                </a:lnTo>
                <a:lnTo>
                  <a:pt x="496" y="6"/>
                </a:lnTo>
                <a:lnTo>
                  <a:pt x="462" y="3"/>
                </a:lnTo>
                <a:lnTo>
                  <a:pt x="428" y="1"/>
                </a:lnTo>
                <a:lnTo>
                  <a:pt x="394" y="0"/>
                </a:lnTo>
                <a:lnTo>
                  <a:pt x="360" y="1"/>
                </a:lnTo>
                <a:lnTo>
                  <a:pt x="326" y="3"/>
                </a:lnTo>
                <a:lnTo>
                  <a:pt x="292" y="6"/>
                </a:lnTo>
                <a:lnTo>
                  <a:pt x="259" y="10"/>
                </a:lnTo>
                <a:lnTo>
                  <a:pt x="227" y="16"/>
                </a:lnTo>
                <a:lnTo>
                  <a:pt x="197" y="23"/>
                </a:lnTo>
                <a:lnTo>
                  <a:pt x="168" y="30"/>
                </a:lnTo>
                <a:lnTo>
                  <a:pt x="140" y="39"/>
                </a:lnTo>
                <a:lnTo>
                  <a:pt x="116" y="49"/>
                </a:lnTo>
                <a:lnTo>
                  <a:pt x="92" y="60"/>
                </a:lnTo>
                <a:lnTo>
                  <a:pt x="71" y="71"/>
                </a:lnTo>
                <a:lnTo>
                  <a:pt x="53" y="83"/>
                </a:lnTo>
                <a:lnTo>
                  <a:pt x="37" y="97"/>
                </a:lnTo>
                <a:lnTo>
                  <a:pt x="24" y="110"/>
                </a:lnTo>
                <a:lnTo>
                  <a:pt x="13" y="124"/>
                </a:lnTo>
                <a:lnTo>
                  <a:pt x="6" y="137"/>
                </a:lnTo>
                <a:lnTo>
                  <a:pt x="2" y="152"/>
                </a:lnTo>
                <a:lnTo>
                  <a:pt x="0" y="1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Freeform 10">
            <a:extLst>
              <a:ext uri="{FF2B5EF4-FFF2-40B4-BE49-F238E27FC236}">
                <a16:creationId xmlns:a16="http://schemas.microsoft.com/office/drawing/2014/main" id="{666E15A6-7990-4A68-D761-7C28F44C0150}"/>
              </a:ext>
            </a:extLst>
          </p:cNvPr>
          <p:cNvSpPr>
            <a:spLocks/>
          </p:cNvSpPr>
          <p:nvPr/>
        </p:nvSpPr>
        <p:spPr bwMode="auto">
          <a:xfrm>
            <a:off x="4306780" y="1109016"/>
            <a:ext cx="1252537" cy="528637"/>
          </a:xfrm>
          <a:custGeom>
            <a:avLst/>
            <a:gdLst>
              <a:gd name="T0" fmla="*/ 3175 w 789"/>
              <a:gd name="T1" fmla="*/ 287337 h 333"/>
              <a:gd name="T2" fmla="*/ 22225 w 789"/>
              <a:gd name="T3" fmla="*/ 331787 h 333"/>
              <a:gd name="T4" fmla="*/ 60325 w 789"/>
              <a:gd name="T5" fmla="*/ 376237 h 333"/>
              <a:gd name="T6" fmla="*/ 114300 w 789"/>
              <a:gd name="T7" fmla="*/ 415925 h 333"/>
              <a:gd name="T8" fmla="*/ 184150 w 789"/>
              <a:gd name="T9" fmla="*/ 450850 h 333"/>
              <a:gd name="T10" fmla="*/ 268287 w 789"/>
              <a:gd name="T11" fmla="*/ 479425 h 333"/>
              <a:gd name="T12" fmla="*/ 361950 w 789"/>
              <a:gd name="T13" fmla="*/ 503237 h 333"/>
              <a:gd name="T14" fmla="*/ 463550 w 789"/>
              <a:gd name="T15" fmla="*/ 519112 h 333"/>
              <a:gd name="T16" fmla="*/ 571500 w 789"/>
              <a:gd name="T17" fmla="*/ 527050 h 333"/>
              <a:gd name="T18" fmla="*/ 681037 w 789"/>
              <a:gd name="T19" fmla="*/ 527050 h 333"/>
              <a:gd name="T20" fmla="*/ 787400 w 789"/>
              <a:gd name="T21" fmla="*/ 519112 h 333"/>
              <a:gd name="T22" fmla="*/ 889000 w 789"/>
              <a:gd name="T23" fmla="*/ 503237 h 333"/>
              <a:gd name="T24" fmla="*/ 984250 w 789"/>
              <a:gd name="T25" fmla="*/ 479425 h 333"/>
              <a:gd name="T26" fmla="*/ 1068387 w 789"/>
              <a:gd name="T27" fmla="*/ 450850 h 333"/>
              <a:gd name="T28" fmla="*/ 1136650 w 789"/>
              <a:gd name="T29" fmla="*/ 415925 h 333"/>
              <a:gd name="T30" fmla="*/ 1192212 w 789"/>
              <a:gd name="T31" fmla="*/ 374650 h 333"/>
              <a:gd name="T32" fmla="*/ 1230312 w 789"/>
              <a:gd name="T33" fmla="*/ 331787 h 333"/>
              <a:gd name="T34" fmla="*/ 1247775 w 789"/>
              <a:gd name="T35" fmla="*/ 287337 h 333"/>
              <a:gd name="T36" fmla="*/ 1247775 w 789"/>
              <a:gd name="T37" fmla="*/ 239712 h 333"/>
              <a:gd name="T38" fmla="*/ 1230312 w 789"/>
              <a:gd name="T39" fmla="*/ 195262 h 333"/>
              <a:gd name="T40" fmla="*/ 1192212 w 789"/>
              <a:gd name="T41" fmla="*/ 152400 h 333"/>
              <a:gd name="T42" fmla="*/ 1136650 w 789"/>
              <a:gd name="T43" fmla="*/ 112712 h 333"/>
              <a:gd name="T44" fmla="*/ 1066800 w 789"/>
              <a:gd name="T45" fmla="*/ 76200 h 333"/>
              <a:gd name="T46" fmla="*/ 984250 w 789"/>
              <a:gd name="T47" fmla="*/ 47625 h 333"/>
              <a:gd name="T48" fmla="*/ 889000 w 789"/>
              <a:gd name="T49" fmla="*/ 23812 h 333"/>
              <a:gd name="T50" fmla="*/ 787400 w 789"/>
              <a:gd name="T51" fmla="*/ 9525 h 333"/>
              <a:gd name="T52" fmla="*/ 679450 w 789"/>
              <a:gd name="T53" fmla="*/ 1587 h 333"/>
              <a:gd name="T54" fmla="*/ 571500 w 789"/>
              <a:gd name="T55" fmla="*/ 1587 h 333"/>
              <a:gd name="T56" fmla="*/ 463550 w 789"/>
              <a:gd name="T57" fmla="*/ 9525 h 333"/>
              <a:gd name="T58" fmla="*/ 361950 w 789"/>
              <a:gd name="T59" fmla="*/ 25400 h 333"/>
              <a:gd name="T60" fmla="*/ 268287 w 789"/>
              <a:gd name="T61" fmla="*/ 47625 h 333"/>
              <a:gd name="T62" fmla="*/ 184150 w 789"/>
              <a:gd name="T63" fmla="*/ 77787 h 333"/>
              <a:gd name="T64" fmla="*/ 114300 w 789"/>
              <a:gd name="T65" fmla="*/ 112712 h 333"/>
              <a:gd name="T66" fmla="*/ 60325 w 789"/>
              <a:gd name="T67" fmla="*/ 152400 h 333"/>
              <a:gd name="T68" fmla="*/ 22225 w 789"/>
              <a:gd name="T69" fmla="*/ 195262 h 333"/>
              <a:gd name="T70" fmla="*/ 3175 w 789"/>
              <a:gd name="T71" fmla="*/ 241300 h 3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3"/>
              <a:gd name="T110" fmla="*/ 789 w 789"/>
              <a:gd name="T111" fmla="*/ 333 h 3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3">
                <a:moveTo>
                  <a:pt x="0" y="166"/>
                </a:moveTo>
                <a:lnTo>
                  <a:pt x="2" y="181"/>
                </a:lnTo>
                <a:lnTo>
                  <a:pt x="6" y="195"/>
                </a:lnTo>
                <a:lnTo>
                  <a:pt x="14" y="209"/>
                </a:lnTo>
                <a:lnTo>
                  <a:pt x="24" y="223"/>
                </a:lnTo>
                <a:lnTo>
                  <a:pt x="38" y="237"/>
                </a:lnTo>
                <a:lnTo>
                  <a:pt x="53" y="249"/>
                </a:lnTo>
                <a:lnTo>
                  <a:pt x="72" y="262"/>
                </a:lnTo>
                <a:lnTo>
                  <a:pt x="93" y="273"/>
                </a:lnTo>
                <a:lnTo>
                  <a:pt x="116" y="284"/>
                </a:lnTo>
                <a:lnTo>
                  <a:pt x="141" y="294"/>
                </a:lnTo>
                <a:lnTo>
                  <a:pt x="169" y="302"/>
                </a:lnTo>
                <a:lnTo>
                  <a:pt x="197" y="310"/>
                </a:lnTo>
                <a:lnTo>
                  <a:pt x="228" y="317"/>
                </a:lnTo>
                <a:lnTo>
                  <a:pt x="259" y="322"/>
                </a:lnTo>
                <a:lnTo>
                  <a:pt x="292" y="327"/>
                </a:lnTo>
                <a:lnTo>
                  <a:pt x="325" y="330"/>
                </a:lnTo>
                <a:lnTo>
                  <a:pt x="360" y="332"/>
                </a:lnTo>
                <a:lnTo>
                  <a:pt x="394" y="332"/>
                </a:lnTo>
                <a:lnTo>
                  <a:pt x="429" y="332"/>
                </a:lnTo>
                <a:lnTo>
                  <a:pt x="463" y="330"/>
                </a:lnTo>
                <a:lnTo>
                  <a:pt x="496" y="327"/>
                </a:lnTo>
                <a:lnTo>
                  <a:pt x="529" y="322"/>
                </a:lnTo>
                <a:lnTo>
                  <a:pt x="560" y="317"/>
                </a:lnTo>
                <a:lnTo>
                  <a:pt x="591" y="310"/>
                </a:lnTo>
                <a:lnTo>
                  <a:pt x="620" y="302"/>
                </a:lnTo>
                <a:lnTo>
                  <a:pt x="647" y="293"/>
                </a:lnTo>
                <a:lnTo>
                  <a:pt x="673" y="284"/>
                </a:lnTo>
                <a:lnTo>
                  <a:pt x="696" y="273"/>
                </a:lnTo>
                <a:lnTo>
                  <a:pt x="716" y="262"/>
                </a:lnTo>
                <a:lnTo>
                  <a:pt x="735" y="249"/>
                </a:lnTo>
                <a:lnTo>
                  <a:pt x="751" y="236"/>
                </a:lnTo>
                <a:lnTo>
                  <a:pt x="765" y="223"/>
                </a:lnTo>
                <a:lnTo>
                  <a:pt x="775" y="209"/>
                </a:lnTo>
                <a:lnTo>
                  <a:pt x="782" y="195"/>
                </a:lnTo>
                <a:lnTo>
                  <a:pt x="786" y="181"/>
                </a:lnTo>
                <a:lnTo>
                  <a:pt x="788" y="166"/>
                </a:lnTo>
                <a:lnTo>
                  <a:pt x="786" y="151"/>
                </a:lnTo>
                <a:lnTo>
                  <a:pt x="782" y="137"/>
                </a:lnTo>
                <a:lnTo>
                  <a:pt x="775" y="123"/>
                </a:lnTo>
                <a:lnTo>
                  <a:pt x="765" y="109"/>
                </a:lnTo>
                <a:lnTo>
                  <a:pt x="751" y="96"/>
                </a:lnTo>
                <a:lnTo>
                  <a:pt x="735" y="83"/>
                </a:lnTo>
                <a:lnTo>
                  <a:pt x="716" y="71"/>
                </a:lnTo>
                <a:lnTo>
                  <a:pt x="695" y="59"/>
                </a:lnTo>
                <a:lnTo>
                  <a:pt x="672" y="48"/>
                </a:lnTo>
                <a:lnTo>
                  <a:pt x="647" y="39"/>
                </a:lnTo>
                <a:lnTo>
                  <a:pt x="620" y="30"/>
                </a:lnTo>
                <a:lnTo>
                  <a:pt x="591" y="22"/>
                </a:lnTo>
                <a:lnTo>
                  <a:pt x="560" y="15"/>
                </a:lnTo>
                <a:lnTo>
                  <a:pt x="529" y="10"/>
                </a:lnTo>
                <a:lnTo>
                  <a:pt x="496" y="6"/>
                </a:lnTo>
                <a:lnTo>
                  <a:pt x="462" y="2"/>
                </a:lnTo>
                <a:lnTo>
                  <a:pt x="428" y="1"/>
                </a:lnTo>
                <a:lnTo>
                  <a:pt x="394" y="0"/>
                </a:lnTo>
                <a:lnTo>
                  <a:pt x="360" y="1"/>
                </a:lnTo>
                <a:lnTo>
                  <a:pt x="325" y="3"/>
                </a:lnTo>
                <a:lnTo>
                  <a:pt x="292" y="6"/>
                </a:lnTo>
                <a:lnTo>
                  <a:pt x="259" y="10"/>
                </a:lnTo>
                <a:lnTo>
                  <a:pt x="228" y="16"/>
                </a:lnTo>
                <a:lnTo>
                  <a:pt x="197" y="22"/>
                </a:lnTo>
                <a:lnTo>
                  <a:pt x="169" y="30"/>
                </a:lnTo>
                <a:lnTo>
                  <a:pt x="141" y="39"/>
                </a:lnTo>
                <a:lnTo>
                  <a:pt x="116" y="49"/>
                </a:lnTo>
                <a:lnTo>
                  <a:pt x="93" y="60"/>
                </a:lnTo>
                <a:lnTo>
                  <a:pt x="72" y="71"/>
                </a:lnTo>
                <a:lnTo>
                  <a:pt x="53" y="83"/>
                </a:lnTo>
                <a:lnTo>
                  <a:pt x="38" y="96"/>
                </a:lnTo>
                <a:lnTo>
                  <a:pt x="24" y="109"/>
                </a:lnTo>
                <a:lnTo>
                  <a:pt x="14" y="123"/>
                </a:lnTo>
                <a:lnTo>
                  <a:pt x="6" y="138"/>
                </a:lnTo>
                <a:lnTo>
                  <a:pt x="2" y="152"/>
                </a:lnTo>
                <a:lnTo>
                  <a:pt x="0" y="16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 name="Freeform 11">
            <a:extLst>
              <a:ext uri="{FF2B5EF4-FFF2-40B4-BE49-F238E27FC236}">
                <a16:creationId xmlns:a16="http://schemas.microsoft.com/office/drawing/2014/main" id="{42BC52FE-5101-1B94-9ECB-916B43287525}"/>
              </a:ext>
            </a:extLst>
          </p:cNvPr>
          <p:cNvSpPr>
            <a:spLocks/>
          </p:cNvSpPr>
          <p:nvPr/>
        </p:nvSpPr>
        <p:spPr bwMode="auto">
          <a:xfrm>
            <a:off x="6589605" y="2102791"/>
            <a:ext cx="1449387" cy="544512"/>
          </a:xfrm>
          <a:custGeom>
            <a:avLst/>
            <a:gdLst>
              <a:gd name="T0" fmla="*/ 1447800 w 913"/>
              <a:gd name="T1" fmla="*/ 542925 h 343"/>
              <a:gd name="T2" fmla="*/ 1447800 w 913"/>
              <a:gd name="T3" fmla="*/ 0 h 343"/>
              <a:gd name="T4" fmla="*/ 0 w 913"/>
              <a:gd name="T5" fmla="*/ 0 h 343"/>
              <a:gd name="T6" fmla="*/ 0 w 913"/>
              <a:gd name="T7" fmla="*/ 542925 h 343"/>
              <a:gd name="T8" fmla="*/ 1447800 w 913"/>
              <a:gd name="T9" fmla="*/ 542925 h 343"/>
              <a:gd name="T10" fmla="*/ 0 60000 65536"/>
              <a:gd name="T11" fmla="*/ 0 60000 65536"/>
              <a:gd name="T12" fmla="*/ 0 60000 65536"/>
              <a:gd name="T13" fmla="*/ 0 60000 65536"/>
              <a:gd name="T14" fmla="*/ 0 60000 65536"/>
              <a:gd name="T15" fmla="*/ 0 w 913"/>
              <a:gd name="T16" fmla="*/ 0 h 343"/>
              <a:gd name="T17" fmla="*/ 913 w 913"/>
              <a:gd name="T18" fmla="*/ 343 h 343"/>
            </a:gdLst>
            <a:ahLst/>
            <a:cxnLst>
              <a:cxn ang="T10">
                <a:pos x="T0" y="T1"/>
              </a:cxn>
              <a:cxn ang="T11">
                <a:pos x="T2" y="T3"/>
              </a:cxn>
              <a:cxn ang="T12">
                <a:pos x="T4" y="T5"/>
              </a:cxn>
              <a:cxn ang="T13">
                <a:pos x="T6" y="T7"/>
              </a:cxn>
              <a:cxn ang="T14">
                <a:pos x="T8" y="T9"/>
              </a:cxn>
            </a:cxnLst>
            <a:rect l="T15" t="T16" r="T17" b="T18"/>
            <a:pathLst>
              <a:path w="913" h="343">
                <a:moveTo>
                  <a:pt x="912" y="342"/>
                </a:moveTo>
                <a:lnTo>
                  <a:pt x="912" y="0"/>
                </a:lnTo>
                <a:lnTo>
                  <a:pt x="0" y="0"/>
                </a:lnTo>
                <a:lnTo>
                  <a:pt x="0" y="342"/>
                </a:lnTo>
                <a:lnTo>
                  <a:pt x="912" y="342"/>
                </a:lnTo>
              </a:path>
            </a:pathLst>
          </a:custGeom>
          <a:noFill/>
          <a:ln w="508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Freeform 12">
            <a:extLst>
              <a:ext uri="{FF2B5EF4-FFF2-40B4-BE49-F238E27FC236}">
                <a16:creationId xmlns:a16="http://schemas.microsoft.com/office/drawing/2014/main" id="{294F1D50-C625-459D-8611-E2BF358D5124}"/>
              </a:ext>
            </a:extLst>
          </p:cNvPr>
          <p:cNvSpPr>
            <a:spLocks/>
          </p:cNvSpPr>
          <p:nvPr/>
        </p:nvSpPr>
        <p:spPr bwMode="auto">
          <a:xfrm>
            <a:off x="1585805" y="2086916"/>
            <a:ext cx="1252537" cy="544512"/>
          </a:xfrm>
          <a:custGeom>
            <a:avLst/>
            <a:gdLst>
              <a:gd name="T0" fmla="*/ 1250950 w 789"/>
              <a:gd name="T1" fmla="*/ 542925 h 343"/>
              <a:gd name="T2" fmla="*/ 1250950 w 789"/>
              <a:gd name="T3" fmla="*/ 0 h 343"/>
              <a:gd name="T4" fmla="*/ 0 w 789"/>
              <a:gd name="T5" fmla="*/ 0 h 343"/>
              <a:gd name="T6" fmla="*/ 0 w 789"/>
              <a:gd name="T7" fmla="*/ 542925 h 343"/>
              <a:gd name="T8" fmla="*/ 1250950 w 789"/>
              <a:gd name="T9" fmla="*/ 542925 h 343"/>
              <a:gd name="T10" fmla="*/ 0 60000 65536"/>
              <a:gd name="T11" fmla="*/ 0 60000 65536"/>
              <a:gd name="T12" fmla="*/ 0 60000 65536"/>
              <a:gd name="T13" fmla="*/ 0 60000 65536"/>
              <a:gd name="T14" fmla="*/ 0 60000 65536"/>
              <a:gd name="T15" fmla="*/ 0 w 789"/>
              <a:gd name="T16" fmla="*/ 0 h 343"/>
              <a:gd name="T17" fmla="*/ 789 w 789"/>
              <a:gd name="T18" fmla="*/ 343 h 343"/>
            </a:gdLst>
            <a:ahLst/>
            <a:cxnLst>
              <a:cxn ang="T10">
                <a:pos x="T0" y="T1"/>
              </a:cxn>
              <a:cxn ang="T11">
                <a:pos x="T2" y="T3"/>
              </a:cxn>
              <a:cxn ang="T12">
                <a:pos x="T4" y="T5"/>
              </a:cxn>
              <a:cxn ang="T13">
                <a:pos x="T6" y="T7"/>
              </a:cxn>
              <a:cxn ang="T14">
                <a:pos x="T8" y="T9"/>
              </a:cxn>
            </a:cxnLst>
            <a:rect l="T15" t="T16" r="T17" b="T18"/>
            <a:pathLst>
              <a:path w="789" h="343">
                <a:moveTo>
                  <a:pt x="788" y="342"/>
                </a:moveTo>
                <a:lnTo>
                  <a:pt x="788" y="0"/>
                </a:lnTo>
                <a:lnTo>
                  <a:pt x="0" y="0"/>
                </a:lnTo>
                <a:lnTo>
                  <a:pt x="0" y="342"/>
                </a:lnTo>
                <a:lnTo>
                  <a:pt x="788" y="34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13">
            <a:extLst>
              <a:ext uri="{FF2B5EF4-FFF2-40B4-BE49-F238E27FC236}">
                <a16:creationId xmlns:a16="http://schemas.microsoft.com/office/drawing/2014/main" id="{507E6ABB-B0B0-116E-AE93-13211FF96A79}"/>
              </a:ext>
            </a:extLst>
          </p:cNvPr>
          <p:cNvSpPr>
            <a:spLocks/>
          </p:cNvSpPr>
          <p:nvPr/>
        </p:nvSpPr>
        <p:spPr bwMode="auto">
          <a:xfrm>
            <a:off x="1585805" y="845491"/>
            <a:ext cx="1252537" cy="528637"/>
          </a:xfrm>
          <a:custGeom>
            <a:avLst/>
            <a:gdLst>
              <a:gd name="T0" fmla="*/ 1249362 w 789"/>
              <a:gd name="T1" fmla="*/ 239712 h 333"/>
              <a:gd name="T2" fmla="*/ 1230312 w 789"/>
              <a:gd name="T3" fmla="*/ 195262 h 333"/>
              <a:gd name="T4" fmla="*/ 1192212 w 789"/>
              <a:gd name="T5" fmla="*/ 152400 h 333"/>
              <a:gd name="T6" fmla="*/ 1138237 w 789"/>
              <a:gd name="T7" fmla="*/ 111125 h 333"/>
              <a:gd name="T8" fmla="*/ 1068387 w 789"/>
              <a:gd name="T9" fmla="*/ 77787 h 333"/>
              <a:gd name="T10" fmla="*/ 984250 w 789"/>
              <a:gd name="T11" fmla="*/ 47625 h 333"/>
              <a:gd name="T12" fmla="*/ 890587 w 789"/>
              <a:gd name="T13" fmla="*/ 25400 h 333"/>
              <a:gd name="T14" fmla="*/ 787400 w 789"/>
              <a:gd name="T15" fmla="*/ 9525 h 333"/>
              <a:gd name="T16" fmla="*/ 681037 w 789"/>
              <a:gd name="T17" fmla="*/ 0 h 333"/>
              <a:gd name="T18" fmla="*/ 571500 w 789"/>
              <a:gd name="T19" fmla="*/ 0 h 333"/>
              <a:gd name="T20" fmla="*/ 463550 w 789"/>
              <a:gd name="T21" fmla="*/ 9525 h 333"/>
              <a:gd name="T22" fmla="*/ 361950 w 789"/>
              <a:gd name="T23" fmla="*/ 25400 h 333"/>
              <a:gd name="T24" fmla="*/ 266700 w 789"/>
              <a:gd name="T25" fmla="*/ 47625 h 333"/>
              <a:gd name="T26" fmla="*/ 182562 w 789"/>
              <a:gd name="T27" fmla="*/ 77787 h 333"/>
              <a:gd name="T28" fmla="*/ 112712 w 789"/>
              <a:gd name="T29" fmla="*/ 111125 h 333"/>
              <a:gd name="T30" fmla="*/ 58737 w 789"/>
              <a:gd name="T31" fmla="*/ 152400 h 333"/>
              <a:gd name="T32" fmla="*/ 22225 w 789"/>
              <a:gd name="T33" fmla="*/ 195262 h 333"/>
              <a:gd name="T34" fmla="*/ 1587 w 789"/>
              <a:gd name="T35" fmla="*/ 239712 h 333"/>
              <a:gd name="T36" fmla="*/ 1587 w 789"/>
              <a:gd name="T37" fmla="*/ 285750 h 333"/>
              <a:gd name="T38" fmla="*/ 22225 w 789"/>
              <a:gd name="T39" fmla="*/ 331787 h 333"/>
              <a:gd name="T40" fmla="*/ 58737 w 789"/>
              <a:gd name="T41" fmla="*/ 374650 h 333"/>
              <a:gd name="T42" fmla="*/ 112712 w 789"/>
              <a:gd name="T43" fmla="*/ 414337 h 333"/>
              <a:gd name="T44" fmla="*/ 182562 w 789"/>
              <a:gd name="T45" fmla="*/ 450850 h 333"/>
              <a:gd name="T46" fmla="*/ 266700 w 789"/>
              <a:gd name="T47" fmla="*/ 479425 h 333"/>
              <a:gd name="T48" fmla="*/ 361950 w 789"/>
              <a:gd name="T49" fmla="*/ 503237 h 333"/>
              <a:gd name="T50" fmla="*/ 463550 w 789"/>
              <a:gd name="T51" fmla="*/ 519112 h 333"/>
              <a:gd name="T52" fmla="*/ 571500 w 789"/>
              <a:gd name="T53" fmla="*/ 525462 h 333"/>
              <a:gd name="T54" fmla="*/ 681037 w 789"/>
              <a:gd name="T55" fmla="*/ 525462 h 333"/>
              <a:gd name="T56" fmla="*/ 787400 w 789"/>
              <a:gd name="T57" fmla="*/ 519112 h 333"/>
              <a:gd name="T58" fmla="*/ 890587 w 789"/>
              <a:gd name="T59" fmla="*/ 503237 h 333"/>
              <a:gd name="T60" fmla="*/ 984250 w 789"/>
              <a:gd name="T61" fmla="*/ 479425 h 333"/>
              <a:gd name="T62" fmla="*/ 1068387 w 789"/>
              <a:gd name="T63" fmla="*/ 450850 h 333"/>
              <a:gd name="T64" fmla="*/ 1138237 w 789"/>
              <a:gd name="T65" fmla="*/ 414337 h 333"/>
              <a:gd name="T66" fmla="*/ 1192212 w 789"/>
              <a:gd name="T67" fmla="*/ 374650 h 333"/>
              <a:gd name="T68" fmla="*/ 1230312 w 789"/>
              <a:gd name="T69" fmla="*/ 331787 h 333"/>
              <a:gd name="T70" fmla="*/ 1249362 w 789"/>
              <a:gd name="T71" fmla="*/ 285750 h 3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89"/>
              <a:gd name="T109" fmla="*/ 0 h 333"/>
              <a:gd name="T110" fmla="*/ 789 w 789"/>
              <a:gd name="T111" fmla="*/ 333 h 3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89" h="333">
                <a:moveTo>
                  <a:pt x="788" y="166"/>
                </a:moveTo>
                <a:lnTo>
                  <a:pt x="787" y="151"/>
                </a:lnTo>
                <a:lnTo>
                  <a:pt x="782" y="137"/>
                </a:lnTo>
                <a:lnTo>
                  <a:pt x="775" y="123"/>
                </a:lnTo>
                <a:lnTo>
                  <a:pt x="765" y="109"/>
                </a:lnTo>
                <a:lnTo>
                  <a:pt x="751" y="96"/>
                </a:lnTo>
                <a:lnTo>
                  <a:pt x="735" y="83"/>
                </a:lnTo>
                <a:lnTo>
                  <a:pt x="717" y="70"/>
                </a:lnTo>
                <a:lnTo>
                  <a:pt x="696" y="59"/>
                </a:lnTo>
                <a:lnTo>
                  <a:pt x="673" y="49"/>
                </a:lnTo>
                <a:lnTo>
                  <a:pt x="647" y="39"/>
                </a:lnTo>
                <a:lnTo>
                  <a:pt x="620" y="30"/>
                </a:lnTo>
                <a:lnTo>
                  <a:pt x="591" y="22"/>
                </a:lnTo>
                <a:lnTo>
                  <a:pt x="561" y="16"/>
                </a:lnTo>
                <a:lnTo>
                  <a:pt x="529" y="10"/>
                </a:lnTo>
                <a:lnTo>
                  <a:pt x="496" y="6"/>
                </a:lnTo>
                <a:lnTo>
                  <a:pt x="463" y="3"/>
                </a:lnTo>
                <a:lnTo>
                  <a:pt x="429" y="0"/>
                </a:lnTo>
                <a:lnTo>
                  <a:pt x="394" y="0"/>
                </a:lnTo>
                <a:lnTo>
                  <a:pt x="360" y="0"/>
                </a:lnTo>
                <a:lnTo>
                  <a:pt x="325" y="3"/>
                </a:lnTo>
                <a:lnTo>
                  <a:pt x="292" y="6"/>
                </a:lnTo>
                <a:lnTo>
                  <a:pt x="260" y="10"/>
                </a:lnTo>
                <a:lnTo>
                  <a:pt x="228" y="16"/>
                </a:lnTo>
                <a:lnTo>
                  <a:pt x="197" y="22"/>
                </a:lnTo>
                <a:lnTo>
                  <a:pt x="168" y="30"/>
                </a:lnTo>
                <a:lnTo>
                  <a:pt x="141" y="39"/>
                </a:lnTo>
                <a:lnTo>
                  <a:pt x="115" y="49"/>
                </a:lnTo>
                <a:lnTo>
                  <a:pt x="92" y="59"/>
                </a:lnTo>
                <a:lnTo>
                  <a:pt x="71" y="70"/>
                </a:lnTo>
                <a:lnTo>
                  <a:pt x="53" y="83"/>
                </a:lnTo>
                <a:lnTo>
                  <a:pt x="37" y="96"/>
                </a:lnTo>
                <a:lnTo>
                  <a:pt x="24" y="109"/>
                </a:lnTo>
                <a:lnTo>
                  <a:pt x="14" y="123"/>
                </a:lnTo>
                <a:lnTo>
                  <a:pt x="6" y="137"/>
                </a:lnTo>
                <a:lnTo>
                  <a:pt x="1" y="151"/>
                </a:lnTo>
                <a:lnTo>
                  <a:pt x="0" y="166"/>
                </a:lnTo>
                <a:lnTo>
                  <a:pt x="1" y="180"/>
                </a:lnTo>
                <a:lnTo>
                  <a:pt x="6" y="195"/>
                </a:lnTo>
                <a:lnTo>
                  <a:pt x="14" y="209"/>
                </a:lnTo>
                <a:lnTo>
                  <a:pt x="24" y="223"/>
                </a:lnTo>
                <a:lnTo>
                  <a:pt x="37" y="236"/>
                </a:lnTo>
                <a:lnTo>
                  <a:pt x="53" y="249"/>
                </a:lnTo>
                <a:lnTo>
                  <a:pt x="71" y="261"/>
                </a:lnTo>
                <a:lnTo>
                  <a:pt x="92" y="273"/>
                </a:lnTo>
                <a:lnTo>
                  <a:pt x="115" y="284"/>
                </a:lnTo>
                <a:lnTo>
                  <a:pt x="141" y="294"/>
                </a:lnTo>
                <a:lnTo>
                  <a:pt x="168" y="302"/>
                </a:lnTo>
                <a:lnTo>
                  <a:pt x="197" y="310"/>
                </a:lnTo>
                <a:lnTo>
                  <a:pt x="228" y="317"/>
                </a:lnTo>
                <a:lnTo>
                  <a:pt x="260" y="322"/>
                </a:lnTo>
                <a:lnTo>
                  <a:pt x="292" y="327"/>
                </a:lnTo>
                <a:lnTo>
                  <a:pt x="325" y="330"/>
                </a:lnTo>
                <a:lnTo>
                  <a:pt x="360" y="331"/>
                </a:lnTo>
                <a:lnTo>
                  <a:pt x="394" y="332"/>
                </a:lnTo>
                <a:lnTo>
                  <a:pt x="429" y="331"/>
                </a:lnTo>
                <a:lnTo>
                  <a:pt x="463" y="330"/>
                </a:lnTo>
                <a:lnTo>
                  <a:pt x="496" y="327"/>
                </a:lnTo>
                <a:lnTo>
                  <a:pt x="529" y="322"/>
                </a:lnTo>
                <a:lnTo>
                  <a:pt x="561" y="317"/>
                </a:lnTo>
                <a:lnTo>
                  <a:pt x="591" y="310"/>
                </a:lnTo>
                <a:lnTo>
                  <a:pt x="620" y="302"/>
                </a:lnTo>
                <a:lnTo>
                  <a:pt x="647" y="294"/>
                </a:lnTo>
                <a:lnTo>
                  <a:pt x="673" y="284"/>
                </a:lnTo>
                <a:lnTo>
                  <a:pt x="696" y="273"/>
                </a:lnTo>
                <a:lnTo>
                  <a:pt x="717" y="261"/>
                </a:lnTo>
                <a:lnTo>
                  <a:pt x="735" y="249"/>
                </a:lnTo>
                <a:lnTo>
                  <a:pt x="751" y="236"/>
                </a:lnTo>
                <a:lnTo>
                  <a:pt x="765" y="223"/>
                </a:lnTo>
                <a:lnTo>
                  <a:pt x="775" y="209"/>
                </a:lnTo>
                <a:lnTo>
                  <a:pt x="782" y="195"/>
                </a:lnTo>
                <a:lnTo>
                  <a:pt x="787" y="180"/>
                </a:lnTo>
                <a:lnTo>
                  <a:pt x="788" y="16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Rectangle 14">
            <a:extLst>
              <a:ext uri="{FF2B5EF4-FFF2-40B4-BE49-F238E27FC236}">
                <a16:creationId xmlns:a16="http://schemas.microsoft.com/office/drawing/2014/main" id="{5F2ACCAE-EE61-9939-9D80-EA66B615DF7A}"/>
              </a:ext>
            </a:extLst>
          </p:cNvPr>
          <p:cNvSpPr>
            <a:spLocks noChangeArrowheads="1"/>
          </p:cNvSpPr>
          <p:nvPr/>
        </p:nvSpPr>
        <p:spPr bwMode="auto">
          <a:xfrm>
            <a:off x="3201880" y="134555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lot</a:t>
            </a:r>
          </a:p>
        </p:txBody>
      </p:sp>
      <p:sp>
        <p:nvSpPr>
          <p:cNvPr id="14" name="Freeform 15">
            <a:extLst>
              <a:ext uri="{FF2B5EF4-FFF2-40B4-BE49-F238E27FC236}">
                <a16:creationId xmlns:a16="http://schemas.microsoft.com/office/drawing/2014/main" id="{5CEF7A76-7A02-8CDC-2F67-CC10931415C1}"/>
              </a:ext>
            </a:extLst>
          </p:cNvPr>
          <p:cNvSpPr>
            <a:spLocks/>
          </p:cNvSpPr>
          <p:nvPr/>
        </p:nvSpPr>
        <p:spPr bwMode="auto">
          <a:xfrm>
            <a:off x="4322655" y="2025003"/>
            <a:ext cx="1252537" cy="622300"/>
          </a:xfrm>
          <a:custGeom>
            <a:avLst/>
            <a:gdLst>
              <a:gd name="T0" fmla="*/ 0 w 789"/>
              <a:gd name="T1" fmla="*/ 311150 h 392"/>
              <a:gd name="T2" fmla="*/ 625475 w 789"/>
              <a:gd name="T3" fmla="*/ 0 h 392"/>
              <a:gd name="T4" fmla="*/ 1250950 w 789"/>
              <a:gd name="T5" fmla="*/ 311150 h 392"/>
              <a:gd name="T6" fmla="*/ 625475 w 789"/>
              <a:gd name="T7" fmla="*/ 620713 h 392"/>
              <a:gd name="T8" fmla="*/ 0 w 789"/>
              <a:gd name="T9" fmla="*/ 311150 h 392"/>
              <a:gd name="T10" fmla="*/ 0 60000 65536"/>
              <a:gd name="T11" fmla="*/ 0 60000 65536"/>
              <a:gd name="T12" fmla="*/ 0 60000 65536"/>
              <a:gd name="T13" fmla="*/ 0 60000 65536"/>
              <a:gd name="T14" fmla="*/ 0 60000 65536"/>
              <a:gd name="T15" fmla="*/ 0 w 789"/>
              <a:gd name="T16" fmla="*/ 0 h 392"/>
              <a:gd name="T17" fmla="*/ 789 w 789"/>
              <a:gd name="T18" fmla="*/ 392 h 392"/>
            </a:gdLst>
            <a:ahLst/>
            <a:cxnLst>
              <a:cxn ang="T10">
                <a:pos x="T0" y="T1"/>
              </a:cxn>
              <a:cxn ang="T11">
                <a:pos x="T2" y="T3"/>
              </a:cxn>
              <a:cxn ang="T12">
                <a:pos x="T4" y="T5"/>
              </a:cxn>
              <a:cxn ang="T13">
                <a:pos x="T6" y="T7"/>
              </a:cxn>
              <a:cxn ang="T14">
                <a:pos x="T8" y="T9"/>
              </a:cxn>
            </a:cxnLst>
            <a:rect l="T15" t="T16" r="T17" b="T18"/>
            <a:pathLst>
              <a:path w="789" h="392">
                <a:moveTo>
                  <a:pt x="0" y="196"/>
                </a:moveTo>
                <a:lnTo>
                  <a:pt x="394" y="0"/>
                </a:lnTo>
                <a:lnTo>
                  <a:pt x="788" y="196"/>
                </a:lnTo>
                <a:lnTo>
                  <a:pt x="394" y="391"/>
                </a:lnTo>
                <a:lnTo>
                  <a:pt x="0" y="196"/>
                </a:lnTo>
              </a:path>
            </a:pathLst>
          </a:custGeom>
          <a:noFill/>
          <a:ln w="508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Rectangle 16">
            <a:extLst>
              <a:ext uri="{FF2B5EF4-FFF2-40B4-BE49-F238E27FC236}">
                <a16:creationId xmlns:a16="http://schemas.microsoft.com/office/drawing/2014/main" id="{027209E8-A1E7-9771-9A3F-8BFA0A108B67}"/>
              </a:ext>
            </a:extLst>
          </p:cNvPr>
          <p:cNvSpPr>
            <a:spLocks noChangeArrowheads="1"/>
          </p:cNvSpPr>
          <p:nvPr/>
        </p:nvSpPr>
        <p:spPr bwMode="auto">
          <a:xfrm>
            <a:off x="1935055" y="926453"/>
            <a:ext cx="711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16" name="Rectangle 17">
            <a:extLst>
              <a:ext uri="{FF2B5EF4-FFF2-40B4-BE49-F238E27FC236}">
                <a16:creationId xmlns:a16="http://schemas.microsoft.com/office/drawing/2014/main" id="{AB78BF81-9020-8BE2-3FA0-9A9A0C83E8CB}"/>
              </a:ext>
            </a:extLst>
          </p:cNvPr>
          <p:cNvSpPr>
            <a:spLocks noChangeArrowheads="1"/>
          </p:cNvSpPr>
          <p:nvPr/>
        </p:nvSpPr>
        <p:spPr bwMode="auto">
          <a:xfrm>
            <a:off x="7765942" y="1299516"/>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age</a:t>
            </a:r>
          </a:p>
        </p:txBody>
      </p:sp>
      <p:sp>
        <p:nvSpPr>
          <p:cNvPr id="17" name="Rectangle 18">
            <a:extLst>
              <a:ext uri="{FF2B5EF4-FFF2-40B4-BE49-F238E27FC236}">
                <a16:creationId xmlns:a16="http://schemas.microsoft.com/office/drawing/2014/main" id="{158882A3-8BF5-256F-6CFF-A26D80AEB280}"/>
              </a:ext>
            </a:extLst>
          </p:cNvPr>
          <p:cNvSpPr>
            <a:spLocks noChangeArrowheads="1"/>
          </p:cNvSpPr>
          <p:nvPr/>
        </p:nvSpPr>
        <p:spPr bwMode="auto">
          <a:xfrm>
            <a:off x="6108592" y="1283641"/>
            <a:ext cx="835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dname</a:t>
            </a:r>
          </a:p>
        </p:txBody>
      </p:sp>
      <p:sp>
        <p:nvSpPr>
          <p:cNvPr id="18" name="Rectangle 19">
            <a:extLst>
              <a:ext uri="{FF2B5EF4-FFF2-40B4-BE49-F238E27FC236}">
                <a16:creationId xmlns:a16="http://schemas.microsoft.com/office/drawing/2014/main" id="{3EB67766-D853-4D8D-F584-7CD111196EC9}"/>
              </a:ext>
            </a:extLst>
          </p:cNvPr>
          <p:cNvSpPr>
            <a:spLocks noChangeArrowheads="1"/>
          </p:cNvSpPr>
          <p:nvPr/>
        </p:nvSpPr>
        <p:spPr bwMode="auto">
          <a:xfrm>
            <a:off x="6703905" y="2183753"/>
            <a:ext cx="1341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Dependents</a:t>
            </a:r>
          </a:p>
        </p:txBody>
      </p:sp>
      <p:sp>
        <p:nvSpPr>
          <p:cNvPr id="19" name="Rectangle 20">
            <a:extLst>
              <a:ext uri="{FF2B5EF4-FFF2-40B4-BE49-F238E27FC236}">
                <a16:creationId xmlns:a16="http://schemas.microsoft.com/office/drawing/2014/main" id="{230F9599-32DF-2C29-7FAD-118B4D66ACDB}"/>
              </a:ext>
            </a:extLst>
          </p:cNvPr>
          <p:cNvSpPr>
            <a:spLocks noChangeArrowheads="1"/>
          </p:cNvSpPr>
          <p:nvPr/>
        </p:nvSpPr>
        <p:spPr bwMode="auto">
          <a:xfrm>
            <a:off x="1581042" y="2201216"/>
            <a:ext cx="1252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Employees</a:t>
            </a:r>
          </a:p>
        </p:txBody>
      </p:sp>
      <p:sp>
        <p:nvSpPr>
          <p:cNvPr id="20" name="Rectangle 21">
            <a:extLst>
              <a:ext uri="{FF2B5EF4-FFF2-40B4-BE49-F238E27FC236}">
                <a16:creationId xmlns:a16="http://schemas.microsoft.com/office/drawing/2014/main" id="{5A44343C-ED1B-A896-5E60-BA7EA47FD9A5}"/>
              </a:ext>
            </a:extLst>
          </p:cNvPr>
          <p:cNvSpPr>
            <a:spLocks noChangeArrowheads="1"/>
          </p:cNvSpPr>
          <p:nvPr/>
        </p:nvSpPr>
        <p:spPr bwMode="auto">
          <a:xfrm>
            <a:off x="839680" y="1331266"/>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u="sng">
                <a:solidFill>
                  <a:srgbClr val="000000"/>
                </a:solidFill>
                <a:latin typeface="Arial" pitchFamily="34" charset="0"/>
              </a:rPr>
              <a:t>ssn</a:t>
            </a:r>
          </a:p>
        </p:txBody>
      </p:sp>
      <p:sp>
        <p:nvSpPr>
          <p:cNvPr id="21" name="Rectangle 22">
            <a:extLst>
              <a:ext uri="{FF2B5EF4-FFF2-40B4-BE49-F238E27FC236}">
                <a16:creationId xmlns:a16="http://schemas.microsoft.com/office/drawing/2014/main" id="{2AE7CD1A-1333-B6EF-34D6-02C50EFD6DC9}"/>
              </a:ext>
            </a:extLst>
          </p:cNvPr>
          <p:cNvSpPr>
            <a:spLocks noChangeArrowheads="1"/>
          </p:cNvSpPr>
          <p:nvPr/>
        </p:nvSpPr>
        <p:spPr bwMode="auto">
          <a:xfrm>
            <a:off x="4556017" y="2183753"/>
            <a:ext cx="7794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Policy</a:t>
            </a:r>
          </a:p>
        </p:txBody>
      </p:sp>
      <p:sp>
        <p:nvSpPr>
          <p:cNvPr id="22" name="Rectangle 23">
            <a:extLst>
              <a:ext uri="{FF2B5EF4-FFF2-40B4-BE49-F238E27FC236}">
                <a16:creationId xmlns:a16="http://schemas.microsoft.com/office/drawing/2014/main" id="{CBAEA34F-E3EE-20C8-1B04-B3767BFF0207}"/>
              </a:ext>
            </a:extLst>
          </p:cNvPr>
          <p:cNvSpPr>
            <a:spLocks noChangeArrowheads="1"/>
          </p:cNvSpPr>
          <p:nvPr/>
        </p:nvSpPr>
        <p:spPr bwMode="auto">
          <a:xfrm>
            <a:off x="4670317" y="1221728"/>
            <a:ext cx="5984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sz="1600" b="1">
                <a:solidFill>
                  <a:srgbClr val="000000"/>
                </a:solidFill>
                <a:latin typeface="Arial" pitchFamily="34" charset="0"/>
              </a:rPr>
              <a:t>cost</a:t>
            </a:r>
          </a:p>
        </p:txBody>
      </p:sp>
      <p:sp>
        <p:nvSpPr>
          <p:cNvPr id="23" name="Line 24">
            <a:extLst>
              <a:ext uri="{FF2B5EF4-FFF2-40B4-BE49-F238E27FC236}">
                <a16:creationId xmlns:a16="http://schemas.microsoft.com/office/drawing/2014/main" id="{C0CD4854-3FE1-1938-55D4-B38AD45C1C83}"/>
              </a:ext>
            </a:extLst>
          </p:cNvPr>
          <p:cNvSpPr>
            <a:spLocks noChangeShapeType="1"/>
          </p:cNvSpPr>
          <p:nvPr/>
        </p:nvSpPr>
        <p:spPr bwMode="auto">
          <a:xfrm flipH="1">
            <a:off x="6199080" y="1586853"/>
            <a:ext cx="609600" cy="0"/>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5">
            <a:extLst>
              <a:ext uri="{FF2B5EF4-FFF2-40B4-BE49-F238E27FC236}">
                <a16:creationId xmlns:a16="http://schemas.microsoft.com/office/drawing/2014/main" id="{DF404997-D8AA-4992-64ED-DFCD9EDC42B2}"/>
              </a:ext>
            </a:extLst>
          </p:cNvPr>
          <p:cNvSpPr>
            <a:spLocks noChangeShapeType="1"/>
          </p:cNvSpPr>
          <p:nvPr/>
        </p:nvSpPr>
        <p:spPr bwMode="auto">
          <a:xfrm>
            <a:off x="2227155" y="1397941"/>
            <a:ext cx="0" cy="6683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6">
            <a:extLst>
              <a:ext uri="{FF2B5EF4-FFF2-40B4-BE49-F238E27FC236}">
                <a16:creationId xmlns:a16="http://schemas.microsoft.com/office/drawing/2014/main" id="{DEC51B4E-17AA-6187-7A2A-ED7FD9A4CEFC}"/>
              </a:ext>
            </a:extLst>
          </p:cNvPr>
          <p:cNvSpPr>
            <a:spLocks noChangeShapeType="1"/>
          </p:cNvSpPr>
          <p:nvPr/>
        </p:nvSpPr>
        <p:spPr bwMode="auto">
          <a:xfrm>
            <a:off x="1069867" y="1777353"/>
            <a:ext cx="809625" cy="3095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7">
            <a:extLst>
              <a:ext uri="{FF2B5EF4-FFF2-40B4-BE49-F238E27FC236}">
                <a16:creationId xmlns:a16="http://schemas.microsoft.com/office/drawing/2014/main" id="{782E8617-281F-D6C4-E833-538C138C4DBC}"/>
              </a:ext>
            </a:extLst>
          </p:cNvPr>
          <p:cNvSpPr>
            <a:spLocks noChangeShapeType="1"/>
          </p:cNvSpPr>
          <p:nvPr/>
        </p:nvSpPr>
        <p:spPr bwMode="auto">
          <a:xfrm flipH="1">
            <a:off x="2562117" y="1758303"/>
            <a:ext cx="814388" cy="32861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8">
            <a:extLst>
              <a:ext uri="{FF2B5EF4-FFF2-40B4-BE49-F238E27FC236}">
                <a16:creationId xmlns:a16="http://schemas.microsoft.com/office/drawing/2014/main" id="{ACBF1E99-D497-BB98-C37F-6DBD3D607138}"/>
              </a:ext>
            </a:extLst>
          </p:cNvPr>
          <p:cNvSpPr>
            <a:spLocks noChangeShapeType="1"/>
          </p:cNvSpPr>
          <p:nvPr/>
        </p:nvSpPr>
        <p:spPr bwMode="auto">
          <a:xfrm flipV="1">
            <a:off x="4935430" y="1623366"/>
            <a:ext cx="0" cy="4143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9">
            <a:extLst>
              <a:ext uri="{FF2B5EF4-FFF2-40B4-BE49-F238E27FC236}">
                <a16:creationId xmlns:a16="http://schemas.microsoft.com/office/drawing/2014/main" id="{C8FF880A-9E6E-6F9C-9C33-EB18CA329552}"/>
              </a:ext>
            </a:extLst>
          </p:cNvPr>
          <p:cNvSpPr>
            <a:spLocks noChangeShapeType="1"/>
          </p:cNvSpPr>
          <p:nvPr/>
        </p:nvSpPr>
        <p:spPr bwMode="auto">
          <a:xfrm>
            <a:off x="6445142" y="1758303"/>
            <a:ext cx="369888" cy="3476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30">
            <a:extLst>
              <a:ext uri="{FF2B5EF4-FFF2-40B4-BE49-F238E27FC236}">
                <a16:creationId xmlns:a16="http://schemas.microsoft.com/office/drawing/2014/main" id="{C559C224-A9FD-CBE2-F09E-9385170354CB}"/>
              </a:ext>
            </a:extLst>
          </p:cNvPr>
          <p:cNvSpPr>
            <a:spLocks noChangeShapeType="1"/>
          </p:cNvSpPr>
          <p:nvPr/>
        </p:nvSpPr>
        <p:spPr bwMode="auto">
          <a:xfrm flipH="1">
            <a:off x="7435742" y="1758303"/>
            <a:ext cx="514350" cy="3476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1">
            <a:extLst>
              <a:ext uri="{FF2B5EF4-FFF2-40B4-BE49-F238E27FC236}">
                <a16:creationId xmlns:a16="http://schemas.microsoft.com/office/drawing/2014/main" id="{8D65BABD-3ECA-3C19-DE1F-3716B6A2AC75}"/>
              </a:ext>
            </a:extLst>
          </p:cNvPr>
          <p:cNvSpPr>
            <a:spLocks noChangeShapeType="1"/>
          </p:cNvSpPr>
          <p:nvPr/>
        </p:nvSpPr>
        <p:spPr bwMode="auto">
          <a:xfrm flipH="1">
            <a:off x="2843105" y="2332978"/>
            <a:ext cx="141605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2">
            <a:extLst>
              <a:ext uri="{FF2B5EF4-FFF2-40B4-BE49-F238E27FC236}">
                <a16:creationId xmlns:a16="http://schemas.microsoft.com/office/drawing/2014/main" id="{9CC2D096-D600-BD32-B5C8-588F95D15128}"/>
              </a:ext>
            </a:extLst>
          </p:cNvPr>
          <p:cNvSpPr>
            <a:spLocks noChangeShapeType="1"/>
          </p:cNvSpPr>
          <p:nvPr/>
        </p:nvSpPr>
        <p:spPr bwMode="auto">
          <a:xfrm>
            <a:off x="5602180" y="2332978"/>
            <a:ext cx="931862" cy="0"/>
          </a:xfrm>
          <a:prstGeom prst="line">
            <a:avLst/>
          </a:prstGeom>
          <a:noFill/>
          <a:ln w="50800">
            <a:solidFill>
              <a:schemeClr val="tx2"/>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6">
            <a:extLst>
              <a:ext uri="{FF2B5EF4-FFF2-40B4-BE49-F238E27FC236}">
                <a16:creationId xmlns:a16="http://schemas.microsoft.com/office/drawing/2014/main" id="{DE913C10-0FE0-0E1A-9F46-A7E075161E71}"/>
              </a:ext>
            </a:extLst>
          </p:cNvPr>
          <p:cNvSpPr>
            <a:spLocks noChangeArrowheads="1"/>
          </p:cNvSpPr>
          <p:nvPr/>
        </p:nvSpPr>
        <p:spPr bwMode="auto">
          <a:xfrm>
            <a:off x="1069867" y="3581400"/>
            <a:ext cx="7464533" cy="2551981"/>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p>
            <a:r>
              <a:rPr lang="en-US" sz="2000" dirty="0">
                <a:solidFill>
                  <a:schemeClr val="tx1"/>
                </a:solidFill>
                <a:latin typeface="Lucida Console" pitchFamily="49" charset="0"/>
              </a:rPr>
              <a:t>CREATE TABLE  </a:t>
            </a:r>
            <a:r>
              <a:rPr lang="en-US" sz="2000" dirty="0" err="1">
                <a:solidFill>
                  <a:schemeClr val="tx1"/>
                </a:solidFill>
                <a:latin typeface="Lucida Console" pitchFamily="49" charset="0"/>
              </a:rPr>
              <a:t>Dep_Policy</a:t>
            </a:r>
            <a:r>
              <a:rPr lang="en-US" sz="2000" dirty="0">
                <a:solidFill>
                  <a:schemeClr val="tx1"/>
                </a:solidFill>
                <a:latin typeface="Lucida Console" pitchFamily="49" charset="0"/>
              </a:rPr>
              <a:t> (</a:t>
            </a:r>
          </a:p>
          <a:p>
            <a:r>
              <a:rPr lang="en-US" sz="2000" dirty="0">
                <a:solidFill>
                  <a:schemeClr val="tx1"/>
                </a:solidFill>
                <a:latin typeface="Lucida Console" pitchFamily="49" charset="0"/>
              </a:rPr>
              <a:t>   	</a:t>
            </a:r>
            <a:r>
              <a:rPr lang="en-US" sz="2000" dirty="0" err="1">
                <a:solidFill>
                  <a:srgbClr val="434FD6"/>
                </a:solidFill>
                <a:latin typeface="Lucida Console" pitchFamily="49" charset="0"/>
              </a:rPr>
              <a:t>dname</a:t>
            </a:r>
            <a:r>
              <a:rPr lang="en-US" sz="2000" dirty="0">
                <a:solidFill>
                  <a:srgbClr val="434FD6"/>
                </a:solidFill>
                <a:latin typeface="Lucida Console" pitchFamily="49" charset="0"/>
              </a:rPr>
              <a:t>  CHAR(20),</a:t>
            </a:r>
          </a:p>
          <a:p>
            <a:r>
              <a:rPr lang="en-US" sz="2000" dirty="0">
                <a:solidFill>
                  <a:srgbClr val="434FD6"/>
                </a:solidFill>
                <a:latin typeface="Lucida Console" pitchFamily="49" charset="0"/>
              </a:rPr>
              <a:t>   	age    INTEGER,</a:t>
            </a:r>
          </a:p>
          <a:p>
            <a:r>
              <a:rPr lang="en-US" sz="2000" dirty="0">
                <a:solidFill>
                  <a:srgbClr val="434FD6"/>
                </a:solidFill>
                <a:latin typeface="Lucida Console" pitchFamily="49" charset="0"/>
              </a:rPr>
              <a:t>   	cost   REAL,</a:t>
            </a:r>
          </a:p>
          <a:p>
            <a:r>
              <a:rPr lang="en-US" sz="2000" dirty="0">
                <a:solidFill>
                  <a:srgbClr val="434FD6"/>
                </a:solidFill>
                <a:latin typeface="Lucida Console" pitchFamily="49" charset="0"/>
              </a:rPr>
              <a:t>   	</a:t>
            </a:r>
            <a:r>
              <a:rPr lang="en-US" sz="2000" dirty="0" err="1">
                <a:solidFill>
                  <a:srgbClr val="434FD6"/>
                </a:solidFill>
                <a:latin typeface="Lucida Console" pitchFamily="49" charset="0"/>
              </a:rPr>
              <a:t>ssn</a:t>
            </a:r>
            <a:r>
              <a:rPr lang="en-US" sz="2000" dirty="0">
                <a:solidFill>
                  <a:srgbClr val="434FD6"/>
                </a:solidFill>
                <a:latin typeface="Lucida Console" pitchFamily="49" charset="0"/>
              </a:rPr>
              <a:t>    CHAR(11) </a:t>
            </a:r>
            <a:r>
              <a:rPr lang="en-US" sz="2000" dirty="0">
                <a:solidFill>
                  <a:schemeClr val="accent2"/>
                </a:solidFill>
                <a:latin typeface="Lucida Console" pitchFamily="49" charset="0"/>
              </a:rPr>
              <a:t>NOT NULL</a:t>
            </a:r>
            <a:r>
              <a:rPr lang="en-US" sz="2000" dirty="0">
                <a:solidFill>
                  <a:srgbClr val="434FD6"/>
                </a:solidFill>
                <a:latin typeface="Lucida Console" pitchFamily="49" charset="0"/>
              </a:rPr>
              <a:t>,</a:t>
            </a:r>
          </a:p>
          <a:p>
            <a:r>
              <a:rPr lang="en-US" sz="2000" dirty="0">
                <a:solidFill>
                  <a:srgbClr val="434FD6"/>
                </a:solidFill>
                <a:latin typeface="Lucida Console" pitchFamily="49" charset="0"/>
              </a:rPr>
              <a:t>   	</a:t>
            </a:r>
            <a:r>
              <a:rPr lang="en-US" sz="2000" dirty="0">
                <a:solidFill>
                  <a:schemeClr val="folHlink"/>
                </a:solidFill>
                <a:latin typeface="Lucida Console" pitchFamily="49" charset="0"/>
              </a:rPr>
              <a:t>PRIMARY KEY  (</a:t>
            </a:r>
            <a:r>
              <a:rPr lang="en-US" sz="2000" dirty="0" err="1">
                <a:solidFill>
                  <a:schemeClr val="folHlink"/>
                </a:solidFill>
                <a:latin typeface="Lucida Console" pitchFamily="49" charset="0"/>
              </a:rPr>
              <a:t>dname</a:t>
            </a:r>
            <a:r>
              <a:rPr lang="en-US" sz="2000" dirty="0">
                <a:solidFill>
                  <a:schemeClr val="folHlink"/>
                </a:solidFill>
                <a:latin typeface="Lucida Console" pitchFamily="49" charset="0"/>
              </a:rPr>
              <a:t>, </a:t>
            </a:r>
            <a:r>
              <a:rPr lang="en-US" sz="2000" dirty="0" err="1">
                <a:solidFill>
                  <a:schemeClr val="folHlink"/>
                </a:solidFill>
                <a:latin typeface="Lucida Console" pitchFamily="49" charset="0"/>
              </a:rPr>
              <a:t>ssn</a:t>
            </a:r>
            <a:r>
              <a:rPr lang="en-US" sz="2000" dirty="0">
                <a:solidFill>
                  <a:schemeClr val="folHlink"/>
                </a:solidFill>
                <a:latin typeface="Lucida Console" pitchFamily="49" charset="0"/>
              </a:rPr>
              <a:t>),</a:t>
            </a:r>
          </a:p>
          <a:p>
            <a:r>
              <a:rPr lang="en-US" sz="2000" dirty="0">
                <a:solidFill>
                  <a:schemeClr val="folHlink"/>
                </a:solidFill>
                <a:latin typeface="Lucida Console" pitchFamily="49" charset="0"/>
              </a:rPr>
              <a:t>   	FOREIGN KEY  (</a:t>
            </a:r>
            <a:r>
              <a:rPr lang="en-US" sz="2000" dirty="0" err="1">
                <a:solidFill>
                  <a:schemeClr val="folHlink"/>
                </a:solidFill>
                <a:latin typeface="Lucida Console" pitchFamily="49" charset="0"/>
              </a:rPr>
              <a:t>ssn</a:t>
            </a:r>
            <a:r>
              <a:rPr lang="en-US" sz="2000" dirty="0">
                <a:solidFill>
                  <a:schemeClr val="folHlink"/>
                </a:solidFill>
                <a:latin typeface="Lucida Console" pitchFamily="49" charset="0"/>
              </a:rPr>
              <a:t>) REFERENCES Employees,</a:t>
            </a:r>
          </a:p>
          <a:p>
            <a:r>
              <a:rPr lang="en-US" sz="2000" dirty="0">
                <a:solidFill>
                  <a:schemeClr val="folHlink"/>
                </a:solidFill>
                <a:latin typeface="Lucida Console" pitchFamily="49" charset="0"/>
              </a:rPr>
              <a:t>      	</a:t>
            </a:r>
            <a:r>
              <a:rPr lang="en-US" sz="2000" dirty="0">
                <a:solidFill>
                  <a:schemeClr val="accent2"/>
                </a:solidFill>
                <a:latin typeface="Lucida Console" pitchFamily="49" charset="0"/>
              </a:rPr>
              <a:t>ON DELETE CASCADE</a:t>
            </a:r>
            <a:r>
              <a:rPr lang="en-US" sz="2000" dirty="0">
                <a:solidFill>
                  <a:schemeClr val="tx1"/>
                </a:solidFill>
                <a:latin typeface="Lucida Console" pitchFamily="49" charset="0"/>
              </a:rPr>
              <a:t>)</a:t>
            </a:r>
          </a:p>
        </p:txBody>
      </p:sp>
      <p:sp>
        <p:nvSpPr>
          <p:cNvPr id="33" name="Oval 32">
            <a:extLst>
              <a:ext uri="{FF2B5EF4-FFF2-40B4-BE49-F238E27FC236}">
                <a16:creationId xmlns:a16="http://schemas.microsoft.com/office/drawing/2014/main" id="{F290000A-744D-54C6-A9C6-AC7A1F243A4E}"/>
              </a:ext>
            </a:extLst>
          </p:cNvPr>
          <p:cNvSpPr/>
          <p:nvPr/>
        </p:nvSpPr>
        <p:spPr>
          <a:xfrm>
            <a:off x="2809012" y="5693005"/>
            <a:ext cx="3058388" cy="533400"/>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C9ED887-F039-90DA-8AF3-12C9616B642B}"/>
              </a:ext>
            </a:extLst>
          </p:cNvPr>
          <p:cNvSpPr txBox="1"/>
          <p:nvPr/>
        </p:nvSpPr>
        <p:spPr>
          <a:xfrm>
            <a:off x="1280395" y="6172200"/>
            <a:ext cx="6772607" cy="707886"/>
          </a:xfrm>
          <a:prstGeom prst="rect">
            <a:avLst/>
          </a:prstGeom>
          <a:noFill/>
        </p:spPr>
        <p:txBody>
          <a:bodyPr wrap="square">
            <a:spAutoFit/>
          </a:bodyPr>
          <a:lstStyle/>
          <a:p>
            <a:r>
              <a:rPr lang="en-US" sz="2000" b="0" i="0" dirty="0">
                <a:solidFill>
                  <a:srgbClr val="FF0000"/>
                </a:solidFill>
                <a:effectLst/>
                <a:latin typeface="Google Sans"/>
              </a:rPr>
              <a:t>To specify whether you want rows deleted in a child table when corresponding rows are deleted in the parent table.</a:t>
            </a:r>
            <a:endParaRPr lang="en-US" sz="2000" dirty="0">
              <a:solidFill>
                <a:srgbClr val="FF0000"/>
              </a:solidFill>
            </a:endParaRPr>
          </a:p>
        </p:txBody>
      </p:sp>
    </p:spTree>
    <p:extLst>
      <p:ext uri="{BB962C8B-B14F-4D97-AF65-F5344CB8AC3E}">
        <p14:creationId xmlns:p14="http://schemas.microsoft.com/office/powerpoint/2010/main" val="380340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4434-1F77-B7F2-2A08-90AA815D2F03}"/>
              </a:ext>
            </a:extLst>
          </p:cNvPr>
          <p:cNvSpPr>
            <a:spLocks noGrp="1"/>
          </p:cNvSpPr>
          <p:nvPr>
            <p:ph type="title"/>
          </p:nvPr>
        </p:nvSpPr>
        <p:spPr/>
        <p:txBody>
          <a:bodyPr/>
          <a:lstStyle/>
          <a:p>
            <a:r>
              <a:rPr lang="en-US"/>
              <a:t>Translating Aggregations</a:t>
            </a:r>
          </a:p>
        </p:txBody>
      </p:sp>
      <p:sp>
        <p:nvSpPr>
          <p:cNvPr id="3" name="Content Placeholder 2">
            <a:extLst>
              <a:ext uri="{FF2B5EF4-FFF2-40B4-BE49-F238E27FC236}">
                <a16:creationId xmlns:a16="http://schemas.microsoft.com/office/drawing/2014/main" id="{A8787364-3E03-3E9E-C356-5DAA29ECF496}"/>
              </a:ext>
            </a:extLst>
          </p:cNvPr>
          <p:cNvSpPr>
            <a:spLocks noGrp="1"/>
          </p:cNvSpPr>
          <p:nvPr>
            <p:ph idx="1"/>
          </p:nvPr>
        </p:nvSpPr>
        <p:spPr/>
        <p:txBody>
          <a:bodyPr/>
          <a:lstStyle/>
          <a:p>
            <a:r>
              <a:rPr lang="en-US" sz="2800" dirty="0"/>
              <a:t>Consider the following example:</a:t>
            </a:r>
            <a:endParaRPr lang="en-US" dirty="0"/>
          </a:p>
          <a:p>
            <a:endParaRPr lang="en-US" dirty="0"/>
          </a:p>
        </p:txBody>
      </p:sp>
      <p:sp>
        <p:nvSpPr>
          <p:cNvPr id="4" name="Slide Number Placeholder 3">
            <a:extLst>
              <a:ext uri="{FF2B5EF4-FFF2-40B4-BE49-F238E27FC236}">
                <a16:creationId xmlns:a16="http://schemas.microsoft.com/office/drawing/2014/main" id="{A2304FE3-7883-F861-8E84-276CADAF5EA9}"/>
              </a:ext>
            </a:extLst>
          </p:cNvPr>
          <p:cNvSpPr>
            <a:spLocks noGrp="1"/>
          </p:cNvSpPr>
          <p:nvPr>
            <p:ph type="sldNum" sz="quarter" idx="12"/>
          </p:nvPr>
        </p:nvSpPr>
        <p:spPr/>
        <p:txBody>
          <a:bodyPr/>
          <a:lstStyle/>
          <a:p>
            <a:fld id="{5FCA4BC5-AE2A-401E-9EDD-DF8812A14A6A}" type="slidenum">
              <a:rPr lang="en-US" smtClean="0"/>
              <a:t>43</a:t>
            </a:fld>
            <a:endParaRPr lang="en-US" dirty="0"/>
          </a:p>
        </p:txBody>
      </p:sp>
      <p:sp>
        <p:nvSpPr>
          <p:cNvPr id="5" name="Freeform 7">
            <a:extLst>
              <a:ext uri="{FF2B5EF4-FFF2-40B4-BE49-F238E27FC236}">
                <a16:creationId xmlns:a16="http://schemas.microsoft.com/office/drawing/2014/main" id="{393E6530-C99B-96C4-8557-EAB22525FBEE}"/>
              </a:ext>
            </a:extLst>
          </p:cNvPr>
          <p:cNvSpPr>
            <a:spLocks/>
          </p:cNvSpPr>
          <p:nvPr/>
        </p:nvSpPr>
        <p:spPr bwMode="auto">
          <a:xfrm>
            <a:off x="4808537" y="5184775"/>
            <a:ext cx="896938" cy="381000"/>
          </a:xfrm>
          <a:custGeom>
            <a:avLst/>
            <a:gdLst>
              <a:gd name="T0" fmla="*/ 563 w 565"/>
              <a:gd name="T1" fmla="*/ 109 h 240"/>
              <a:gd name="T2" fmla="*/ 555 w 565"/>
              <a:gd name="T3" fmla="*/ 88 h 240"/>
              <a:gd name="T4" fmla="*/ 538 w 565"/>
              <a:gd name="T5" fmla="*/ 68 h 240"/>
              <a:gd name="T6" fmla="*/ 513 w 565"/>
              <a:gd name="T7" fmla="*/ 51 h 240"/>
              <a:gd name="T8" fmla="*/ 482 w 565"/>
              <a:gd name="T9" fmla="*/ 35 h 240"/>
              <a:gd name="T10" fmla="*/ 444 w 565"/>
              <a:gd name="T11" fmla="*/ 21 h 240"/>
              <a:gd name="T12" fmla="*/ 402 w 565"/>
              <a:gd name="T13" fmla="*/ 11 h 240"/>
              <a:gd name="T14" fmla="*/ 356 w 565"/>
              <a:gd name="T15" fmla="*/ 4 h 240"/>
              <a:gd name="T16" fmla="*/ 307 w 565"/>
              <a:gd name="T17" fmla="*/ 0 h 240"/>
              <a:gd name="T18" fmla="*/ 258 w 565"/>
              <a:gd name="T19" fmla="*/ 0 h 240"/>
              <a:gd name="T20" fmla="*/ 210 w 565"/>
              <a:gd name="T21" fmla="*/ 4 h 240"/>
              <a:gd name="T22" fmla="*/ 163 w 565"/>
              <a:gd name="T23" fmla="*/ 11 h 240"/>
              <a:gd name="T24" fmla="*/ 121 w 565"/>
              <a:gd name="T25" fmla="*/ 21 h 240"/>
              <a:gd name="T26" fmla="*/ 83 w 565"/>
              <a:gd name="T27" fmla="*/ 35 h 240"/>
              <a:gd name="T28" fmla="*/ 52 w 565"/>
              <a:gd name="T29" fmla="*/ 51 h 240"/>
              <a:gd name="T30" fmla="*/ 27 w 565"/>
              <a:gd name="T31" fmla="*/ 68 h 240"/>
              <a:gd name="T32" fmla="*/ 10 w 565"/>
              <a:gd name="T33" fmla="*/ 88 h 240"/>
              <a:gd name="T34" fmla="*/ 2 w 565"/>
              <a:gd name="T35" fmla="*/ 109 h 240"/>
              <a:gd name="T36" fmla="*/ 2 w 565"/>
              <a:gd name="T37" fmla="*/ 129 h 240"/>
              <a:gd name="T38" fmla="*/ 10 w 565"/>
              <a:gd name="T39" fmla="*/ 150 h 240"/>
              <a:gd name="T40" fmla="*/ 27 w 565"/>
              <a:gd name="T41" fmla="*/ 170 h 240"/>
              <a:gd name="T42" fmla="*/ 52 w 565"/>
              <a:gd name="T43" fmla="*/ 188 h 240"/>
              <a:gd name="T44" fmla="*/ 83 w 565"/>
              <a:gd name="T45" fmla="*/ 204 h 240"/>
              <a:gd name="T46" fmla="*/ 121 w 565"/>
              <a:gd name="T47" fmla="*/ 217 h 240"/>
              <a:gd name="T48" fmla="*/ 163 w 565"/>
              <a:gd name="T49" fmla="*/ 227 h 240"/>
              <a:gd name="T50" fmla="*/ 210 w 565"/>
              <a:gd name="T51" fmla="*/ 235 h 240"/>
              <a:gd name="T52" fmla="*/ 258 w 565"/>
              <a:gd name="T53" fmla="*/ 239 h 240"/>
              <a:gd name="T54" fmla="*/ 307 w 565"/>
              <a:gd name="T55" fmla="*/ 239 h 240"/>
              <a:gd name="T56" fmla="*/ 356 w 565"/>
              <a:gd name="T57" fmla="*/ 235 h 240"/>
              <a:gd name="T58" fmla="*/ 402 w 565"/>
              <a:gd name="T59" fmla="*/ 227 h 240"/>
              <a:gd name="T60" fmla="*/ 444 w 565"/>
              <a:gd name="T61" fmla="*/ 217 h 240"/>
              <a:gd name="T62" fmla="*/ 482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7" y="60"/>
                </a:lnTo>
                <a:lnTo>
                  <a:pt x="513" y="51"/>
                </a:lnTo>
                <a:lnTo>
                  <a:pt x="498" y="42"/>
                </a:lnTo>
                <a:lnTo>
                  <a:pt x="482" y="35"/>
                </a:lnTo>
                <a:lnTo>
                  <a:pt x="464" y="27"/>
                </a:lnTo>
                <a:lnTo>
                  <a:pt x="444" y="21"/>
                </a:lnTo>
                <a:lnTo>
                  <a:pt x="423" y="15"/>
                </a:lnTo>
                <a:lnTo>
                  <a:pt x="402" y="11"/>
                </a:lnTo>
                <a:lnTo>
                  <a:pt x="379" y="7"/>
                </a:lnTo>
                <a:lnTo>
                  <a:pt x="356" y="4"/>
                </a:lnTo>
                <a:lnTo>
                  <a:pt x="331" y="1"/>
                </a:lnTo>
                <a:lnTo>
                  <a:pt x="307" y="0"/>
                </a:lnTo>
                <a:lnTo>
                  <a:pt x="282" y="0"/>
                </a:lnTo>
                <a:lnTo>
                  <a:pt x="258" y="0"/>
                </a:lnTo>
                <a:lnTo>
                  <a:pt x="234" y="1"/>
                </a:lnTo>
                <a:lnTo>
                  <a:pt x="210" y="4"/>
                </a:lnTo>
                <a:lnTo>
                  <a:pt x="186" y="7"/>
                </a:lnTo>
                <a:lnTo>
                  <a:pt x="163" y="11"/>
                </a:lnTo>
                <a:lnTo>
                  <a:pt x="141" y="15"/>
                </a:lnTo>
                <a:lnTo>
                  <a:pt x="121" y="21"/>
                </a:lnTo>
                <a:lnTo>
                  <a:pt x="101" y="27"/>
                </a:lnTo>
                <a:lnTo>
                  <a:pt x="83" y="35"/>
                </a:lnTo>
                <a:lnTo>
                  <a:pt x="67" y="42"/>
                </a:lnTo>
                <a:lnTo>
                  <a:pt x="52" y="51"/>
                </a:lnTo>
                <a:lnTo>
                  <a:pt x="38" y="60"/>
                </a:lnTo>
                <a:lnTo>
                  <a:pt x="27" y="68"/>
                </a:lnTo>
                <a:lnTo>
                  <a:pt x="18" y="78"/>
                </a:lnTo>
                <a:lnTo>
                  <a:pt x="10" y="88"/>
                </a:lnTo>
                <a:lnTo>
                  <a:pt x="5" y="98"/>
                </a:lnTo>
                <a:lnTo>
                  <a:pt x="2" y="109"/>
                </a:lnTo>
                <a:lnTo>
                  <a:pt x="0" y="119"/>
                </a:lnTo>
                <a:lnTo>
                  <a:pt x="2" y="129"/>
                </a:lnTo>
                <a:lnTo>
                  <a:pt x="5" y="140"/>
                </a:lnTo>
                <a:lnTo>
                  <a:pt x="10" y="150"/>
                </a:lnTo>
                <a:lnTo>
                  <a:pt x="18" y="160"/>
                </a:lnTo>
                <a:lnTo>
                  <a:pt x="27" y="170"/>
                </a:lnTo>
                <a:lnTo>
                  <a:pt x="38" y="179"/>
                </a:lnTo>
                <a:lnTo>
                  <a:pt x="52" y="188"/>
                </a:lnTo>
                <a:lnTo>
                  <a:pt x="67" y="196"/>
                </a:lnTo>
                <a:lnTo>
                  <a:pt x="83" y="204"/>
                </a:lnTo>
                <a:lnTo>
                  <a:pt x="101" y="211"/>
                </a:lnTo>
                <a:lnTo>
                  <a:pt x="121" y="217"/>
                </a:lnTo>
                <a:lnTo>
                  <a:pt x="141" y="223"/>
                </a:lnTo>
                <a:lnTo>
                  <a:pt x="163" y="227"/>
                </a:lnTo>
                <a:lnTo>
                  <a:pt x="186" y="231"/>
                </a:lnTo>
                <a:lnTo>
                  <a:pt x="210" y="235"/>
                </a:lnTo>
                <a:lnTo>
                  <a:pt x="234" y="237"/>
                </a:lnTo>
                <a:lnTo>
                  <a:pt x="258" y="239"/>
                </a:lnTo>
                <a:lnTo>
                  <a:pt x="282" y="239"/>
                </a:lnTo>
                <a:lnTo>
                  <a:pt x="307" y="239"/>
                </a:lnTo>
                <a:lnTo>
                  <a:pt x="331" y="237"/>
                </a:lnTo>
                <a:lnTo>
                  <a:pt x="356" y="235"/>
                </a:lnTo>
                <a:lnTo>
                  <a:pt x="379" y="231"/>
                </a:lnTo>
                <a:lnTo>
                  <a:pt x="402" y="227"/>
                </a:lnTo>
                <a:lnTo>
                  <a:pt x="423" y="223"/>
                </a:lnTo>
                <a:lnTo>
                  <a:pt x="444" y="217"/>
                </a:lnTo>
                <a:lnTo>
                  <a:pt x="464" y="211"/>
                </a:lnTo>
                <a:lnTo>
                  <a:pt x="482" y="204"/>
                </a:lnTo>
                <a:lnTo>
                  <a:pt x="498" y="196"/>
                </a:lnTo>
                <a:lnTo>
                  <a:pt x="513" y="188"/>
                </a:lnTo>
                <a:lnTo>
                  <a:pt x="527"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Freeform 8">
            <a:extLst>
              <a:ext uri="{FF2B5EF4-FFF2-40B4-BE49-F238E27FC236}">
                <a16:creationId xmlns:a16="http://schemas.microsoft.com/office/drawing/2014/main" id="{3F83ED2E-E8E4-E477-8209-C2BE1B3218BF}"/>
              </a:ext>
            </a:extLst>
          </p:cNvPr>
          <p:cNvSpPr>
            <a:spLocks/>
          </p:cNvSpPr>
          <p:nvPr/>
        </p:nvSpPr>
        <p:spPr bwMode="auto">
          <a:xfrm>
            <a:off x="6454775" y="5184775"/>
            <a:ext cx="896937" cy="381000"/>
          </a:xfrm>
          <a:custGeom>
            <a:avLst/>
            <a:gdLst>
              <a:gd name="T0" fmla="*/ 1 w 565"/>
              <a:gd name="T1" fmla="*/ 129 h 240"/>
              <a:gd name="T2" fmla="*/ 9 w 565"/>
              <a:gd name="T3" fmla="*/ 150 h 240"/>
              <a:gd name="T4" fmla="*/ 27 w 565"/>
              <a:gd name="T5" fmla="*/ 170 h 240"/>
              <a:gd name="T6" fmla="*/ 51 w 565"/>
              <a:gd name="T7" fmla="*/ 188 h 240"/>
              <a:gd name="T8" fmla="*/ 83 w 565"/>
              <a:gd name="T9" fmla="*/ 204 h 240"/>
              <a:gd name="T10" fmla="*/ 120 w 565"/>
              <a:gd name="T11" fmla="*/ 217 h 240"/>
              <a:gd name="T12" fmla="*/ 163 w 565"/>
              <a:gd name="T13" fmla="*/ 227 h 240"/>
              <a:gd name="T14" fmla="*/ 209 w 565"/>
              <a:gd name="T15" fmla="*/ 235 h 240"/>
              <a:gd name="T16" fmla="*/ 257 w 565"/>
              <a:gd name="T17" fmla="*/ 239 h 240"/>
              <a:gd name="T18" fmla="*/ 306 w 565"/>
              <a:gd name="T19" fmla="*/ 239 h 240"/>
              <a:gd name="T20" fmla="*/ 355 w 565"/>
              <a:gd name="T21" fmla="*/ 235 h 240"/>
              <a:gd name="T22" fmla="*/ 401 w 565"/>
              <a:gd name="T23" fmla="*/ 227 h 240"/>
              <a:gd name="T24" fmla="*/ 443 w 565"/>
              <a:gd name="T25" fmla="*/ 217 h 240"/>
              <a:gd name="T26" fmla="*/ 481 w 565"/>
              <a:gd name="T27" fmla="*/ 204 h 240"/>
              <a:gd name="T28" fmla="*/ 513 w 565"/>
              <a:gd name="T29" fmla="*/ 188 h 240"/>
              <a:gd name="T30" fmla="*/ 537 w 565"/>
              <a:gd name="T31" fmla="*/ 169 h 240"/>
              <a:gd name="T32" fmla="*/ 554 w 565"/>
              <a:gd name="T33" fmla="*/ 150 h 240"/>
              <a:gd name="T34" fmla="*/ 563 w 565"/>
              <a:gd name="T35" fmla="*/ 129 h 240"/>
              <a:gd name="T36" fmla="*/ 563 w 565"/>
              <a:gd name="T37" fmla="*/ 108 h 240"/>
              <a:gd name="T38" fmla="*/ 554 w 565"/>
              <a:gd name="T39" fmla="*/ 88 h 240"/>
              <a:gd name="T40" fmla="*/ 537 w 565"/>
              <a:gd name="T41" fmla="*/ 68 h 240"/>
              <a:gd name="T42" fmla="*/ 513 w 565"/>
              <a:gd name="T43" fmla="*/ 50 h 240"/>
              <a:gd name="T44" fmla="*/ 481 w 565"/>
              <a:gd name="T45" fmla="*/ 35 h 240"/>
              <a:gd name="T46" fmla="*/ 443 w 565"/>
              <a:gd name="T47" fmla="*/ 21 h 240"/>
              <a:gd name="T48" fmla="*/ 401 w 565"/>
              <a:gd name="T49" fmla="*/ 11 h 240"/>
              <a:gd name="T50" fmla="*/ 355 w 565"/>
              <a:gd name="T51" fmla="*/ 4 h 240"/>
              <a:gd name="T52" fmla="*/ 306 w 565"/>
              <a:gd name="T53" fmla="*/ 0 h 240"/>
              <a:gd name="T54" fmla="*/ 257 w 565"/>
              <a:gd name="T55" fmla="*/ 0 h 240"/>
              <a:gd name="T56" fmla="*/ 209 w 565"/>
              <a:gd name="T57" fmla="*/ 4 h 240"/>
              <a:gd name="T58" fmla="*/ 163 w 565"/>
              <a:gd name="T59" fmla="*/ 11 h 240"/>
              <a:gd name="T60" fmla="*/ 120 w 565"/>
              <a:gd name="T61" fmla="*/ 21 h 240"/>
              <a:gd name="T62" fmla="*/ 83 w 565"/>
              <a:gd name="T63" fmla="*/ 35 h 240"/>
              <a:gd name="T64" fmla="*/ 51 w 565"/>
              <a:gd name="T65" fmla="*/ 51 h 240"/>
              <a:gd name="T66" fmla="*/ 27 w 565"/>
              <a:gd name="T67" fmla="*/ 68 h 240"/>
              <a:gd name="T68" fmla="*/ 9 w 565"/>
              <a:gd name="T69" fmla="*/ 88 h 240"/>
              <a:gd name="T70" fmla="*/ 1 w 565"/>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0" y="119"/>
                </a:moveTo>
                <a:lnTo>
                  <a:pt x="1" y="129"/>
                </a:lnTo>
                <a:lnTo>
                  <a:pt x="4" y="140"/>
                </a:lnTo>
                <a:lnTo>
                  <a:pt x="9" y="150"/>
                </a:lnTo>
                <a:lnTo>
                  <a:pt x="17" y="160"/>
                </a:lnTo>
                <a:lnTo>
                  <a:pt x="27" y="170"/>
                </a:lnTo>
                <a:lnTo>
                  <a:pt x="38" y="179"/>
                </a:lnTo>
                <a:lnTo>
                  <a:pt x="51" y="188"/>
                </a:lnTo>
                <a:lnTo>
                  <a:pt x="66" y="196"/>
                </a:lnTo>
                <a:lnTo>
                  <a:pt x="83" y="204"/>
                </a:lnTo>
                <a:lnTo>
                  <a:pt x="101" y="211"/>
                </a:lnTo>
                <a:lnTo>
                  <a:pt x="120" y="217"/>
                </a:lnTo>
                <a:lnTo>
                  <a:pt x="141" y="223"/>
                </a:lnTo>
                <a:lnTo>
                  <a:pt x="163" y="227"/>
                </a:lnTo>
                <a:lnTo>
                  <a:pt x="185" y="231"/>
                </a:lnTo>
                <a:lnTo>
                  <a:pt x="209" y="235"/>
                </a:lnTo>
                <a:lnTo>
                  <a:pt x="233" y="237"/>
                </a:lnTo>
                <a:lnTo>
                  <a:pt x="257" y="239"/>
                </a:lnTo>
                <a:lnTo>
                  <a:pt x="282" y="239"/>
                </a:lnTo>
                <a:lnTo>
                  <a:pt x="306" y="239"/>
                </a:lnTo>
                <a:lnTo>
                  <a:pt x="331" y="237"/>
                </a:lnTo>
                <a:lnTo>
                  <a:pt x="355" y="235"/>
                </a:lnTo>
                <a:lnTo>
                  <a:pt x="378" y="231"/>
                </a:lnTo>
                <a:lnTo>
                  <a:pt x="401" y="227"/>
                </a:lnTo>
                <a:lnTo>
                  <a:pt x="423" y="223"/>
                </a:lnTo>
                <a:lnTo>
                  <a:pt x="443" y="217"/>
                </a:lnTo>
                <a:lnTo>
                  <a:pt x="463" y="211"/>
                </a:lnTo>
                <a:lnTo>
                  <a:pt x="481" y="204"/>
                </a:lnTo>
                <a:lnTo>
                  <a:pt x="498" y="196"/>
                </a:lnTo>
                <a:lnTo>
                  <a:pt x="513" y="188"/>
                </a:lnTo>
                <a:lnTo>
                  <a:pt x="526" y="179"/>
                </a:lnTo>
                <a:lnTo>
                  <a:pt x="537" y="169"/>
                </a:lnTo>
                <a:lnTo>
                  <a:pt x="547" y="160"/>
                </a:lnTo>
                <a:lnTo>
                  <a:pt x="554" y="150"/>
                </a:lnTo>
                <a:lnTo>
                  <a:pt x="559" y="140"/>
                </a:lnTo>
                <a:lnTo>
                  <a:pt x="563" y="129"/>
                </a:lnTo>
                <a:lnTo>
                  <a:pt x="564" y="119"/>
                </a:lnTo>
                <a:lnTo>
                  <a:pt x="563" y="108"/>
                </a:lnTo>
                <a:lnTo>
                  <a:pt x="559" y="98"/>
                </a:lnTo>
                <a:lnTo>
                  <a:pt x="554" y="88"/>
                </a:lnTo>
                <a:lnTo>
                  <a:pt x="547" y="78"/>
                </a:lnTo>
                <a:lnTo>
                  <a:pt x="537" y="68"/>
                </a:lnTo>
                <a:lnTo>
                  <a:pt x="526" y="59"/>
                </a:lnTo>
                <a:lnTo>
                  <a:pt x="513" y="50"/>
                </a:lnTo>
                <a:lnTo>
                  <a:pt x="498" y="42"/>
                </a:lnTo>
                <a:lnTo>
                  <a:pt x="481" y="35"/>
                </a:lnTo>
                <a:lnTo>
                  <a:pt x="463" y="27"/>
                </a:lnTo>
                <a:lnTo>
                  <a:pt x="443" y="21"/>
                </a:lnTo>
                <a:lnTo>
                  <a:pt x="423" y="15"/>
                </a:lnTo>
                <a:lnTo>
                  <a:pt x="401" y="11"/>
                </a:lnTo>
                <a:lnTo>
                  <a:pt x="378" y="6"/>
                </a:lnTo>
                <a:lnTo>
                  <a:pt x="355" y="4"/>
                </a:lnTo>
                <a:lnTo>
                  <a:pt x="331" y="1"/>
                </a:lnTo>
                <a:lnTo>
                  <a:pt x="306" y="0"/>
                </a:lnTo>
                <a:lnTo>
                  <a:pt x="282" y="0"/>
                </a:lnTo>
                <a:lnTo>
                  <a:pt x="257" y="0"/>
                </a:lnTo>
                <a:lnTo>
                  <a:pt x="233" y="1"/>
                </a:lnTo>
                <a:lnTo>
                  <a:pt x="209" y="4"/>
                </a:lnTo>
                <a:lnTo>
                  <a:pt x="185" y="7"/>
                </a:lnTo>
                <a:lnTo>
                  <a:pt x="163" y="11"/>
                </a:lnTo>
                <a:lnTo>
                  <a:pt x="141" y="16"/>
                </a:lnTo>
                <a:lnTo>
                  <a:pt x="120" y="21"/>
                </a:lnTo>
                <a:lnTo>
                  <a:pt x="100" y="27"/>
                </a:lnTo>
                <a:lnTo>
                  <a:pt x="83" y="35"/>
                </a:lnTo>
                <a:lnTo>
                  <a:pt x="66" y="42"/>
                </a:lnTo>
                <a:lnTo>
                  <a:pt x="51" y="51"/>
                </a:lnTo>
                <a:lnTo>
                  <a:pt x="38" y="60"/>
                </a:lnTo>
                <a:lnTo>
                  <a:pt x="27" y="68"/>
                </a:lnTo>
                <a:lnTo>
                  <a:pt x="17" y="78"/>
                </a:lnTo>
                <a:lnTo>
                  <a:pt x="9" y="88"/>
                </a:lnTo>
                <a:lnTo>
                  <a:pt x="4" y="98"/>
                </a:lnTo>
                <a:lnTo>
                  <a:pt x="1"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Freeform 9">
            <a:extLst>
              <a:ext uri="{FF2B5EF4-FFF2-40B4-BE49-F238E27FC236}">
                <a16:creationId xmlns:a16="http://schemas.microsoft.com/office/drawing/2014/main" id="{8999E4F3-E3FE-C57B-0602-18CB5A685E7B}"/>
              </a:ext>
            </a:extLst>
          </p:cNvPr>
          <p:cNvSpPr>
            <a:spLocks/>
          </p:cNvSpPr>
          <p:nvPr/>
        </p:nvSpPr>
        <p:spPr bwMode="auto">
          <a:xfrm>
            <a:off x="2489200" y="4811712"/>
            <a:ext cx="1169987" cy="366713"/>
          </a:xfrm>
          <a:custGeom>
            <a:avLst/>
            <a:gdLst>
              <a:gd name="T0" fmla="*/ 736 w 737"/>
              <a:gd name="T1" fmla="*/ 105 h 231"/>
              <a:gd name="T2" fmla="*/ 724 w 737"/>
              <a:gd name="T3" fmla="*/ 85 h 231"/>
              <a:gd name="T4" fmla="*/ 702 w 737"/>
              <a:gd name="T5" fmla="*/ 67 h 231"/>
              <a:gd name="T6" fmla="*/ 670 w 737"/>
              <a:gd name="T7" fmla="*/ 48 h 231"/>
              <a:gd name="T8" fmla="*/ 628 w 737"/>
              <a:gd name="T9" fmla="*/ 33 h 231"/>
              <a:gd name="T10" fmla="*/ 579 w 737"/>
              <a:gd name="T11" fmla="*/ 21 h 231"/>
              <a:gd name="T12" fmla="*/ 524 w 737"/>
              <a:gd name="T13" fmla="*/ 10 h 231"/>
              <a:gd name="T14" fmla="*/ 464 w 737"/>
              <a:gd name="T15" fmla="*/ 3 h 231"/>
              <a:gd name="T16" fmla="*/ 400 w 737"/>
              <a:gd name="T17" fmla="*/ 0 h 231"/>
              <a:gd name="T18" fmla="*/ 336 w 737"/>
              <a:gd name="T19" fmla="*/ 0 h 231"/>
              <a:gd name="T20" fmla="*/ 274 w 737"/>
              <a:gd name="T21" fmla="*/ 3 h 231"/>
              <a:gd name="T22" fmla="*/ 214 w 737"/>
              <a:gd name="T23" fmla="*/ 10 h 231"/>
              <a:gd name="T24" fmla="*/ 157 w 737"/>
              <a:gd name="T25" fmla="*/ 21 h 231"/>
              <a:gd name="T26" fmla="*/ 108 w 737"/>
              <a:gd name="T27" fmla="*/ 33 h 231"/>
              <a:gd name="T28" fmla="*/ 66 w 737"/>
              <a:gd name="T29" fmla="*/ 48 h 231"/>
              <a:gd name="T30" fmla="*/ 35 w 737"/>
              <a:gd name="T31" fmla="*/ 67 h 231"/>
              <a:gd name="T32" fmla="*/ 13 w 737"/>
              <a:gd name="T33" fmla="*/ 85 h 231"/>
              <a:gd name="T34" fmla="*/ 1 w 737"/>
              <a:gd name="T35" fmla="*/ 105 h 231"/>
              <a:gd name="T36" fmla="*/ 1 w 737"/>
              <a:gd name="T37" fmla="*/ 125 h 231"/>
              <a:gd name="T38" fmla="*/ 13 w 737"/>
              <a:gd name="T39" fmla="*/ 144 h 231"/>
              <a:gd name="T40" fmla="*/ 35 w 737"/>
              <a:gd name="T41" fmla="*/ 163 h 231"/>
              <a:gd name="T42" fmla="*/ 66 w 737"/>
              <a:gd name="T43" fmla="*/ 181 h 231"/>
              <a:gd name="T44" fmla="*/ 108 w 737"/>
              <a:gd name="T45" fmla="*/ 196 h 231"/>
              <a:gd name="T46" fmla="*/ 157 w 737"/>
              <a:gd name="T47" fmla="*/ 208 h 231"/>
              <a:gd name="T48" fmla="*/ 214 w 737"/>
              <a:gd name="T49" fmla="*/ 219 h 231"/>
              <a:gd name="T50" fmla="*/ 274 w 737"/>
              <a:gd name="T51" fmla="*/ 226 h 231"/>
              <a:gd name="T52" fmla="*/ 336 w 737"/>
              <a:gd name="T53" fmla="*/ 229 h 231"/>
              <a:gd name="T54" fmla="*/ 400 w 737"/>
              <a:gd name="T55" fmla="*/ 229 h 231"/>
              <a:gd name="T56" fmla="*/ 464 w 737"/>
              <a:gd name="T57" fmla="*/ 226 h 231"/>
              <a:gd name="T58" fmla="*/ 524 w 737"/>
              <a:gd name="T59" fmla="*/ 219 h 231"/>
              <a:gd name="T60" fmla="*/ 579 w 737"/>
              <a:gd name="T61" fmla="*/ 208 h 231"/>
              <a:gd name="T62" fmla="*/ 628 w 737"/>
              <a:gd name="T63" fmla="*/ 196 h 231"/>
              <a:gd name="T64" fmla="*/ 670 w 737"/>
              <a:gd name="T65" fmla="*/ 181 h 231"/>
              <a:gd name="T66" fmla="*/ 702 w 737"/>
              <a:gd name="T67" fmla="*/ 163 h 231"/>
              <a:gd name="T68" fmla="*/ 724 w 737"/>
              <a:gd name="T69" fmla="*/ 144 h 231"/>
              <a:gd name="T70" fmla="*/ 736 w 737"/>
              <a:gd name="T71" fmla="*/ 12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7" h="231">
                <a:moveTo>
                  <a:pt x="736" y="115"/>
                </a:moveTo>
                <a:lnTo>
                  <a:pt x="736" y="105"/>
                </a:lnTo>
                <a:lnTo>
                  <a:pt x="730" y="94"/>
                </a:lnTo>
                <a:lnTo>
                  <a:pt x="724" y="85"/>
                </a:lnTo>
                <a:lnTo>
                  <a:pt x="715" y="75"/>
                </a:lnTo>
                <a:lnTo>
                  <a:pt x="702" y="67"/>
                </a:lnTo>
                <a:lnTo>
                  <a:pt x="687" y="57"/>
                </a:lnTo>
                <a:lnTo>
                  <a:pt x="670" y="48"/>
                </a:lnTo>
                <a:lnTo>
                  <a:pt x="651" y="41"/>
                </a:lnTo>
                <a:lnTo>
                  <a:pt x="628" y="33"/>
                </a:lnTo>
                <a:lnTo>
                  <a:pt x="605" y="27"/>
                </a:lnTo>
                <a:lnTo>
                  <a:pt x="579" y="21"/>
                </a:lnTo>
                <a:lnTo>
                  <a:pt x="552" y="15"/>
                </a:lnTo>
                <a:lnTo>
                  <a:pt x="524" y="10"/>
                </a:lnTo>
                <a:lnTo>
                  <a:pt x="494" y="7"/>
                </a:lnTo>
                <a:lnTo>
                  <a:pt x="464" y="3"/>
                </a:lnTo>
                <a:lnTo>
                  <a:pt x="433" y="1"/>
                </a:lnTo>
                <a:lnTo>
                  <a:pt x="400" y="0"/>
                </a:lnTo>
                <a:lnTo>
                  <a:pt x="368" y="0"/>
                </a:lnTo>
                <a:lnTo>
                  <a:pt x="336" y="0"/>
                </a:lnTo>
                <a:lnTo>
                  <a:pt x="305" y="1"/>
                </a:lnTo>
                <a:lnTo>
                  <a:pt x="274" y="3"/>
                </a:lnTo>
                <a:lnTo>
                  <a:pt x="242" y="7"/>
                </a:lnTo>
                <a:lnTo>
                  <a:pt x="214" y="10"/>
                </a:lnTo>
                <a:lnTo>
                  <a:pt x="184" y="15"/>
                </a:lnTo>
                <a:lnTo>
                  <a:pt x="157" y="21"/>
                </a:lnTo>
                <a:lnTo>
                  <a:pt x="131" y="27"/>
                </a:lnTo>
                <a:lnTo>
                  <a:pt x="108" y="33"/>
                </a:lnTo>
                <a:lnTo>
                  <a:pt x="86" y="41"/>
                </a:lnTo>
                <a:lnTo>
                  <a:pt x="66" y="48"/>
                </a:lnTo>
                <a:lnTo>
                  <a:pt x="50" y="57"/>
                </a:lnTo>
                <a:lnTo>
                  <a:pt x="35" y="67"/>
                </a:lnTo>
                <a:lnTo>
                  <a:pt x="23" y="75"/>
                </a:lnTo>
                <a:lnTo>
                  <a:pt x="13" y="85"/>
                </a:lnTo>
                <a:lnTo>
                  <a:pt x="6" y="94"/>
                </a:lnTo>
                <a:lnTo>
                  <a:pt x="1" y="105"/>
                </a:lnTo>
                <a:lnTo>
                  <a:pt x="0" y="115"/>
                </a:lnTo>
                <a:lnTo>
                  <a:pt x="1" y="125"/>
                </a:lnTo>
                <a:lnTo>
                  <a:pt x="6" y="135"/>
                </a:lnTo>
                <a:lnTo>
                  <a:pt x="13" y="144"/>
                </a:lnTo>
                <a:lnTo>
                  <a:pt x="23" y="154"/>
                </a:lnTo>
                <a:lnTo>
                  <a:pt x="35" y="163"/>
                </a:lnTo>
                <a:lnTo>
                  <a:pt x="50" y="172"/>
                </a:lnTo>
                <a:lnTo>
                  <a:pt x="66" y="181"/>
                </a:lnTo>
                <a:lnTo>
                  <a:pt x="86" y="188"/>
                </a:lnTo>
                <a:lnTo>
                  <a:pt x="108" y="196"/>
                </a:lnTo>
                <a:lnTo>
                  <a:pt x="131" y="203"/>
                </a:lnTo>
                <a:lnTo>
                  <a:pt x="157" y="208"/>
                </a:lnTo>
                <a:lnTo>
                  <a:pt x="184" y="214"/>
                </a:lnTo>
                <a:lnTo>
                  <a:pt x="214" y="219"/>
                </a:lnTo>
                <a:lnTo>
                  <a:pt x="242" y="223"/>
                </a:lnTo>
                <a:lnTo>
                  <a:pt x="274" y="226"/>
                </a:lnTo>
                <a:lnTo>
                  <a:pt x="305" y="228"/>
                </a:lnTo>
                <a:lnTo>
                  <a:pt x="336" y="229"/>
                </a:lnTo>
                <a:lnTo>
                  <a:pt x="368" y="230"/>
                </a:lnTo>
                <a:lnTo>
                  <a:pt x="400" y="229"/>
                </a:lnTo>
                <a:lnTo>
                  <a:pt x="433" y="228"/>
                </a:lnTo>
                <a:lnTo>
                  <a:pt x="464" y="226"/>
                </a:lnTo>
                <a:lnTo>
                  <a:pt x="494" y="223"/>
                </a:lnTo>
                <a:lnTo>
                  <a:pt x="524" y="219"/>
                </a:lnTo>
                <a:lnTo>
                  <a:pt x="552" y="214"/>
                </a:lnTo>
                <a:lnTo>
                  <a:pt x="579" y="208"/>
                </a:lnTo>
                <a:lnTo>
                  <a:pt x="605" y="203"/>
                </a:lnTo>
                <a:lnTo>
                  <a:pt x="628" y="196"/>
                </a:lnTo>
                <a:lnTo>
                  <a:pt x="651" y="188"/>
                </a:lnTo>
                <a:lnTo>
                  <a:pt x="670" y="181"/>
                </a:lnTo>
                <a:lnTo>
                  <a:pt x="687" y="172"/>
                </a:lnTo>
                <a:lnTo>
                  <a:pt x="702" y="163"/>
                </a:lnTo>
                <a:lnTo>
                  <a:pt x="715" y="154"/>
                </a:lnTo>
                <a:lnTo>
                  <a:pt x="724" y="144"/>
                </a:lnTo>
                <a:lnTo>
                  <a:pt x="730" y="135"/>
                </a:lnTo>
                <a:lnTo>
                  <a:pt x="736" y="125"/>
                </a:lnTo>
                <a:lnTo>
                  <a:pt x="736" y="115"/>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10">
            <a:extLst>
              <a:ext uri="{FF2B5EF4-FFF2-40B4-BE49-F238E27FC236}">
                <a16:creationId xmlns:a16="http://schemas.microsoft.com/office/drawing/2014/main" id="{0067E0CA-BB1E-BC66-E302-299D2E0947A2}"/>
              </a:ext>
            </a:extLst>
          </p:cNvPr>
          <p:cNvSpPr>
            <a:spLocks/>
          </p:cNvSpPr>
          <p:nvPr/>
        </p:nvSpPr>
        <p:spPr bwMode="auto">
          <a:xfrm>
            <a:off x="1676400" y="5184775"/>
            <a:ext cx="896937" cy="381000"/>
          </a:xfrm>
          <a:custGeom>
            <a:avLst/>
            <a:gdLst>
              <a:gd name="T0" fmla="*/ 563 w 565"/>
              <a:gd name="T1" fmla="*/ 109 h 240"/>
              <a:gd name="T2" fmla="*/ 555 w 565"/>
              <a:gd name="T3" fmla="*/ 88 h 240"/>
              <a:gd name="T4" fmla="*/ 538 w 565"/>
              <a:gd name="T5" fmla="*/ 68 h 240"/>
              <a:gd name="T6" fmla="*/ 513 w 565"/>
              <a:gd name="T7" fmla="*/ 51 h 240"/>
              <a:gd name="T8" fmla="*/ 481 w 565"/>
              <a:gd name="T9" fmla="*/ 35 h 240"/>
              <a:gd name="T10" fmla="*/ 444 w 565"/>
              <a:gd name="T11" fmla="*/ 21 h 240"/>
              <a:gd name="T12" fmla="*/ 401 w 565"/>
              <a:gd name="T13" fmla="*/ 11 h 240"/>
              <a:gd name="T14" fmla="*/ 355 w 565"/>
              <a:gd name="T15" fmla="*/ 4 h 240"/>
              <a:gd name="T16" fmla="*/ 306 w 565"/>
              <a:gd name="T17" fmla="*/ 0 h 240"/>
              <a:gd name="T18" fmla="*/ 258 w 565"/>
              <a:gd name="T19" fmla="*/ 0 h 240"/>
              <a:gd name="T20" fmla="*/ 209 w 565"/>
              <a:gd name="T21" fmla="*/ 4 h 240"/>
              <a:gd name="T22" fmla="*/ 163 w 565"/>
              <a:gd name="T23" fmla="*/ 11 h 240"/>
              <a:gd name="T24" fmla="*/ 120 w 565"/>
              <a:gd name="T25" fmla="*/ 21 h 240"/>
              <a:gd name="T26" fmla="*/ 83 w 565"/>
              <a:gd name="T27" fmla="*/ 35 h 240"/>
              <a:gd name="T28" fmla="*/ 51 w 565"/>
              <a:gd name="T29" fmla="*/ 51 h 240"/>
              <a:gd name="T30" fmla="*/ 27 w 565"/>
              <a:gd name="T31" fmla="*/ 68 h 240"/>
              <a:gd name="T32" fmla="*/ 9 w 565"/>
              <a:gd name="T33" fmla="*/ 88 h 240"/>
              <a:gd name="T34" fmla="*/ 1 w 565"/>
              <a:gd name="T35" fmla="*/ 109 h 240"/>
              <a:gd name="T36" fmla="*/ 1 w 565"/>
              <a:gd name="T37" fmla="*/ 129 h 240"/>
              <a:gd name="T38" fmla="*/ 9 w 565"/>
              <a:gd name="T39" fmla="*/ 150 h 240"/>
              <a:gd name="T40" fmla="*/ 27 w 565"/>
              <a:gd name="T41" fmla="*/ 170 h 240"/>
              <a:gd name="T42" fmla="*/ 51 w 565"/>
              <a:gd name="T43" fmla="*/ 188 h 240"/>
              <a:gd name="T44" fmla="*/ 83 w 565"/>
              <a:gd name="T45" fmla="*/ 204 h 240"/>
              <a:gd name="T46" fmla="*/ 120 w 565"/>
              <a:gd name="T47" fmla="*/ 217 h 240"/>
              <a:gd name="T48" fmla="*/ 163 w 565"/>
              <a:gd name="T49" fmla="*/ 227 h 240"/>
              <a:gd name="T50" fmla="*/ 209 w 565"/>
              <a:gd name="T51" fmla="*/ 235 h 240"/>
              <a:gd name="T52" fmla="*/ 258 w 565"/>
              <a:gd name="T53" fmla="*/ 239 h 240"/>
              <a:gd name="T54" fmla="*/ 306 w 565"/>
              <a:gd name="T55" fmla="*/ 239 h 240"/>
              <a:gd name="T56" fmla="*/ 355 w 565"/>
              <a:gd name="T57" fmla="*/ 235 h 240"/>
              <a:gd name="T58" fmla="*/ 401 w 565"/>
              <a:gd name="T59" fmla="*/ 227 h 240"/>
              <a:gd name="T60" fmla="*/ 444 w 565"/>
              <a:gd name="T61" fmla="*/ 217 h 240"/>
              <a:gd name="T62" fmla="*/ 481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6" y="60"/>
                </a:lnTo>
                <a:lnTo>
                  <a:pt x="513" y="51"/>
                </a:lnTo>
                <a:lnTo>
                  <a:pt x="498" y="42"/>
                </a:lnTo>
                <a:lnTo>
                  <a:pt x="481" y="35"/>
                </a:lnTo>
                <a:lnTo>
                  <a:pt x="464" y="27"/>
                </a:lnTo>
                <a:lnTo>
                  <a:pt x="444" y="21"/>
                </a:lnTo>
                <a:lnTo>
                  <a:pt x="423" y="15"/>
                </a:lnTo>
                <a:lnTo>
                  <a:pt x="401" y="11"/>
                </a:lnTo>
                <a:lnTo>
                  <a:pt x="379" y="7"/>
                </a:lnTo>
                <a:lnTo>
                  <a:pt x="355" y="4"/>
                </a:lnTo>
                <a:lnTo>
                  <a:pt x="331" y="1"/>
                </a:lnTo>
                <a:lnTo>
                  <a:pt x="306" y="0"/>
                </a:lnTo>
                <a:lnTo>
                  <a:pt x="282" y="0"/>
                </a:lnTo>
                <a:lnTo>
                  <a:pt x="258" y="0"/>
                </a:lnTo>
                <a:lnTo>
                  <a:pt x="233" y="1"/>
                </a:lnTo>
                <a:lnTo>
                  <a:pt x="209" y="4"/>
                </a:lnTo>
                <a:lnTo>
                  <a:pt x="185" y="7"/>
                </a:lnTo>
                <a:lnTo>
                  <a:pt x="163" y="11"/>
                </a:lnTo>
                <a:lnTo>
                  <a:pt x="141" y="15"/>
                </a:lnTo>
                <a:lnTo>
                  <a:pt x="120" y="21"/>
                </a:lnTo>
                <a:lnTo>
                  <a:pt x="101" y="27"/>
                </a:lnTo>
                <a:lnTo>
                  <a:pt x="83" y="35"/>
                </a:lnTo>
                <a:lnTo>
                  <a:pt x="66" y="42"/>
                </a:lnTo>
                <a:lnTo>
                  <a:pt x="51" y="51"/>
                </a:lnTo>
                <a:lnTo>
                  <a:pt x="38" y="60"/>
                </a:lnTo>
                <a:lnTo>
                  <a:pt x="27" y="68"/>
                </a:lnTo>
                <a:lnTo>
                  <a:pt x="17" y="78"/>
                </a:lnTo>
                <a:lnTo>
                  <a:pt x="9" y="88"/>
                </a:lnTo>
                <a:lnTo>
                  <a:pt x="4" y="98"/>
                </a:lnTo>
                <a:lnTo>
                  <a:pt x="1" y="109"/>
                </a:lnTo>
                <a:lnTo>
                  <a:pt x="0" y="119"/>
                </a:lnTo>
                <a:lnTo>
                  <a:pt x="1" y="129"/>
                </a:lnTo>
                <a:lnTo>
                  <a:pt x="4" y="140"/>
                </a:lnTo>
                <a:lnTo>
                  <a:pt x="9" y="150"/>
                </a:lnTo>
                <a:lnTo>
                  <a:pt x="17" y="160"/>
                </a:lnTo>
                <a:lnTo>
                  <a:pt x="27" y="170"/>
                </a:lnTo>
                <a:lnTo>
                  <a:pt x="38" y="179"/>
                </a:lnTo>
                <a:lnTo>
                  <a:pt x="51" y="188"/>
                </a:lnTo>
                <a:lnTo>
                  <a:pt x="66" y="196"/>
                </a:lnTo>
                <a:lnTo>
                  <a:pt x="83" y="204"/>
                </a:lnTo>
                <a:lnTo>
                  <a:pt x="101" y="211"/>
                </a:lnTo>
                <a:lnTo>
                  <a:pt x="120" y="217"/>
                </a:lnTo>
                <a:lnTo>
                  <a:pt x="141" y="223"/>
                </a:lnTo>
                <a:lnTo>
                  <a:pt x="163" y="227"/>
                </a:lnTo>
                <a:lnTo>
                  <a:pt x="185" y="231"/>
                </a:lnTo>
                <a:lnTo>
                  <a:pt x="209" y="235"/>
                </a:lnTo>
                <a:lnTo>
                  <a:pt x="233" y="237"/>
                </a:lnTo>
                <a:lnTo>
                  <a:pt x="258" y="239"/>
                </a:lnTo>
                <a:lnTo>
                  <a:pt x="282" y="239"/>
                </a:lnTo>
                <a:lnTo>
                  <a:pt x="306" y="239"/>
                </a:lnTo>
                <a:lnTo>
                  <a:pt x="331" y="237"/>
                </a:lnTo>
                <a:lnTo>
                  <a:pt x="355" y="235"/>
                </a:lnTo>
                <a:lnTo>
                  <a:pt x="379" y="231"/>
                </a:lnTo>
                <a:lnTo>
                  <a:pt x="401" y="227"/>
                </a:lnTo>
                <a:lnTo>
                  <a:pt x="423" y="223"/>
                </a:lnTo>
                <a:lnTo>
                  <a:pt x="444" y="217"/>
                </a:lnTo>
                <a:lnTo>
                  <a:pt x="464" y="211"/>
                </a:lnTo>
                <a:lnTo>
                  <a:pt x="481" y="204"/>
                </a:lnTo>
                <a:lnTo>
                  <a:pt x="498" y="196"/>
                </a:lnTo>
                <a:lnTo>
                  <a:pt x="513" y="188"/>
                </a:lnTo>
                <a:lnTo>
                  <a:pt x="526"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11">
            <a:extLst>
              <a:ext uri="{FF2B5EF4-FFF2-40B4-BE49-F238E27FC236}">
                <a16:creationId xmlns:a16="http://schemas.microsoft.com/office/drawing/2014/main" id="{461FEC43-E945-1607-C42B-E5D4A673D87C}"/>
              </a:ext>
            </a:extLst>
          </p:cNvPr>
          <p:cNvSpPr>
            <a:spLocks/>
          </p:cNvSpPr>
          <p:nvPr/>
        </p:nvSpPr>
        <p:spPr bwMode="auto">
          <a:xfrm>
            <a:off x="3321050" y="5184775"/>
            <a:ext cx="1133475" cy="381000"/>
          </a:xfrm>
          <a:custGeom>
            <a:avLst/>
            <a:gdLst>
              <a:gd name="T0" fmla="*/ 2 w 714"/>
              <a:gd name="T1" fmla="*/ 129 h 240"/>
              <a:gd name="T2" fmla="*/ 12 w 714"/>
              <a:gd name="T3" fmla="*/ 150 h 240"/>
              <a:gd name="T4" fmla="*/ 34 w 714"/>
              <a:gd name="T5" fmla="*/ 170 h 240"/>
              <a:gd name="T6" fmla="*/ 64 w 714"/>
              <a:gd name="T7" fmla="*/ 188 h 240"/>
              <a:gd name="T8" fmla="*/ 104 w 714"/>
              <a:gd name="T9" fmla="*/ 204 h 240"/>
              <a:gd name="T10" fmla="*/ 152 w 714"/>
              <a:gd name="T11" fmla="*/ 217 h 240"/>
              <a:gd name="T12" fmla="*/ 206 w 714"/>
              <a:gd name="T13" fmla="*/ 227 h 240"/>
              <a:gd name="T14" fmla="*/ 265 w 714"/>
              <a:gd name="T15" fmla="*/ 235 h 240"/>
              <a:gd name="T16" fmla="*/ 326 w 714"/>
              <a:gd name="T17" fmla="*/ 239 h 240"/>
              <a:gd name="T18" fmla="*/ 388 w 714"/>
              <a:gd name="T19" fmla="*/ 239 h 240"/>
              <a:gd name="T20" fmla="*/ 450 w 714"/>
              <a:gd name="T21" fmla="*/ 235 h 240"/>
              <a:gd name="T22" fmla="*/ 508 w 714"/>
              <a:gd name="T23" fmla="*/ 227 h 240"/>
              <a:gd name="T24" fmla="*/ 561 w 714"/>
              <a:gd name="T25" fmla="*/ 217 h 240"/>
              <a:gd name="T26" fmla="*/ 609 w 714"/>
              <a:gd name="T27" fmla="*/ 204 h 240"/>
              <a:gd name="T28" fmla="*/ 648 w 714"/>
              <a:gd name="T29" fmla="*/ 188 h 240"/>
              <a:gd name="T30" fmla="*/ 680 w 714"/>
              <a:gd name="T31" fmla="*/ 169 h 240"/>
              <a:gd name="T32" fmla="*/ 701 w 714"/>
              <a:gd name="T33" fmla="*/ 150 h 240"/>
              <a:gd name="T34" fmla="*/ 711 w 714"/>
              <a:gd name="T35" fmla="*/ 129 h 240"/>
              <a:gd name="T36" fmla="*/ 711 w 714"/>
              <a:gd name="T37" fmla="*/ 108 h 240"/>
              <a:gd name="T38" fmla="*/ 701 w 714"/>
              <a:gd name="T39" fmla="*/ 88 h 240"/>
              <a:gd name="T40" fmla="*/ 680 w 714"/>
              <a:gd name="T41" fmla="*/ 68 h 240"/>
              <a:gd name="T42" fmla="*/ 648 w 714"/>
              <a:gd name="T43" fmla="*/ 50 h 240"/>
              <a:gd name="T44" fmla="*/ 609 w 714"/>
              <a:gd name="T45" fmla="*/ 35 h 240"/>
              <a:gd name="T46" fmla="*/ 561 w 714"/>
              <a:gd name="T47" fmla="*/ 21 h 240"/>
              <a:gd name="T48" fmla="*/ 508 w 714"/>
              <a:gd name="T49" fmla="*/ 11 h 240"/>
              <a:gd name="T50" fmla="*/ 448 w 714"/>
              <a:gd name="T51" fmla="*/ 4 h 240"/>
              <a:gd name="T52" fmla="*/ 388 w 714"/>
              <a:gd name="T53" fmla="*/ 0 h 240"/>
              <a:gd name="T54" fmla="*/ 326 w 714"/>
              <a:gd name="T55" fmla="*/ 0 h 240"/>
              <a:gd name="T56" fmla="*/ 264 w 714"/>
              <a:gd name="T57" fmla="*/ 4 h 240"/>
              <a:gd name="T58" fmla="*/ 206 w 714"/>
              <a:gd name="T59" fmla="*/ 11 h 240"/>
              <a:gd name="T60" fmla="*/ 152 w 714"/>
              <a:gd name="T61" fmla="*/ 21 h 240"/>
              <a:gd name="T62" fmla="*/ 104 w 714"/>
              <a:gd name="T63" fmla="*/ 35 h 240"/>
              <a:gd name="T64" fmla="*/ 64 w 714"/>
              <a:gd name="T65" fmla="*/ 51 h 240"/>
              <a:gd name="T66" fmla="*/ 34 w 714"/>
              <a:gd name="T67" fmla="*/ 68 h 240"/>
              <a:gd name="T68" fmla="*/ 12 w 714"/>
              <a:gd name="T69" fmla="*/ 88 h 240"/>
              <a:gd name="T70" fmla="*/ 2 w 714"/>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14" h="240">
                <a:moveTo>
                  <a:pt x="0" y="119"/>
                </a:moveTo>
                <a:lnTo>
                  <a:pt x="2" y="129"/>
                </a:lnTo>
                <a:lnTo>
                  <a:pt x="6" y="140"/>
                </a:lnTo>
                <a:lnTo>
                  <a:pt x="12" y="150"/>
                </a:lnTo>
                <a:lnTo>
                  <a:pt x="22" y="160"/>
                </a:lnTo>
                <a:lnTo>
                  <a:pt x="34" y="170"/>
                </a:lnTo>
                <a:lnTo>
                  <a:pt x="48" y="179"/>
                </a:lnTo>
                <a:lnTo>
                  <a:pt x="64" y="188"/>
                </a:lnTo>
                <a:lnTo>
                  <a:pt x="83" y="196"/>
                </a:lnTo>
                <a:lnTo>
                  <a:pt x="104" y="204"/>
                </a:lnTo>
                <a:lnTo>
                  <a:pt x="127" y="211"/>
                </a:lnTo>
                <a:lnTo>
                  <a:pt x="152" y="217"/>
                </a:lnTo>
                <a:lnTo>
                  <a:pt x="178" y="223"/>
                </a:lnTo>
                <a:lnTo>
                  <a:pt x="206" y="227"/>
                </a:lnTo>
                <a:lnTo>
                  <a:pt x="235" y="231"/>
                </a:lnTo>
                <a:lnTo>
                  <a:pt x="265" y="235"/>
                </a:lnTo>
                <a:lnTo>
                  <a:pt x="295" y="237"/>
                </a:lnTo>
                <a:lnTo>
                  <a:pt x="326" y="239"/>
                </a:lnTo>
                <a:lnTo>
                  <a:pt x="356" y="239"/>
                </a:lnTo>
                <a:lnTo>
                  <a:pt x="388" y="239"/>
                </a:lnTo>
                <a:lnTo>
                  <a:pt x="418" y="237"/>
                </a:lnTo>
                <a:lnTo>
                  <a:pt x="450" y="235"/>
                </a:lnTo>
                <a:lnTo>
                  <a:pt x="479" y="231"/>
                </a:lnTo>
                <a:lnTo>
                  <a:pt x="508" y="227"/>
                </a:lnTo>
                <a:lnTo>
                  <a:pt x="534" y="223"/>
                </a:lnTo>
                <a:lnTo>
                  <a:pt x="561" y="217"/>
                </a:lnTo>
                <a:lnTo>
                  <a:pt x="586" y="211"/>
                </a:lnTo>
                <a:lnTo>
                  <a:pt x="609" y="204"/>
                </a:lnTo>
                <a:lnTo>
                  <a:pt x="629" y="196"/>
                </a:lnTo>
                <a:lnTo>
                  <a:pt x="648" y="188"/>
                </a:lnTo>
                <a:lnTo>
                  <a:pt x="666" y="179"/>
                </a:lnTo>
                <a:lnTo>
                  <a:pt x="680" y="169"/>
                </a:lnTo>
                <a:lnTo>
                  <a:pt x="691" y="160"/>
                </a:lnTo>
                <a:lnTo>
                  <a:pt x="701" y="150"/>
                </a:lnTo>
                <a:lnTo>
                  <a:pt x="707" y="140"/>
                </a:lnTo>
                <a:lnTo>
                  <a:pt x="711" y="129"/>
                </a:lnTo>
                <a:lnTo>
                  <a:pt x="713" y="119"/>
                </a:lnTo>
                <a:lnTo>
                  <a:pt x="711" y="108"/>
                </a:lnTo>
                <a:lnTo>
                  <a:pt x="707" y="98"/>
                </a:lnTo>
                <a:lnTo>
                  <a:pt x="701" y="88"/>
                </a:lnTo>
                <a:lnTo>
                  <a:pt x="691" y="78"/>
                </a:lnTo>
                <a:lnTo>
                  <a:pt x="680" y="68"/>
                </a:lnTo>
                <a:lnTo>
                  <a:pt x="666" y="59"/>
                </a:lnTo>
                <a:lnTo>
                  <a:pt x="648" y="50"/>
                </a:lnTo>
                <a:lnTo>
                  <a:pt x="629" y="42"/>
                </a:lnTo>
                <a:lnTo>
                  <a:pt x="609" y="35"/>
                </a:lnTo>
                <a:lnTo>
                  <a:pt x="585" y="27"/>
                </a:lnTo>
                <a:lnTo>
                  <a:pt x="561" y="21"/>
                </a:lnTo>
                <a:lnTo>
                  <a:pt x="534" y="15"/>
                </a:lnTo>
                <a:lnTo>
                  <a:pt x="508" y="11"/>
                </a:lnTo>
                <a:lnTo>
                  <a:pt x="479" y="6"/>
                </a:lnTo>
                <a:lnTo>
                  <a:pt x="448" y="4"/>
                </a:lnTo>
                <a:lnTo>
                  <a:pt x="418" y="1"/>
                </a:lnTo>
                <a:lnTo>
                  <a:pt x="388" y="0"/>
                </a:lnTo>
                <a:lnTo>
                  <a:pt x="356" y="0"/>
                </a:lnTo>
                <a:lnTo>
                  <a:pt x="326" y="0"/>
                </a:lnTo>
                <a:lnTo>
                  <a:pt x="295" y="1"/>
                </a:lnTo>
                <a:lnTo>
                  <a:pt x="264" y="4"/>
                </a:lnTo>
                <a:lnTo>
                  <a:pt x="235" y="7"/>
                </a:lnTo>
                <a:lnTo>
                  <a:pt x="206" y="11"/>
                </a:lnTo>
                <a:lnTo>
                  <a:pt x="178" y="16"/>
                </a:lnTo>
                <a:lnTo>
                  <a:pt x="152" y="21"/>
                </a:lnTo>
                <a:lnTo>
                  <a:pt x="127" y="27"/>
                </a:lnTo>
                <a:lnTo>
                  <a:pt x="104" y="35"/>
                </a:lnTo>
                <a:lnTo>
                  <a:pt x="83" y="42"/>
                </a:lnTo>
                <a:lnTo>
                  <a:pt x="64" y="51"/>
                </a:lnTo>
                <a:lnTo>
                  <a:pt x="48" y="60"/>
                </a:lnTo>
                <a:lnTo>
                  <a:pt x="34" y="68"/>
                </a:lnTo>
                <a:lnTo>
                  <a:pt x="22" y="78"/>
                </a:lnTo>
                <a:lnTo>
                  <a:pt x="12" y="88"/>
                </a:lnTo>
                <a:lnTo>
                  <a:pt x="6" y="98"/>
                </a:lnTo>
                <a:lnTo>
                  <a:pt x="2"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F83B6609-412B-0864-52EA-6A9085B46478}"/>
              </a:ext>
            </a:extLst>
          </p:cNvPr>
          <p:cNvSpPr>
            <a:spLocks/>
          </p:cNvSpPr>
          <p:nvPr/>
        </p:nvSpPr>
        <p:spPr bwMode="auto">
          <a:xfrm>
            <a:off x="5614987" y="4903787"/>
            <a:ext cx="896938" cy="382588"/>
          </a:xfrm>
          <a:custGeom>
            <a:avLst/>
            <a:gdLst>
              <a:gd name="T0" fmla="*/ 563 w 565"/>
              <a:gd name="T1" fmla="*/ 110 h 241"/>
              <a:gd name="T2" fmla="*/ 554 w 565"/>
              <a:gd name="T3" fmla="*/ 89 h 241"/>
              <a:gd name="T4" fmla="*/ 538 w 565"/>
              <a:gd name="T5" fmla="*/ 70 h 241"/>
              <a:gd name="T6" fmla="*/ 513 w 565"/>
              <a:gd name="T7" fmla="*/ 51 h 241"/>
              <a:gd name="T8" fmla="*/ 482 w 565"/>
              <a:gd name="T9" fmla="*/ 35 h 241"/>
              <a:gd name="T10" fmla="*/ 444 w 565"/>
              <a:gd name="T11" fmla="*/ 22 h 241"/>
              <a:gd name="T12" fmla="*/ 401 w 565"/>
              <a:gd name="T13" fmla="*/ 11 h 241"/>
              <a:gd name="T14" fmla="*/ 355 w 565"/>
              <a:gd name="T15" fmla="*/ 4 h 241"/>
              <a:gd name="T16" fmla="*/ 307 w 565"/>
              <a:gd name="T17" fmla="*/ 1 h 241"/>
              <a:gd name="T18" fmla="*/ 257 w 565"/>
              <a:gd name="T19" fmla="*/ 1 h 241"/>
              <a:gd name="T20" fmla="*/ 209 w 565"/>
              <a:gd name="T21" fmla="*/ 4 h 241"/>
              <a:gd name="T22" fmla="*/ 163 w 565"/>
              <a:gd name="T23" fmla="*/ 11 h 241"/>
              <a:gd name="T24" fmla="*/ 120 w 565"/>
              <a:gd name="T25" fmla="*/ 22 h 241"/>
              <a:gd name="T26" fmla="*/ 83 w 565"/>
              <a:gd name="T27" fmla="*/ 35 h 241"/>
              <a:gd name="T28" fmla="*/ 51 w 565"/>
              <a:gd name="T29" fmla="*/ 51 h 241"/>
              <a:gd name="T30" fmla="*/ 26 w 565"/>
              <a:gd name="T31" fmla="*/ 70 h 241"/>
              <a:gd name="T32" fmla="*/ 10 w 565"/>
              <a:gd name="T33" fmla="*/ 89 h 241"/>
              <a:gd name="T34" fmla="*/ 1 w 565"/>
              <a:gd name="T35" fmla="*/ 110 h 241"/>
              <a:gd name="T36" fmla="*/ 1 w 565"/>
              <a:gd name="T37" fmla="*/ 131 h 241"/>
              <a:gd name="T38" fmla="*/ 10 w 565"/>
              <a:gd name="T39" fmla="*/ 151 h 241"/>
              <a:gd name="T40" fmla="*/ 26 w 565"/>
              <a:gd name="T41" fmla="*/ 171 h 241"/>
              <a:gd name="T42" fmla="*/ 51 w 565"/>
              <a:gd name="T43" fmla="*/ 189 h 241"/>
              <a:gd name="T44" fmla="*/ 83 w 565"/>
              <a:gd name="T45" fmla="*/ 205 h 241"/>
              <a:gd name="T46" fmla="*/ 120 w 565"/>
              <a:gd name="T47" fmla="*/ 218 h 241"/>
              <a:gd name="T48" fmla="*/ 163 w 565"/>
              <a:gd name="T49" fmla="*/ 229 h 241"/>
              <a:gd name="T50" fmla="*/ 209 w 565"/>
              <a:gd name="T51" fmla="*/ 236 h 241"/>
              <a:gd name="T52" fmla="*/ 257 w 565"/>
              <a:gd name="T53" fmla="*/ 239 h 241"/>
              <a:gd name="T54" fmla="*/ 307 w 565"/>
              <a:gd name="T55" fmla="*/ 239 h 241"/>
              <a:gd name="T56" fmla="*/ 355 w 565"/>
              <a:gd name="T57" fmla="*/ 236 h 241"/>
              <a:gd name="T58" fmla="*/ 401 w 565"/>
              <a:gd name="T59" fmla="*/ 229 h 241"/>
              <a:gd name="T60" fmla="*/ 444 w 565"/>
              <a:gd name="T61" fmla="*/ 218 h 241"/>
              <a:gd name="T62" fmla="*/ 482 w 565"/>
              <a:gd name="T63" fmla="*/ 205 h 241"/>
              <a:gd name="T64" fmla="*/ 513 w 565"/>
              <a:gd name="T65" fmla="*/ 189 h 241"/>
              <a:gd name="T66" fmla="*/ 538 w 565"/>
              <a:gd name="T67" fmla="*/ 171 h 241"/>
              <a:gd name="T68" fmla="*/ 554 w 565"/>
              <a:gd name="T69" fmla="*/ 151 h 241"/>
              <a:gd name="T70" fmla="*/ 563 w 565"/>
              <a:gd name="T71" fmla="*/ 13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1">
                <a:moveTo>
                  <a:pt x="564" y="120"/>
                </a:moveTo>
                <a:lnTo>
                  <a:pt x="563" y="110"/>
                </a:lnTo>
                <a:lnTo>
                  <a:pt x="560" y="99"/>
                </a:lnTo>
                <a:lnTo>
                  <a:pt x="554" y="89"/>
                </a:lnTo>
                <a:lnTo>
                  <a:pt x="547" y="79"/>
                </a:lnTo>
                <a:lnTo>
                  <a:pt x="538" y="70"/>
                </a:lnTo>
                <a:lnTo>
                  <a:pt x="526" y="60"/>
                </a:lnTo>
                <a:lnTo>
                  <a:pt x="513" y="51"/>
                </a:lnTo>
                <a:lnTo>
                  <a:pt x="498" y="43"/>
                </a:lnTo>
                <a:lnTo>
                  <a:pt x="482" y="35"/>
                </a:lnTo>
                <a:lnTo>
                  <a:pt x="463" y="29"/>
                </a:lnTo>
                <a:lnTo>
                  <a:pt x="444" y="22"/>
                </a:lnTo>
                <a:lnTo>
                  <a:pt x="423" y="16"/>
                </a:lnTo>
                <a:lnTo>
                  <a:pt x="401" y="11"/>
                </a:lnTo>
                <a:lnTo>
                  <a:pt x="378" y="8"/>
                </a:lnTo>
                <a:lnTo>
                  <a:pt x="355" y="4"/>
                </a:lnTo>
                <a:lnTo>
                  <a:pt x="331" y="2"/>
                </a:lnTo>
                <a:lnTo>
                  <a:pt x="307" y="1"/>
                </a:lnTo>
                <a:lnTo>
                  <a:pt x="282" y="0"/>
                </a:lnTo>
                <a:lnTo>
                  <a:pt x="257" y="1"/>
                </a:lnTo>
                <a:lnTo>
                  <a:pt x="233" y="2"/>
                </a:lnTo>
                <a:lnTo>
                  <a:pt x="209" y="4"/>
                </a:lnTo>
                <a:lnTo>
                  <a:pt x="186" y="8"/>
                </a:lnTo>
                <a:lnTo>
                  <a:pt x="163" y="11"/>
                </a:lnTo>
                <a:lnTo>
                  <a:pt x="141" y="16"/>
                </a:lnTo>
                <a:lnTo>
                  <a:pt x="120" y="22"/>
                </a:lnTo>
                <a:lnTo>
                  <a:pt x="101" y="29"/>
                </a:lnTo>
                <a:lnTo>
                  <a:pt x="83" y="35"/>
                </a:lnTo>
                <a:lnTo>
                  <a:pt x="66" y="43"/>
                </a:lnTo>
                <a:lnTo>
                  <a:pt x="51" y="51"/>
                </a:lnTo>
                <a:lnTo>
                  <a:pt x="38" y="60"/>
                </a:lnTo>
                <a:lnTo>
                  <a:pt x="26" y="70"/>
                </a:lnTo>
                <a:lnTo>
                  <a:pt x="17" y="79"/>
                </a:lnTo>
                <a:lnTo>
                  <a:pt x="10" y="89"/>
                </a:lnTo>
                <a:lnTo>
                  <a:pt x="4" y="99"/>
                </a:lnTo>
                <a:lnTo>
                  <a:pt x="1" y="110"/>
                </a:lnTo>
                <a:lnTo>
                  <a:pt x="0" y="120"/>
                </a:lnTo>
                <a:lnTo>
                  <a:pt x="1" y="131"/>
                </a:lnTo>
                <a:lnTo>
                  <a:pt x="4" y="141"/>
                </a:lnTo>
                <a:lnTo>
                  <a:pt x="10" y="151"/>
                </a:lnTo>
                <a:lnTo>
                  <a:pt x="17" y="161"/>
                </a:lnTo>
                <a:lnTo>
                  <a:pt x="26" y="171"/>
                </a:lnTo>
                <a:lnTo>
                  <a:pt x="38" y="180"/>
                </a:lnTo>
                <a:lnTo>
                  <a:pt x="51" y="189"/>
                </a:lnTo>
                <a:lnTo>
                  <a:pt x="66" y="197"/>
                </a:lnTo>
                <a:lnTo>
                  <a:pt x="83" y="205"/>
                </a:lnTo>
                <a:lnTo>
                  <a:pt x="101" y="212"/>
                </a:lnTo>
                <a:lnTo>
                  <a:pt x="120" y="218"/>
                </a:lnTo>
                <a:lnTo>
                  <a:pt x="141" y="224"/>
                </a:lnTo>
                <a:lnTo>
                  <a:pt x="163" y="229"/>
                </a:lnTo>
                <a:lnTo>
                  <a:pt x="186" y="233"/>
                </a:lnTo>
                <a:lnTo>
                  <a:pt x="209" y="236"/>
                </a:lnTo>
                <a:lnTo>
                  <a:pt x="233" y="238"/>
                </a:lnTo>
                <a:lnTo>
                  <a:pt x="257" y="239"/>
                </a:lnTo>
                <a:lnTo>
                  <a:pt x="282" y="240"/>
                </a:lnTo>
                <a:lnTo>
                  <a:pt x="307" y="239"/>
                </a:lnTo>
                <a:lnTo>
                  <a:pt x="331" y="238"/>
                </a:lnTo>
                <a:lnTo>
                  <a:pt x="355" y="236"/>
                </a:lnTo>
                <a:lnTo>
                  <a:pt x="378" y="233"/>
                </a:lnTo>
                <a:lnTo>
                  <a:pt x="401" y="229"/>
                </a:lnTo>
                <a:lnTo>
                  <a:pt x="423" y="224"/>
                </a:lnTo>
                <a:lnTo>
                  <a:pt x="444" y="218"/>
                </a:lnTo>
                <a:lnTo>
                  <a:pt x="463" y="212"/>
                </a:lnTo>
                <a:lnTo>
                  <a:pt x="482" y="205"/>
                </a:lnTo>
                <a:lnTo>
                  <a:pt x="498" y="197"/>
                </a:lnTo>
                <a:lnTo>
                  <a:pt x="513" y="189"/>
                </a:lnTo>
                <a:lnTo>
                  <a:pt x="526" y="180"/>
                </a:lnTo>
                <a:lnTo>
                  <a:pt x="538" y="171"/>
                </a:lnTo>
                <a:lnTo>
                  <a:pt x="547" y="161"/>
                </a:lnTo>
                <a:lnTo>
                  <a:pt x="554" y="151"/>
                </a:lnTo>
                <a:lnTo>
                  <a:pt x="560" y="141"/>
                </a:lnTo>
                <a:lnTo>
                  <a:pt x="563" y="131"/>
                </a:lnTo>
                <a:lnTo>
                  <a:pt x="564"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319C084F-1CAC-B1E6-BCF5-668DA34CA242}"/>
              </a:ext>
            </a:extLst>
          </p:cNvPr>
          <p:cNvSpPr>
            <a:spLocks/>
          </p:cNvSpPr>
          <p:nvPr/>
        </p:nvSpPr>
        <p:spPr bwMode="auto">
          <a:xfrm>
            <a:off x="5353050" y="3775075"/>
            <a:ext cx="898525" cy="382587"/>
          </a:xfrm>
          <a:custGeom>
            <a:avLst/>
            <a:gdLst>
              <a:gd name="T0" fmla="*/ 563 w 566"/>
              <a:gd name="T1" fmla="*/ 109 h 241"/>
              <a:gd name="T2" fmla="*/ 555 w 566"/>
              <a:gd name="T3" fmla="*/ 89 h 241"/>
              <a:gd name="T4" fmla="*/ 538 w 566"/>
              <a:gd name="T5" fmla="*/ 69 h 241"/>
              <a:gd name="T6" fmla="*/ 513 w 566"/>
              <a:gd name="T7" fmla="*/ 51 h 241"/>
              <a:gd name="T8" fmla="*/ 482 w 566"/>
              <a:gd name="T9" fmla="*/ 35 h 241"/>
              <a:gd name="T10" fmla="*/ 444 w 566"/>
              <a:gd name="T11" fmla="*/ 22 h 241"/>
              <a:gd name="T12" fmla="*/ 401 w 566"/>
              <a:gd name="T13" fmla="*/ 12 h 241"/>
              <a:gd name="T14" fmla="*/ 355 w 566"/>
              <a:gd name="T15" fmla="*/ 4 h 241"/>
              <a:gd name="T16" fmla="*/ 307 w 566"/>
              <a:gd name="T17" fmla="*/ 1 h 241"/>
              <a:gd name="T18" fmla="*/ 258 w 566"/>
              <a:gd name="T19" fmla="*/ 1 h 241"/>
              <a:gd name="T20" fmla="*/ 209 w 566"/>
              <a:gd name="T21" fmla="*/ 4 h 241"/>
              <a:gd name="T22" fmla="*/ 163 w 566"/>
              <a:gd name="T23" fmla="*/ 12 h 241"/>
              <a:gd name="T24" fmla="*/ 120 w 566"/>
              <a:gd name="T25" fmla="*/ 22 h 241"/>
              <a:gd name="T26" fmla="*/ 83 w 566"/>
              <a:gd name="T27" fmla="*/ 35 h 241"/>
              <a:gd name="T28" fmla="*/ 51 w 566"/>
              <a:gd name="T29" fmla="*/ 51 h 241"/>
              <a:gd name="T30" fmla="*/ 27 w 566"/>
              <a:gd name="T31" fmla="*/ 69 h 241"/>
              <a:gd name="T32" fmla="*/ 10 w 566"/>
              <a:gd name="T33" fmla="*/ 89 h 241"/>
              <a:gd name="T34" fmla="*/ 2 w 566"/>
              <a:gd name="T35" fmla="*/ 109 h 241"/>
              <a:gd name="T36" fmla="*/ 2 w 566"/>
              <a:gd name="T37" fmla="*/ 130 h 241"/>
              <a:gd name="T38" fmla="*/ 10 w 566"/>
              <a:gd name="T39" fmla="*/ 151 h 241"/>
              <a:gd name="T40" fmla="*/ 27 w 566"/>
              <a:gd name="T41" fmla="*/ 170 h 241"/>
              <a:gd name="T42" fmla="*/ 51 w 566"/>
              <a:gd name="T43" fmla="*/ 188 h 241"/>
              <a:gd name="T44" fmla="*/ 83 w 566"/>
              <a:gd name="T45" fmla="*/ 205 h 241"/>
              <a:gd name="T46" fmla="*/ 120 w 566"/>
              <a:gd name="T47" fmla="*/ 218 h 241"/>
              <a:gd name="T48" fmla="*/ 163 w 566"/>
              <a:gd name="T49" fmla="*/ 228 h 241"/>
              <a:gd name="T50" fmla="*/ 209 w 566"/>
              <a:gd name="T51" fmla="*/ 236 h 241"/>
              <a:gd name="T52" fmla="*/ 258 w 566"/>
              <a:gd name="T53" fmla="*/ 239 h 241"/>
              <a:gd name="T54" fmla="*/ 307 w 566"/>
              <a:gd name="T55" fmla="*/ 239 h 241"/>
              <a:gd name="T56" fmla="*/ 355 w 566"/>
              <a:gd name="T57" fmla="*/ 236 h 241"/>
              <a:gd name="T58" fmla="*/ 401 w 566"/>
              <a:gd name="T59" fmla="*/ 228 h 241"/>
              <a:gd name="T60" fmla="*/ 444 w 566"/>
              <a:gd name="T61" fmla="*/ 218 h 241"/>
              <a:gd name="T62" fmla="*/ 482 w 566"/>
              <a:gd name="T63" fmla="*/ 205 h 241"/>
              <a:gd name="T64" fmla="*/ 513 w 566"/>
              <a:gd name="T65" fmla="*/ 188 h 241"/>
              <a:gd name="T66" fmla="*/ 538 w 566"/>
              <a:gd name="T67" fmla="*/ 170 h 241"/>
              <a:gd name="T68" fmla="*/ 555 w 566"/>
              <a:gd name="T69" fmla="*/ 151 h 241"/>
              <a:gd name="T70" fmla="*/ 563 w 566"/>
              <a:gd name="T71" fmla="*/ 13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6" h="241">
                <a:moveTo>
                  <a:pt x="565" y="120"/>
                </a:moveTo>
                <a:lnTo>
                  <a:pt x="563" y="109"/>
                </a:lnTo>
                <a:lnTo>
                  <a:pt x="560" y="99"/>
                </a:lnTo>
                <a:lnTo>
                  <a:pt x="555" y="89"/>
                </a:lnTo>
                <a:lnTo>
                  <a:pt x="547" y="79"/>
                </a:lnTo>
                <a:lnTo>
                  <a:pt x="538" y="69"/>
                </a:lnTo>
                <a:lnTo>
                  <a:pt x="527" y="60"/>
                </a:lnTo>
                <a:lnTo>
                  <a:pt x="513" y="51"/>
                </a:lnTo>
                <a:lnTo>
                  <a:pt x="498" y="43"/>
                </a:lnTo>
                <a:lnTo>
                  <a:pt x="482" y="35"/>
                </a:lnTo>
                <a:lnTo>
                  <a:pt x="463" y="28"/>
                </a:lnTo>
                <a:lnTo>
                  <a:pt x="444" y="22"/>
                </a:lnTo>
                <a:lnTo>
                  <a:pt x="424" y="16"/>
                </a:lnTo>
                <a:lnTo>
                  <a:pt x="401" y="12"/>
                </a:lnTo>
                <a:lnTo>
                  <a:pt x="379" y="7"/>
                </a:lnTo>
                <a:lnTo>
                  <a:pt x="355" y="4"/>
                </a:lnTo>
                <a:lnTo>
                  <a:pt x="331" y="2"/>
                </a:lnTo>
                <a:lnTo>
                  <a:pt x="307" y="1"/>
                </a:lnTo>
                <a:lnTo>
                  <a:pt x="282" y="0"/>
                </a:lnTo>
                <a:lnTo>
                  <a:pt x="258" y="1"/>
                </a:lnTo>
                <a:lnTo>
                  <a:pt x="233" y="2"/>
                </a:lnTo>
                <a:lnTo>
                  <a:pt x="209" y="4"/>
                </a:lnTo>
                <a:lnTo>
                  <a:pt x="186" y="7"/>
                </a:lnTo>
                <a:lnTo>
                  <a:pt x="163" y="12"/>
                </a:lnTo>
                <a:lnTo>
                  <a:pt x="141" y="16"/>
                </a:lnTo>
                <a:lnTo>
                  <a:pt x="120" y="22"/>
                </a:lnTo>
                <a:lnTo>
                  <a:pt x="101" y="28"/>
                </a:lnTo>
                <a:lnTo>
                  <a:pt x="83" y="35"/>
                </a:lnTo>
                <a:lnTo>
                  <a:pt x="66" y="43"/>
                </a:lnTo>
                <a:lnTo>
                  <a:pt x="51" y="51"/>
                </a:lnTo>
                <a:lnTo>
                  <a:pt x="38" y="60"/>
                </a:lnTo>
                <a:lnTo>
                  <a:pt x="27" y="69"/>
                </a:lnTo>
                <a:lnTo>
                  <a:pt x="17" y="79"/>
                </a:lnTo>
                <a:lnTo>
                  <a:pt x="10" y="89"/>
                </a:lnTo>
                <a:lnTo>
                  <a:pt x="4" y="99"/>
                </a:lnTo>
                <a:lnTo>
                  <a:pt x="2" y="109"/>
                </a:lnTo>
                <a:lnTo>
                  <a:pt x="0" y="120"/>
                </a:lnTo>
                <a:lnTo>
                  <a:pt x="2" y="130"/>
                </a:lnTo>
                <a:lnTo>
                  <a:pt x="4" y="141"/>
                </a:lnTo>
                <a:lnTo>
                  <a:pt x="10" y="151"/>
                </a:lnTo>
                <a:lnTo>
                  <a:pt x="17" y="161"/>
                </a:lnTo>
                <a:lnTo>
                  <a:pt x="27" y="170"/>
                </a:lnTo>
                <a:lnTo>
                  <a:pt x="38" y="180"/>
                </a:lnTo>
                <a:lnTo>
                  <a:pt x="51" y="188"/>
                </a:lnTo>
                <a:lnTo>
                  <a:pt x="66" y="197"/>
                </a:lnTo>
                <a:lnTo>
                  <a:pt x="83" y="205"/>
                </a:lnTo>
                <a:lnTo>
                  <a:pt x="101" y="212"/>
                </a:lnTo>
                <a:lnTo>
                  <a:pt x="120" y="218"/>
                </a:lnTo>
                <a:lnTo>
                  <a:pt x="141" y="223"/>
                </a:lnTo>
                <a:lnTo>
                  <a:pt x="163" y="228"/>
                </a:lnTo>
                <a:lnTo>
                  <a:pt x="186" y="232"/>
                </a:lnTo>
                <a:lnTo>
                  <a:pt x="209" y="236"/>
                </a:lnTo>
                <a:lnTo>
                  <a:pt x="233" y="238"/>
                </a:lnTo>
                <a:lnTo>
                  <a:pt x="258" y="239"/>
                </a:lnTo>
                <a:lnTo>
                  <a:pt x="282" y="240"/>
                </a:lnTo>
                <a:lnTo>
                  <a:pt x="307" y="239"/>
                </a:lnTo>
                <a:lnTo>
                  <a:pt x="331" y="238"/>
                </a:lnTo>
                <a:lnTo>
                  <a:pt x="355" y="236"/>
                </a:lnTo>
                <a:lnTo>
                  <a:pt x="379" y="232"/>
                </a:lnTo>
                <a:lnTo>
                  <a:pt x="401" y="228"/>
                </a:lnTo>
                <a:lnTo>
                  <a:pt x="424" y="223"/>
                </a:lnTo>
                <a:lnTo>
                  <a:pt x="444" y="218"/>
                </a:lnTo>
                <a:lnTo>
                  <a:pt x="463" y="212"/>
                </a:lnTo>
                <a:lnTo>
                  <a:pt x="482" y="205"/>
                </a:lnTo>
                <a:lnTo>
                  <a:pt x="498" y="197"/>
                </a:lnTo>
                <a:lnTo>
                  <a:pt x="513" y="188"/>
                </a:lnTo>
                <a:lnTo>
                  <a:pt x="527" y="180"/>
                </a:lnTo>
                <a:lnTo>
                  <a:pt x="538" y="170"/>
                </a:lnTo>
                <a:lnTo>
                  <a:pt x="547" y="161"/>
                </a:lnTo>
                <a:lnTo>
                  <a:pt x="555" y="151"/>
                </a:lnTo>
                <a:lnTo>
                  <a:pt x="560" y="141"/>
                </a:lnTo>
                <a:lnTo>
                  <a:pt x="563" y="130"/>
                </a:lnTo>
                <a:lnTo>
                  <a:pt x="565"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1A79E8D0-9CB0-4DE3-634D-21F465687841}"/>
              </a:ext>
            </a:extLst>
          </p:cNvPr>
          <p:cNvSpPr>
            <a:spLocks/>
          </p:cNvSpPr>
          <p:nvPr/>
        </p:nvSpPr>
        <p:spPr bwMode="auto">
          <a:xfrm>
            <a:off x="5614987" y="5799137"/>
            <a:ext cx="1355725" cy="387350"/>
          </a:xfrm>
          <a:custGeom>
            <a:avLst/>
            <a:gdLst>
              <a:gd name="T0" fmla="*/ 853 w 854"/>
              <a:gd name="T1" fmla="*/ 243 h 244"/>
              <a:gd name="T2" fmla="*/ 853 w 854"/>
              <a:gd name="T3" fmla="*/ 0 h 244"/>
              <a:gd name="T4" fmla="*/ 0 w 854"/>
              <a:gd name="T5" fmla="*/ 0 h 244"/>
              <a:gd name="T6" fmla="*/ 0 w 854"/>
              <a:gd name="T7" fmla="*/ 243 h 244"/>
              <a:gd name="T8" fmla="*/ 853 w 854"/>
              <a:gd name="T9" fmla="*/ 243 h 244"/>
            </a:gdLst>
            <a:ahLst/>
            <a:cxnLst>
              <a:cxn ang="0">
                <a:pos x="T0" y="T1"/>
              </a:cxn>
              <a:cxn ang="0">
                <a:pos x="T2" y="T3"/>
              </a:cxn>
              <a:cxn ang="0">
                <a:pos x="T4" y="T5"/>
              </a:cxn>
              <a:cxn ang="0">
                <a:pos x="T6" y="T7"/>
              </a:cxn>
              <a:cxn ang="0">
                <a:pos x="T8" y="T9"/>
              </a:cxn>
            </a:cxnLst>
            <a:rect l="0" t="0" r="r" b="b"/>
            <a:pathLst>
              <a:path w="854" h="244">
                <a:moveTo>
                  <a:pt x="853" y="243"/>
                </a:moveTo>
                <a:lnTo>
                  <a:pt x="853" y="0"/>
                </a:lnTo>
                <a:lnTo>
                  <a:pt x="0" y="0"/>
                </a:lnTo>
                <a:lnTo>
                  <a:pt x="0" y="243"/>
                </a:lnTo>
                <a:lnTo>
                  <a:pt x="853" y="24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599339ED-7EAF-F90E-F4BF-4F1DC9E02325}"/>
              </a:ext>
            </a:extLst>
          </p:cNvPr>
          <p:cNvSpPr>
            <a:spLocks/>
          </p:cNvSpPr>
          <p:nvPr/>
        </p:nvSpPr>
        <p:spPr bwMode="auto">
          <a:xfrm>
            <a:off x="2481262" y="5799137"/>
            <a:ext cx="896938" cy="392113"/>
          </a:xfrm>
          <a:custGeom>
            <a:avLst/>
            <a:gdLst>
              <a:gd name="T0" fmla="*/ 564 w 565"/>
              <a:gd name="T1" fmla="*/ 246 h 247"/>
              <a:gd name="T2" fmla="*/ 564 w 565"/>
              <a:gd name="T3" fmla="*/ 0 h 247"/>
              <a:gd name="T4" fmla="*/ 0 w 565"/>
              <a:gd name="T5" fmla="*/ 0 h 247"/>
              <a:gd name="T6" fmla="*/ 0 w 565"/>
              <a:gd name="T7" fmla="*/ 246 h 247"/>
              <a:gd name="T8" fmla="*/ 564 w 565"/>
              <a:gd name="T9" fmla="*/ 246 h 247"/>
            </a:gdLst>
            <a:ahLst/>
            <a:cxnLst>
              <a:cxn ang="0">
                <a:pos x="T0" y="T1"/>
              </a:cxn>
              <a:cxn ang="0">
                <a:pos x="T2" y="T3"/>
              </a:cxn>
              <a:cxn ang="0">
                <a:pos x="T4" y="T5"/>
              </a:cxn>
              <a:cxn ang="0">
                <a:pos x="T6" y="T7"/>
              </a:cxn>
              <a:cxn ang="0">
                <a:pos x="T8" y="T9"/>
              </a:cxn>
            </a:cxnLst>
            <a:rect l="0" t="0" r="r" b="b"/>
            <a:pathLst>
              <a:path w="565" h="247">
                <a:moveTo>
                  <a:pt x="564" y="246"/>
                </a:moveTo>
                <a:lnTo>
                  <a:pt x="564" y="0"/>
                </a:lnTo>
                <a:lnTo>
                  <a:pt x="0" y="0"/>
                </a:lnTo>
                <a:lnTo>
                  <a:pt x="0" y="246"/>
                </a:lnTo>
                <a:lnTo>
                  <a:pt x="564" y="24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27F35126-2A54-050F-FCA8-E36614AA21EA}"/>
              </a:ext>
            </a:extLst>
          </p:cNvPr>
          <p:cNvSpPr>
            <a:spLocks/>
          </p:cNvSpPr>
          <p:nvPr/>
        </p:nvSpPr>
        <p:spPr bwMode="auto">
          <a:xfrm>
            <a:off x="3876675" y="3641725"/>
            <a:ext cx="1276350" cy="627062"/>
          </a:xfrm>
          <a:custGeom>
            <a:avLst/>
            <a:gdLst>
              <a:gd name="T0" fmla="*/ 0 w 804"/>
              <a:gd name="T1" fmla="*/ 197 h 395"/>
              <a:gd name="T2" fmla="*/ 396 w 804"/>
              <a:gd name="T3" fmla="*/ 0 h 395"/>
              <a:gd name="T4" fmla="*/ 803 w 804"/>
              <a:gd name="T5" fmla="*/ 204 h 395"/>
              <a:gd name="T6" fmla="*/ 396 w 804"/>
              <a:gd name="T7" fmla="*/ 394 h 395"/>
              <a:gd name="T8" fmla="*/ 0 w 804"/>
              <a:gd name="T9" fmla="*/ 197 h 395"/>
            </a:gdLst>
            <a:ahLst/>
            <a:cxnLst>
              <a:cxn ang="0">
                <a:pos x="T0" y="T1"/>
              </a:cxn>
              <a:cxn ang="0">
                <a:pos x="T2" y="T3"/>
              </a:cxn>
              <a:cxn ang="0">
                <a:pos x="T4" y="T5"/>
              </a:cxn>
              <a:cxn ang="0">
                <a:pos x="T6" y="T7"/>
              </a:cxn>
              <a:cxn ang="0">
                <a:pos x="T8" y="T9"/>
              </a:cxn>
            </a:cxnLst>
            <a:rect l="0" t="0" r="r" b="b"/>
            <a:pathLst>
              <a:path w="804" h="395">
                <a:moveTo>
                  <a:pt x="0" y="197"/>
                </a:moveTo>
                <a:lnTo>
                  <a:pt x="396" y="0"/>
                </a:lnTo>
                <a:lnTo>
                  <a:pt x="803" y="204"/>
                </a:lnTo>
                <a:lnTo>
                  <a:pt x="396" y="394"/>
                </a:lnTo>
                <a:lnTo>
                  <a:pt x="0" y="19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3954D4BC-0E62-F793-78FA-C050EA7B8F23}"/>
              </a:ext>
            </a:extLst>
          </p:cNvPr>
          <p:cNvSpPr>
            <a:spLocks/>
          </p:cNvSpPr>
          <p:nvPr/>
        </p:nvSpPr>
        <p:spPr bwMode="auto">
          <a:xfrm>
            <a:off x="4005262" y="5621337"/>
            <a:ext cx="1371600" cy="658813"/>
          </a:xfrm>
          <a:custGeom>
            <a:avLst/>
            <a:gdLst>
              <a:gd name="T0" fmla="*/ 0 w 864"/>
              <a:gd name="T1" fmla="*/ 208 h 415"/>
              <a:gd name="T2" fmla="*/ 426 w 864"/>
              <a:gd name="T3" fmla="*/ 0 h 415"/>
              <a:gd name="T4" fmla="*/ 863 w 864"/>
              <a:gd name="T5" fmla="*/ 214 h 415"/>
              <a:gd name="T6" fmla="*/ 426 w 864"/>
              <a:gd name="T7" fmla="*/ 414 h 415"/>
              <a:gd name="T8" fmla="*/ 0 w 864"/>
              <a:gd name="T9" fmla="*/ 208 h 415"/>
            </a:gdLst>
            <a:ahLst/>
            <a:cxnLst>
              <a:cxn ang="0">
                <a:pos x="T0" y="T1"/>
              </a:cxn>
              <a:cxn ang="0">
                <a:pos x="T2" y="T3"/>
              </a:cxn>
              <a:cxn ang="0">
                <a:pos x="T4" y="T5"/>
              </a:cxn>
              <a:cxn ang="0">
                <a:pos x="T6" y="T7"/>
              </a:cxn>
              <a:cxn ang="0">
                <a:pos x="T8" y="T9"/>
              </a:cxn>
            </a:cxnLst>
            <a:rect l="0" t="0" r="r" b="b"/>
            <a:pathLst>
              <a:path w="864" h="415">
                <a:moveTo>
                  <a:pt x="0" y="208"/>
                </a:moveTo>
                <a:lnTo>
                  <a:pt x="426" y="0"/>
                </a:lnTo>
                <a:lnTo>
                  <a:pt x="863" y="214"/>
                </a:lnTo>
                <a:lnTo>
                  <a:pt x="426" y="414"/>
                </a:lnTo>
                <a:lnTo>
                  <a:pt x="0" y="20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Rectangle 18">
            <a:extLst>
              <a:ext uri="{FF2B5EF4-FFF2-40B4-BE49-F238E27FC236}">
                <a16:creationId xmlns:a16="http://schemas.microsoft.com/office/drawing/2014/main" id="{B4E4C94D-144C-5941-7BD3-B531A1C41035}"/>
              </a:ext>
            </a:extLst>
          </p:cNvPr>
          <p:cNvSpPr>
            <a:spLocks noChangeArrowheads="1"/>
          </p:cNvSpPr>
          <p:nvPr/>
        </p:nvSpPr>
        <p:spPr bwMode="auto">
          <a:xfrm>
            <a:off x="6473825" y="5211762"/>
            <a:ext cx="8588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budget</a:t>
            </a:r>
          </a:p>
        </p:txBody>
      </p:sp>
      <p:sp>
        <p:nvSpPr>
          <p:cNvPr id="17" name="Rectangle 19">
            <a:extLst>
              <a:ext uri="{FF2B5EF4-FFF2-40B4-BE49-F238E27FC236}">
                <a16:creationId xmlns:a16="http://schemas.microsoft.com/office/drawing/2014/main" id="{3C4737ED-2BC0-A4BB-7FD8-99E9A6BA890F}"/>
              </a:ext>
            </a:extLst>
          </p:cNvPr>
          <p:cNvSpPr>
            <a:spLocks noChangeArrowheads="1"/>
          </p:cNvSpPr>
          <p:nvPr/>
        </p:nvSpPr>
        <p:spPr bwMode="auto">
          <a:xfrm>
            <a:off x="4957762" y="5194300"/>
            <a:ext cx="485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u="sng">
                <a:solidFill>
                  <a:srgbClr val="000000"/>
                </a:solidFill>
                <a:latin typeface="Arial" pitchFamily="34" charset="0"/>
              </a:rPr>
              <a:t>did</a:t>
            </a:r>
          </a:p>
        </p:txBody>
      </p:sp>
      <p:sp>
        <p:nvSpPr>
          <p:cNvPr id="18" name="Rectangle 20">
            <a:extLst>
              <a:ext uri="{FF2B5EF4-FFF2-40B4-BE49-F238E27FC236}">
                <a16:creationId xmlns:a16="http://schemas.microsoft.com/office/drawing/2014/main" id="{38627854-3C27-6A1C-6B86-84050CB2162C}"/>
              </a:ext>
            </a:extLst>
          </p:cNvPr>
          <p:cNvSpPr>
            <a:spLocks noChangeArrowheads="1"/>
          </p:cNvSpPr>
          <p:nvPr/>
        </p:nvSpPr>
        <p:spPr bwMode="auto">
          <a:xfrm>
            <a:off x="1924050" y="5173662"/>
            <a:ext cx="485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u="sng">
                <a:solidFill>
                  <a:srgbClr val="000000"/>
                </a:solidFill>
                <a:latin typeface="Arial" pitchFamily="34" charset="0"/>
              </a:rPr>
              <a:t>pid</a:t>
            </a:r>
          </a:p>
        </p:txBody>
      </p:sp>
      <p:sp>
        <p:nvSpPr>
          <p:cNvPr id="19" name="Rectangle 21">
            <a:extLst>
              <a:ext uri="{FF2B5EF4-FFF2-40B4-BE49-F238E27FC236}">
                <a16:creationId xmlns:a16="http://schemas.microsoft.com/office/drawing/2014/main" id="{C72CB452-3CE3-F7D9-2FF5-5992772D4A1F}"/>
              </a:ext>
            </a:extLst>
          </p:cNvPr>
          <p:cNvSpPr>
            <a:spLocks noChangeArrowheads="1"/>
          </p:cNvSpPr>
          <p:nvPr/>
        </p:nvSpPr>
        <p:spPr bwMode="auto">
          <a:xfrm>
            <a:off x="2462212" y="4810125"/>
            <a:ext cx="12192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started_on</a:t>
            </a:r>
          </a:p>
        </p:txBody>
      </p:sp>
      <p:sp>
        <p:nvSpPr>
          <p:cNvPr id="20" name="Rectangle 22">
            <a:extLst>
              <a:ext uri="{FF2B5EF4-FFF2-40B4-BE49-F238E27FC236}">
                <a16:creationId xmlns:a16="http://schemas.microsoft.com/office/drawing/2014/main" id="{C51BD1AA-6CF0-4322-B90F-01CC444ED0DD}"/>
              </a:ext>
            </a:extLst>
          </p:cNvPr>
          <p:cNvSpPr>
            <a:spLocks noChangeArrowheads="1"/>
          </p:cNvSpPr>
          <p:nvPr/>
        </p:nvSpPr>
        <p:spPr bwMode="auto">
          <a:xfrm>
            <a:off x="3448050" y="5183187"/>
            <a:ext cx="9826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pbudget</a:t>
            </a:r>
          </a:p>
        </p:txBody>
      </p:sp>
      <p:sp>
        <p:nvSpPr>
          <p:cNvPr id="21" name="Rectangle 23">
            <a:extLst>
              <a:ext uri="{FF2B5EF4-FFF2-40B4-BE49-F238E27FC236}">
                <a16:creationId xmlns:a16="http://schemas.microsoft.com/office/drawing/2014/main" id="{C521F06D-B84C-2F97-C6E9-A5B6C720A86A}"/>
              </a:ext>
            </a:extLst>
          </p:cNvPr>
          <p:cNvSpPr>
            <a:spLocks noChangeArrowheads="1"/>
          </p:cNvSpPr>
          <p:nvPr/>
        </p:nvSpPr>
        <p:spPr bwMode="auto">
          <a:xfrm>
            <a:off x="5649912" y="4929187"/>
            <a:ext cx="8366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dname</a:t>
            </a:r>
          </a:p>
        </p:txBody>
      </p:sp>
      <p:sp>
        <p:nvSpPr>
          <p:cNvPr id="22" name="Rectangle 24">
            <a:extLst>
              <a:ext uri="{FF2B5EF4-FFF2-40B4-BE49-F238E27FC236}">
                <a16:creationId xmlns:a16="http://schemas.microsoft.com/office/drawing/2014/main" id="{CFF914F4-0134-FD74-9505-DE2F4AF5135B}"/>
              </a:ext>
            </a:extLst>
          </p:cNvPr>
          <p:cNvSpPr>
            <a:spLocks noChangeArrowheads="1"/>
          </p:cNvSpPr>
          <p:nvPr/>
        </p:nvSpPr>
        <p:spPr bwMode="auto">
          <a:xfrm>
            <a:off x="5484812" y="3795712"/>
            <a:ext cx="6096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until</a:t>
            </a:r>
          </a:p>
        </p:txBody>
      </p:sp>
      <p:sp>
        <p:nvSpPr>
          <p:cNvPr id="23" name="Rectangle 25">
            <a:extLst>
              <a:ext uri="{FF2B5EF4-FFF2-40B4-BE49-F238E27FC236}">
                <a16:creationId xmlns:a16="http://schemas.microsoft.com/office/drawing/2014/main" id="{19A8D89C-60D5-BB24-6E5A-81A61F05AFDB}"/>
              </a:ext>
            </a:extLst>
          </p:cNvPr>
          <p:cNvSpPr>
            <a:spLocks noChangeArrowheads="1"/>
          </p:cNvSpPr>
          <p:nvPr/>
        </p:nvSpPr>
        <p:spPr bwMode="auto">
          <a:xfrm>
            <a:off x="5529262" y="5811837"/>
            <a:ext cx="14224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Departments</a:t>
            </a:r>
          </a:p>
        </p:txBody>
      </p:sp>
      <p:sp>
        <p:nvSpPr>
          <p:cNvPr id="24" name="Rectangle 26">
            <a:extLst>
              <a:ext uri="{FF2B5EF4-FFF2-40B4-BE49-F238E27FC236}">
                <a16:creationId xmlns:a16="http://schemas.microsoft.com/office/drawing/2014/main" id="{052E83A8-4E81-17A4-3E79-D84E40BA849C}"/>
              </a:ext>
            </a:extLst>
          </p:cNvPr>
          <p:cNvSpPr>
            <a:spLocks noChangeArrowheads="1"/>
          </p:cNvSpPr>
          <p:nvPr/>
        </p:nvSpPr>
        <p:spPr bwMode="auto">
          <a:xfrm>
            <a:off x="2428875" y="5829300"/>
            <a:ext cx="9826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Projects</a:t>
            </a:r>
          </a:p>
        </p:txBody>
      </p:sp>
      <p:sp>
        <p:nvSpPr>
          <p:cNvPr id="25" name="Rectangle 27">
            <a:extLst>
              <a:ext uri="{FF2B5EF4-FFF2-40B4-BE49-F238E27FC236}">
                <a16:creationId xmlns:a16="http://schemas.microsoft.com/office/drawing/2014/main" id="{F08F2CC4-989A-B0F0-7689-FF73D9AC9188}"/>
              </a:ext>
            </a:extLst>
          </p:cNvPr>
          <p:cNvSpPr>
            <a:spLocks noChangeArrowheads="1"/>
          </p:cNvSpPr>
          <p:nvPr/>
        </p:nvSpPr>
        <p:spPr bwMode="auto">
          <a:xfrm>
            <a:off x="4100512" y="5788025"/>
            <a:ext cx="11176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Sponsors</a:t>
            </a:r>
          </a:p>
        </p:txBody>
      </p:sp>
      <p:grpSp>
        <p:nvGrpSpPr>
          <p:cNvPr id="26" name="Group 30">
            <a:extLst>
              <a:ext uri="{FF2B5EF4-FFF2-40B4-BE49-F238E27FC236}">
                <a16:creationId xmlns:a16="http://schemas.microsoft.com/office/drawing/2014/main" id="{E7319561-9BE3-6B72-8732-1C079A9FB063}"/>
              </a:ext>
            </a:extLst>
          </p:cNvPr>
          <p:cNvGrpSpPr>
            <a:grpSpLocks/>
          </p:cNvGrpSpPr>
          <p:nvPr/>
        </p:nvGrpSpPr>
        <p:grpSpPr bwMode="auto">
          <a:xfrm>
            <a:off x="3895725" y="2870200"/>
            <a:ext cx="1333500" cy="403225"/>
            <a:chOff x="3435" y="619"/>
            <a:chExt cx="840" cy="254"/>
          </a:xfrm>
        </p:grpSpPr>
        <p:sp>
          <p:nvSpPr>
            <p:cNvPr id="27" name="Freeform 28">
              <a:extLst>
                <a:ext uri="{FF2B5EF4-FFF2-40B4-BE49-F238E27FC236}">
                  <a16:creationId xmlns:a16="http://schemas.microsoft.com/office/drawing/2014/main" id="{BE453FEC-8B24-E101-E9A6-62B8FBF783A5}"/>
                </a:ext>
              </a:extLst>
            </p:cNvPr>
            <p:cNvSpPr>
              <a:spLocks/>
            </p:cNvSpPr>
            <p:nvPr/>
          </p:nvSpPr>
          <p:spPr bwMode="auto">
            <a:xfrm>
              <a:off x="3435" y="626"/>
              <a:ext cx="840" cy="247"/>
            </a:xfrm>
            <a:custGeom>
              <a:avLst/>
              <a:gdLst>
                <a:gd name="T0" fmla="*/ 839 w 840"/>
                <a:gd name="T1" fmla="*/ 246 h 247"/>
                <a:gd name="T2" fmla="*/ 839 w 840"/>
                <a:gd name="T3" fmla="*/ 0 h 247"/>
                <a:gd name="T4" fmla="*/ 0 w 840"/>
                <a:gd name="T5" fmla="*/ 0 h 247"/>
                <a:gd name="T6" fmla="*/ 0 w 840"/>
                <a:gd name="T7" fmla="*/ 246 h 247"/>
                <a:gd name="T8" fmla="*/ 839 w 840"/>
                <a:gd name="T9" fmla="*/ 246 h 247"/>
              </a:gdLst>
              <a:ahLst/>
              <a:cxnLst>
                <a:cxn ang="0">
                  <a:pos x="T0" y="T1"/>
                </a:cxn>
                <a:cxn ang="0">
                  <a:pos x="T2" y="T3"/>
                </a:cxn>
                <a:cxn ang="0">
                  <a:pos x="T4" y="T5"/>
                </a:cxn>
                <a:cxn ang="0">
                  <a:pos x="T6" y="T7"/>
                </a:cxn>
                <a:cxn ang="0">
                  <a:pos x="T8" y="T9"/>
                </a:cxn>
              </a:cxnLst>
              <a:rect l="0" t="0" r="r" b="b"/>
              <a:pathLst>
                <a:path w="840" h="247">
                  <a:moveTo>
                    <a:pt x="839" y="246"/>
                  </a:moveTo>
                  <a:lnTo>
                    <a:pt x="839" y="0"/>
                  </a:lnTo>
                  <a:lnTo>
                    <a:pt x="0" y="0"/>
                  </a:lnTo>
                  <a:lnTo>
                    <a:pt x="0" y="246"/>
                  </a:lnTo>
                  <a:lnTo>
                    <a:pt x="839" y="24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Rectangle 29">
              <a:extLst>
                <a:ext uri="{FF2B5EF4-FFF2-40B4-BE49-F238E27FC236}">
                  <a16:creationId xmlns:a16="http://schemas.microsoft.com/office/drawing/2014/main" id="{97EDD380-F97F-AA6E-A67A-BACC9187A4A3}"/>
                </a:ext>
              </a:extLst>
            </p:cNvPr>
            <p:cNvSpPr>
              <a:spLocks noChangeArrowheads="1"/>
            </p:cNvSpPr>
            <p:nvPr/>
          </p:nvSpPr>
          <p:spPr bwMode="auto">
            <a:xfrm>
              <a:off x="3471" y="619"/>
              <a:ext cx="79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Employees</a:t>
              </a:r>
            </a:p>
          </p:txBody>
        </p:sp>
      </p:grpSp>
      <p:sp>
        <p:nvSpPr>
          <p:cNvPr id="29" name="Rectangle 31">
            <a:extLst>
              <a:ext uri="{FF2B5EF4-FFF2-40B4-BE49-F238E27FC236}">
                <a16:creationId xmlns:a16="http://schemas.microsoft.com/office/drawing/2014/main" id="{41F30342-50C6-3E64-A4B3-EF2C89A52A38}"/>
              </a:ext>
            </a:extLst>
          </p:cNvPr>
          <p:cNvSpPr>
            <a:spLocks noChangeArrowheads="1"/>
          </p:cNvSpPr>
          <p:nvPr/>
        </p:nvSpPr>
        <p:spPr bwMode="auto">
          <a:xfrm>
            <a:off x="3989387" y="3762375"/>
            <a:ext cx="10382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Monitors</a:t>
            </a:r>
          </a:p>
        </p:txBody>
      </p:sp>
      <p:sp>
        <p:nvSpPr>
          <p:cNvPr id="30" name="Rectangle 32">
            <a:extLst>
              <a:ext uri="{FF2B5EF4-FFF2-40B4-BE49-F238E27FC236}">
                <a16:creationId xmlns:a16="http://schemas.microsoft.com/office/drawing/2014/main" id="{B2D9FA40-EE8A-F2E0-DEC5-D2FC2C6541F0}"/>
              </a:ext>
            </a:extLst>
          </p:cNvPr>
          <p:cNvSpPr>
            <a:spLocks noChangeArrowheads="1"/>
          </p:cNvSpPr>
          <p:nvPr/>
        </p:nvSpPr>
        <p:spPr bwMode="auto">
          <a:xfrm>
            <a:off x="1609725" y="4659312"/>
            <a:ext cx="5781675" cy="1741488"/>
          </a:xfrm>
          <a:prstGeom prst="rect">
            <a:avLst/>
          </a:prstGeom>
          <a:noFill/>
          <a:ln w="25400">
            <a:solidFill>
              <a:schemeClr val="tx2"/>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3">
            <a:extLst>
              <a:ext uri="{FF2B5EF4-FFF2-40B4-BE49-F238E27FC236}">
                <a16:creationId xmlns:a16="http://schemas.microsoft.com/office/drawing/2014/main" id="{16EB3105-4655-8E23-98D2-C7B177CFE09A}"/>
              </a:ext>
            </a:extLst>
          </p:cNvPr>
          <p:cNvSpPr>
            <a:spLocks noChangeShapeType="1"/>
          </p:cNvSpPr>
          <p:nvPr/>
        </p:nvSpPr>
        <p:spPr bwMode="auto">
          <a:xfrm>
            <a:off x="2122487" y="5581650"/>
            <a:ext cx="611188"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34">
            <a:extLst>
              <a:ext uri="{FF2B5EF4-FFF2-40B4-BE49-F238E27FC236}">
                <a16:creationId xmlns:a16="http://schemas.microsoft.com/office/drawing/2014/main" id="{79D28218-2010-FD10-C324-E04F62ACE60B}"/>
              </a:ext>
            </a:extLst>
          </p:cNvPr>
          <p:cNvSpPr>
            <a:spLocks noChangeShapeType="1"/>
          </p:cNvSpPr>
          <p:nvPr/>
        </p:nvSpPr>
        <p:spPr bwMode="auto">
          <a:xfrm>
            <a:off x="3011487" y="5181600"/>
            <a:ext cx="9525" cy="59372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5">
            <a:extLst>
              <a:ext uri="{FF2B5EF4-FFF2-40B4-BE49-F238E27FC236}">
                <a16:creationId xmlns:a16="http://schemas.microsoft.com/office/drawing/2014/main" id="{C357EBA9-7CEE-70BF-9ABC-68A5EF0B384C}"/>
              </a:ext>
            </a:extLst>
          </p:cNvPr>
          <p:cNvSpPr>
            <a:spLocks noChangeShapeType="1"/>
          </p:cNvSpPr>
          <p:nvPr/>
        </p:nvSpPr>
        <p:spPr bwMode="auto">
          <a:xfrm flipH="1">
            <a:off x="3236912" y="5581650"/>
            <a:ext cx="606425"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36">
            <a:extLst>
              <a:ext uri="{FF2B5EF4-FFF2-40B4-BE49-F238E27FC236}">
                <a16:creationId xmlns:a16="http://schemas.microsoft.com/office/drawing/2014/main" id="{A68ECFC8-349A-ABBC-B0A9-BBCE06C95A6B}"/>
              </a:ext>
            </a:extLst>
          </p:cNvPr>
          <p:cNvSpPr>
            <a:spLocks noChangeShapeType="1"/>
          </p:cNvSpPr>
          <p:nvPr/>
        </p:nvSpPr>
        <p:spPr bwMode="auto">
          <a:xfrm>
            <a:off x="5260975" y="5567362"/>
            <a:ext cx="490537" cy="230188"/>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7">
            <a:extLst>
              <a:ext uri="{FF2B5EF4-FFF2-40B4-BE49-F238E27FC236}">
                <a16:creationId xmlns:a16="http://schemas.microsoft.com/office/drawing/2014/main" id="{9F5F2EF1-7507-7304-1680-54388575998F}"/>
              </a:ext>
            </a:extLst>
          </p:cNvPr>
          <p:cNvSpPr>
            <a:spLocks noChangeShapeType="1"/>
          </p:cNvSpPr>
          <p:nvPr/>
        </p:nvSpPr>
        <p:spPr bwMode="auto">
          <a:xfrm>
            <a:off x="6046787" y="5292725"/>
            <a:ext cx="0" cy="5207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8">
            <a:extLst>
              <a:ext uri="{FF2B5EF4-FFF2-40B4-BE49-F238E27FC236}">
                <a16:creationId xmlns:a16="http://schemas.microsoft.com/office/drawing/2014/main" id="{A0512156-00DF-109B-D9E2-382C640F0AE8}"/>
              </a:ext>
            </a:extLst>
          </p:cNvPr>
          <p:cNvSpPr>
            <a:spLocks noChangeShapeType="1"/>
          </p:cNvSpPr>
          <p:nvPr/>
        </p:nvSpPr>
        <p:spPr bwMode="auto">
          <a:xfrm flipH="1">
            <a:off x="6437312" y="5581650"/>
            <a:ext cx="347663" cy="23177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9">
            <a:extLst>
              <a:ext uri="{FF2B5EF4-FFF2-40B4-BE49-F238E27FC236}">
                <a16:creationId xmlns:a16="http://schemas.microsoft.com/office/drawing/2014/main" id="{6D4EF922-39EA-8C35-712C-EA33C446B207}"/>
              </a:ext>
            </a:extLst>
          </p:cNvPr>
          <p:cNvSpPr>
            <a:spLocks noChangeShapeType="1"/>
          </p:cNvSpPr>
          <p:nvPr/>
        </p:nvSpPr>
        <p:spPr bwMode="auto">
          <a:xfrm>
            <a:off x="4506912" y="4286250"/>
            <a:ext cx="0" cy="35401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40">
            <a:extLst>
              <a:ext uri="{FF2B5EF4-FFF2-40B4-BE49-F238E27FC236}">
                <a16:creationId xmlns:a16="http://schemas.microsoft.com/office/drawing/2014/main" id="{C8BA3FE2-233D-5368-8EA2-208E72DFC34D}"/>
              </a:ext>
            </a:extLst>
          </p:cNvPr>
          <p:cNvSpPr>
            <a:spLocks noChangeShapeType="1"/>
          </p:cNvSpPr>
          <p:nvPr/>
        </p:nvSpPr>
        <p:spPr bwMode="auto">
          <a:xfrm>
            <a:off x="5154612" y="3960812"/>
            <a:ext cx="200025"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1">
            <a:extLst>
              <a:ext uri="{FF2B5EF4-FFF2-40B4-BE49-F238E27FC236}">
                <a16:creationId xmlns:a16="http://schemas.microsoft.com/office/drawing/2014/main" id="{D81707DF-BCD7-7AE4-73E3-04082AACB4C0}"/>
              </a:ext>
            </a:extLst>
          </p:cNvPr>
          <p:cNvSpPr>
            <a:spLocks noChangeShapeType="1"/>
          </p:cNvSpPr>
          <p:nvPr/>
        </p:nvSpPr>
        <p:spPr bwMode="auto">
          <a:xfrm flipV="1">
            <a:off x="4505325" y="3268662"/>
            <a:ext cx="0" cy="361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Freeform 42">
            <a:extLst>
              <a:ext uri="{FF2B5EF4-FFF2-40B4-BE49-F238E27FC236}">
                <a16:creationId xmlns:a16="http://schemas.microsoft.com/office/drawing/2014/main" id="{341070EF-31F6-85EE-2B67-4F3C8CC21B8F}"/>
              </a:ext>
            </a:extLst>
          </p:cNvPr>
          <p:cNvSpPr>
            <a:spLocks/>
          </p:cNvSpPr>
          <p:nvPr/>
        </p:nvSpPr>
        <p:spPr bwMode="auto">
          <a:xfrm>
            <a:off x="4887912" y="2266950"/>
            <a:ext cx="896938" cy="381000"/>
          </a:xfrm>
          <a:custGeom>
            <a:avLst/>
            <a:gdLst>
              <a:gd name="T0" fmla="*/ 1 w 565"/>
              <a:gd name="T1" fmla="*/ 130 h 240"/>
              <a:gd name="T2" fmla="*/ 9 w 565"/>
              <a:gd name="T3" fmla="*/ 151 h 240"/>
              <a:gd name="T4" fmla="*/ 27 w 565"/>
              <a:gd name="T5" fmla="*/ 170 h 240"/>
              <a:gd name="T6" fmla="*/ 51 w 565"/>
              <a:gd name="T7" fmla="*/ 188 h 240"/>
              <a:gd name="T8" fmla="*/ 83 w 565"/>
              <a:gd name="T9" fmla="*/ 204 h 240"/>
              <a:gd name="T10" fmla="*/ 120 w 565"/>
              <a:gd name="T11" fmla="*/ 218 h 240"/>
              <a:gd name="T12" fmla="*/ 163 w 565"/>
              <a:gd name="T13" fmla="*/ 228 h 240"/>
              <a:gd name="T14" fmla="*/ 209 w 565"/>
              <a:gd name="T15" fmla="*/ 235 h 240"/>
              <a:gd name="T16" fmla="*/ 257 w 565"/>
              <a:gd name="T17" fmla="*/ 239 h 240"/>
              <a:gd name="T18" fmla="*/ 306 w 565"/>
              <a:gd name="T19" fmla="*/ 239 h 240"/>
              <a:gd name="T20" fmla="*/ 355 w 565"/>
              <a:gd name="T21" fmla="*/ 235 h 240"/>
              <a:gd name="T22" fmla="*/ 401 w 565"/>
              <a:gd name="T23" fmla="*/ 228 h 240"/>
              <a:gd name="T24" fmla="*/ 443 w 565"/>
              <a:gd name="T25" fmla="*/ 217 h 240"/>
              <a:gd name="T26" fmla="*/ 481 w 565"/>
              <a:gd name="T27" fmla="*/ 204 h 240"/>
              <a:gd name="T28" fmla="*/ 513 w 565"/>
              <a:gd name="T29" fmla="*/ 188 h 240"/>
              <a:gd name="T30" fmla="*/ 537 w 565"/>
              <a:gd name="T31" fmla="*/ 170 h 240"/>
              <a:gd name="T32" fmla="*/ 554 w 565"/>
              <a:gd name="T33" fmla="*/ 150 h 240"/>
              <a:gd name="T34" fmla="*/ 563 w 565"/>
              <a:gd name="T35" fmla="*/ 129 h 240"/>
              <a:gd name="T36" fmla="*/ 563 w 565"/>
              <a:gd name="T37" fmla="*/ 109 h 240"/>
              <a:gd name="T38" fmla="*/ 554 w 565"/>
              <a:gd name="T39" fmla="*/ 88 h 240"/>
              <a:gd name="T40" fmla="*/ 537 w 565"/>
              <a:gd name="T41" fmla="*/ 68 h 240"/>
              <a:gd name="T42" fmla="*/ 513 w 565"/>
              <a:gd name="T43" fmla="*/ 51 h 240"/>
              <a:gd name="T44" fmla="*/ 481 w 565"/>
              <a:gd name="T45" fmla="*/ 35 h 240"/>
              <a:gd name="T46" fmla="*/ 443 w 565"/>
              <a:gd name="T47" fmla="*/ 21 h 240"/>
              <a:gd name="T48" fmla="*/ 401 w 565"/>
              <a:gd name="T49" fmla="*/ 11 h 240"/>
              <a:gd name="T50" fmla="*/ 355 w 565"/>
              <a:gd name="T51" fmla="*/ 4 h 240"/>
              <a:gd name="T52" fmla="*/ 306 w 565"/>
              <a:gd name="T53" fmla="*/ 0 h 240"/>
              <a:gd name="T54" fmla="*/ 257 w 565"/>
              <a:gd name="T55" fmla="*/ 0 h 240"/>
              <a:gd name="T56" fmla="*/ 209 w 565"/>
              <a:gd name="T57" fmla="*/ 4 h 240"/>
              <a:gd name="T58" fmla="*/ 163 w 565"/>
              <a:gd name="T59" fmla="*/ 11 h 240"/>
              <a:gd name="T60" fmla="*/ 120 w 565"/>
              <a:gd name="T61" fmla="*/ 21 h 240"/>
              <a:gd name="T62" fmla="*/ 83 w 565"/>
              <a:gd name="T63" fmla="*/ 35 h 240"/>
              <a:gd name="T64" fmla="*/ 51 w 565"/>
              <a:gd name="T65" fmla="*/ 51 h 240"/>
              <a:gd name="T66" fmla="*/ 27 w 565"/>
              <a:gd name="T67" fmla="*/ 69 h 240"/>
              <a:gd name="T68" fmla="*/ 9 w 565"/>
              <a:gd name="T69" fmla="*/ 88 h 240"/>
              <a:gd name="T70" fmla="*/ 1 w 565"/>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0" y="119"/>
                </a:moveTo>
                <a:lnTo>
                  <a:pt x="1" y="130"/>
                </a:lnTo>
                <a:lnTo>
                  <a:pt x="4" y="140"/>
                </a:lnTo>
                <a:lnTo>
                  <a:pt x="9" y="151"/>
                </a:lnTo>
                <a:lnTo>
                  <a:pt x="17" y="160"/>
                </a:lnTo>
                <a:lnTo>
                  <a:pt x="27" y="170"/>
                </a:lnTo>
                <a:lnTo>
                  <a:pt x="38" y="179"/>
                </a:lnTo>
                <a:lnTo>
                  <a:pt x="51" y="188"/>
                </a:lnTo>
                <a:lnTo>
                  <a:pt x="66" y="197"/>
                </a:lnTo>
                <a:lnTo>
                  <a:pt x="83" y="204"/>
                </a:lnTo>
                <a:lnTo>
                  <a:pt x="101" y="211"/>
                </a:lnTo>
                <a:lnTo>
                  <a:pt x="120" y="218"/>
                </a:lnTo>
                <a:lnTo>
                  <a:pt x="141" y="223"/>
                </a:lnTo>
                <a:lnTo>
                  <a:pt x="163" y="228"/>
                </a:lnTo>
                <a:lnTo>
                  <a:pt x="185" y="232"/>
                </a:lnTo>
                <a:lnTo>
                  <a:pt x="209" y="235"/>
                </a:lnTo>
                <a:lnTo>
                  <a:pt x="233" y="237"/>
                </a:lnTo>
                <a:lnTo>
                  <a:pt x="257" y="239"/>
                </a:lnTo>
                <a:lnTo>
                  <a:pt x="282" y="239"/>
                </a:lnTo>
                <a:lnTo>
                  <a:pt x="306" y="239"/>
                </a:lnTo>
                <a:lnTo>
                  <a:pt x="331" y="237"/>
                </a:lnTo>
                <a:lnTo>
                  <a:pt x="355" y="235"/>
                </a:lnTo>
                <a:lnTo>
                  <a:pt x="378" y="231"/>
                </a:lnTo>
                <a:lnTo>
                  <a:pt x="401" y="228"/>
                </a:lnTo>
                <a:lnTo>
                  <a:pt x="423" y="223"/>
                </a:lnTo>
                <a:lnTo>
                  <a:pt x="443" y="217"/>
                </a:lnTo>
                <a:lnTo>
                  <a:pt x="463" y="211"/>
                </a:lnTo>
                <a:lnTo>
                  <a:pt x="481" y="204"/>
                </a:lnTo>
                <a:lnTo>
                  <a:pt x="498" y="196"/>
                </a:lnTo>
                <a:lnTo>
                  <a:pt x="513" y="188"/>
                </a:lnTo>
                <a:lnTo>
                  <a:pt x="526" y="179"/>
                </a:lnTo>
                <a:lnTo>
                  <a:pt x="537" y="170"/>
                </a:lnTo>
                <a:lnTo>
                  <a:pt x="547" y="160"/>
                </a:lnTo>
                <a:lnTo>
                  <a:pt x="554" y="150"/>
                </a:lnTo>
                <a:lnTo>
                  <a:pt x="559" y="140"/>
                </a:lnTo>
                <a:lnTo>
                  <a:pt x="563" y="129"/>
                </a:lnTo>
                <a:lnTo>
                  <a:pt x="564" y="119"/>
                </a:lnTo>
                <a:lnTo>
                  <a:pt x="563" y="109"/>
                </a:lnTo>
                <a:lnTo>
                  <a:pt x="559" y="98"/>
                </a:lnTo>
                <a:lnTo>
                  <a:pt x="554" y="88"/>
                </a:lnTo>
                <a:lnTo>
                  <a:pt x="547" y="78"/>
                </a:lnTo>
                <a:lnTo>
                  <a:pt x="537" y="68"/>
                </a:lnTo>
                <a:lnTo>
                  <a:pt x="526" y="60"/>
                </a:lnTo>
                <a:lnTo>
                  <a:pt x="513" y="51"/>
                </a:lnTo>
                <a:lnTo>
                  <a:pt x="498" y="42"/>
                </a:lnTo>
                <a:lnTo>
                  <a:pt x="481" y="35"/>
                </a:lnTo>
                <a:lnTo>
                  <a:pt x="463" y="27"/>
                </a:lnTo>
                <a:lnTo>
                  <a:pt x="443" y="21"/>
                </a:lnTo>
                <a:lnTo>
                  <a:pt x="423" y="16"/>
                </a:lnTo>
                <a:lnTo>
                  <a:pt x="401" y="11"/>
                </a:lnTo>
                <a:lnTo>
                  <a:pt x="378" y="7"/>
                </a:lnTo>
                <a:lnTo>
                  <a:pt x="355" y="4"/>
                </a:lnTo>
                <a:lnTo>
                  <a:pt x="331" y="1"/>
                </a:lnTo>
                <a:lnTo>
                  <a:pt x="306" y="0"/>
                </a:lnTo>
                <a:lnTo>
                  <a:pt x="282" y="0"/>
                </a:lnTo>
                <a:lnTo>
                  <a:pt x="257" y="0"/>
                </a:lnTo>
                <a:lnTo>
                  <a:pt x="233" y="1"/>
                </a:lnTo>
                <a:lnTo>
                  <a:pt x="209" y="4"/>
                </a:lnTo>
                <a:lnTo>
                  <a:pt x="185" y="7"/>
                </a:lnTo>
                <a:lnTo>
                  <a:pt x="163" y="11"/>
                </a:lnTo>
                <a:lnTo>
                  <a:pt x="141" y="16"/>
                </a:lnTo>
                <a:lnTo>
                  <a:pt x="120" y="21"/>
                </a:lnTo>
                <a:lnTo>
                  <a:pt x="100" y="27"/>
                </a:lnTo>
                <a:lnTo>
                  <a:pt x="83" y="35"/>
                </a:lnTo>
                <a:lnTo>
                  <a:pt x="66" y="42"/>
                </a:lnTo>
                <a:lnTo>
                  <a:pt x="51" y="51"/>
                </a:lnTo>
                <a:lnTo>
                  <a:pt x="38" y="60"/>
                </a:lnTo>
                <a:lnTo>
                  <a:pt x="27" y="69"/>
                </a:lnTo>
                <a:lnTo>
                  <a:pt x="17" y="78"/>
                </a:lnTo>
                <a:lnTo>
                  <a:pt x="9" y="88"/>
                </a:lnTo>
                <a:lnTo>
                  <a:pt x="4" y="98"/>
                </a:lnTo>
                <a:lnTo>
                  <a:pt x="1"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Freeform 43">
            <a:extLst>
              <a:ext uri="{FF2B5EF4-FFF2-40B4-BE49-F238E27FC236}">
                <a16:creationId xmlns:a16="http://schemas.microsoft.com/office/drawing/2014/main" id="{62764DFF-73F6-C8F2-3CBD-93D7D90212BA}"/>
              </a:ext>
            </a:extLst>
          </p:cNvPr>
          <p:cNvSpPr>
            <a:spLocks/>
          </p:cNvSpPr>
          <p:nvPr/>
        </p:nvSpPr>
        <p:spPr bwMode="auto">
          <a:xfrm>
            <a:off x="3243262" y="2266950"/>
            <a:ext cx="896938" cy="381000"/>
          </a:xfrm>
          <a:custGeom>
            <a:avLst/>
            <a:gdLst>
              <a:gd name="T0" fmla="*/ 563 w 565"/>
              <a:gd name="T1" fmla="*/ 109 h 240"/>
              <a:gd name="T2" fmla="*/ 555 w 565"/>
              <a:gd name="T3" fmla="*/ 88 h 240"/>
              <a:gd name="T4" fmla="*/ 538 w 565"/>
              <a:gd name="T5" fmla="*/ 68 h 240"/>
              <a:gd name="T6" fmla="*/ 513 w 565"/>
              <a:gd name="T7" fmla="*/ 51 h 240"/>
              <a:gd name="T8" fmla="*/ 481 w 565"/>
              <a:gd name="T9" fmla="*/ 35 h 240"/>
              <a:gd name="T10" fmla="*/ 444 w 565"/>
              <a:gd name="T11" fmla="*/ 21 h 240"/>
              <a:gd name="T12" fmla="*/ 401 w 565"/>
              <a:gd name="T13" fmla="*/ 11 h 240"/>
              <a:gd name="T14" fmla="*/ 355 w 565"/>
              <a:gd name="T15" fmla="*/ 4 h 240"/>
              <a:gd name="T16" fmla="*/ 306 w 565"/>
              <a:gd name="T17" fmla="*/ 0 h 240"/>
              <a:gd name="T18" fmla="*/ 258 w 565"/>
              <a:gd name="T19" fmla="*/ 0 h 240"/>
              <a:gd name="T20" fmla="*/ 209 w 565"/>
              <a:gd name="T21" fmla="*/ 4 h 240"/>
              <a:gd name="T22" fmla="*/ 163 w 565"/>
              <a:gd name="T23" fmla="*/ 11 h 240"/>
              <a:gd name="T24" fmla="*/ 120 w 565"/>
              <a:gd name="T25" fmla="*/ 21 h 240"/>
              <a:gd name="T26" fmla="*/ 83 w 565"/>
              <a:gd name="T27" fmla="*/ 35 h 240"/>
              <a:gd name="T28" fmla="*/ 51 w 565"/>
              <a:gd name="T29" fmla="*/ 51 h 240"/>
              <a:gd name="T30" fmla="*/ 27 w 565"/>
              <a:gd name="T31" fmla="*/ 68 h 240"/>
              <a:gd name="T32" fmla="*/ 9 w 565"/>
              <a:gd name="T33" fmla="*/ 88 h 240"/>
              <a:gd name="T34" fmla="*/ 1 w 565"/>
              <a:gd name="T35" fmla="*/ 109 h 240"/>
              <a:gd name="T36" fmla="*/ 1 w 565"/>
              <a:gd name="T37" fmla="*/ 130 h 240"/>
              <a:gd name="T38" fmla="*/ 9 w 565"/>
              <a:gd name="T39" fmla="*/ 151 h 240"/>
              <a:gd name="T40" fmla="*/ 27 w 565"/>
              <a:gd name="T41" fmla="*/ 170 h 240"/>
              <a:gd name="T42" fmla="*/ 51 w 565"/>
              <a:gd name="T43" fmla="*/ 188 h 240"/>
              <a:gd name="T44" fmla="*/ 83 w 565"/>
              <a:gd name="T45" fmla="*/ 204 h 240"/>
              <a:gd name="T46" fmla="*/ 120 w 565"/>
              <a:gd name="T47" fmla="*/ 218 h 240"/>
              <a:gd name="T48" fmla="*/ 163 w 565"/>
              <a:gd name="T49" fmla="*/ 228 h 240"/>
              <a:gd name="T50" fmla="*/ 209 w 565"/>
              <a:gd name="T51" fmla="*/ 235 h 240"/>
              <a:gd name="T52" fmla="*/ 258 w 565"/>
              <a:gd name="T53" fmla="*/ 239 h 240"/>
              <a:gd name="T54" fmla="*/ 306 w 565"/>
              <a:gd name="T55" fmla="*/ 239 h 240"/>
              <a:gd name="T56" fmla="*/ 355 w 565"/>
              <a:gd name="T57" fmla="*/ 235 h 240"/>
              <a:gd name="T58" fmla="*/ 401 w 565"/>
              <a:gd name="T59" fmla="*/ 228 h 240"/>
              <a:gd name="T60" fmla="*/ 444 w 565"/>
              <a:gd name="T61" fmla="*/ 218 h 240"/>
              <a:gd name="T62" fmla="*/ 481 w 565"/>
              <a:gd name="T63" fmla="*/ 204 h 240"/>
              <a:gd name="T64" fmla="*/ 513 w 565"/>
              <a:gd name="T65" fmla="*/ 188 h 240"/>
              <a:gd name="T66" fmla="*/ 538 w 565"/>
              <a:gd name="T67" fmla="*/ 170 h 240"/>
              <a:gd name="T68" fmla="*/ 555 w 565"/>
              <a:gd name="T69" fmla="*/ 151 h 240"/>
              <a:gd name="T70" fmla="*/ 563 w 565"/>
              <a:gd name="T71" fmla="*/ 13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6" y="60"/>
                </a:lnTo>
                <a:lnTo>
                  <a:pt x="513" y="51"/>
                </a:lnTo>
                <a:lnTo>
                  <a:pt x="498" y="42"/>
                </a:lnTo>
                <a:lnTo>
                  <a:pt x="481" y="35"/>
                </a:lnTo>
                <a:lnTo>
                  <a:pt x="464" y="27"/>
                </a:lnTo>
                <a:lnTo>
                  <a:pt x="444" y="21"/>
                </a:lnTo>
                <a:lnTo>
                  <a:pt x="423" y="16"/>
                </a:lnTo>
                <a:lnTo>
                  <a:pt x="401" y="11"/>
                </a:lnTo>
                <a:lnTo>
                  <a:pt x="379" y="7"/>
                </a:lnTo>
                <a:lnTo>
                  <a:pt x="355" y="4"/>
                </a:lnTo>
                <a:lnTo>
                  <a:pt x="331" y="1"/>
                </a:lnTo>
                <a:lnTo>
                  <a:pt x="306" y="0"/>
                </a:lnTo>
                <a:lnTo>
                  <a:pt x="282" y="0"/>
                </a:lnTo>
                <a:lnTo>
                  <a:pt x="258" y="0"/>
                </a:lnTo>
                <a:lnTo>
                  <a:pt x="233" y="1"/>
                </a:lnTo>
                <a:lnTo>
                  <a:pt x="209" y="4"/>
                </a:lnTo>
                <a:lnTo>
                  <a:pt x="185" y="7"/>
                </a:lnTo>
                <a:lnTo>
                  <a:pt x="163" y="11"/>
                </a:lnTo>
                <a:lnTo>
                  <a:pt x="141" y="16"/>
                </a:lnTo>
                <a:lnTo>
                  <a:pt x="120" y="21"/>
                </a:lnTo>
                <a:lnTo>
                  <a:pt x="101" y="27"/>
                </a:lnTo>
                <a:lnTo>
                  <a:pt x="83" y="35"/>
                </a:lnTo>
                <a:lnTo>
                  <a:pt x="66" y="42"/>
                </a:lnTo>
                <a:lnTo>
                  <a:pt x="51" y="51"/>
                </a:lnTo>
                <a:lnTo>
                  <a:pt x="38" y="60"/>
                </a:lnTo>
                <a:lnTo>
                  <a:pt x="27" y="68"/>
                </a:lnTo>
                <a:lnTo>
                  <a:pt x="17" y="78"/>
                </a:lnTo>
                <a:lnTo>
                  <a:pt x="9" y="88"/>
                </a:lnTo>
                <a:lnTo>
                  <a:pt x="4" y="98"/>
                </a:lnTo>
                <a:lnTo>
                  <a:pt x="1" y="109"/>
                </a:lnTo>
                <a:lnTo>
                  <a:pt x="0" y="119"/>
                </a:lnTo>
                <a:lnTo>
                  <a:pt x="1" y="130"/>
                </a:lnTo>
                <a:lnTo>
                  <a:pt x="4" y="140"/>
                </a:lnTo>
                <a:lnTo>
                  <a:pt x="9" y="151"/>
                </a:lnTo>
                <a:lnTo>
                  <a:pt x="17" y="160"/>
                </a:lnTo>
                <a:lnTo>
                  <a:pt x="27" y="170"/>
                </a:lnTo>
                <a:lnTo>
                  <a:pt x="38" y="179"/>
                </a:lnTo>
                <a:lnTo>
                  <a:pt x="51" y="188"/>
                </a:lnTo>
                <a:lnTo>
                  <a:pt x="66" y="196"/>
                </a:lnTo>
                <a:lnTo>
                  <a:pt x="83" y="204"/>
                </a:lnTo>
                <a:lnTo>
                  <a:pt x="101" y="211"/>
                </a:lnTo>
                <a:lnTo>
                  <a:pt x="120" y="218"/>
                </a:lnTo>
                <a:lnTo>
                  <a:pt x="141" y="223"/>
                </a:lnTo>
                <a:lnTo>
                  <a:pt x="163" y="228"/>
                </a:lnTo>
                <a:lnTo>
                  <a:pt x="185" y="232"/>
                </a:lnTo>
                <a:lnTo>
                  <a:pt x="209" y="235"/>
                </a:lnTo>
                <a:lnTo>
                  <a:pt x="233" y="237"/>
                </a:lnTo>
                <a:lnTo>
                  <a:pt x="258" y="239"/>
                </a:lnTo>
                <a:lnTo>
                  <a:pt x="282" y="239"/>
                </a:lnTo>
                <a:lnTo>
                  <a:pt x="306" y="239"/>
                </a:lnTo>
                <a:lnTo>
                  <a:pt x="331" y="237"/>
                </a:lnTo>
                <a:lnTo>
                  <a:pt x="355" y="235"/>
                </a:lnTo>
                <a:lnTo>
                  <a:pt x="379" y="232"/>
                </a:lnTo>
                <a:lnTo>
                  <a:pt x="401" y="228"/>
                </a:lnTo>
                <a:lnTo>
                  <a:pt x="423" y="223"/>
                </a:lnTo>
                <a:lnTo>
                  <a:pt x="444" y="218"/>
                </a:lnTo>
                <a:lnTo>
                  <a:pt x="464" y="211"/>
                </a:lnTo>
                <a:lnTo>
                  <a:pt x="481" y="204"/>
                </a:lnTo>
                <a:lnTo>
                  <a:pt x="498" y="196"/>
                </a:lnTo>
                <a:lnTo>
                  <a:pt x="513" y="188"/>
                </a:lnTo>
                <a:lnTo>
                  <a:pt x="526" y="179"/>
                </a:lnTo>
                <a:lnTo>
                  <a:pt x="538" y="170"/>
                </a:lnTo>
                <a:lnTo>
                  <a:pt x="547" y="160"/>
                </a:lnTo>
                <a:lnTo>
                  <a:pt x="555" y="151"/>
                </a:lnTo>
                <a:lnTo>
                  <a:pt x="560" y="140"/>
                </a:lnTo>
                <a:lnTo>
                  <a:pt x="563" y="130"/>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Freeform 44">
            <a:extLst>
              <a:ext uri="{FF2B5EF4-FFF2-40B4-BE49-F238E27FC236}">
                <a16:creationId xmlns:a16="http://schemas.microsoft.com/office/drawing/2014/main" id="{882C2D0A-703C-CFF3-E75B-B1950C83A48B}"/>
              </a:ext>
            </a:extLst>
          </p:cNvPr>
          <p:cNvSpPr>
            <a:spLocks/>
          </p:cNvSpPr>
          <p:nvPr/>
        </p:nvSpPr>
        <p:spPr bwMode="auto">
          <a:xfrm>
            <a:off x="4048125" y="1985962"/>
            <a:ext cx="896937" cy="382588"/>
          </a:xfrm>
          <a:custGeom>
            <a:avLst/>
            <a:gdLst>
              <a:gd name="T0" fmla="*/ 563 w 565"/>
              <a:gd name="T1" fmla="*/ 110 h 241"/>
              <a:gd name="T2" fmla="*/ 554 w 565"/>
              <a:gd name="T3" fmla="*/ 89 h 241"/>
              <a:gd name="T4" fmla="*/ 538 w 565"/>
              <a:gd name="T5" fmla="*/ 70 h 241"/>
              <a:gd name="T6" fmla="*/ 513 w 565"/>
              <a:gd name="T7" fmla="*/ 51 h 241"/>
              <a:gd name="T8" fmla="*/ 482 w 565"/>
              <a:gd name="T9" fmla="*/ 35 h 241"/>
              <a:gd name="T10" fmla="*/ 444 w 565"/>
              <a:gd name="T11" fmla="*/ 22 h 241"/>
              <a:gd name="T12" fmla="*/ 401 w 565"/>
              <a:gd name="T13" fmla="*/ 12 h 241"/>
              <a:gd name="T14" fmla="*/ 355 w 565"/>
              <a:gd name="T15" fmla="*/ 5 h 241"/>
              <a:gd name="T16" fmla="*/ 307 w 565"/>
              <a:gd name="T17" fmla="*/ 1 h 241"/>
              <a:gd name="T18" fmla="*/ 258 w 565"/>
              <a:gd name="T19" fmla="*/ 1 h 241"/>
              <a:gd name="T20" fmla="*/ 210 w 565"/>
              <a:gd name="T21" fmla="*/ 5 h 241"/>
              <a:gd name="T22" fmla="*/ 164 w 565"/>
              <a:gd name="T23" fmla="*/ 12 h 241"/>
              <a:gd name="T24" fmla="*/ 121 w 565"/>
              <a:gd name="T25" fmla="*/ 22 h 241"/>
              <a:gd name="T26" fmla="*/ 83 w 565"/>
              <a:gd name="T27" fmla="*/ 35 h 241"/>
              <a:gd name="T28" fmla="*/ 51 w 565"/>
              <a:gd name="T29" fmla="*/ 51 h 241"/>
              <a:gd name="T30" fmla="*/ 27 w 565"/>
              <a:gd name="T31" fmla="*/ 70 h 241"/>
              <a:gd name="T32" fmla="*/ 10 w 565"/>
              <a:gd name="T33" fmla="*/ 89 h 241"/>
              <a:gd name="T34" fmla="*/ 1 w 565"/>
              <a:gd name="T35" fmla="*/ 110 h 241"/>
              <a:gd name="T36" fmla="*/ 1 w 565"/>
              <a:gd name="T37" fmla="*/ 131 h 241"/>
              <a:gd name="T38" fmla="*/ 10 w 565"/>
              <a:gd name="T39" fmla="*/ 151 h 241"/>
              <a:gd name="T40" fmla="*/ 27 w 565"/>
              <a:gd name="T41" fmla="*/ 171 h 241"/>
              <a:gd name="T42" fmla="*/ 51 w 565"/>
              <a:gd name="T43" fmla="*/ 189 h 241"/>
              <a:gd name="T44" fmla="*/ 83 w 565"/>
              <a:gd name="T45" fmla="*/ 205 h 241"/>
              <a:gd name="T46" fmla="*/ 121 w 565"/>
              <a:gd name="T47" fmla="*/ 218 h 241"/>
              <a:gd name="T48" fmla="*/ 164 w 565"/>
              <a:gd name="T49" fmla="*/ 229 h 241"/>
              <a:gd name="T50" fmla="*/ 210 w 565"/>
              <a:gd name="T51" fmla="*/ 236 h 241"/>
              <a:gd name="T52" fmla="*/ 258 w 565"/>
              <a:gd name="T53" fmla="*/ 239 h 241"/>
              <a:gd name="T54" fmla="*/ 307 w 565"/>
              <a:gd name="T55" fmla="*/ 239 h 241"/>
              <a:gd name="T56" fmla="*/ 355 w 565"/>
              <a:gd name="T57" fmla="*/ 236 h 241"/>
              <a:gd name="T58" fmla="*/ 401 w 565"/>
              <a:gd name="T59" fmla="*/ 229 h 241"/>
              <a:gd name="T60" fmla="*/ 444 w 565"/>
              <a:gd name="T61" fmla="*/ 218 h 241"/>
              <a:gd name="T62" fmla="*/ 482 w 565"/>
              <a:gd name="T63" fmla="*/ 205 h 241"/>
              <a:gd name="T64" fmla="*/ 513 w 565"/>
              <a:gd name="T65" fmla="*/ 189 h 241"/>
              <a:gd name="T66" fmla="*/ 538 w 565"/>
              <a:gd name="T67" fmla="*/ 171 h 241"/>
              <a:gd name="T68" fmla="*/ 554 w 565"/>
              <a:gd name="T69" fmla="*/ 151 h 241"/>
              <a:gd name="T70" fmla="*/ 563 w 565"/>
              <a:gd name="T71" fmla="*/ 13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1">
                <a:moveTo>
                  <a:pt x="564" y="120"/>
                </a:moveTo>
                <a:lnTo>
                  <a:pt x="563" y="110"/>
                </a:lnTo>
                <a:lnTo>
                  <a:pt x="560" y="100"/>
                </a:lnTo>
                <a:lnTo>
                  <a:pt x="554" y="89"/>
                </a:lnTo>
                <a:lnTo>
                  <a:pt x="547" y="79"/>
                </a:lnTo>
                <a:lnTo>
                  <a:pt x="538" y="70"/>
                </a:lnTo>
                <a:lnTo>
                  <a:pt x="526" y="60"/>
                </a:lnTo>
                <a:lnTo>
                  <a:pt x="513" y="51"/>
                </a:lnTo>
                <a:lnTo>
                  <a:pt x="498" y="43"/>
                </a:lnTo>
                <a:lnTo>
                  <a:pt x="482" y="35"/>
                </a:lnTo>
                <a:lnTo>
                  <a:pt x="463" y="29"/>
                </a:lnTo>
                <a:lnTo>
                  <a:pt x="444" y="22"/>
                </a:lnTo>
                <a:lnTo>
                  <a:pt x="423" y="16"/>
                </a:lnTo>
                <a:lnTo>
                  <a:pt x="401" y="12"/>
                </a:lnTo>
                <a:lnTo>
                  <a:pt x="378" y="8"/>
                </a:lnTo>
                <a:lnTo>
                  <a:pt x="355" y="5"/>
                </a:lnTo>
                <a:lnTo>
                  <a:pt x="332" y="3"/>
                </a:lnTo>
                <a:lnTo>
                  <a:pt x="307" y="1"/>
                </a:lnTo>
                <a:lnTo>
                  <a:pt x="282" y="0"/>
                </a:lnTo>
                <a:lnTo>
                  <a:pt x="258" y="1"/>
                </a:lnTo>
                <a:lnTo>
                  <a:pt x="234" y="3"/>
                </a:lnTo>
                <a:lnTo>
                  <a:pt x="210" y="5"/>
                </a:lnTo>
                <a:lnTo>
                  <a:pt x="186" y="8"/>
                </a:lnTo>
                <a:lnTo>
                  <a:pt x="164" y="12"/>
                </a:lnTo>
                <a:lnTo>
                  <a:pt x="141" y="16"/>
                </a:lnTo>
                <a:lnTo>
                  <a:pt x="121" y="22"/>
                </a:lnTo>
                <a:lnTo>
                  <a:pt x="101" y="29"/>
                </a:lnTo>
                <a:lnTo>
                  <a:pt x="83" y="35"/>
                </a:lnTo>
                <a:lnTo>
                  <a:pt x="66" y="43"/>
                </a:lnTo>
                <a:lnTo>
                  <a:pt x="51" y="51"/>
                </a:lnTo>
                <a:lnTo>
                  <a:pt x="39" y="60"/>
                </a:lnTo>
                <a:lnTo>
                  <a:pt x="27" y="70"/>
                </a:lnTo>
                <a:lnTo>
                  <a:pt x="18" y="79"/>
                </a:lnTo>
                <a:lnTo>
                  <a:pt x="10" y="89"/>
                </a:lnTo>
                <a:lnTo>
                  <a:pt x="5" y="100"/>
                </a:lnTo>
                <a:lnTo>
                  <a:pt x="1" y="110"/>
                </a:lnTo>
                <a:lnTo>
                  <a:pt x="0" y="120"/>
                </a:lnTo>
                <a:lnTo>
                  <a:pt x="1" y="131"/>
                </a:lnTo>
                <a:lnTo>
                  <a:pt x="5" y="141"/>
                </a:lnTo>
                <a:lnTo>
                  <a:pt x="10" y="151"/>
                </a:lnTo>
                <a:lnTo>
                  <a:pt x="18" y="161"/>
                </a:lnTo>
                <a:lnTo>
                  <a:pt x="27" y="171"/>
                </a:lnTo>
                <a:lnTo>
                  <a:pt x="39" y="180"/>
                </a:lnTo>
                <a:lnTo>
                  <a:pt x="51" y="189"/>
                </a:lnTo>
                <a:lnTo>
                  <a:pt x="66" y="197"/>
                </a:lnTo>
                <a:lnTo>
                  <a:pt x="83" y="205"/>
                </a:lnTo>
                <a:lnTo>
                  <a:pt x="101" y="212"/>
                </a:lnTo>
                <a:lnTo>
                  <a:pt x="121" y="218"/>
                </a:lnTo>
                <a:lnTo>
                  <a:pt x="141" y="224"/>
                </a:lnTo>
                <a:lnTo>
                  <a:pt x="164" y="229"/>
                </a:lnTo>
                <a:lnTo>
                  <a:pt x="186" y="233"/>
                </a:lnTo>
                <a:lnTo>
                  <a:pt x="210" y="236"/>
                </a:lnTo>
                <a:lnTo>
                  <a:pt x="234" y="238"/>
                </a:lnTo>
                <a:lnTo>
                  <a:pt x="258" y="239"/>
                </a:lnTo>
                <a:lnTo>
                  <a:pt x="282" y="240"/>
                </a:lnTo>
                <a:lnTo>
                  <a:pt x="307" y="239"/>
                </a:lnTo>
                <a:lnTo>
                  <a:pt x="332" y="238"/>
                </a:lnTo>
                <a:lnTo>
                  <a:pt x="355" y="236"/>
                </a:lnTo>
                <a:lnTo>
                  <a:pt x="378" y="233"/>
                </a:lnTo>
                <a:lnTo>
                  <a:pt x="401" y="229"/>
                </a:lnTo>
                <a:lnTo>
                  <a:pt x="423" y="224"/>
                </a:lnTo>
                <a:lnTo>
                  <a:pt x="444" y="218"/>
                </a:lnTo>
                <a:lnTo>
                  <a:pt x="463" y="212"/>
                </a:lnTo>
                <a:lnTo>
                  <a:pt x="482" y="205"/>
                </a:lnTo>
                <a:lnTo>
                  <a:pt x="498" y="197"/>
                </a:lnTo>
                <a:lnTo>
                  <a:pt x="513" y="189"/>
                </a:lnTo>
                <a:lnTo>
                  <a:pt x="526" y="180"/>
                </a:lnTo>
                <a:lnTo>
                  <a:pt x="538" y="171"/>
                </a:lnTo>
                <a:lnTo>
                  <a:pt x="547" y="161"/>
                </a:lnTo>
                <a:lnTo>
                  <a:pt x="554" y="151"/>
                </a:lnTo>
                <a:lnTo>
                  <a:pt x="560" y="141"/>
                </a:lnTo>
                <a:lnTo>
                  <a:pt x="563" y="131"/>
                </a:lnTo>
                <a:lnTo>
                  <a:pt x="564"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Rectangle 45">
            <a:extLst>
              <a:ext uri="{FF2B5EF4-FFF2-40B4-BE49-F238E27FC236}">
                <a16:creationId xmlns:a16="http://schemas.microsoft.com/office/drawing/2014/main" id="{8AC022E3-51CE-8DDD-5705-E229F49EAECE}"/>
              </a:ext>
            </a:extLst>
          </p:cNvPr>
          <p:cNvSpPr>
            <a:spLocks noChangeArrowheads="1"/>
          </p:cNvSpPr>
          <p:nvPr/>
        </p:nvSpPr>
        <p:spPr bwMode="auto">
          <a:xfrm>
            <a:off x="5181600" y="2265362"/>
            <a:ext cx="43441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dirty="0">
                <a:solidFill>
                  <a:srgbClr val="000000"/>
                </a:solidFill>
                <a:latin typeface="Arial" pitchFamily="34" charset="0"/>
              </a:rPr>
              <a:t>lot</a:t>
            </a:r>
          </a:p>
        </p:txBody>
      </p:sp>
      <p:sp>
        <p:nvSpPr>
          <p:cNvPr id="44" name="Rectangle 46">
            <a:extLst>
              <a:ext uri="{FF2B5EF4-FFF2-40B4-BE49-F238E27FC236}">
                <a16:creationId xmlns:a16="http://schemas.microsoft.com/office/drawing/2014/main" id="{F64CA04F-1CE9-DF8F-44A2-AE26FBADCAAC}"/>
              </a:ext>
            </a:extLst>
          </p:cNvPr>
          <p:cNvSpPr>
            <a:spLocks noChangeArrowheads="1"/>
          </p:cNvSpPr>
          <p:nvPr/>
        </p:nvSpPr>
        <p:spPr bwMode="auto">
          <a:xfrm>
            <a:off x="4175125" y="2039937"/>
            <a:ext cx="7112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name</a:t>
            </a:r>
          </a:p>
        </p:txBody>
      </p:sp>
      <p:sp>
        <p:nvSpPr>
          <p:cNvPr id="45" name="Rectangle 47">
            <a:extLst>
              <a:ext uri="{FF2B5EF4-FFF2-40B4-BE49-F238E27FC236}">
                <a16:creationId xmlns:a16="http://schemas.microsoft.com/office/drawing/2014/main" id="{D7904CDC-78A3-91E3-0C1E-1400723EABFA}"/>
              </a:ext>
            </a:extLst>
          </p:cNvPr>
          <p:cNvSpPr>
            <a:spLocks noChangeArrowheads="1"/>
          </p:cNvSpPr>
          <p:nvPr/>
        </p:nvSpPr>
        <p:spPr bwMode="auto">
          <a:xfrm>
            <a:off x="3392487" y="2255837"/>
            <a:ext cx="5318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u="sng">
                <a:solidFill>
                  <a:srgbClr val="000000"/>
                </a:solidFill>
                <a:latin typeface="Arial" pitchFamily="34" charset="0"/>
              </a:rPr>
              <a:t>ssn</a:t>
            </a:r>
          </a:p>
        </p:txBody>
      </p:sp>
      <p:sp>
        <p:nvSpPr>
          <p:cNvPr id="46" name="Line 48">
            <a:extLst>
              <a:ext uri="{FF2B5EF4-FFF2-40B4-BE49-F238E27FC236}">
                <a16:creationId xmlns:a16="http://schemas.microsoft.com/office/drawing/2014/main" id="{D7F20088-21F3-7E92-2F72-2E2A56371EC2}"/>
              </a:ext>
            </a:extLst>
          </p:cNvPr>
          <p:cNvSpPr>
            <a:spLocks noChangeShapeType="1"/>
          </p:cNvSpPr>
          <p:nvPr/>
        </p:nvSpPr>
        <p:spPr bwMode="auto">
          <a:xfrm>
            <a:off x="3690937" y="2671762"/>
            <a:ext cx="552450" cy="20002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9">
            <a:extLst>
              <a:ext uri="{FF2B5EF4-FFF2-40B4-BE49-F238E27FC236}">
                <a16:creationId xmlns:a16="http://schemas.microsoft.com/office/drawing/2014/main" id="{9BDEE1B3-0473-1C91-BC19-8B734D1128A8}"/>
              </a:ext>
            </a:extLst>
          </p:cNvPr>
          <p:cNvSpPr>
            <a:spLocks noChangeShapeType="1"/>
          </p:cNvSpPr>
          <p:nvPr/>
        </p:nvSpPr>
        <p:spPr bwMode="auto">
          <a:xfrm>
            <a:off x="4508500" y="2366962"/>
            <a:ext cx="0" cy="488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50">
            <a:extLst>
              <a:ext uri="{FF2B5EF4-FFF2-40B4-BE49-F238E27FC236}">
                <a16:creationId xmlns:a16="http://schemas.microsoft.com/office/drawing/2014/main" id="{AF35BACB-BCB8-CA9B-674F-04C0CD7B8513}"/>
              </a:ext>
            </a:extLst>
          </p:cNvPr>
          <p:cNvSpPr>
            <a:spLocks noChangeShapeType="1"/>
          </p:cNvSpPr>
          <p:nvPr/>
        </p:nvSpPr>
        <p:spPr bwMode="auto">
          <a:xfrm flipH="1">
            <a:off x="4806950" y="2655887"/>
            <a:ext cx="530225"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51">
            <a:extLst>
              <a:ext uri="{FF2B5EF4-FFF2-40B4-BE49-F238E27FC236}">
                <a16:creationId xmlns:a16="http://schemas.microsoft.com/office/drawing/2014/main" id="{BA2F18C5-A7D6-7646-AC16-9F9BAA61E8C9}"/>
              </a:ext>
            </a:extLst>
          </p:cNvPr>
          <p:cNvSpPr>
            <a:spLocks noChangeShapeType="1"/>
          </p:cNvSpPr>
          <p:nvPr/>
        </p:nvSpPr>
        <p:spPr bwMode="auto">
          <a:xfrm flipH="1">
            <a:off x="5376861" y="5957486"/>
            <a:ext cx="255588"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Freeform 53">
            <a:extLst>
              <a:ext uri="{FF2B5EF4-FFF2-40B4-BE49-F238E27FC236}">
                <a16:creationId xmlns:a16="http://schemas.microsoft.com/office/drawing/2014/main" id="{2F6F31DC-0260-698A-4C19-AED7054C02AE}"/>
              </a:ext>
            </a:extLst>
          </p:cNvPr>
          <p:cNvSpPr>
            <a:spLocks/>
          </p:cNvSpPr>
          <p:nvPr/>
        </p:nvSpPr>
        <p:spPr bwMode="auto">
          <a:xfrm>
            <a:off x="4233862" y="4783137"/>
            <a:ext cx="896938" cy="381000"/>
          </a:xfrm>
          <a:custGeom>
            <a:avLst/>
            <a:gdLst>
              <a:gd name="T0" fmla="*/ 563 w 565"/>
              <a:gd name="T1" fmla="*/ 109 h 240"/>
              <a:gd name="T2" fmla="*/ 555 w 565"/>
              <a:gd name="T3" fmla="*/ 88 h 240"/>
              <a:gd name="T4" fmla="*/ 538 w 565"/>
              <a:gd name="T5" fmla="*/ 68 h 240"/>
              <a:gd name="T6" fmla="*/ 513 w 565"/>
              <a:gd name="T7" fmla="*/ 51 h 240"/>
              <a:gd name="T8" fmla="*/ 482 w 565"/>
              <a:gd name="T9" fmla="*/ 35 h 240"/>
              <a:gd name="T10" fmla="*/ 444 w 565"/>
              <a:gd name="T11" fmla="*/ 21 h 240"/>
              <a:gd name="T12" fmla="*/ 402 w 565"/>
              <a:gd name="T13" fmla="*/ 11 h 240"/>
              <a:gd name="T14" fmla="*/ 356 w 565"/>
              <a:gd name="T15" fmla="*/ 4 h 240"/>
              <a:gd name="T16" fmla="*/ 307 w 565"/>
              <a:gd name="T17" fmla="*/ 0 h 240"/>
              <a:gd name="T18" fmla="*/ 258 w 565"/>
              <a:gd name="T19" fmla="*/ 0 h 240"/>
              <a:gd name="T20" fmla="*/ 210 w 565"/>
              <a:gd name="T21" fmla="*/ 4 h 240"/>
              <a:gd name="T22" fmla="*/ 163 w 565"/>
              <a:gd name="T23" fmla="*/ 11 h 240"/>
              <a:gd name="T24" fmla="*/ 121 w 565"/>
              <a:gd name="T25" fmla="*/ 21 h 240"/>
              <a:gd name="T26" fmla="*/ 83 w 565"/>
              <a:gd name="T27" fmla="*/ 35 h 240"/>
              <a:gd name="T28" fmla="*/ 52 w 565"/>
              <a:gd name="T29" fmla="*/ 51 h 240"/>
              <a:gd name="T30" fmla="*/ 27 w 565"/>
              <a:gd name="T31" fmla="*/ 68 h 240"/>
              <a:gd name="T32" fmla="*/ 10 w 565"/>
              <a:gd name="T33" fmla="*/ 88 h 240"/>
              <a:gd name="T34" fmla="*/ 2 w 565"/>
              <a:gd name="T35" fmla="*/ 109 h 240"/>
              <a:gd name="T36" fmla="*/ 2 w 565"/>
              <a:gd name="T37" fmla="*/ 129 h 240"/>
              <a:gd name="T38" fmla="*/ 10 w 565"/>
              <a:gd name="T39" fmla="*/ 150 h 240"/>
              <a:gd name="T40" fmla="*/ 27 w 565"/>
              <a:gd name="T41" fmla="*/ 170 h 240"/>
              <a:gd name="T42" fmla="*/ 52 w 565"/>
              <a:gd name="T43" fmla="*/ 188 h 240"/>
              <a:gd name="T44" fmla="*/ 83 w 565"/>
              <a:gd name="T45" fmla="*/ 204 h 240"/>
              <a:gd name="T46" fmla="*/ 121 w 565"/>
              <a:gd name="T47" fmla="*/ 217 h 240"/>
              <a:gd name="T48" fmla="*/ 163 w 565"/>
              <a:gd name="T49" fmla="*/ 227 h 240"/>
              <a:gd name="T50" fmla="*/ 210 w 565"/>
              <a:gd name="T51" fmla="*/ 235 h 240"/>
              <a:gd name="T52" fmla="*/ 258 w 565"/>
              <a:gd name="T53" fmla="*/ 239 h 240"/>
              <a:gd name="T54" fmla="*/ 307 w 565"/>
              <a:gd name="T55" fmla="*/ 239 h 240"/>
              <a:gd name="T56" fmla="*/ 356 w 565"/>
              <a:gd name="T57" fmla="*/ 235 h 240"/>
              <a:gd name="T58" fmla="*/ 402 w 565"/>
              <a:gd name="T59" fmla="*/ 227 h 240"/>
              <a:gd name="T60" fmla="*/ 444 w 565"/>
              <a:gd name="T61" fmla="*/ 217 h 240"/>
              <a:gd name="T62" fmla="*/ 482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7" y="60"/>
                </a:lnTo>
                <a:lnTo>
                  <a:pt x="513" y="51"/>
                </a:lnTo>
                <a:lnTo>
                  <a:pt x="498" y="42"/>
                </a:lnTo>
                <a:lnTo>
                  <a:pt x="482" y="35"/>
                </a:lnTo>
                <a:lnTo>
                  <a:pt x="464" y="27"/>
                </a:lnTo>
                <a:lnTo>
                  <a:pt x="444" y="21"/>
                </a:lnTo>
                <a:lnTo>
                  <a:pt x="423" y="15"/>
                </a:lnTo>
                <a:lnTo>
                  <a:pt x="402" y="11"/>
                </a:lnTo>
                <a:lnTo>
                  <a:pt x="379" y="7"/>
                </a:lnTo>
                <a:lnTo>
                  <a:pt x="356" y="4"/>
                </a:lnTo>
                <a:lnTo>
                  <a:pt x="331" y="1"/>
                </a:lnTo>
                <a:lnTo>
                  <a:pt x="307" y="0"/>
                </a:lnTo>
                <a:lnTo>
                  <a:pt x="282" y="0"/>
                </a:lnTo>
                <a:lnTo>
                  <a:pt x="258" y="0"/>
                </a:lnTo>
                <a:lnTo>
                  <a:pt x="234" y="1"/>
                </a:lnTo>
                <a:lnTo>
                  <a:pt x="210" y="4"/>
                </a:lnTo>
                <a:lnTo>
                  <a:pt x="186" y="7"/>
                </a:lnTo>
                <a:lnTo>
                  <a:pt x="163" y="11"/>
                </a:lnTo>
                <a:lnTo>
                  <a:pt x="141" y="15"/>
                </a:lnTo>
                <a:lnTo>
                  <a:pt x="121" y="21"/>
                </a:lnTo>
                <a:lnTo>
                  <a:pt x="101" y="27"/>
                </a:lnTo>
                <a:lnTo>
                  <a:pt x="83" y="35"/>
                </a:lnTo>
                <a:lnTo>
                  <a:pt x="67" y="42"/>
                </a:lnTo>
                <a:lnTo>
                  <a:pt x="52" y="51"/>
                </a:lnTo>
                <a:lnTo>
                  <a:pt x="38" y="60"/>
                </a:lnTo>
                <a:lnTo>
                  <a:pt x="27" y="68"/>
                </a:lnTo>
                <a:lnTo>
                  <a:pt x="18" y="78"/>
                </a:lnTo>
                <a:lnTo>
                  <a:pt x="10" y="88"/>
                </a:lnTo>
                <a:lnTo>
                  <a:pt x="5" y="98"/>
                </a:lnTo>
                <a:lnTo>
                  <a:pt x="2" y="109"/>
                </a:lnTo>
                <a:lnTo>
                  <a:pt x="0" y="119"/>
                </a:lnTo>
                <a:lnTo>
                  <a:pt x="2" y="129"/>
                </a:lnTo>
                <a:lnTo>
                  <a:pt x="5" y="140"/>
                </a:lnTo>
                <a:lnTo>
                  <a:pt x="10" y="150"/>
                </a:lnTo>
                <a:lnTo>
                  <a:pt x="18" y="160"/>
                </a:lnTo>
                <a:lnTo>
                  <a:pt x="27" y="170"/>
                </a:lnTo>
                <a:lnTo>
                  <a:pt x="38" y="179"/>
                </a:lnTo>
                <a:lnTo>
                  <a:pt x="52" y="188"/>
                </a:lnTo>
                <a:lnTo>
                  <a:pt x="67" y="196"/>
                </a:lnTo>
                <a:lnTo>
                  <a:pt x="83" y="204"/>
                </a:lnTo>
                <a:lnTo>
                  <a:pt x="101" y="211"/>
                </a:lnTo>
                <a:lnTo>
                  <a:pt x="121" y="217"/>
                </a:lnTo>
                <a:lnTo>
                  <a:pt x="141" y="223"/>
                </a:lnTo>
                <a:lnTo>
                  <a:pt x="163" y="227"/>
                </a:lnTo>
                <a:lnTo>
                  <a:pt x="186" y="231"/>
                </a:lnTo>
                <a:lnTo>
                  <a:pt x="210" y="235"/>
                </a:lnTo>
                <a:lnTo>
                  <a:pt x="234" y="237"/>
                </a:lnTo>
                <a:lnTo>
                  <a:pt x="258" y="239"/>
                </a:lnTo>
                <a:lnTo>
                  <a:pt x="282" y="239"/>
                </a:lnTo>
                <a:lnTo>
                  <a:pt x="307" y="239"/>
                </a:lnTo>
                <a:lnTo>
                  <a:pt x="331" y="237"/>
                </a:lnTo>
                <a:lnTo>
                  <a:pt x="356" y="235"/>
                </a:lnTo>
                <a:lnTo>
                  <a:pt x="379" y="231"/>
                </a:lnTo>
                <a:lnTo>
                  <a:pt x="402" y="227"/>
                </a:lnTo>
                <a:lnTo>
                  <a:pt x="423" y="223"/>
                </a:lnTo>
                <a:lnTo>
                  <a:pt x="444" y="217"/>
                </a:lnTo>
                <a:lnTo>
                  <a:pt x="464" y="211"/>
                </a:lnTo>
                <a:lnTo>
                  <a:pt x="482" y="204"/>
                </a:lnTo>
                <a:lnTo>
                  <a:pt x="498" y="196"/>
                </a:lnTo>
                <a:lnTo>
                  <a:pt x="513" y="188"/>
                </a:lnTo>
                <a:lnTo>
                  <a:pt x="527"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Rectangle 54">
            <a:extLst>
              <a:ext uri="{FF2B5EF4-FFF2-40B4-BE49-F238E27FC236}">
                <a16:creationId xmlns:a16="http://schemas.microsoft.com/office/drawing/2014/main" id="{307627CF-2AD6-DDB7-AF29-7590DC45513B}"/>
              </a:ext>
            </a:extLst>
          </p:cNvPr>
          <p:cNvSpPr>
            <a:spLocks noChangeArrowheads="1"/>
          </p:cNvSpPr>
          <p:nvPr/>
        </p:nvSpPr>
        <p:spPr bwMode="auto">
          <a:xfrm>
            <a:off x="4310062" y="4783137"/>
            <a:ext cx="7000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b="1">
                <a:solidFill>
                  <a:srgbClr val="000000"/>
                </a:solidFill>
                <a:latin typeface="Arial" pitchFamily="34" charset="0"/>
              </a:rPr>
              <a:t>since</a:t>
            </a:r>
          </a:p>
        </p:txBody>
      </p:sp>
      <p:sp>
        <p:nvSpPr>
          <p:cNvPr id="52" name="Line 55">
            <a:extLst>
              <a:ext uri="{FF2B5EF4-FFF2-40B4-BE49-F238E27FC236}">
                <a16:creationId xmlns:a16="http://schemas.microsoft.com/office/drawing/2014/main" id="{DBC3BC07-6E7D-2F53-925D-FD61A5DDA8E4}"/>
              </a:ext>
            </a:extLst>
          </p:cNvPr>
          <p:cNvSpPr>
            <a:spLocks noChangeShapeType="1"/>
          </p:cNvSpPr>
          <p:nvPr/>
        </p:nvSpPr>
        <p:spPr bwMode="auto">
          <a:xfrm flipV="1">
            <a:off x="4691062" y="5164137"/>
            <a:ext cx="0" cy="4572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52">
            <a:extLst>
              <a:ext uri="{FF2B5EF4-FFF2-40B4-BE49-F238E27FC236}">
                <a16:creationId xmlns:a16="http://schemas.microsoft.com/office/drawing/2014/main" id="{F399048D-A2DF-3B15-7819-1EA578DC6206}"/>
              </a:ext>
            </a:extLst>
          </p:cNvPr>
          <p:cNvSpPr>
            <a:spLocks noChangeShapeType="1"/>
          </p:cNvSpPr>
          <p:nvPr/>
        </p:nvSpPr>
        <p:spPr bwMode="auto">
          <a:xfrm>
            <a:off x="3378200" y="5957486"/>
            <a:ext cx="644525" cy="0"/>
          </a:xfrm>
          <a:prstGeom prst="line">
            <a:avLst/>
          </a:prstGeom>
          <a:noFill/>
          <a:ln w="508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918280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4434-1F77-B7F2-2A08-90AA815D2F03}"/>
              </a:ext>
            </a:extLst>
          </p:cNvPr>
          <p:cNvSpPr>
            <a:spLocks noGrp="1"/>
          </p:cNvSpPr>
          <p:nvPr>
            <p:ph type="title"/>
          </p:nvPr>
        </p:nvSpPr>
        <p:spPr/>
        <p:txBody>
          <a:bodyPr/>
          <a:lstStyle/>
          <a:p>
            <a:r>
              <a:rPr lang="en-US"/>
              <a:t>Translating Aggregations</a:t>
            </a:r>
          </a:p>
        </p:txBody>
      </p:sp>
      <p:sp>
        <p:nvSpPr>
          <p:cNvPr id="3" name="Content Placeholder 2">
            <a:extLst>
              <a:ext uri="{FF2B5EF4-FFF2-40B4-BE49-F238E27FC236}">
                <a16:creationId xmlns:a16="http://schemas.microsoft.com/office/drawing/2014/main" id="{A8787364-3E03-3E9E-C356-5DAA29ECF496}"/>
              </a:ext>
            </a:extLst>
          </p:cNvPr>
          <p:cNvSpPr>
            <a:spLocks noGrp="1"/>
          </p:cNvSpPr>
          <p:nvPr>
            <p:ph idx="1"/>
          </p:nvPr>
        </p:nvSpPr>
        <p:spPr>
          <a:xfrm>
            <a:off x="152400" y="1295400"/>
            <a:ext cx="8382000" cy="5029200"/>
          </a:xfrm>
        </p:spPr>
        <p:txBody>
          <a:bodyPr/>
          <a:lstStyle/>
          <a:p>
            <a:pPr marL="0" indent="0">
              <a:buNone/>
            </a:pPr>
            <a:r>
              <a:rPr lang="en-US" sz="2400" dirty="0"/>
              <a:t>Standard approach:</a:t>
            </a:r>
          </a:p>
          <a:p>
            <a:pPr marL="457200" lvl="1">
              <a:buFont typeface="Wingdings" pitchFamily="2" charset="2"/>
              <a:buChar char="§"/>
            </a:pPr>
            <a:r>
              <a:rPr lang="en-US" sz="2400" dirty="0"/>
              <a:t>The Employees, Projects and Departments </a:t>
            </a:r>
            <a:br>
              <a:rPr lang="en-US" sz="2400" dirty="0"/>
            </a:br>
            <a:r>
              <a:rPr lang="en-US" sz="2400" dirty="0"/>
              <a:t>entity sets and the Sponsors relationship sets </a:t>
            </a:r>
            <a:br>
              <a:rPr lang="en-US" sz="2400" dirty="0"/>
            </a:br>
            <a:r>
              <a:rPr lang="en-US" sz="2400" dirty="0"/>
              <a:t>are translated as described previously</a:t>
            </a:r>
          </a:p>
          <a:p>
            <a:pPr lvl="1">
              <a:buFont typeface="Wingdings" pitchFamily="2" charset="2"/>
              <a:buChar char="§"/>
            </a:pPr>
            <a:endParaRPr lang="en-US" sz="2400" dirty="0"/>
          </a:p>
          <a:p>
            <a:pPr marL="457200" lvl="1">
              <a:buFont typeface="Wingdings" pitchFamily="2" charset="2"/>
              <a:buChar char="§"/>
            </a:pPr>
            <a:r>
              <a:rPr lang="en-US" sz="2400" dirty="0"/>
              <a:t>For the Monitors relationship, </a:t>
            </a:r>
            <a:br>
              <a:rPr lang="en-US" sz="2400" dirty="0"/>
            </a:br>
            <a:r>
              <a:rPr lang="en-US" sz="2400" dirty="0"/>
              <a:t>we create a relation with </a:t>
            </a:r>
            <a:br>
              <a:rPr lang="en-US" sz="2400" dirty="0"/>
            </a:br>
            <a:r>
              <a:rPr lang="en-US" sz="2400" dirty="0"/>
              <a:t>the following attributes:</a:t>
            </a:r>
          </a:p>
          <a:p>
            <a:pPr marL="914400" lvl="2">
              <a:buFont typeface="Wingdings" pitchFamily="2" charset="2"/>
              <a:buChar char="§"/>
            </a:pPr>
            <a:r>
              <a:rPr lang="en-US" dirty="0"/>
              <a:t>The key attribute of Employees (i.e., </a:t>
            </a:r>
            <a:r>
              <a:rPr lang="en-US" dirty="0" err="1"/>
              <a:t>ssn</a:t>
            </a:r>
            <a:r>
              <a:rPr lang="en-US" dirty="0"/>
              <a:t>)</a:t>
            </a:r>
          </a:p>
          <a:p>
            <a:pPr marL="914400" lvl="2">
              <a:buFont typeface="Wingdings" pitchFamily="2" charset="2"/>
              <a:buChar char="§"/>
            </a:pPr>
            <a:r>
              <a:rPr lang="en-US" dirty="0"/>
              <a:t>The key attributes of Sponsors (i.e., did, </a:t>
            </a:r>
            <a:r>
              <a:rPr lang="en-US" dirty="0" err="1"/>
              <a:t>pid</a:t>
            </a:r>
            <a:r>
              <a:rPr lang="en-US" dirty="0"/>
              <a:t>)</a:t>
            </a:r>
          </a:p>
          <a:p>
            <a:pPr marL="914400" lvl="2">
              <a:buFont typeface="Wingdings" pitchFamily="2" charset="2"/>
              <a:buChar char="§"/>
            </a:pPr>
            <a:r>
              <a:rPr lang="en-US" dirty="0"/>
              <a:t>The descriptive attributes of Monitors (i.e., until)</a:t>
            </a:r>
          </a:p>
          <a:p>
            <a:pPr lvl="2">
              <a:buFont typeface="Wingdings" pitchFamily="2" charset="2"/>
              <a:buChar char="§"/>
            </a:pPr>
            <a:endParaRPr lang="en-US" dirty="0"/>
          </a:p>
        </p:txBody>
      </p:sp>
      <p:sp>
        <p:nvSpPr>
          <p:cNvPr id="4" name="Slide Number Placeholder 3">
            <a:extLst>
              <a:ext uri="{FF2B5EF4-FFF2-40B4-BE49-F238E27FC236}">
                <a16:creationId xmlns:a16="http://schemas.microsoft.com/office/drawing/2014/main" id="{A2304FE3-7883-F861-8E84-276CADAF5EA9}"/>
              </a:ext>
            </a:extLst>
          </p:cNvPr>
          <p:cNvSpPr>
            <a:spLocks noGrp="1"/>
          </p:cNvSpPr>
          <p:nvPr>
            <p:ph type="sldNum" sz="quarter" idx="12"/>
          </p:nvPr>
        </p:nvSpPr>
        <p:spPr/>
        <p:txBody>
          <a:bodyPr/>
          <a:lstStyle/>
          <a:p>
            <a:fld id="{5FCA4BC5-AE2A-401E-9EDD-DF8812A14A6A}" type="slidenum">
              <a:rPr lang="en-US" smtClean="0"/>
              <a:t>44</a:t>
            </a:fld>
            <a:endParaRPr lang="en-US" dirty="0"/>
          </a:p>
        </p:txBody>
      </p:sp>
      <p:grpSp>
        <p:nvGrpSpPr>
          <p:cNvPr id="54" name="Group 53">
            <a:extLst>
              <a:ext uri="{FF2B5EF4-FFF2-40B4-BE49-F238E27FC236}">
                <a16:creationId xmlns:a16="http://schemas.microsoft.com/office/drawing/2014/main" id="{B04AA1C1-4289-898A-FCD4-E51E0E97B822}"/>
              </a:ext>
            </a:extLst>
          </p:cNvPr>
          <p:cNvGrpSpPr/>
          <p:nvPr/>
        </p:nvGrpSpPr>
        <p:grpSpPr>
          <a:xfrm>
            <a:off x="5638800" y="1600200"/>
            <a:ext cx="3384154" cy="2777000"/>
            <a:chOff x="1757362" y="1934368"/>
            <a:chExt cx="5844045" cy="4414838"/>
          </a:xfrm>
        </p:grpSpPr>
        <p:sp>
          <p:nvSpPr>
            <p:cNvPr id="55" name="Freeform 7">
              <a:extLst>
                <a:ext uri="{FF2B5EF4-FFF2-40B4-BE49-F238E27FC236}">
                  <a16:creationId xmlns:a16="http://schemas.microsoft.com/office/drawing/2014/main" id="{EF76904B-9370-3AC6-E27F-BF1F6C62566D}"/>
                </a:ext>
              </a:extLst>
            </p:cNvPr>
            <p:cNvSpPr>
              <a:spLocks/>
            </p:cNvSpPr>
            <p:nvPr/>
          </p:nvSpPr>
          <p:spPr bwMode="auto">
            <a:xfrm>
              <a:off x="4956174" y="5133181"/>
              <a:ext cx="896938" cy="381000"/>
            </a:xfrm>
            <a:custGeom>
              <a:avLst/>
              <a:gdLst>
                <a:gd name="T0" fmla="*/ 563 w 565"/>
                <a:gd name="T1" fmla="*/ 109 h 240"/>
                <a:gd name="T2" fmla="*/ 555 w 565"/>
                <a:gd name="T3" fmla="*/ 88 h 240"/>
                <a:gd name="T4" fmla="*/ 538 w 565"/>
                <a:gd name="T5" fmla="*/ 68 h 240"/>
                <a:gd name="T6" fmla="*/ 513 w 565"/>
                <a:gd name="T7" fmla="*/ 51 h 240"/>
                <a:gd name="T8" fmla="*/ 482 w 565"/>
                <a:gd name="T9" fmla="*/ 35 h 240"/>
                <a:gd name="T10" fmla="*/ 444 w 565"/>
                <a:gd name="T11" fmla="*/ 21 h 240"/>
                <a:gd name="T12" fmla="*/ 402 w 565"/>
                <a:gd name="T13" fmla="*/ 11 h 240"/>
                <a:gd name="T14" fmla="*/ 356 w 565"/>
                <a:gd name="T15" fmla="*/ 4 h 240"/>
                <a:gd name="T16" fmla="*/ 307 w 565"/>
                <a:gd name="T17" fmla="*/ 0 h 240"/>
                <a:gd name="T18" fmla="*/ 258 w 565"/>
                <a:gd name="T19" fmla="*/ 0 h 240"/>
                <a:gd name="T20" fmla="*/ 210 w 565"/>
                <a:gd name="T21" fmla="*/ 4 h 240"/>
                <a:gd name="T22" fmla="*/ 163 w 565"/>
                <a:gd name="T23" fmla="*/ 11 h 240"/>
                <a:gd name="T24" fmla="*/ 121 w 565"/>
                <a:gd name="T25" fmla="*/ 21 h 240"/>
                <a:gd name="T26" fmla="*/ 83 w 565"/>
                <a:gd name="T27" fmla="*/ 35 h 240"/>
                <a:gd name="T28" fmla="*/ 52 w 565"/>
                <a:gd name="T29" fmla="*/ 51 h 240"/>
                <a:gd name="T30" fmla="*/ 27 w 565"/>
                <a:gd name="T31" fmla="*/ 68 h 240"/>
                <a:gd name="T32" fmla="*/ 10 w 565"/>
                <a:gd name="T33" fmla="*/ 88 h 240"/>
                <a:gd name="T34" fmla="*/ 2 w 565"/>
                <a:gd name="T35" fmla="*/ 109 h 240"/>
                <a:gd name="T36" fmla="*/ 2 w 565"/>
                <a:gd name="T37" fmla="*/ 129 h 240"/>
                <a:gd name="T38" fmla="*/ 10 w 565"/>
                <a:gd name="T39" fmla="*/ 150 h 240"/>
                <a:gd name="T40" fmla="*/ 27 w 565"/>
                <a:gd name="T41" fmla="*/ 170 h 240"/>
                <a:gd name="T42" fmla="*/ 52 w 565"/>
                <a:gd name="T43" fmla="*/ 188 h 240"/>
                <a:gd name="T44" fmla="*/ 83 w 565"/>
                <a:gd name="T45" fmla="*/ 204 h 240"/>
                <a:gd name="T46" fmla="*/ 121 w 565"/>
                <a:gd name="T47" fmla="*/ 217 h 240"/>
                <a:gd name="T48" fmla="*/ 163 w 565"/>
                <a:gd name="T49" fmla="*/ 227 h 240"/>
                <a:gd name="T50" fmla="*/ 210 w 565"/>
                <a:gd name="T51" fmla="*/ 235 h 240"/>
                <a:gd name="T52" fmla="*/ 258 w 565"/>
                <a:gd name="T53" fmla="*/ 239 h 240"/>
                <a:gd name="T54" fmla="*/ 307 w 565"/>
                <a:gd name="T55" fmla="*/ 239 h 240"/>
                <a:gd name="T56" fmla="*/ 356 w 565"/>
                <a:gd name="T57" fmla="*/ 235 h 240"/>
                <a:gd name="T58" fmla="*/ 402 w 565"/>
                <a:gd name="T59" fmla="*/ 227 h 240"/>
                <a:gd name="T60" fmla="*/ 444 w 565"/>
                <a:gd name="T61" fmla="*/ 217 h 240"/>
                <a:gd name="T62" fmla="*/ 482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7" y="60"/>
                  </a:lnTo>
                  <a:lnTo>
                    <a:pt x="513" y="51"/>
                  </a:lnTo>
                  <a:lnTo>
                    <a:pt x="498" y="42"/>
                  </a:lnTo>
                  <a:lnTo>
                    <a:pt x="482" y="35"/>
                  </a:lnTo>
                  <a:lnTo>
                    <a:pt x="464" y="27"/>
                  </a:lnTo>
                  <a:lnTo>
                    <a:pt x="444" y="21"/>
                  </a:lnTo>
                  <a:lnTo>
                    <a:pt x="423" y="15"/>
                  </a:lnTo>
                  <a:lnTo>
                    <a:pt x="402" y="11"/>
                  </a:lnTo>
                  <a:lnTo>
                    <a:pt x="379" y="7"/>
                  </a:lnTo>
                  <a:lnTo>
                    <a:pt x="356" y="4"/>
                  </a:lnTo>
                  <a:lnTo>
                    <a:pt x="331" y="1"/>
                  </a:lnTo>
                  <a:lnTo>
                    <a:pt x="307" y="0"/>
                  </a:lnTo>
                  <a:lnTo>
                    <a:pt x="282" y="0"/>
                  </a:lnTo>
                  <a:lnTo>
                    <a:pt x="258" y="0"/>
                  </a:lnTo>
                  <a:lnTo>
                    <a:pt x="234" y="1"/>
                  </a:lnTo>
                  <a:lnTo>
                    <a:pt x="210" y="4"/>
                  </a:lnTo>
                  <a:lnTo>
                    <a:pt x="186" y="7"/>
                  </a:lnTo>
                  <a:lnTo>
                    <a:pt x="163" y="11"/>
                  </a:lnTo>
                  <a:lnTo>
                    <a:pt x="141" y="15"/>
                  </a:lnTo>
                  <a:lnTo>
                    <a:pt x="121" y="21"/>
                  </a:lnTo>
                  <a:lnTo>
                    <a:pt x="101" y="27"/>
                  </a:lnTo>
                  <a:lnTo>
                    <a:pt x="83" y="35"/>
                  </a:lnTo>
                  <a:lnTo>
                    <a:pt x="67" y="42"/>
                  </a:lnTo>
                  <a:lnTo>
                    <a:pt x="52" y="51"/>
                  </a:lnTo>
                  <a:lnTo>
                    <a:pt x="38" y="60"/>
                  </a:lnTo>
                  <a:lnTo>
                    <a:pt x="27" y="68"/>
                  </a:lnTo>
                  <a:lnTo>
                    <a:pt x="18" y="78"/>
                  </a:lnTo>
                  <a:lnTo>
                    <a:pt x="10" y="88"/>
                  </a:lnTo>
                  <a:lnTo>
                    <a:pt x="5" y="98"/>
                  </a:lnTo>
                  <a:lnTo>
                    <a:pt x="2" y="109"/>
                  </a:lnTo>
                  <a:lnTo>
                    <a:pt x="0" y="119"/>
                  </a:lnTo>
                  <a:lnTo>
                    <a:pt x="2" y="129"/>
                  </a:lnTo>
                  <a:lnTo>
                    <a:pt x="5" y="140"/>
                  </a:lnTo>
                  <a:lnTo>
                    <a:pt x="10" y="150"/>
                  </a:lnTo>
                  <a:lnTo>
                    <a:pt x="18" y="160"/>
                  </a:lnTo>
                  <a:lnTo>
                    <a:pt x="27" y="170"/>
                  </a:lnTo>
                  <a:lnTo>
                    <a:pt x="38" y="179"/>
                  </a:lnTo>
                  <a:lnTo>
                    <a:pt x="52" y="188"/>
                  </a:lnTo>
                  <a:lnTo>
                    <a:pt x="67" y="196"/>
                  </a:lnTo>
                  <a:lnTo>
                    <a:pt x="83" y="204"/>
                  </a:lnTo>
                  <a:lnTo>
                    <a:pt x="101" y="211"/>
                  </a:lnTo>
                  <a:lnTo>
                    <a:pt x="121" y="217"/>
                  </a:lnTo>
                  <a:lnTo>
                    <a:pt x="141" y="223"/>
                  </a:lnTo>
                  <a:lnTo>
                    <a:pt x="163" y="227"/>
                  </a:lnTo>
                  <a:lnTo>
                    <a:pt x="186" y="231"/>
                  </a:lnTo>
                  <a:lnTo>
                    <a:pt x="210" y="235"/>
                  </a:lnTo>
                  <a:lnTo>
                    <a:pt x="234" y="237"/>
                  </a:lnTo>
                  <a:lnTo>
                    <a:pt x="258" y="239"/>
                  </a:lnTo>
                  <a:lnTo>
                    <a:pt x="282" y="239"/>
                  </a:lnTo>
                  <a:lnTo>
                    <a:pt x="307" y="239"/>
                  </a:lnTo>
                  <a:lnTo>
                    <a:pt x="331" y="237"/>
                  </a:lnTo>
                  <a:lnTo>
                    <a:pt x="356" y="235"/>
                  </a:lnTo>
                  <a:lnTo>
                    <a:pt x="379" y="231"/>
                  </a:lnTo>
                  <a:lnTo>
                    <a:pt x="402" y="227"/>
                  </a:lnTo>
                  <a:lnTo>
                    <a:pt x="423" y="223"/>
                  </a:lnTo>
                  <a:lnTo>
                    <a:pt x="444" y="217"/>
                  </a:lnTo>
                  <a:lnTo>
                    <a:pt x="464" y="211"/>
                  </a:lnTo>
                  <a:lnTo>
                    <a:pt x="482" y="204"/>
                  </a:lnTo>
                  <a:lnTo>
                    <a:pt x="498" y="196"/>
                  </a:lnTo>
                  <a:lnTo>
                    <a:pt x="513" y="188"/>
                  </a:lnTo>
                  <a:lnTo>
                    <a:pt x="527"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56" name="Freeform 8">
              <a:extLst>
                <a:ext uri="{FF2B5EF4-FFF2-40B4-BE49-F238E27FC236}">
                  <a16:creationId xmlns:a16="http://schemas.microsoft.com/office/drawing/2014/main" id="{E54E878C-C5E0-BAF8-B113-17D37A002999}"/>
                </a:ext>
              </a:extLst>
            </p:cNvPr>
            <p:cNvSpPr>
              <a:spLocks/>
            </p:cNvSpPr>
            <p:nvPr/>
          </p:nvSpPr>
          <p:spPr bwMode="auto">
            <a:xfrm>
              <a:off x="6602412" y="5133181"/>
              <a:ext cx="896937" cy="381000"/>
            </a:xfrm>
            <a:custGeom>
              <a:avLst/>
              <a:gdLst>
                <a:gd name="T0" fmla="*/ 1 w 565"/>
                <a:gd name="T1" fmla="*/ 129 h 240"/>
                <a:gd name="T2" fmla="*/ 9 w 565"/>
                <a:gd name="T3" fmla="*/ 150 h 240"/>
                <a:gd name="T4" fmla="*/ 27 w 565"/>
                <a:gd name="T5" fmla="*/ 170 h 240"/>
                <a:gd name="T6" fmla="*/ 51 w 565"/>
                <a:gd name="T7" fmla="*/ 188 h 240"/>
                <a:gd name="T8" fmla="*/ 83 w 565"/>
                <a:gd name="T9" fmla="*/ 204 h 240"/>
                <a:gd name="T10" fmla="*/ 120 w 565"/>
                <a:gd name="T11" fmla="*/ 217 h 240"/>
                <a:gd name="T12" fmla="*/ 163 w 565"/>
                <a:gd name="T13" fmla="*/ 227 h 240"/>
                <a:gd name="T14" fmla="*/ 209 w 565"/>
                <a:gd name="T15" fmla="*/ 235 h 240"/>
                <a:gd name="T16" fmla="*/ 257 w 565"/>
                <a:gd name="T17" fmla="*/ 239 h 240"/>
                <a:gd name="T18" fmla="*/ 306 w 565"/>
                <a:gd name="T19" fmla="*/ 239 h 240"/>
                <a:gd name="T20" fmla="*/ 355 w 565"/>
                <a:gd name="T21" fmla="*/ 235 h 240"/>
                <a:gd name="T22" fmla="*/ 401 w 565"/>
                <a:gd name="T23" fmla="*/ 227 h 240"/>
                <a:gd name="T24" fmla="*/ 443 w 565"/>
                <a:gd name="T25" fmla="*/ 217 h 240"/>
                <a:gd name="T26" fmla="*/ 481 w 565"/>
                <a:gd name="T27" fmla="*/ 204 h 240"/>
                <a:gd name="T28" fmla="*/ 513 w 565"/>
                <a:gd name="T29" fmla="*/ 188 h 240"/>
                <a:gd name="T30" fmla="*/ 537 w 565"/>
                <a:gd name="T31" fmla="*/ 169 h 240"/>
                <a:gd name="T32" fmla="*/ 554 w 565"/>
                <a:gd name="T33" fmla="*/ 150 h 240"/>
                <a:gd name="T34" fmla="*/ 563 w 565"/>
                <a:gd name="T35" fmla="*/ 129 h 240"/>
                <a:gd name="T36" fmla="*/ 563 w 565"/>
                <a:gd name="T37" fmla="*/ 108 h 240"/>
                <a:gd name="T38" fmla="*/ 554 w 565"/>
                <a:gd name="T39" fmla="*/ 88 h 240"/>
                <a:gd name="T40" fmla="*/ 537 w 565"/>
                <a:gd name="T41" fmla="*/ 68 h 240"/>
                <a:gd name="T42" fmla="*/ 513 w 565"/>
                <a:gd name="T43" fmla="*/ 50 h 240"/>
                <a:gd name="T44" fmla="*/ 481 w 565"/>
                <a:gd name="T45" fmla="*/ 35 h 240"/>
                <a:gd name="T46" fmla="*/ 443 w 565"/>
                <a:gd name="T47" fmla="*/ 21 h 240"/>
                <a:gd name="T48" fmla="*/ 401 w 565"/>
                <a:gd name="T49" fmla="*/ 11 h 240"/>
                <a:gd name="T50" fmla="*/ 355 w 565"/>
                <a:gd name="T51" fmla="*/ 4 h 240"/>
                <a:gd name="T52" fmla="*/ 306 w 565"/>
                <a:gd name="T53" fmla="*/ 0 h 240"/>
                <a:gd name="T54" fmla="*/ 257 w 565"/>
                <a:gd name="T55" fmla="*/ 0 h 240"/>
                <a:gd name="T56" fmla="*/ 209 w 565"/>
                <a:gd name="T57" fmla="*/ 4 h 240"/>
                <a:gd name="T58" fmla="*/ 163 w 565"/>
                <a:gd name="T59" fmla="*/ 11 h 240"/>
                <a:gd name="T60" fmla="*/ 120 w 565"/>
                <a:gd name="T61" fmla="*/ 21 h 240"/>
                <a:gd name="T62" fmla="*/ 83 w 565"/>
                <a:gd name="T63" fmla="*/ 35 h 240"/>
                <a:gd name="T64" fmla="*/ 51 w 565"/>
                <a:gd name="T65" fmla="*/ 51 h 240"/>
                <a:gd name="T66" fmla="*/ 27 w 565"/>
                <a:gd name="T67" fmla="*/ 68 h 240"/>
                <a:gd name="T68" fmla="*/ 9 w 565"/>
                <a:gd name="T69" fmla="*/ 88 h 240"/>
                <a:gd name="T70" fmla="*/ 1 w 565"/>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0" y="119"/>
                  </a:moveTo>
                  <a:lnTo>
                    <a:pt x="1" y="129"/>
                  </a:lnTo>
                  <a:lnTo>
                    <a:pt x="4" y="140"/>
                  </a:lnTo>
                  <a:lnTo>
                    <a:pt x="9" y="150"/>
                  </a:lnTo>
                  <a:lnTo>
                    <a:pt x="17" y="160"/>
                  </a:lnTo>
                  <a:lnTo>
                    <a:pt x="27" y="170"/>
                  </a:lnTo>
                  <a:lnTo>
                    <a:pt x="38" y="179"/>
                  </a:lnTo>
                  <a:lnTo>
                    <a:pt x="51" y="188"/>
                  </a:lnTo>
                  <a:lnTo>
                    <a:pt x="66" y="196"/>
                  </a:lnTo>
                  <a:lnTo>
                    <a:pt x="83" y="204"/>
                  </a:lnTo>
                  <a:lnTo>
                    <a:pt x="101" y="211"/>
                  </a:lnTo>
                  <a:lnTo>
                    <a:pt x="120" y="217"/>
                  </a:lnTo>
                  <a:lnTo>
                    <a:pt x="141" y="223"/>
                  </a:lnTo>
                  <a:lnTo>
                    <a:pt x="163" y="227"/>
                  </a:lnTo>
                  <a:lnTo>
                    <a:pt x="185" y="231"/>
                  </a:lnTo>
                  <a:lnTo>
                    <a:pt x="209" y="235"/>
                  </a:lnTo>
                  <a:lnTo>
                    <a:pt x="233" y="237"/>
                  </a:lnTo>
                  <a:lnTo>
                    <a:pt x="257" y="239"/>
                  </a:lnTo>
                  <a:lnTo>
                    <a:pt x="282" y="239"/>
                  </a:lnTo>
                  <a:lnTo>
                    <a:pt x="306" y="239"/>
                  </a:lnTo>
                  <a:lnTo>
                    <a:pt x="331" y="237"/>
                  </a:lnTo>
                  <a:lnTo>
                    <a:pt x="355" y="235"/>
                  </a:lnTo>
                  <a:lnTo>
                    <a:pt x="378" y="231"/>
                  </a:lnTo>
                  <a:lnTo>
                    <a:pt x="401" y="227"/>
                  </a:lnTo>
                  <a:lnTo>
                    <a:pt x="423" y="223"/>
                  </a:lnTo>
                  <a:lnTo>
                    <a:pt x="443" y="217"/>
                  </a:lnTo>
                  <a:lnTo>
                    <a:pt x="463" y="211"/>
                  </a:lnTo>
                  <a:lnTo>
                    <a:pt x="481" y="204"/>
                  </a:lnTo>
                  <a:lnTo>
                    <a:pt x="498" y="196"/>
                  </a:lnTo>
                  <a:lnTo>
                    <a:pt x="513" y="188"/>
                  </a:lnTo>
                  <a:lnTo>
                    <a:pt x="526" y="179"/>
                  </a:lnTo>
                  <a:lnTo>
                    <a:pt x="537" y="169"/>
                  </a:lnTo>
                  <a:lnTo>
                    <a:pt x="547" y="160"/>
                  </a:lnTo>
                  <a:lnTo>
                    <a:pt x="554" y="150"/>
                  </a:lnTo>
                  <a:lnTo>
                    <a:pt x="559" y="140"/>
                  </a:lnTo>
                  <a:lnTo>
                    <a:pt x="563" y="129"/>
                  </a:lnTo>
                  <a:lnTo>
                    <a:pt x="564" y="119"/>
                  </a:lnTo>
                  <a:lnTo>
                    <a:pt x="563" y="108"/>
                  </a:lnTo>
                  <a:lnTo>
                    <a:pt x="559" y="98"/>
                  </a:lnTo>
                  <a:lnTo>
                    <a:pt x="554" y="88"/>
                  </a:lnTo>
                  <a:lnTo>
                    <a:pt x="547" y="78"/>
                  </a:lnTo>
                  <a:lnTo>
                    <a:pt x="537" y="68"/>
                  </a:lnTo>
                  <a:lnTo>
                    <a:pt x="526" y="59"/>
                  </a:lnTo>
                  <a:lnTo>
                    <a:pt x="513" y="50"/>
                  </a:lnTo>
                  <a:lnTo>
                    <a:pt x="498" y="42"/>
                  </a:lnTo>
                  <a:lnTo>
                    <a:pt x="481" y="35"/>
                  </a:lnTo>
                  <a:lnTo>
                    <a:pt x="463" y="27"/>
                  </a:lnTo>
                  <a:lnTo>
                    <a:pt x="443" y="21"/>
                  </a:lnTo>
                  <a:lnTo>
                    <a:pt x="423" y="15"/>
                  </a:lnTo>
                  <a:lnTo>
                    <a:pt x="401" y="11"/>
                  </a:lnTo>
                  <a:lnTo>
                    <a:pt x="378" y="6"/>
                  </a:lnTo>
                  <a:lnTo>
                    <a:pt x="355" y="4"/>
                  </a:lnTo>
                  <a:lnTo>
                    <a:pt x="331" y="1"/>
                  </a:lnTo>
                  <a:lnTo>
                    <a:pt x="306" y="0"/>
                  </a:lnTo>
                  <a:lnTo>
                    <a:pt x="282" y="0"/>
                  </a:lnTo>
                  <a:lnTo>
                    <a:pt x="257" y="0"/>
                  </a:lnTo>
                  <a:lnTo>
                    <a:pt x="233" y="1"/>
                  </a:lnTo>
                  <a:lnTo>
                    <a:pt x="209" y="4"/>
                  </a:lnTo>
                  <a:lnTo>
                    <a:pt x="185" y="7"/>
                  </a:lnTo>
                  <a:lnTo>
                    <a:pt x="163" y="11"/>
                  </a:lnTo>
                  <a:lnTo>
                    <a:pt x="141" y="16"/>
                  </a:lnTo>
                  <a:lnTo>
                    <a:pt x="120" y="21"/>
                  </a:lnTo>
                  <a:lnTo>
                    <a:pt x="100" y="27"/>
                  </a:lnTo>
                  <a:lnTo>
                    <a:pt x="83" y="35"/>
                  </a:lnTo>
                  <a:lnTo>
                    <a:pt x="66" y="42"/>
                  </a:lnTo>
                  <a:lnTo>
                    <a:pt x="51" y="51"/>
                  </a:lnTo>
                  <a:lnTo>
                    <a:pt x="38" y="60"/>
                  </a:lnTo>
                  <a:lnTo>
                    <a:pt x="27" y="68"/>
                  </a:lnTo>
                  <a:lnTo>
                    <a:pt x="17" y="78"/>
                  </a:lnTo>
                  <a:lnTo>
                    <a:pt x="9" y="88"/>
                  </a:lnTo>
                  <a:lnTo>
                    <a:pt x="4" y="98"/>
                  </a:lnTo>
                  <a:lnTo>
                    <a:pt x="1"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57" name="Freeform 9">
              <a:extLst>
                <a:ext uri="{FF2B5EF4-FFF2-40B4-BE49-F238E27FC236}">
                  <a16:creationId xmlns:a16="http://schemas.microsoft.com/office/drawing/2014/main" id="{E09AB93F-DADA-B0CE-21E2-D9068ABF7940}"/>
                </a:ext>
              </a:extLst>
            </p:cNvPr>
            <p:cNvSpPr>
              <a:spLocks/>
            </p:cNvSpPr>
            <p:nvPr/>
          </p:nvSpPr>
          <p:spPr bwMode="auto">
            <a:xfrm>
              <a:off x="2636837" y="4760118"/>
              <a:ext cx="1169987" cy="366713"/>
            </a:xfrm>
            <a:custGeom>
              <a:avLst/>
              <a:gdLst>
                <a:gd name="T0" fmla="*/ 736 w 737"/>
                <a:gd name="T1" fmla="*/ 105 h 231"/>
                <a:gd name="T2" fmla="*/ 724 w 737"/>
                <a:gd name="T3" fmla="*/ 85 h 231"/>
                <a:gd name="T4" fmla="*/ 702 w 737"/>
                <a:gd name="T5" fmla="*/ 67 h 231"/>
                <a:gd name="T6" fmla="*/ 670 w 737"/>
                <a:gd name="T7" fmla="*/ 48 h 231"/>
                <a:gd name="T8" fmla="*/ 628 w 737"/>
                <a:gd name="T9" fmla="*/ 33 h 231"/>
                <a:gd name="T10" fmla="*/ 579 w 737"/>
                <a:gd name="T11" fmla="*/ 21 h 231"/>
                <a:gd name="T12" fmla="*/ 524 w 737"/>
                <a:gd name="T13" fmla="*/ 10 h 231"/>
                <a:gd name="T14" fmla="*/ 464 w 737"/>
                <a:gd name="T15" fmla="*/ 3 h 231"/>
                <a:gd name="T16" fmla="*/ 400 w 737"/>
                <a:gd name="T17" fmla="*/ 0 h 231"/>
                <a:gd name="T18" fmla="*/ 336 w 737"/>
                <a:gd name="T19" fmla="*/ 0 h 231"/>
                <a:gd name="T20" fmla="*/ 274 w 737"/>
                <a:gd name="T21" fmla="*/ 3 h 231"/>
                <a:gd name="T22" fmla="*/ 214 w 737"/>
                <a:gd name="T23" fmla="*/ 10 h 231"/>
                <a:gd name="T24" fmla="*/ 157 w 737"/>
                <a:gd name="T25" fmla="*/ 21 h 231"/>
                <a:gd name="T26" fmla="*/ 108 w 737"/>
                <a:gd name="T27" fmla="*/ 33 h 231"/>
                <a:gd name="T28" fmla="*/ 66 w 737"/>
                <a:gd name="T29" fmla="*/ 48 h 231"/>
                <a:gd name="T30" fmla="*/ 35 w 737"/>
                <a:gd name="T31" fmla="*/ 67 h 231"/>
                <a:gd name="T32" fmla="*/ 13 w 737"/>
                <a:gd name="T33" fmla="*/ 85 h 231"/>
                <a:gd name="T34" fmla="*/ 1 w 737"/>
                <a:gd name="T35" fmla="*/ 105 h 231"/>
                <a:gd name="T36" fmla="*/ 1 w 737"/>
                <a:gd name="T37" fmla="*/ 125 h 231"/>
                <a:gd name="T38" fmla="*/ 13 w 737"/>
                <a:gd name="T39" fmla="*/ 144 h 231"/>
                <a:gd name="T40" fmla="*/ 35 w 737"/>
                <a:gd name="T41" fmla="*/ 163 h 231"/>
                <a:gd name="T42" fmla="*/ 66 w 737"/>
                <a:gd name="T43" fmla="*/ 181 h 231"/>
                <a:gd name="T44" fmla="*/ 108 w 737"/>
                <a:gd name="T45" fmla="*/ 196 h 231"/>
                <a:gd name="T46" fmla="*/ 157 w 737"/>
                <a:gd name="T47" fmla="*/ 208 h 231"/>
                <a:gd name="T48" fmla="*/ 214 w 737"/>
                <a:gd name="T49" fmla="*/ 219 h 231"/>
                <a:gd name="T50" fmla="*/ 274 w 737"/>
                <a:gd name="T51" fmla="*/ 226 h 231"/>
                <a:gd name="T52" fmla="*/ 336 w 737"/>
                <a:gd name="T53" fmla="*/ 229 h 231"/>
                <a:gd name="T54" fmla="*/ 400 w 737"/>
                <a:gd name="T55" fmla="*/ 229 h 231"/>
                <a:gd name="T56" fmla="*/ 464 w 737"/>
                <a:gd name="T57" fmla="*/ 226 h 231"/>
                <a:gd name="T58" fmla="*/ 524 w 737"/>
                <a:gd name="T59" fmla="*/ 219 h 231"/>
                <a:gd name="T60" fmla="*/ 579 w 737"/>
                <a:gd name="T61" fmla="*/ 208 h 231"/>
                <a:gd name="T62" fmla="*/ 628 w 737"/>
                <a:gd name="T63" fmla="*/ 196 h 231"/>
                <a:gd name="T64" fmla="*/ 670 w 737"/>
                <a:gd name="T65" fmla="*/ 181 h 231"/>
                <a:gd name="T66" fmla="*/ 702 w 737"/>
                <a:gd name="T67" fmla="*/ 163 h 231"/>
                <a:gd name="T68" fmla="*/ 724 w 737"/>
                <a:gd name="T69" fmla="*/ 144 h 231"/>
                <a:gd name="T70" fmla="*/ 736 w 737"/>
                <a:gd name="T71" fmla="*/ 12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7" h="231">
                  <a:moveTo>
                    <a:pt x="736" y="115"/>
                  </a:moveTo>
                  <a:lnTo>
                    <a:pt x="736" y="105"/>
                  </a:lnTo>
                  <a:lnTo>
                    <a:pt x="730" y="94"/>
                  </a:lnTo>
                  <a:lnTo>
                    <a:pt x="724" y="85"/>
                  </a:lnTo>
                  <a:lnTo>
                    <a:pt x="715" y="75"/>
                  </a:lnTo>
                  <a:lnTo>
                    <a:pt x="702" y="67"/>
                  </a:lnTo>
                  <a:lnTo>
                    <a:pt x="687" y="57"/>
                  </a:lnTo>
                  <a:lnTo>
                    <a:pt x="670" y="48"/>
                  </a:lnTo>
                  <a:lnTo>
                    <a:pt x="651" y="41"/>
                  </a:lnTo>
                  <a:lnTo>
                    <a:pt x="628" y="33"/>
                  </a:lnTo>
                  <a:lnTo>
                    <a:pt x="605" y="27"/>
                  </a:lnTo>
                  <a:lnTo>
                    <a:pt x="579" y="21"/>
                  </a:lnTo>
                  <a:lnTo>
                    <a:pt x="552" y="15"/>
                  </a:lnTo>
                  <a:lnTo>
                    <a:pt x="524" y="10"/>
                  </a:lnTo>
                  <a:lnTo>
                    <a:pt x="494" y="7"/>
                  </a:lnTo>
                  <a:lnTo>
                    <a:pt x="464" y="3"/>
                  </a:lnTo>
                  <a:lnTo>
                    <a:pt x="433" y="1"/>
                  </a:lnTo>
                  <a:lnTo>
                    <a:pt x="400" y="0"/>
                  </a:lnTo>
                  <a:lnTo>
                    <a:pt x="368" y="0"/>
                  </a:lnTo>
                  <a:lnTo>
                    <a:pt x="336" y="0"/>
                  </a:lnTo>
                  <a:lnTo>
                    <a:pt x="305" y="1"/>
                  </a:lnTo>
                  <a:lnTo>
                    <a:pt x="274" y="3"/>
                  </a:lnTo>
                  <a:lnTo>
                    <a:pt x="242" y="7"/>
                  </a:lnTo>
                  <a:lnTo>
                    <a:pt x="214" y="10"/>
                  </a:lnTo>
                  <a:lnTo>
                    <a:pt x="184" y="15"/>
                  </a:lnTo>
                  <a:lnTo>
                    <a:pt x="157" y="21"/>
                  </a:lnTo>
                  <a:lnTo>
                    <a:pt x="131" y="27"/>
                  </a:lnTo>
                  <a:lnTo>
                    <a:pt x="108" y="33"/>
                  </a:lnTo>
                  <a:lnTo>
                    <a:pt x="86" y="41"/>
                  </a:lnTo>
                  <a:lnTo>
                    <a:pt x="66" y="48"/>
                  </a:lnTo>
                  <a:lnTo>
                    <a:pt x="50" y="57"/>
                  </a:lnTo>
                  <a:lnTo>
                    <a:pt x="35" y="67"/>
                  </a:lnTo>
                  <a:lnTo>
                    <a:pt x="23" y="75"/>
                  </a:lnTo>
                  <a:lnTo>
                    <a:pt x="13" y="85"/>
                  </a:lnTo>
                  <a:lnTo>
                    <a:pt x="6" y="94"/>
                  </a:lnTo>
                  <a:lnTo>
                    <a:pt x="1" y="105"/>
                  </a:lnTo>
                  <a:lnTo>
                    <a:pt x="0" y="115"/>
                  </a:lnTo>
                  <a:lnTo>
                    <a:pt x="1" y="125"/>
                  </a:lnTo>
                  <a:lnTo>
                    <a:pt x="6" y="135"/>
                  </a:lnTo>
                  <a:lnTo>
                    <a:pt x="13" y="144"/>
                  </a:lnTo>
                  <a:lnTo>
                    <a:pt x="23" y="154"/>
                  </a:lnTo>
                  <a:lnTo>
                    <a:pt x="35" y="163"/>
                  </a:lnTo>
                  <a:lnTo>
                    <a:pt x="50" y="172"/>
                  </a:lnTo>
                  <a:lnTo>
                    <a:pt x="66" y="181"/>
                  </a:lnTo>
                  <a:lnTo>
                    <a:pt x="86" y="188"/>
                  </a:lnTo>
                  <a:lnTo>
                    <a:pt x="108" y="196"/>
                  </a:lnTo>
                  <a:lnTo>
                    <a:pt x="131" y="203"/>
                  </a:lnTo>
                  <a:lnTo>
                    <a:pt x="157" y="208"/>
                  </a:lnTo>
                  <a:lnTo>
                    <a:pt x="184" y="214"/>
                  </a:lnTo>
                  <a:lnTo>
                    <a:pt x="214" y="219"/>
                  </a:lnTo>
                  <a:lnTo>
                    <a:pt x="242" y="223"/>
                  </a:lnTo>
                  <a:lnTo>
                    <a:pt x="274" y="226"/>
                  </a:lnTo>
                  <a:lnTo>
                    <a:pt x="305" y="228"/>
                  </a:lnTo>
                  <a:lnTo>
                    <a:pt x="336" y="229"/>
                  </a:lnTo>
                  <a:lnTo>
                    <a:pt x="368" y="230"/>
                  </a:lnTo>
                  <a:lnTo>
                    <a:pt x="400" y="229"/>
                  </a:lnTo>
                  <a:lnTo>
                    <a:pt x="433" y="228"/>
                  </a:lnTo>
                  <a:lnTo>
                    <a:pt x="464" y="226"/>
                  </a:lnTo>
                  <a:lnTo>
                    <a:pt x="494" y="223"/>
                  </a:lnTo>
                  <a:lnTo>
                    <a:pt x="524" y="219"/>
                  </a:lnTo>
                  <a:lnTo>
                    <a:pt x="552" y="214"/>
                  </a:lnTo>
                  <a:lnTo>
                    <a:pt x="579" y="208"/>
                  </a:lnTo>
                  <a:lnTo>
                    <a:pt x="605" y="203"/>
                  </a:lnTo>
                  <a:lnTo>
                    <a:pt x="628" y="196"/>
                  </a:lnTo>
                  <a:lnTo>
                    <a:pt x="651" y="188"/>
                  </a:lnTo>
                  <a:lnTo>
                    <a:pt x="670" y="181"/>
                  </a:lnTo>
                  <a:lnTo>
                    <a:pt x="687" y="172"/>
                  </a:lnTo>
                  <a:lnTo>
                    <a:pt x="702" y="163"/>
                  </a:lnTo>
                  <a:lnTo>
                    <a:pt x="715" y="154"/>
                  </a:lnTo>
                  <a:lnTo>
                    <a:pt x="724" y="144"/>
                  </a:lnTo>
                  <a:lnTo>
                    <a:pt x="730" y="135"/>
                  </a:lnTo>
                  <a:lnTo>
                    <a:pt x="736" y="125"/>
                  </a:lnTo>
                  <a:lnTo>
                    <a:pt x="736" y="115"/>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58" name="Freeform 10">
              <a:extLst>
                <a:ext uri="{FF2B5EF4-FFF2-40B4-BE49-F238E27FC236}">
                  <a16:creationId xmlns:a16="http://schemas.microsoft.com/office/drawing/2014/main" id="{748152FE-77A9-8855-301C-BB0F19E1AF16}"/>
                </a:ext>
              </a:extLst>
            </p:cNvPr>
            <p:cNvSpPr>
              <a:spLocks/>
            </p:cNvSpPr>
            <p:nvPr/>
          </p:nvSpPr>
          <p:spPr bwMode="auto">
            <a:xfrm>
              <a:off x="1824037" y="5133181"/>
              <a:ext cx="896937" cy="381000"/>
            </a:xfrm>
            <a:custGeom>
              <a:avLst/>
              <a:gdLst>
                <a:gd name="T0" fmla="*/ 563 w 565"/>
                <a:gd name="T1" fmla="*/ 109 h 240"/>
                <a:gd name="T2" fmla="*/ 555 w 565"/>
                <a:gd name="T3" fmla="*/ 88 h 240"/>
                <a:gd name="T4" fmla="*/ 538 w 565"/>
                <a:gd name="T5" fmla="*/ 68 h 240"/>
                <a:gd name="T6" fmla="*/ 513 w 565"/>
                <a:gd name="T7" fmla="*/ 51 h 240"/>
                <a:gd name="T8" fmla="*/ 481 w 565"/>
                <a:gd name="T9" fmla="*/ 35 h 240"/>
                <a:gd name="T10" fmla="*/ 444 w 565"/>
                <a:gd name="T11" fmla="*/ 21 h 240"/>
                <a:gd name="T12" fmla="*/ 401 w 565"/>
                <a:gd name="T13" fmla="*/ 11 h 240"/>
                <a:gd name="T14" fmla="*/ 355 w 565"/>
                <a:gd name="T15" fmla="*/ 4 h 240"/>
                <a:gd name="T16" fmla="*/ 306 w 565"/>
                <a:gd name="T17" fmla="*/ 0 h 240"/>
                <a:gd name="T18" fmla="*/ 258 w 565"/>
                <a:gd name="T19" fmla="*/ 0 h 240"/>
                <a:gd name="T20" fmla="*/ 209 w 565"/>
                <a:gd name="T21" fmla="*/ 4 h 240"/>
                <a:gd name="T22" fmla="*/ 163 w 565"/>
                <a:gd name="T23" fmla="*/ 11 h 240"/>
                <a:gd name="T24" fmla="*/ 120 w 565"/>
                <a:gd name="T25" fmla="*/ 21 h 240"/>
                <a:gd name="T26" fmla="*/ 83 w 565"/>
                <a:gd name="T27" fmla="*/ 35 h 240"/>
                <a:gd name="T28" fmla="*/ 51 w 565"/>
                <a:gd name="T29" fmla="*/ 51 h 240"/>
                <a:gd name="T30" fmla="*/ 27 w 565"/>
                <a:gd name="T31" fmla="*/ 68 h 240"/>
                <a:gd name="T32" fmla="*/ 9 w 565"/>
                <a:gd name="T33" fmla="*/ 88 h 240"/>
                <a:gd name="T34" fmla="*/ 1 w 565"/>
                <a:gd name="T35" fmla="*/ 109 h 240"/>
                <a:gd name="T36" fmla="*/ 1 w 565"/>
                <a:gd name="T37" fmla="*/ 129 h 240"/>
                <a:gd name="T38" fmla="*/ 9 w 565"/>
                <a:gd name="T39" fmla="*/ 150 h 240"/>
                <a:gd name="T40" fmla="*/ 27 w 565"/>
                <a:gd name="T41" fmla="*/ 170 h 240"/>
                <a:gd name="T42" fmla="*/ 51 w 565"/>
                <a:gd name="T43" fmla="*/ 188 h 240"/>
                <a:gd name="T44" fmla="*/ 83 w 565"/>
                <a:gd name="T45" fmla="*/ 204 h 240"/>
                <a:gd name="T46" fmla="*/ 120 w 565"/>
                <a:gd name="T47" fmla="*/ 217 h 240"/>
                <a:gd name="T48" fmla="*/ 163 w 565"/>
                <a:gd name="T49" fmla="*/ 227 h 240"/>
                <a:gd name="T50" fmla="*/ 209 w 565"/>
                <a:gd name="T51" fmla="*/ 235 h 240"/>
                <a:gd name="T52" fmla="*/ 258 w 565"/>
                <a:gd name="T53" fmla="*/ 239 h 240"/>
                <a:gd name="T54" fmla="*/ 306 w 565"/>
                <a:gd name="T55" fmla="*/ 239 h 240"/>
                <a:gd name="T56" fmla="*/ 355 w 565"/>
                <a:gd name="T57" fmla="*/ 235 h 240"/>
                <a:gd name="T58" fmla="*/ 401 w 565"/>
                <a:gd name="T59" fmla="*/ 227 h 240"/>
                <a:gd name="T60" fmla="*/ 444 w 565"/>
                <a:gd name="T61" fmla="*/ 217 h 240"/>
                <a:gd name="T62" fmla="*/ 481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6" y="60"/>
                  </a:lnTo>
                  <a:lnTo>
                    <a:pt x="513" y="51"/>
                  </a:lnTo>
                  <a:lnTo>
                    <a:pt x="498" y="42"/>
                  </a:lnTo>
                  <a:lnTo>
                    <a:pt x="481" y="35"/>
                  </a:lnTo>
                  <a:lnTo>
                    <a:pt x="464" y="27"/>
                  </a:lnTo>
                  <a:lnTo>
                    <a:pt x="444" y="21"/>
                  </a:lnTo>
                  <a:lnTo>
                    <a:pt x="423" y="15"/>
                  </a:lnTo>
                  <a:lnTo>
                    <a:pt x="401" y="11"/>
                  </a:lnTo>
                  <a:lnTo>
                    <a:pt x="379" y="7"/>
                  </a:lnTo>
                  <a:lnTo>
                    <a:pt x="355" y="4"/>
                  </a:lnTo>
                  <a:lnTo>
                    <a:pt x="331" y="1"/>
                  </a:lnTo>
                  <a:lnTo>
                    <a:pt x="306" y="0"/>
                  </a:lnTo>
                  <a:lnTo>
                    <a:pt x="282" y="0"/>
                  </a:lnTo>
                  <a:lnTo>
                    <a:pt x="258" y="0"/>
                  </a:lnTo>
                  <a:lnTo>
                    <a:pt x="233" y="1"/>
                  </a:lnTo>
                  <a:lnTo>
                    <a:pt x="209" y="4"/>
                  </a:lnTo>
                  <a:lnTo>
                    <a:pt x="185" y="7"/>
                  </a:lnTo>
                  <a:lnTo>
                    <a:pt x="163" y="11"/>
                  </a:lnTo>
                  <a:lnTo>
                    <a:pt x="141" y="15"/>
                  </a:lnTo>
                  <a:lnTo>
                    <a:pt x="120" y="21"/>
                  </a:lnTo>
                  <a:lnTo>
                    <a:pt x="101" y="27"/>
                  </a:lnTo>
                  <a:lnTo>
                    <a:pt x="83" y="35"/>
                  </a:lnTo>
                  <a:lnTo>
                    <a:pt x="66" y="42"/>
                  </a:lnTo>
                  <a:lnTo>
                    <a:pt x="51" y="51"/>
                  </a:lnTo>
                  <a:lnTo>
                    <a:pt x="38" y="60"/>
                  </a:lnTo>
                  <a:lnTo>
                    <a:pt x="27" y="68"/>
                  </a:lnTo>
                  <a:lnTo>
                    <a:pt x="17" y="78"/>
                  </a:lnTo>
                  <a:lnTo>
                    <a:pt x="9" y="88"/>
                  </a:lnTo>
                  <a:lnTo>
                    <a:pt x="4" y="98"/>
                  </a:lnTo>
                  <a:lnTo>
                    <a:pt x="1" y="109"/>
                  </a:lnTo>
                  <a:lnTo>
                    <a:pt x="0" y="119"/>
                  </a:lnTo>
                  <a:lnTo>
                    <a:pt x="1" y="129"/>
                  </a:lnTo>
                  <a:lnTo>
                    <a:pt x="4" y="140"/>
                  </a:lnTo>
                  <a:lnTo>
                    <a:pt x="9" y="150"/>
                  </a:lnTo>
                  <a:lnTo>
                    <a:pt x="17" y="160"/>
                  </a:lnTo>
                  <a:lnTo>
                    <a:pt x="27" y="170"/>
                  </a:lnTo>
                  <a:lnTo>
                    <a:pt x="38" y="179"/>
                  </a:lnTo>
                  <a:lnTo>
                    <a:pt x="51" y="188"/>
                  </a:lnTo>
                  <a:lnTo>
                    <a:pt x="66" y="196"/>
                  </a:lnTo>
                  <a:lnTo>
                    <a:pt x="83" y="204"/>
                  </a:lnTo>
                  <a:lnTo>
                    <a:pt x="101" y="211"/>
                  </a:lnTo>
                  <a:lnTo>
                    <a:pt x="120" y="217"/>
                  </a:lnTo>
                  <a:lnTo>
                    <a:pt x="141" y="223"/>
                  </a:lnTo>
                  <a:lnTo>
                    <a:pt x="163" y="227"/>
                  </a:lnTo>
                  <a:lnTo>
                    <a:pt x="185" y="231"/>
                  </a:lnTo>
                  <a:lnTo>
                    <a:pt x="209" y="235"/>
                  </a:lnTo>
                  <a:lnTo>
                    <a:pt x="233" y="237"/>
                  </a:lnTo>
                  <a:lnTo>
                    <a:pt x="258" y="239"/>
                  </a:lnTo>
                  <a:lnTo>
                    <a:pt x="282" y="239"/>
                  </a:lnTo>
                  <a:lnTo>
                    <a:pt x="306" y="239"/>
                  </a:lnTo>
                  <a:lnTo>
                    <a:pt x="331" y="237"/>
                  </a:lnTo>
                  <a:lnTo>
                    <a:pt x="355" y="235"/>
                  </a:lnTo>
                  <a:lnTo>
                    <a:pt x="379" y="231"/>
                  </a:lnTo>
                  <a:lnTo>
                    <a:pt x="401" y="227"/>
                  </a:lnTo>
                  <a:lnTo>
                    <a:pt x="423" y="223"/>
                  </a:lnTo>
                  <a:lnTo>
                    <a:pt x="444" y="217"/>
                  </a:lnTo>
                  <a:lnTo>
                    <a:pt x="464" y="211"/>
                  </a:lnTo>
                  <a:lnTo>
                    <a:pt x="481" y="204"/>
                  </a:lnTo>
                  <a:lnTo>
                    <a:pt x="498" y="196"/>
                  </a:lnTo>
                  <a:lnTo>
                    <a:pt x="513" y="188"/>
                  </a:lnTo>
                  <a:lnTo>
                    <a:pt x="526"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59" name="Freeform 11">
              <a:extLst>
                <a:ext uri="{FF2B5EF4-FFF2-40B4-BE49-F238E27FC236}">
                  <a16:creationId xmlns:a16="http://schemas.microsoft.com/office/drawing/2014/main" id="{3942C982-AC9F-EBE1-A3F3-49F83562C2CF}"/>
                </a:ext>
              </a:extLst>
            </p:cNvPr>
            <p:cNvSpPr>
              <a:spLocks/>
            </p:cNvSpPr>
            <p:nvPr/>
          </p:nvSpPr>
          <p:spPr bwMode="auto">
            <a:xfrm>
              <a:off x="3468687" y="5133181"/>
              <a:ext cx="1133475" cy="381000"/>
            </a:xfrm>
            <a:custGeom>
              <a:avLst/>
              <a:gdLst>
                <a:gd name="T0" fmla="*/ 2 w 714"/>
                <a:gd name="T1" fmla="*/ 129 h 240"/>
                <a:gd name="T2" fmla="*/ 12 w 714"/>
                <a:gd name="T3" fmla="*/ 150 h 240"/>
                <a:gd name="T4" fmla="*/ 34 w 714"/>
                <a:gd name="T5" fmla="*/ 170 h 240"/>
                <a:gd name="T6" fmla="*/ 64 w 714"/>
                <a:gd name="T7" fmla="*/ 188 h 240"/>
                <a:gd name="T8" fmla="*/ 104 w 714"/>
                <a:gd name="T9" fmla="*/ 204 h 240"/>
                <a:gd name="T10" fmla="*/ 152 w 714"/>
                <a:gd name="T11" fmla="*/ 217 h 240"/>
                <a:gd name="T12" fmla="*/ 206 w 714"/>
                <a:gd name="T13" fmla="*/ 227 h 240"/>
                <a:gd name="T14" fmla="*/ 265 w 714"/>
                <a:gd name="T15" fmla="*/ 235 h 240"/>
                <a:gd name="T16" fmla="*/ 326 w 714"/>
                <a:gd name="T17" fmla="*/ 239 h 240"/>
                <a:gd name="T18" fmla="*/ 388 w 714"/>
                <a:gd name="T19" fmla="*/ 239 h 240"/>
                <a:gd name="T20" fmla="*/ 450 w 714"/>
                <a:gd name="T21" fmla="*/ 235 h 240"/>
                <a:gd name="T22" fmla="*/ 508 w 714"/>
                <a:gd name="T23" fmla="*/ 227 h 240"/>
                <a:gd name="T24" fmla="*/ 561 w 714"/>
                <a:gd name="T25" fmla="*/ 217 h 240"/>
                <a:gd name="T26" fmla="*/ 609 w 714"/>
                <a:gd name="T27" fmla="*/ 204 h 240"/>
                <a:gd name="T28" fmla="*/ 648 w 714"/>
                <a:gd name="T29" fmla="*/ 188 h 240"/>
                <a:gd name="T30" fmla="*/ 680 w 714"/>
                <a:gd name="T31" fmla="*/ 169 h 240"/>
                <a:gd name="T32" fmla="*/ 701 w 714"/>
                <a:gd name="T33" fmla="*/ 150 h 240"/>
                <a:gd name="T34" fmla="*/ 711 w 714"/>
                <a:gd name="T35" fmla="*/ 129 h 240"/>
                <a:gd name="T36" fmla="*/ 711 w 714"/>
                <a:gd name="T37" fmla="*/ 108 h 240"/>
                <a:gd name="T38" fmla="*/ 701 w 714"/>
                <a:gd name="T39" fmla="*/ 88 h 240"/>
                <a:gd name="T40" fmla="*/ 680 w 714"/>
                <a:gd name="T41" fmla="*/ 68 h 240"/>
                <a:gd name="T42" fmla="*/ 648 w 714"/>
                <a:gd name="T43" fmla="*/ 50 h 240"/>
                <a:gd name="T44" fmla="*/ 609 w 714"/>
                <a:gd name="T45" fmla="*/ 35 h 240"/>
                <a:gd name="T46" fmla="*/ 561 w 714"/>
                <a:gd name="T47" fmla="*/ 21 h 240"/>
                <a:gd name="T48" fmla="*/ 508 w 714"/>
                <a:gd name="T49" fmla="*/ 11 h 240"/>
                <a:gd name="T50" fmla="*/ 448 w 714"/>
                <a:gd name="T51" fmla="*/ 4 h 240"/>
                <a:gd name="T52" fmla="*/ 388 w 714"/>
                <a:gd name="T53" fmla="*/ 0 h 240"/>
                <a:gd name="T54" fmla="*/ 326 w 714"/>
                <a:gd name="T55" fmla="*/ 0 h 240"/>
                <a:gd name="T56" fmla="*/ 264 w 714"/>
                <a:gd name="T57" fmla="*/ 4 h 240"/>
                <a:gd name="T58" fmla="*/ 206 w 714"/>
                <a:gd name="T59" fmla="*/ 11 h 240"/>
                <a:gd name="T60" fmla="*/ 152 w 714"/>
                <a:gd name="T61" fmla="*/ 21 h 240"/>
                <a:gd name="T62" fmla="*/ 104 w 714"/>
                <a:gd name="T63" fmla="*/ 35 h 240"/>
                <a:gd name="T64" fmla="*/ 64 w 714"/>
                <a:gd name="T65" fmla="*/ 51 h 240"/>
                <a:gd name="T66" fmla="*/ 34 w 714"/>
                <a:gd name="T67" fmla="*/ 68 h 240"/>
                <a:gd name="T68" fmla="*/ 12 w 714"/>
                <a:gd name="T69" fmla="*/ 88 h 240"/>
                <a:gd name="T70" fmla="*/ 2 w 714"/>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14" h="240">
                  <a:moveTo>
                    <a:pt x="0" y="119"/>
                  </a:moveTo>
                  <a:lnTo>
                    <a:pt x="2" y="129"/>
                  </a:lnTo>
                  <a:lnTo>
                    <a:pt x="6" y="140"/>
                  </a:lnTo>
                  <a:lnTo>
                    <a:pt x="12" y="150"/>
                  </a:lnTo>
                  <a:lnTo>
                    <a:pt x="22" y="160"/>
                  </a:lnTo>
                  <a:lnTo>
                    <a:pt x="34" y="170"/>
                  </a:lnTo>
                  <a:lnTo>
                    <a:pt x="48" y="179"/>
                  </a:lnTo>
                  <a:lnTo>
                    <a:pt x="64" y="188"/>
                  </a:lnTo>
                  <a:lnTo>
                    <a:pt x="83" y="196"/>
                  </a:lnTo>
                  <a:lnTo>
                    <a:pt x="104" y="204"/>
                  </a:lnTo>
                  <a:lnTo>
                    <a:pt x="127" y="211"/>
                  </a:lnTo>
                  <a:lnTo>
                    <a:pt x="152" y="217"/>
                  </a:lnTo>
                  <a:lnTo>
                    <a:pt x="178" y="223"/>
                  </a:lnTo>
                  <a:lnTo>
                    <a:pt x="206" y="227"/>
                  </a:lnTo>
                  <a:lnTo>
                    <a:pt x="235" y="231"/>
                  </a:lnTo>
                  <a:lnTo>
                    <a:pt x="265" y="235"/>
                  </a:lnTo>
                  <a:lnTo>
                    <a:pt x="295" y="237"/>
                  </a:lnTo>
                  <a:lnTo>
                    <a:pt x="326" y="239"/>
                  </a:lnTo>
                  <a:lnTo>
                    <a:pt x="356" y="239"/>
                  </a:lnTo>
                  <a:lnTo>
                    <a:pt x="388" y="239"/>
                  </a:lnTo>
                  <a:lnTo>
                    <a:pt x="418" y="237"/>
                  </a:lnTo>
                  <a:lnTo>
                    <a:pt x="450" y="235"/>
                  </a:lnTo>
                  <a:lnTo>
                    <a:pt x="479" y="231"/>
                  </a:lnTo>
                  <a:lnTo>
                    <a:pt x="508" y="227"/>
                  </a:lnTo>
                  <a:lnTo>
                    <a:pt x="534" y="223"/>
                  </a:lnTo>
                  <a:lnTo>
                    <a:pt x="561" y="217"/>
                  </a:lnTo>
                  <a:lnTo>
                    <a:pt x="586" y="211"/>
                  </a:lnTo>
                  <a:lnTo>
                    <a:pt x="609" y="204"/>
                  </a:lnTo>
                  <a:lnTo>
                    <a:pt x="629" y="196"/>
                  </a:lnTo>
                  <a:lnTo>
                    <a:pt x="648" y="188"/>
                  </a:lnTo>
                  <a:lnTo>
                    <a:pt x="666" y="179"/>
                  </a:lnTo>
                  <a:lnTo>
                    <a:pt x="680" y="169"/>
                  </a:lnTo>
                  <a:lnTo>
                    <a:pt x="691" y="160"/>
                  </a:lnTo>
                  <a:lnTo>
                    <a:pt x="701" y="150"/>
                  </a:lnTo>
                  <a:lnTo>
                    <a:pt x="707" y="140"/>
                  </a:lnTo>
                  <a:lnTo>
                    <a:pt x="711" y="129"/>
                  </a:lnTo>
                  <a:lnTo>
                    <a:pt x="713" y="119"/>
                  </a:lnTo>
                  <a:lnTo>
                    <a:pt x="711" y="108"/>
                  </a:lnTo>
                  <a:lnTo>
                    <a:pt x="707" y="98"/>
                  </a:lnTo>
                  <a:lnTo>
                    <a:pt x="701" y="88"/>
                  </a:lnTo>
                  <a:lnTo>
                    <a:pt x="691" y="78"/>
                  </a:lnTo>
                  <a:lnTo>
                    <a:pt x="680" y="68"/>
                  </a:lnTo>
                  <a:lnTo>
                    <a:pt x="666" y="59"/>
                  </a:lnTo>
                  <a:lnTo>
                    <a:pt x="648" y="50"/>
                  </a:lnTo>
                  <a:lnTo>
                    <a:pt x="629" y="42"/>
                  </a:lnTo>
                  <a:lnTo>
                    <a:pt x="609" y="35"/>
                  </a:lnTo>
                  <a:lnTo>
                    <a:pt x="585" y="27"/>
                  </a:lnTo>
                  <a:lnTo>
                    <a:pt x="561" y="21"/>
                  </a:lnTo>
                  <a:lnTo>
                    <a:pt x="534" y="15"/>
                  </a:lnTo>
                  <a:lnTo>
                    <a:pt x="508" y="11"/>
                  </a:lnTo>
                  <a:lnTo>
                    <a:pt x="479" y="6"/>
                  </a:lnTo>
                  <a:lnTo>
                    <a:pt x="448" y="4"/>
                  </a:lnTo>
                  <a:lnTo>
                    <a:pt x="418" y="1"/>
                  </a:lnTo>
                  <a:lnTo>
                    <a:pt x="388" y="0"/>
                  </a:lnTo>
                  <a:lnTo>
                    <a:pt x="356" y="0"/>
                  </a:lnTo>
                  <a:lnTo>
                    <a:pt x="326" y="0"/>
                  </a:lnTo>
                  <a:lnTo>
                    <a:pt x="295" y="1"/>
                  </a:lnTo>
                  <a:lnTo>
                    <a:pt x="264" y="4"/>
                  </a:lnTo>
                  <a:lnTo>
                    <a:pt x="235" y="7"/>
                  </a:lnTo>
                  <a:lnTo>
                    <a:pt x="206" y="11"/>
                  </a:lnTo>
                  <a:lnTo>
                    <a:pt x="178" y="16"/>
                  </a:lnTo>
                  <a:lnTo>
                    <a:pt x="152" y="21"/>
                  </a:lnTo>
                  <a:lnTo>
                    <a:pt x="127" y="27"/>
                  </a:lnTo>
                  <a:lnTo>
                    <a:pt x="104" y="35"/>
                  </a:lnTo>
                  <a:lnTo>
                    <a:pt x="83" y="42"/>
                  </a:lnTo>
                  <a:lnTo>
                    <a:pt x="64" y="51"/>
                  </a:lnTo>
                  <a:lnTo>
                    <a:pt x="48" y="60"/>
                  </a:lnTo>
                  <a:lnTo>
                    <a:pt x="34" y="68"/>
                  </a:lnTo>
                  <a:lnTo>
                    <a:pt x="22" y="78"/>
                  </a:lnTo>
                  <a:lnTo>
                    <a:pt x="12" y="88"/>
                  </a:lnTo>
                  <a:lnTo>
                    <a:pt x="6" y="98"/>
                  </a:lnTo>
                  <a:lnTo>
                    <a:pt x="2"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0" name="Freeform 12">
              <a:extLst>
                <a:ext uri="{FF2B5EF4-FFF2-40B4-BE49-F238E27FC236}">
                  <a16:creationId xmlns:a16="http://schemas.microsoft.com/office/drawing/2014/main" id="{7A8B875C-A436-5F4F-E500-A1CFC4B074FC}"/>
                </a:ext>
              </a:extLst>
            </p:cNvPr>
            <p:cNvSpPr>
              <a:spLocks/>
            </p:cNvSpPr>
            <p:nvPr/>
          </p:nvSpPr>
          <p:spPr bwMode="auto">
            <a:xfrm>
              <a:off x="5762624" y="4852193"/>
              <a:ext cx="896938" cy="382588"/>
            </a:xfrm>
            <a:custGeom>
              <a:avLst/>
              <a:gdLst>
                <a:gd name="T0" fmla="*/ 563 w 565"/>
                <a:gd name="T1" fmla="*/ 110 h 241"/>
                <a:gd name="T2" fmla="*/ 554 w 565"/>
                <a:gd name="T3" fmla="*/ 89 h 241"/>
                <a:gd name="T4" fmla="*/ 538 w 565"/>
                <a:gd name="T5" fmla="*/ 70 h 241"/>
                <a:gd name="T6" fmla="*/ 513 w 565"/>
                <a:gd name="T7" fmla="*/ 51 h 241"/>
                <a:gd name="T8" fmla="*/ 482 w 565"/>
                <a:gd name="T9" fmla="*/ 35 h 241"/>
                <a:gd name="T10" fmla="*/ 444 w 565"/>
                <a:gd name="T11" fmla="*/ 22 h 241"/>
                <a:gd name="T12" fmla="*/ 401 w 565"/>
                <a:gd name="T13" fmla="*/ 11 h 241"/>
                <a:gd name="T14" fmla="*/ 355 w 565"/>
                <a:gd name="T15" fmla="*/ 4 h 241"/>
                <a:gd name="T16" fmla="*/ 307 w 565"/>
                <a:gd name="T17" fmla="*/ 1 h 241"/>
                <a:gd name="T18" fmla="*/ 257 w 565"/>
                <a:gd name="T19" fmla="*/ 1 h 241"/>
                <a:gd name="T20" fmla="*/ 209 w 565"/>
                <a:gd name="T21" fmla="*/ 4 h 241"/>
                <a:gd name="T22" fmla="*/ 163 w 565"/>
                <a:gd name="T23" fmla="*/ 11 h 241"/>
                <a:gd name="T24" fmla="*/ 120 w 565"/>
                <a:gd name="T25" fmla="*/ 22 h 241"/>
                <a:gd name="T26" fmla="*/ 83 w 565"/>
                <a:gd name="T27" fmla="*/ 35 h 241"/>
                <a:gd name="T28" fmla="*/ 51 w 565"/>
                <a:gd name="T29" fmla="*/ 51 h 241"/>
                <a:gd name="T30" fmla="*/ 26 w 565"/>
                <a:gd name="T31" fmla="*/ 70 h 241"/>
                <a:gd name="T32" fmla="*/ 10 w 565"/>
                <a:gd name="T33" fmla="*/ 89 h 241"/>
                <a:gd name="T34" fmla="*/ 1 w 565"/>
                <a:gd name="T35" fmla="*/ 110 h 241"/>
                <a:gd name="T36" fmla="*/ 1 w 565"/>
                <a:gd name="T37" fmla="*/ 131 h 241"/>
                <a:gd name="T38" fmla="*/ 10 w 565"/>
                <a:gd name="T39" fmla="*/ 151 h 241"/>
                <a:gd name="T40" fmla="*/ 26 w 565"/>
                <a:gd name="T41" fmla="*/ 171 h 241"/>
                <a:gd name="T42" fmla="*/ 51 w 565"/>
                <a:gd name="T43" fmla="*/ 189 h 241"/>
                <a:gd name="T44" fmla="*/ 83 w 565"/>
                <a:gd name="T45" fmla="*/ 205 h 241"/>
                <a:gd name="T46" fmla="*/ 120 w 565"/>
                <a:gd name="T47" fmla="*/ 218 h 241"/>
                <a:gd name="T48" fmla="*/ 163 w 565"/>
                <a:gd name="T49" fmla="*/ 229 h 241"/>
                <a:gd name="T50" fmla="*/ 209 w 565"/>
                <a:gd name="T51" fmla="*/ 236 h 241"/>
                <a:gd name="T52" fmla="*/ 257 w 565"/>
                <a:gd name="T53" fmla="*/ 239 h 241"/>
                <a:gd name="T54" fmla="*/ 307 w 565"/>
                <a:gd name="T55" fmla="*/ 239 h 241"/>
                <a:gd name="T56" fmla="*/ 355 w 565"/>
                <a:gd name="T57" fmla="*/ 236 h 241"/>
                <a:gd name="T58" fmla="*/ 401 w 565"/>
                <a:gd name="T59" fmla="*/ 229 h 241"/>
                <a:gd name="T60" fmla="*/ 444 w 565"/>
                <a:gd name="T61" fmla="*/ 218 h 241"/>
                <a:gd name="T62" fmla="*/ 482 w 565"/>
                <a:gd name="T63" fmla="*/ 205 h 241"/>
                <a:gd name="T64" fmla="*/ 513 w 565"/>
                <a:gd name="T65" fmla="*/ 189 h 241"/>
                <a:gd name="T66" fmla="*/ 538 w 565"/>
                <a:gd name="T67" fmla="*/ 171 h 241"/>
                <a:gd name="T68" fmla="*/ 554 w 565"/>
                <a:gd name="T69" fmla="*/ 151 h 241"/>
                <a:gd name="T70" fmla="*/ 563 w 565"/>
                <a:gd name="T71" fmla="*/ 13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1">
                  <a:moveTo>
                    <a:pt x="564" y="120"/>
                  </a:moveTo>
                  <a:lnTo>
                    <a:pt x="563" y="110"/>
                  </a:lnTo>
                  <a:lnTo>
                    <a:pt x="560" y="99"/>
                  </a:lnTo>
                  <a:lnTo>
                    <a:pt x="554" y="89"/>
                  </a:lnTo>
                  <a:lnTo>
                    <a:pt x="547" y="79"/>
                  </a:lnTo>
                  <a:lnTo>
                    <a:pt x="538" y="70"/>
                  </a:lnTo>
                  <a:lnTo>
                    <a:pt x="526" y="60"/>
                  </a:lnTo>
                  <a:lnTo>
                    <a:pt x="513" y="51"/>
                  </a:lnTo>
                  <a:lnTo>
                    <a:pt x="498" y="43"/>
                  </a:lnTo>
                  <a:lnTo>
                    <a:pt x="482" y="35"/>
                  </a:lnTo>
                  <a:lnTo>
                    <a:pt x="463" y="29"/>
                  </a:lnTo>
                  <a:lnTo>
                    <a:pt x="444" y="22"/>
                  </a:lnTo>
                  <a:lnTo>
                    <a:pt x="423" y="16"/>
                  </a:lnTo>
                  <a:lnTo>
                    <a:pt x="401" y="11"/>
                  </a:lnTo>
                  <a:lnTo>
                    <a:pt x="378" y="8"/>
                  </a:lnTo>
                  <a:lnTo>
                    <a:pt x="355" y="4"/>
                  </a:lnTo>
                  <a:lnTo>
                    <a:pt x="331" y="2"/>
                  </a:lnTo>
                  <a:lnTo>
                    <a:pt x="307" y="1"/>
                  </a:lnTo>
                  <a:lnTo>
                    <a:pt x="282" y="0"/>
                  </a:lnTo>
                  <a:lnTo>
                    <a:pt x="257" y="1"/>
                  </a:lnTo>
                  <a:lnTo>
                    <a:pt x="233" y="2"/>
                  </a:lnTo>
                  <a:lnTo>
                    <a:pt x="209" y="4"/>
                  </a:lnTo>
                  <a:lnTo>
                    <a:pt x="186" y="8"/>
                  </a:lnTo>
                  <a:lnTo>
                    <a:pt x="163" y="11"/>
                  </a:lnTo>
                  <a:lnTo>
                    <a:pt x="141" y="16"/>
                  </a:lnTo>
                  <a:lnTo>
                    <a:pt x="120" y="22"/>
                  </a:lnTo>
                  <a:lnTo>
                    <a:pt x="101" y="29"/>
                  </a:lnTo>
                  <a:lnTo>
                    <a:pt x="83" y="35"/>
                  </a:lnTo>
                  <a:lnTo>
                    <a:pt x="66" y="43"/>
                  </a:lnTo>
                  <a:lnTo>
                    <a:pt x="51" y="51"/>
                  </a:lnTo>
                  <a:lnTo>
                    <a:pt x="38" y="60"/>
                  </a:lnTo>
                  <a:lnTo>
                    <a:pt x="26" y="70"/>
                  </a:lnTo>
                  <a:lnTo>
                    <a:pt x="17" y="79"/>
                  </a:lnTo>
                  <a:lnTo>
                    <a:pt x="10" y="89"/>
                  </a:lnTo>
                  <a:lnTo>
                    <a:pt x="4" y="99"/>
                  </a:lnTo>
                  <a:lnTo>
                    <a:pt x="1" y="110"/>
                  </a:lnTo>
                  <a:lnTo>
                    <a:pt x="0" y="120"/>
                  </a:lnTo>
                  <a:lnTo>
                    <a:pt x="1" y="131"/>
                  </a:lnTo>
                  <a:lnTo>
                    <a:pt x="4" y="141"/>
                  </a:lnTo>
                  <a:lnTo>
                    <a:pt x="10" y="151"/>
                  </a:lnTo>
                  <a:lnTo>
                    <a:pt x="17" y="161"/>
                  </a:lnTo>
                  <a:lnTo>
                    <a:pt x="26" y="171"/>
                  </a:lnTo>
                  <a:lnTo>
                    <a:pt x="38" y="180"/>
                  </a:lnTo>
                  <a:lnTo>
                    <a:pt x="51" y="189"/>
                  </a:lnTo>
                  <a:lnTo>
                    <a:pt x="66" y="197"/>
                  </a:lnTo>
                  <a:lnTo>
                    <a:pt x="83" y="205"/>
                  </a:lnTo>
                  <a:lnTo>
                    <a:pt x="101" y="212"/>
                  </a:lnTo>
                  <a:lnTo>
                    <a:pt x="120" y="218"/>
                  </a:lnTo>
                  <a:lnTo>
                    <a:pt x="141" y="224"/>
                  </a:lnTo>
                  <a:lnTo>
                    <a:pt x="163" y="229"/>
                  </a:lnTo>
                  <a:lnTo>
                    <a:pt x="186" y="233"/>
                  </a:lnTo>
                  <a:lnTo>
                    <a:pt x="209" y="236"/>
                  </a:lnTo>
                  <a:lnTo>
                    <a:pt x="233" y="238"/>
                  </a:lnTo>
                  <a:lnTo>
                    <a:pt x="257" y="239"/>
                  </a:lnTo>
                  <a:lnTo>
                    <a:pt x="282" y="240"/>
                  </a:lnTo>
                  <a:lnTo>
                    <a:pt x="307" y="239"/>
                  </a:lnTo>
                  <a:lnTo>
                    <a:pt x="331" y="238"/>
                  </a:lnTo>
                  <a:lnTo>
                    <a:pt x="355" y="236"/>
                  </a:lnTo>
                  <a:lnTo>
                    <a:pt x="378" y="233"/>
                  </a:lnTo>
                  <a:lnTo>
                    <a:pt x="401" y="229"/>
                  </a:lnTo>
                  <a:lnTo>
                    <a:pt x="423" y="224"/>
                  </a:lnTo>
                  <a:lnTo>
                    <a:pt x="444" y="218"/>
                  </a:lnTo>
                  <a:lnTo>
                    <a:pt x="463" y="212"/>
                  </a:lnTo>
                  <a:lnTo>
                    <a:pt x="482" y="205"/>
                  </a:lnTo>
                  <a:lnTo>
                    <a:pt x="498" y="197"/>
                  </a:lnTo>
                  <a:lnTo>
                    <a:pt x="513" y="189"/>
                  </a:lnTo>
                  <a:lnTo>
                    <a:pt x="526" y="180"/>
                  </a:lnTo>
                  <a:lnTo>
                    <a:pt x="538" y="171"/>
                  </a:lnTo>
                  <a:lnTo>
                    <a:pt x="547" y="161"/>
                  </a:lnTo>
                  <a:lnTo>
                    <a:pt x="554" y="151"/>
                  </a:lnTo>
                  <a:lnTo>
                    <a:pt x="560" y="141"/>
                  </a:lnTo>
                  <a:lnTo>
                    <a:pt x="563" y="131"/>
                  </a:lnTo>
                  <a:lnTo>
                    <a:pt x="564"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1" name="Freeform 13">
              <a:extLst>
                <a:ext uri="{FF2B5EF4-FFF2-40B4-BE49-F238E27FC236}">
                  <a16:creationId xmlns:a16="http://schemas.microsoft.com/office/drawing/2014/main" id="{40392782-0707-50C5-D70A-53C9CE650BE4}"/>
                </a:ext>
              </a:extLst>
            </p:cNvPr>
            <p:cNvSpPr>
              <a:spLocks/>
            </p:cNvSpPr>
            <p:nvPr/>
          </p:nvSpPr>
          <p:spPr bwMode="auto">
            <a:xfrm>
              <a:off x="5348287" y="3723481"/>
              <a:ext cx="898525" cy="382587"/>
            </a:xfrm>
            <a:custGeom>
              <a:avLst/>
              <a:gdLst>
                <a:gd name="T0" fmla="*/ 563 w 566"/>
                <a:gd name="T1" fmla="*/ 109 h 241"/>
                <a:gd name="T2" fmla="*/ 555 w 566"/>
                <a:gd name="T3" fmla="*/ 89 h 241"/>
                <a:gd name="T4" fmla="*/ 538 w 566"/>
                <a:gd name="T5" fmla="*/ 69 h 241"/>
                <a:gd name="T6" fmla="*/ 513 w 566"/>
                <a:gd name="T7" fmla="*/ 51 h 241"/>
                <a:gd name="T8" fmla="*/ 482 w 566"/>
                <a:gd name="T9" fmla="*/ 35 h 241"/>
                <a:gd name="T10" fmla="*/ 444 w 566"/>
                <a:gd name="T11" fmla="*/ 22 h 241"/>
                <a:gd name="T12" fmla="*/ 401 w 566"/>
                <a:gd name="T13" fmla="*/ 12 h 241"/>
                <a:gd name="T14" fmla="*/ 355 w 566"/>
                <a:gd name="T15" fmla="*/ 4 h 241"/>
                <a:gd name="T16" fmla="*/ 307 w 566"/>
                <a:gd name="T17" fmla="*/ 1 h 241"/>
                <a:gd name="T18" fmla="*/ 258 w 566"/>
                <a:gd name="T19" fmla="*/ 1 h 241"/>
                <a:gd name="T20" fmla="*/ 209 w 566"/>
                <a:gd name="T21" fmla="*/ 4 h 241"/>
                <a:gd name="T22" fmla="*/ 163 w 566"/>
                <a:gd name="T23" fmla="*/ 12 h 241"/>
                <a:gd name="T24" fmla="*/ 120 w 566"/>
                <a:gd name="T25" fmla="*/ 22 h 241"/>
                <a:gd name="T26" fmla="*/ 83 w 566"/>
                <a:gd name="T27" fmla="*/ 35 h 241"/>
                <a:gd name="T28" fmla="*/ 51 w 566"/>
                <a:gd name="T29" fmla="*/ 51 h 241"/>
                <a:gd name="T30" fmla="*/ 27 w 566"/>
                <a:gd name="T31" fmla="*/ 69 h 241"/>
                <a:gd name="T32" fmla="*/ 10 w 566"/>
                <a:gd name="T33" fmla="*/ 89 h 241"/>
                <a:gd name="T34" fmla="*/ 2 w 566"/>
                <a:gd name="T35" fmla="*/ 109 h 241"/>
                <a:gd name="T36" fmla="*/ 2 w 566"/>
                <a:gd name="T37" fmla="*/ 130 h 241"/>
                <a:gd name="T38" fmla="*/ 10 w 566"/>
                <a:gd name="T39" fmla="*/ 151 h 241"/>
                <a:gd name="T40" fmla="*/ 27 w 566"/>
                <a:gd name="T41" fmla="*/ 170 h 241"/>
                <a:gd name="T42" fmla="*/ 51 w 566"/>
                <a:gd name="T43" fmla="*/ 188 h 241"/>
                <a:gd name="T44" fmla="*/ 83 w 566"/>
                <a:gd name="T45" fmla="*/ 205 h 241"/>
                <a:gd name="T46" fmla="*/ 120 w 566"/>
                <a:gd name="T47" fmla="*/ 218 h 241"/>
                <a:gd name="T48" fmla="*/ 163 w 566"/>
                <a:gd name="T49" fmla="*/ 228 h 241"/>
                <a:gd name="T50" fmla="*/ 209 w 566"/>
                <a:gd name="T51" fmla="*/ 236 h 241"/>
                <a:gd name="T52" fmla="*/ 258 w 566"/>
                <a:gd name="T53" fmla="*/ 239 h 241"/>
                <a:gd name="T54" fmla="*/ 307 w 566"/>
                <a:gd name="T55" fmla="*/ 239 h 241"/>
                <a:gd name="T56" fmla="*/ 355 w 566"/>
                <a:gd name="T57" fmla="*/ 236 h 241"/>
                <a:gd name="T58" fmla="*/ 401 w 566"/>
                <a:gd name="T59" fmla="*/ 228 h 241"/>
                <a:gd name="T60" fmla="*/ 444 w 566"/>
                <a:gd name="T61" fmla="*/ 218 h 241"/>
                <a:gd name="T62" fmla="*/ 482 w 566"/>
                <a:gd name="T63" fmla="*/ 205 h 241"/>
                <a:gd name="T64" fmla="*/ 513 w 566"/>
                <a:gd name="T65" fmla="*/ 188 h 241"/>
                <a:gd name="T66" fmla="*/ 538 w 566"/>
                <a:gd name="T67" fmla="*/ 170 h 241"/>
                <a:gd name="T68" fmla="*/ 555 w 566"/>
                <a:gd name="T69" fmla="*/ 151 h 241"/>
                <a:gd name="T70" fmla="*/ 563 w 566"/>
                <a:gd name="T71" fmla="*/ 13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6" h="241">
                  <a:moveTo>
                    <a:pt x="565" y="120"/>
                  </a:moveTo>
                  <a:lnTo>
                    <a:pt x="563" y="109"/>
                  </a:lnTo>
                  <a:lnTo>
                    <a:pt x="560" y="99"/>
                  </a:lnTo>
                  <a:lnTo>
                    <a:pt x="555" y="89"/>
                  </a:lnTo>
                  <a:lnTo>
                    <a:pt x="547" y="79"/>
                  </a:lnTo>
                  <a:lnTo>
                    <a:pt x="538" y="69"/>
                  </a:lnTo>
                  <a:lnTo>
                    <a:pt x="527" y="60"/>
                  </a:lnTo>
                  <a:lnTo>
                    <a:pt x="513" y="51"/>
                  </a:lnTo>
                  <a:lnTo>
                    <a:pt x="498" y="43"/>
                  </a:lnTo>
                  <a:lnTo>
                    <a:pt x="482" y="35"/>
                  </a:lnTo>
                  <a:lnTo>
                    <a:pt x="463" y="28"/>
                  </a:lnTo>
                  <a:lnTo>
                    <a:pt x="444" y="22"/>
                  </a:lnTo>
                  <a:lnTo>
                    <a:pt x="424" y="16"/>
                  </a:lnTo>
                  <a:lnTo>
                    <a:pt x="401" y="12"/>
                  </a:lnTo>
                  <a:lnTo>
                    <a:pt x="379" y="7"/>
                  </a:lnTo>
                  <a:lnTo>
                    <a:pt x="355" y="4"/>
                  </a:lnTo>
                  <a:lnTo>
                    <a:pt x="331" y="2"/>
                  </a:lnTo>
                  <a:lnTo>
                    <a:pt x="307" y="1"/>
                  </a:lnTo>
                  <a:lnTo>
                    <a:pt x="282" y="0"/>
                  </a:lnTo>
                  <a:lnTo>
                    <a:pt x="258" y="1"/>
                  </a:lnTo>
                  <a:lnTo>
                    <a:pt x="233" y="2"/>
                  </a:lnTo>
                  <a:lnTo>
                    <a:pt x="209" y="4"/>
                  </a:lnTo>
                  <a:lnTo>
                    <a:pt x="186" y="7"/>
                  </a:lnTo>
                  <a:lnTo>
                    <a:pt x="163" y="12"/>
                  </a:lnTo>
                  <a:lnTo>
                    <a:pt x="141" y="16"/>
                  </a:lnTo>
                  <a:lnTo>
                    <a:pt x="120" y="22"/>
                  </a:lnTo>
                  <a:lnTo>
                    <a:pt x="101" y="28"/>
                  </a:lnTo>
                  <a:lnTo>
                    <a:pt x="83" y="35"/>
                  </a:lnTo>
                  <a:lnTo>
                    <a:pt x="66" y="43"/>
                  </a:lnTo>
                  <a:lnTo>
                    <a:pt x="51" y="51"/>
                  </a:lnTo>
                  <a:lnTo>
                    <a:pt x="38" y="60"/>
                  </a:lnTo>
                  <a:lnTo>
                    <a:pt x="27" y="69"/>
                  </a:lnTo>
                  <a:lnTo>
                    <a:pt x="17" y="79"/>
                  </a:lnTo>
                  <a:lnTo>
                    <a:pt x="10" y="89"/>
                  </a:lnTo>
                  <a:lnTo>
                    <a:pt x="4" y="99"/>
                  </a:lnTo>
                  <a:lnTo>
                    <a:pt x="2" y="109"/>
                  </a:lnTo>
                  <a:lnTo>
                    <a:pt x="0" y="120"/>
                  </a:lnTo>
                  <a:lnTo>
                    <a:pt x="2" y="130"/>
                  </a:lnTo>
                  <a:lnTo>
                    <a:pt x="4" y="141"/>
                  </a:lnTo>
                  <a:lnTo>
                    <a:pt x="10" y="151"/>
                  </a:lnTo>
                  <a:lnTo>
                    <a:pt x="17" y="161"/>
                  </a:lnTo>
                  <a:lnTo>
                    <a:pt x="27" y="170"/>
                  </a:lnTo>
                  <a:lnTo>
                    <a:pt x="38" y="180"/>
                  </a:lnTo>
                  <a:lnTo>
                    <a:pt x="51" y="188"/>
                  </a:lnTo>
                  <a:lnTo>
                    <a:pt x="66" y="197"/>
                  </a:lnTo>
                  <a:lnTo>
                    <a:pt x="83" y="205"/>
                  </a:lnTo>
                  <a:lnTo>
                    <a:pt x="101" y="212"/>
                  </a:lnTo>
                  <a:lnTo>
                    <a:pt x="120" y="218"/>
                  </a:lnTo>
                  <a:lnTo>
                    <a:pt x="141" y="223"/>
                  </a:lnTo>
                  <a:lnTo>
                    <a:pt x="163" y="228"/>
                  </a:lnTo>
                  <a:lnTo>
                    <a:pt x="186" y="232"/>
                  </a:lnTo>
                  <a:lnTo>
                    <a:pt x="209" y="236"/>
                  </a:lnTo>
                  <a:lnTo>
                    <a:pt x="233" y="238"/>
                  </a:lnTo>
                  <a:lnTo>
                    <a:pt x="258" y="239"/>
                  </a:lnTo>
                  <a:lnTo>
                    <a:pt x="282" y="240"/>
                  </a:lnTo>
                  <a:lnTo>
                    <a:pt x="307" y="239"/>
                  </a:lnTo>
                  <a:lnTo>
                    <a:pt x="331" y="238"/>
                  </a:lnTo>
                  <a:lnTo>
                    <a:pt x="355" y="236"/>
                  </a:lnTo>
                  <a:lnTo>
                    <a:pt x="379" y="232"/>
                  </a:lnTo>
                  <a:lnTo>
                    <a:pt x="401" y="228"/>
                  </a:lnTo>
                  <a:lnTo>
                    <a:pt x="424" y="223"/>
                  </a:lnTo>
                  <a:lnTo>
                    <a:pt x="444" y="218"/>
                  </a:lnTo>
                  <a:lnTo>
                    <a:pt x="463" y="212"/>
                  </a:lnTo>
                  <a:lnTo>
                    <a:pt x="482" y="205"/>
                  </a:lnTo>
                  <a:lnTo>
                    <a:pt x="498" y="197"/>
                  </a:lnTo>
                  <a:lnTo>
                    <a:pt x="513" y="188"/>
                  </a:lnTo>
                  <a:lnTo>
                    <a:pt x="527" y="180"/>
                  </a:lnTo>
                  <a:lnTo>
                    <a:pt x="538" y="170"/>
                  </a:lnTo>
                  <a:lnTo>
                    <a:pt x="547" y="161"/>
                  </a:lnTo>
                  <a:lnTo>
                    <a:pt x="555" y="151"/>
                  </a:lnTo>
                  <a:lnTo>
                    <a:pt x="560" y="141"/>
                  </a:lnTo>
                  <a:lnTo>
                    <a:pt x="563" y="130"/>
                  </a:lnTo>
                  <a:lnTo>
                    <a:pt x="565"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2" name="Freeform 14">
              <a:extLst>
                <a:ext uri="{FF2B5EF4-FFF2-40B4-BE49-F238E27FC236}">
                  <a16:creationId xmlns:a16="http://schemas.microsoft.com/office/drawing/2014/main" id="{E696CD15-AA63-F66C-E91E-232B20D7C040}"/>
                </a:ext>
              </a:extLst>
            </p:cNvPr>
            <p:cNvSpPr>
              <a:spLocks/>
            </p:cNvSpPr>
            <p:nvPr/>
          </p:nvSpPr>
          <p:spPr bwMode="auto">
            <a:xfrm>
              <a:off x="5762624" y="5747543"/>
              <a:ext cx="1355725" cy="387350"/>
            </a:xfrm>
            <a:custGeom>
              <a:avLst/>
              <a:gdLst>
                <a:gd name="T0" fmla="*/ 853 w 854"/>
                <a:gd name="T1" fmla="*/ 243 h 244"/>
                <a:gd name="T2" fmla="*/ 853 w 854"/>
                <a:gd name="T3" fmla="*/ 0 h 244"/>
                <a:gd name="T4" fmla="*/ 0 w 854"/>
                <a:gd name="T5" fmla="*/ 0 h 244"/>
                <a:gd name="T6" fmla="*/ 0 w 854"/>
                <a:gd name="T7" fmla="*/ 243 h 244"/>
                <a:gd name="T8" fmla="*/ 853 w 854"/>
                <a:gd name="T9" fmla="*/ 243 h 244"/>
              </a:gdLst>
              <a:ahLst/>
              <a:cxnLst>
                <a:cxn ang="0">
                  <a:pos x="T0" y="T1"/>
                </a:cxn>
                <a:cxn ang="0">
                  <a:pos x="T2" y="T3"/>
                </a:cxn>
                <a:cxn ang="0">
                  <a:pos x="T4" y="T5"/>
                </a:cxn>
                <a:cxn ang="0">
                  <a:pos x="T6" y="T7"/>
                </a:cxn>
                <a:cxn ang="0">
                  <a:pos x="T8" y="T9"/>
                </a:cxn>
              </a:cxnLst>
              <a:rect l="0" t="0" r="r" b="b"/>
              <a:pathLst>
                <a:path w="854" h="244">
                  <a:moveTo>
                    <a:pt x="853" y="243"/>
                  </a:moveTo>
                  <a:lnTo>
                    <a:pt x="853" y="0"/>
                  </a:lnTo>
                  <a:lnTo>
                    <a:pt x="0" y="0"/>
                  </a:lnTo>
                  <a:lnTo>
                    <a:pt x="0" y="243"/>
                  </a:lnTo>
                  <a:lnTo>
                    <a:pt x="853" y="24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3" name="Freeform 15">
              <a:extLst>
                <a:ext uri="{FF2B5EF4-FFF2-40B4-BE49-F238E27FC236}">
                  <a16:creationId xmlns:a16="http://schemas.microsoft.com/office/drawing/2014/main" id="{E71FB756-3FE5-6F52-DE90-E57E0DE3D395}"/>
                </a:ext>
              </a:extLst>
            </p:cNvPr>
            <p:cNvSpPr>
              <a:spLocks/>
            </p:cNvSpPr>
            <p:nvPr/>
          </p:nvSpPr>
          <p:spPr bwMode="auto">
            <a:xfrm>
              <a:off x="2628899" y="5747543"/>
              <a:ext cx="896938" cy="392113"/>
            </a:xfrm>
            <a:custGeom>
              <a:avLst/>
              <a:gdLst>
                <a:gd name="T0" fmla="*/ 564 w 565"/>
                <a:gd name="T1" fmla="*/ 246 h 247"/>
                <a:gd name="T2" fmla="*/ 564 w 565"/>
                <a:gd name="T3" fmla="*/ 0 h 247"/>
                <a:gd name="T4" fmla="*/ 0 w 565"/>
                <a:gd name="T5" fmla="*/ 0 h 247"/>
                <a:gd name="T6" fmla="*/ 0 w 565"/>
                <a:gd name="T7" fmla="*/ 246 h 247"/>
                <a:gd name="T8" fmla="*/ 564 w 565"/>
                <a:gd name="T9" fmla="*/ 246 h 247"/>
              </a:gdLst>
              <a:ahLst/>
              <a:cxnLst>
                <a:cxn ang="0">
                  <a:pos x="T0" y="T1"/>
                </a:cxn>
                <a:cxn ang="0">
                  <a:pos x="T2" y="T3"/>
                </a:cxn>
                <a:cxn ang="0">
                  <a:pos x="T4" y="T5"/>
                </a:cxn>
                <a:cxn ang="0">
                  <a:pos x="T6" y="T7"/>
                </a:cxn>
                <a:cxn ang="0">
                  <a:pos x="T8" y="T9"/>
                </a:cxn>
              </a:cxnLst>
              <a:rect l="0" t="0" r="r" b="b"/>
              <a:pathLst>
                <a:path w="565" h="247">
                  <a:moveTo>
                    <a:pt x="564" y="246"/>
                  </a:moveTo>
                  <a:lnTo>
                    <a:pt x="564" y="0"/>
                  </a:lnTo>
                  <a:lnTo>
                    <a:pt x="0" y="0"/>
                  </a:lnTo>
                  <a:lnTo>
                    <a:pt x="0" y="246"/>
                  </a:lnTo>
                  <a:lnTo>
                    <a:pt x="564" y="24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4" name="Freeform 16">
              <a:extLst>
                <a:ext uri="{FF2B5EF4-FFF2-40B4-BE49-F238E27FC236}">
                  <a16:creationId xmlns:a16="http://schemas.microsoft.com/office/drawing/2014/main" id="{DDF0EDC5-62A5-69B8-CC39-F9A34746B1D9}"/>
                </a:ext>
              </a:extLst>
            </p:cNvPr>
            <p:cNvSpPr>
              <a:spLocks/>
            </p:cNvSpPr>
            <p:nvPr/>
          </p:nvSpPr>
          <p:spPr bwMode="auto">
            <a:xfrm>
              <a:off x="3871912" y="3590131"/>
              <a:ext cx="1276350" cy="627062"/>
            </a:xfrm>
            <a:custGeom>
              <a:avLst/>
              <a:gdLst>
                <a:gd name="T0" fmla="*/ 0 w 804"/>
                <a:gd name="T1" fmla="*/ 197 h 395"/>
                <a:gd name="T2" fmla="*/ 396 w 804"/>
                <a:gd name="T3" fmla="*/ 0 h 395"/>
                <a:gd name="T4" fmla="*/ 803 w 804"/>
                <a:gd name="T5" fmla="*/ 204 h 395"/>
                <a:gd name="T6" fmla="*/ 396 w 804"/>
                <a:gd name="T7" fmla="*/ 394 h 395"/>
                <a:gd name="T8" fmla="*/ 0 w 804"/>
                <a:gd name="T9" fmla="*/ 197 h 395"/>
              </a:gdLst>
              <a:ahLst/>
              <a:cxnLst>
                <a:cxn ang="0">
                  <a:pos x="T0" y="T1"/>
                </a:cxn>
                <a:cxn ang="0">
                  <a:pos x="T2" y="T3"/>
                </a:cxn>
                <a:cxn ang="0">
                  <a:pos x="T4" y="T5"/>
                </a:cxn>
                <a:cxn ang="0">
                  <a:pos x="T6" y="T7"/>
                </a:cxn>
                <a:cxn ang="0">
                  <a:pos x="T8" y="T9"/>
                </a:cxn>
              </a:cxnLst>
              <a:rect l="0" t="0" r="r" b="b"/>
              <a:pathLst>
                <a:path w="804" h="395">
                  <a:moveTo>
                    <a:pt x="0" y="197"/>
                  </a:moveTo>
                  <a:lnTo>
                    <a:pt x="396" y="0"/>
                  </a:lnTo>
                  <a:lnTo>
                    <a:pt x="803" y="204"/>
                  </a:lnTo>
                  <a:lnTo>
                    <a:pt x="396" y="394"/>
                  </a:lnTo>
                  <a:lnTo>
                    <a:pt x="0" y="19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5" name="Freeform 17">
              <a:extLst>
                <a:ext uri="{FF2B5EF4-FFF2-40B4-BE49-F238E27FC236}">
                  <a16:creationId xmlns:a16="http://schemas.microsoft.com/office/drawing/2014/main" id="{91B274FB-6221-37AA-74B2-C03E14B176FE}"/>
                </a:ext>
              </a:extLst>
            </p:cNvPr>
            <p:cNvSpPr>
              <a:spLocks/>
            </p:cNvSpPr>
            <p:nvPr/>
          </p:nvSpPr>
          <p:spPr bwMode="auto">
            <a:xfrm>
              <a:off x="4152899" y="5569743"/>
              <a:ext cx="1371600" cy="658813"/>
            </a:xfrm>
            <a:custGeom>
              <a:avLst/>
              <a:gdLst>
                <a:gd name="T0" fmla="*/ 0 w 864"/>
                <a:gd name="T1" fmla="*/ 208 h 415"/>
                <a:gd name="T2" fmla="*/ 426 w 864"/>
                <a:gd name="T3" fmla="*/ 0 h 415"/>
                <a:gd name="T4" fmla="*/ 863 w 864"/>
                <a:gd name="T5" fmla="*/ 214 h 415"/>
                <a:gd name="T6" fmla="*/ 426 w 864"/>
                <a:gd name="T7" fmla="*/ 414 h 415"/>
                <a:gd name="T8" fmla="*/ 0 w 864"/>
                <a:gd name="T9" fmla="*/ 208 h 415"/>
              </a:gdLst>
              <a:ahLst/>
              <a:cxnLst>
                <a:cxn ang="0">
                  <a:pos x="T0" y="T1"/>
                </a:cxn>
                <a:cxn ang="0">
                  <a:pos x="T2" y="T3"/>
                </a:cxn>
                <a:cxn ang="0">
                  <a:pos x="T4" y="T5"/>
                </a:cxn>
                <a:cxn ang="0">
                  <a:pos x="T6" y="T7"/>
                </a:cxn>
                <a:cxn ang="0">
                  <a:pos x="T8" y="T9"/>
                </a:cxn>
              </a:cxnLst>
              <a:rect l="0" t="0" r="r" b="b"/>
              <a:pathLst>
                <a:path w="864" h="415">
                  <a:moveTo>
                    <a:pt x="0" y="208"/>
                  </a:moveTo>
                  <a:lnTo>
                    <a:pt x="426" y="0"/>
                  </a:lnTo>
                  <a:lnTo>
                    <a:pt x="863" y="214"/>
                  </a:lnTo>
                  <a:lnTo>
                    <a:pt x="426" y="414"/>
                  </a:lnTo>
                  <a:lnTo>
                    <a:pt x="0" y="20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66" name="Rectangle 18">
              <a:extLst>
                <a:ext uri="{FF2B5EF4-FFF2-40B4-BE49-F238E27FC236}">
                  <a16:creationId xmlns:a16="http://schemas.microsoft.com/office/drawing/2014/main" id="{3B550687-E6BF-0E69-2737-DBA7AC03608F}"/>
                </a:ext>
              </a:extLst>
            </p:cNvPr>
            <p:cNvSpPr>
              <a:spLocks noChangeArrowheads="1"/>
            </p:cNvSpPr>
            <p:nvPr/>
          </p:nvSpPr>
          <p:spPr bwMode="auto">
            <a:xfrm>
              <a:off x="6621462" y="5160168"/>
              <a:ext cx="979945"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budget</a:t>
              </a:r>
            </a:p>
          </p:txBody>
        </p:sp>
        <p:sp>
          <p:nvSpPr>
            <p:cNvPr id="67" name="Rectangle 19">
              <a:extLst>
                <a:ext uri="{FF2B5EF4-FFF2-40B4-BE49-F238E27FC236}">
                  <a16:creationId xmlns:a16="http://schemas.microsoft.com/office/drawing/2014/main" id="{1BFC822D-FD02-4E2D-7A37-187FC38A1202}"/>
                </a:ext>
              </a:extLst>
            </p:cNvPr>
            <p:cNvSpPr>
              <a:spLocks noChangeArrowheads="1"/>
            </p:cNvSpPr>
            <p:nvPr/>
          </p:nvSpPr>
          <p:spPr bwMode="auto">
            <a:xfrm>
              <a:off x="5105398" y="5142706"/>
              <a:ext cx="614543"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u="sng">
                  <a:solidFill>
                    <a:srgbClr val="000000"/>
                  </a:solidFill>
                  <a:latin typeface="Arial" pitchFamily="34" charset="0"/>
                </a:rPr>
                <a:t>did</a:t>
              </a:r>
            </a:p>
          </p:txBody>
        </p:sp>
        <p:sp>
          <p:nvSpPr>
            <p:cNvPr id="68" name="Rectangle 20">
              <a:extLst>
                <a:ext uri="{FF2B5EF4-FFF2-40B4-BE49-F238E27FC236}">
                  <a16:creationId xmlns:a16="http://schemas.microsoft.com/office/drawing/2014/main" id="{BDFEB84D-41FE-0C2A-07D7-A82BF8C327CB}"/>
                </a:ext>
              </a:extLst>
            </p:cNvPr>
            <p:cNvSpPr>
              <a:spLocks noChangeArrowheads="1"/>
            </p:cNvSpPr>
            <p:nvPr/>
          </p:nvSpPr>
          <p:spPr bwMode="auto">
            <a:xfrm>
              <a:off x="2071686" y="5122069"/>
              <a:ext cx="614543"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u="sng">
                  <a:solidFill>
                    <a:srgbClr val="000000"/>
                  </a:solidFill>
                  <a:latin typeface="Arial" pitchFamily="34" charset="0"/>
                </a:rPr>
                <a:t>pid</a:t>
              </a:r>
            </a:p>
          </p:txBody>
        </p:sp>
        <p:sp>
          <p:nvSpPr>
            <p:cNvPr id="69" name="Rectangle 21">
              <a:extLst>
                <a:ext uri="{FF2B5EF4-FFF2-40B4-BE49-F238E27FC236}">
                  <a16:creationId xmlns:a16="http://schemas.microsoft.com/office/drawing/2014/main" id="{DC4C8393-173A-6EB7-96DF-DD65CE093910}"/>
                </a:ext>
              </a:extLst>
            </p:cNvPr>
            <p:cNvSpPr>
              <a:spLocks noChangeArrowheads="1"/>
            </p:cNvSpPr>
            <p:nvPr/>
          </p:nvSpPr>
          <p:spPr bwMode="auto">
            <a:xfrm>
              <a:off x="2609849" y="4758530"/>
              <a:ext cx="1334274"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started_on</a:t>
              </a:r>
            </a:p>
          </p:txBody>
        </p:sp>
        <p:sp>
          <p:nvSpPr>
            <p:cNvPr id="70" name="Rectangle 22">
              <a:extLst>
                <a:ext uri="{FF2B5EF4-FFF2-40B4-BE49-F238E27FC236}">
                  <a16:creationId xmlns:a16="http://schemas.microsoft.com/office/drawing/2014/main" id="{AD7AB9A5-ACCC-9C07-6913-237332A1D44E}"/>
                </a:ext>
              </a:extLst>
            </p:cNvPr>
            <p:cNvSpPr>
              <a:spLocks noChangeArrowheads="1"/>
            </p:cNvSpPr>
            <p:nvPr/>
          </p:nvSpPr>
          <p:spPr bwMode="auto">
            <a:xfrm>
              <a:off x="3595686" y="5131593"/>
              <a:ext cx="1101746"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pbudget</a:t>
              </a:r>
            </a:p>
          </p:txBody>
        </p:sp>
        <p:sp>
          <p:nvSpPr>
            <p:cNvPr id="71" name="Rectangle 23">
              <a:extLst>
                <a:ext uri="{FF2B5EF4-FFF2-40B4-BE49-F238E27FC236}">
                  <a16:creationId xmlns:a16="http://schemas.microsoft.com/office/drawing/2014/main" id="{4A005E0B-66E8-9DB3-EC4A-4F95CA2A74D2}"/>
                </a:ext>
              </a:extLst>
            </p:cNvPr>
            <p:cNvSpPr>
              <a:spLocks noChangeArrowheads="1"/>
            </p:cNvSpPr>
            <p:nvPr/>
          </p:nvSpPr>
          <p:spPr bwMode="auto">
            <a:xfrm>
              <a:off x="5797549" y="4877593"/>
              <a:ext cx="957800"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dname</a:t>
              </a:r>
            </a:p>
          </p:txBody>
        </p:sp>
        <p:sp>
          <p:nvSpPr>
            <p:cNvPr id="72" name="Rectangle 24">
              <a:extLst>
                <a:ext uri="{FF2B5EF4-FFF2-40B4-BE49-F238E27FC236}">
                  <a16:creationId xmlns:a16="http://schemas.microsoft.com/office/drawing/2014/main" id="{B2AEAB85-4EF3-9D6A-E63E-1FD1E28113C5}"/>
                </a:ext>
              </a:extLst>
            </p:cNvPr>
            <p:cNvSpPr>
              <a:spLocks noChangeArrowheads="1"/>
            </p:cNvSpPr>
            <p:nvPr/>
          </p:nvSpPr>
          <p:spPr bwMode="auto">
            <a:xfrm>
              <a:off x="5480050" y="3744118"/>
              <a:ext cx="736344"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dirty="0">
                  <a:solidFill>
                    <a:srgbClr val="000000"/>
                  </a:solidFill>
                  <a:latin typeface="Arial" pitchFamily="34" charset="0"/>
                </a:rPr>
                <a:t>until</a:t>
              </a:r>
            </a:p>
          </p:txBody>
        </p:sp>
        <p:sp>
          <p:nvSpPr>
            <p:cNvPr id="73" name="Rectangle 25">
              <a:extLst>
                <a:ext uri="{FF2B5EF4-FFF2-40B4-BE49-F238E27FC236}">
                  <a16:creationId xmlns:a16="http://schemas.microsoft.com/office/drawing/2014/main" id="{ACF7185D-AF42-0147-6CC8-5963B7D60E2D}"/>
                </a:ext>
              </a:extLst>
            </p:cNvPr>
            <p:cNvSpPr>
              <a:spLocks noChangeArrowheads="1"/>
            </p:cNvSpPr>
            <p:nvPr/>
          </p:nvSpPr>
          <p:spPr bwMode="auto">
            <a:xfrm>
              <a:off x="5676899" y="5760242"/>
              <a:ext cx="1533586"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Departments</a:t>
              </a:r>
            </a:p>
          </p:txBody>
        </p:sp>
        <p:sp>
          <p:nvSpPr>
            <p:cNvPr id="74" name="Rectangle 26">
              <a:extLst>
                <a:ext uri="{FF2B5EF4-FFF2-40B4-BE49-F238E27FC236}">
                  <a16:creationId xmlns:a16="http://schemas.microsoft.com/office/drawing/2014/main" id="{D5E43D82-0B4C-4BCF-A357-4E9A7E518350}"/>
                </a:ext>
              </a:extLst>
            </p:cNvPr>
            <p:cNvSpPr>
              <a:spLocks noChangeArrowheads="1"/>
            </p:cNvSpPr>
            <p:nvPr/>
          </p:nvSpPr>
          <p:spPr bwMode="auto">
            <a:xfrm>
              <a:off x="2576512" y="5777706"/>
              <a:ext cx="1101746"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Projects</a:t>
              </a:r>
            </a:p>
          </p:txBody>
        </p:sp>
        <p:sp>
          <p:nvSpPr>
            <p:cNvPr id="75" name="Rectangle 27">
              <a:extLst>
                <a:ext uri="{FF2B5EF4-FFF2-40B4-BE49-F238E27FC236}">
                  <a16:creationId xmlns:a16="http://schemas.microsoft.com/office/drawing/2014/main" id="{5F827B39-1097-8583-E5C3-350605A480A7}"/>
                </a:ext>
              </a:extLst>
            </p:cNvPr>
            <p:cNvSpPr>
              <a:spLocks noChangeArrowheads="1"/>
            </p:cNvSpPr>
            <p:nvPr/>
          </p:nvSpPr>
          <p:spPr bwMode="auto">
            <a:xfrm>
              <a:off x="4248148" y="5736431"/>
              <a:ext cx="1234619"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Sponsors</a:t>
              </a:r>
            </a:p>
          </p:txBody>
        </p:sp>
        <p:grpSp>
          <p:nvGrpSpPr>
            <p:cNvPr id="76" name="Group 30">
              <a:extLst>
                <a:ext uri="{FF2B5EF4-FFF2-40B4-BE49-F238E27FC236}">
                  <a16:creationId xmlns:a16="http://schemas.microsoft.com/office/drawing/2014/main" id="{61511B3B-8A22-308E-0CC7-2A991270FE49}"/>
                </a:ext>
              </a:extLst>
            </p:cNvPr>
            <p:cNvGrpSpPr>
              <a:grpSpLocks/>
            </p:cNvGrpSpPr>
            <p:nvPr/>
          </p:nvGrpSpPr>
          <p:grpSpPr bwMode="auto">
            <a:xfrm>
              <a:off x="3890964" y="2818606"/>
              <a:ext cx="1423988" cy="403225"/>
              <a:chOff x="3435" y="619"/>
              <a:chExt cx="897" cy="254"/>
            </a:xfrm>
          </p:grpSpPr>
          <p:sp>
            <p:nvSpPr>
              <p:cNvPr id="102" name="Freeform 28">
                <a:extLst>
                  <a:ext uri="{FF2B5EF4-FFF2-40B4-BE49-F238E27FC236}">
                    <a16:creationId xmlns:a16="http://schemas.microsoft.com/office/drawing/2014/main" id="{7FF38272-A501-D9C0-6B9D-2606EED483C6}"/>
                  </a:ext>
                </a:extLst>
              </p:cNvPr>
              <p:cNvSpPr>
                <a:spLocks/>
              </p:cNvSpPr>
              <p:nvPr/>
            </p:nvSpPr>
            <p:spPr bwMode="auto">
              <a:xfrm>
                <a:off x="3435" y="626"/>
                <a:ext cx="840" cy="247"/>
              </a:xfrm>
              <a:custGeom>
                <a:avLst/>
                <a:gdLst>
                  <a:gd name="T0" fmla="*/ 839 w 840"/>
                  <a:gd name="T1" fmla="*/ 246 h 247"/>
                  <a:gd name="T2" fmla="*/ 839 w 840"/>
                  <a:gd name="T3" fmla="*/ 0 h 247"/>
                  <a:gd name="T4" fmla="*/ 0 w 840"/>
                  <a:gd name="T5" fmla="*/ 0 h 247"/>
                  <a:gd name="T6" fmla="*/ 0 w 840"/>
                  <a:gd name="T7" fmla="*/ 246 h 247"/>
                  <a:gd name="T8" fmla="*/ 839 w 840"/>
                  <a:gd name="T9" fmla="*/ 246 h 247"/>
                </a:gdLst>
                <a:ahLst/>
                <a:cxnLst>
                  <a:cxn ang="0">
                    <a:pos x="T0" y="T1"/>
                  </a:cxn>
                  <a:cxn ang="0">
                    <a:pos x="T2" y="T3"/>
                  </a:cxn>
                  <a:cxn ang="0">
                    <a:pos x="T4" y="T5"/>
                  </a:cxn>
                  <a:cxn ang="0">
                    <a:pos x="T6" y="T7"/>
                  </a:cxn>
                  <a:cxn ang="0">
                    <a:pos x="T8" y="T9"/>
                  </a:cxn>
                </a:cxnLst>
                <a:rect l="0" t="0" r="r" b="b"/>
                <a:pathLst>
                  <a:path w="840" h="247">
                    <a:moveTo>
                      <a:pt x="839" y="246"/>
                    </a:moveTo>
                    <a:lnTo>
                      <a:pt x="839" y="0"/>
                    </a:lnTo>
                    <a:lnTo>
                      <a:pt x="0" y="0"/>
                    </a:lnTo>
                    <a:lnTo>
                      <a:pt x="0" y="246"/>
                    </a:lnTo>
                    <a:lnTo>
                      <a:pt x="839" y="24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103" name="Rectangle 29">
                <a:extLst>
                  <a:ext uri="{FF2B5EF4-FFF2-40B4-BE49-F238E27FC236}">
                    <a16:creationId xmlns:a16="http://schemas.microsoft.com/office/drawing/2014/main" id="{AF3C5EE3-D74F-FB25-2ACC-BD4A944B288C}"/>
                  </a:ext>
                </a:extLst>
              </p:cNvPr>
              <p:cNvSpPr>
                <a:spLocks noChangeArrowheads="1"/>
              </p:cNvSpPr>
              <p:nvPr/>
            </p:nvSpPr>
            <p:spPr bwMode="auto">
              <a:xfrm>
                <a:off x="3471" y="619"/>
                <a:ext cx="86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Employees</a:t>
                </a:r>
              </a:p>
            </p:txBody>
          </p:sp>
        </p:grpSp>
        <p:sp>
          <p:nvSpPr>
            <p:cNvPr id="77" name="Rectangle 31">
              <a:extLst>
                <a:ext uri="{FF2B5EF4-FFF2-40B4-BE49-F238E27FC236}">
                  <a16:creationId xmlns:a16="http://schemas.microsoft.com/office/drawing/2014/main" id="{E78A77B0-6382-2E2F-6628-CDFF379CB251}"/>
                </a:ext>
              </a:extLst>
            </p:cNvPr>
            <p:cNvSpPr>
              <a:spLocks noChangeArrowheads="1"/>
            </p:cNvSpPr>
            <p:nvPr/>
          </p:nvSpPr>
          <p:spPr bwMode="auto">
            <a:xfrm>
              <a:off x="3984624" y="3710781"/>
              <a:ext cx="1157110"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Monitors</a:t>
              </a:r>
            </a:p>
          </p:txBody>
        </p:sp>
        <p:sp>
          <p:nvSpPr>
            <p:cNvPr id="78" name="Rectangle 32">
              <a:extLst>
                <a:ext uri="{FF2B5EF4-FFF2-40B4-BE49-F238E27FC236}">
                  <a16:creationId xmlns:a16="http://schemas.microsoft.com/office/drawing/2014/main" id="{E1D47D81-F0F7-1BF6-80B0-1CC45A9159CC}"/>
                </a:ext>
              </a:extLst>
            </p:cNvPr>
            <p:cNvSpPr>
              <a:spLocks noChangeArrowheads="1"/>
            </p:cNvSpPr>
            <p:nvPr/>
          </p:nvSpPr>
          <p:spPr bwMode="auto">
            <a:xfrm>
              <a:off x="1757362" y="4607718"/>
              <a:ext cx="5781675" cy="1741488"/>
            </a:xfrm>
            <a:prstGeom prst="rect">
              <a:avLst/>
            </a:prstGeom>
            <a:noFill/>
            <a:ln w="25400">
              <a:solidFill>
                <a:schemeClr val="tx2"/>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p>
          </p:txBody>
        </p:sp>
        <p:sp>
          <p:nvSpPr>
            <p:cNvPr id="79" name="Line 33">
              <a:extLst>
                <a:ext uri="{FF2B5EF4-FFF2-40B4-BE49-F238E27FC236}">
                  <a16:creationId xmlns:a16="http://schemas.microsoft.com/office/drawing/2014/main" id="{E7440DFC-B2DC-6884-2ADE-8D35DED8CC64}"/>
                </a:ext>
              </a:extLst>
            </p:cNvPr>
            <p:cNvSpPr>
              <a:spLocks noChangeShapeType="1"/>
            </p:cNvSpPr>
            <p:nvPr/>
          </p:nvSpPr>
          <p:spPr bwMode="auto">
            <a:xfrm>
              <a:off x="2270124" y="5530056"/>
              <a:ext cx="611188"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0" name="Line 34">
              <a:extLst>
                <a:ext uri="{FF2B5EF4-FFF2-40B4-BE49-F238E27FC236}">
                  <a16:creationId xmlns:a16="http://schemas.microsoft.com/office/drawing/2014/main" id="{00948C32-8585-F622-6D87-026B57E561CD}"/>
                </a:ext>
              </a:extLst>
            </p:cNvPr>
            <p:cNvSpPr>
              <a:spLocks noChangeShapeType="1"/>
            </p:cNvSpPr>
            <p:nvPr/>
          </p:nvSpPr>
          <p:spPr bwMode="auto">
            <a:xfrm>
              <a:off x="3159124" y="5130006"/>
              <a:ext cx="9525" cy="59372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1" name="Line 35">
              <a:extLst>
                <a:ext uri="{FF2B5EF4-FFF2-40B4-BE49-F238E27FC236}">
                  <a16:creationId xmlns:a16="http://schemas.microsoft.com/office/drawing/2014/main" id="{93339C8F-347E-BFD8-880C-56C645FDEB35}"/>
                </a:ext>
              </a:extLst>
            </p:cNvPr>
            <p:cNvSpPr>
              <a:spLocks noChangeShapeType="1"/>
            </p:cNvSpPr>
            <p:nvPr/>
          </p:nvSpPr>
          <p:spPr bwMode="auto">
            <a:xfrm flipH="1">
              <a:off x="3384549" y="5530056"/>
              <a:ext cx="606425"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2" name="Line 36">
              <a:extLst>
                <a:ext uri="{FF2B5EF4-FFF2-40B4-BE49-F238E27FC236}">
                  <a16:creationId xmlns:a16="http://schemas.microsoft.com/office/drawing/2014/main" id="{CADDBF69-B795-79C0-C933-B5915980E8BF}"/>
                </a:ext>
              </a:extLst>
            </p:cNvPr>
            <p:cNvSpPr>
              <a:spLocks noChangeShapeType="1"/>
            </p:cNvSpPr>
            <p:nvPr/>
          </p:nvSpPr>
          <p:spPr bwMode="auto">
            <a:xfrm>
              <a:off x="5408612" y="5515768"/>
              <a:ext cx="490537" cy="230188"/>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3" name="Line 37">
              <a:extLst>
                <a:ext uri="{FF2B5EF4-FFF2-40B4-BE49-F238E27FC236}">
                  <a16:creationId xmlns:a16="http://schemas.microsoft.com/office/drawing/2014/main" id="{00C7BC3D-61B3-D23A-FFB5-B27C75A611C2}"/>
                </a:ext>
              </a:extLst>
            </p:cNvPr>
            <p:cNvSpPr>
              <a:spLocks noChangeShapeType="1"/>
            </p:cNvSpPr>
            <p:nvPr/>
          </p:nvSpPr>
          <p:spPr bwMode="auto">
            <a:xfrm>
              <a:off x="6194424" y="5241131"/>
              <a:ext cx="0" cy="5207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4" name="Line 38">
              <a:extLst>
                <a:ext uri="{FF2B5EF4-FFF2-40B4-BE49-F238E27FC236}">
                  <a16:creationId xmlns:a16="http://schemas.microsoft.com/office/drawing/2014/main" id="{62814AC1-AA82-C957-292C-F4600C400B25}"/>
                </a:ext>
              </a:extLst>
            </p:cNvPr>
            <p:cNvSpPr>
              <a:spLocks noChangeShapeType="1"/>
            </p:cNvSpPr>
            <p:nvPr/>
          </p:nvSpPr>
          <p:spPr bwMode="auto">
            <a:xfrm flipH="1">
              <a:off x="6584949" y="5530056"/>
              <a:ext cx="347663" cy="23177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5" name="Line 39">
              <a:extLst>
                <a:ext uri="{FF2B5EF4-FFF2-40B4-BE49-F238E27FC236}">
                  <a16:creationId xmlns:a16="http://schemas.microsoft.com/office/drawing/2014/main" id="{B3F907E1-91FE-89C4-CFC6-BA5607DA936D}"/>
                </a:ext>
              </a:extLst>
            </p:cNvPr>
            <p:cNvSpPr>
              <a:spLocks noChangeShapeType="1"/>
            </p:cNvSpPr>
            <p:nvPr/>
          </p:nvSpPr>
          <p:spPr bwMode="auto">
            <a:xfrm>
              <a:off x="4502149" y="4234656"/>
              <a:ext cx="0" cy="35401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6" name="Line 40">
              <a:extLst>
                <a:ext uri="{FF2B5EF4-FFF2-40B4-BE49-F238E27FC236}">
                  <a16:creationId xmlns:a16="http://schemas.microsoft.com/office/drawing/2014/main" id="{5062FB32-2937-734D-6255-F4D174AF6D8C}"/>
                </a:ext>
              </a:extLst>
            </p:cNvPr>
            <p:cNvSpPr>
              <a:spLocks noChangeShapeType="1"/>
            </p:cNvSpPr>
            <p:nvPr/>
          </p:nvSpPr>
          <p:spPr bwMode="auto">
            <a:xfrm>
              <a:off x="5149849" y="3909218"/>
              <a:ext cx="200025"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7" name="Line 41">
              <a:extLst>
                <a:ext uri="{FF2B5EF4-FFF2-40B4-BE49-F238E27FC236}">
                  <a16:creationId xmlns:a16="http://schemas.microsoft.com/office/drawing/2014/main" id="{9113A8B8-F7E0-547E-24D2-FCF711B8C58F}"/>
                </a:ext>
              </a:extLst>
            </p:cNvPr>
            <p:cNvSpPr>
              <a:spLocks noChangeShapeType="1"/>
            </p:cNvSpPr>
            <p:nvPr/>
          </p:nvSpPr>
          <p:spPr bwMode="auto">
            <a:xfrm flipV="1">
              <a:off x="4500562" y="3217068"/>
              <a:ext cx="0" cy="361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8" name="Freeform 42">
              <a:extLst>
                <a:ext uri="{FF2B5EF4-FFF2-40B4-BE49-F238E27FC236}">
                  <a16:creationId xmlns:a16="http://schemas.microsoft.com/office/drawing/2014/main" id="{5E42CE88-1402-611D-2BAA-090FDF91E43C}"/>
                </a:ext>
              </a:extLst>
            </p:cNvPr>
            <p:cNvSpPr>
              <a:spLocks/>
            </p:cNvSpPr>
            <p:nvPr/>
          </p:nvSpPr>
          <p:spPr bwMode="auto">
            <a:xfrm>
              <a:off x="4883149" y="2215356"/>
              <a:ext cx="896938" cy="381000"/>
            </a:xfrm>
            <a:custGeom>
              <a:avLst/>
              <a:gdLst>
                <a:gd name="T0" fmla="*/ 1 w 565"/>
                <a:gd name="T1" fmla="*/ 130 h 240"/>
                <a:gd name="T2" fmla="*/ 9 w 565"/>
                <a:gd name="T3" fmla="*/ 151 h 240"/>
                <a:gd name="T4" fmla="*/ 27 w 565"/>
                <a:gd name="T5" fmla="*/ 170 h 240"/>
                <a:gd name="T6" fmla="*/ 51 w 565"/>
                <a:gd name="T7" fmla="*/ 188 h 240"/>
                <a:gd name="T8" fmla="*/ 83 w 565"/>
                <a:gd name="T9" fmla="*/ 204 h 240"/>
                <a:gd name="T10" fmla="*/ 120 w 565"/>
                <a:gd name="T11" fmla="*/ 218 h 240"/>
                <a:gd name="T12" fmla="*/ 163 w 565"/>
                <a:gd name="T13" fmla="*/ 228 h 240"/>
                <a:gd name="T14" fmla="*/ 209 w 565"/>
                <a:gd name="T15" fmla="*/ 235 h 240"/>
                <a:gd name="T16" fmla="*/ 257 w 565"/>
                <a:gd name="T17" fmla="*/ 239 h 240"/>
                <a:gd name="T18" fmla="*/ 306 w 565"/>
                <a:gd name="T19" fmla="*/ 239 h 240"/>
                <a:gd name="T20" fmla="*/ 355 w 565"/>
                <a:gd name="T21" fmla="*/ 235 h 240"/>
                <a:gd name="T22" fmla="*/ 401 w 565"/>
                <a:gd name="T23" fmla="*/ 228 h 240"/>
                <a:gd name="T24" fmla="*/ 443 w 565"/>
                <a:gd name="T25" fmla="*/ 217 h 240"/>
                <a:gd name="T26" fmla="*/ 481 w 565"/>
                <a:gd name="T27" fmla="*/ 204 h 240"/>
                <a:gd name="T28" fmla="*/ 513 w 565"/>
                <a:gd name="T29" fmla="*/ 188 h 240"/>
                <a:gd name="T30" fmla="*/ 537 w 565"/>
                <a:gd name="T31" fmla="*/ 170 h 240"/>
                <a:gd name="T32" fmla="*/ 554 w 565"/>
                <a:gd name="T33" fmla="*/ 150 h 240"/>
                <a:gd name="T34" fmla="*/ 563 w 565"/>
                <a:gd name="T35" fmla="*/ 129 h 240"/>
                <a:gd name="T36" fmla="*/ 563 w 565"/>
                <a:gd name="T37" fmla="*/ 109 h 240"/>
                <a:gd name="T38" fmla="*/ 554 w 565"/>
                <a:gd name="T39" fmla="*/ 88 h 240"/>
                <a:gd name="T40" fmla="*/ 537 w 565"/>
                <a:gd name="T41" fmla="*/ 68 h 240"/>
                <a:gd name="T42" fmla="*/ 513 w 565"/>
                <a:gd name="T43" fmla="*/ 51 h 240"/>
                <a:gd name="T44" fmla="*/ 481 w 565"/>
                <a:gd name="T45" fmla="*/ 35 h 240"/>
                <a:gd name="T46" fmla="*/ 443 w 565"/>
                <a:gd name="T47" fmla="*/ 21 h 240"/>
                <a:gd name="T48" fmla="*/ 401 w 565"/>
                <a:gd name="T49" fmla="*/ 11 h 240"/>
                <a:gd name="T50" fmla="*/ 355 w 565"/>
                <a:gd name="T51" fmla="*/ 4 h 240"/>
                <a:gd name="T52" fmla="*/ 306 w 565"/>
                <a:gd name="T53" fmla="*/ 0 h 240"/>
                <a:gd name="T54" fmla="*/ 257 w 565"/>
                <a:gd name="T55" fmla="*/ 0 h 240"/>
                <a:gd name="T56" fmla="*/ 209 w 565"/>
                <a:gd name="T57" fmla="*/ 4 h 240"/>
                <a:gd name="T58" fmla="*/ 163 w 565"/>
                <a:gd name="T59" fmla="*/ 11 h 240"/>
                <a:gd name="T60" fmla="*/ 120 w 565"/>
                <a:gd name="T61" fmla="*/ 21 h 240"/>
                <a:gd name="T62" fmla="*/ 83 w 565"/>
                <a:gd name="T63" fmla="*/ 35 h 240"/>
                <a:gd name="T64" fmla="*/ 51 w 565"/>
                <a:gd name="T65" fmla="*/ 51 h 240"/>
                <a:gd name="T66" fmla="*/ 27 w 565"/>
                <a:gd name="T67" fmla="*/ 69 h 240"/>
                <a:gd name="T68" fmla="*/ 9 w 565"/>
                <a:gd name="T69" fmla="*/ 88 h 240"/>
                <a:gd name="T70" fmla="*/ 1 w 565"/>
                <a:gd name="T71" fmla="*/ 10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0" y="119"/>
                  </a:moveTo>
                  <a:lnTo>
                    <a:pt x="1" y="130"/>
                  </a:lnTo>
                  <a:lnTo>
                    <a:pt x="4" y="140"/>
                  </a:lnTo>
                  <a:lnTo>
                    <a:pt x="9" y="151"/>
                  </a:lnTo>
                  <a:lnTo>
                    <a:pt x="17" y="160"/>
                  </a:lnTo>
                  <a:lnTo>
                    <a:pt x="27" y="170"/>
                  </a:lnTo>
                  <a:lnTo>
                    <a:pt x="38" y="179"/>
                  </a:lnTo>
                  <a:lnTo>
                    <a:pt x="51" y="188"/>
                  </a:lnTo>
                  <a:lnTo>
                    <a:pt x="66" y="197"/>
                  </a:lnTo>
                  <a:lnTo>
                    <a:pt x="83" y="204"/>
                  </a:lnTo>
                  <a:lnTo>
                    <a:pt x="101" y="211"/>
                  </a:lnTo>
                  <a:lnTo>
                    <a:pt x="120" y="218"/>
                  </a:lnTo>
                  <a:lnTo>
                    <a:pt x="141" y="223"/>
                  </a:lnTo>
                  <a:lnTo>
                    <a:pt x="163" y="228"/>
                  </a:lnTo>
                  <a:lnTo>
                    <a:pt x="185" y="232"/>
                  </a:lnTo>
                  <a:lnTo>
                    <a:pt x="209" y="235"/>
                  </a:lnTo>
                  <a:lnTo>
                    <a:pt x="233" y="237"/>
                  </a:lnTo>
                  <a:lnTo>
                    <a:pt x="257" y="239"/>
                  </a:lnTo>
                  <a:lnTo>
                    <a:pt x="282" y="239"/>
                  </a:lnTo>
                  <a:lnTo>
                    <a:pt x="306" y="239"/>
                  </a:lnTo>
                  <a:lnTo>
                    <a:pt x="331" y="237"/>
                  </a:lnTo>
                  <a:lnTo>
                    <a:pt x="355" y="235"/>
                  </a:lnTo>
                  <a:lnTo>
                    <a:pt x="378" y="231"/>
                  </a:lnTo>
                  <a:lnTo>
                    <a:pt x="401" y="228"/>
                  </a:lnTo>
                  <a:lnTo>
                    <a:pt x="423" y="223"/>
                  </a:lnTo>
                  <a:lnTo>
                    <a:pt x="443" y="217"/>
                  </a:lnTo>
                  <a:lnTo>
                    <a:pt x="463" y="211"/>
                  </a:lnTo>
                  <a:lnTo>
                    <a:pt x="481" y="204"/>
                  </a:lnTo>
                  <a:lnTo>
                    <a:pt x="498" y="196"/>
                  </a:lnTo>
                  <a:lnTo>
                    <a:pt x="513" y="188"/>
                  </a:lnTo>
                  <a:lnTo>
                    <a:pt x="526" y="179"/>
                  </a:lnTo>
                  <a:lnTo>
                    <a:pt x="537" y="170"/>
                  </a:lnTo>
                  <a:lnTo>
                    <a:pt x="547" y="160"/>
                  </a:lnTo>
                  <a:lnTo>
                    <a:pt x="554" y="150"/>
                  </a:lnTo>
                  <a:lnTo>
                    <a:pt x="559" y="140"/>
                  </a:lnTo>
                  <a:lnTo>
                    <a:pt x="563" y="129"/>
                  </a:lnTo>
                  <a:lnTo>
                    <a:pt x="564" y="119"/>
                  </a:lnTo>
                  <a:lnTo>
                    <a:pt x="563" y="109"/>
                  </a:lnTo>
                  <a:lnTo>
                    <a:pt x="559" y="98"/>
                  </a:lnTo>
                  <a:lnTo>
                    <a:pt x="554" y="88"/>
                  </a:lnTo>
                  <a:lnTo>
                    <a:pt x="547" y="78"/>
                  </a:lnTo>
                  <a:lnTo>
                    <a:pt x="537" y="68"/>
                  </a:lnTo>
                  <a:lnTo>
                    <a:pt x="526" y="60"/>
                  </a:lnTo>
                  <a:lnTo>
                    <a:pt x="513" y="51"/>
                  </a:lnTo>
                  <a:lnTo>
                    <a:pt x="498" y="42"/>
                  </a:lnTo>
                  <a:lnTo>
                    <a:pt x="481" y="35"/>
                  </a:lnTo>
                  <a:lnTo>
                    <a:pt x="463" y="27"/>
                  </a:lnTo>
                  <a:lnTo>
                    <a:pt x="443" y="21"/>
                  </a:lnTo>
                  <a:lnTo>
                    <a:pt x="423" y="16"/>
                  </a:lnTo>
                  <a:lnTo>
                    <a:pt x="401" y="11"/>
                  </a:lnTo>
                  <a:lnTo>
                    <a:pt x="378" y="7"/>
                  </a:lnTo>
                  <a:lnTo>
                    <a:pt x="355" y="4"/>
                  </a:lnTo>
                  <a:lnTo>
                    <a:pt x="331" y="1"/>
                  </a:lnTo>
                  <a:lnTo>
                    <a:pt x="306" y="0"/>
                  </a:lnTo>
                  <a:lnTo>
                    <a:pt x="282" y="0"/>
                  </a:lnTo>
                  <a:lnTo>
                    <a:pt x="257" y="0"/>
                  </a:lnTo>
                  <a:lnTo>
                    <a:pt x="233" y="1"/>
                  </a:lnTo>
                  <a:lnTo>
                    <a:pt x="209" y="4"/>
                  </a:lnTo>
                  <a:lnTo>
                    <a:pt x="185" y="7"/>
                  </a:lnTo>
                  <a:lnTo>
                    <a:pt x="163" y="11"/>
                  </a:lnTo>
                  <a:lnTo>
                    <a:pt x="141" y="16"/>
                  </a:lnTo>
                  <a:lnTo>
                    <a:pt x="120" y="21"/>
                  </a:lnTo>
                  <a:lnTo>
                    <a:pt x="100" y="27"/>
                  </a:lnTo>
                  <a:lnTo>
                    <a:pt x="83" y="35"/>
                  </a:lnTo>
                  <a:lnTo>
                    <a:pt x="66" y="42"/>
                  </a:lnTo>
                  <a:lnTo>
                    <a:pt x="51" y="51"/>
                  </a:lnTo>
                  <a:lnTo>
                    <a:pt x="38" y="60"/>
                  </a:lnTo>
                  <a:lnTo>
                    <a:pt x="27" y="69"/>
                  </a:lnTo>
                  <a:lnTo>
                    <a:pt x="17" y="78"/>
                  </a:lnTo>
                  <a:lnTo>
                    <a:pt x="9" y="88"/>
                  </a:lnTo>
                  <a:lnTo>
                    <a:pt x="4" y="98"/>
                  </a:lnTo>
                  <a:lnTo>
                    <a:pt x="1" y="109"/>
                  </a:lnTo>
                  <a:lnTo>
                    <a:pt x="0"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89" name="Freeform 43">
              <a:extLst>
                <a:ext uri="{FF2B5EF4-FFF2-40B4-BE49-F238E27FC236}">
                  <a16:creationId xmlns:a16="http://schemas.microsoft.com/office/drawing/2014/main" id="{54099DE5-F54B-E2E5-64F5-B2F43E479CD7}"/>
                </a:ext>
              </a:extLst>
            </p:cNvPr>
            <p:cNvSpPr>
              <a:spLocks/>
            </p:cNvSpPr>
            <p:nvPr/>
          </p:nvSpPr>
          <p:spPr bwMode="auto">
            <a:xfrm>
              <a:off x="3238499" y="2215356"/>
              <a:ext cx="896938" cy="381000"/>
            </a:xfrm>
            <a:custGeom>
              <a:avLst/>
              <a:gdLst>
                <a:gd name="T0" fmla="*/ 563 w 565"/>
                <a:gd name="T1" fmla="*/ 109 h 240"/>
                <a:gd name="T2" fmla="*/ 555 w 565"/>
                <a:gd name="T3" fmla="*/ 88 h 240"/>
                <a:gd name="T4" fmla="*/ 538 w 565"/>
                <a:gd name="T5" fmla="*/ 68 h 240"/>
                <a:gd name="T6" fmla="*/ 513 w 565"/>
                <a:gd name="T7" fmla="*/ 51 h 240"/>
                <a:gd name="T8" fmla="*/ 481 w 565"/>
                <a:gd name="T9" fmla="*/ 35 h 240"/>
                <a:gd name="T10" fmla="*/ 444 w 565"/>
                <a:gd name="T11" fmla="*/ 21 h 240"/>
                <a:gd name="T12" fmla="*/ 401 w 565"/>
                <a:gd name="T13" fmla="*/ 11 h 240"/>
                <a:gd name="T14" fmla="*/ 355 w 565"/>
                <a:gd name="T15" fmla="*/ 4 h 240"/>
                <a:gd name="T16" fmla="*/ 306 w 565"/>
                <a:gd name="T17" fmla="*/ 0 h 240"/>
                <a:gd name="T18" fmla="*/ 258 w 565"/>
                <a:gd name="T19" fmla="*/ 0 h 240"/>
                <a:gd name="T20" fmla="*/ 209 w 565"/>
                <a:gd name="T21" fmla="*/ 4 h 240"/>
                <a:gd name="T22" fmla="*/ 163 w 565"/>
                <a:gd name="T23" fmla="*/ 11 h 240"/>
                <a:gd name="T24" fmla="*/ 120 w 565"/>
                <a:gd name="T25" fmla="*/ 21 h 240"/>
                <a:gd name="T26" fmla="*/ 83 w 565"/>
                <a:gd name="T27" fmla="*/ 35 h 240"/>
                <a:gd name="T28" fmla="*/ 51 w 565"/>
                <a:gd name="T29" fmla="*/ 51 h 240"/>
                <a:gd name="T30" fmla="*/ 27 w 565"/>
                <a:gd name="T31" fmla="*/ 68 h 240"/>
                <a:gd name="T32" fmla="*/ 9 w 565"/>
                <a:gd name="T33" fmla="*/ 88 h 240"/>
                <a:gd name="T34" fmla="*/ 1 w 565"/>
                <a:gd name="T35" fmla="*/ 109 h 240"/>
                <a:gd name="T36" fmla="*/ 1 w 565"/>
                <a:gd name="T37" fmla="*/ 130 h 240"/>
                <a:gd name="T38" fmla="*/ 9 w 565"/>
                <a:gd name="T39" fmla="*/ 151 h 240"/>
                <a:gd name="T40" fmla="*/ 27 w 565"/>
                <a:gd name="T41" fmla="*/ 170 h 240"/>
                <a:gd name="T42" fmla="*/ 51 w 565"/>
                <a:gd name="T43" fmla="*/ 188 h 240"/>
                <a:gd name="T44" fmla="*/ 83 w 565"/>
                <a:gd name="T45" fmla="*/ 204 h 240"/>
                <a:gd name="T46" fmla="*/ 120 w 565"/>
                <a:gd name="T47" fmla="*/ 218 h 240"/>
                <a:gd name="T48" fmla="*/ 163 w 565"/>
                <a:gd name="T49" fmla="*/ 228 h 240"/>
                <a:gd name="T50" fmla="*/ 209 w 565"/>
                <a:gd name="T51" fmla="*/ 235 h 240"/>
                <a:gd name="T52" fmla="*/ 258 w 565"/>
                <a:gd name="T53" fmla="*/ 239 h 240"/>
                <a:gd name="T54" fmla="*/ 306 w 565"/>
                <a:gd name="T55" fmla="*/ 239 h 240"/>
                <a:gd name="T56" fmla="*/ 355 w 565"/>
                <a:gd name="T57" fmla="*/ 235 h 240"/>
                <a:gd name="T58" fmla="*/ 401 w 565"/>
                <a:gd name="T59" fmla="*/ 228 h 240"/>
                <a:gd name="T60" fmla="*/ 444 w 565"/>
                <a:gd name="T61" fmla="*/ 218 h 240"/>
                <a:gd name="T62" fmla="*/ 481 w 565"/>
                <a:gd name="T63" fmla="*/ 204 h 240"/>
                <a:gd name="T64" fmla="*/ 513 w 565"/>
                <a:gd name="T65" fmla="*/ 188 h 240"/>
                <a:gd name="T66" fmla="*/ 538 w 565"/>
                <a:gd name="T67" fmla="*/ 170 h 240"/>
                <a:gd name="T68" fmla="*/ 555 w 565"/>
                <a:gd name="T69" fmla="*/ 151 h 240"/>
                <a:gd name="T70" fmla="*/ 563 w 565"/>
                <a:gd name="T71" fmla="*/ 13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6" y="60"/>
                  </a:lnTo>
                  <a:lnTo>
                    <a:pt x="513" y="51"/>
                  </a:lnTo>
                  <a:lnTo>
                    <a:pt x="498" y="42"/>
                  </a:lnTo>
                  <a:lnTo>
                    <a:pt x="481" y="35"/>
                  </a:lnTo>
                  <a:lnTo>
                    <a:pt x="464" y="27"/>
                  </a:lnTo>
                  <a:lnTo>
                    <a:pt x="444" y="21"/>
                  </a:lnTo>
                  <a:lnTo>
                    <a:pt x="423" y="16"/>
                  </a:lnTo>
                  <a:lnTo>
                    <a:pt x="401" y="11"/>
                  </a:lnTo>
                  <a:lnTo>
                    <a:pt x="379" y="7"/>
                  </a:lnTo>
                  <a:lnTo>
                    <a:pt x="355" y="4"/>
                  </a:lnTo>
                  <a:lnTo>
                    <a:pt x="331" y="1"/>
                  </a:lnTo>
                  <a:lnTo>
                    <a:pt x="306" y="0"/>
                  </a:lnTo>
                  <a:lnTo>
                    <a:pt x="282" y="0"/>
                  </a:lnTo>
                  <a:lnTo>
                    <a:pt x="258" y="0"/>
                  </a:lnTo>
                  <a:lnTo>
                    <a:pt x="233" y="1"/>
                  </a:lnTo>
                  <a:lnTo>
                    <a:pt x="209" y="4"/>
                  </a:lnTo>
                  <a:lnTo>
                    <a:pt x="185" y="7"/>
                  </a:lnTo>
                  <a:lnTo>
                    <a:pt x="163" y="11"/>
                  </a:lnTo>
                  <a:lnTo>
                    <a:pt x="141" y="16"/>
                  </a:lnTo>
                  <a:lnTo>
                    <a:pt x="120" y="21"/>
                  </a:lnTo>
                  <a:lnTo>
                    <a:pt x="101" y="27"/>
                  </a:lnTo>
                  <a:lnTo>
                    <a:pt x="83" y="35"/>
                  </a:lnTo>
                  <a:lnTo>
                    <a:pt x="66" y="42"/>
                  </a:lnTo>
                  <a:lnTo>
                    <a:pt x="51" y="51"/>
                  </a:lnTo>
                  <a:lnTo>
                    <a:pt x="38" y="60"/>
                  </a:lnTo>
                  <a:lnTo>
                    <a:pt x="27" y="68"/>
                  </a:lnTo>
                  <a:lnTo>
                    <a:pt x="17" y="78"/>
                  </a:lnTo>
                  <a:lnTo>
                    <a:pt x="9" y="88"/>
                  </a:lnTo>
                  <a:lnTo>
                    <a:pt x="4" y="98"/>
                  </a:lnTo>
                  <a:lnTo>
                    <a:pt x="1" y="109"/>
                  </a:lnTo>
                  <a:lnTo>
                    <a:pt x="0" y="119"/>
                  </a:lnTo>
                  <a:lnTo>
                    <a:pt x="1" y="130"/>
                  </a:lnTo>
                  <a:lnTo>
                    <a:pt x="4" y="140"/>
                  </a:lnTo>
                  <a:lnTo>
                    <a:pt x="9" y="151"/>
                  </a:lnTo>
                  <a:lnTo>
                    <a:pt x="17" y="160"/>
                  </a:lnTo>
                  <a:lnTo>
                    <a:pt x="27" y="170"/>
                  </a:lnTo>
                  <a:lnTo>
                    <a:pt x="38" y="179"/>
                  </a:lnTo>
                  <a:lnTo>
                    <a:pt x="51" y="188"/>
                  </a:lnTo>
                  <a:lnTo>
                    <a:pt x="66" y="196"/>
                  </a:lnTo>
                  <a:lnTo>
                    <a:pt x="83" y="204"/>
                  </a:lnTo>
                  <a:lnTo>
                    <a:pt x="101" y="211"/>
                  </a:lnTo>
                  <a:lnTo>
                    <a:pt x="120" y="218"/>
                  </a:lnTo>
                  <a:lnTo>
                    <a:pt x="141" y="223"/>
                  </a:lnTo>
                  <a:lnTo>
                    <a:pt x="163" y="228"/>
                  </a:lnTo>
                  <a:lnTo>
                    <a:pt x="185" y="232"/>
                  </a:lnTo>
                  <a:lnTo>
                    <a:pt x="209" y="235"/>
                  </a:lnTo>
                  <a:lnTo>
                    <a:pt x="233" y="237"/>
                  </a:lnTo>
                  <a:lnTo>
                    <a:pt x="258" y="239"/>
                  </a:lnTo>
                  <a:lnTo>
                    <a:pt x="282" y="239"/>
                  </a:lnTo>
                  <a:lnTo>
                    <a:pt x="306" y="239"/>
                  </a:lnTo>
                  <a:lnTo>
                    <a:pt x="331" y="237"/>
                  </a:lnTo>
                  <a:lnTo>
                    <a:pt x="355" y="235"/>
                  </a:lnTo>
                  <a:lnTo>
                    <a:pt x="379" y="232"/>
                  </a:lnTo>
                  <a:lnTo>
                    <a:pt x="401" y="228"/>
                  </a:lnTo>
                  <a:lnTo>
                    <a:pt x="423" y="223"/>
                  </a:lnTo>
                  <a:lnTo>
                    <a:pt x="444" y="218"/>
                  </a:lnTo>
                  <a:lnTo>
                    <a:pt x="464" y="211"/>
                  </a:lnTo>
                  <a:lnTo>
                    <a:pt x="481" y="204"/>
                  </a:lnTo>
                  <a:lnTo>
                    <a:pt x="498" y="196"/>
                  </a:lnTo>
                  <a:lnTo>
                    <a:pt x="513" y="188"/>
                  </a:lnTo>
                  <a:lnTo>
                    <a:pt x="526" y="179"/>
                  </a:lnTo>
                  <a:lnTo>
                    <a:pt x="538" y="170"/>
                  </a:lnTo>
                  <a:lnTo>
                    <a:pt x="547" y="160"/>
                  </a:lnTo>
                  <a:lnTo>
                    <a:pt x="555" y="151"/>
                  </a:lnTo>
                  <a:lnTo>
                    <a:pt x="560" y="140"/>
                  </a:lnTo>
                  <a:lnTo>
                    <a:pt x="563" y="130"/>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0" name="Freeform 44">
              <a:extLst>
                <a:ext uri="{FF2B5EF4-FFF2-40B4-BE49-F238E27FC236}">
                  <a16:creationId xmlns:a16="http://schemas.microsoft.com/office/drawing/2014/main" id="{A9987DDB-9FF2-AF45-2756-74502E43FB56}"/>
                </a:ext>
              </a:extLst>
            </p:cNvPr>
            <p:cNvSpPr>
              <a:spLocks/>
            </p:cNvSpPr>
            <p:nvPr/>
          </p:nvSpPr>
          <p:spPr bwMode="auto">
            <a:xfrm>
              <a:off x="4043362" y="1934368"/>
              <a:ext cx="896937" cy="382588"/>
            </a:xfrm>
            <a:custGeom>
              <a:avLst/>
              <a:gdLst>
                <a:gd name="T0" fmla="*/ 563 w 565"/>
                <a:gd name="T1" fmla="*/ 110 h 241"/>
                <a:gd name="T2" fmla="*/ 554 w 565"/>
                <a:gd name="T3" fmla="*/ 89 h 241"/>
                <a:gd name="T4" fmla="*/ 538 w 565"/>
                <a:gd name="T5" fmla="*/ 70 h 241"/>
                <a:gd name="T6" fmla="*/ 513 w 565"/>
                <a:gd name="T7" fmla="*/ 51 h 241"/>
                <a:gd name="T8" fmla="*/ 482 w 565"/>
                <a:gd name="T9" fmla="*/ 35 h 241"/>
                <a:gd name="T10" fmla="*/ 444 w 565"/>
                <a:gd name="T11" fmla="*/ 22 h 241"/>
                <a:gd name="T12" fmla="*/ 401 w 565"/>
                <a:gd name="T13" fmla="*/ 12 h 241"/>
                <a:gd name="T14" fmla="*/ 355 w 565"/>
                <a:gd name="T15" fmla="*/ 5 h 241"/>
                <a:gd name="T16" fmla="*/ 307 w 565"/>
                <a:gd name="T17" fmla="*/ 1 h 241"/>
                <a:gd name="T18" fmla="*/ 258 w 565"/>
                <a:gd name="T19" fmla="*/ 1 h 241"/>
                <a:gd name="T20" fmla="*/ 210 w 565"/>
                <a:gd name="T21" fmla="*/ 5 h 241"/>
                <a:gd name="T22" fmla="*/ 164 w 565"/>
                <a:gd name="T23" fmla="*/ 12 h 241"/>
                <a:gd name="T24" fmla="*/ 121 w 565"/>
                <a:gd name="T25" fmla="*/ 22 h 241"/>
                <a:gd name="T26" fmla="*/ 83 w 565"/>
                <a:gd name="T27" fmla="*/ 35 h 241"/>
                <a:gd name="T28" fmla="*/ 51 w 565"/>
                <a:gd name="T29" fmla="*/ 51 h 241"/>
                <a:gd name="T30" fmla="*/ 27 w 565"/>
                <a:gd name="T31" fmla="*/ 70 h 241"/>
                <a:gd name="T32" fmla="*/ 10 w 565"/>
                <a:gd name="T33" fmla="*/ 89 h 241"/>
                <a:gd name="T34" fmla="*/ 1 w 565"/>
                <a:gd name="T35" fmla="*/ 110 h 241"/>
                <a:gd name="T36" fmla="*/ 1 w 565"/>
                <a:gd name="T37" fmla="*/ 131 h 241"/>
                <a:gd name="T38" fmla="*/ 10 w 565"/>
                <a:gd name="T39" fmla="*/ 151 h 241"/>
                <a:gd name="T40" fmla="*/ 27 w 565"/>
                <a:gd name="T41" fmla="*/ 171 h 241"/>
                <a:gd name="T42" fmla="*/ 51 w 565"/>
                <a:gd name="T43" fmla="*/ 189 h 241"/>
                <a:gd name="T44" fmla="*/ 83 w 565"/>
                <a:gd name="T45" fmla="*/ 205 h 241"/>
                <a:gd name="T46" fmla="*/ 121 w 565"/>
                <a:gd name="T47" fmla="*/ 218 h 241"/>
                <a:gd name="T48" fmla="*/ 164 w 565"/>
                <a:gd name="T49" fmla="*/ 229 h 241"/>
                <a:gd name="T50" fmla="*/ 210 w 565"/>
                <a:gd name="T51" fmla="*/ 236 h 241"/>
                <a:gd name="T52" fmla="*/ 258 w 565"/>
                <a:gd name="T53" fmla="*/ 239 h 241"/>
                <a:gd name="T54" fmla="*/ 307 w 565"/>
                <a:gd name="T55" fmla="*/ 239 h 241"/>
                <a:gd name="T56" fmla="*/ 355 w 565"/>
                <a:gd name="T57" fmla="*/ 236 h 241"/>
                <a:gd name="T58" fmla="*/ 401 w 565"/>
                <a:gd name="T59" fmla="*/ 229 h 241"/>
                <a:gd name="T60" fmla="*/ 444 w 565"/>
                <a:gd name="T61" fmla="*/ 218 h 241"/>
                <a:gd name="T62" fmla="*/ 482 w 565"/>
                <a:gd name="T63" fmla="*/ 205 h 241"/>
                <a:gd name="T64" fmla="*/ 513 w 565"/>
                <a:gd name="T65" fmla="*/ 189 h 241"/>
                <a:gd name="T66" fmla="*/ 538 w 565"/>
                <a:gd name="T67" fmla="*/ 171 h 241"/>
                <a:gd name="T68" fmla="*/ 554 w 565"/>
                <a:gd name="T69" fmla="*/ 151 h 241"/>
                <a:gd name="T70" fmla="*/ 563 w 565"/>
                <a:gd name="T71" fmla="*/ 13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1">
                  <a:moveTo>
                    <a:pt x="564" y="120"/>
                  </a:moveTo>
                  <a:lnTo>
                    <a:pt x="563" y="110"/>
                  </a:lnTo>
                  <a:lnTo>
                    <a:pt x="560" y="100"/>
                  </a:lnTo>
                  <a:lnTo>
                    <a:pt x="554" y="89"/>
                  </a:lnTo>
                  <a:lnTo>
                    <a:pt x="547" y="79"/>
                  </a:lnTo>
                  <a:lnTo>
                    <a:pt x="538" y="70"/>
                  </a:lnTo>
                  <a:lnTo>
                    <a:pt x="526" y="60"/>
                  </a:lnTo>
                  <a:lnTo>
                    <a:pt x="513" y="51"/>
                  </a:lnTo>
                  <a:lnTo>
                    <a:pt x="498" y="43"/>
                  </a:lnTo>
                  <a:lnTo>
                    <a:pt x="482" y="35"/>
                  </a:lnTo>
                  <a:lnTo>
                    <a:pt x="463" y="29"/>
                  </a:lnTo>
                  <a:lnTo>
                    <a:pt x="444" y="22"/>
                  </a:lnTo>
                  <a:lnTo>
                    <a:pt x="423" y="16"/>
                  </a:lnTo>
                  <a:lnTo>
                    <a:pt x="401" y="12"/>
                  </a:lnTo>
                  <a:lnTo>
                    <a:pt x="378" y="8"/>
                  </a:lnTo>
                  <a:lnTo>
                    <a:pt x="355" y="5"/>
                  </a:lnTo>
                  <a:lnTo>
                    <a:pt x="332" y="3"/>
                  </a:lnTo>
                  <a:lnTo>
                    <a:pt x="307" y="1"/>
                  </a:lnTo>
                  <a:lnTo>
                    <a:pt x="282" y="0"/>
                  </a:lnTo>
                  <a:lnTo>
                    <a:pt x="258" y="1"/>
                  </a:lnTo>
                  <a:lnTo>
                    <a:pt x="234" y="3"/>
                  </a:lnTo>
                  <a:lnTo>
                    <a:pt x="210" y="5"/>
                  </a:lnTo>
                  <a:lnTo>
                    <a:pt x="186" y="8"/>
                  </a:lnTo>
                  <a:lnTo>
                    <a:pt x="164" y="12"/>
                  </a:lnTo>
                  <a:lnTo>
                    <a:pt x="141" y="16"/>
                  </a:lnTo>
                  <a:lnTo>
                    <a:pt x="121" y="22"/>
                  </a:lnTo>
                  <a:lnTo>
                    <a:pt x="101" y="29"/>
                  </a:lnTo>
                  <a:lnTo>
                    <a:pt x="83" y="35"/>
                  </a:lnTo>
                  <a:lnTo>
                    <a:pt x="66" y="43"/>
                  </a:lnTo>
                  <a:lnTo>
                    <a:pt x="51" y="51"/>
                  </a:lnTo>
                  <a:lnTo>
                    <a:pt x="39" y="60"/>
                  </a:lnTo>
                  <a:lnTo>
                    <a:pt x="27" y="70"/>
                  </a:lnTo>
                  <a:lnTo>
                    <a:pt x="18" y="79"/>
                  </a:lnTo>
                  <a:lnTo>
                    <a:pt x="10" y="89"/>
                  </a:lnTo>
                  <a:lnTo>
                    <a:pt x="5" y="100"/>
                  </a:lnTo>
                  <a:lnTo>
                    <a:pt x="1" y="110"/>
                  </a:lnTo>
                  <a:lnTo>
                    <a:pt x="0" y="120"/>
                  </a:lnTo>
                  <a:lnTo>
                    <a:pt x="1" y="131"/>
                  </a:lnTo>
                  <a:lnTo>
                    <a:pt x="5" y="141"/>
                  </a:lnTo>
                  <a:lnTo>
                    <a:pt x="10" y="151"/>
                  </a:lnTo>
                  <a:lnTo>
                    <a:pt x="18" y="161"/>
                  </a:lnTo>
                  <a:lnTo>
                    <a:pt x="27" y="171"/>
                  </a:lnTo>
                  <a:lnTo>
                    <a:pt x="39" y="180"/>
                  </a:lnTo>
                  <a:lnTo>
                    <a:pt x="51" y="189"/>
                  </a:lnTo>
                  <a:lnTo>
                    <a:pt x="66" y="197"/>
                  </a:lnTo>
                  <a:lnTo>
                    <a:pt x="83" y="205"/>
                  </a:lnTo>
                  <a:lnTo>
                    <a:pt x="101" y="212"/>
                  </a:lnTo>
                  <a:lnTo>
                    <a:pt x="121" y="218"/>
                  </a:lnTo>
                  <a:lnTo>
                    <a:pt x="141" y="224"/>
                  </a:lnTo>
                  <a:lnTo>
                    <a:pt x="164" y="229"/>
                  </a:lnTo>
                  <a:lnTo>
                    <a:pt x="186" y="233"/>
                  </a:lnTo>
                  <a:lnTo>
                    <a:pt x="210" y="236"/>
                  </a:lnTo>
                  <a:lnTo>
                    <a:pt x="234" y="238"/>
                  </a:lnTo>
                  <a:lnTo>
                    <a:pt x="258" y="239"/>
                  </a:lnTo>
                  <a:lnTo>
                    <a:pt x="282" y="240"/>
                  </a:lnTo>
                  <a:lnTo>
                    <a:pt x="307" y="239"/>
                  </a:lnTo>
                  <a:lnTo>
                    <a:pt x="332" y="238"/>
                  </a:lnTo>
                  <a:lnTo>
                    <a:pt x="355" y="236"/>
                  </a:lnTo>
                  <a:lnTo>
                    <a:pt x="378" y="233"/>
                  </a:lnTo>
                  <a:lnTo>
                    <a:pt x="401" y="229"/>
                  </a:lnTo>
                  <a:lnTo>
                    <a:pt x="423" y="224"/>
                  </a:lnTo>
                  <a:lnTo>
                    <a:pt x="444" y="218"/>
                  </a:lnTo>
                  <a:lnTo>
                    <a:pt x="463" y="212"/>
                  </a:lnTo>
                  <a:lnTo>
                    <a:pt x="482" y="205"/>
                  </a:lnTo>
                  <a:lnTo>
                    <a:pt x="498" y="197"/>
                  </a:lnTo>
                  <a:lnTo>
                    <a:pt x="513" y="189"/>
                  </a:lnTo>
                  <a:lnTo>
                    <a:pt x="526" y="180"/>
                  </a:lnTo>
                  <a:lnTo>
                    <a:pt x="538" y="171"/>
                  </a:lnTo>
                  <a:lnTo>
                    <a:pt x="547" y="161"/>
                  </a:lnTo>
                  <a:lnTo>
                    <a:pt x="554" y="151"/>
                  </a:lnTo>
                  <a:lnTo>
                    <a:pt x="560" y="141"/>
                  </a:lnTo>
                  <a:lnTo>
                    <a:pt x="563" y="131"/>
                  </a:lnTo>
                  <a:lnTo>
                    <a:pt x="564" y="12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1" name="Rectangle 45">
              <a:extLst>
                <a:ext uri="{FF2B5EF4-FFF2-40B4-BE49-F238E27FC236}">
                  <a16:creationId xmlns:a16="http://schemas.microsoft.com/office/drawing/2014/main" id="{62588863-18F0-CC7A-E65D-F5CCA9383684}"/>
                </a:ext>
              </a:extLst>
            </p:cNvPr>
            <p:cNvSpPr>
              <a:spLocks noChangeArrowheads="1"/>
            </p:cNvSpPr>
            <p:nvPr/>
          </p:nvSpPr>
          <p:spPr bwMode="auto">
            <a:xfrm>
              <a:off x="5076824" y="2213768"/>
              <a:ext cx="559179"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lot</a:t>
              </a:r>
            </a:p>
          </p:txBody>
        </p:sp>
        <p:sp>
          <p:nvSpPr>
            <p:cNvPr id="92" name="Rectangle 46">
              <a:extLst>
                <a:ext uri="{FF2B5EF4-FFF2-40B4-BE49-F238E27FC236}">
                  <a16:creationId xmlns:a16="http://schemas.microsoft.com/office/drawing/2014/main" id="{6F91246B-A6EB-9A12-72B9-A0ABA41B0EE2}"/>
                </a:ext>
              </a:extLst>
            </p:cNvPr>
            <p:cNvSpPr>
              <a:spLocks noChangeArrowheads="1"/>
            </p:cNvSpPr>
            <p:nvPr/>
          </p:nvSpPr>
          <p:spPr bwMode="auto">
            <a:xfrm>
              <a:off x="4170363" y="1988343"/>
              <a:ext cx="835999"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name</a:t>
              </a:r>
            </a:p>
          </p:txBody>
        </p:sp>
        <p:sp>
          <p:nvSpPr>
            <p:cNvPr id="93" name="Rectangle 47">
              <a:extLst>
                <a:ext uri="{FF2B5EF4-FFF2-40B4-BE49-F238E27FC236}">
                  <a16:creationId xmlns:a16="http://schemas.microsoft.com/office/drawing/2014/main" id="{34FF2E9F-AA4C-D4C7-95A1-FEDEFC1C5E7C}"/>
                </a:ext>
              </a:extLst>
            </p:cNvPr>
            <p:cNvSpPr>
              <a:spLocks noChangeArrowheads="1"/>
            </p:cNvSpPr>
            <p:nvPr/>
          </p:nvSpPr>
          <p:spPr bwMode="auto">
            <a:xfrm>
              <a:off x="3387725" y="2204242"/>
              <a:ext cx="658834"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u="sng">
                  <a:solidFill>
                    <a:srgbClr val="000000"/>
                  </a:solidFill>
                  <a:latin typeface="Arial" pitchFamily="34" charset="0"/>
                </a:rPr>
                <a:t>ssn</a:t>
              </a:r>
            </a:p>
          </p:txBody>
        </p:sp>
        <p:sp>
          <p:nvSpPr>
            <p:cNvPr id="94" name="Line 48">
              <a:extLst>
                <a:ext uri="{FF2B5EF4-FFF2-40B4-BE49-F238E27FC236}">
                  <a16:creationId xmlns:a16="http://schemas.microsoft.com/office/drawing/2014/main" id="{58926F61-A554-D96B-01A5-A2DCE51847DF}"/>
                </a:ext>
              </a:extLst>
            </p:cNvPr>
            <p:cNvSpPr>
              <a:spLocks noChangeShapeType="1"/>
            </p:cNvSpPr>
            <p:nvPr/>
          </p:nvSpPr>
          <p:spPr bwMode="auto">
            <a:xfrm>
              <a:off x="3686174" y="2620168"/>
              <a:ext cx="552450" cy="20002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5" name="Line 49">
              <a:extLst>
                <a:ext uri="{FF2B5EF4-FFF2-40B4-BE49-F238E27FC236}">
                  <a16:creationId xmlns:a16="http://schemas.microsoft.com/office/drawing/2014/main" id="{73E1EDFF-0824-3889-C532-F17DB7A5A205}"/>
                </a:ext>
              </a:extLst>
            </p:cNvPr>
            <p:cNvSpPr>
              <a:spLocks noChangeShapeType="1"/>
            </p:cNvSpPr>
            <p:nvPr/>
          </p:nvSpPr>
          <p:spPr bwMode="auto">
            <a:xfrm>
              <a:off x="4503737" y="2315368"/>
              <a:ext cx="0" cy="48895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6" name="Line 50">
              <a:extLst>
                <a:ext uri="{FF2B5EF4-FFF2-40B4-BE49-F238E27FC236}">
                  <a16:creationId xmlns:a16="http://schemas.microsoft.com/office/drawing/2014/main" id="{ADF53232-D354-C617-7CE0-18BE549F3D72}"/>
                </a:ext>
              </a:extLst>
            </p:cNvPr>
            <p:cNvSpPr>
              <a:spLocks noChangeShapeType="1"/>
            </p:cNvSpPr>
            <p:nvPr/>
          </p:nvSpPr>
          <p:spPr bwMode="auto">
            <a:xfrm flipH="1">
              <a:off x="4802187" y="2604293"/>
              <a:ext cx="530225" cy="2159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7" name="Line 51">
              <a:extLst>
                <a:ext uri="{FF2B5EF4-FFF2-40B4-BE49-F238E27FC236}">
                  <a16:creationId xmlns:a16="http://schemas.microsoft.com/office/drawing/2014/main" id="{50777638-9267-E21D-DEF7-A56FB125205E}"/>
                </a:ext>
              </a:extLst>
            </p:cNvPr>
            <p:cNvSpPr>
              <a:spLocks noChangeShapeType="1"/>
            </p:cNvSpPr>
            <p:nvPr/>
          </p:nvSpPr>
          <p:spPr bwMode="auto">
            <a:xfrm flipH="1">
              <a:off x="5524498" y="5905892"/>
              <a:ext cx="255588"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8" name="Freeform 53">
              <a:extLst>
                <a:ext uri="{FF2B5EF4-FFF2-40B4-BE49-F238E27FC236}">
                  <a16:creationId xmlns:a16="http://schemas.microsoft.com/office/drawing/2014/main" id="{7599D785-C4AD-FB1D-0985-215D36F480DB}"/>
                </a:ext>
              </a:extLst>
            </p:cNvPr>
            <p:cNvSpPr>
              <a:spLocks/>
            </p:cNvSpPr>
            <p:nvPr/>
          </p:nvSpPr>
          <p:spPr bwMode="auto">
            <a:xfrm>
              <a:off x="4381499" y="4731543"/>
              <a:ext cx="896938" cy="381000"/>
            </a:xfrm>
            <a:custGeom>
              <a:avLst/>
              <a:gdLst>
                <a:gd name="T0" fmla="*/ 563 w 565"/>
                <a:gd name="T1" fmla="*/ 109 h 240"/>
                <a:gd name="T2" fmla="*/ 555 w 565"/>
                <a:gd name="T3" fmla="*/ 88 h 240"/>
                <a:gd name="T4" fmla="*/ 538 w 565"/>
                <a:gd name="T5" fmla="*/ 68 h 240"/>
                <a:gd name="T6" fmla="*/ 513 w 565"/>
                <a:gd name="T7" fmla="*/ 51 h 240"/>
                <a:gd name="T8" fmla="*/ 482 w 565"/>
                <a:gd name="T9" fmla="*/ 35 h 240"/>
                <a:gd name="T10" fmla="*/ 444 w 565"/>
                <a:gd name="T11" fmla="*/ 21 h 240"/>
                <a:gd name="T12" fmla="*/ 402 w 565"/>
                <a:gd name="T13" fmla="*/ 11 h 240"/>
                <a:gd name="T14" fmla="*/ 356 w 565"/>
                <a:gd name="T15" fmla="*/ 4 h 240"/>
                <a:gd name="T16" fmla="*/ 307 w 565"/>
                <a:gd name="T17" fmla="*/ 0 h 240"/>
                <a:gd name="T18" fmla="*/ 258 w 565"/>
                <a:gd name="T19" fmla="*/ 0 h 240"/>
                <a:gd name="T20" fmla="*/ 210 w 565"/>
                <a:gd name="T21" fmla="*/ 4 h 240"/>
                <a:gd name="T22" fmla="*/ 163 w 565"/>
                <a:gd name="T23" fmla="*/ 11 h 240"/>
                <a:gd name="T24" fmla="*/ 121 w 565"/>
                <a:gd name="T25" fmla="*/ 21 h 240"/>
                <a:gd name="T26" fmla="*/ 83 w 565"/>
                <a:gd name="T27" fmla="*/ 35 h 240"/>
                <a:gd name="T28" fmla="*/ 52 w 565"/>
                <a:gd name="T29" fmla="*/ 51 h 240"/>
                <a:gd name="T30" fmla="*/ 27 w 565"/>
                <a:gd name="T31" fmla="*/ 68 h 240"/>
                <a:gd name="T32" fmla="*/ 10 w 565"/>
                <a:gd name="T33" fmla="*/ 88 h 240"/>
                <a:gd name="T34" fmla="*/ 2 w 565"/>
                <a:gd name="T35" fmla="*/ 109 h 240"/>
                <a:gd name="T36" fmla="*/ 2 w 565"/>
                <a:gd name="T37" fmla="*/ 129 h 240"/>
                <a:gd name="T38" fmla="*/ 10 w 565"/>
                <a:gd name="T39" fmla="*/ 150 h 240"/>
                <a:gd name="T40" fmla="*/ 27 w 565"/>
                <a:gd name="T41" fmla="*/ 170 h 240"/>
                <a:gd name="T42" fmla="*/ 52 w 565"/>
                <a:gd name="T43" fmla="*/ 188 h 240"/>
                <a:gd name="T44" fmla="*/ 83 w 565"/>
                <a:gd name="T45" fmla="*/ 204 h 240"/>
                <a:gd name="T46" fmla="*/ 121 w 565"/>
                <a:gd name="T47" fmla="*/ 217 h 240"/>
                <a:gd name="T48" fmla="*/ 163 w 565"/>
                <a:gd name="T49" fmla="*/ 227 h 240"/>
                <a:gd name="T50" fmla="*/ 210 w 565"/>
                <a:gd name="T51" fmla="*/ 235 h 240"/>
                <a:gd name="T52" fmla="*/ 258 w 565"/>
                <a:gd name="T53" fmla="*/ 239 h 240"/>
                <a:gd name="T54" fmla="*/ 307 w 565"/>
                <a:gd name="T55" fmla="*/ 239 h 240"/>
                <a:gd name="T56" fmla="*/ 356 w 565"/>
                <a:gd name="T57" fmla="*/ 235 h 240"/>
                <a:gd name="T58" fmla="*/ 402 w 565"/>
                <a:gd name="T59" fmla="*/ 227 h 240"/>
                <a:gd name="T60" fmla="*/ 444 w 565"/>
                <a:gd name="T61" fmla="*/ 217 h 240"/>
                <a:gd name="T62" fmla="*/ 482 w 565"/>
                <a:gd name="T63" fmla="*/ 204 h 240"/>
                <a:gd name="T64" fmla="*/ 513 w 565"/>
                <a:gd name="T65" fmla="*/ 188 h 240"/>
                <a:gd name="T66" fmla="*/ 538 w 565"/>
                <a:gd name="T67" fmla="*/ 170 h 240"/>
                <a:gd name="T68" fmla="*/ 555 w 565"/>
                <a:gd name="T69" fmla="*/ 150 h 240"/>
                <a:gd name="T70" fmla="*/ 563 w 565"/>
                <a:gd name="T71" fmla="*/ 12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5" h="240">
                  <a:moveTo>
                    <a:pt x="564" y="119"/>
                  </a:moveTo>
                  <a:lnTo>
                    <a:pt x="563" y="109"/>
                  </a:lnTo>
                  <a:lnTo>
                    <a:pt x="560" y="98"/>
                  </a:lnTo>
                  <a:lnTo>
                    <a:pt x="555" y="88"/>
                  </a:lnTo>
                  <a:lnTo>
                    <a:pt x="547" y="78"/>
                  </a:lnTo>
                  <a:lnTo>
                    <a:pt x="538" y="68"/>
                  </a:lnTo>
                  <a:lnTo>
                    <a:pt x="527" y="60"/>
                  </a:lnTo>
                  <a:lnTo>
                    <a:pt x="513" y="51"/>
                  </a:lnTo>
                  <a:lnTo>
                    <a:pt x="498" y="42"/>
                  </a:lnTo>
                  <a:lnTo>
                    <a:pt x="482" y="35"/>
                  </a:lnTo>
                  <a:lnTo>
                    <a:pt x="464" y="27"/>
                  </a:lnTo>
                  <a:lnTo>
                    <a:pt x="444" y="21"/>
                  </a:lnTo>
                  <a:lnTo>
                    <a:pt x="423" y="15"/>
                  </a:lnTo>
                  <a:lnTo>
                    <a:pt x="402" y="11"/>
                  </a:lnTo>
                  <a:lnTo>
                    <a:pt x="379" y="7"/>
                  </a:lnTo>
                  <a:lnTo>
                    <a:pt x="356" y="4"/>
                  </a:lnTo>
                  <a:lnTo>
                    <a:pt x="331" y="1"/>
                  </a:lnTo>
                  <a:lnTo>
                    <a:pt x="307" y="0"/>
                  </a:lnTo>
                  <a:lnTo>
                    <a:pt x="282" y="0"/>
                  </a:lnTo>
                  <a:lnTo>
                    <a:pt x="258" y="0"/>
                  </a:lnTo>
                  <a:lnTo>
                    <a:pt x="234" y="1"/>
                  </a:lnTo>
                  <a:lnTo>
                    <a:pt x="210" y="4"/>
                  </a:lnTo>
                  <a:lnTo>
                    <a:pt x="186" y="7"/>
                  </a:lnTo>
                  <a:lnTo>
                    <a:pt x="163" y="11"/>
                  </a:lnTo>
                  <a:lnTo>
                    <a:pt x="141" y="15"/>
                  </a:lnTo>
                  <a:lnTo>
                    <a:pt x="121" y="21"/>
                  </a:lnTo>
                  <a:lnTo>
                    <a:pt x="101" y="27"/>
                  </a:lnTo>
                  <a:lnTo>
                    <a:pt x="83" y="35"/>
                  </a:lnTo>
                  <a:lnTo>
                    <a:pt x="67" y="42"/>
                  </a:lnTo>
                  <a:lnTo>
                    <a:pt x="52" y="51"/>
                  </a:lnTo>
                  <a:lnTo>
                    <a:pt x="38" y="60"/>
                  </a:lnTo>
                  <a:lnTo>
                    <a:pt x="27" y="68"/>
                  </a:lnTo>
                  <a:lnTo>
                    <a:pt x="18" y="78"/>
                  </a:lnTo>
                  <a:lnTo>
                    <a:pt x="10" y="88"/>
                  </a:lnTo>
                  <a:lnTo>
                    <a:pt x="5" y="98"/>
                  </a:lnTo>
                  <a:lnTo>
                    <a:pt x="2" y="109"/>
                  </a:lnTo>
                  <a:lnTo>
                    <a:pt x="0" y="119"/>
                  </a:lnTo>
                  <a:lnTo>
                    <a:pt x="2" y="129"/>
                  </a:lnTo>
                  <a:lnTo>
                    <a:pt x="5" y="140"/>
                  </a:lnTo>
                  <a:lnTo>
                    <a:pt x="10" y="150"/>
                  </a:lnTo>
                  <a:lnTo>
                    <a:pt x="18" y="160"/>
                  </a:lnTo>
                  <a:lnTo>
                    <a:pt x="27" y="170"/>
                  </a:lnTo>
                  <a:lnTo>
                    <a:pt x="38" y="179"/>
                  </a:lnTo>
                  <a:lnTo>
                    <a:pt x="52" y="188"/>
                  </a:lnTo>
                  <a:lnTo>
                    <a:pt x="67" y="196"/>
                  </a:lnTo>
                  <a:lnTo>
                    <a:pt x="83" y="204"/>
                  </a:lnTo>
                  <a:lnTo>
                    <a:pt x="101" y="211"/>
                  </a:lnTo>
                  <a:lnTo>
                    <a:pt x="121" y="217"/>
                  </a:lnTo>
                  <a:lnTo>
                    <a:pt x="141" y="223"/>
                  </a:lnTo>
                  <a:lnTo>
                    <a:pt x="163" y="227"/>
                  </a:lnTo>
                  <a:lnTo>
                    <a:pt x="186" y="231"/>
                  </a:lnTo>
                  <a:lnTo>
                    <a:pt x="210" y="235"/>
                  </a:lnTo>
                  <a:lnTo>
                    <a:pt x="234" y="237"/>
                  </a:lnTo>
                  <a:lnTo>
                    <a:pt x="258" y="239"/>
                  </a:lnTo>
                  <a:lnTo>
                    <a:pt x="282" y="239"/>
                  </a:lnTo>
                  <a:lnTo>
                    <a:pt x="307" y="239"/>
                  </a:lnTo>
                  <a:lnTo>
                    <a:pt x="331" y="237"/>
                  </a:lnTo>
                  <a:lnTo>
                    <a:pt x="356" y="235"/>
                  </a:lnTo>
                  <a:lnTo>
                    <a:pt x="379" y="231"/>
                  </a:lnTo>
                  <a:lnTo>
                    <a:pt x="402" y="227"/>
                  </a:lnTo>
                  <a:lnTo>
                    <a:pt x="423" y="223"/>
                  </a:lnTo>
                  <a:lnTo>
                    <a:pt x="444" y="217"/>
                  </a:lnTo>
                  <a:lnTo>
                    <a:pt x="464" y="211"/>
                  </a:lnTo>
                  <a:lnTo>
                    <a:pt x="482" y="204"/>
                  </a:lnTo>
                  <a:lnTo>
                    <a:pt x="498" y="196"/>
                  </a:lnTo>
                  <a:lnTo>
                    <a:pt x="513" y="188"/>
                  </a:lnTo>
                  <a:lnTo>
                    <a:pt x="527" y="179"/>
                  </a:lnTo>
                  <a:lnTo>
                    <a:pt x="538" y="170"/>
                  </a:lnTo>
                  <a:lnTo>
                    <a:pt x="547" y="160"/>
                  </a:lnTo>
                  <a:lnTo>
                    <a:pt x="555" y="150"/>
                  </a:lnTo>
                  <a:lnTo>
                    <a:pt x="560" y="140"/>
                  </a:lnTo>
                  <a:lnTo>
                    <a:pt x="563" y="129"/>
                  </a:lnTo>
                  <a:lnTo>
                    <a:pt x="564" y="11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99" name="Rectangle 54">
              <a:extLst>
                <a:ext uri="{FF2B5EF4-FFF2-40B4-BE49-F238E27FC236}">
                  <a16:creationId xmlns:a16="http://schemas.microsoft.com/office/drawing/2014/main" id="{5AED04AF-50B6-AB93-94AE-D033473247BA}"/>
                </a:ext>
              </a:extLst>
            </p:cNvPr>
            <p:cNvSpPr>
              <a:spLocks noChangeArrowheads="1"/>
            </p:cNvSpPr>
            <p:nvPr/>
          </p:nvSpPr>
          <p:spPr bwMode="auto">
            <a:xfrm>
              <a:off x="4457699" y="4731542"/>
              <a:ext cx="824926" cy="362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900" b="1">
                  <a:solidFill>
                    <a:srgbClr val="000000"/>
                  </a:solidFill>
                  <a:latin typeface="Arial" pitchFamily="34" charset="0"/>
                </a:rPr>
                <a:t>since</a:t>
              </a:r>
            </a:p>
          </p:txBody>
        </p:sp>
        <p:sp>
          <p:nvSpPr>
            <p:cNvPr id="100" name="Line 55">
              <a:extLst>
                <a:ext uri="{FF2B5EF4-FFF2-40B4-BE49-F238E27FC236}">
                  <a16:creationId xmlns:a16="http://schemas.microsoft.com/office/drawing/2014/main" id="{185A652F-27C7-8635-95A4-28D46749059E}"/>
                </a:ext>
              </a:extLst>
            </p:cNvPr>
            <p:cNvSpPr>
              <a:spLocks noChangeShapeType="1"/>
            </p:cNvSpPr>
            <p:nvPr/>
          </p:nvSpPr>
          <p:spPr bwMode="auto">
            <a:xfrm flipV="1">
              <a:off x="4838699" y="5112543"/>
              <a:ext cx="0" cy="4572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sp>
          <p:nvSpPr>
            <p:cNvPr id="101" name="Line 52">
              <a:extLst>
                <a:ext uri="{FF2B5EF4-FFF2-40B4-BE49-F238E27FC236}">
                  <a16:creationId xmlns:a16="http://schemas.microsoft.com/office/drawing/2014/main" id="{AB6180D7-7370-6FEE-DC4F-9C5E8764FC54}"/>
                </a:ext>
              </a:extLst>
            </p:cNvPr>
            <p:cNvSpPr>
              <a:spLocks noChangeShapeType="1"/>
            </p:cNvSpPr>
            <p:nvPr/>
          </p:nvSpPr>
          <p:spPr bwMode="auto">
            <a:xfrm>
              <a:off x="3525837" y="5905892"/>
              <a:ext cx="644525" cy="0"/>
            </a:xfrm>
            <a:prstGeom prst="line">
              <a:avLst/>
            </a:prstGeom>
            <a:noFill/>
            <a:ln w="508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00"/>
            </a:p>
          </p:txBody>
        </p:sp>
      </p:grpSp>
    </p:spTree>
    <p:extLst>
      <p:ext uri="{BB962C8B-B14F-4D97-AF65-F5344CB8AC3E}">
        <p14:creationId xmlns:p14="http://schemas.microsoft.com/office/powerpoint/2010/main" val="1267825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9CE14-3645-C932-EEAB-50C76E204CAC}"/>
              </a:ext>
            </a:extLst>
          </p:cNvPr>
          <p:cNvSpPr>
            <a:spLocks noGrp="1"/>
          </p:cNvSpPr>
          <p:nvPr>
            <p:ph type="title"/>
          </p:nvPr>
        </p:nvSpPr>
        <p:spPr/>
        <p:txBody>
          <a:bodyPr/>
          <a:lstStyle/>
          <a:p>
            <a:r>
              <a:rPr lang="en-US" dirty="0"/>
              <a:t>The Relational Model: A Summary</a:t>
            </a:r>
          </a:p>
        </p:txBody>
      </p:sp>
      <p:sp>
        <p:nvSpPr>
          <p:cNvPr id="3" name="Content Placeholder 2">
            <a:extLst>
              <a:ext uri="{FF2B5EF4-FFF2-40B4-BE49-F238E27FC236}">
                <a16:creationId xmlns:a16="http://schemas.microsoft.com/office/drawing/2014/main" id="{1BB85CFE-2C33-60E5-4469-21548799FB46}"/>
              </a:ext>
            </a:extLst>
          </p:cNvPr>
          <p:cNvSpPr>
            <a:spLocks noGrp="1"/>
          </p:cNvSpPr>
          <p:nvPr>
            <p:ph idx="1"/>
          </p:nvPr>
        </p:nvSpPr>
        <p:spPr/>
        <p:txBody>
          <a:bodyPr>
            <a:normAutofit/>
          </a:bodyPr>
          <a:lstStyle/>
          <a:p>
            <a:pPr>
              <a:buFont typeface="Wingdings" pitchFamily="2" charset="2"/>
              <a:buChar char="§"/>
            </a:pPr>
            <a:r>
              <a:rPr lang="en-US" sz="2400" b="0" dirty="0"/>
              <a:t>A tabular representation of data</a:t>
            </a:r>
          </a:p>
          <a:p>
            <a:pPr lvl="1">
              <a:buFont typeface="Wingdings" pitchFamily="2" charset="2"/>
              <a:buChar char="§"/>
            </a:pPr>
            <a:endParaRPr lang="en-US" sz="1600" b="0" dirty="0"/>
          </a:p>
          <a:p>
            <a:pPr>
              <a:buFont typeface="Wingdings" pitchFamily="2" charset="2"/>
              <a:buChar char="§"/>
            </a:pPr>
            <a:r>
              <a:rPr lang="en-US" sz="2400" b="0" dirty="0"/>
              <a:t>Simple and intuitive, currently one of the most widely used</a:t>
            </a:r>
          </a:p>
          <a:p>
            <a:pPr lvl="1">
              <a:buFont typeface="Wingdings" pitchFamily="2" charset="2"/>
              <a:buChar char="§"/>
            </a:pPr>
            <a:endParaRPr lang="en-US" sz="1600" b="0" dirty="0"/>
          </a:p>
          <a:p>
            <a:pPr>
              <a:buFont typeface="Wingdings" pitchFamily="2" charset="2"/>
              <a:buChar char="§"/>
            </a:pPr>
            <a:r>
              <a:rPr lang="en-US" sz="2400" b="0" dirty="0"/>
              <a:t>Integrity constraints can be specified (by the DBA) based on application semantics (DBMS checks for violations)</a:t>
            </a:r>
          </a:p>
          <a:p>
            <a:pPr lvl="1">
              <a:buFont typeface="Wingdings" pitchFamily="2" charset="2"/>
              <a:buChar char="§"/>
            </a:pPr>
            <a:r>
              <a:rPr lang="en-US" sz="2400" dirty="0"/>
              <a:t>Two important ICs: primary and foreign keys</a:t>
            </a:r>
          </a:p>
          <a:p>
            <a:pPr lvl="1">
              <a:buFont typeface="Wingdings" pitchFamily="2" charset="2"/>
              <a:buChar char="§"/>
            </a:pPr>
            <a:r>
              <a:rPr lang="en-US" sz="2400" dirty="0"/>
              <a:t>Also: </a:t>
            </a:r>
            <a:r>
              <a:rPr lang="en-US" sz="2400" dirty="0">
                <a:latin typeface="Arial" pitchFamily="34" charset="0"/>
              </a:rPr>
              <a:t>not null</a:t>
            </a:r>
            <a:r>
              <a:rPr lang="en-US" sz="2400" dirty="0"/>
              <a:t>, </a:t>
            </a:r>
            <a:r>
              <a:rPr lang="en-US" sz="2400" dirty="0">
                <a:latin typeface="Arial" pitchFamily="34" charset="0"/>
              </a:rPr>
              <a:t>unique</a:t>
            </a:r>
            <a:endParaRPr lang="en-US" sz="2400" dirty="0"/>
          </a:p>
          <a:p>
            <a:pPr lvl="1">
              <a:buFont typeface="Wingdings" pitchFamily="2" charset="2"/>
              <a:buChar char="§"/>
            </a:pPr>
            <a:r>
              <a:rPr lang="en-US" sz="2400" dirty="0"/>
              <a:t>In addition, we </a:t>
            </a:r>
            <a:r>
              <a:rPr lang="en-US" sz="2400" i="1" dirty="0"/>
              <a:t>always</a:t>
            </a:r>
            <a:r>
              <a:rPr lang="en-US" sz="2400" dirty="0"/>
              <a:t> have domain constraints</a:t>
            </a:r>
          </a:p>
          <a:p>
            <a:pPr lvl="1">
              <a:buFont typeface="Wingdings" pitchFamily="2" charset="2"/>
              <a:buChar char="§"/>
            </a:pPr>
            <a:endParaRPr lang="en-US" sz="1600" dirty="0"/>
          </a:p>
          <a:p>
            <a:pPr>
              <a:buFont typeface="Wingdings" pitchFamily="2" charset="2"/>
              <a:buChar char="§"/>
            </a:pPr>
            <a:r>
              <a:rPr lang="en-US" sz="2400" b="0" dirty="0"/>
              <a:t>Mapping from ER to Relational is (fairly) straightforward!</a:t>
            </a:r>
          </a:p>
          <a:p>
            <a:endParaRPr lang="en-US" dirty="0"/>
          </a:p>
        </p:txBody>
      </p:sp>
      <p:sp>
        <p:nvSpPr>
          <p:cNvPr id="4" name="Slide Number Placeholder 3">
            <a:extLst>
              <a:ext uri="{FF2B5EF4-FFF2-40B4-BE49-F238E27FC236}">
                <a16:creationId xmlns:a16="http://schemas.microsoft.com/office/drawing/2014/main" id="{36029711-84F1-14D8-5488-164F7F3E8D45}"/>
              </a:ext>
            </a:extLst>
          </p:cNvPr>
          <p:cNvSpPr>
            <a:spLocks noGrp="1"/>
          </p:cNvSpPr>
          <p:nvPr>
            <p:ph type="sldNum" sz="quarter" idx="12"/>
          </p:nvPr>
        </p:nvSpPr>
        <p:spPr/>
        <p:txBody>
          <a:bodyPr/>
          <a:lstStyle/>
          <a:p>
            <a:fld id="{5FCA4BC5-AE2A-401E-9EDD-DF8812A14A6A}" type="slidenum">
              <a:rPr lang="en-US" smtClean="0"/>
              <a:t>45</a:t>
            </a:fld>
            <a:endParaRPr lang="en-US" dirty="0"/>
          </a:p>
        </p:txBody>
      </p:sp>
    </p:spTree>
    <p:extLst>
      <p:ext uri="{BB962C8B-B14F-4D97-AF65-F5344CB8AC3E}">
        <p14:creationId xmlns:p14="http://schemas.microsoft.com/office/powerpoint/2010/main" val="1559383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9EE70-0635-556D-AB50-CA4CBF858F6F}"/>
              </a:ext>
            </a:extLst>
          </p:cNvPr>
          <p:cNvSpPr>
            <a:spLocks noGrp="1"/>
          </p:cNvSpPr>
          <p:nvPr>
            <p:ph type="title"/>
          </p:nvPr>
        </p:nvSpPr>
        <p:spPr/>
        <p:txBody>
          <a:bodyPr/>
          <a:lstStyle/>
          <a:p>
            <a:r>
              <a:rPr lang="en-US" dirty="0"/>
              <a:t>ER to Tables: A Summary</a:t>
            </a:r>
          </a:p>
        </p:txBody>
      </p:sp>
      <p:sp>
        <p:nvSpPr>
          <p:cNvPr id="3" name="Content Placeholder 2">
            <a:extLst>
              <a:ext uri="{FF2B5EF4-FFF2-40B4-BE49-F238E27FC236}">
                <a16:creationId xmlns:a16="http://schemas.microsoft.com/office/drawing/2014/main" id="{EBAE2DBF-FF97-A336-D638-6832ECB9C9AD}"/>
              </a:ext>
            </a:extLst>
          </p:cNvPr>
          <p:cNvSpPr>
            <a:spLocks noGrp="1"/>
          </p:cNvSpPr>
          <p:nvPr>
            <p:ph idx="1"/>
          </p:nvPr>
        </p:nvSpPr>
        <p:spPr>
          <a:xfrm>
            <a:off x="685800" y="1295400"/>
            <a:ext cx="8001000" cy="5029200"/>
          </a:xfrm>
        </p:spPr>
        <p:txBody>
          <a:bodyPr>
            <a:normAutofit fontScale="92500" lnSpcReduction="10000"/>
          </a:bodyPr>
          <a:lstStyle/>
          <a:p>
            <a:pPr>
              <a:buFont typeface="Wingdings" pitchFamily="2" charset="2"/>
              <a:buChar char="§"/>
            </a:pPr>
            <a:r>
              <a:rPr lang="en-US" dirty="0"/>
              <a:t>Strong entities:</a:t>
            </a:r>
          </a:p>
          <a:p>
            <a:pPr lvl="1">
              <a:buFont typeface="Wingdings" pitchFamily="2" charset="2"/>
              <a:buChar char="§"/>
            </a:pPr>
            <a:r>
              <a:rPr lang="en-US" dirty="0"/>
              <a:t>Key -&gt; primary key</a:t>
            </a:r>
          </a:p>
          <a:p>
            <a:pPr>
              <a:buFont typeface="Wingdings" pitchFamily="2" charset="2"/>
              <a:buChar char="§"/>
            </a:pPr>
            <a:r>
              <a:rPr lang="en-US" dirty="0"/>
              <a:t>(Binary) relationships:</a:t>
            </a:r>
          </a:p>
          <a:p>
            <a:pPr lvl="1">
              <a:buFont typeface="Wingdings" pitchFamily="2" charset="2"/>
              <a:buChar char="§"/>
            </a:pPr>
            <a:r>
              <a:rPr lang="en-US" dirty="0"/>
              <a:t>Get keys from all participating entities:</a:t>
            </a:r>
          </a:p>
          <a:p>
            <a:pPr lvl="2">
              <a:buFont typeface="Wingdings" pitchFamily="2" charset="2"/>
              <a:buChar char="§"/>
            </a:pPr>
            <a:r>
              <a:rPr lang="en-US" dirty="0"/>
              <a:t>1:1 -&gt; either key can be the primary key </a:t>
            </a:r>
          </a:p>
          <a:p>
            <a:pPr lvl="2">
              <a:buFont typeface="Wingdings" pitchFamily="2" charset="2"/>
              <a:buChar char="§"/>
            </a:pPr>
            <a:r>
              <a:rPr lang="en-US" dirty="0"/>
              <a:t>1:N -&gt; the key of the ‘N’ part will be the primary key</a:t>
            </a:r>
          </a:p>
          <a:p>
            <a:pPr lvl="2">
              <a:buFont typeface="Wingdings" pitchFamily="2" charset="2"/>
              <a:buChar char="§"/>
            </a:pPr>
            <a:r>
              <a:rPr lang="en-US" dirty="0"/>
              <a:t>M:N -&gt; both keys will be the primary key</a:t>
            </a:r>
          </a:p>
          <a:p>
            <a:pPr>
              <a:buFont typeface="Wingdings" pitchFamily="2" charset="2"/>
              <a:buChar char="§"/>
            </a:pPr>
            <a:r>
              <a:rPr lang="en-US" dirty="0"/>
              <a:t>Weak entities:</a:t>
            </a:r>
          </a:p>
          <a:p>
            <a:pPr lvl="1">
              <a:buFont typeface="Wingdings" pitchFamily="2" charset="2"/>
              <a:buChar char="§"/>
            </a:pPr>
            <a:r>
              <a:rPr lang="en-US" dirty="0"/>
              <a:t>Strong key + partial key -&gt; primary key</a:t>
            </a:r>
          </a:p>
          <a:p>
            <a:pPr lvl="1">
              <a:buFont typeface="Wingdings" pitchFamily="2" charset="2"/>
              <a:buChar char="§"/>
            </a:pPr>
            <a:r>
              <a:rPr lang="en-US" dirty="0"/>
              <a:t>Strong key: ON DELETE CASCADE</a:t>
            </a:r>
          </a:p>
          <a:p>
            <a:pPr>
              <a:buFont typeface="Wingdings" pitchFamily="2" charset="2"/>
              <a:buChar char="§"/>
            </a:pPr>
            <a:r>
              <a:rPr lang="en-US" dirty="0"/>
              <a:t>Total/Partial participation:</a:t>
            </a:r>
          </a:p>
          <a:p>
            <a:pPr lvl="1">
              <a:buFont typeface="Wingdings" pitchFamily="2" charset="2"/>
              <a:buChar char="§"/>
            </a:pPr>
            <a:r>
              <a:rPr lang="en-US" dirty="0"/>
              <a:t>NOT NULL</a:t>
            </a:r>
          </a:p>
          <a:p>
            <a:r>
              <a:rPr lang="en-US" dirty="0"/>
              <a:t>Aggregation: like relationships</a:t>
            </a:r>
          </a:p>
          <a:p>
            <a:endParaRPr lang="en-US" dirty="0"/>
          </a:p>
        </p:txBody>
      </p:sp>
      <p:sp>
        <p:nvSpPr>
          <p:cNvPr id="4" name="Slide Number Placeholder 3">
            <a:extLst>
              <a:ext uri="{FF2B5EF4-FFF2-40B4-BE49-F238E27FC236}">
                <a16:creationId xmlns:a16="http://schemas.microsoft.com/office/drawing/2014/main" id="{C79F2D8A-EDAA-BC5C-3E86-7586FDE86F86}"/>
              </a:ext>
            </a:extLst>
          </p:cNvPr>
          <p:cNvSpPr>
            <a:spLocks noGrp="1"/>
          </p:cNvSpPr>
          <p:nvPr>
            <p:ph type="sldNum" sz="quarter" idx="12"/>
          </p:nvPr>
        </p:nvSpPr>
        <p:spPr/>
        <p:txBody>
          <a:bodyPr/>
          <a:lstStyle/>
          <a:p>
            <a:fld id="{5FCA4BC5-AE2A-401E-9EDD-DF8812A14A6A}" type="slidenum">
              <a:rPr lang="en-US" smtClean="0"/>
              <a:t>46</a:t>
            </a:fld>
            <a:endParaRPr lang="en-US" dirty="0"/>
          </a:p>
        </p:txBody>
      </p:sp>
    </p:spTree>
    <p:extLst>
      <p:ext uri="{BB962C8B-B14F-4D97-AF65-F5344CB8AC3E}">
        <p14:creationId xmlns:p14="http://schemas.microsoft.com/office/powerpoint/2010/main" val="3163752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A4CEB2-50A0-A609-0442-591DFFFD4F8D}"/>
              </a:ext>
            </a:extLst>
          </p:cNvPr>
          <p:cNvSpPr>
            <a:spLocks noGrp="1"/>
          </p:cNvSpPr>
          <p:nvPr>
            <p:ph idx="1"/>
          </p:nvPr>
        </p:nvSpPr>
        <p:spPr>
          <a:xfrm>
            <a:off x="457200" y="1676400"/>
            <a:ext cx="8229600" cy="4343400"/>
          </a:xfrm>
        </p:spPr>
        <p:txBody>
          <a:bodyPr>
            <a:normAutofit/>
          </a:bodyPr>
          <a:lstStyle/>
          <a:p>
            <a:pPr marL="0" indent="0" algn="ctr">
              <a:buNone/>
            </a:pPr>
            <a:endParaRPr lang="en-US" altLang="zh-CN" sz="4000" dirty="0">
              <a:solidFill>
                <a:srgbClr val="0070C0"/>
              </a:solidFill>
            </a:endParaRPr>
          </a:p>
          <a:p>
            <a:pPr marL="0" indent="0" algn="ctr">
              <a:buNone/>
            </a:pPr>
            <a:endParaRPr lang="en-US" altLang="zh-CN" sz="2000" dirty="0">
              <a:solidFill>
                <a:srgbClr val="0070C0"/>
              </a:solidFill>
            </a:endParaRPr>
          </a:p>
          <a:p>
            <a:pPr marL="0" indent="0" algn="ctr">
              <a:buNone/>
            </a:pPr>
            <a:r>
              <a:rPr lang="en-US" altLang="zh-CN" sz="4000" dirty="0">
                <a:solidFill>
                  <a:schemeClr val="accent6">
                    <a:lumMod val="75000"/>
                  </a:schemeClr>
                </a:solidFill>
              </a:rPr>
              <a:t>Thank you!!!</a:t>
            </a:r>
          </a:p>
          <a:p>
            <a:pPr marL="0" indent="0" algn="ctr">
              <a:buNone/>
            </a:pPr>
            <a:endParaRPr lang="en-US" sz="1800" dirty="0"/>
          </a:p>
        </p:txBody>
      </p:sp>
      <p:sp>
        <p:nvSpPr>
          <p:cNvPr id="4" name="Slide Number Placeholder 3">
            <a:extLst>
              <a:ext uri="{FF2B5EF4-FFF2-40B4-BE49-F238E27FC236}">
                <a16:creationId xmlns:a16="http://schemas.microsoft.com/office/drawing/2014/main" id="{0343D2CF-3A1F-4A8A-CBA9-8DCEDED2B58D}"/>
              </a:ext>
            </a:extLst>
          </p:cNvPr>
          <p:cNvSpPr>
            <a:spLocks noGrp="1"/>
          </p:cNvSpPr>
          <p:nvPr>
            <p:ph type="sldNum" sz="quarter" idx="12"/>
          </p:nvPr>
        </p:nvSpPr>
        <p:spPr/>
        <p:txBody>
          <a:bodyPr/>
          <a:lstStyle/>
          <a:p>
            <a:fld id="{5FCA4BC5-AE2A-401E-9EDD-DF8812A14A6A}" type="slidenum">
              <a:rPr lang="en-US" smtClean="0"/>
              <a:t>47</a:t>
            </a:fld>
            <a:endParaRPr lang="en-US" dirty="0"/>
          </a:p>
        </p:txBody>
      </p:sp>
      <p:sp>
        <p:nvSpPr>
          <p:cNvPr id="6" name="Title 5">
            <a:extLst>
              <a:ext uri="{FF2B5EF4-FFF2-40B4-BE49-F238E27FC236}">
                <a16:creationId xmlns:a16="http://schemas.microsoft.com/office/drawing/2014/main" id="{407919C4-5C7C-07D7-D32D-739444DA42D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6925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7610</TotalTime>
  <Words>3700</Words>
  <Application>Microsoft Macintosh PowerPoint</Application>
  <PresentationFormat>全屏显示(4:3)</PresentationFormat>
  <Paragraphs>688</Paragraphs>
  <Slides>47</Slides>
  <Notes>16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1" baseType="lpstr">
      <vt:lpstr>宋体</vt:lpstr>
      <vt:lpstr>Arial MT</vt:lpstr>
      <vt:lpstr>Google Sans</vt:lpstr>
      <vt:lpstr>Zapf Dingbats</vt:lpstr>
      <vt:lpstr>Arial</vt:lpstr>
      <vt:lpstr>Arial Narrow</vt:lpstr>
      <vt:lpstr>Book Antiqua</vt:lpstr>
      <vt:lpstr>Calibri</vt:lpstr>
      <vt:lpstr>charter</vt:lpstr>
      <vt:lpstr>Lucida Console</vt:lpstr>
      <vt:lpstr>Tahoma</vt:lpstr>
      <vt:lpstr>Wingdings</vt:lpstr>
      <vt:lpstr>Office Theme</vt:lpstr>
      <vt:lpstr>Document</vt:lpstr>
      <vt:lpstr>Lecture 2  Relational Data Model &amp; Basic SQL</vt:lpstr>
      <vt:lpstr>Outline</vt:lpstr>
      <vt:lpstr>What is the Relational Model?</vt:lpstr>
      <vt:lpstr>Basic Constructs</vt:lpstr>
      <vt:lpstr>DB Schema &amp; Instance</vt:lpstr>
      <vt:lpstr>Definition Summary</vt:lpstr>
      <vt:lpstr>Characteristics of Relations</vt:lpstr>
      <vt:lpstr>More Details on the Relational Model</vt:lpstr>
      <vt:lpstr>ER Model vs. Relational Model</vt:lpstr>
      <vt:lpstr>ER Model vs. Relational Model</vt:lpstr>
      <vt:lpstr>Mapping ER Diagrams into Tables</vt:lpstr>
      <vt:lpstr>Mapping ER Diagrams into Tables</vt:lpstr>
      <vt:lpstr>Mapping ER Diagrams into Tables</vt:lpstr>
      <vt:lpstr>Outline</vt:lpstr>
      <vt:lpstr>SQL - A Language for Relational DBs</vt:lpstr>
      <vt:lpstr>DDL and DML</vt:lpstr>
      <vt:lpstr>Creating Relations in SQL</vt:lpstr>
      <vt:lpstr>The Domain Constraints</vt:lpstr>
      <vt:lpstr>Adding and Deleting Tuples</vt:lpstr>
      <vt:lpstr>Querying a Relation</vt:lpstr>
      <vt:lpstr>Destroying and Altering Relations</vt:lpstr>
      <vt:lpstr>Integrity Constraints (ICs)</vt:lpstr>
      <vt:lpstr>Keys</vt:lpstr>
      <vt:lpstr>PowerPoint 演示文稿</vt:lpstr>
      <vt:lpstr>Primary and Candidate Keys in SQL</vt:lpstr>
      <vt:lpstr>Primary and Candidate Keys in SQL</vt:lpstr>
      <vt:lpstr>Foreign Keys and Referential Integrity</vt:lpstr>
      <vt:lpstr>Foreign Keys in SQL</vt:lpstr>
      <vt:lpstr>Enforcing Referential Integrity</vt:lpstr>
      <vt:lpstr>Where do Integrity Constraints Come From?</vt:lpstr>
      <vt:lpstr>Views</vt:lpstr>
      <vt:lpstr>Views and Security</vt:lpstr>
      <vt:lpstr>Outline</vt:lpstr>
      <vt:lpstr>Strong Entity Sets to Tables</vt:lpstr>
      <vt:lpstr>M-to-N Relationship Sets to Tables</vt:lpstr>
      <vt:lpstr>1-to-M Relationship Sets to Tables</vt:lpstr>
      <vt:lpstr>1-to-M Relationship Sets to Tables</vt:lpstr>
      <vt:lpstr>One-Table vs. Two-Table Approaches</vt:lpstr>
      <vt:lpstr>Translating Relationship Sets with Participation Constraints</vt:lpstr>
      <vt:lpstr>Translating Relationship Sets with Participation Constraints</vt:lpstr>
      <vt:lpstr>Translating Weak Entity Sets</vt:lpstr>
      <vt:lpstr>Translating Weak Entity Sets</vt:lpstr>
      <vt:lpstr>Translating Aggregations</vt:lpstr>
      <vt:lpstr>Translating Aggregations</vt:lpstr>
      <vt:lpstr>The Relational Model: A Summary</vt:lpstr>
      <vt:lpstr>ER to Tables: A Summary</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COMP5111 Database System and Management</dc:title>
  <dc:creator>YANG, cs Yu [COMP]</dc:creator>
  <cp:lastModifiedBy>Nan Yin</cp:lastModifiedBy>
  <cp:revision>524</cp:revision>
  <dcterms:created xsi:type="dcterms:W3CDTF">2013-11-24T06:45:02Z</dcterms:created>
  <dcterms:modified xsi:type="dcterms:W3CDTF">2026-09-08T04:41:28Z</dcterms:modified>
</cp:coreProperties>
</file>