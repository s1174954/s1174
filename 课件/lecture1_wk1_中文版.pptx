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theme/theme2.xml" ContentType="application/vnd.openxmlformats-officedocument.them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d48dcb337264caa" /><Relationship Type="http://schemas.openxmlformats.org/officeDocument/2006/relationships/extended-properties" Target="/docProps/app.xml" Id="R74dac3a613e74201" /><Relationship Type="http://schemas.openxmlformats.org/officeDocument/2006/relationships/officeDocument" Target="/ppt/presentation.xml" Id="Rb2db198886ba43b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d5bfdfca5f14c04"/>
  </p:sldMasterIdLst>
  <p:notesMasterIdLst>
    <p:notesMasterId xmlns:r="http://schemas.openxmlformats.org/officeDocument/2006/relationships" r:id="R0500bba06cd2466b"/>
  </p:notesMasterIdLst>
  <p:sldIdLst>
    <p:sldId xmlns:r="http://schemas.openxmlformats.org/officeDocument/2006/relationships" id="256" r:id="R090316b0de724069"/>
    <p:sldId xmlns:r="http://schemas.openxmlformats.org/officeDocument/2006/relationships" id="257" r:id="R6613d08cfab04087"/>
    <p:sldId xmlns:r="http://schemas.openxmlformats.org/officeDocument/2006/relationships" id="258" r:id="Rd3b20a6b7c944fed"/>
    <p:sldId xmlns:r="http://schemas.openxmlformats.org/officeDocument/2006/relationships" id="259" r:id="R7602d4f5fae948e8"/>
    <p:sldId xmlns:r="http://schemas.openxmlformats.org/officeDocument/2006/relationships" id="260" r:id="R2f1cfd3f3a6745db"/>
    <p:sldId xmlns:r="http://schemas.openxmlformats.org/officeDocument/2006/relationships" id="261" r:id="Ra69e5d768c8a4198"/>
    <p:sldId xmlns:r="http://schemas.openxmlformats.org/officeDocument/2006/relationships" id="262" r:id="Rf5b0a4ce89744f50"/>
    <p:sldId xmlns:r="http://schemas.openxmlformats.org/officeDocument/2006/relationships" id="263" r:id="R3b13025b37704617"/>
    <p:sldId xmlns:r="http://schemas.openxmlformats.org/officeDocument/2006/relationships" id="264" r:id="R5d716682e28845f9"/>
    <p:sldId xmlns:r="http://schemas.openxmlformats.org/officeDocument/2006/relationships" id="265" r:id="Rd4b776be46aa4cd2"/>
    <p:sldId xmlns:r="http://schemas.openxmlformats.org/officeDocument/2006/relationships" id="266" r:id="R79d6e71f9ad84762"/>
    <p:sldId xmlns:r="http://schemas.openxmlformats.org/officeDocument/2006/relationships" id="267" r:id="Rea2befc5008f4202"/>
    <p:sldId xmlns:r="http://schemas.openxmlformats.org/officeDocument/2006/relationships" id="268" r:id="Rb7d9ec63ec3c4446"/>
    <p:sldId xmlns:r="http://schemas.openxmlformats.org/officeDocument/2006/relationships" id="269" r:id="R9ddedb7142474934"/>
    <p:sldId xmlns:r="http://schemas.openxmlformats.org/officeDocument/2006/relationships" id="270" r:id="Ra91e5750a0834eb9"/>
    <p:sldId xmlns:r="http://schemas.openxmlformats.org/officeDocument/2006/relationships" id="271" r:id="R7985b305278f4373"/>
    <p:sldId xmlns:r="http://schemas.openxmlformats.org/officeDocument/2006/relationships" id="272" r:id="R1ca7dbfb8b434f82"/>
    <p:sldId xmlns:r="http://schemas.openxmlformats.org/officeDocument/2006/relationships" id="273" r:id="R0a09abdc17214f43"/>
    <p:sldId xmlns:r="http://schemas.openxmlformats.org/officeDocument/2006/relationships" id="274" r:id="Rba051101448f4c10"/>
    <p:sldId xmlns:r="http://schemas.openxmlformats.org/officeDocument/2006/relationships" id="275" r:id="Rac055c75e4e84e59"/>
    <p:sldId xmlns:r="http://schemas.openxmlformats.org/officeDocument/2006/relationships" id="276" r:id="R2c1d1fe881c04784"/>
    <p:sldId xmlns:r="http://schemas.openxmlformats.org/officeDocument/2006/relationships" id="277" r:id="R4b30ad4e77fb40c4"/>
    <p:sldId xmlns:r="http://schemas.openxmlformats.org/officeDocument/2006/relationships" id="278" r:id="R052ccd56a7824779"/>
    <p:sldId xmlns:r="http://schemas.openxmlformats.org/officeDocument/2006/relationships" id="279" r:id="R0ff41c8ec9284f8a"/>
    <p:sldId xmlns:r="http://schemas.openxmlformats.org/officeDocument/2006/relationships" id="280" r:id="R41322bdde8044cc2"/>
    <p:sldId xmlns:r="http://schemas.openxmlformats.org/officeDocument/2006/relationships" id="281" r:id="Rf94744417ea147e0"/>
    <p:sldId xmlns:r="http://schemas.openxmlformats.org/officeDocument/2006/relationships" id="282" r:id="R35196c9833bd4bb5"/>
    <p:sldId xmlns:r="http://schemas.openxmlformats.org/officeDocument/2006/relationships" id="283" r:id="Rb544aef5e30b4a86"/>
    <p:sldId xmlns:r="http://schemas.openxmlformats.org/officeDocument/2006/relationships" id="284" r:id="Rcb329ac31946489d"/>
    <p:sldId xmlns:r="http://schemas.openxmlformats.org/officeDocument/2006/relationships" id="285" r:id="R91ff992c5b574802"/>
    <p:sldId xmlns:r="http://schemas.openxmlformats.org/officeDocument/2006/relationships" id="286" r:id="R6d65bb65734f42cd"/>
    <p:sldId xmlns:r="http://schemas.openxmlformats.org/officeDocument/2006/relationships" id="287" r:id="R4d37f3225f7b4d48"/>
    <p:sldId xmlns:r="http://schemas.openxmlformats.org/officeDocument/2006/relationships" id="288" r:id="R631843b89f0c483a"/>
    <p:sldId xmlns:r="http://schemas.openxmlformats.org/officeDocument/2006/relationships" id="289" r:id="R18ddedf4fcef4911"/>
    <p:sldId xmlns:r="http://schemas.openxmlformats.org/officeDocument/2006/relationships" id="290" r:id="R93fabdbb3097480c"/>
    <p:sldId xmlns:r="http://schemas.openxmlformats.org/officeDocument/2006/relationships" id="291" r:id="R3a6aa1daad804b0a"/>
    <p:sldId xmlns:r="http://schemas.openxmlformats.org/officeDocument/2006/relationships" id="292" r:id="Raa1090df5095443d"/>
    <p:sldId xmlns:r="http://schemas.openxmlformats.org/officeDocument/2006/relationships" id="293" r:id="Rb22c79c90be04e13"/>
    <p:sldId xmlns:r="http://schemas.openxmlformats.org/officeDocument/2006/relationships" id="294" r:id="Rc40d07fea2b1433a"/>
    <p:sldId xmlns:r="http://schemas.openxmlformats.org/officeDocument/2006/relationships" id="295" r:id="R61c308c5e2704aa4"/>
    <p:sldId xmlns:r="http://schemas.openxmlformats.org/officeDocument/2006/relationships" id="296" r:id="R04adbda79585411c"/>
    <p:sldId xmlns:r="http://schemas.openxmlformats.org/officeDocument/2006/relationships" id="297" r:id="R06f3a031988a42e8"/>
    <p:sldId xmlns:r="http://schemas.openxmlformats.org/officeDocument/2006/relationships" id="298" r:id="Rec4c5620d7dc42ea"/>
    <p:sldId xmlns:r="http://schemas.openxmlformats.org/officeDocument/2006/relationships" id="299" r:id="Re82551644f4c41cc"/>
    <p:sldId xmlns:r="http://schemas.openxmlformats.org/officeDocument/2006/relationships" id="300" r:id="R2204c911134a4023"/>
    <p:sldId xmlns:r="http://schemas.openxmlformats.org/officeDocument/2006/relationships" id="301" r:id="Rf3dbfe02fdf84666"/>
    <p:sldId xmlns:r="http://schemas.openxmlformats.org/officeDocument/2006/relationships" id="302" r:id="R5ac94effbe694b86"/>
    <p:sldId xmlns:r="http://schemas.openxmlformats.org/officeDocument/2006/relationships" id="303" r:id="R18318246cc0f4fdd"/>
    <p:sldId xmlns:r="http://schemas.openxmlformats.org/officeDocument/2006/relationships" id="304" r:id="R47665d802e994d2c"/>
    <p:sldId xmlns:r="http://schemas.openxmlformats.org/officeDocument/2006/relationships" id="305" r:id="Re45f420c7f0c4131"/>
    <p:sldId xmlns:r="http://schemas.openxmlformats.org/officeDocument/2006/relationships" id="306" r:id="Rf5f543a5e573423d"/>
    <p:sldId xmlns:r="http://schemas.openxmlformats.org/officeDocument/2006/relationships" id="307" r:id="R39009befba594bff"/>
    <p:sldId xmlns:r="http://schemas.openxmlformats.org/officeDocument/2006/relationships" id="308" r:id="R541d583e18fb4796"/>
    <p:sldId xmlns:r="http://schemas.openxmlformats.org/officeDocument/2006/relationships" id="309" r:id="R06434c9f07884b99"/>
    <p:sldId xmlns:r="http://schemas.openxmlformats.org/officeDocument/2006/relationships" id="310" r:id="R0b438af1c08f4cde"/>
    <p:sldId xmlns:r="http://schemas.openxmlformats.org/officeDocument/2006/relationships" id="311" r:id="R8e2306784c1b46d4"/>
    <p:sldId xmlns:r="http://schemas.openxmlformats.org/officeDocument/2006/relationships" id="312" r:id="R95afb8470bf149b0"/>
    <p:sldId xmlns:r="http://schemas.openxmlformats.org/officeDocument/2006/relationships" id="313" r:id="Rac5d2a220a514e6b"/>
    <p:sldId xmlns:r="http://schemas.openxmlformats.org/officeDocument/2006/relationships" id="314" r:id="R6b1d07a991464b64"/>
    <p:sldId xmlns:r="http://schemas.openxmlformats.org/officeDocument/2006/relationships" id="315" r:id="Rf696733a3dd84cbd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01672b9f4804a17" /><Relationship Type="http://schemas.openxmlformats.org/officeDocument/2006/relationships/slideMaster" Target="/ppt/slideMasters/slideMaster1.xml" Id="R8d5bfdfca5f14c04" /><Relationship Type="http://schemas.openxmlformats.org/officeDocument/2006/relationships/notesMaster" Target="/ppt/notesMasters/notesMaster1.xml" Id="R0500bba06cd2466b" /><Relationship Type="http://schemas.openxmlformats.org/officeDocument/2006/relationships/presProps" Target="/ppt/presProps.xml" Id="R2f8c973fd59e485c" /><Relationship Type="http://schemas.openxmlformats.org/officeDocument/2006/relationships/viewProps" Target="/ppt/viewProps.xml" Id="R1326f3d13472483f" /><Relationship Type="http://schemas.openxmlformats.org/officeDocument/2006/relationships/tableStyles" Target="/ppt/tableStyles.xml" Id="Reb85dd488bf04e87" /><Relationship Type="http://schemas.openxmlformats.org/officeDocument/2006/relationships/slide" Target="/ppt/slides/slide1.xml" Id="R090316b0de724069" /><Relationship Type="http://schemas.openxmlformats.org/officeDocument/2006/relationships/slide" Target="/ppt/slides/slide2.xml" Id="R6613d08cfab04087" /><Relationship Type="http://schemas.openxmlformats.org/officeDocument/2006/relationships/slide" Target="/ppt/slides/slide3.xml" Id="Rd3b20a6b7c944fed" /><Relationship Type="http://schemas.openxmlformats.org/officeDocument/2006/relationships/slide" Target="/ppt/slides/slide4.xml" Id="R7602d4f5fae948e8" /><Relationship Type="http://schemas.openxmlformats.org/officeDocument/2006/relationships/slide" Target="/ppt/slides/slide5.xml" Id="R2f1cfd3f3a6745db" /><Relationship Type="http://schemas.openxmlformats.org/officeDocument/2006/relationships/slide" Target="/ppt/slides/slide6.xml" Id="Ra69e5d768c8a4198" /><Relationship Type="http://schemas.openxmlformats.org/officeDocument/2006/relationships/slide" Target="/ppt/slides/slide7.xml" Id="Rf5b0a4ce89744f50" /><Relationship Type="http://schemas.openxmlformats.org/officeDocument/2006/relationships/slide" Target="/ppt/slides/slide8.xml" Id="R3b13025b37704617" /><Relationship Type="http://schemas.openxmlformats.org/officeDocument/2006/relationships/slide" Target="/ppt/slides/slide9.xml" Id="R5d716682e28845f9" /><Relationship Type="http://schemas.openxmlformats.org/officeDocument/2006/relationships/slide" Target="/ppt/slides/slide10.xml" Id="Rd4b776be46aa4cd2" /><Relationship Type="http://schemas.openxmlformats.org/officeDocument/2006/relationships/slide" Target="/ppt/slides/slide11.xml" Id="R79d6e71f9ad84762" /><Relationship Type="http://schemas.openxmlformats.org/officeDocument/2006/relationships/slide" Target="/ppt/slides/slide12.xml" Id="Rea2befc5008f4202" /><Relationship Type="http://schemas.openxmlformats.org/officeDocument/2006/relationships/slide" Target="/ppt/slides/slide13.xml" Id="Rb7d9ec63ec3c4446" /><Relationship Type="http://schemas.openxmlformats.org/officeDocument/2006/relationships/slide" Target="/ppt/slides/slide14.xml" Id="R9ddedb7142474934" /><Relationship Type="http://schemas.openxmlformats.org/officeDocument/2006/relationships/slide" Target="/ppt/slides/slide15.xml" Id="Ra91e5750a0834eb9" /><Relationship Type="http://schemas.openxmlformats.org/officeDocument/2006/relationships/slide" Target="/ppt/slides/slide16.xml" Id="R7985b305278f4373" /><Relationship Type="http://schemas.openxmlformats.org/officeDocument/2006/relationships/slide" Target="/ppt/slides/slide17.xml" Id="R1ca7dbfb8b434f82" /><Relationship Type="http://schemas.openxmlformats.org/officeDocument/2006/relationships/slide" Target="/ppt/slides/slide18.xml" Id="R0a09abdc17214f43" /><Relationship Type="http://schemas.openxmlformats.org/officeDocument/2006/relationships/slide" Target="/ppt/slides/slide19.xml" Id="Rba051101448f4c10" /><Relationship Type="http://schemas.openxmlformats.org/officeDocument/2006/relationships/slide" Target="/ppt/slides/slide20.xml" Id="Rac055c75e4e84e59" /><Relationship Type="http://schemas.openxmlformats.org/officeDocument/2006/relationships/slide" Target="/ppt/slides/slide21.xml" Id="R2c1d1fe881c04784" /><Relationship Type="http://schemas.openxmlformats.org/officeDocument/2006/relationships/slide" Target="/ppt/slides/slide22.xml" Id="R4b30ad4e77fb40c4" /><Relationship Type="http://schemas.openxmlformats.org/officeDocument/2006/relationships/slide" Target="/ppt/slides/slide23.xml" Id="R052ccd56a7824779" /><Relationship Type="http://schemas.openxmlformats.org/officeDocument/2006/relationships/slide" Target="/ppt/slides/slide24.xml" Id="R0ff41c8ec9284f8a" /><Relationship Type="http://schemas.openxmlformats.org/officeDocument/2006/relationships/slide" Target="/ppt/slides/slide25.xml" Id="R41322bdde8044cc2" /><Relationship Type="http://schemas.openxmlformats.org/officeDocument/2006/relationships/slide" Target="/ppt/slides/slide26.xml" Id="Rf94744417ea147e0" /><Relationship Type="http://schemas.openxmlformats.org/officeDocument/2006/relationships/slide" Target="/ppt/slides/slide27.xml" Id="R35196c9833bd4bb5" /><Relationship Type="http://schemas.openxmlformats.org/officeDocument/2006/relationships/slide" Target="/ppt/slides/slide28.xml" Id="Rb544aef5e30b4a86" /><Relationship Type="http://schemas.openxmlformats.org/officeDocument/2006/relationships/slide" Target="/ppt/slides/slide29.xml" Id="Rcb329ac31946489d" /><Relationship Type="http://schemas.openxmlformats.org/officeDocument/2006/relationships/slide" Target="/ppt/slides/slide30.xml" Id="R91ff992c5b574802" /><Relationship Type="http://schemas.openxmlformats.org/officeDocument/2006/relationships/slide" Target="/ppt/slides/slide31.xml" Id="R6d65bb65734f42cd" /><Relationship Type="http://schemas.openxmlformats.org/officeDocument/2006/relationships/slide" Target="/ppt/slides/slide32.xml" Id="R4d37f3225f7b4d48" /><Relationship Type="http://schemas.openxmlformats.org/officeDocument/2006/relationships/slide" Target="/ppt/slides/slide33.xml" Id="R631843b89f0c483a" /><Relationship Type="http://schemas.openxmlformats.org/officeDocument/2006/relationships/slide" Target="/ppt/slides/slide34.xml" Id="R18ddedf4fcef4911" /><Relationship Type="http://schemas.openxmlformats.org/officeDocument/2006/relationships/slide" Target="/ppt/slides/slide35.xml" Id="R93fabdbb3097480c" /><Relationship Type="http://schemas.openxmlformats.org/officeDocument/2006/relationships/slide" Target="/ppt/slides/slide36.xml" Id="R3a6aa1daad804b0a" /><Relationship Type="http://schemas.openxmlformats.org/officeDocument/2006/relationships/slide" Target="/ppt/slides/slide37.xml" Id="Raa1090df5095443d" /><Relationship Type="http://schemas.openxmlformats.org/officeDocument/2006/relationships/slide" Target="/ppt/slides/slide38.xml" Id="Rb22c79c90be04e13" /><Relationship Type="http://schemas.openxmlformats.org/officeDocument/2006/relationships/slide" Target="/ppt/slides/slide39.xml" Id="Rc40d07fea2b1433a" /><Relationship Type="http://schemas.openxmlformats.org/officeDocument/2006/relationships/slide" Target="/ppt/slides/slide40.xml" Id="R61c308c5e2704aa4" /><Relationship Type="http://schemas.openxmlformats.org/officeDocument/2006/relationships/slide" Target="/ppt/slides/slide41.xml" Id="R04adbda79585411c" /><Relationship Type="http://schemas.openxmlformats.org/officeDocument/2006/relationships/slide" Target="/ppt/slides/slide42.xml" Id="R06f3a031988a42e8" /><Relationship Type="http://schemas.openxmlformats.org/officeDocument/2006/relationships/slide" Target="/ppt/slides/slide43.xml" Id="Rec4c5620d7dc42ea" /><Relationship Type="http://schemas.openxmlformats.org/officeDocument/2006/relationships/slide" Target="/ppt/slides/slide44.xml" Id="Re82551644f4c41cc" /><Relationship Type="http://schemas.openxmlformats.org/officeDocument/2006/relationships/slide" Target="/ppt/slides/slide45.xml" Id="R2204c911134a4023" /><Relationship Type="http://schemas.openxmlformats.org/officeDocument/2006/relationships/slide" Target="/ppt/slides/slide46.xml" Id="Rf3dbfe02fdf84666" /><Relationship Type="http://schemas.openxmlformats.org/officeDocument/2006/relationships/slide" Target="/ppt/slides/slide47.xml" Id="R5ac94effbe694b86" /><Relationship Type="http://schemas.openxmlformats.org/officeDocument/2006/relationships/slide" Target="/ppt/slides/slide48.xml" Id="R18318246cc0f4fdd" /><Relationship Type="http://schemas.openxmlformats.org/officeDocument/2006/relationships/slide" Target="/ppt/slides/slide49.xml" Id="R47665d802e994d2c" /><Relationship Type="http://schemas.openxmlformats.org/officeDocument/2006/relationships/slide" Target="/ppt/slides/slide50.xml" Id="Re45f420c7f0c4131" /><Relationship Type="http://schemas.openxmlformats.org/officeDocument/2006/relationships/slide" Target="/ppt/slides/slide51.xml" Id="Rf5f543a5e573423d" /><Relationship Type="http://schemas.openxmlformats.org/officeDocument/2006/relationships/slide" Target="/ppt/slides/slide52.xml" Id="R39009befba594bff" /><Relationship Type="http://schemas.openxmlformats.org/officeDocument/2006/relationships/slide" Target="/ppt/slides/slide53.xml" Id="R541d583e18fb4796" /><Relationship Type="http://schemas.openxmlformats.org/officeDocument/2006/relationships/slide" Target="/ppt/slides/slide54.xml" Id="R06434c9f07884b99" /><Relationship Type="http://schemas.openxmlformats.org/officeDocument/2006/relationships/slide" Target="/ppt/slides/slide55.xml" Id="R0b438af1c08f4cde" /><Relationship Type="http://schemas.openxmlformats.org/officeDocument/2006/relationships/slide" Target="/ppt/slides/slide56.xml" Id="R8e2306784c1b46d4" /><Relationship Type="http://schemas.openxmlformats.org/officeDocument/2006/relationships/slide" Target="/ppt/slides/slide57.xml" Id="R95afb8470bf149b0" /><Relationship Type="http://schemas.openxmlformats.org/officeDocument/2006/relationships/slide" Target="/ppt/slides/slide58.xml" Id="Rac5d2a220a514e6b" /><Relationship Type="http://schemas.openxmlformats.org/officeDocument/2006/relationships/slide" Target="/ppt/slides/slide59.xml" Id="R6b1d07a991464b64" /><Relationship Type="http://schemas.openxmlformats.org/officeDocument/2006/relationships/slide" Target="/ppt/slides/slide60.xml" Id="Rf696733a3dd84cb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../theme/theme2.xml" Id="R324de53ad0ad425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803fb6b5cdb4378" /><Relationship Type="http://schemas.openxmlformats.org/officeDocument/2006/relationships/notesMaster" Target="/ppt/notesMasters/notesMaster1.xml" Id="R984a8ca57b2e49a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091f4d8f9b1473e" /><Relationship Type="http://schemas.openxmlformats.org/officeDocument/2006/relationships/notesMaster" Target="/ppt/notesMasters/notesMaster1.xml" Id="R379ec6f2a4b14bb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2eddd1906e64629" /><Relationship Type="http://schemas.openxmlformats.org/officeDocument/2006/relationships/notesMaster" Target="/ppt/notesMasters/notesMaster1.xml" Id="R0fdd855e5225432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92ccb8e964d4d5e" /><Relationship Type="http://schemas.openxmlformats.org/officeDocument/2006/relationships/notesMaster" Target="/ppt/notesMasters/notesMaster1.xml" Id="Rb636c903d1d641a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db07ac635e746f3" /><Relationship Type="http://schemas.openxmlformats.org/officeDocument/2006/relationships/notesMaster" Target="/ppt/notesMasters/notesMaster1.xml" Id="Ra5641092f6d34fd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ed5f8d8220e497c" /><Relationship Type="http://schemas.openxmlformats.org/officeDocument/2006/relationships/notesMaster" Target="/ppt/notesMasters/notesMaster1.xml" Id="Rbed4705aef7d430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341412ecd0a49d5" /><Relationship Type="http://schemas.openxmlformats.org/officeDocument/2006/relationships/notesMaster" Target="/ppt/notesMasters/notesMaster1.xml" Id="Rfcfa5fe50747433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3577c97991341ea" /><Relationship Type="http://schemas.openxmlformats.org/officeDocument/2006/relationships/notesMaster" Target="/ppt/notesMasters/notesMaster1.xml" Id="Rba217533e90d4bf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13469cb1901408e" /><Relationship Type="http://schemas.openxmlformats.org/officeDocument/2006/relationships/notesMaster" Target="/ppt/notesMasters/notesMaster1.xml" Id="Rf09ca2ae2d43423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c81ed74ce5442ce" /><Relationship Type="http://schemas.openxmlformats.org/officeDocument/2006/relationships/notesMaster" Target="/ppt/notesMasters/notesMaster1.xml" Id="R6076cb10c38b46e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4e0f1db72904a0e" /><Relationship Type="http://schemas.openxmlformats.org/officeDocument/2006/relationships/notesMaster" Target="/ppt/notesMasters/notesMaster1.xml" Id="R60f952441f81406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1eadd28a0ec4356" /><Relationship Type="http://schemas.openxmlformats.org/officeDocument/2006/relationships/notesMaster" Target="/ppt/notesMasters/notesMaster1.xml" Id="R3ce81e80248f458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fcb84c5ae254d0b" /><Relationship Type="http://schemas.openxmlformats.org/officeDocument/2006/relationships/notesMaster" Target="/ppt/notesMasters/notesMaster1.xml" Id="R817b1fde22324ee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a69f1f58e654e65" /><Relationship Type="http://schemas.openxmlformats.org/officeDocument/2006/relationships/notesMaster" Target="/ppt/notesMasters/notesMaster1.xml" Id="R71e19a0fa5c64bf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aeff0d42d74498e" /><Relationship Type="http://schemas.openxmlformats.org/officeDocument/2006/relationships/notesMaster" Target="/ppt/notesMasters/notesMaster1.xml" Id="R76f172b4298b4f6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7eefff9c122491a" /><Relationship Type="http://schemas.openxmlformats.org/officeDocument/2006/relationships/notesMaster" Target="/ppt/notesMasters/notesMaster1.xml" Id="R512c004dbc8c42c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1a767aea49c40f1" /><Relationship Type="http://schemas.openxmlformats.org/officeDocument/2006/relationships/notesMaster" Target="/ppt/notesMasters/notesMaster1.xml" Id="Raa316e0c964b475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4ce0137fc994564" /><Relationship Type="http://schemas.openxmlformats.org/officeDocument/2006/relationships/notesMaster" Target="/ppt/notesMasters/notesMaster1.xml" Id="Radf77f6239c74a6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0b804f793b64abd" /><Relationship Type="http://schemas.openxmlformats.org/officeDocument/2006/relationships/notesMaster" Target="/ppt/notesMasters/notesMaster1.xml" Id="R5e8a538210df49d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a4ad3f167ea4cc6" /><Relationship Type="http://schemas.openxmlformats.org/officeDocument/2006/relationships/notesMaster" Target="/ppt/notesMasters/notesMaster1.xml" Id="Rb76c6d359704464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06e6cb095b94b79" /><Relationship Type="http://schemas.openxmlformats.org/officeDocument/2006/relationships/notesMaster" Target="/ppt/notesMasters/notesMaster1.xml" Id="R5e189173f6f94fc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00fdb440089429e" /><Relationship Type="http://schemas.openxmlformats.org/officeDocument/2006/relationships/notesMaster" Target="/ppt/notesMasters/notesMaster1.xml" Id="R1ebd8521d125491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589823fd3af4207" /><Relationship Type="http://schemas.openxmlformats.org/officeDocument/2006/relationships/notesMaster" Target="/ppt/notesMasters/notesMaster1.xml" Id="R5eced58b347e4b8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7c4d98b2d36407b" /><Relationship Type="http://schemas.openxmlformats.org/officeDocument/2006/relationships/notesMaster" Target="/ppt/notesMasters/notesMaster1.xml" Id="R06f63cdaacf54b6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cb869720aa34c9a" /><Relationship Type="http://schemas.openxmlformats.org/officeDocument/2006/relationships/notesMaster" Target="/ppt/notesMasters/notesMaster1.xml" Id="Raba9e01b8d1949e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bd76c6a238d40b6" /><Relationship Type="http://schemas.openxmlformats.org/officeDocument/2006/relationships/notesMaster" Target="/ppt/notesMasters/notesMaster1.xml" Id="Rade8fc341bf94944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caec02efbe954e0b" /><Relationship Type="http://schemas.openxmlformats.org/officeDocument/2006/relationships/notesMaster" Target="/ppt/notesMasters/notesMaster1.xml" Id="Rc00b6c42957b4fbd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188ad0fccc874225" /><Relationship Type="http://schemas.openxmlformats.org/officeDocument/2006/relationships/notesMaster" Target="/ppt/notesMasters/notesMaster1.xml" Id="R288204f04cef40c0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8c7f914267df43e0" /><Relationship Type="http://schemas.openxmlformats.org/officeDocument/2006/relationships/notesMaster" Target="/ppt/notesMasters/notesMaster1.xml" Id="R82e544472c644bb8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aaa1cd5084d742f6" /><Relationship Type="http://schemas.openxmlformats.org/officeDocument/2006/relationships/notesMaster" Target="/ppt/notesMasters/notesMaster1.xml" Id="Rebfaf49dad3c4222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c322ce3ffc6b43a3" /><Relationship Type="http://schemas.openxmlformats.org/officeDocument/2006/relationships/notesMaster" Target="/ppt/notesMasters/notesMaster1.xml" Id="Rced00105863c4439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2b7dd3c771114c22" /><Relationship Type="http://schemas.openxmlformats.org/officeDocument/2006/relationships/notesMaster" Target="/ppt/notesMasters/notesMaster1.xml" Id="R9a7c0d7b81ae49d6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f83a5fb0fcef4caa" /><Relationship Type="http://schemas.openxmlformats.org/officeDocument/2006/relationships/notesMaster" Target="/ppt/notesMasters/notesMaster1.xml" Id="R46787714963748c7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b8be04912d2d48c9" /><Relationship Type="http://schemas.openxmlformats.org/officeDocument/2006/relationships/notesMaster" Target="/ppt/notesMasters/notesMaster1.xml" Id="R7272ae5a8d554ec8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a8c3cb50bf3e4608" /><Relationship Type="http://schemas.openxmlformats.org/officeDocument/2006/relationships/notesMaster" Target="/ppt/notesMasters/notesMaster1.xml" Id="Rf3fadb6d93bf4581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6743c1f2af2748eb" /><Relationship Type="http://schemas.openxmlformats.org/officeDocument/2006/relationships/notesMaster" Target="/ppt/notesMasters/notesMaster1.xml" Id="R96e5beed2f574d10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d0e380d60c1a487f" /><Relationship Type="http://schemas.openxmlformats.org/officeDocument/2006/relationships/notesMaster" Target="/ppt/notesMasters/notesMaster1.xml" Id="R5291e10b9d5a424a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442331e56ff24c58" /><Relationship Type="http://schemas.openxmlformats.org/officeDocument/2006/relationships/notesMaster" Target="/ppt/notesMasters/notesMaster1.xml" Id="R023b5d23c12d47d6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034bdd8f08c54030" /><Relationship Type="http://schemas.openxmlformats.org/officeDocument/2006/relationships/notesMaster" Target="/ppt/notesMasters/notesMaster1.xml" Id="Raddf0cf52ada461b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5c55c70c282440a5" /><Relationship Type="http://schemas.openxmlformats.org/officeDocument/2006/relationships/notesMaster" Target="/ppt/notesMasters/notesMaster1.xml" Id="R34f63887f66e472b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26359f987fa446eb" /><Relationship Type="http://schemas.openxmlformats.org/officeDocument/2006/relationships/notesMaster" Target="/ppt/notesMasters/notesMaster1.xml" Id="Reea490446cdc428d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b8e514768d0844a6" /><Relationship Type="http://schemas.openxmlformats.org/officeDocument/2006/relationships/notesMaster" Target="/ppt/notesMasters/notesMaster1.xml" Id="Raa3c31efdad54571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3c4b7f1c57d04e55" /><Relationship Type="http://schemas.openxmlformats.org/officeDocument/2006/relationships/notesMaster" Target="/ppt/notesMasters/notesMaster1.xml" Id="R77a6c4d25aaa418a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7e67d41395d14169" /><Relationship Type="http://schemas.openxmlformats.org/officeDocument/2006/relationships/notesMaster" Target="/ppt/notesMasters/notesMaster1.xml" Id="Rd60b4399d8894ed4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def9e812399b4b42" /><Relationship Type="http://schemas.openxmlformats.org/officeDocument/2006/relationships/notesMaster" Target="/ppt/notesMasters/notesMaster1.xml" Id="Re3c3f94b4df64c3f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a9030c85bfe14561" /><Relationship Type="http://schemas.openxmlformats.org/officeDocument/2006/relationships/notesMaster" Target="/ppt/notesMasters/notesMaster1.xml" Id="Rd564d6443ab045fd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94d9d744ff194c00" /><Relationship Type="http://schemas.openxmlformats.org/officeDocument/2006/relationships/notesMaster" Target="/ppt/notesMasters/notesMaster1.xml" Id="Rde956d6c8ee14253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7661c6ea20f54f4c" /><Relationship Type="http://schemas.openxmlformats.org/officeDocument/2006/relationships/notesMaster" Target="/ppt/notesMasters/notesMaster1.xml" Id="R6f1601c962894a0a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89d0ccadd4a5498c" /><Relationship Type="http://schemas.openxmlformats.org/officeDocument/2006/relationships/notesMaster" Target="/ppt/notesMasters/notesMaster1.xml" Id="R281244b4653b4896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7d0061bbd96d4892" /><Relationship Type="http://schemas.openxmlformats.org/officeDocument/2006/relationships/notesMaster" Target="/ppt/notesMasters/notesMaster1.xml" Id="R824860d40fdc47b0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b35d599c95404452" /><Relationship Type="http://schemas.openxmlformats.org/officeDocument/2006/relationships/notesMaster" Target="/ppt/notesMasters/notesMaster1.xml" Id="Ref9e3f5877f34d05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95a4dd90e1f14b69" /><Relationship Type="http://schemas.openxmlformats.org/officeDocument/2006/relationships/notesMaster" Target="/ppt/notesMasters/notesMaster1.xml" Id="R1fc1ed6d9e78496c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5d5cfe7135bb48b2" /><Relationship Type="http://schemas.openxmlformats.org/officeDocument/2006/relationships/notesMaster" Target="/ppt/notesMasters/notesMaster1.xml" Id="R2437f09cef5e4a5a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1b3f0584109541b6" /><Relationship Type="http://schemas.openxmlformats.org/officeDocument/2006/relationships/notesMaster" Target="/ppt/notesMasters/notesMaster1.xml" Id="Rbcb227cfd63a4341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1e6a3cc685054a3e" /><Relationship Type="http://schemas.openxmlformats.org/officeDocument/2006/relationships/notesMaster" Target="/ppt/notesMasters/notesMaster1.xml" Id="R2e4f348362ad4c39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b9b2daa6a8eb4cb4" /><Relationship Type="http://schemas.openxmlformats.org/officeDocument/2006/relationships/notesMaster" Target="/ppt/notesMasters/notesMaster1.xml" Id="Rdbcb425f58bb4350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2b090475da9249bd" /><Relationship Type="http://schemas.openxmlformats.org/officeDocument/2006/relationships/notesMaster" Target="/ppt/notesMasters/notesMaster1.xml" Id="Rb4fbb2e8a5f14bba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e53218be33cb4328" /><Relationship Type="http://schemas.openxmlformats.org/officeDocument/2006/relationships/notesMaster" Target="/ppt/notesMasters/notesMaster1.xml" Id="Rab4756e1f495438c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6b45f38dd6a84186" /><Relationship Type="http://schemas.openxmlformats.org/officeDocument/2006/relationships/notesMaster" Target="/ppt/notesMasters/notesMaster1.xml" Id="Rc08313ffb55e4aff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8219454197774eb7" /><Relationship Type="http://schemas.openxmlformats.org/officeDocument/2006/relationships/notesMaster" Target="/ppt/notesMasters/notesMaster1.xml" Id="Rb72783879a0b42c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各位同学下午好，欢迎来到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COMP 5111《数据库系统与管理》。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今天是第一讲，我们会先了解课程安排，再从文件系统的问题出发，建立数据库、DBMS、三级模式结构和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ER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建模的基本概念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 xmlns:a="http://schemas.openxmlformats.org/drawingml/2006/main"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r>
              <a:t>建议用时：0.5 </a:t>
            </a:r>
            <a:r>
              <a:t>分钟</a:t>
            </a:r>
            <a:r>
              <a:t>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讲解提示：欢迎学生、介绍课程，并简要说明三小时课程的学习路径</a:t>
            </a:r>
            <a:r>
              <a:t>。</a:t>
            </a:r>
          </a:p>
          <a:p xmlns:a="http://schemas.openxmlformats.org/drawingml/2006/main">
            <a:r>
              <a:t>三小时课程安排</a:t>
            </a:r>
            <a:r>
              <a:t>：</a:t>
            </a:r>
          </a:p>
          <a:p xmlns:a="http://schemas.openxmlformats.org/drawingml/2006/main">
            <a:r>
              <a:t>00:00–00:10 </a:t>
            </a:r>
            <a:r>
              <a:t>欢迎、课程说明与学习目标</a:t>
            </a:r>
            <a:r>
              <a:t>。</a:t>
            </a:r>
          </a:p>
          <a:p xmlns:a="http://schemas.openxmlformats.org/drawingml/2006/main">
            <a:r>
              <a:t>00:10–01:00 </a:t>
            </a:r>
            <a:r>
              <a:t>小组讨论与教师引导反馈</a:t>
            </a:r>
            <a:r>
              <a:t>。</a:t>
            </a:r>
          </a:p>
          <a:p xmlns:a="http://schemas.openxmlformats.org/drawingml/2006/main">
            <a:r>
              <a:t>01:00–01:30 </a:t>
            </a:r>
            <a:r>
              <a:t>数据库基础与文件系统故障案例</a:t>
            </a:r>
            <a:r>
              <a:t>。</a:t>
            </a:r>
          </a:p>
          <a:p xmlns:a="http://schemas.openxmlformats.org/drawingml/2006/main">
            <a:r>
              <a:t>01:30–01:40 </a:t>
            </a:r>
            <a:r>
              <a:t>课间休息</a:t>
            </a:r>
            <a:r>
              <a:t>。</a:t>
            </a:r>
          </a:p>
          <a:p xmlns:a="http://schemas.openxmlformats.org/drawingml/2006/main">
            <a:r>
              <a:t>01:40–02:02 </a:t>
            </a:r>
            <a:r>
              <a:t>术语、系统架构与</a:t>
            </a:r>
            <a:r>
              <a:t> SQL </a:t>
            </a:r>
            <a:r>
              <a:t>预览</a:t>
            </a:r>
            <a:r>
              <a:t>。</a:t>
            </a:r>
          </a:p>
          <a:p xmlns:a="http://schemas.openxmlformats.org/drawingml/2006/main">
            <a:r>
              <a:t>02:02–02:50 ER </a:t>
            </a:r>
            <a:r>
              <a:t>概念与图书馆借阅建模工作坊</a:t>
            </a:r>
            <a:r>
              <a:t>。</a:t>
            </a:r>
          </a:p>
          <a:p xmlns:a="http://schemas.openxmlformats.org/drawingml/2006/main">
            <a:r>
              <a:t>02:50–03:00 </a:t>
            </a:r>
            <a:r>
              <a:t>关系模型预览、总结与退出题</a:t>
            </a:r>
            <a:r>
              <a:t>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</a:t>
            </a:r>
            <a:r>
              <a:t>用户提供的原始课件，第</a:t>
            </a:r>
            <a:r>
              <a:t> 1 </a:t>
            </a:r>
            <a:r>
              <a:t>页（保留内容并将讲稿改写为中文</a:t>
            </a:r>
            <a:r>
              <a:t>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今天学习结束时，大家应该能够做到五件事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：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第一，解释为什么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DBMS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不只是文件存储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；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第二，区分数据、数据库、DBMS、模式和实例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；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第三，说明一条查询如何经过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DBMS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的主要组件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；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第四，读懂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ER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图并为一个小型领域建立模型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；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第五，初步理解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ER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（</a:t>
            </a:r>
            <a:r>
              <a:t>Entity-Relationship Diagram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）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设计如何转化为表和查询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请快速判断：这五项中哪一项你最熟悉？哪一项最陌生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？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建议用时：1.5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分钟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讲解提示：朗读学习目标，再邀请学生说出最熟悉和最不熟悉的一项，借此了解班级基础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 xmlns:a="http://schemas.openxmlformats.org/drawingml/2006/main"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</a:t>
            </a:r>
            <a:r>
              <a:t>用户提供的原始课件（用于视觉版式与核心术语</a:t>
            </a:r>
            <a:r>
              <a:t>）。</a:t>
            </a:r>
          </a:p>
          <a:p xmlns:a="http://schemas.openxmlformats.org/drawingml/2006/main">
            <a:r>
              <a:t>- R. Elmasri </a:t>
            </a:r>
            <a:r>
              <a:t>与</a:t>
            </a:r>
            <a:r>
              <a:t> S. Navathe，《</a:t>
            </a:r>
            <a:r>
              <a:t>数据库系统基础</a:t>
            </a:r>
            <a:r>
              <a:t>》（Fundamentals of Database Systems），第5版或更新版本。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现在进行小组讨论。请与附近同学组成 4 至 5 人的小组，并确定一名记录员和一名汇报代表。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讨论三个问题：什么是数据库系统？为什么数据库系统重要？数据库系统如何支持真实应用？前 30 分钟用于组内讨论，之后约 20 分钟请若干小组汇报，并由教师归纳。讨论时尽量给出具体应用和具体数据，而不要只背定义。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建议用时：30 分钟。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讲解提示：明确组内角色并巡视各组；汇报阶段用后面两页把学生答案整理成结构化结论。</a:t>
            </a:r>
          </a:p>
          <a:p xmlns:a="http://schemas.openxmlformats.org/drawingml/2006/main"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用户提供的原始课件，第 8 页（保留内容并将讲稿改写为中文）。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每组选择一个场景：选课、门诊预约、外卖配送或图书馆借阅，也可以提出自己的场景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请列出五类信息：使用者、需要保存的记录、常见操作、必须遵守的规则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，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以及使用多个独立文件或电子表格时可能发生的一次失败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例如在选课场景中，使用者包括学生和教务人员；记录包括学生、课程和选课；操作包括选课、退课和查询；规则可能包括人数上限和先修课要求。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建议用时：10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分钟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讲解提示：让小组选择领域，要求给出具体的用户、记录、操作、规则和一个文件式管理失败案例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 xmlns:a="http://schemas.openxmlformats.org/drawingml/2006/main"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</a:t>
            </a:r>
            <a:r>
              <a:t>用户提供的原始课件（用于视觉版式与核心术语</a:t>
            </a:r>
            <a:r>
              <a:t>）。</a:t>
            </a:r>
          </a:p>
          <a:p xmlns:a="http://schemas.openxmlformats.org/drawingml/2006/main">
            <a:r>
              <a:t>- R. Elmasri </a:t>
            </a:r>
            <a:r>
              <a:t>与</a:t>
            </a:r>
            <a:r>
              <a:t> S. Navathe，《</a:t>
            </a:r>
            <a:r>
              <a:t>数据库系统基础</a:t>
            </a:r>
            <a:r>
              <a:t>》（Fundamentals of Database Systems），第5版或更新版本。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请各组分享一个例子。教师把答案按类别写在白板上：共享、持久保存、数据之间的关系、不断变化的查询、完整性、并发、安全和恢复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归纳时强调：当许多用户需要共同使用长期保存且彼此相关的数据，同时还要保证规则正确、权限合适、发生故障后可以恢复时，单独文件很快会变得难以管理，这正是 DBMS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的价值所在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建议用时：10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分钟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讲解提示：收集并分类学生例子，用共享、持久性、关系、查询、完整性、并发、安全和恢复八个关键词完成总结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 xmlns:a="http://schemas.openxmlformats.org/drawingml/2006/main"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</a:t>
            </a:r>
            <a:r>
              <a:t>用户提供的原始课件（用于视觉版式与核心术语</a:t>
            </a:r>
            <a:r>
              <a:t>）。</a:t>
            </a:r>
          </a:p>
          <a:p xmlns:a="http://schemas.openxmlformats.org/drawingml/2006/main">
            <a:r>
              <a:t>- R. Elmasri </a:t>
            </a:r>
            <a:r>
              <a:t>与</a:t>
            </a:r>
            <a:r>
              <a:t> S. Navathe，《</a:t>
            </a:r>
            <a:r>
              <a:t>数据库系统基础</a:t>
            </a:r>
            <a:r>
              <a:t>》（Fundamentals of Database Systems），第5版或更新版本。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社会活动不断数字化，企业和机构会产生越来越多的信息。传统文件处理系统可以永久保存记录，但每种新需求往往都要编写新的应用程序去读取或增加数据。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这种方式的主要问题包括：同一事实在多个文件中重复出现，更新不完整会造成不一致；数据被不同格式隔离，临时查询困难；多人同时修改可能产生异常；此外还会出现安全、完整性、备份和恢复问题。请把每一种技术问题都对应到一个实际后果，例如地址账单不一致、重复预约或成绩泄露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建议用时：1.5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分钟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t>讲解提示：请学生把每一种文件系统局限与一个具体的业务后果联系起来</a:t>
            </a:r>
            <a:r>
              <a:t>。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</a:t>
            </a:r>
            <a:r>
              <a:t>用户提供的原始课件，第</a:t>
            </a:r>
            <a:r>
              <a:t> 9 </a:t>
            </a:r>
            <a:r>
              <a:t>页（保留内容并将讲稿改写为中文</a:t>
            </a:r>
            <a:r>
              <a:t>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看这个学生成绩记录示例。Peter Wong 修读了多门课程，因此他的学号、姓名和性别在多行中重复；Mary 和 Bob 目前只选了数据库系统。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这里既有原始数据，也有隐含结构：学生与课程是两类对象，“修读”把二者联系起来，成绩属于某一次修读。先请大家指出哪些事实重复、哪些事实可能变化。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建议用时：2 分钟。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t>讲解提示：利用学生—课程表区分数据值与结构，并找出被重复保存的事实。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用户提供的原始课件，第 10 页（保留内容并将讲稿改写为中文）。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这种单表保存方式有什么问题？最明显的是数据冗余：Peter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Wong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的基本资料出现多次。如果地址或姓名改变，就必须同时修改多行；漏改一行会产生更新异常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它还会带来插入异常和删除异常。例如还没有学生选修的新课程难以记录；删除某名学生最后一条选课记录时，也可能把课程信息一并丢失。请思考一分钟：怎样把数据拆开？一个自然做法是建立 STUDENT、COURSE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和连接二者的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ENROLMENT。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建议用时：2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分钟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讲解提示：追问重复值如何造成更新、插入和删除异常，并让学生提出拆表方案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[Sources]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t>- </a:t>
            </a:r>
            <a:r>
              <a:t>用户提供的原始课件，第</a:t>
            </a:r>
            <a:r>
              <a:t> 11 </a:t>
            </a:r>
            <a:r>
              <a:t>页（保留内容并将讲稿改写为中文</a:t>
            </a:r>
            <a:r>
              <a:t>）。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数据库是有组织地保存的一组数据。理想情况下，这些数据应尽量减少不必要的重复，能够长期保存，彼此在逻辑上相关，并具有明确结构，因此查询和更新才会高效。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管理这些数据的软件叫数据库管理系统，也就是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DBMS。数据库指被管理的数据本身；DBMS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指创建、存储、查询、更新、保护并恢复这些数据的软件。可以把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DBMS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理解为用户或应用程序与底层数据之间的接口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建议用时：1.5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分钟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讲解提示：清楚地区分数据库和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DBMS：前者是数据，后者是管理数据的软件。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[Sources]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t>- </a:t>
            </a:r>
            <a:r>
              <a:t>用户提供的原始课件，第</a:t>
            </a:r>
            <a:r>
              <a:t> 12 </a:t>
            </a:r>
            <a:r>
              <a:t>页（保留内容并将讲稿改写为中文</a:t>
            </a:r>
            <a:r>
              <a:t>）。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请先不要看答案，判断四个注册故障分别属于哪一类问题：两名学生同时看到“剩余一个名额”并都成功选课；学生和课程资料被复制到多个表格；教室变更只更新了一个文件；共享导出文件让无权用户看到成绩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每组先给问题贴上“冗余、并发、完整性或安全”的标签，再解释它对业务会造成什么影响。只有说出后果，诊断才算完整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建议用时：4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分钟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讲解提示：先让小组标注故障类别，再要求说明业务影响，不要只报术语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 xmlns:a="http://schemas.openxmlformats.org/drawingml/2006/main"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</a:t>
            </a:r>
            <a:r>
              <a:t>用户提供的原始课件（用于视觉版式与核心术语</a:t>
            </a:r>
            <a:r>
              <a:t>）。</a:t>
            </a:r>
          </a:p>
          <a:p xmlns:a="http://schemas.openxmlformats.org/drawingml/2006/main">
            <a:r>
              <a:t>- R. Elmasri </a:t>
            </a:r>
            <a:r>
              <a:t>与</a:t>
            </a:r>
            <a:r>
              <a:t> S. Navathe，《</a:t>
            </a:r>
            <a:r>
              <a:t>数据库系统基础</a:t>
            </a:r>
            <a:r>
              <a:t>》（Fundamentals of Database Systems），第5版或更新版本。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逐项揭示答案。重复资料造成冗余，副本之间容易不一致；同时更新造成并发问题，可能超额选课或丢失修改；违反容量或键规则属于完整性问题；无权查看成绩属于安全问题。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DBMS 会综合使用事务、约束、授权、备份与恢复来处理这些风险。注意这些能力必须配合使用：即使操作具有事务性，如果系统没有定义人数上限，仍然可能提交一个业务上无效的状态。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建议用时：3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分钟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讲解提示：一次揭示一个诊断，强调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DBMS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的事务、约束和权限等机制需要协同工作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 xmlns:a="http://schemas.openxmlformats.org/drawingml/2006/main"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</a:t>
            </a:r>
            <a:r>
              <a:t>用户提供的原始课件（用于视觉版式与核心术语</a:t>
            </a:r>
            <a:r>
              <a:t>）。</a:t>
            </a:r>
          </a:p>
          <a:p xmlns:a="http://schemas.openxmlformats.org/drawingml/2006/main">
            <a:r>
              <a:t>- R. Elmasri </a:t>
            </a:r>
            <a:r>
              <a:t>与</a:t>
            </a:r>
            <a:r>
              <a:t> S. Navathe，《</a:t>
            </a:r>
            <a:r>
              <a:t>数据库系统基础</a:t>
            </a:r>
            <a:r>
              <a:t>》（Fundamentals of Database Systems），第5版或更新版本。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传统数据库常采用封闭世界假设：如果某个事实不在数据库中，就把它当作假。例如学生表中没有某个学号，系统通常认为该学生不存在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互联网和开放信息系统更常采用开放世界假设：没有记录只表示“目前不知道”，不能直接判断为假。例如网页中没有提到某人的职位，并不等于他没有职位。请注意，缺失记录在两种假设下具有不同含义。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建议用时：2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分钟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讲解提示：用“找不到一条记录”的例子对比封闭世界假设和开放世界假设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[Sources]</a:t>
            </a:r>
          </a:p>
          <a:p xmlns:a="http://schemas.openxmlformats.org/drawingml/2006/main">
            <a:r>
              <a:t>- </a:t>
            </a:r>
            <a:r>
              <a:t>用户提供的原始课件，第</a:t>
            </a:r>
            <a:r>
              <a:t> 13 </a:t>
            </a:r>
            <a:r>
              <a:t>页（保留内容并将讲稿改写为中文</a:t>
            </a:r>
            <a:r>
              <a:t>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DBMS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是一种专门的软件系统。它首先要管理持久数据，使数据在程序结束后仍能保存；还要提供数据建模与查询语言，让用户描述数据和提出问题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一个完整的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DBMS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通常还负责事务处理、并发控制、完整性检查、访问控制、备份和故障恢复。后面介绍的系统架构，就是为了说明这些能力由哪些组件实现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建议用时：2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分钟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 xmlns:a="http://schemas.openxmlformats.org/drawingml/2006/main"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r>
              <a:t>讲解提示：强调持久数据管理、数据建模、语言、事务、访问控制和恢复等核心能力</a:t>
            </a:r>
            <a:r>
              <a:t>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</a:t>
            </a:r>
            <a:r>
              <a:t>用户提供的原始课件，第</a:t>
            </a:r>
            <a:r>
              <a:t> 14 </a:t>
            </a:r>
            <a:r>
              <a:t>页（保留内容并将讲稿改写为中文</a:t>
            </a:r>
            <a:r>
              <a:t>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数据库系统很复杂，但不同角色不需要了解所有细节。数据抽象通过隐藏不必要的实现细节，降低用户与系统交互的复杂度。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三级抽象包括：物理层，说明数据怎样存放在磁盘或其他介质上；概念层，说明数据库中存放哪些实体、属性和关系；外部层，也叫视图层，只向特定用户展示其工作所需且有权访问的部分。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建议用时：2 分钟。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t>讲解提示：把物理层、概念层和外部层解释成对“需要知道什么”的三种不同回答。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t>[Sources]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- 用户提供的原始课件，第 15 页（保留内容并将讲稿改写为中文）。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把三个层次放在一起，就形成经典的三级模式结构。内部模式描述数据的物理存储；概念模式描述整个数据库的逻辑结构；外部模式为不同用户提供不同视图。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以银行为例，概念模式会描述客户、账户、交易和贷款；普通客户只能通过外部视图看到自己的资料，而管理人员可能看到更广的范围。一条查询从外部视图进入，经过概念模式解释，再由内部模式找到实际存储的数据，最后返回结果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建议用时：2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分钟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讲解提示：沿着外部视图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—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概念模式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—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内部模式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—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存储数据的路径追踪一次用户请求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[Sources]</a:t>
            </a:r>
          </a:p>
          <a:p xmlns:a="http://schemas.openxmlformats.org/drawingml/2006/main">
            <a:r>
              <a:t>- </a:t>
            </a:r>
            <a:r>
              <a:t>用户提供的原始课件，第</a:t>
            </a:r>
            <a:r>
              <a:t> 16 </a:t>
            </a:r>
            <a:r>
              <a:t>页（保留内容并将讲稿改写为中文</a:t>
            </a:r>
            <a:r>
              <a:t>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数据模型是一组用于描述数据结构、数据之间关系、允许的操作以及完整性约束的概念。约束就是数据必须遵守的规则，例如年龄不能为负数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历史上曾出现层次模型和网状模型；20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世纪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70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年代关系模型成为主流并沿用至今；之后又发展出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ER、语义模型和面向对象模型等。本课程主要学习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ER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模型和关系模型，因为前者适合概念设计，后者是大量实际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DBMS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的基础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建议用时：2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分钟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讲解提示：把数据模型定义为描述结构、关系、操作和约束的一组概念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[Sources]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t>- </a:t>
            </a:r>
            <a:r>
              <a:t>用户提供的原始课件，第</a:t>
            </a:r>
            <a:r>
              <a:t> 17 </a:t>
            </a:r>
            <a:r>
              <a:t>页（保留内容并将讲稿改写为中文</a:t>
            </a:r>
            <a:r>
              <a:t>）。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模式是数据库的总体结构，通常相对稳定；实例是在某一个时刻实际存放的数据集合，也可以叫数据库快照。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例如 COURSE(code, title, credits) 是课程数据的模式，而某一行 (COMP5111, Database Systems, 3) 是当前实例中的一个值。股票价格、库存或选课人数会不断变化，因此实例是动态的；只有业务结构改变时，模式才需要调整。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建议用时：2 分钟。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t>讲解提示：对比相对稳定的模式与某一时刻不断变化的实例。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t>[Sources]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t>- 用户提供的原始课件，第 18 页（保留内容并将讲稿改写为中文）。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数据独立性是指修改某一层的模式定义时，不必改变更高一层的模式或应用程序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物理数据独立性：改变文件组织、索引或存储位置，不需要修改概念模式和应用程序。逻辑数据独立性：改变概念模式，例如增加可选属性或拆分实体时，尽量不影响外部视图和应用程序。请用“重建索引”和“增加属性”两个例子区分二者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建议用时：1.5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分钟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讲解提示：用一个存储变化和一个概念结构变化来区分物理与逻辑数据独立性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[Sources]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t>- </a:t>
            </a:r>
            <a:r>
              <a:t>用户提供的原始课件，第</a:t>
            </a:r>
            <a:r>
              <a:t> 19 </a:t>
            </a:r>
            <a:r>
              <a:t>页（保留内容并将讲稿改写为中文</a:t>
            </a:r>
            <a:r>
              <a:t>）。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再次观察三级模式图。假设我们把数据从机械硬盘迁移到固态硬盘，主要由内部层吸收变化；假设在概念模式中为学生增加一个可选属性，则应通过映射让原有外部视图尽量保持不变。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请学生指出每一个变化发生在哪一层、上层为何可以不改</a:t>
            </a:r>
            <a:r>
              <a:t>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建议用时：1.5 </a:t>
            </a:r>
            <a:r>
              <a:t>分钟</a:t>
            </a:r>
            <a:r>
              <a:t>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讲解提示：重看三级结构图，让学生判断每一种拟议变化由哪一层吸收</a:t>
            </a:r>
            <a:r>
              <a:t>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</a:t>
            </a:r>
            <a:r>
              <a:t>用户提供的原始课件，第</a:t>
            </a:r>
            <a:r>
              <a:t> 20 </a:t>
            </a:r>
            <a:r>
              <a:t>页（保留内容并将讲稿改写为中文</a:t>
            </a:r>
            <a:r>
              <a:t>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快速投票：A，COURSE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(code, title, credits) 是模式；B，一条具体课程记录是实例；C，在不改应用程序的情况下重建索引体现物理数据独立性；D，增加可选属性但保持用户视图稳定，体现逻辑数据独立性。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请先独立选择，再向旁边同学解释其中一个答案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建议用时：1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分钟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讲解提示：用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A/B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快速投票检查理解，并让学生用一句理由说明答案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 xmlns:a="http://schemas.openxmlformats.org/drawingml/2006/main"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</a:t>
            </a:r>
            <a:r>
              <a:t>用户提供的原始课件（用于视觉版式与核心术语</a:t>
            </a:r>
            <a:r>
              <a:t>）。</a:t>
            </a:r>
          </a:p>
          <a:p xmlns:a="http://schemas.openxmlformats.org/drawingml/2006/main">
            <a:r>
              <a:t>- R. Elmasri </a:t>
            </a:r>
            <a:r>
              <a:t>与</a:t>
            </a:r>
            <a:r>
              <a:t> S. Navathe，《</a:t>
            </a:r>
            <a:r>
              <a:t>数据库系统基础</a:t>
            </a:r>
            <a:r>
              <a:t>》（Fundamentals of Database Systems），第5版或更新版本。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现在休息十分钟。请记住准确返回时间。休息后，我们会把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DDL、DML、数据库架构和查询联系起来，然后进入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ER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建模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t>DDL </a:t>
            </a:r>
            <a:r>
              <a:t>是 </a:t>
            </a:r>
            <a:r>
              <a:t>Data Definition Language</a:t>
            </a:r>
            <a:r>
              <a:t>，用来定义或修改数据库模式，例如创建表、增加列、删除表。</a:t>
            </a:r>
            <a:endParaRPr/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t>DML </a:t>
            </a:r>
            <a:r>
              <a:t>是 </a:t>
            </a:r>
            <a:r>
              <a:t>Data Manipulation Language</a:t>
            </a:r>
            <a:r>
              <a:t>，用来查询或修改表中的具体记录。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建议用时：10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分钟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讲解提示：严格控制为十分钟，把本页保持在屏幕上，并明确宣布返回时间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[Sources]</a:t>
            </a:r>
          </a:p>
          <a:p xmlns:a="http://schemas.openxmlformats.org/drawingml/2006/main">
            <a:r>
              <a:t>- </a:t>
            </a:r>
            <a:r>
              <a:t>用户提供的原始课件（用于视觉版式与核心术语</a:t>
            </a:r>
            <a:r>
              <a:t>）。</a:t>
            </a:r>
          </a:p>
          <a:p xmlns:a="http://schemas.openxmlformats.org/drawingml/2006/main">
            <a:r>
              <a:t>- R. Elmasri </a:t>
            </a:r>
            <a:r>
              <a:t>与</a:t>
            </a:r>
            <a:r>
              <a:t> S. Navathe，《</a:t>
            </a:r>
            <a:r>
              <a:t>数据库系统基础</a:t>
            </a:r>
            <a:r>
              <a:t>》（Fundamentals of Database Systems），第5版或更新版本。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DDL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是数据定义语言，用于定义数据库模式，例如创建哪些表、每个表有哪些列和约束。DDL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的结果会形成数据字典中的元数据，也就是“描述数据的数据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”。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DML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是数据操纵语言，用于检索、插入、修改和删除数据；查询语言是其中专门负责检索的部分。过程式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DML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既说明要什么，也说明怎样取得；声明式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DML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只说明希望得到什么。SQL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同时包含定义和操纵功能，查询通常以声明式方式表达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建议用时：1.5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分钟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讲解提示：先对比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DDL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与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DML，再区分过程式请求和声明式请求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[Sources]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t>- </a:t>
            </a:r>
            <a:r>
              <a:t>用户提供的原始课件，第</a:t>
            </a:r>
            <a:r>
              <a:t> 21 </a:t>
            </a:r>
            <a:r>
              <a:t>页（保留内容并将讲稿改写为中文</a:t>
            </a:r>
            <a:r>
              <a:t>）。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数据库使用者可以按操作方式分类。应用程序员在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Java、C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或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C++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等宿主语言中嵌入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DML；交互式用户直接使用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SQL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等查询语言；一般终端用户不写查询，而是运行应用程序员开发的界面完成操作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三类用户访问的是同一数据库，但他们与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DBMS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的距离和控制程度不同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建议用时：1.5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分钟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讲解提示：比较应用程序员、交互式用户和一般终端用户发出数据操作的直接程度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 xmlns:a="http://schemas.openxmlformats.org/drawingml/2006/main"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</a:t>
            </a:r>
            <a:r>
              <a:t>用户提供的原始课件，第</a:t>
            </a:r>
            <a:r>
              <a:t> 22 </a:t>
            </a:r>
            <a:r>
              <a:t>页（保留内容并将讲稿改写为中文</a:t>
            </a:r>
            <a:r>
              <a:t>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DBA，也就是数据库管理员，对数据库负有集中管理责任。DBA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决定模式定义、存储结构和访问方法，维护模式与物理组织，为用户授予权限，并规定完整性约束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实际工作中，DBA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还要负责性能监控、备份策略和故障恢复。可以把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DBA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看成数据库可用性、安全性和正确性的主要责任人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建议用时：1.5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分钟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讲解提示：把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DBA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的职责概括为定义、访问、组织、约束、备份和恢复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 xmlns:a="http://schemas.openxmlformats.org/drawingml/2006/main"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</a:t>
            </a:r>
            <a:r>
              <a:t>用户提供的原始课件，第</a:t>
            </a:r>
            <a:r>
              <a:t> 23 </a:t>
            </a:r>
            <a:r>
              <a:t>页（保留内容并将讲稿改写为中文</a:t>
            </a:r>
            <a:r>
              <a:t>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文件管理器负责存储空间分配以及底层文件读写。数据库管理器位于逻辑请求与物理文件之间，把概念层命令转换成底层操作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数据库管理器还会协调访问控制、并发控制、备份恢复和完整性检查。二者共同把用户看到的逻辑数据连接到底层存储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建议用时：1.5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分钟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7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讲解提示：说明文件管理器和数据库管理器如何连接逻辑请求与物理文件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 xmlns:a="http://schemas.openxmlformats.org/drawingml/2006/main">
            <a:pPr indent="0" algn="l">
              <a:spcBef>
                <a:spcPts val="7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20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</a:t>
            </a:r>
            <a:r>
              <a:t>用户提供的原始课件，第</a:t>
            </a:r>
            <a:r>
              <a:t> 24 </a:t>
            </a:r>
            <a:r>
              <a:t>页（保留内容并将讲稿改写为中文</a:t>
            </a:r>
            <a:r>
              <a:t>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spcBef>
                <a:spcPts val="414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查询处理器把高层查询转换成底层指令，并选择成本较低的执行方式。DML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预编译器把应用程序中嵌入的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DML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转换为过程调用；DDL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编译器把模式定义转换为数据字典中的表、列和约束描述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 xmlns:a="http://schemas.openxmlformats.org/drawingml/2006/main">
            <a:pPr indent="0" algn="l">
              <a:spcBef>
                <a:spcPts val="414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1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14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1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共同点是：用户使用高层语言表达意图，系统组件把它翻译成可执行的内部操作</a:t>
            </a:r>
            <a:r>
              <a:rPr sz="11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 xmlns:a="http://schemas.openxmlformats.org/drawingml/2006/main">
            <a:pPr indent="0" algn="l">
              <a:spcBef>
                <a:spcPts val="414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1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14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1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建议用时：1.5 </a:t>
            </a:r>
            <a:r>
              <a:rPr sz="11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分钟</a:t>
            </a:r>
            <a:r>
              <a:rPr sz="11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 xmlns:a="http://schemas.openxmlformats.org/drawingml/2006/main">
            <a:pPr indent="0" algn="l">
              <a:spcBef>
                <a:spcPts val="414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1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14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t>讲解提示：解释查询处理以及</a:t>
            </a:r>
            <a:r>
              <a:t> DDL、DML </a:t>
            </a:r>
            <a:r>
              <a:t>编译如何把高层请求转换成底层操作</a:t>
            </a:r>
            <a:r>
              <a:t>。</a:t>
            </a:r>
            <a:endParaRPr sz="11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14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1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</a:t>
            </a:r>
            <a:r>
              <a:t>用户提供的原始课件，第</a:t>
            </a:r>
            <a:r>
              <a:t> 25 </a:t>
            </a:r>
            <a:r>
              <a:t>页（保留内容并将讲稿改写为中文</a:t>
            </a:r>
            <a:r>
              <a:t>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这张图把术语放进完整的参考架构。上方是不同类型的用户，中间绿色区域是 DBMS 组件，下方是数据文件和数据字典。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t>以一条 SQL 查询为例：交互式用户提交查询；查询处理器先进行语法与语义检查，再改写和优化；执行引擎把计划交给数据库管理器；数据库管理器参考数据字典，并通过文件管理器读取所需数据；结果沿相反路径返回用户。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t>DBA 使用 DDL 定义模式，应用程序员在宿主语言中嵌入 DML，一般终端用户则通过应用程序间接访问。请大家在图中指出这四种入口。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t>建议用时：3.5 分钟。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t>讲解提示：完整追踪一条 SQL 从检查、优化、执行、访问存储到返回结果的过程。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t>[Sources]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- 用户提供的原始课件，第 26 页（保留内容并将讲稿改写为中文）。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数据库系统环境还包括多种实用工具，例如批量装载数据、备份、文件重组、报表生成和数据字典维护。这些工具不一定直接响应日常查询，但对系统运行和管理非常重要。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下面从不同维度介绍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DBMS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的分类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 xmlns:a="http://schemas.openxmlformats.org/drawingml/2006/main"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r>
              <a:t>建议用时：1.5 </a:t>
            </a:r>
            <a:r>
              <a:t>分钟</a:t>
            </a:r>
            <a:r>
              <a:t>。</a:t>
            </a:r>
          </a:p>
          <a:p xmlns:a="http://schemas.openxmlformats.org/drawingml/2006/main">
            <a:r>
              <a:t>】</a:t>
            </a:r>
            <a:endParaRPr/>
          </a:p>
          <a:p xmlns:a="http://schemas.openxmlformats.org/drawingml/2006/main">
            <a:r>
              <a:t>讲解提示：用实用工具结束架构部分，再过渡到</a:t>
            </a:r>
            <a:r>
              <a:t> DBMS </a:t>
            </a:r>
            <a:r>
              <a:t>的分类方式</a:t>
            </a:r>
            <a:r>
              <a:t>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</a:t>
            </a:r>
            <a:r>
              <a:t>用户提供的原始课件，第</a:t>
            </a:r>
            <a:r>
              <a:t> 27 </a:t>
            </a:r>
            <a:r>
              <a:t>页（保留内容并将讲稿改写为中文</a:t>
            </a:r>
            <a:r>
              <a:t>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一种分类方法是按数据模型划分。20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世纪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60 年代后期常见层次模型和网状模型；70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年代关系模型成为主流，ER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模型随后成为重要的概念设计工具；后来又出现语义模型、函数模型和面向对象模型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此外还出现逻辑或演绎数据库、专家或知识库系统、超媒体数据库等智能数据库方向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建议用时：1.5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分钟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讲解提示：按时间顺序定位层次、网状、关系、ER、语义、函数和面向对象模型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[Sources]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t>- </a:t>
            </a:r>
            <a:r>
              <a:t>用户提供的原始课件，第</a:t>
            </a:r>
            <a:r>
              <a:t> 28 </a:t>
            </a:r>
            <a:r>
              <a:t>页（保留内容并将讲稿改写为中文</a:t>
            </a:r>
            <a:r>
              <a:t>）。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DBMS 还可以按其他维度分类：按用户数量分为单用户和多用户；按站点数量分为集中式与分布式；分布式系统又可按数据模型是否一致分为同构与异构；也可以按成本、通用用途或专门用途分类。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这些维度可以组合使用，所以一个系统可能同时是多用户、分布式、异构并面向专门领域的数据库。接下来用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SQL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看看声明式查询的含义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建议用时：1.5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分钟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t>讲解提示：按数据模型、用户数、站点、同构性、成本和用途对</a:t>
            </a:r>
            <a:r>
              <a:t> DBMS </a:t>
            </a:r>
            <a:r>
              <a:t>分类</a:t>
            </a:r>
            <a:r>
              <a:t>。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t>[Sources]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-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用户提供的原始课件，第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29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页（保留内容并将讲稿改写为中文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阅读这条 SQL：先看 SELECT，它决定结果显示 student_name 和 grade 两列；再看 FROM，它指定数据来自 Enrolment；最后看 WHERE，它只保留课程代码为 COMP5111、成绩属于 A+、A 或 A− 的行。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先不要运行查询，请预测结果会有哪些列、哪些记录能够通过筛选。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建议用时：2 分钟。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讲解提示：逐行阅读查询，先预测结果列，再判断哪些行满足 WHERE 条件。</a:t>
            </a:r>
          </a:p>
          <a:p xmlns:a="http://schemas.openxmlformats.org/drawingml/2006/main"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用户提供的原始课件（用于视觉版式与核心术语）。</a:t>
            </a:r>
          </a:p>
          <a:p xmlns:a="http://schemas.openxmlformats.org/drawingml/2006/main">
            <a:r>
              <a:t>- R. Elmasri 与 S. Navathe，《数据库系统基础》（Fundamentals of Database Systems），第5版或更新版本。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现在独立写两条查询。查询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A：列出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Peter Wong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修读的课程代码；查询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B：统计每门课程的学生人数。可以使用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SELECT、FROM、WHERE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和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GROUP BY。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先预测结果，再写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SQL；完成后与旁边同学比较。查询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B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的关键通常是按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course_code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分组，并使用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COUNT(*)。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如果答案不同，请说明各自的设计理由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SELECT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course_code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FROM ENROLMENT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WHERE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student_name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= 'Peter Wong’;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SELECT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 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course_code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  COUNT(*) AS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student_count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FROM ENROLMENT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GROUP BY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course_code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建议用时：3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分钟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讲解提示：先个人作答再两人比较；重点听学生是否在查询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B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中使用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GROUP BY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course_code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和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COUNT(*)。</a:t>
            </a:r>
          </a:p>
          <a:p xmlns:a="http://schemas.openxmlformats.org/drawingml/2006/main"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</a:t>
            </a:r>
            <a:r>
              <a:t>用户提供的原始课件（用于视觉版式与核心术语</a:t>
            </a:r>
            <a:r>
              <a:t>）。</a:t>
            </a:r>
          </a:p>
          <a:p xmlns:a="http://schemas.openxmlformats.org/drawingml/2006/main">
            <a:r>
              <a:t>- R. Elmasri </a:t>
            </a:r>
            <a:r>
              <a:t>与</a:t>
            </a:r>
            <a:r>
              <a:t> S. Navathe，《</a:t>
            </a:r>
            <a:r>
              <a:t>数据库系统基础</a:t>
            </a:r>
            <a:r>
              <a:t>》（Fundamentals of Database Systems），第5版或更新版本。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SQL 的核心特点是声明式：用户说明“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要什么结果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”，DBMS 决定“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怎样取得结果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”。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查询处理器会检查、改写、优化并执行同一个逻辑查询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根据数据量、索引和统计信息，同一查询可能使用全表扫描、索引或不同连接顺序。应用程序不需要知道这些物理细节，这也是数据独立性的具体体现。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建议用时：1.5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分钟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讲解提示：把声明式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SQL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与前面的查询处理器连接起来：用户规定结果，优化器选择执行计划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 xmlns:a="http://schemas.openxmlformats.org/drawingml/2006/main"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</a:t>
            </a:r>
            <a:r>
              <a:t>用户提供的原始课件（用于视觉版式与核心术语</a:t>
            </a:r>
            <a:r>
              <a:t>）。</a:t>
            </a:r>
          </a:p>
          <a:p xmlns:a="http://schemas.openxmlformats.org/drawingml/2006/main">
            <a:r>
              <a:t>- R. Elmasri </a:t>
            </a:r>
            <a:r>
              <a:t>与</a:t>
            </a:r>
            <a:r>
              <a:t> S. Navathe，《</a:t>
            </a:r>
            <a:r>
              <a:t>数据库系统基础</a:t>
            </a:r>
            <a:r>
              <a:t>》（Fundamentals of Database Systems），第5版或更新版本。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下面进入实体—联系模型，也就是 ER 模型。Peter Chen 教授在 20 世纪 70 年代提出这一模型，用它描述现实世界中的实体、属性和联系。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ER 图是数据库概念设计的重要工具，因为它能够在建表之前，用清晰的图形表达业务结构。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建议用时：1 分钟。</a:t>
            </a:r>
          </a:p>
          <a:p xmlns:a="http://schemas.openxmlformats.org/drawingml/2006/main">
            <a:pPr indent="0" algn="l">
              <a:spcBef>
                <a:spcPts val="7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20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7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20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讲解提示：把 ER 模型介绍为以实体和联系为中心的概念设计语言。</a:t>
            </a:r>
          </a:p>
          <a:p xmlns:a="http://schemas.openxmlformats.org/drawingml/2006/main">
            <a:endParaRPr sz="20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用户提供的原始课件，第 30 页（保留内容并将讲稿改写为中文）。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ER 建模不是一次完成的直线过程，而是迭代循环。先阅读需求，标出名词、动词和规则；提出实体类型及候选键；添加属性和取值域；建立联系、角色和联系属性；说明基数与参与约束；最后用样例场景和业务问题验证模型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如果模型回答不了关键问题，或者允许不合法状态，就返回前面的步骤修改。第一版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ER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图通常只是可讨论的草稿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建议用时：3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分钟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讲解提示：把建模过程讲成迭代循环，说明需求和样例查询会验证并修改最初的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ER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草图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 xmlns:a="http://schemas.openxmlformats.org/drawingml/2006/main"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</a:t>
            </a:r>
            <a:r>
              <a:t>用户提供的原始课件（用于视觉版式与核心术语</a:t>
            </a:r>
            <a:r>
              <a:t>）。</a:t>
            </a:r>
          </a:p>
          <a:p xmlns:a="http://schemas.openxmlformats.org/drawingml/2006/main">
            <a:r>
              <a:t>- R. Elmasri </a:t>
            </a:r>
            <a:r>
              <a:t>与</a:t>
            </a:r>
            <a:r>
              <a:t> S. Navathe，《</a:t>
            </a:r>
            <a:r>
              <a:t>数据库系统基础</a:t>
            </a:r>
            <a:r>
              <a:t>》（Fundamentals of Database Systems），第5版或更新版本。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实体是现实世界中能够与其他对象区分的“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事物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”，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例如一个具体学生、一所大学或一家银行。实体通过属性来识别和描述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一组同类型实体构成实体集，例如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STUDENT、EMPLOYEE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或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CUSTOMER。在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ER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图中，实体集通常用矩形表示。请同学给出一个校园场景中的实体和对应实体集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建议用时：1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分钟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t>讲解提示：区分单个实体与实体集，并请学生举一个校园例子</a:t>
            </a:r>
            <a:r>
              <a:t>。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t>[Sources]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1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- </a:t>
            </a:r>
            <a:r>
              <a:rPr sz="1200" b="1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用户提供的原始课件，第</a:t>
            </a:r>
            <a:r>
              <a:rPr sz="1200" b="1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31 </a:t>
            </a:r>
            <a:r>
              <a:rPr sz="1200" b="1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页（保留内容并将讲稿改写为中文</a:t>
            </a:r>
            <a:r>
              <a:rPr sz="1200" b="1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属性是描述实体的信息，例如学生的姓名、学号、地址和出生日期。每个属性的值来自一个取值域：姓名通常是字符串，学号可能是特定格式的字符，出生日期属于日期类型。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形式上，属性可以看成从实体集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E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到取值域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D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的函数。给出一个样例值，让学生判断它是否属于该属性的合法取值域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建议用时：1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分钟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讲解提示：定义属性和取值域，并检查一个示例值是否属于对应属性的取值域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t>[Sources]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t>- </a:t>
            </a:r>
            <a:r>
              <a:t>用户提供的原始课件，第</a:t>
            </a:r>
            <a:r>
              <a:t> 32 </a:t>
            </a:r>
            <a:r>
              <a:t>页（保留内容并将讲稿改写为中文</a:t>
            </a:r>
            <a:r>
              <a:t>）。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请按图形记号阅读本页：矩形表示实体集，椭圆表示属性，连接线表示属性属于哪个实体。带下划线的属性是键属性，可以唯一识别一个实体</a:t>
            </a:r>
            <a:r>
              <a:t>。</a:t>
            </a:r>
            <a:endParaRPr/>
          </a:p>
          <a:p xmlns:a="http://schemas.openxmlformats.org/drawingml/2006/main">
            <a:r>
              <a:t>键属性是能够唯一识别一个实体的属性，就像每个实体的“身份证”。</a:t>
            </a:r>
            <a:endParaRPr/>
          </a:p>
          <a:p xmlns:a="http://schemas.openxmlformats.org/drawingml/2006/main">
            <a:endParaRPr/>
          </a:p>
          <a:p xmlns:a="http://schemas.openxmlformats.org/drawingml/2006/main">
            <a:r>
              <a:t>请指出图中的实体、普通属性和键属性，并说明为什么键值不能随意重复</a:t>
            </a:r>
            <a:r>
              <a:t>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建议用时：2 </a:t>
            </a:r>
            <a:r>
              <a:t>分钟</a:t>
            </a:r>
            <a:r>
              <a:t>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讲解提示：阅读实体和属性的图形记号，找出键属性</a:t>
            </a:r>
            <a:r>
              <a:t>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</a:t>
            </a:r>
            <a:r>
              <a:t>用户提供的原始课件，第</a:t>
            </a:r>
            <a:r>
              <a:t> 33 </a:t>
            </a:r>
            <a:r>
              <a:t>页（保留内容并将讲稿改写为中文</a:t>
            </a:r>
            <a:r>
              <a:t>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ER 模型的第二个核心概念是联系。联系表示若干实体之间的关联，例如 Patrick 与 Eva 是朋友，或 Patrick 修读 CS3450。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7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同一类型的联系组成联系集。形式上，k 元联系 R 是笛卡尔积 E1×E2×…×Ek 的一个子集，每个元组选择了参与联系的实体。把这个定义对应回学生—课程例子：每个“修读”实例就是一名学生与一门课程的组合。</a:t>
            </a:r>
          </a:p>
          <a:p xmlns:a="http://schemas.openxmlformats.org/drawingml/2006/main">
            <a:pPr indent="0" algn="l">
              <a:spcBef>
                <a:spcPts val="7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20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7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20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建议用时：2 分钟。</a:t>
            </a:r>
          </a:p>
          <a:p xmlns:a="http://schemas.openxmlformats.org/drawingml/2006/main">
            <a:pPr indent="0" algn="l">
              <a:spcBef>
                <a:spcPts val="7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20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7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20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讲解提示：定义联系集，并把形式化定义与学生—课程实例联系起来。</a:t>
            </a:r>
          </a:p>
          <a:p xmlns:a="http://schemas.openxmlformats.org/drawingml/2006/main">
            <a:pPr indent="0" algn="l">
              <a:spcBef>
                <a:spcPts val="7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20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7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20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[Sources]</a:t>
            </a:r>
          </a:p>
          <a:p xmlns:a="http://schemas.openxmlformats.org/drawingml/2006/main">
            <a:pPr indent="0" algn="l">
              <a:spcBef>
                <a:spcPts val="7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t>- 用户提供的原始课件，第 34 页（保留内容并将讲稿改写为中文）。</a:t>
            </a:r>
            <a:endParaRPr sz="20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现在进行图书馆借阅工作坊。先读需求，不要马上画图：图书馆记录会员、图书和实体书副本；会员借阅某个副本；每次借阅有借出日期、到期日期和可选的归还日期；每个副本只属于一本书；每名会员最多有五笔未归还借阅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请在文字中给名词加下划线、圈出动词、框出约束，然后把它们分别转化为实体、联系、属性和基数规则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建议用时：4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分钟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讲解提示：给学生四分钟，用“名词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—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动词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—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约束”方法识别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ER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构件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 xmlns:a="http://schemas.openxmlformats.org/drawingml/2006/main"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</a:t>
            </a:r>
            <a:r>
              <a:t>用户提供的原始课件（用于视觉版式与核心术语</a:t>
            </a:r>
            <a:r>
              <a:t>）。</a:t>
            </a:r>
          </a:p>
          <a:p xmlns:a="http://schemas.openxmlformats.org/drawingml/2006/main">
            <a:r>
              <a:t>- R. Elmasri </a:t>
            </a:r>
            <a:r>
              <a:t>与</a:t>
            </a:r>
            <a:r>
              <a:t> S. Navathe，《</a:t>
            </a:r>
            <a:r>
              <a:t>数据库系统基础</a:t>
            </a:r>
            <a:r>
              <a:t>》（Fundamentals of Database Systems），第5版或更新版本。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第一步可以提出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MEMBER、BOOK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和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COPY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三个实体集，键分别为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member_id、isbn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和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copy_id。若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copy_no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只在一本书内部唯一，也可以把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COPY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建模为依赖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BOOK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的弱实体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LOAN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含有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issue_date、due_date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和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return_date。它既可以建模为带属性的借阅联系，也可以建模为关联实体。只要键、参与约束和业务含义表达清楚，两种设计都可以讨论。请各组说明自己的选择。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</a:t>
            </a:r>
            <a:r>
              <a:t>把 </a:t>
            </a:r>
            <a:r>
              <a:t>LOAN </a:t>
            </a:r>
            <a:r>
              <a:t>画成“带属性的联系”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MEMBER ──&lt; LOAN &gt;── COPY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            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   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issue_date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   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due_date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   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return_date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t>某个会员 </a:t>
            </a:r>
            <a:r>
              <a:t>MEMBER </a:t>
            </a:r>
            <a:r>
              <a:t>借了某一本具体馆藏副本 </a:t>
            </a:r>
            <a:r>
              <a:t>COPY</a:t>
            </a:r>
            <a:r>
              <a:t>，这次“借”具有借出日期、应还日期和实际归还日期。</a:t>
            </a:r>
            <a:endParaRPr/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member_id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copy_id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issue_date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)</a:t>
            </a:r>
          </a:p>
          <a:p xmlns:a="http://schemas.openxmlformats.org/drawingml/2006/main">
            <a:r>
              <a:t>共同唯一标识一次借阅。</a:t>
            </a:r>
          </a:p>
          <a:p xmlns:a="http://schemas.openxmlformats.org/drawingml/2006/main">
            <a:r>
              <a:t>这种设计适合强调：</a:t>
            </a:r>
            <a:r>
              <a:rPr b="1"/>
              <a:t>LOAN </a:t>
            </a:r>
            <a:r>
              <a:rPr b="1"/>
              <a:t>本质上是 </a:t>
            </a:r>
            <a:r>
              <a:rPr b="1"/>
              <a:t>MEMBER </a:t>
            </a:r>
            <a:r>
              <a:rPr b="1"/>
              <a:t>与 </a:t>
            </a:r>
            <a:r>
              <a:rPr b="1"/>
              <a:t>COPY </a:t>
            </a:r>
            <a:r>
              <a:rPr b="1"/>
              <a:t>之间的一次联系。</a:t>
            </a:r>
            <a:endParaRPr/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</a:t>
            </a:r>
            <a:r>
              <a:t>把 </a:t>
            </a:r>
            <a:r>
              <a:t>LOAN </a:t>
            </a:r>
            <a:r>
              <a:t>画成“关联实体”</a:t>
            </a:r>
            <a:endParaRPr/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LOAN(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 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loan_id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 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member_id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 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copy_id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 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issue_date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 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due_date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 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return_date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)</a:t>
            </a:r>
          </a:p>
          <a:p xmlns:a="http://schemas.openxmlformats.org/drawingml/2006/main">
            <a:r>
              <a:t>其中：</a:t>
            </a:r>
          </a:p>
          <a:p xmlns:a="http://schemas.openxmlformats.org/drawingml/2006/main">
            <a:r>
              <a:t>loan_id</a:t>
            </a:r>
            <a:r>
              <a:t>：一次借阅的唯一编号；</a:t>
            </a:r>
          </a:p>
          <a:p xmlns:a="http://schemas.openxmlformats.org/drawingml/2006/main">
            <a:r>
              <a:t>member_id</a:t>
            </a:r>
            <a:r>
              <a:t>：谁借的；</a:t>
            </a:r>
          </a:p>
          <a:p xmlns:a="http://schemas.openxmlformats.org/drawingml/2006/main">
            <a:r>
              <a:t>copy_id</a:t>
            </a:r>
            <a:r>
              <a:t>：借的是哪一本具体副本；</a:t>
            </a:r>
          </a:p>
          <a:p xmlns:a="http://schemas.openxmlformats.org/drawingml/2006/main">
            <a:r>
              <a:t>issue_date</a:t>
            </a:r>
            <a:r>
              <a:t>：借出日期；</a:t>
            </a:r>
          </a:p>
          <a:p xmlns:a="http://schemas.openxmlformats.org/drawingml/2006/main">
            <a:r>
              <a:t>due_date</a:t>
            </a:r>
            <a:r>
              <a:t>：应还日期；</a:t>
            </a:r>
          </a:p>
          <a:p xmlns:a="http://schemas.openxmlformats.org/drawingml/2006/main">
            <a:r>
              <a:t>return_date</a:t>
            </a:r>
            <a:r>
              <a:t>：实际归还日期，尚未归还时可以为空。</a:t>
            </a:r>
          </a:p>
          <a:p xmlns:a="http://schemas.openxmlformats.org/drawingml/2006/main">
            <a:r>
              <a:t>这种设计适合强调：</a:t>
            </a:r>
            <a:r>
              <a:rPr b="1"/>
              <a:t>一次借阅本身是一个需要管理的业务对象</a:t>
            </a:r>
            <a:r>
              <a:t>。以后如果还要添加续借次数、罚款、经办员工、借阅状态等属性，会更加方便。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建议用时：4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分钟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讲解提示：讨论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COPY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和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LOAN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的建模选择；只要键与约束明确，接受多种有理据的方案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 xmlns:a="http://schemas.openxmlformats.org/drawingml/2006/main"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</a:t>
            </a:r>
            <a:r>
              <a:t>用户提供的原始课件（用于视觉版式与核心术语</a:t>
            </a:r>
            <a:r>
              <a:t>）。</a:t>
            </a:r>
          </a:p>
          <a:p xmlns:a="http://schemas.openxmlformats.org/drawingml/2006/main">
            <a:r>
              <a:t>- R. Elmasri </a:t>
            </a:r>
            <a:r>
              <a:t>与</a:t>
            </a:r>
            <a:r>
              <a:t> S. Navathe，《</a:t>
            </a:r>
            <a:r>
              <a:t>数据库系统基础</a:t>
            </a:r>
            <a:r>
              <a:t>》（Fundamentals of Database Systems），第5版或更新版本。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联系本身也可以有属性。例如学生修读课程时得到的</a:t>
            </a:r>
            <a:r>
              <a:t> </a:t>
            </a:r>
            <a:r>
              <a:t>Grade，不属于</a:t>
            </a:r>
            <a:r>
              <a:t> </a:t>
            </a:r>
            <a:r>
              <a:t>STUDENT，也不属于</a:t>
            </a:r>
            <a:r>
              <a:t> </a:t>
            </a:r>
            <a:r>
              <a:t>COURSE，而属于某一次</a:t>
            </a:r>
            <a:r>
              <a:t> Takes </a:t>
            </a:r>
            <a:r>
              <a:t>联系</a:t>
            </a:r>
            <a:r>
              <a:t>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同样，供应商向客户提供某项物品时的价格，可能属于</a:t>
            </a:r>
            <a:r>
              <a:t> Supply </a:t>
            </a:r>
            <a:r>
              <a:t>联系。判断标准是：这个值是否依赖于参与联系的多个实体，而不是只依赖其中一个实体</a:t>
            </a:r>
            <a:r>
              <a:t>。</a:t>
            </a:r>
            <a:endParaRPr/>
          </a:p>
          <a:p xmlns:a="http://schemas.openxmlformats.org/drawingml/2006/main">
            <a:endParaRPr/>
          </a:p>
          <a:p xmlns:a="http://schemas.openxmlformats.org/drawingml/2006/main">
            <a:endParaRPr/>
          </a:p>
          <a:p xmlns:a="http://schemas.openxmlformats.org/drawingml/2006/main">
            <a:r>
              <a:t>Student ── Takes ── Course │ </a:t>
            </a:r>
            <a:r>
              <a:t>GradeGrade</a:t>
            </a:r>
            <a:r>
              <a:t>（成绩）应该属于 </a:t>
            </a:r>
            <a:r>
              <a:t>Takes</a:t>
            </a:r>
            <a:r>
              <a:t>（选课联系），因为仅知道学生或课程，都不能确定成绩。</a:t>
            </a:r>
          </a:p>
          <a:p xmlns:a="http://schemas.openxmlformats.org/drawingml/2006/main">
            <a:r>
              <a:t>例如：</a:t>
            </a:r>
          </a:p>
          <a:p xmlns:a="http://schemas.openxmlformats.org/drawingml/2006/main">
            <a:r>
              <a:t>Student</a:t>
            </a:r>
            <a:r>
              <a:t>。  </a:t>
            </a:r>
            <a:r>
              <a:t>Course</a:t>
            </a:r>
            <a:r>
              <a:t>    </a:t>
            </a:r>
            <a:r>
              <a:t>Grade</a:t>
            </a:r>
          </a:p>
          <a:p xmlns:a="http://schemas.openxmlformats.org/drawingml/2006/main">
            <a:r>
              <a:t>张三          数据库      </a:t>
            </a:r>
            <a:r>
              <a:t>85</a:t>
            </a:r>
          </a:p>
          <a:p xmlns:a="http://schemas.openxmlformats.org/drawingml/2006/main">
            <a:r>
              <a:t>张三         数学          </a:t>
            </a:r>
            <a:r>
              <a:t>92</a:t>
            </a:r>
          </a:p>
          <a:p xmlns:a="http://schemas.openxmlformats.org/drawingml/2006/main">
            <a:r>
              <a:t>李四        数据库       </a:t>
            </a:r>
            <a:r>
              <a:t>76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可以看到：</a:t>
            </a:r>
          </a:p>
          <a:p xmlns:a="http://schemas.openxmlformats.org/drawingml/2006/main">
            <a:r>
              <a:t>只知道“张三”，不能确定成绩，因为张三不同课程成绩不同；</a:t>
            </a:r>
          </a:p>
          <a:p xmlns:a="http://schemas.openxmlformats.org/drawingml/2006/main">
            <a:r>
              <a:t>只知道“数据库”，也不能确定成绩，因为不同学生的数据库成绩不同；</a:t>
            </a:r>
          </a:p>
          <a:p xmlns:a="http://schemas.openxmlformats.org/drawingml/2006/main">
            <a:r>
              <a:t>必须同时知道“哪位学生选了哪门课程”，才能确定成绩。</a:t>
            </a:r>
          </a:p>
          <a:p xmlns:a="http://schemas.openxmlformats.org/drawingml/2006/main">
            <a:r>
              <a:t>所以可以表示为：</a:t>
            </a:r>
          </a:p>
          <a:p xmlns:a="http://schemas.openxmlformats.org/drawingml/2006/main">
            <a:r>
              <a:t>(</a:t>
            </a:r>
            <a:r>
              <a:t>StudentID</a:t>
            </a:r>
            <a:r>
              <a:t>, </a:t>
            </a:r>
            <a:r>
              <a:t>CourseCode</a:t>
            </a:r>
            <a:r>
              <a:t>) → Grade</a:t>
            </a:r>
            <a:r>
              <a:t>也就是说，成绩描述的是“某学生选某课程”这件事，而不是单独描述学生或课程。</a:t>
            </a:r>
          </a:p>
          <a:p xmlns:a="http://schemas.openxmlformats.org/drawingml/2006/main">
            <a:r>
              <a:t>相反：</a:t>
            </a:r>
          </a:p>
          <a:p xmlns:a="http://schemas.openxmlformats.org/drawingml/2006/main">
            <a:r>
              <a:t>Student.Name</a:t>
            </a:r>
            <a:r>
              <a:t> </a:t>
            </a:r>
            <a:r>
              <a:t>只依赖具体的 </a:t>
            </a:r>
            <a:r>
              <a:t>Student</a:t>
            </a:r>
            <a:r>
              <a:t>，与选了什么课程无关；</a:t>
            </a:r>
          </a:p>
          <a:p xmlns:a="http://schemas.openxmlformats.org/drawingml/2006/main">
            <a:r>
              <a:t>Course.Title</a:t>
            </a:r>
            <a:r>
              <a:t> </a:t>
            </a:r>
            <a:r>
              <a:t>只依赖具体的 </a:t>
            </a:r>
            <a:r>
              <a:t>Course</a:t>
            </a:r>
            <a:r>
              <a:t>，与哪个学生选它无关。</a:t>
            </a:r>
          </a:p>
          <a:p xmlns:a="http://schemas.openxmlformats.org/drawingml/2006/main">
            <a:r>
              <a:t>一个简单的判断方法是：</a:t>
            </a:r>
          </a:p>
          <a:p xmlns:a="http://schemas.openxmlformats.org/drawingml/2006/main">
            <a:r>
              <a:t>把其中一个实体固定，换另一个实体，这个属性值是否可能改变？</a:t>
            </a:r>
          </a:p>
          <a:p xmlns:a="http://schemas.openxmlformats.org/drawingml/2006/main">
            <a:r>
              <a:t>固定张三，换课程，</a:t>
            </a:r>
            <a:r>
              <a:t>Grade </a:t>
            </a:r>
            <a:r>
              <a:t>会变；</a:t>
            </a:r>
          </a:p>
          <a:p xmlns:a="http://schemas.openxmlformats.org/drawingml/2006/main">
            <a:r>
              <a:t>固定数据库课程，换学生，</a:t>
            </a:r>
            <a:r>
              <a:t>Grade </a:t>
            </a:r>
            <a:r>
              <a:t>也会变；</a:t>
            </a:r>
          </a:p>
          <a:p xmlns:a="http://schemas.openxmlformats.org/drawingml/2006/main">
            <a:r>
              <a:t>因此 </a:t>
            </a:r>
            <a:r>
              <a:t>Grade </a:t>
            </a:r>
            <a:r>
              <a:t>属于 </a:t>
            </a:r>
            <a:r>
              <a:t>Student </a:t>
            </a:r>
            <a:r>
              <a:t>和 </a:t>
            </a:r>
            <a:r>
              <a:t>Course </a:t>
            </a:r>
            <a:r>
              <a:t>之间的 </a:t>
            </a:r>
            <a:r>
              <a:t>Takes </a:t>
            </a:r>
            <a:r>
              <a:t>联系。</a:t>
            </a:r>
          </a:p>
          <a:p xmlns:a="http://schemas.openxmlformats.org/drawingml/2006/main">
            <a:endParaRPr/>
          </a:p>
          <a:p xmlns:a="http://schemas.openxmlformats.org/drawingml/2006/main">
            <a:endParaRPr/>
          </a:p>
          <a:p xmlns:a="http://schemas.openxmlformats.org/drawingml/2006/main">
            <a:endParaRPr/>
          </a:p>
          <a:p xmlns:a="http://schemas.openxmlformats.org/drawingml/2006/main">
            <a:endParaRPr/>
          </a:p>
          <a:p xmlns:a="http://schemas.openxmlformats.org/drawingml/2006/main">
            <a:r>
              <a:t>建议用时：2 </a:t>
            </a:r>
            <a:r>
              <a:t>分钟</a:t>
            </a:r>
            <a:r>
              <a:t>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讲解提示：说明</a:t>
            </a:r>
            <a:r>
              <a:t> Grade </a:t>
            </a:r>
            <a:r>
              <a:t>等联系属性应放在</a:t>
            </a:r>
            <a:r>
              <a:t> Takes </a:t>
            </a:r>
            <a:r>
              <a:t>上，而不是放在</a:t>
            </a:r>
            <a:r>
              <a:t> Student </a:t>
            </a:r>
            <a:r>
              <a:t>或</a:t>
            </a:r>
            <a:r>
              <a:t> Course </a:t>
            </a:r>
            <a:r>
              <a:t>上</a:t>
            </a:r>
            <a:r>
              <a:t>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</a:t>
            </a:r>
            <a:r>
              <a:t>用户提供的原始课件，第</a:t>
            </a:r>
            <a:r>
              <a:t> 35 </a:t>
            </a:r>
            <a:r>
              <a:t>页（保留内容并将讲稿改写为中文</a:t>
            </a:r>
            <a:r>
              <a:t>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联系的度数是参与联系的实体集数量。学生修读课程由 STUDENT 和 COURSE 两个实体集参与，所以是二元联系。</a:t>
            </a:r>
          </a:p>
          <a:p xmlns:a="http://schemas.openxmlformats.org/drawingml/2006/main"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r>
              <a:t>二元联系最常见，也最容易表达和映射；涉及三个实体集的是三元联系，不能在不分析语义的情况下随意拆成三个二元联系。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建议用时：1 分钟。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讲解提示：定义联系的度数，并强调二元联系为什么最常见。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用户提供的原始课件，第 36 页（保留内容并将讲稿改写为中文）。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递归联系是同一个实体集以不同角色参与联系。例如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EMPLOYEE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监督另一个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EMPLOYEE：前者扮演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supervisor，后者扮演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supervisee。</a:t>
            </a:r>
          </a:p>
          <a:p xmlns:a="http://schemas.openxmlformats.org/drawingml/2006/main"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r>
              <a:t>角色名能够消除歧义。即使两端都是</a:t>
            </a:r>
            <a:r>
              <a:t> </a:t>
            </a:r>
            <a:r>
              <a:t>EMPLOYEE，我们仍能看出哪一端是主管、哪一端是下属</a:t>
            </a:r>
            <a:r>
              <a:t>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建议用时：1 </a:t>
            </a:r>
            <a:r>
              <a:t>分钟</a:t>
            </a:r>
            <a:r>
              <a:t>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讲解提示：用主管与下属解释递归联系和角色名</a:t>
            </a:r>
            <a:r>
              <a:t>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</a:t>
            </a:r>
            <a:r>
              <a:t>用户提供的原始课件，第</a:t>
            </a:r>
            <a:r>
              <a:t> 37 </a:t>
            </a:r>
            <a:r>
              <a:t>页（保留内容并将讲稿改写为中文</a:t>
            </a:r>
            <a:r>
              <a:t>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属性可以看成实体到取值域的映射；如果把值域也视为实体集，这种映射就接近一种联系。因此某个事实究竟建模为属性还是联系，要看它是否需要独立身份、自己的属性或与其他实体进一步关联。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例如成绩取决于学生和课程，适合作为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Takes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的联系属性；供应价格取决于供应商和物品，也适合作为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Supply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的联系属性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建议用时：1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分钟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讲解提示：讨论一个事实在什么情况下更适合建模为联系，而不是普通属性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[Sources]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t>- </a:t>
            </a:r>
            <a:r>
              <a:t>用户提供的原始课件，第</a:t>
            </a:r>
            <a:r>
              <a:t> 38 </a:t>
            </a:r>
            <a:r>
              <a:t>页（保留内容并将讲稿改写为中文</a:t>
            </a:r>
            <a:r>
              <a:t>）。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建模时经常要在“实体集”和“属性”之间选择。员工电话号码可以只是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EMPLOYEE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的属性；如果一个号码可被多人共享、需要记录号码类型或本身还与设备关联，那么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PHONE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更适合成为实体集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姓名也可以是一个字符串属性，或拆成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first_name、middle_name、last_name。没有绝对唯一的答案，选择取决于应用是否需要独立查询、约束和描述这些部分。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建议用时：1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分钟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t>讲解提示：讨论一个概念何时值得成为独立实体集，而不是继续作为属性</a:t>
            </a:r>
            <a:r>
              <a:t>。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t>[Sources]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-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用户提供的原始课件，第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39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页（保留内容并将讲稿改写为中文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映射基数是一类重要的完整性约束，用来说明一个实体最多可以与另一侧多少个实体发生联系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一对一表示两侧每个实体最多对应一个；一对多或多对一表示一侧可以对应多个而另一侧最多一个；多对多表示两侧都可以对应多个。例子：婚姻在特定制度下可近似一对一，部门与员工常是一对多，学生与课程通常是多对多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建议用时：2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分钟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讲解提示：利用图示对比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1:1、1:N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和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M:N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三种基数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[Sources]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t>- </a:t>
            </a:r>
            <a:r>
              <a:t>用户提供的原始课件，第</a:t>
            </a:r>
            <a:r>
              <a:t> 40 </a:t>
            </a:r>
            <a:r>
              <a:t>页（保留内容并将讲稿改写为中文</a:t>
            </a:r>
            <a:r>
              <a:t>）。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请为图书馆模型写出最小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—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最大基数。一本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BOOK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有多个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COPY，每个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COPY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必须属于一本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BOOK；一名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MEMBER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可以有零到五笔当前有效的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LOAN；每笔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LOAN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必须关联一名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MEMBER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和一个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COPY；一个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COPY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历史上可以出现于多笔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LOAN，但同一时刻最多只有一笔有效借阅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最后一条故意比较难：请思考静态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ER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图仅靠基数无法表达哪些“当前状态”或时间条件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建议用时：4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分钟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讲解提示：让学生写最小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—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最大对，并追问静态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ER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图无法直接表达哪些时间性信息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 xmlns:a="http://schemas.openxmlformats.org/drawingml/2006/main"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</a:t>
            </a:r>
            <a:r>
              <a:t>用户提供的原始课件（用于视觉版式与核心术语</a:t>
            </a:r>
            <a:r>
              <a:t>）。</a:t>
            </a:r>
          </a:p>
          <a:p xmlns:a="http://schemas.openxmlformats.org/drawingml/2006/main">
            <a:r>
              <a:t>- R. Elmasri </a:t>
            </a:r>
            <a:r>
              <a:t>与</a:t>
            </a:r>
            <a:r>
              <a:t> S. Navathe，《</a:t>
            </a:r>
            <a:r>
              <a:t>数据库系统基础</a:t>
            </a:r>
            <a:r>
              <a:t>》（Fundamentals of Database Systems），第5版或更新版本。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答案可以写成：BOOK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一侧对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COPY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为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(1,N)，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每个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COPY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对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BOOK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为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(1,1)；MEMBER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对当前有效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LOAN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为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(0,5)，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每笔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LOAN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对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MEMBER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为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(1,1)；COPY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对历史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LOAN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为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(0,N)，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每笔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LOAN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对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COPY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为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(1,1)。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“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同一副本最多有一笔当前有效借阅”是带时间状态的业务规则。它需要借助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return_date、条件唯一约束、触发器或应用逻辑等机制实现，单纯静态基数不能完整表达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建议用时：2 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分钟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讲解提示：揭示答案，强调历史上的多次联系与当前有效状态规则之间的区别</a:t>
            </a: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 xmlns:a="http://schemas.openxmlformats.org/drawingml/2006/main"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</a:t>
            </a:r>
            <a:r>
              <a:t>用户提供的原始课件（用于视觉版式与核心术语</a:t>
            </a:r>
            <a:r>
              <a:t>）。</a:t>
            </a:r>
          </a:p>
          <a:p xmlns:a="http://schemas.openxmlformats.org/drawingml/2006/main">
            <a:r>
              <a:t>- R. Elmasri </a:t>
            </a:r>
            <a:r>
              <a:t>与</a:t>
            </a:r>
            <a:r>
              <a:t> S. Navathe，《</a:t>
            </a:r>
            <a:r>
              <a:t>数据库系统基础</a:t>
            </a:r>
            <a:r>
              <a:t>》（Fundamentals of Database Systems），第5版或更新版本。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</a:t>
            </a:r>
            <a:r>
              <a:t> ER </a:t>
            </a:r>
            <a:r>
              <a:t>图看作一种视觉语法：矩形是实体集，椭圆是属性，菱形是联系；线条表示参与，数字或最小</a:t>
            </a:r>
            <a:r>
              <a:t>—</a:t>
            </a:r>
            <a:r>
              <a:t>最大标记表示基数与参与约束</a:t>
            </a:r>
            <a:r>
              <a:t>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读图时先识别“</a:t>
            </a:r>
            <a:r>
              <a:t>对象</a:t>
            </a:r>
            <a:r>
              <a:t>”，再识别“</a:t>
            </a:r>
            <a:r>
              <a:t>关系</a:t>
            </a:r>
            <a:r>
              <a:t>”，</a:t>
            </a:r>
            <a:r>
              <a:t>最后检查键和约束</a:t>
            </a:r>
            <a:r>
              <a:t>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建议用时：1 </a:t>
            </a:r>
            <a:r>
              <a:t>分钟</a:t>
            </a:r>
            <a:r>
              <a:t>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讲解提示：把矩形、椭圆、菱形、连线和基数标记作为一套完整视觉语法来读</a:t>
            </a:r>
            <a:r>
              <a:t>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</a:t>
            </a:r>
            <a:r>
              <a:t>用户提供的原始课件，第</a:t>
            </a:r>
            <a:r>
              <a:t> 41 </a:t>
            </a:r>
            <a:r>
              <a:t>页（保留内容并将讲稿改写为中文</a:t>
            </a:r>
            <a:r>
              <a:t>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利用这张记号汇总做快速识别练习。教师随机指一个符号，请学生说出它表示实体、弱实体、联系、属性、多值属性、派生属性还是键</a:t>
            </a:r>
            <a:r>
              <a:t>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这一轮只要求识别，不展开新的定义，为后面的键与弱实体做好准备</a:t>
            </a:r>
            <a:r>
              <a:t>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建议用时：2 </a:t>
            </a:r>
            <a:r>
              <a:t>分钟</a:t>
            </a:r>
            <a:r>
              <a:t>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讲解提示：把符号汇总页作为快速识别检查，再进入约束和键</a:t>
            </a:r>
            <a:r>
              <a:t>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</a:t>
            </a:r>
            <a:r>
              <a:t>用户提供的原始课件，第</a:t>
            </a:r>
            <a:r>
              <a:t> 42 </a:t>
            </a:r>
            <a:r>
              <a:t>页（保留内容并将讲稿改写为中文</a:t>
            </a:r>
            <a:r>
              <a:t>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超键是一组能够唯一识别实体的属性，可能包含多余属性；候选键是最小超键，删除其中任何属性后都不能再唯一识别；主键是从候选键中选定的主要标识。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姓名通常不是候选键，因为可能重名且可能变化。请学生说明学号为什么通常更适合作为主键</a:t>
            </a:r>
            <a:r>
              <a:t>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建议用时：1 </a:t>
            </a:r>
            <a:r>
              <a:t>分钟</a:t>
            </a:r>
            <a:r>
              <a:t>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讲解提示：区分超键、候选键和主键，并追问姓名为什么通常不是候选键</a:t>
            </a:r>
            <a:r>
              <a:t>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</a:t>
            </a:r>
            <a:r>
              <a:t>用户提供的原始课件，第</a:t>
            </a:r>
            <a:r>
              <a:t> 43 </a:t>
            </a:r>
            <a:r>
              <a:t>页（保留内容并将讲稿改写为中文</a:t>
            </a:r>
            <a:r>
              <a:t>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再次巩固</a:t>
            </a:r>
            <a:r>
              <a:t> ER </a:t>
            </a:r>
            <a:r>
              <a:t>记号：实体集、联系、普通属性、键属性、弱实体和多值属性分别使用不同图形表示</a:t>
            </a:r>
            <a:r>
              <a:t>。</a:t>
            </a:r>
            <a:endParaRPr/>
          </a:p>
          <a:p xmlns:a="http://schemas.openxmlformats.org/drawingml/2006/main">
            <a:r>
              <a:t>**弱实体（</a:t>
            </a:r>
            <a:r>
              <a:t>Weak Entity</a:t>
            </a:r>
            <a:r>
              <a:t>）**是指：</a:t>
            </a:r>
            <a:r>
              <a:rPr b="1"/>
              <a:t>仅靠自己的属性不能被唯一识别，必须借助另一个“所有者实体”的主键才能确定身份的实体。</a:t>
            </a:r>
            <a:endParaRPr/>
          </a:p>
          <a:p xmlns:a="http://schemas.openxmlformats.org/drawingml/2006/main">
            <a:endParaRPr/>
          </a:p>
          <a:p xmlns:a="http://schemas.openxmlformats.org/drawingml/2006/main">
            <a:r>
              <a:t>读图时不要只认形状，还要说出语义：谁被唯一识别、谁依赖谁存在、某个属性能否有多个值</a:t>
            </a:r>
            <a:r>
              <a:t>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建议用时：1 </a:t>
            </a:r>
            <a:r>
              <a:t>分钟</a:t>
            </a:r>
            <a:r>
              <a:t>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讲解提示：复习实体、联系、属性、键、弱实体和多值属性的表示方法</a:t>
            </a:r>
            <a:r>
              <a:t>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</a:t>
            </a:r>
            <a:r>
              <a:t>用户提供的原始课件，第</a:t>
            </a:r>
            <a:r>
              <a:t> 44 </a:t>
            </a:r>
            <a:r>
              <a:t>页（保留内容并将讲稿改写为中文</a:t>
            </a:r>
            <a:r>
              <a:t>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弱实体没有足够的自身属性形成完整主键，必须依赖一个拥有者实体和识别联系才能被唯一识别。例如账户交易记录可能需要“账户号＋交易序号”共同识别。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识别联系通常用双菱形，弱实体用双矩形；在递归联系中还要用角色名区分同一实体集的不同参与方式。请结合图中的账户和员工例子说明这些符号。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建议用时：2 </a:t>
            </a:r>
            <a:r>
              <a:t>分钟</a:t>
            </a:r>
            <a:r>
              <a:t>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讲解提示：用账户和员工例子解释弱实体、识别联系及角色标记</a:t>
            </a:r>
            <a:r>
              <a:t>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</a:t>
            </a:r>
            <a:r>
              <a:t>用户提供的原始课件，第</a:t>
            </a:r>
            <a:r>
              <a:t> 45 </a:t>
            </a:r>
            <a:r>
              <a:t>页（保留内容并将讲稿改写为中文</a:t>
            </a:r>
            <a:r>
              <a:t>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沿着银行</a:t>
            </a:r>
            <a:r>
              <a:t> ER </a:t>
            </a:r>
            <a:r>
              <a:t>图阅读：BANK</a:t>
            </a:r>
            <a:r>
              <a:t> </a:t>
            </a:r>
            <a:r>
              <a:t>包含</a:t>
            </a:r>
            <a:r>
              <a:t> </a:t>
            </a:r>
            <a:r>
              <a:t>BRANCH，分行管理</a:t>
            </a:r>
            <a:r>
              <a:t> ACCOUNT </a:t>
            </a:r>
            <a:r>
              <a:t>和</a:t>
            </a:r>
            <a:r>
              <a:t> LOAN，CUSTOMER </a:t>
            </a:r>
            <a:r>
              <a:t>与账户或贷款发生联系。先找出每个实体的键，再顺着联系判断一对一、一对多或多对多</a:t>
            </a:r>
            <a:r>
              <a:t>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不要逐个解释所有图形，重点追踪一条业务路径，例如“某客户在哪个分行拥有哪个账户</a:t>
            </a:r>
            <a:r>
              <a:t>”。</a:t>
            </a:r>
            <a:endParaRPr/>
          </a:p>
          <a:p xmlns:a="http://schemas.openxmlformats.org/drawingml/2006/main">
            <a:endParaRPr/>
          </a:p>
          <a:p xmlns:a="http://schemas.openxmlformats.org/drawingml/2006/main">
            <a:endParaRPr/>
          </a:p>
          <a:p xmlns:a="http://schemas.openxmlformats.org/drawingml/2006/main">
            <a:r>
              <a:rPr b="1"/>
              <a:t>1. </a:t>
            </a:r>
            <a:r>
              <a:rPr b="1"/>
              <a:t>先说明整张图表示什么</a:t>
            </a:r>
          </a:p>
          <a:p xmlns:a="http://schemas.openxmlformats.org/drawingml/2006/main">
            <a:r>
              <a:t>可以这样开场：</a:t>
            </a:r>
          </a:p>
          <a:p xmlns:a="http://schemas.openxmlformats.org/drawingml/2006/main">
            <a:r>
              <a:t>这张 </a:t>
            </a:r>
            <a:r>
              <a:t>ER </a:t>
            </a:r>
            <a:r>
              <a:t>图描述一个银行系统的数据结构。系统需要记录银行、银行分行、账户、贷款和客户，同时记录一家银行拥有哪些分行、分行管理哪些账户和贷款、客户拥有哪些账户，以及客户承担哪些贷款。</a:t>
            </a:r>
          </a:p>
          <a:p xmlns:a="http://schemas.openxmlformats.org/drawingml/2006/main">
            <a:r>
              <a:t>图中有五个实体：</a:t>
            </a:r>
          </a:p>
          <a:p xmlns:a="http://schemas.openxmlformats.org/drawingml/2006/main">
            <a:r>
              <a:t>BANK</a:t>
            </a:r>
            <a:r>
              <a:t>：银行</a:t>
            </a:r>
          </a:p>
          <a:p xmlns:a="http://schemas.openxmlformats.org/drawingml/2006/main">
            <a:r>
              <a:t>BANK_BRANCH</a:t>
            </a:r>
            <a:r>
              <a:t>：银行分行</a:t>
            </a:r>
          </a:p>
          <a:p xmlns:a="http://schemas.openxmlformats.org/drawingml/2006/main">
            <a:r>
              <a:t>ACCOUNT</a:t>
            </a:r>
            <a:r>
              <a:t>：账户</a:t>
            </a:r>
          </a:p>
          <a:p xmlns:a="http://schemas.openxmlformats.org/drawingml/2006/main">
            <a:r>
              <a:t>LOAN</a:t>
            </a:r>
            <a:r>
              <a:t>：贷款</a:t>
            </a:r>
          </a:p>
          <a:p xmlns:a="http://schemas.openxmlformats.org/drawingml/2006/main">
            <a:r>
              <a:t>CUSTOMER</a:t>
            </a:r>
            <a:r>
              <a:t>：客户</a:t>
            </a:r>
            <a:endParaRPr/>
          </a:p>
          <a:p xmlns:a="http://schemas.openxmlformats.org/drawingml/2006/main">
            <a:endParaRPr/>
          </a:p>
          <a:p xmlns:a="http://schemas.openxmlformats.org/drawingml/2006/main">
            <a:r>
              <a:t>五个联系是：</a:t>
            </a:r>
          </a:p>
          <a:p xmlns:a="http://schemas.openxmlformats.org/drawingml/2006/main">
            <a:r>
              <a:t>BRANCHES</a:t>
            </a:r>
            <a:r>
              <a:t>：银行与分行</a:t>
            </a:r>
          </a:p>
          <a:p xmlns:a="http://schemas.openxmlformats.org/drawingml/2006/main">
            <a:r>
              <a:t>ACCTS</a:t>
            </a:r>
            <a:r>
              <a:t>：分行与账户</a:t>
            </a:r>
          </a:p>
          <a:p xmlns:a="http://schemas.openxmlformats.org/drawingml/2006/main">
            <a:r>
              <a:t>LOANS</a:t>
            </a:r>
            <a:r>
              <a:t>：分行与贷款</a:t>
            </a:r>
          </a:p>
          <a:p xmlns:a="http://schemas.openxmlformats.org/drawingml/2006/main">
            <a:r>
              <a:t>A_C</a:t>
            </a:r>
            <a:r>
              <a:t>：账户与客户</a:t>
            </a:r>
          </a:p>
          <a:p xmlns:a="http://schemas.openxmlformats.org/drawingml/2006/main">
            <a:r>
              <a:t>L_C</a:t>
            </a:r>
            <a:r>
              <a:t>：贷款与客户</a:t>
            </a:r>
          </a:p>
          <a:p xmlns:a="http://schemas.openxmlformats.org/drawingml/2006/main">
            <a:r>
              <a:rPr b="1"/>
              <a:t>2. </a:t>
            </a:r>
            <a:r>
              <a:rPr b="1"/>
              <a:t>先带学生认符号</a:t>
            </a:r>
          </a:p>
          <a:p xmlns:a="http://schemas.openxmlformats.org/drawingml/2006/main">
            <a:r>
              <a:t>矩形：普通实体，例如 </a:t>
            </a:r>
            <a:r>
              <a:t>BANK</a:t>
            </a:r>
          </a:p>
          <a:p xmlns:a="http://schemas.openxmlformats.org/drawingml/2006/main">
            <a:r>
              <a:t>双矩形：弱实体，例如 </a:t>
            </a:r>
            <a:r>
              <a:t>BANK_BRANCH</a:t>
            </a:r>
          </a:p>
          <a:p xmlns:a="http://schemas.openxmlformats.org/drawingml/2006/main">
            <a:r>
              <a:t>菱形：普通联系，例如 </a:t>
            </a:r>
            <a:r>
              <a:t>ACCTS</a:t>
            </a:r>
          </a:p>
          <a:p xmlns:a="http://schemas.openxmlformats.org/drawingml/2006/main">
            <a:r>
              <a:t>双菱形：识别弱实体的联系，例如 </a:t>
            </a:r>
            <a:r>
              <a:t>BRANCHES</a:t>
            </a:r>
          </a:p>
          <a:p xmlns:a="http://schemas.openxmlformats.org/drawingml/2006/main">
            <a:r>
              <a:t>椭圆：属性，例如 </a:t>
            </a:r>
            <a:r>
              <a:t>Balance</a:t>
            </a:r>
          </a:p>
          <a:p xmlns:a="http://schemas.openxmlformats.org/drawingml/2006/main">
            <a:r>
              <a:t>实线下划线：完整键属性</a:t>
            </a:r>
          </a:p>
          <a:p xmlns:a="http://schemas.openxmlformats.org/drawingml/2006/main">
            <a:r>
              <a:t>虚线下划线：弱实体的部分键</a:t>
            </a:r>
          </a:p>
          <a:p xmlns:a="http://schemas.openxmlformats.org/drawingml/2006/main">
            <a:r>
              <a:t>单线：部分参与，可以不参加联系</a:t>
            </a:r>
          </a:p>
          <a:p xmlns:a="http://schemas.openxmlformats.org/drawingml/2006/main">
            <a:r>
              <a:t>双线：完全参与，必须参加联系</a:t>
            </a:r>
          </a:p>
          <a:p xmlns:a="http://schemas.openxmlformats.org/drawingml/2006/main">
            <a:r>
              <a:t>图中的完整键包括：</a:t>
            </a:r>
          </a:p>
          <a:p xmlns:a="http://schemas.openxmlformats.org/drawingml/2006/main">
            <a:r>
              <a:t>BANK.Code</a:t>
            </a:r>
            <a:r>
              <a:t> </a:t>
            </a:r>
            <a:r>
              <a:t>ACCOUNT.Acct_no</a:t>
            </a:r>
            <a:r>
              <a:t> </a:t>
            </a:r>
            <a:r>
              <a:t>LOAN.Loan_no</a:t>
            </a:r>
            <a:r>
              <a:t> </a:t>
            </a:r>
            <a:r>
              <a:t>CUSTOMER.SsnBANK_BRANCH.Branch_no</a:t>
            </a:r>
            <a:r>
              <a:t> </a:t>
            </a:r>
            <a:r>
              <a:t>是虚线下划线，表示它只是部分键，不能单独唯一识别一个分行。</a:t>
            </a:r>
          </a:p>
          <a:p xmlns:a="http://schemas.openxmlformats.org/drawingml/2006/main">
            <a:r>
              <a:rPr b="1"/>
              <a:t>3. </a:t>
            </a:r>
            <a:r>
              <a:rPr b="1"/>
              <a:t>解释 </a:t>
            </a:r>
            <a:r>
              <a:rPr b="1"/>
              <a:t>1</a:t>
            </a:r>
            <a:r>
              <a:rPr b="1"/>
              <a:t>、</a:t>
            </a:r>
            <a:r>
              <a:rPr b="1"/>
              <a:t>N</a:t>
            </a:r>
            <a:r>
              <a:rPr b="1"/>
              <a:t>、</a:t>
            </a:r>
            <a:r>
              <a:rPr b="1"/>
              <a:t>M </a:t>
            </a:r>
            <a:r>
              <a:rPr b="1"/>
              <a:t>和单双线</a:t>
            </a:r>
          </a:p>
          <a:p xmlns:a="http://schemas.openxmlformats.org/drawingml/2006/main">
            <a:r>
              <a:t>这张图没有直接写 </a:t>
            </a:r>
            <a:r>
              <a:t>(</a:t>
            </a:r>
            <a:r>
              <a:t>min,max</a:t>
            </a:r>
            <a:r>
              <a:t>)</a:t>
            </a:r>
            <a:r>
              <a:t>，而是通过两类符号共同表达约束：</a:t>
            </a:r>
          </a:p>
          <a:p xmlns:a="http://schemas.openxmlformats.org/drawingml/2006/main">
            <a:r>
              <a:t>1:N</a:t>
            </a:r>
            <a:r>
              <a:t>、</a:t>
            </a:r>
            <a:r>
              <a:t>M:N</a:t>
            </a:r>
            <a:r>
              <a:t>：说明最大基数；</a:t>
            </a:r>
          </a:p>
          <a:p xmlns:a="http://schemas.openxmlformats.org/drawingml/2006/main">
            <a:r>
              <a:t>单线、双线：说明最小基数。</a:t>
            </a:r>
          </a:p>
          <a:p xmlns:a="http://schemas.openxmlformats.org/drawingml/2006/main">
            <a:r>
              <a:t>其中：</a:t>
            </a:r>
          </a:p>
          <a:p xmlns:a="http://schemas.openxmlformats.org/drawingml/2006/main">
            <a:r>
              <a:t>单线：最小值为 </a:t>
            </a:r>
            <a:r>
              <a:t>0 </a:t>
            </a:r>
          </a:p>
          <a:p xmlns:a="http://schemas.openxmlformats.org/drawingml/2006/main">
            <a:r>
              <a:t>双线：最小值为 </a:t>
            </a:r>
            <a:r>
              <a:t>1 </a:t>
            </a:r>
          </a:p>
          <a:p xmlns:a="http://schemas.openxmlformats.org/drawingml/2006/main">
            <a:r>
              <a:t>1</a:t>
            </a:r>
            <a:r>
              <a:t>：最大值为 </a:t>
            </a:r>
            <a:r>
              <a:t>1 </a:t>
            </a:r>
          </a:p>
          <a:p xmlns:a="http://schemas.openxmlformats.org/drawingml/2006/main">
            <a:r>
              <a:t>N </a:t>
            </a:r>
            <a:r>
              <a:t>或 </a:t>
            </a:r>
            <a:r>
              <a:t>M</a:t>
            </a:r>
            <a:r>
              <a:t>：最大值为多个</a:t>
            </a:r>
            <a:endParaRPr/>
          </a:p>
          <a:p xmlns:a="http://schemas.openxmlformats.org/drawingml/2006/main">
            <a:r>
              <a:t>需要特别注意：</a:t>
            </a:r>
          </a:p>
          <a:p xmlns:a="http://schemas.openxmlformats.org/drawingml/2006/main">
            <a:r>
              <a:t>BANK 1 ─── N BANK_BRANCH</a:t>
            </a:r>
            <a:r>
              <a:t>应该整体读成：</a:t>
            </a:r>
          </a:p>
          <a:p xmlns:a="http://schemas.openxmlformats.org/drawingml/2006/main">
            <a:r>
              <a:t>一家银行可以有多个分行，每个分行只属于一家银行。</a:t>
            </a:r>
          </a:p>
          <a:p xmlns:a="http://schemas.openxmlformats.org/drawingml/2006/main">
            <a:r>
              <a:t>把整张图转换成 </a:t>
            </a:r>
            <a:r>
              <a:t>(</a:t>
            </a:r>
            <a:r>
              <a:t>min,max</a:t>
            </a:r>
            <a:r>
              <a:t>)</a:t>
            </a:r>
            <a:r>
              <a:t>，结果是：</a:t>
            </a:r>
          </a:p>
          <a:p xmlns:a="http://schemas.openxmlformats.org/drawingml/2006/main">
            <a:r>
              <a:t>BRANCHES</a:t>
            </a:r>
            <a:r>
              <a:t>： </a:t>
            </a:r>
            <a:r>
              <a:t>BANK (1,N) ─── (1,1) BANK_BRANCH </a:t>
            </a:r>
          </a:p>
          <a:p xmlns:a="http://schemas.openxmlformats.org/drawingml/2006/main">
            <a:r>
              <a:t>ACCTS</a:t>
            </a:r>
            <a:r>
              <a:t>： </a:t>
            </a:r>
            <a:r>
              <a:t>BANK_BRANCH (0,N) ─── (1,1) ACCOUNT </a:t>
            </a:r>
          </a:p>
          <a:p xmlns:a="http://schemas.openxmlformats.org/drawingml/2006/main">
            <a:r>
              <a:t>LOANS</a:t>
            </a:r>
            <a:r>
              <a:t>： </a:t>
            </a:r>
            <a:r>
              <a:t>BANK_BRANCH (0,N) ─── (1,1) LOAN </a:t>
            </a:r>
          </a:p>
          <a:p xmlns:a="http://schemas.openxmlformats.org/drawingml/2006/main">
            <a:r>
              <a:t>A_C</a:t>
            </a:r>
            <a:r>
              <a:t>： </a:t>
            </a:r>
            <a:r>
              <a:t>ACCOUNT (1,N) ─── (0,N) CUSTOMER </a:t>
            </a:r>
          </a:p>
          <a:p xmlns:a="http://schemas.openxmlformats.org/drawingml/2006/main">
            <a:r>
              <a:t>L_C</a:t>
            </a:r>
            <a:r>
              <a:t>： </a:t>
            </a:r>
            <a:r>
              <a:t>LOAN (1,N) ─── (0,N) CUSTOMER</a:t>
            </a:r>
          </a:p>
          <a:p xmlns:a="http://schemas.openxmlformats.org/drawingml/2006/main">
            <a:endParaRPr b="1"/>
          </a:p>
          <a:p xmlns:a="http://schemas.openxmlformats.org/drawingml/2006/main">
            <a:r>
              <a:rPr b="1"/>
              <a:t>4. </a:t>
            </a:r>
            <a:r>
              <a:rPr b="1"/>
              <a:t>逐条讲解关系</a:t>
            </a:r>
          </a:p>
          <a:p xmlns:a="http://schemas.openxmlformats.org/drawingml/2006/main">
            <a:r>
              <a:rPr b="1"/>
              <a:t>BRANCHES</a:t>
            </a:r>
            <a:r>
              <a:rPr b="1"/>
              <a:t>：银行拥有分行</a:t>
            </a:r>
          </a:p>
          <a:p xmlns:a="http://schemas.openxmlformats.org/drawingml/2006/main">
            <a:r>
              <a:t>原图表示：</a:t>
            </a:r>
          </a:p>
          <a:p xmlns:a="http://schemas.openxmlformats.org/drawingml/2006/main">
            <a:r>
              <a:t>BANK 1 ─── N BANK_BRANCH</a:t>
            </a:r>
            <a:r>
              <a:t>转换成最小</a:t>
            </a:r>
            <a:r>
              <a:t>—</a:t>
            </a:r>
            <a:r>
              <a:t>最大约束：</a:t>
            </a:r>
          </a:p>
          <a:p xmlns:a="http://schemas.openxmlformats.org/drawingml/2006/main">
            <a:r>
              <a:t>BANK (1,N) ── BRANCHES ── (1,1) BANK_BRANCH</a:t>
            </a:r>
            <a:r>
              <a:t>含义是：</a:t>
            </a:r>
          </a:p>
          <a:p xmlns:a="http://schemas.openxmlformats.org/drawingml/2006/main">
            <a:r>
              <a:t>每家银行必须至少有一个分行，也可以有多个分行；</a:t>
            </a:r>
          </a:p>
          <a:p xmlns:a="http://schemas.openxmlformats.org/drawingml/2006/main">
            <a:r>
              <a:t>每个分行必须属于一家银行，而且只能属于一家银行。</a:t>
            </a:r>
          </a:p>
          <a:p xmlns:a="http://schemas.openxmlformats.org/drawingml/2006/main">
            <a:r>
              <a:t>例如：</a:t>
            </a:r>
          </a:p>
          <a:p xmlns:a="http://schemas.openxmlformats.org/drawingml/2006/main">
            <a:r>
              <a:t>Bank A → Branch 001 Bank A → Branch 002 Bank B → Branch 001BANK </a:t>
            </a:r>
            <a:r>
              <a:t>和 </a:t>
            </a:r>
            <a:r>
              <a:t>BANK_BRANCH </a:t>
            </a:r>
            <a:r>
              <a:t>两侧都是双线，因此：</a:t>
            </a:r>
          </a:p>
          <a:p xmlns:a="http://schemas.openxmlformats.org/drawingml/2006/main">
            <a:r>
              <a:t>不允许存在没有分行的银行；</a:t>
            </a:r>
          </a:p>
          <a:p xmlns:a="http://schemas.openxmlformats.org/drawingml/2006/main">
            <a:r>
              <a:t>不允许存在不属于任何银行的分行。</a:t>
            </a:r>
          </a:p>
          <a:p xmlns:a="http://schemas.openxmlformats.org/drawingml/2006/main">
            <a:r>
              <a:t>但是不同银行可以使用相同的分行号。例如 </a:t>
            </a:r>
            <a:r>
              <a:t>Bank A </a:t>
            </a:r>
            <a:r>
              <a:t>和 </a:t>
            </a:r>
            <a:r>
              <a:t>Bank B </a:t>
            </a:r>
            <a:r>
              <a:t>都可以有 </a:t>
            </a:r>
            <a:r>
              <a:t>Branch 001</a:t>
            </a:r>
            <a:r>
              <a:t>。</a:t>
            </a:r>
          </a:p>
          <a:p xmlns:a="http://schemas.openxmlformats.org/drawingml/2006/main">
            <a:r>
              <a:rPr b="1"/>
              <a:t>ACCTS</a:t>
            </a:r>
            <a:r>
              <a:rPr b="1"/>
              <a:t>：分行管理账户</a:t>
            </a:r>
          </a:p>
          <a:p xmlns:a="http://schemas.openxmlformats.org/drawingml/2006/main">
            <a:r>
              <a:t>原图表示：</a:t>
            </a:r>
          </a:p>
          <a:p xmlns:a="http://schemas.openxmlformats.org/drawingml/2006/main">
            <a:r>
              <a:t>BANK_BRANCH 1 ─── N ACCOUNT</a:t>
            </a:r>
            <a:r>
              <a:t>转换成最小</a:t>
            </a:r>
            <a:r>
              <a:t>—</a:t>
            </a:r>
            <a:r>
              <a:t>最大约束：</a:t>
            </a:r>
          </a:p>
          <a:p xmlns:a="http://schemas.openxmlformats.org/drawingml/2006/main">
            <a:r>
              <a:t>BANK_BRANCH (0,N) ── ACCTS ── (1,1) ACCOUNT</a:t>
            </a:r>
            <a:r>
              <a:t>含义是：</a:t>
            </a:r>
          </a:p>
          <a:p xmlns:a="http://schemas.openxmlformats.org/drawingml/2006/main">
            <a:r>
              <a:t>一个分行可以暂时没有账户，也可以管理多个账户；</a:t>
            </a:r>
          </a:p>
          <a:p xmlns:a="http://schemas.openxmlformats.org/drawingml/2006/main">
            <a:r>
              <a:t>每个账户必须属于一个分行，而且只能属于一个分行。</a:t>
            </a:r>
          </a:p>
          <a:p xmlns:a="http://schemas.openxmlformats.org/drawingml/2006/main">
            <a:r>
              <a:t>例如：</a:t>
            </a:r>
          </a:p>
          <a:p xmlns:a="http://schemas.openxmlformats.org/drawingml/2006/main">
            <a:r>
              <a:t>Branch 001 → Account A100 Branch 001 → Account A200</a:t>
            </a:r>
            <a:r>
              <a:t>但是：</a:t>
            </a:r>
          </a:p>
          <a:p xmlns:a="http://schemas.openxmlformats.org/drawingml/2006/main">
            <a:r>
              <a:t>Account A100</a:t>
            </a:r>
            <a:r>
              <a:t>不能同时属于 </a:t>
            </a:r>
            <a:r>
              <a:t>Branch 001 </a:t>
            </a:r>
            <a:r>
              <a:t>和 </a:t>
            </a:r>
            <a:r>
              <a:t>Branch 002</a:t>
            </a:r>
            <a:r>
              <a:t>。</a:t>
            </a:r>
          </a:p>
          <a:p xmlns:a="http://schemas.openxmlformats.org/drawingml/2006/main">
            <a:r>
              <a:t>ACCOUNT </a:t>
            </a:r>
            <a:r>
              <a:t>一侧是双线，所以账户不能脱离分行存在。</a:t>
            </a:r>
            <a:r>
              <a:t>BANK_BRANCH </a:t>
            </a:r>
            <a:r>
              <a:t>一侧是单线，所以分行暂时没有账户是允许的。</a:t>
            </a:r>
          </a:p>
          <a:p xmlns:a="http://schemas.openxmlformats.org/drawingml/2006/main">
            <a:r>
              <a:rPr b="1"/>
              <a:t>LOANS</a:t>
            </a:r>
            <a:r>
              <a:rPr b="1"/>
              <a:t>：分行负责贷款</a:t>
            </a:r>
          </a:p>
          <a:p xmlns:a="http://schemas.openxmlformats.org/drawingml/2006/main">
            <a:r>
              <a:t>原图表示：</a:t>
            </a:r>
          </a:p>
          <a:p xmlns:a="http://schemas.openxmlformats.org/drawingml/2006/main">
            <a:r>
              <a:t>BANK_BRANCH 1 ─── N LOAN</a:t>
            </a:r>
            <a:r>
              <a:t>转换成最小</a:t>
            </a:r>
            <a:r>
              <a:t>—</a:t>
            </a:r>
            <a:r>
              <a:t>最大约束：</a:t>
            </a:r>
          </a:p>
          <a:p xmlns:a="http://schemas.openxmlformats.org/drawingml/2006/main">
            <a:r>
              <a:t>BANK_BRANCH (0,N) ── LOANS ── (1,1) LOAN</a:t>
            </a:r>
            <a:r>
              <a:t>含义是：</a:t>
            </a:r>
          </a:p>
          <a:p xmlns:a="http://schemas.openxmlformats.org/drawingml/2006/main">
            <a:r>
              <a:t>一个分行可以暂时没有贷款，也可以负责多笔贷款；</a:t>
            </a:r>
          </a:p>
          <a:p xmlns:a="http://schemas.openxmlformats.org/drawingml/2006/main">
            <a:r>
              <a:t>每笔贷款必须由一个分行负责，而且只能由一个分行负责。</a:t>
            </a:r>
          </a:p>
          <a:p xmlns:a="http://schemas.openxmlformats.org/drawingml/2006/main">
            <a:r>
              <a:t>例如：</a:t>
            </a:r>
          </a:p>
          <a:p xmlns:a="http://schemas.openxmlformats.org/drawingml/2006/main">
            <a:r>
              <a:t>Branch 001 → Loan L01 Branch 001 → Loan L02</a:t>
            </a:r>
            <a:r>
              <a:t>但一笔贷款不能同时归属于两个分行。</a:t>
            </a:r>
          </a:p>
          <a:p xmlns:a="http://schemas.openxmlformats.org/drawingml/2006/main">
            <a:r>
              <a:t>LOAN </a:t>
            </a:r>
            <a:r>
              <a:t>一侧是双线，因此不允许存在没有负责分行的贷款。</a:t>
            </a:r>
          </a:p>
          <a:p xmlns:a="http://schemas.openxmlformats.org/drawingml/2006/main">
            <a:r>
              <a:rPr b="1"/>
              <a:t>A_C</a:t>
            </a:r>
            <a:r>
              <a:rPr b="1"/>
              <a:t>：客户拥有账户</a:t>
            </a:r>
          </a:p>
          <a:p xmlns:a="http://schemas.openxmlformats.org/drawingml/2006/main">
            <a:r>
              <a:t>ACCOUNT M ─── N CUSTOMER</a:t>
            </a:r>
            <a:r>
              <a:t>转换成最小</a:t>
            </a:r>
            <a:r>
              <a:t>—</a:t>
            </a:r>
            <a:r>
              <a:t>最大约束：</a:t>
            </a:r>
          </a:p>
          <a:p xmlns:a="http://schemas.openxmlformats.org/drawingml/2006/main">
            <a:r>
              <a:t>ACCOUNT (1,N) ── A_C ── (0,N) CUSTOMER</a:t>
            </a:r>
            <a:r>
              <a:t>含义是：</a:t>
            </a:r>
          </a:p>
          <a:p xmlns:a="http://schemas.openxmlformats.org/drawingml/2006/main">
            <a:r>
              <a:t>一个账户必须至少有一名客户，也可以由多名客户共同持有；</a:t>
            </a:r>
          </a:p>
          <a:p xmlns:a="http://schemas.openxmlformats.org/drawingml/2006/main">
            <a:r>
              <a:t>一名客户可以没有账户，也可以拥有多个账户。</a:t>
            </a:r>
          </a:p>
          <a:p xmlns:a="http://schemas.openxmlformats.org/drawingml/2006/main">
            <a:r>
              <a:t>例如：</a:t>
            </a:r>
          </a:p>
          <a:p xmlns:a="http://schemas.openxmlformats.org/drawingml/2006/main">
            <a:r>
              <a:t>张三 → </a:t>
            </a:r>
            <a:r>
              <a:t>Account A100 </a:t>
            </a:r>
            <a:r>
              <a:t>张三 → </a:t>
            </a:r>
            <a:r>
              <a:t>Account A200 </a:t>
            </a:r>
            <a:r>
              <a:t>李四 → </a:t>
            </a:r>
            <a:r>
              <a:t>Account A100</a:t>
            </a:r>
            <a:r>
              <a:t>这里 </a:t>
            </a:r>
            <a:r>
              <a:t>Account A100 </a:t>
            </a:r>
            <a:r>
              <a:t>同时属于张三和李四，因此它是联名账户。</a:t>
            </a:r>
          </a:p>
          <a:p xmlns:a="http://schemas.openxmlformats.org/drawingml/2006/main">
            <a:r>
              <a:t>ACCOUNT </a:t>
            </a:r>
            <a:r>
              <a:t>一侧是双线，所以：</a:t>
            </a:r>
          </a:p>
          <a:p xmlns:a="http://schemas.openxmlformats.org/drawingml/2006/main">
            <a:r>
              <a:t>账户必须至少有一个持有人，不能出现“没有客户的账户”。</a:t>
            </a:r>
          </a:p>
          <a:p xmlns:a="http://schemas.openxmlformats.org/drawingml/2006/main">
            <a:r>
              <a:t>CUSTOMER </a:t>
            </a:r>
            <a:r>
              <a:t>一侧是单线，所以：</a:t>
            </a:r>
          </a:p>
          <a:p xmlns:a="http://schemas.openxmlformats.org/drawingml/2006/main">
            <a:r>
              <a:t>客户可以已经登记在银行系统中，但暂时没有账户。</a:t>
            </a:r>
          </a:p>
          <a:p xmlns:a="http://schemas.openxmlformats.org/drawingml/2006/main">
            <a:r>
              <a:rPr b="1"/>
              <a:t>L_C</a:t>
            </a:r>
            <a:r>
              <a:rPr b="1"/>
              <a:t>：客户承担贷款</a:t>
            </a:r>
          </a:p>
          <a:p xmlns:a="http://schemas.openxmlformats.org/drawingml/2006/main">
            <a:r>
              <a:t>LOAN M ─── N CUSTOMER</a:t>
            </a:r>
            <a:r>
              <a:t>转换成最小</a:t>
            </a:r>
            <a:r>
              <a:t>—</a:t>
            </a:r>
            <a:r>
              <a:t>最大约束：</a:t>
            </a:r>
          </a:p>
          <a:p xmlns:a="http://schemas.openxmlformats.org/drawingml/2006/main">
            <a:r>
              <a:t>LOAN (1,N) ── L_C ── (0,N) CUSTOMER</a:t>
            </a:r>
            <a:r>
              <a:t>含义是：</a:t>
            </a:r>
          </a:p>
          <a:p xmlns:a="http://schemas.openxmlformats.org/drawingml/2006/main">
            <a:r>
              <a:t>每笔贷款必须至少有一名借款人，也可以有多名共同借款人；</a:t>
            </a:r>
          </a:p>
          <a:p xmlns:a="http://schemas.openxmlformats.org/drawingml/2006/main">
            <a:r>
              <a:t>一名客户可以没有贷款，也可以承担多笔贷款。</a:t>
            </a:r>
          </a:p>
          <a:p xmlns:a="http://schemas.openxmlformats.org/drawingml/2006/main">
            <a:r>
              <a:t>例如：</a:t>
            </a:r>
          </a:p>
          <a:p xmlns:a="http://schemas.openxmlformats.org/drawingml/2006/main">
            <a:r>
              <a:t>Loan L01 → </a:t>
            </a:r>
            <a:r>
              <a:t>张三 </a:t>
            </a:r>
            <a:r>
              <a:t>Loan L01 → </a:t>
            </a:r>
            <a:r>
              <a:t>李四 </a:t>
            </a:r>
            <a:r>
              <a:t>Loan L02 → </a:t>
            </a:r>
            <a:r>
              <a:t>张三这表示：</a:t>
            </a:r>
          </a:p>
          <a:p xmlns:a="http://schemas.openxmlformats.org/drawingml/2006/main">
            <a:r>
              <a:t>Loan L01 </a:t>
            </a:r>
            <a:r>
              <a:t>是张三和李四的共同贷款；</a:t>
            </a:r>
          </a:p>
          <a:p xmlns:a="http://schemas.openxmlformats.org/drawingml/2006/main">
            <a:r>
              <a:t>张三同时承担 </a:t>
            </a:r>
            <a:r>
              <a:t>Loan L01 </a:t>
            </a:r>
            <a:r>
              <a:t>和 </a:t>
            </a:r>
            <a:r>
              <a:t>Loan L02</a:t>
            </a:r>
            <a:r>
              <a:t>。</a:t>
            </a:r>
          </a:p>
          <a:p xmlns:a="http://schemas.openxmlformats.org/drawingml/2006/main">
            <a:r>
              <a:t>LOAN </a:t>
            </a:r>
            <a:r>
              <a:t>一侧是双线，所以不能存在没有借款人的贷款。</a:t>
            </a:r>
            <a:r>
              <a:t>CUSTOMER </a:t>
            </a:r>
            <a:r>
              <a:t>一侧是单线，所以客户没有贷款是允许的。</a:t>
            </a:r>
          </a:p>
          <a:p xmlns:a="http://schemas.openxmlformats.org/drawingml/2006/main">
            <a:r>
              <a:rPr b="1"/>
              <a:t>5. </a:t>
            </a:r>
            <a:r>
              <a:rPr b="1"/>
              <a:t>解释特殊结构：</a:t>
            </a:r>
            <a:r>
              <a:rPr b="1"/>
              <a:t>BANK_BRANCH </a:t>
            </a:r>
            <a:r>
              <a:rPr b="1"/>
              <a:t>是弱实体</a:t>
            </a:r>
          </a:p>
          <a:p xmlns:a="http://schemas.openxmlformats.org/drawingml/2006/main">
            <a:r>
              <a:t>BANK_BRANCH </a:t>
            </a:r>
            <a:r>
              <a:t>使用双矩形，说明它是弱实体。</a:t>
            </a:r>
          </a:p>
          <a:p xmlns:a="http://schemas.openxmlformats.org/drawingml/2006/main">
            <a:r>
              <a:t>它不能只依靠自己的 </a:t>
            </a:r>
            <a:r>
              <a:t>Branch_no</a:t>
            </a:r>
            <a:r>
              <a:t> </a:t>
            </a:r>
            <a:r>
              <a:t>被唯一识别。例如：</a:t>
            </a:r>
          </a:p>
          <a:p xmlns:a="http://schemas.openxmlformats.org/drawingml/2006/main">
            <a:r>
              <a:t>Bank A</a:t>
            </a:r>
            <a:r>
              <a:t>，</a:t>
            </a:r>
            <a:r>
              <a:t>Branch 001 Bank B</a:t>
            </a:r>
            <a:r>
              <a:t>，</a:t>
            </a:r>
            <a:r>
              <a:t>Branch 001</a:t>
            </a:r>
            <a:r>
              <a:t>两个分行的 </a:t>
            </a:r>
            <a:r>
              <a:t>Branch_no</a:t>
            </a:r>
            <a:r>
              <a:t> </a:t>
            </a:r>
            <a:r>
              <a:t>都是 </a:t>
            </a:r>
            <a:r>
              <a:t>001</a:t>
            </a:r>
            <a:r>
              <a:t>，所以仅凭 </a:t>
            </a:r>
            <a:r>
              <a:t>001 </a:t>
            </a:r>
            <a:r>
              <a:t>无法确定是哪一个分行。</a:t>
            </a:r>
          </a:p>
          <a:p xmlns:a="http://schemas.openxmlformats.org/drawingml/2006/main">
            <a:r>
              <a:t>必须使用：</a:t>
            </a:r>
          </a:p>
          <a:p xmlns:a="http://schemas.openxmlformats.org/drawingml/2006/main">
            <a:r>
              <a:t>(</a:t>
            </a:r>
            <a:r>
              <a:t>BANK.Code</a:t>
            </a:r>
            <a:r>
              <a:t>, </a:t>
            </a:r>
            <a:r>
              <a:t>BANK_BRANCH.Branch_no</a:t>
            </a:r>
            <a:r>
              <a:t>)</a:t>
            </a:r>
            <a:r>
              <a:t>才能唯一识别分行。</a:t>
            </a:r>
          </a:p>
          <a:p xmlns:a="http://schemas.openxmlformats.org/drawingml/2006/main">
            <a:r>
              <a:t>其中：</a:t>
            </a:r>
          </a:p>
          <a:p xmlns:a="http://schemas.openxmlformats.org/drawingml/2006/main">
            <a:r>
              <a:t>BANK.Code</a:t>
            </a:r>
            <a:r>
              <a:t>：所有者实体 </a:t>
            </a:r>
            <a:r>
              <a:t>BANK </a:t>
            </a:r>
            <a:r>
              <a:t>的主键；</a:t>
            </a:r>
          </a:p>
          <a:p xmlns:a="http://schemas.openxmlformats.org/drawingml/2006/main">
            <a:r>
              <a:t>Branch_no</a:t>
            </a:r>
            <a:r>
              <a:t>：</a:t>
            </a:r>
            <a:r>
              <a:t>BANK_BRANCH </a:t>
            </a:r>
            <a:r>
              <a:t>的部分键；</a:t>
            </a:r>
          </a:p>
          <a:p xmlns:a="http://schemas.openxmlformats.org/drawingml/2006/main">
            <a:r>
              <a:t>BRANCHES</a:t>
            </a:r>
            <a:r>
              <a:t>：识别联系，所以画成双菱形。</a:t>
            </a:r>
          </a:p>
          <a:p xmlns:a="http://schemas.openxmlformats.org/drawingml/2006/main">
            <a:r>
              <a:t>可以总结为：</a:t>
            </a:r>
          </a:p>
          <a:p xmlns:a="http://schemas.openxmlformats.org/drawingml/2006/main">
            <a:r>
              <a:t>BANK_BRANCH </a:t>
            </a:r>
            <a:r>
              <a:t>不能单独说明“我是谁”，必须结合所属银行的 </a:t>
            </a:r>
            <a:r>
              <a:t>Code </a:t>
            </a:r>
            <a:r>
              <a:t>才能被唯一识别。</a:t>
            </a:r>
          </a:p>
          <a:p xmlns:a="http://schemas.openxmlformats.org/drawingml/2006/main">
            <a:r>
              <a:t>还要注意：</a:t>
            </a:r>
            <a:r>
              <a:rPr b="1"/>
              <a:t>双线不等于弱实体。</a:t>
            </a:r>
            <a:endParaRPr/>
          </a:p>
          <a:p xmlns:a="http://schemas.openxmlformats.org/drawingml/2006/main">
            <a:r>
              <a:t>例如 </a:t>
            </a:r>
            <a:r>
              <a:t>ACCOUNT </a:t>
            </a:r>
            <a:r>
              <a:t>到 </a:t>
            </a:r>
            <a:r>
              <a:t>ACCTS </a:t>
            </a:r>
            <a:r>
              <a:t>也是双线，但 </a:t>
            </a:r>
            <a:r>
              <a:t>ACCOUNT </a:t>
            </a:r>
            <a:r>
              <a:t>不是弱实体，因为：</a:t>
            </a:r>
          </a:p>
          <a:p xmlns:a="http://schemas.openxmlformats.org/drawingml/2006/main">
            <a:r>
              <a:t>Acct_no</a:t>
            </a:r>
            <a:r>
              <a:t>本身就是完整主键，可以独立识别账户。</a:t>
            </a:r>
          </a:p>
          <a:p xmlns:a="http://schemas.openxmlformats.org/drawingml/2006/main">
            <a:r>
              <a:t>所以：</a:t>
            </a:r>
          </a:p>
          <a:p xmlns:a="http://schemas.openxmlformats.org/drawingml/2006/main">
            <a:r>
              <a:t>双线表示必须参加联系；</a:t>
            </a:r>
          </a:p>
          <a:p xmlns:a="http://schemas.openxmlformats.org/drawingml/2006/main">
            <a:r>
              <a:t>双矩形表示弱实体；</a:t>
            </a:r>
          </a:p>
          <a:p xmlns:a="http://schemas.openxmlformats.org/drawingml/2006/main">
            <a:r>
              <a:t>这两个概念不能混淆。</a:t>
            </a:r>
          </a:p>
          <a:p xmlns:a="http://schemas.openxmlformats.org/drawingml/2006/main">
            <a:r>
              <a:rPr b="1"/>
              <a:t>6. </a:t>
            </a:r>
            <a:r>
              <a:rPr b="1"/>
              <a:t>最后用问题检查学生是否理解</a:t>
            </a:r>
          </a:p>
          <a:p xmlns:a="http://schemas.openxmlformats.org/drawingml/2006/main">
            <a:r>
              <a:rPr b="1"/>
              <a:t>一家银行可以没有任何分行吗？</a:t>
            </a:r>
            <a:br/>
            <a:r>
              <a:t>不可以。</a:t>
            </a:r>
            <a:r>
              <a:t>BANK </a:t>
            </a:r>
            <a:r>
              <a:t>在 </a:t>
            </a:r>
            <a:r>
              <a:t>BRANCHES </a:t>
            </a:r>
            <a:r>
              <a:t>中完全参与，是 </a:t>
            </a:r>
            <a:r>
              <a:t>(1,N)</a:t>
            </a:r>
            <a:r>
              <a:t>。</a:t>
            </a:r>
          </a:p>
          <a:p xmlns:a="http://schemas.openxmlformats.org/drawingml/2006/main">
            <a:r>
              <a:rPr b="1"/>
              <a:t>一个分行可以同时属于两家银行吗？</a:t>
            </a:r>
            <a:br/>
            <a:r>
              <a:t>不可以。</a:t>
            </a:r>
            <a:r>
              <a:t>BANK_BRANCH </a:t>
            </a:r>
            <a:r>
              <a:t>一侧是 </a:t>
            </a:r>
            <a:r>
              <a:t>(1,1)</a:t>
            </a:r>
            <a:r>
              <a:t>。</a:t>
            </a:r>
          </a:p>
          <a:p xmlns:a="http://schemas.openxmlformats.org/drawingml/2006/main">
            <a:r>
              <a:rPr b="1"/>
              <a:t>两个不同银行可以都有 </a:t>
            </a:r>
            <a:r>
              <a:rPr b="1"/>
              <a:t>Branch 001 </a:t>
            </a:r>
            <a:r>
              <a:rPr b="1"/>
              <a:t>吗？</a:t>
            </a:r>
            <a:br/>
            <a:r>
              <a:t>可以，因为 </a:t>
            </a:r>
            <a:r>
              <a:t>Branch_no</a:t>
            </a:r>
            <a:r>
              <a:t> </a:t>
            </a:r>
            <a:r>
              <a:t>只是部分键。</a:t>
            </a:r>
          </a:p>
          <a:p xmlns:a="http://schemas.openxmlformats.org/drawingml/2006/main">
            <a:r>
              <a:rPr b="1"/>
              <a:t>一个分行可以暂时没有账户吗？</a:t>
            </a:r>
            <a:br/>
            <a:r>
              <a:t>可以。</a:t>
            </a:r>
            <a:r>
              <a:t>BANK_BRANCH </a:t>
            </a:r>
            <a:r>
              <a:t>在 </a:t>
            </a:r>
            <a:r>
              <a:t>ACCTS </a:t>
            </a:r>
            <a:r>
              <a:t>中是 </a:t>
            </a:r>
            <a:r>
              <a:t>(0,N)</a:t>
            </a:r>
            <a:r>
              <a:t>。</a:t>
            </a:r>
          </a:p>
          <a:p xmlns:a="http://schemas.openxmlformats.org/drawingml/2006/main">
            <a:r>
              <a:rPr b="1"/>
              <a:t>一个账户可以没有所属分行吗？</a:t>
            </a:r>
            <a:br/>
            <a:r>
              <a:t>不可以。</a:t>
            </a:r>
            <a:r>
              <a:t>ACCOUNT </a:t>
            </a:r>
            <a:r>
              <a:t>在 </a:t>
            </a:r>
            <a:r>
              <a:t>ACCTS </a:t>
            </a:r>
            <a:r>
              <a:t>中是 </a:t>
            </a:r>
            <a:r>
              <a:t>(1,1)</a:t>
            </a:r>
            <a:r>
              <a:t>。</a:t>
            </a:r>
          </a:p>
          <a:p xmlns:a="http://schemas.openxmlformats.org/drawingml/2006/main">
            <a:r>
              <a:rPr b="1"/>
              <a:t>一个账户可以由两名客户共同持有吗？</a:t>
            </a:r>
            <a:br/>
            <a:r>
              <a:t>可以，</a:t>
            </a:r>
            <a:r>
              <a:t>ACCOUNT </a:t>
            </a:r>
            <a:r>
              <a:t>与 </a:t>
            </a:r>
            <a:r>
              <a:t>CUSTOMER </a:t>
            </a:r>
            <a:r>
              <a:t>是多对多联系。</a:t>
            </a:r>
          </a:p>
          <a:p xmlns:a="http://schemas.openxmlformats.org/drawingml/2006/main">
            <a:r>
              <a:rPr b="1"/>
              <a:t>客户可以暂时没有账户吗？</a:t>
            </a:r>
            <a:br/>
            <a:r>
              <a:t>可以，</a:t>
            </a:r>
            <a:r>
              <a:t>CUSTOMER </a:t>
            </a:r>
            <a:r>
              <a:t>在 </a:t>
            </a:r>
            <a:r>
              <a:t>A_C </a:t>
            </a:r>
            <a:r>
              <a:t>中是 </a:t>
            </a:r>
            <a:r>
              <a:t>(0,N)</a:t>
            </a:r>
            <a:r>
              <a:t>。</a:t>
            </a:r>
          </a:p>
          <a:p xmlns:a="http://schemas.openxmlformats.org/drawingml/2006/main">
            <a:r>
              <a:rPr b="1"/>
              <a:t>一笔贷款可以有多名共同借款人吗？</a:t>
            </a:r>
            <a:br/>
            <a:r>
              <a:t>可以，</a:t>
            </a:r>
            <a:r>
              <a:t>LOAN </a:t>
            </a:r>
            <a:r>
              <a:t>与 </a:t>
            </a:r>
            <a:r>
              <a:t>CUSTOMER </a:t>
            </a:r>
            <a:r>
              <a:t>是多对多联系。</a:t>
            </a:r>
          </a:p>
          <a:p xmlns:a="http://schemas.openxmlformats.org/drawingml/2006/main">
            <a:r>
              <a:rPr b="1"/>
              <a:t>一笔贷款可以没有借款人吗？</a:t>
            </a:r>
            <a:br/>
            <a:r>
              <a:t>不可以，</a:t>
            </a:r>
            <a:r>
              <a:t>LOAN </a:t>
            </a:r>
            <a:r>
              <a:t>在 </a:t>
            </a:r>
            <a:r>
              <a:t>L_C </a:t>
            </a:r>
            <a:r>
              <a:t>中是 </a:t>
            </a:r>
            <a:r>
              <a:t>(1,N)</a:t>
            </a:r>
            <a:r>
              <a:t>。</a:t>
            </a:r>
          </a:p>
          <a:p xmlns:a="http://schemas.openxmlformats.org/drawingml/2006/main">
            <a:r>
              <a:rPr b="1"/>
              <a:t>ACCOUNT </a:t>
            </a:r>
            <a:r>
              <a:rPr b="1"/>
              <a:t>是弱实体吗？</a:t>
            </a:r>
            <a:br/>
            <a:r>
              <a:t>不是。它虽然必须属于一个分行，但可以通过 </a:t>
            </a:r>
            <a:r>
              <a:t>Acct_no</a:t>
            </a:r>
            <a:r>
              <a:t> </a:t>
            </a:r>
            <a:r>
              <a:t>独立识别。</a:t>
            </a:r>
          </a:p>
          <a:p xmlns:a="http://schemas.openxmlformats.org/drawingml/2006/main">
            <a:r>
              <a:t>最后可以用一句话收尾：</a:t>
            </a:r>
          </a:p>
          <a:p xmlns:a="http://schemas.openxmlformats.org/drawingml/2006/main">
            <a:r>
              <a:t>这张图不仅说明银行系统需要记录哪些数据，还利用弱实体表达分行对银行的识别依赖，利用单双线表达是否必须参与，并利用 </a:t>
            </a:r>
            <a:r>
              <a:t>1:N </a:t>
            </a:r>
            <a:r>
              <a:t>和 </a:t>
            </a:r>
            <a:r>
              <a:t>M:N </a:t>
            </a:r>
            <a:r>
              <a:t>表达银行、分行、账户、贷款和客户之间的数量关系。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这张图是一个“公司数据库”的完整 </a:t>
            </a:r>
            <a:r>
              <a:t>ER </a:t>
            </a:r>
            <a:r>
              <a:t>模型。建议按“符号 → 最小最大约束 → 业务关系 → 特殊结构”的顺序讲，大约需要 </a:t>
            </a:r>
            <a:r>
              <a:t>8</a:t>
            </a:r>
            <a:r>
              <a:t>～</a:t>
            </a:r>
            <a:r>
              <a:t>10 </a:t>
            </a:r>
            <a:r>
              <a:t>分钟。</a:t>
            </a:r>
          </a:p>
          <a:p xmlns:a="http://schemas.openxmlformats.org/drawingml/2006/main">
            <a:r>
              <a:rPr b="1"/>
              <a:t>1. </a:t>
            </a:r>
            <a:r>
              <a:rPr b="1"/>
              <a:t>先说明整张图表示什么</a:t>
            </a:r>
          </a:p>
          <a:p xmlns:a="http://schemas.openxmlformats.org/drawingml/2006/main">
            <a:r>
              <a:t>可以这样开场：</a:t>
            </a:r>
          </a:p>
          <a:p xmlns:a="http://schemas.openxmlformats.org/drawingml/2006/main">
            <a:r>
              <a:t>这张 </a:t>
            </a:r>
            <a:r>
              <a:t>ER </a:t>
            </a:r>
            <a:r>
              <a:t>图描述一家公司的数据结构。公司需要记录员工、部门、项目和员工家属，同时记录员工属于哪个部门、谁管理部门、部门控制哪些项目、员工参与哪些项目，以及员工之间的监督关系。</a:t>
            </a:r>
          </a:p>
          <a:p xmlns:a="http://schemas.openxmlformats.org/drawingml/2006/main">
            <a:r>
              <a:t>图中有四个主要实体：</a:t>
            </a:r>
          </a:p>
          <a:p xmlns:a="http://schemas.openxmlformats.org/drawingml/2006/main">
            <a:r>
              <a:t>EMPLOYEE</a:t>
            </a:r>
            <a:r>
              <a:t>：员工</a:t>
            </a:r>
          </a:p>
          <a:p xmlns:a="http://schemas.openxmlformats.org/drawingml/2006/main">
            <a:r>
              <a:t>DEPARTMENT</a:t>
            </a:r>
            <a:r>
              <a:t>：部门</a:t>
            </a:r>
          </a:p>
          <a:p xmlns:a="http://schemas.openxmlformats.org/drawingml/2006/main">
            <a:r>
              <a:t>PROJECT</a:t>
            </a:r>
            <a:r>
              <a:t>：项目</a:t>
            </a:r>
          </a:p>
          <a:p xmlns:a="http://schemas.openxmlformats.org/drawingml/2006/main">
            <a:r>
              <a:t>DEPENDENT</a:t>
            </a:r>
            <a:r>
              <a:t>：员工家属</a:t>
            </a:r>
          </a:p>
          <a:p xmlns:a="http://schemas.openxmlformats.org/drawingml/2006/main">
            <a:r>
              <a:rPr b="1"/>
              <a:t>2. </a:t>
            </a:r>
            <a:r>
              <a:rPr b="1"/>
              <a:t>先带学生认符号</a:t>
            </a:r>
          </a:p>
          <a:p xmlns:a="http://schemas.openxmlformats.org/drawingml/2006/main">
            <a:r>
              <a:t>矩形：实体集，例如 </a:t>
            </a:r>
            <a:r>
              <a:t>EMPLOYEE</a:t>
            </a:r>
          </a:p>
          <a:p xmlns:a="http://schemas.openxmlformats.org/drawingml/2006/main">
            <a:r>
              <a:t>菱形：联系，例如 </a:t>
            </a:r>
            <a:r>
              <a:t>WORKS_FOR</a:t>
            </a:r>
          </a:p>
          <a:p xmlns:a="http://schemas.openxmlformats.org/drawingml/2006/main">
            <a:r>
              <a:t>椭圆：属性，例如 </a:t>
            </a:r>
            <a:r>
              <a:t>Salary</a:t>
            </a:r>
          </a:p>
          <a:p xmlns:a="http://schemas.openxmlformats.org/drawingml/2006/main">
            <a:r>
              <a:t>带下划线的属性：键属性，例如员工的 </a:t>
            </a:r>
            <a:r>
              <a:t>Ssn</a:t>
            </a:r>
            <a:endParaRPr/>
          </a:p>
          <a:p xmlns:a="http://schemas.openxmlformats.org/drawingml/2006/main">
            <a:r>
              <a:t>双椭圆：多值属性，例如一个部门可以有多个 </a:t>
            </a:r>
            <a:r>
              <a:t>Locations</a:t>
            </a:r>
          </a:p>
          <a:p xmlns:a="http://schemas.openxmlformats.org/drawingml/2006/main">
            <a:r>
              <a:t>虚线椭圆：派生属性，例如 </a:t>
            </a:r>
            <a:r>
              <a:t>Number_of_employees</a:t>
            </a:r>
            <a:endParaRPr/>
          </a:p>
          <a:p xmlns:a="http://schemas.openxmlformats.org/drawingml/2006/main">
            <a:r>
              <a:t>双矩形：弱实体，例如 </a:t>
            </a:r>
            <a:r>
              <a:t>DEPENDENT</a:t>
            </a:r>
          </a:p>
          <a:p xmlns:a="http://schemas.openxmlformats.org/drawingml/2006/main">
            <a:r>
              <a:t>双菱形：识别弱实体的联系，例如 </a:t>
            </a:r>
            <a:r>
              <a:t>DEPENDENTS_OF</a:t>
            </a:r>
          </a:p>
          <a:p xmlns:a="http://schemas.openxmlformats.org/drawingml/2006/main">
            <a:r>
              <a:t>员工的 </a:t>
            </a:r>
            <a:r>
              <a:t>Name </a:t>
            </a:r>
            <a:r>
              <a:t>是复合属性，可以继续分成：</a:t>
            </a:r>
          </a:p>
          <a:p xmlns:a="http://schemas.openxmlformats.org/drawingml/2006/main">
            <a:r>
              <a:t>Fname</a:t>
            </a:r>
            <a:r>
              <a:t>：名 </a:t>
            </a:r>
            <a:r>
              <a:t>Minit</a:t>
            </a:r>
            <a:r>
              <a:t>：中间名首字母 </a:t>
            </a:r>
            <a:r>
              <a:t>Lname</a:t>
            </a:r>
            <a:r>
              <a:t>：姓部门的 </a:t>
            </a:r>
            <a:r>
              <a:t>Number_of_employees</a:t>
            </a:r>
            <a:r>
              <a:t> </a:t>
            </a:r>
            <a:r>
              <a:t>是派生属性，因为可以通过统计该部门的员工数量计算出来，不一定需要单独保存。</a:t>
            </a:r>
          </a:p>
          <a:p xmlns:a="http://schemas.openxmlformats.org/drawingml/2006/main">
            <a:r>
              <a:rPr b="1"/>
              <a:t>3. </a:t>
            </a:r>
            <a:r>
              <a:rPr b="1"/>
              <a:t>解释 </a:t>
            </a:r>
            <a:r>
              <a:rPr b="1"/>
              <a:t>(min, max)</a:t>
            </a:r>
          </a:p>
          <a:p xmlns:a="http://schemas.openxmlformats.org/drawingml/2006/main">
            <a:r>
              <a:t>(</a:t>
            </a:r>
            <a:r>
              <a:t>min,max</a:t>
            </a:r>
            <a:r>
              <a:t>) </a:t>
            </a:r>
            <a:r>
              <a:t>表示一个实体最少和最多可以参与多少次联系：</a:t>
            </a:r>
          </a:p>
          <a:p xmlns:a="http://schemas.openxmlformats.org/drawingml/2006/main">
            <a:r>
              <a:t>(0,1)</a:t>
            </a:r>
            <a:r>
              <a:t>：可以不参加，最多参加一次</a:t>
            </a:r>
          </a:p>
          <a:p xmlns:a="http://schemas.openxmlformats.org/drawingml/2006/main">
            <a:r>
              <a:t>(1,1)</a:t>
            </a:r>
            <a:r>
              <a:t>：必须参加，而且只能参加一次</a:t>
            </a:r>
          </a:p>
          <a:p xmlns:a="http://schemas.openxmlformats.org/drawingml/2006/main">
            <a:r>
              <a:t>(0,N)</a:t>
            </a:r>
            <a:r>
              <a:t>：可以不参加，也可以参加多次</a:t>
            </a:r>
          </a:p>
          <a:p xmlns:a="http://schemas.openxmlformats.org/drawingml/2006/main">
            <a:r>
              <a:t>(1,N)</a:t>
            </a:r>
            <a:r>
              <a:t>：至少参加一次，可以参加多次</a:t>
            </a:r>
          </a:p>
          <a:p xmlns:a="http://schemas.openxmlformats.org/drawingml/2006/main">
            <a:r>
              <a:t>(4,N)</a:t>
            </a:r>
            <a:r>
              <a:t>：至少参加四次，可以更多</a:t>
            </a:r>
          </a:p>
          <a:p xmlns:a="http://schemas.openxmlformats.org/drawingml/2006/main">
            <a:r>
              <a:rPr b="1"/>
              <a:t>4. </a:t>
            </a:r>
            <a:r>
              <a:rPr b="1"/>
              <a:t>逐条讲解关系</a:t>
            </a:r>
          </a:p>
          <a:p xmlns:a="http://schemas.openxmlformats.org/drawingml/2006/main">
            <a:r>
              <a:t>联系业务含义</a:t>
            </a:r>
            <a:endParaRPr/>
          </a:p>
          <a:p xmlns:a="http://schemas.openxmlformats.org/drawingml/2006/main">
            <a:r>
              <a:t>WORKS_FOR</a:t>
            </a:r>
            <a:r>
              <a:t>员工在哪个部门工作</a:t>
            </a:r>
            <a:endParaRPr/>
          </a:p>
          <a:p xmlns:a="http://schemas.openxmlformats.org/drawingml/2006/main">
            <a:r>
              <a:t>MANAGES</a:t>
            </a:r>
            <a:r>
              <a:t>哪名员工管理哪个部门</a:t>
            </a:r>
            <a:endParaRPr/>
          </a:p>
          <a:p xmlns:a="http://schemas.openxmlformats.org/drawingml/2006/main">
            <a:r>
              <a:t>CONTROLS</a:t>
            </a:r>
            <a:r>
              <a:t>部门控制哪些项目</a:t>
            </a:r>
            <a:endParaRPr/>
          </a:p>
          <a:p xmlns:a="http://schemas.openxmlformats.org/drawingml/2006/main">
            <a:r>
              <a:t>WORKS_ON</a:t>
            </a:r>
            <a:r>
              <a:t>员工参与哪些项目</a:t>
            </a:r>
            <a:endParaRPr/>
          </a:p>
          <a:p xmlns:a="http://schemas.openxmlformats.org/drawingml/2006/main">
            <a:r>
              <a:t>SUPERVISION</a:t>
            </a:r>
            <a:r>
              <a:t>员工之间的监督关系</a:t>
            </a:r>
            <a:endParaRPr/>
          </a:p>
          <a:p xmlns:a="http://schemas.openxmlformats.org/drawingml/2006/main">
            <a:r>
              <a:t>DEPENDENTS_OF</a:t>
            </a:r>
            <a:r>
              <a:t>员工拥有哪些家属</a:t>
            </a:r>
          </a:p>
          <a:p xmlns:a="http://schemas.openxmlformats.org/drawingml/2006/main">
            <a:r>
              <a:rPr b="1"/>
              <a:t>WORKS_FOR</a:t>
            </a:r>
            <a:r>
              <a:rPr b="1"/>
              <a:t>：员工属于部门</a:t>
            </a:r>
          </a:p>
          <a:p xmlns:a="http://schemas.openxmlformats.org/drawingml/2006/main">
            <a:r>
              <a:t>员工一侧是 </a:t>
            </a:r>
            <a:r>
              <a:t>(1,1)</a:t>
            </a:r>
            <a:r>
              <a:t>，部门一侧是 </a:t>
            </a:r>
            <a:r>
              <a:t>(4,N)</a:t>
            </a:r>
            <a:r>
              <a:t>：</a:t>
            </a:r>
          </a:p>
          <a:p xmlns:a="http://schemas.openxmlformats.org/drawingml/2006/main">
            <a:r>
              <a:t>每名员工必须属于一个部门，而且只能属于一个部门。每个部门至少有四名员工，可以有更多员工。</a:t>
            </a:r>
          </a:p>
          <a:p xmlns:a="http://schemas.openxmlformats.org/drawingml/2006/main">
            <a:r>
              <a:t>例如：</a:t>
            </a:r>
          </a:p>
          <a:p xmlns:a="http://schemas.openxmlformats.org/drawingml/2006/main">
            <a:r>
              <a:t>Peter → Computing Department Mary → Computing Department</a:t>
            </a:r>
            <a:r>
              <a:t>但是 </a:t>
            </a:r>
            <a:r>
              <a:t>Peter </a:t>
            </a:r>
            <a:r>
              <a:t>不能同时属于两个部门。</a:t>
            </a:r>
          </a:p>
          <a:p xmlns:a="http://schemas.openxmlformats.org/drawingml/2006/main">
            <a:r>
              <a:rPr b="1"/>
              <a:t>MANAGES</a:t>
            </a:r>
            <a:r>
              <a:rPr b="1"/>
              <a:t>：员工管理部门</a:t>
            </a:r>
          </a:p>
          <a:p xmlns:a="http://schemas.openxmlformats.org/drawingml/2006/main">
            <a:r>
              <a:t>员工一侧是 </a:t>
            </a:r>
            <a:r>
              <a:t>(0,1)</a:t>
            </a:r>
            <a:r>
              <a:t>，部门一侧是 </a:t>
            </a:r>
            <a:r>
              <a:t>(1,1)</a:t>
            </a:r>
            <a:r>
              <a:t>：</a:t>
            </a:r>
          </a:p>
          <a:p xmlns:a="http://schemas.openxmlformats.org/drawingml/2006/main">
            <a:r>
              <a:t>一名员工可以不管理任何部门，最多只能管理一个部门；每个部门必须有且只有一名经理。</a:t>
            </a:r>
          </a:p>
          <a:p xmlns:a="http://schemas.openxmlformats.org/drawingml/2006/main">
            <a:r>
              <a:t>Start_date</a:t>
            </a:r>
            <a:r>
              <a:t> </a:t>
            </a:r>
            <a:r>
              <a:t>是 </a:t>
            </a:r>
            <a:r>
              <a:t>MANAGES </a:t>
            </a:r>
            <a:r>
              <a:t>的联系属性，因为它描述的是“某员工从什么时候开始管理某部门”，既不单独属于员工，也不单独属于部门。</a:t>
            </a:r>
          </a:p>
          <a:p xmlns:a="http://schemas.openxmlformats.org/drawingml/2006/main">
            <a:r>
              <a:rPr b="1"/>
              <a:t>CONTROLS</a:t>
            </a:r>
            <a:r>
              <a:rPr b="1"/>
              <a:t>：部门控制项目</a:t>
            </a:r>
          </a:p>
          <a:p xmlns:a="http://schemas.openxmlformats.org/drawingml/2006/main">
            <a:r>
              <a:t>部门一侧是 </a:t>
            </a:r>
            <a:r>
              <a:t>(0,N)</a:t>
            </a:r>
            <a:r>
              <a:t>，项目一侧是 </a:t>
            </a:r>
            <a:r>
              <a:t>(1,1)</a:t>
            </a:r>
            <a:r>
              <a:t>：</a:t>
            </a:r>
          </a:p>
          <a:p xmlns:a="http://schemas.openxmlformats.org/drawingml/2006/main">
            <a:r>
              <a:t>一个部门可以暂时没有项目，也可以控制多个项目；每个项目必须由一个并且只能由一个部门控制。</a:t>
            </a:r>
          </a:p>
          <a:p xmlns:a="http://schemas.openxmlformats.org/drawingml/2006/main">
            <a:r>
              <a:t>所以没有项目的部门是允许的，但没有负责部门的项目不允许存在。</a:t>
            </a:r>
          </a:p>
          <a:p xmlns:a="http://schemas.openxmlformats.org/drawingml/2006/main">
            <a:r>
              <a:rPr b="1"/>
              <a:t>WORKS_ON</a:t>
            </a:r>
            <a:r>
              <a:rPr b="1"/>
              <a:t>：员工参与项目</a:t>
            </a:r>
          </a:p>
          <a:p xmlns:a="http://schemas.openxmlformats.org/drawingml/2006/main">
            <a:r>
              <a:t>两侧都是 </a:t>
            </a:r>
            <a:r>
              <a:t>(1,N)</a:t>
            </a:r>
            <a:r>
              <a:t>：</a:t>
            </a:r>
          </a:p>
          <a:p xmlns:a="http://schemas.openxmlformats.org/drawingml/2006/main">
            <a:r>
              <a:t>每名员工至少参与一个项目，也可以参与多个项目；每个项目至少有一名员工，也可以有多名员工。</a:t>
            </a:r>
          </a:p>
          <a:p xmlns:a="http://schemas.openxmlformats.org/drawingml/2006/main">
            <a:r>
              <a:t>这是一个多对多联系。</a:t>
            </a:r>
          </a:p>
          <a:p xmlns:a="http://schemas.openxmlformats.org/drawingml/2006/main">
            <a:r>
              <a:t>Hours </a:t>
            </a:r>
            <a:r>
              <a:t>是联系属性，表示某名员工在某个项目上工作的小时数。例如：</a:t>
            </a:r>
          </a:p>
          <a:p xmlns:a="http://schemas.openxmlformats.org/drawingml/2006/main">
            <a:r>
              <a:t>Peter </a:t>
            </a:r>
            <a:r>
              <a:t>在 </a:t>
            </a:r>
            <a:r>
              <a:t>Project A </a:t>
            </a:r>
            <a:r>
              <a:t>工作 </a:t>
            </a:r>
            <a:r>
              <a:t>10 </a:t>
            </a:r>
            <a:r>
              <a:t>小时 </a:t>
            </a:r>
            <a:r>
              <a:t>Peter </a:t>
            </a:r>
            <a:r>
              <a:t>在 </a:t>
            </a:r>
            <a:r>
              <a:t>Project B </a:t>
            </a:r>
            <a:r>
              <a:t>工作 </a:t>
            </a:r>
            <a:r>
              <a:t>5 </a:t>
            </a:r>
            <a:r>
              <a:t>小时所以 </a:t>
            </a:r>
            <a:r>
              <a:t>Hours </a:t>
            </a:r>
            <a:r>
              <a:t>依赖于“员工＋项目”的组合，不能只放在 </a:t>
            </a:r>
            <a:r>
              <a:t>EMPLOYEE </a:t>
            </a:r>
            <a:r>
              <a:t>或 </a:t>
            </a:r>
            <a:r>
              <a:t>PROJECT </a:t>
            </a:r>
            <a:r>
              <a:t>中。</a:t>
            </a:r>
          </a:p>
          <a:p xmlns:a="http://schemas.openxmlformats.org/drawingml/2006/main">
            <a:r>
              <a:rPr b="1"/>
              <a:t>SUPERVISION</a:t>
            </a:r>
            <a:r>
              <a:rPr b="1"/>
              <a:t>：员工监督员工</a:t>
            </a:r>
          </a:p>
          <a:p xmlns:a="http://schemas.openxmlformats.org/drawingml/2006/main">
            <a:r>
              <a:t>这是递归联系，因为 </a:t>
            </a:r>
            <a:r>
              <a:t>EMPLOYEE </a:t>
            </a:r>
            <a:r>
              <a:t>实体集与自己发生联系。</a:t>
            </a:r>
          </a:p>
          <a:p xmlns:a="http://schemas.openxmlformats.org/drawingml/2006/main">
            <a:r>
              <a:t>角色名用于区分两端：</a:t>
            </a:r>
          </a:p>
          <a:p xmlns:a="http://schemas.openxmlformats.org/drawingml/2006/main">
            <a:r>
              <a:t>Supervisor</a:t>
            </a:r>
            <a:r>
              <a:t>：主管</a:t>
            </a:r>
          </a:p>
          <a:p xmlns:a="http://schemas.openxmlformats.org/drawingml/2006/main">
            <a:r>
              <a:t>Supervisee</a:t>
            </a:r>
            <a:r>
              <a:t>：被监督者</a:t>
            </a:r>
          </a:p>
          <a:p xmlns:a="http://schemas.openxmlformats.org/drawingml/2006/main">
            <a:r>
              <a:t>图中的约束表示：</a:t>
            </a:r>
          </a:p>
          <a:p xmlns:a="http://schemas.openxmlformats.org/drawingml/2006/main">
            <a:r>
              <a:t>一名员工可以监督零到多名员工；一名员工可以没有主管，但最多只有一名主管。</a:t>
            </a:r>
          </a:p>
          <a:p xmlns:a="http://schemas.openxmlformats.org/drawingml/2006/main">
            <a:r>
              <a:t>例如：</a:t>
            </a:r>
          </a:p>
          <a:p xmlns:a="http://schemas.openxmlformats.org/drawingml/2006/main">
            <a:r>
              <a:t>Alice </a:t>
            </a:r>
            <a:r>
              <a:t>监督 </a:t>
            </a:r>
            <a:r>
              <a:t>Bob Alice </a:t>
            </a:r>
            <a:r>
              <a:t>监督 </a:t>
            </a:r>
            <a:r>
              <a:t>Mary Bob </a:t>
            </a:r>
            <a:r>
              <a:t>被 </a:t>
            </a:r>
            <a:r>
              <a:t>Alice </a:t>
            </a:r>
            <a:r>
              <a:t>监督这里如果没有角色名，只看到 </a:t>
            </a:r>
            <a:r>
              <a:t>EMPLOYEE </a:t>
            </a:r>
            <a:r>
              <a:t>与 </a:t>
            </a:r>
            <a:r>
              <a:t>EMPLOYEE </a:t>
            </a:r>
            <a:r>
              <a:t>相连，就不知道哪一端是主管。</a:t>
            </a:r>
          </a:p>
          <a:p xmlns:a="http://schemas.openxmlformats.org/drawingml/2006/main">
            <a:r>
              <a:rPr b="1"/>
              <a:t>DEPENDENTS_OF</a:t>
            </a:r>
            <a:r>
              <a:rPr b="1"/>
              <a:t>：员工与家属</a:t>
            </a:r>
          </a:p>
          <a:p xmlns:a="http://schemas.openxmlformats.org/drawingml/2006/main">
            <a:r>
              <a:t>员工一侧是 </a:t>
            </a:r>
            <a:r>
              <a:t>(0,N)</a:t>
            </a:r>
            <a:r>
              <a:t>，家属一侧是 </a:t>
            </a:r>
            <a:r>
              <a:t>(1,1)</a:t>
            </a:r>
            <a:r>
              <a:t>：</a:t>
            </a:r>
          </a:p>
          <a:p xmlns:a="http://schemas.openxmlformats.org/drawingml/2006/main">
            <a:r>
              <a:t>一名员工可以没有家属，也可以有多个家属；每个家属必须属于一名并且只能属于一名员工。</a:t>
            </a:r>
          </a:p>
          <a:p xmlns:a="http://schemas.openxmlformats.org/drawingml/2006/main">
            <a:r>
              <a:t>DEPENDENT </a:t>
            </a:r>
            <a:r>
              <a:t>使用双矩形，表示它是弱实体。它不能只凭自己的属性被唯一识别，而要依赖员工。</a:t>
            </a:r>
          </a:p>
          <a:p xmlns:a="http://schemas.openxmlformats.org/drawingml/2006/main">
            <a:r>
              <a:t>例如两个员工的家属都可能叫 </a:t>
            </a:r>
            <a:r>
              <a:t>Tom</a:t>
            </a:r>
            <a:r>
              <a:t>，因此家属的完整标识可以是：</a:t>
            </a:r>
          </a:p>
          <a:p xmlns:a="http://schemas.openxmlformats.org/drawingml/2006/main">
            <a:r>
              <a:t>(</a:t>
            </a:r>
            <a:r>
              <a:t>Employee.Ssn</a:t>
            </a:r>
            <a:r>
              <a:t>, </a:t>
            </a:r>
            <a:r>
              <a:t>Dependent.Name</a:t>
            </a:r>
            <a:r>
              <a:t>)</a:t>
            </a:r>
            <a:r>
              <a:t>其中 </a:t>
            </a:r>
            <a:r>
              <a:t>Dependent.Name</a:t>
            </a:r>
            <a:r>
              <a:t> </a:t>
            </a:r>
            <a:r>
              <a:t>是部分键，员工的 </a:t>
            </a:r>
            <a:r>
              <a:t>Ssn</a:t>
            </a:r>
            <a:r>
              <a:t> </a:t>
            </a:r>
            <a:r>
              <a:t>加上家属姓名才能唯一识别一个家属。</a:t>
            </a:r>
          </a:p>
          <a:p xmlns:a="http://schemas.openxmlformats.org/drawingml/2006/main">
            <a:r>
              <a:rPr b="1"/>
              <a:t>5. </a:t>
            </a:r>
            <a:r>
              <a:rPr b="1"/>
              <a:t>最后用问题检查学生是否理解</a:t>
            </a:r>
          </a:p>
          <a:p xmlns:a="http://schemas.openxmlformats.org/drawingml/2006/main">
            <a:r>
              <a:t>可以依次问：</a:t>
            </a:r>
          </a:p>
          <a:p xmlns:a="http://schemas.openxmlformats.org/drawingml/2006/main">
            <a:r>
              <a:t>一个部门只有三名员工，符合图中的约束吗？</a:t>
            </a:r>
            <a:br/>
            <a:r>
              <a:t>不符合，因为 </a:t>
            </a:r>
            <a:r>
              <a:t>WORKS_FOR </a:t>
            </a:r>
            <a:r>
              <a:t>的部门一侧是 </a:t>
            </a:r>
            <a:r>
              <a:t>(4,N)</a:t>
            </a:r>
            <a:r>
              <a:t>。</a:t>
            </a:r>
          </a:p>
          <a:p xmlns:a="http://schemas.openxmlformats.org/drawingml/2006/main">
            <a:r>
              <a:t>一名员工可以同时属于两个部门吗？</a:t>
            </a:r>
            <a:br/>
            <a:r>
              <a:t>不可以，员工一侧是 </a:t>
            </a:r>
            <a:r>
              <a:t>(1,1)</a:t>
            </a:r>
            <a:r>
              <a:t>。</a:t>
            </a:r>
          </a:p>
          <a:p xmlns:a="http://schemas.openxmlformats.org/drawingml/2006/main">
            <a:r>
              <a:t>一个部门可以暂时没有项目吗？</a:t>
            </a:r>
            <a:br/>
            <a:r>
              <a:t>可以，部门在 </a:t>
            </a:r>
            <a:r>
              <a:t>CONTROLS </a:t>
            </a:r>
            <a:r>
              <a:t>中是 </a:t>
            </a:r>
            <a:r>
              <a:t>(0,N)</a:t>
            </a:r>
            <a:r>
              <a:t>。</a:t>
            </a:r>
          </a:p>
          <a:p xmlns:a="http://schemas.openxmlformats.org/drawingml/2006/main">
            <a:r>
              <a:t>一个项目可以没有负责部门吗？</a:t>
            </a:r>
            <a:br/>
            <a:r>
              <a:t>不可以，项目一侧是 </a:t>
            </a:r>
            <a:r>
              <a:t>(1,1)</a:t>
            </a:r>
            <a:r>
              <a:t>。</a:t>
            </a:r>
          </a:p>
          <a:p xmlns:a="http://schemas.openxmlformats.org/drawingml/2006/main">
            <a:r>
              <a:t>一名员工可以管理两个部门吗？</a:t>
            </a:r>
            <a:br/>
            <a:r>
              <a:t>不可以，经理一侧是 </a:t>
            </a:r>
            <a:r>
              <a:t>(0,1)</a:t>
            </a:r>
            <a:r>
              <a:t>。</a:t>
            </a:r>
          </a:p>
          <a:p xmlns:a="http://schemas.openxmlformats.org/drawingml/2006/main">
            <a:r>
              <a:t>家属可以脱离员工独立存在吗？</a:t>
            </a:r>
            <a:br/>
            <a:r>
              <a:t>不可以，</a:t>
            </a:r>
            <a:r>
              <a:t>DEPENDENT </a:t>
            </a:r>
            <a:r>
              <a:t>是弱实体，必须通过 </a:t>
            </a:r>
            <a:r>
              <a:t>DEPENDENTS_OF </a:t>
            </a:r>
            <a:r>
              <a:t>依赖员工存在。</a:t>
            </a:r>
          </a:p>
          <a:p xmlns:a="http://schemas.openxmlformats.org/drawingml/2006/main">
            <a:r>
              <a:t>最后可以用一句话收尾：</a:t>
            </a:r>
          </a:p>
          <a:p xmlns:a="http://schemas.openxmlformats.org/drawingml/2006/main">
            <a:r>
              <a:t>这张图不仅说明公司里有哪些数据，还利用角色名解决“谁扮演什么角色”的问题，并利用 </a:t>
            </a:r>
            <a:r>
              <a:t>(</a:t>
            </a:r>
            <a:r>
              <a:t>min,max</a:t>
            </a:r>
            <a:r>
              <a:t>) </a:t>
            </a:r>
            <a:r>
              <a:t>精确表达每一条业务规则。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今天的 ER 部分可以归纳为三点：它用少量直观符号表达实体、属性和联系；它把现实世界的关系放在模型中心；它能明确表示键、基数和参与约束。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ER 图不是最终数据库，而是概念设计。下一步要把实体和联系映射为关系表，之后才能通过 SQL 存取。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建议用时：2 分钟。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讲解提示：总结 ER 模型为什么直观、以联系为中心，并适合随后映射成关系表。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用户提供的原始课件，第 48 页（保留内容并将讲稿改写为中文）。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先预览 ER 到关系模型的基本映射：实体类型通常变成表，键属性变成主键；一对多联系通常把外键放在“多”的一侧；多对多联系需要建立桥接表；联系属性成为桥接表的列。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例如学生与课程之间的 Takes 可以变成 ENROLMENT(student_id, course_code, grade)。这里只建立直觉，完整映射规则会在后续课程展开。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建议用时：2 分钟。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讲解提示：用 ENROLMENT 把前面的 Takes 联系连接到桥接表，不展开完整的关系设计课程。</a:t>
            </a:r>
          </a:p>
          <a:p xmlns:a="http://schemas.openxmlformats.org/drawingml/2006/main"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用户提供的原始课件（用于视觉版式与核心术语）。</a:t>
            </a:r>
          </a:p>
          <a:p xmlns:a="http://schemas.openxmlformats.org/drawingml/2006/main">
            <a:r>
              <a:t>- R. Elmasri 与 S. Navathe，《数据库系统基础》（Fundamentals of Database Systems），第5版或更新版本。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快速识别键：STUDENT 的主键是 student_id；COURSE 的主键是 course_code；ENROLMENT 的主键通常是 (student_id, course_code) 复合键，并且这两列同时分别是指向 STUDENT 和 COURSE 的外键。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查询“谁修读 COMP5111”时，从 COURSE 或课程代码条件进入 ENROLMENT，再沿 student_id 连接 STUDENT。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建议用时：1 分钟。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讲解提示：检查主键、复合键和外键，并让学生口头追踪连接路径。</a:t>
            </a:r>
          </a:p>
          <a:p xmlns:a="http://schemas.openxmlformats.org/drawingml/2006/main"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用户提供的原始课件（用于视觉版式与核心术语）。</a:t>
            </a:r>
          </a:p>
          <a:p xmlns:a="http://schemas.openxmlformats.org/drawingml/2006/main">
            <a:r>
              <a:t>- R. Elmasri 与 S. Navathe，《数据库系统基础》（Fundamentals of Database Systems），第5版或更新版本。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最后用十分钟完成退出题。先独立写两分钟：用自己的话说明数据库和 DBMS 的区别；说明模式与实例的区别；给出一个可以用 ER 模型表示的应用，并写下一个仍不清楚的问题。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然后与旁边同学比较答案。教师邀请几位学生分享，并收集一个最有代表性的问题作为下一讲的开场。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今天的核心结论是：数据库保存持久且相关的数据，DBMS 负责管理这些数据；模式是设计，实例是当前状态；ER 建模让实体、联系、键和约束变得明确。</a:t>
            </a: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建议用时：10 分钟。</a:t>
            </a:r>
          </a:p>
          <a:p xmlns:a="http://schemas.openxmlformats.org/drawingml/2006/main"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r>
              <a:t>讲解提示：学生先写两分钟，再与同伴比较；最后收集一个问题，为下一讲建立衔接。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用户提供的原始课件（用于视觉版式与核心术语）。</a:t>
            </a:r>
          </a:p>
          <a:p xmlns:a="http://schemas.openxmlformats.org/drawingml/2006/main">
            <a:r>
              <a:t>- R. Elmasri 与 S. Navathe，《数据库系统基础》（Fundamentals of Database Systems），第5版或更新版本。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1c2a7adeb84f5b" /></Relationships>
</file>

<file path=ppt/slideLayouts/slideLayout1.xml><?xml version="1.0" encoding="utf-8"?>
<p:sldLayout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../theme/theme1.xml" Id="R8b856248c7d14251" /><Relationship Type="http://schemas.openxmlformats.org/officeDocument/2006/relationships/slideLayout" Target="/ppt/slideLayouts/slideLayout1.xml" Id="R4abc92b21d2948fd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30EB8AE3-620B-4108-9883-FF4E118CD9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7040" y="166320"/>
            <a:ext cx="8381880" cy="131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360" tIns="44280" rIns="90360" bIns="44280" anchor="b">
            <a:noAutofit/>
          </a:bodyPr>
          <a:lstStyle xmlns:a="http://schemas.openxmlformats.org/drawingml/2006/main">
            <a:lvl1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600" b="1" i="1" u="none">
                <a:solidFill>
                  <a:srgbClr val="FF003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3600" b="1" i="1" u="none">
                <a:solidFill>
                  <a:srgbClr val="FF0033"/>
                </a:solidFill>
                <a:latin typeface="Arial"/>
                <a:ea typeface="Arial"/>
                <a:cs typeface="Arial"/>
              </a:rPr>
              <a:t>Click to edit the title text format</a:t>
            </a:r>
          </a:p>
        </p:txBody>
      </p:sp>
      <p:sp>
        <p:nvSpPr>
          <p:cNvPr id="3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EB655A00-3CAB-41E6-A85C-3FAB19F8E91E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560160" y="1785600"/>
            <a:ext cx="8153280" cy="461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360" tIns="44280" rIns="90360" bIns="44280" anchor="t">
            <a:normAutofit/>
          </a:bodyPr>
          <a:lstStyle xmlns:a="http://schemas.openxmlformats.org/drawingml/2006/main">
            <a:lvl1pPr algn="l">
              <a:spcBef>
                <a:spcPts val="601"/>
              </a:spcBef>
              <a:buClr>
                <a:srgbClr val="FF0033"/>
              </a:buClr>
              <a:buSzPct val="75000"/>
              <a:buFont typeface="Zapf Dingbat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0" u="none">
                <a:solidFill>
                  <a:srgbClr val="3333CC"/>
                </a:solidFill>
                <a:latin typeface="Arial"/>
                <a:ea typeface="Arial"/>
                <a:cs typeface="Arial"/>
              </a:defRPr>
            </a:lvl1pPr>
            <a:lvl2pPr algn="l">
              <a:spcBef>
                <a:spcPts val="601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0" u="none">
                <a:solidFill>
                  <a:srgbClr val="3333CC"/>
                </a:solidFill>
                <a:latin typeface="Arial"/>
                <a:ea typeface="Arial"/>
                <a:cs typeface="Arial"/>
              </a:defRPr>
            </a:lvl2pPr>
            <a:lvl3pPr algn="l">
              <a:spcBef>
                <a:spcPts val="601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0" u="none">
                <a:solidFill>
                  <a:srgbClr val="3333CC"/>
                </a:solidFill>
                <a:latin typeface="Arial"/>
                <a:ea typeface="Arial"/>
                <a:cs typeface="Arial"/>
              </a:defRPr>
            </a:lvl3pPr>
            <a:lvl4pPr algn="l">
              <a:spcBef>
                <a:spcPts val="601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0" u="none">
                <a:solidFill>
                  <a:srgbClr val="3333CC"/>
                </a:solidFill>
                <a:latin typeface="Arial"/>
                <a:ea typeface="Arial"/>
                <a:cs typeface="Arial"/>
              </a:defRPr>
            </a:lvl4pPr>
            <a:lvl5pPr algn="l">
              <a:spcBef>
                <a:spcPts val="601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0" u="none">
                <a:solidFill>
                  <a:srgbClr val="3333CC"/>
                </a:solidFill>
                <a:latin typeface="Arial"/>
                <a:ea typeface="Arial"/>
                <a:cs typeface="Arial"/>
              </a:defRPr>
            </a:lvl5pPr>
            <a:lvl6pPr algn="l">
              <a:spcBef>
                <a:spcPts val="601"/>
              </a:spcBef>
              <a:buClr>
                <a:srgbClr val="000000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0" u="none">
                <a:solidFill>
                  <a:srgbClr val="3333CC"/>
                </a:solidFill>
                <a:latin typeface="Arial"/>
                <a:ea typeface="Arial"/>
                <a:cs typeface="Arial"/>
              </a:defRPr>
            </a:lvl6pPr>
            <a:lvl7pPr algn="l">
              <a:spcBef>
                <a:spcPts val="601"/>
              </a:spcBef>
              <a:buClr>
                <a:srgbClr val="000000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0" u="none">
                <a:solidFill>
                  <a:srgbClr val="3333CC"/>
                </a:solidFill>
                <a:latin typeface="Arial"/>
                <a:ea typeface="Arial"/>
                <a:cs typeface="Arial"/>
              </a:defRPr>
            </a:lvl7pPr>
          </a:lstStyle>
          <a:p xmlns:a="http://schemas.openxmlformats.org/drawingml/2006/main">
            <a:pPr marL="343080" indent="-343080" algn="l">
              <a:spcBef>
                <a:spcPts val="601"/>
              </a:spcBef>
              <a:buClr>
                <a:srgbClr val="FF0033"/>
              </a:buClr>
              <a:buSzPct val="75000"/>
              <a:buFont typeface="Zapf Dingbat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Click to edit the outline text format</a:t>
            </a:r>
          </a:p>
          <a:p xmlns:a="http://schemas.openxmlformats.org/drawingml/2006/main">
            <a:pPr marL="743040" lvl="1" indent="-285840" algn="l">
              <a:spcBef>
                <a:spcPts val="601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Second Outline Level</a:t>
            </a:r>
          </a:p>
          <a:p xmlns:a="http://schemas.openxmlformats.org/drawingml/2006/main">
            <a:pPr marL="1143000" lvl="2" indent="-228600" algn="l">
              <a:spcBef>
                <a:spcPts val="601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Third Outline Level</a:t>
            </a:r>
          </a:p>
          <a:p xmlns:a="http://schemas.openxmlformats.org/drawingml/2006/main">
            <a:pPr marL="1600200" lvl="3" indent="-228600" algn="l">
              <a:spcBef>
                <a:spcPts val="601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Fourth Outline Level</a:t>
            </a:r>
          </a:p>
          <a:p xmlns:a="http://schemas.openxmlformats.org/drawingml/2006/main">
            <a:pPr marL="2057400" lvl="4" indent="-228600" algn="l">
              <a:spcBef>
                <a:spcPts val="601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Fifth Outline Level</a:t>
            </a:r>
          </a:p>
          <a:p xmlns:a="http://schemas.openxmlformats.org/drawingml/2006/main">
            <a:pPr marL="2057400" lvl="5" indent="-228600" algn="l">
              <a:spcBef>
                <a:spcPts val="601"/>
              </a:spcBef>
              <a:buClr>
                <a:srgbClr val="000000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Sixth Outline Level</a:t>
            </a:r>
          </a:p>
          <a:p xmlns:a="http://schemas.openxmlformats.org/drawingml/2006/main">
            <a:pPr marL="2057400" lvl="6" indent="-228600" algn="l">
              <a:spcBef>
                <a:spcPts val="601"/>
              </a:spcBef>
              <a:buClr>
                <a:srgbClr val="000000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Seventh Outline Level</a:t>
            </a:r>
          </a:p>
        </p:txBody>
      </p:sp>
      <p:sp>
        <p:nvSpPr>
          <p:cNvPr id="4" name="Line 5">
            <a:extLst xmlns:a="http://schemas.openxmlformats.org/drawingml/2006/main">
              <a:ext uri="{FF2B5EF4-FFF2-40B4-BE49-F238E27FC236}">
                <a16:creationId xmlns:a16="http://schemas.microsoft.com/office/drawing/2014/main" id="{30CC187B-00C9-4920-ACC0-E00D1F1A2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000" y="1498320"/>
            <a:ext cx="8298000" cy="0"/>
          </a:xfrm>
          <a:prstGeom xmlns:a="http://schemas.openxmlformats.org/drawingml/2006/main" prst="line">
            <a:avLst/>
          </a:prstGeom>
          <a:ln xmlns:a="http://schemas.openxmlformats.org/drawingml/2006/main" w="50760">
            <a:solidFill>
              <a:srgbClr val="FFFFFF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6800" rIns="90000" bIns="-46800" anchor="ctr">
            <a:noAutofit/>
          </a:bodyPr>
          <a:lstStyle xmlns:a="http://schemas.openxmlformats.org/drawingml/2006/main"/>
          <a:p xmlns:a="http://schemas.openxmlformats.org/drawingml/2006/main"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Line 6">
            <a:extLst xmlns:a="http://schemas.openxmlformats.org/drawingml/2006/main">
              <a:ext uri="{FF2B5EF4-FFF2-40B4-BE49-F238E27FC236}">
                <a16:creationId xmlns:a16="http://schemas.microsoft.com/office/drawing/2014/main" id="{F21F3179-F2AA-4DB0-ABBA-0761BC2F5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460160"/>
            <a:ext cx="8305920" cy="0"/>
          </a:xfrm>
          <a:prstGeom xmlns:a="http://schemas.openxmlformats.org/drawingml/2006/main" prst="line">
            <a:avLst/>
          </a:prstGeom>
          <a:ln xmlns:a="http://schemas.openxmlformats.org/drawingml/2006/main" w="50760">
            <a:solidFill>
              <a:srgbClr val="DD080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6800" rIns="90000" bIns="-46800" anchor="ctr">
            <a:noAutofit/>
          </a:bodyPr>
          <a:lstStyle xmlns:a="http://schemas.openxmlformats.org/drawingml/2006/main"/>
          <a:p xmlns:a="http://schemas.openxmlformats.org/drawingml/2006/main"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Line 7">
            <a:extLst xmlns:a="http://schemas.openxmlformats.org/drawingml/2006/main">
              <a:ext uri="{FF2B5EF4-FFF2-40B4-BE49-F238E27FC236}">
                <a16:creationId xmlns:a16="http://schemas.microsoft.com/office/drawing/2014/main" id="{F5BD11CD-CDA7-472F-B977-C5D4E90B9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960" y="1536480"/>
            <a:ext cx="8305560" cy="0"/>
          </a:xfrm>
          <a:prstGeom xmlns:a="http://schemas.openxmlformats.org/drawingml/2006/main" prst="line">
            <a:avLst/>
          </a:prstGeom>
          <a:ln xmlns:a="http://schemas.openxmlformats.org/drawingml/2006/main" w="50760">
            <a:solidFill>
              <a:srgbClr val="3333C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6800" rIns="90000" bIns="-46800" anchor="ctr">
            <a:noAutofit/>
          </a:bodyPr>
          <a:lstStyle xmlns:a="http://schemas.openxmlformats.org/drawingml/2006/main"/>
          <a:p xmlns:a="http://schemas.openxmlformats.org/drawingml/2006/main"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abc92b21d2948fd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7efaf6df55485a" /><Relationship Type="http://schemas.openxmlformats.org/officeDocument/2006/relationships/notesSlide" Target="/ppt/notesSlides/notesSlide1.xml" Id="R0c4efa0f03d54ac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743d7ba8d841a0" /><Relationship Type="http://schemas.openxmlformats.org/officeDocument/2006/relationships/notesSlide" Target="/ppt/notesSlides/notesSlide2.xml" Id="R715ef6e8c32840e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9ffe7ba5ba4327" /><Relationship Type="http://schemas.openxmlformats.org/officeDocument/2006/relationships/notesSlide" Target="/ppt/notesSlides/notesSlide3.xml" Id="R9384f6d1e3df48e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e9949911bf4436" /><Relationship Type="http://schemas.openxmlformats.org/officeDocument/2006/relationships/notesSlide" Target="/ppt/notesSlides/notesSlide4.xml" Id="R798cf675e16243e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67251e094b4ef4" /><Relationship Type="http://schemas.openxmlformats.org/officeDocument/2006/relationships/notesSlide" Target="/ppt/notesSlides/notesSlide5.xml" Id="Rf346e07c31fa49c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c4f5fe13a64584" /><Relationship Type="http://schemas.openxmlformats.org/officeDocument/2006/relationships/notesSlide" Target="/ppt/notesSlides/notesSlide6.xml" Id="Ra044cec4f5064ed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d3b45a060442d6" /><Relationship Type="http://schemas.openxmlformats.org/officeDocument/2006/relationships/notesSlide" Target="/ppt/notesSlides/notesSlide7.xml" Id="Rf3bc3f9d99ff4c2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0e89510d1d47c7" /><Relationship Type="http://schemas.openxmlformats.org/officeDocument/2006/relationships/notesSlide" Target="/ppt/notesSlides/notesSlide8.xml" Id="R289304c5c53f48f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535b0726a54fa3" /><Relationship Type="http://schemas.openxmlformats.org/officeDocument/2006/relationships/notesSlide" Target="/ppt/notesSlides/notesSlide9.xml" Id="Rb76c81dd34c344c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140eb1dd724f98" /><Relationship Type="http://schemas.openxmlformats.org/officeDocument/2006/relationships/notesSlide" Target="/ppt/notesSlides/notesSlide10.xml" Id="R509e371120b641d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ee8c0990564162" /><Relationship Type="http://schemas.openxmlformats.org/officeDocument/2006/relationships/notesSlide" Target="/ppt/notesSlides/notesSlide11.xml" Id="R0c6e9b74cd72468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3569a2d8fe47d4" /><Relationship Type="http://schemas.openxmlformats.org/officeDocument/2006/relationships/notesSlide" Target="/ppt/notesSlides/notesSlide12.xml" Id="R15ee775e9eb644a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315cd300914044" /><Relationship Type="http://schemas.openxmlformats.org/officeDocument/2006/relationships/notesSlide" Target="/ppt/notesSlides/notesSlide13.xml" Id="R4fdc85e50014448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c785db9d5240f0" /><Relationship Type="http://schemas.openxmlformats.org/officeDocument/2006/relationships/notesSlide" Target="/ppt/notesSlides/notesSlide14.xml" Id="R509c6cc65fa14dc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49cc084e844c43" /><Relationship Type="http://schemas.openxmlformats.org/officeDocument/2006/relationships/image" Target="/ppt/media/image.png" Id="Ra8a091e226484374" /><Relationship Type="http://schemas.openxmlformats.org/officeDocument/2006/relationships/notesSlide" Target="/ppt/notesSlides/notesSlide15.xml" Id="Rd356fe49b1504d3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5f94aa5387402f" /><Relationship Type="http://schemas.openxmlformats.org/officeDocument/2006/relationships/notesSlide" Target="/ppt/notesSlides/notesSlide16.xml" Id="R96961e4986544de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ac4247c54245a5" /><Relationship Type="http://schemas.openxmlformats.org/officeDocument/2006/relationships/notesSlide" Target="/ppt/notesSlides/notesSlide17.xml" Id="Ra9893940a0be43c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979a739f3c4fdf" /><Relationship Type="http://schemas.openxmlformats.org/officeDocument/2006/relationships/notesSlide" Target="/ppt/notesSlides/notesSlide18.xml" Id="R9fca640503da482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4e4c48dc864639" /><Relationship Type="http://schemas.openxmlformats.org/officeDocument/2006/relationships/image" Target="/ppt/media/image.png" Id="Rfc6e5631aef94731" /><Relationship Type="http://schemas.openxmlformats.org/officeDocument/2006/relationships/notesSlide" Target="/ppt/notesSlides/notesSlide19.xml" Id="R7c501a99f3de407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4f7b5294a54da2" /><Relationship Type="http://schemas.openxmlformats.org/officeDocument/2006/relationships/notesSlide" Target="/ppt/notesSlides/notesSlide20.xml" Id="Rad7b040c8ff54c8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b60a5a74bb4c23" /><Relationship Type="http://schemas.openxmlformats.org/officeDocument/2006/relationships/notesSlide" Target="/ppt/notesSlides/notesSlide21.xml" Id="R13d21612e7f2490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19741bbaf84b3e" /><Relationship Type="http://schemas.openxmlformats.org/officeDocument/2006/relationships/notesSlide" Target="/ppt/notesSlides/notesSlide22.xml" Id="Rf3ce4a29bf71412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9116129817440c" /><Relationship Type="http://schemas.openxmlformats.org/officeDocument/2006/relationships/notesSlide" Target="/ppt/notesSlides/notesSlide23.xml" Id="R2febf3ddfcc04fc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5f30d406024d19" /><Relationship Type="http://schemas.openxmlformats.org/officeDocument/2006/relationships/notesSlide" Target="/ppt/notesSlides/notesSlide24.xml" Id="Rf2151b48026240a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b974f5332e4b52" /><Relationship Type="http://schemas.openxmlformats.org/officeDocument/2006/relationships/notesSlide" Target="/ppt/notesSlides/notesSlide25.xml" Id="Rd6b19ee425b3433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aa5058c975480f" /><Relationship Type="http://schemas.openxmlformats.org/officeDocument/2006/relationships/notesSlide" Target="/ppt/notesSlides/notesSlide26.xml" Id="Rb5cd62a615ec49c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3a98e3e09a43c2" /><Relationship Type="http://schemas.openxmlformats.org/officeDocument/2006/relationships/notesSlide" Target="/ppt/notesSlides/notesSlide27.xml" Id="R51a31a0c1c6e4f90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9358df5db4403a" /><Relationship Type="http://schemas.openxmlformats.org/officeDocument/2006/relationships/notesSlide" Target="/ppt/notesSlides/notesSlide28.xml" Id="Ra589a38a2d804894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506dccdc0142e3" /><Relationship Type="http://schemas.openxmlformats.org/officeDocument/2006/relationships/notesSlide" Target="/ppt/notesSlides/notesSlide29.xml" Id="R43fe6be4089d4bfc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a6c5b5d5604d50" /><Relationship Type="http://schemas.openxmlformats.org/officeDocument/2006/relationships/notesSlide" Target="/ppt/notesSlides/notesSlide30.xml" Id="Rabcc53b7749942a8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fb21eac3ba498c" /><Relationship Type="http://schemas.openxmlformats.org/officeDocument/2006/relationships/notesSlide" Target="/ppt/notesSlides/notesSlide31.xml" Id="R98dd266185aa465e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d6ae80c7654632" /><Relationship Type="http://schemas.openxmlformats.org/officeDocument/2006/relationships/notesSlide" Target="/ppt/notesSlides/notesSlide32.xml" Id="Re069104ab0dd4830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5aa4ddf79b4f90" /><Relationship Type="http://schemas.openxmlformats.org/officeDocument/2006/relationships/notesSlide" Target="/ppt/notesSlides/notesSlide33.xml" Id="Rcd7bf01cfa70403a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96cf07d5c243e0" /><Relationship Type="http://schemas.openxmlformats.org/officeDocument/2006/relationships/notesSlide" Target="/ppt/notesSlides/notesSlide34.xml" Id="Ra39b839e2477489d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2b024aa07f4491" /><Relationship Type="http://schemas.openxmlformats.org/officeDocument/2006/relationships/notesSlide" Target="/ppt/notesSlides/notesSlide35.xml" Id="R02f045d9fc9a4339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2920b354164bba" /><Relationship Type="http://schemas.openxmlformats.org/officeDocument/2006/relationships/notesSlide" Target="/ppt/notesSlides/notesSlide36.xml" Id="Rb8decf154ff84702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768245ac5e4131" /><Relationship Type="http://schemas.openxmlformats.org/officeDocument/2006/relationships/notesSlide" Target="/ppt/notesSlides/notesSlide37.xml" Id="R3f825464f0664e82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ce395753584eb6" /><Relationship Type="http://schemas.openxmlformats.org/officeDocument/2006/relationships/notesSlide" Target="/ppt/notesSlides/notesSlide38.xml" Id="Rb6204222986345bd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106aec13c444a0" /><Relationship Type="http://schemas.openxmlformats.org/officeDocument/2006/relationships/notesSlide" Target="/ppt/notesSlides/notesSlide39.xml" Id="Re2b65cf74480460c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69e7169e5b404e" /><Relationship Type="http://schemas.openxmlformats.org/officeDocument/2006/relationships/notesSlide" Target="/ppt/notesSlides/notesSlide40.xml" Id="R02fa206d07f44494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93c23dda2643d5" /><Relationship Type="http://schemas.openxmlformats.org/officeDocument/2006/relationships/notesSlide" Target="/ppt/notesSlides/notesSlide41.xml" Id="Rac6225387b004cc2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16e0d8ef834013" /><Relationship Type="http://schemas.openxmlformats.org/officeDocument/2006/relationships/notesSlide" Target="/ppt/notesSlides/notesSlide42.xml" Id="R7f9037df45a942b0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5588d9a7dc4a49" /><Relationship Type="http://schemas.openxmlformats.org/officeDocument/2006/relationships/notesSlide" Target="/ppt/notesSlides/notesSlide43.xml" Id="R55cf31575c334b48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2c1cf80fcc42c4" /><Relationship Type="http://schemas.openxmlformats.org/officeDocument/2006/relationships/notesSlide" Target="/ppt/notesSlides/notesSlide44.xml" Id="R259fa5daaa1649c1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12106d2df44795" /><Relationship Type="http://schemas.openxmlformats.org/officeDocument/2006/relationships/notesSlide" Target="/ppt/notesSlides/notesSlide45.xml" Id="R172f70305457462d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f221e2926b4ce4" /><Relationship Type="http://schemas.openxmlformats.org/officeDocument/2006/relationships/notesSlide" Target="/ppt/notesSlides/notesSlide46.xml" Id="R340c31963bf1411c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ab668353594a74" /><Relationship Type="http://schemas.openxmlformats.org/officeDocument/2006/relationships/notesSlide" Target="/ppt/notesSlides/notesSlide47.xml" Id="R14e544824f60465e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8c9a08c801415c" /><Relationship Type="http://schemas.openxmlformats.org/officeDocument/2006/relationships/notesSlide" Target="/ppt/notesSlides/notesSlide48.xml" Id="R694cb669e44548f9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9d3d4eb5574092" /><Relationship Type="http://schemas.openxmlformats.org/officeDocument/2006/relationships/notesSlide" Target="/ppt/notesSlides/notesSlide49.xml" Id="R9d07cdbbca6e481d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116844f71b4241" /><Relationship Type="http://schemas.openxmlformats.org/officeDocument/2006/relationships/notesSlide" Target="/ppt/notesSlides/notesSlide50.xml" Id="R62e42714cf4d449b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3c011bd32b4f53" /><Relationship Type="http://schemas.openxmlformats.org/officeDocument/2006/relationships/notesSlide" Target="/ppt/notesSlides/notesSlide51.xml" Id="Rfc36cad61f404c74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77e6c7c5bc4b13" /><Relationship Type="http://schemas.openxmlformats.org/officeDocument/2006/relationships/notesSlide" Target="/ppt/notesSlides/notesSlide52.xml" Id="Re82b7f37daf640d8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31476027e54607" /><Relationship Type="http://schemas.openxmlformats.org/officeDocument/2006/relationships/notesSlide" Target="/ppt/notesSlides/notesSlide53.xml" Id="Rf1648a0ec19b4ffb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0f65858ec3404c" /><Relationship Type="http://schemas.openxmlformats.org/officeDocument/2006/relationships/notesSlide" Target="/ppt/notesSlides/notesSlide54.xml" Id="Rba1f2e936cb64216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98dc8c57fb46b4" /><Relationship Type="http://schemas.openxmlformats.org/officeDocument/2006/relationships/image" Target="/ppt/media/image2.png" Id="Rc772fd26d2274fa1" /><Relationship Type="http://schemas.openxmlformats.org/officeDocument/2006/relationships/notesSlide" Target="/ppt/notesSlides/notesSlide55.xml" Id="Rda6c9ed2feac43a8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59cd8a5fe84600" /><Relationship Type="http://schemas.openxmlformats.org/officeDocument/2006/relationships/image" Target="/ppt/media/image3.png" Id="R62f13adc275b4ecc" /><Relationship Type="http://schemas.openxmlformats.org/officeDocument/2006/relationships/notesSlide" Target="/ppt/notesSlides/notesSlide56.xml" Id="R18fe6d70c59f484f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7f0a5faa494b80" /><Relationship Type="http://schemas.openxmlformats.org/officeDocument/2006/relationships/notesSlide" Target="/ppt/notesSlides/notesSlide57.xml" Id="R718d304e173646e4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72a21b6c2d481c" /><Relationship Type="http://schemas.openxmlformats.org/officeDocument/2006/relationships/notesSlide" Target="/ppt/notesSlides/notesSlide58.xml" Id="Rc396600d27ff4465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7fabde44aa49f2" /><Relationship Type="http://schemas.openxmlformats.org/officeDocument/2006/relationships/notesSlide" Target="/ppt/notesSlides/notesSlide59.xml" Id="Ra17f019ce4f24cd1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cdf685c4de4e9f" /><Relationship Type="http://schemas.openxmlformats.org/officeDocument/2006/relationships/notesSlide" Target="/ppt/notesSlides/notesSlide60.xml" Id="Rd35702d3d71c48d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C2F2CE9-F44D-4410-A84B-4C1200551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280" y="990360"/>
            <a:ext cx="8763120" cy="1524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EA0EF5D-D263-4A86-B315-1329C8E50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240" y="990360"/>
            <a:ext cx="7921440" cy="51933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360" tIns="44280" rIns="90360" bIns="4428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3400" b="1" i="1" u="none">
                <a:solidFill>
                  <a:srgbClr val="FF0033"/>
                </a:solidFill>
                <a:latin typeface="Arial"/>
                <a:ea typeface="Arial"/>
                <a:cs typeface="Arial"/>
              </a:rPr>
              <a:t>INT</a:t>
            </a:r>
            <a:r>
              <a:rPr sz="3400" b="1" i="1" u="none">
                <a:solidFill>
                  <a:srgbClr val="FF0033"/>
                </a:solidFill>
                <a:latin typeface="Arial"/>
                <a:ea typeface="Arial"/>
                <a:cs typeface="Arial"/>
              </a:rPr>
              <a:t> </a:t>
            </a:r>
            <a:r>
              <a:rPr sz="3400" b="1" i="1" u="none">
                <a:solidFill>
                  <a:srgbClr val="FF0033"/>
                </a:solidFill>
                <a:latin typeface="Arial"/>
                <a:ea typeface="Arial"/>
                <a:cs typeface="Arial"/>
              </a:rPr>
              <a:t>6164</a:t>
            </a:r>
          </a:p>
          <a:p xmlns:a="http://schemas.openxmlformats.org/drawingml/2006/main">
            <a:pPr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3400" b="1" i="1" u="none">
                <a:solidFill>
                  <a:srgbClr val="FF0033"/>
                </a:solidFill>
                <a:latin typeface="Arial"/>
                <a:ea typeface="Arial"/>
                <a:cs typeface="Arial"/>
              </a:rPr>
              <a:t>数据库系统与管理</a:t>
            </a:r>
            <a:endParaRPr sz="34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36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36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36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36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4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1" u="none">
                <a:solidFill>
                  <a:srgbClr val="22228B"/>
                </a:solidFill>
                <a:latin typeface="Arial"/>
                <a:ea typeface="Arial"/>
                <a:cs typeface="Arial"/>
              </a:rPr>
              <a:t>Yang Yu</a:t>
            </a:r>
            <a:endParaRPr sz="24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ts val="1397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4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1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数学与资讯科技学系（MIT） </a:t>
            </a: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1" u="none">
                <a:solidFill>
                  <a:srgbClr val="22228B"/>
                </a:solidFill>
                <a:latin typeface="Arial"/>
                <a:ea typeface="Arial"/>
                <a:cs typeface="Arial"/>
              </a:rPr>
              <a:t>（电子邮箱：yangyy@eduhk.hk）</a:t>
            </a: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TextBox 5">
            <a:extLst xmlns:a="http://schemas.openxmlformats.org/drawingml/2006/main">
              <a:ext uri="{FF2B5EF4-FFF2-40B4-BE49-F238E27FC236}">
                <a16:creationId xmlns:a16="http://schemas.microsoft.com/office/drawing/2014/main" id="{FAD36E7E-E54F-4F79-B416-F19B91F36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560" y="6400800"/>
            <a:ext cx="1981440" cy="307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0" u="none">
                <a:solidFill>
                  <a:srgbClr val="7030A0"/>
                </a:solidFill>
                <a:latin typeface="Arial"/>
                <a:ea typeface="Arial"/>
                <a:cs typeface="Arial"/>
              </a:rPr>
              <a:t>2025/26 学年 A 学期</a:t>
            </a:r>
            <a:endParaRPr sz="14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373379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24681D97-5F04-4ECE-9748-F517755D10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28240" y="166320"/>
            <a:ext cx="8770680" cy="131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90392" tIns="44291" rIns="90392" bIns="44291" anchor="b">
            <a:noAutofit/>
          </a:bodyPr>
          <a:lstStyle xmlns:a="http://schemas.openxmlformats.org/drawingml/2006/main"/>
          <a:p xmlns:a="http://schemas.openxmlformats.org/drawingml/2006/main"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600" b="1" i="1">
                <a:solidFill>
                  <a:srgbClr val="FF0033"/>
                </a:solidFill>
                <a:latin typeface="Arial"/>
                <a:ea typeface="Arial"/>
                <a:cs typeface="Arial"/>
              </a:defRPr>
            </a:pPr>
            <a:r>
              <a:rPr sz="3600" b="1" i="1" u="none">
                <a:solidFill>
                  <a:srgbClr val="FF0033"/>
                </a:solidFill>
                <a:latin typeface="Arial"/>
                <a:ea typeface="Arial"/>
                <a:cs typeface="Arial"/>
              </a:rPr>
              <a:t>学习目标</a:t>
            </a:r>
          </a:p>
        </p:txBody>
      </p:sp>
      <p:sp>
        <p:nvSpPr>
          <p:cNvPr id="28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A9D33F6-FC57-4B9F-842E-8AFDD951D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880" y="1828800"/>
            <a:ext cx="8381880" cy="4647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90392" tIns="44291" rIns="90392" bIns="44291" anchor="t">
            <a:normAutofit fontScale="100000"/>
          </a:bodyPr>
          <a:lstStyle xmlns:a="http://schemas.openxmlformats.org/drawingml/2006/main"/>
          <a:p xmlns:a="http://schemas.openxmlformats.org/drawingml/2006/main"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1. 说明为什么 DBMS 不只是文件存储</a:t>
            </a:r>
          </a:p>
          <a:p xmlns:a="http://schemas.openxmlformats.org/drawingml/2006/main"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2. 区分数据、数据库、DBMS、模式与实例</a:t>
            </a:r>
          </a:p>
          <a:p xmlns:a="http://schemas.openxmlformats.org/drawingml/2006/main"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3. 追踪查询在 DBMS 主要组件中的处理过程</a:t>
            </a:r>
          </a:p>
          <a:p xmlns:a="http://schemas.openxmlformats.org/drawingml/2006/main"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4. 读懂 ER 表示法，并为小型领域建模</a:t>
            </a:r>
          </a:p>
          <a:p xmlns:a="http://schemas.openxmlformats.org/drawingml/2006/main"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5. 初步了解 ER 设计如何转化为表和查询</a:t>
            </a:r>
          </a:p>
        </p:txBody>
      </p:sp>
    </p:spTree>
    <p:extLst>
      <p:ext uri="{BB962C8B-B14F-4D97-AF65-F5344CB8AC3E}">
        <p14:creationId xmlns:p14="http://schemas.microsoft.com/office/powerpoint/2010/main" val="46421675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24681D97-5F04-4ECE-9748-F517755D10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28240" y="166320"/>
            <a:ext cx="8770680" cy="131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360" tIns="44280" rIns="90360" bIns="44280" anchor="b">
            <a:noAutofit/>
          </a:bodyPr>
          <a:lstStyle xmlns:a="http://schemas.openxmlformats.org/drawingml/2006/main"/>
          <a:p xmlns:a="http://schemas.openxmlformats.org/drawingml/2006/main"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3600" b="1" i="1" u="none">
                <a:solidFill>
                  <a:srgbClr val="FF0033"/>
                </a:solidFill>
                <a:latin typeface="Arial"/>
                <a:ea typeface="Arial"/>
                <a:cs typeface="Arial"/>
              </a:rPr>
              <a:t>小组讨论（15 分钟 + 15 分钟） </a:t>
            </a:r>
          </a:p>
        </p:txBody>
      </p:sp>
      <p:sp>
        <p:nvSpPr>
          <p:cNvPr id="28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A9D33F6-FC57-4B9F-842E-8AFDD951D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880" y="1828800"/>
            <a:ext cx="8381880" cy="4647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360" tIns="44280" rIns="90360" bIns="44280" anchor="t">
            <a:normAutofit fontScale="85842"/>
          </a:bodyPr>
          <a:lstStyle xmlns:a="http://schemas.openxmlformats.org/drawingml/2006/main"/>
          <a:p xmlns:a="http://schemas.openxmlformats.org/drawingml/2006/main">
            <a:pPr marL="342720" indent="-342720">
              <a:lnSpc>
                <a:spcPct val="90000"/>
              </a:lnSpc>
              <a:spcBef>
                <a:spcPts val="601"/>
              </a:spcBef>
              <a:buClr>
                <a:srgbClr val="FF0033"/>
              </a:buClr>
              <a:buSzPct val="75000"/>
              <a:buFont typeface="Zapf Dingbat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组成 4～5 人小组</a:t>
            </a:r>
            <a:endParaRPr sz="24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42720" indent="-342720">
              <a:lnSpc>
                <a:spcPct val="90000"/>
              </a:lnSpc>
              <a:spcBef>
                <a:spcPts val="601"/>
              </a:spcBef>
              <a:buClr>
                <a:srgbClr val="FF0033"/>
              </a:buClr>
              <a:buSzPct val="75000"/>
              <a:buFont typeface="Zapf Dingbat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4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42720" indent="-342720">
              <a:lnSpc>
                <a:spcPct val="90000"/>
              </a:lnSpc>
              <a:spcBef>
                <a:spcPts val="601"/>
              </a:spcBef>
              <a:buClr>
                <a:srgbClr val="FF0033"/>
              </a:buClr>
              <a:buSzPct val="75000"/>
              <a:buFont typeface="Zapf Dingbat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什么是数据库（DB）系统？（5 分钟）</a:t>
            </a:r>
            <a:endParaRPr sz="24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42720" indent="-342720">
              <a:lnSpc>
                <a:spcPct val="90000"/>
              </a:lnSpc>
              <a:spcBef>
                <a:spcPts val="550"/>
              </a:spcBef>
              <a:buClr>
                <a:srgbClr val="FF0033"/>
              </a:buClr>
              <a:buSzPct val="75000"/>
              <a:buFont typeface="Zapf Dingbat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2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42720" indent="-342720">
              <a:lnSpc>
                <a:spcPct val="90000"/>
              </a:lnSpc>
              <a:spcBef>
                <a:spcPts val="601"/>
              </a:spcBef>
              <a:buClr>
                <a:srgbClr val="FF0033"/>
              </a:buClr>
              <a:buSzPct val="75000"/>
              <a:buFont typeface="Zapf Dingbat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为什么数据库系统很重要？（5 分钟）</a:t>
            </a:r>
            <a:endParaRPr sz="24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42720" indent="-342720">
              <a:lnSpc>
                <a:spcPct val="90000"/>
              </a:lnSpc>
              <a:spcBef>
                <a:spcPts val="601"/>
              </a:spcBef>
              <a:buClr>
                <a:srgbClr val="FF0033"/>
              </a:buClr>
              <a:buSzPct val="75000"/>
              <a:buFont typeface="Zapf Dingbat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4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42720" indent="-342720">
              <a:lnSpc>
                <a:spcPct val="90000"/>
              </a:lnSpc>
              <a:spcBef>
                <a:spcPts val="601"/>
              </a:spcBef>
              <a:buClr>
                <a:srgbClr val="FF0033"/>
              </a:buClr>
              <a:buSzPct val="75000"/>
              <a:buFont typeface="Zapf Dingbat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数据库系统如何支持现实世界的应用？（5 分钟）</a:t>
            </a:r>
            <a:endParaRPr sz="24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42720" indent="-342720">
              <a:lnSpc>
                <a:spcPct val="90000"/>
              </a:lnSpc>
              <a:spcBef>
                <a:spcPts val="601"/>
              </a:spcBef>
              <a:buClr>
                <a:srgbClr val="FF0033"/>
              </a:buClr>
              <a:buSzPct val="75000"/>
              <a:buFont typeface="Zapf Dingbat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4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42720" indent="-342720">
              <a:lnSpc>
                <a:spcPct val="90000"/>
              </a:lnSpc>
              <a:spcBef>
                <a:spcPts val="601"/>
              </a:spcBef>
              <a:buClr>
                <a:srgbClr val="FF0033"/>
              </a:buClr>
              <a:buSzPct val="75000"/>
              <a:buFont typeface="Zapf Dingbat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回答与汇报（15 分钟）</a:t>
            </a:r>
            <a:endParaRPr sz="24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42720" indent="-342720">
              <a:lnSpc>
                <a:spcPct val="90000"/>
              </a:lnSpc>
              <a:spcBef>
                <a:spcPts val="601"/>
              </a:spcBef>
              <a:buClr>
                <a:srgbClr val="FF0033"/>
              </a:buClr>
              <a:buSzPct val="75000"/>
              <a:buFont typeface="Zapf Dingbat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4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42720" indent="-342720">
              <a:lnSpc>
                <a:spcPct val="90000"/>
              </a:lnSpc>
              <a:spcBef>
                <a:spcPts val="601"/>
              </a:spcBef>
              <a:buClr>
                <a:srgbClr val="FF0033"/>
              </a:buClr>
              <a:buSzPct val="75000"/>
              <a:buFont typeface="Zapf Dingbat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4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94400" indent="-19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4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42720" indent="-342720">
              <a:lnSpc>
                <a:spcPct val="90000"/>
              </a:lnSpc>
              <a:spcBef>
                <a:spcPts val="601"/>
              </a:spcBef>
              <a:buClr>
                <a:srgbClr val="FF0033"/>
              </a:buClr>
              <a:buSzPct val="75000"/>
              <a:buFont typeface="Zapf Dingbat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4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6421675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24681D97-5F04-4ECE-9748-F517755D10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28240" y="166320"/>
            <a:ext cx="8770680" cy="131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90392" tIns="44291" rIns="90392" bIns="44291" anchor="b">
            <a:noAutofit/>
          </a:bodyPr>
          <a:lstStyle xmlns:a="http://schemas.openxmlformats.org/drawingml/2006/main"/>
          <a:p xmlns:a="http://schemas.openxmlformats.org/drawingml/2006/main"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600" b="1" i="1">
                <a:solidFill>
                  <a:srgbClr val="FF0033"/>
                </a:solidFill>
                <a:latin typeface="Arial"/>
                <a:ea typeface="Arial"/>
                <a:cs typeface="Arial"/>
              </a:defRPr>
            </a:pPr>
            <a:r>
              <a:rPr sz="3600" b="1" i="1" u="none">
                <a:solidFill>
                  <a:srgbClr val="FF0033"/>
                </a:solidFill>
                <a:latin typeface="Arial"/>
                <a:ea typeface="Arial"/>
                <a:cs typeface="Arial"/>
              </a:rPr>
              <a:t>热身：选择一个数据问题</a:t>
            </a:r>
          </a:p>
        </p:txBody>
      </p:sp>
      <p:sp>
        <p:nvSpPr>
          <p:cNvPr id="28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A9D33F6-FC57-4B9F-842E-8AFDD951D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880" y="1828800"/>
            <a:ext cx="8381880" cy="4647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90392" tIns="44291" rIns="90392" bIns="44291" anchor="t">
            <a:normAutofit fontScale="100000"/>
          </a:bodyPr>
          <a:lstStyle xmlns:a="http://schemas.openxmlformats.org/drawingml/2006/main"/>
          <a:p xmlns:a="http://schemas.openxmlformats.org/drawingml/2006/main"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任选场景：选课、门诊预约、外卖或图书借阅。</a:t>
            </a:r>
          </a:p>
          <a:p xmlns:a="http://schemas.openxmlformats.org/drawingml/2006/main"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列出用户、记录、常见操作和规则。</a:t>
            </a:r>
          </a:p>
          <a:p xmlns:a="http://schemas.openxmlformats.org/drawingml/2006/main"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指出使用分散文件或电子表格时可能出现的一种故障。</a:t>
            </a:r>
          </a:p>
          <a:p xmlns:a="http://schemas.openxmlformats.org/drawingml/2006/main"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准备分享一个具体例子。</a:t>
            </a:r>
          </a:p>
        </p:txBody>
      </p:sp>
    </p:spTree>
    <p:extLst>
      <p:ext uri="{BB962C8B-B14F-4D97-AF65-F5344CB8AC3E}">
        <p14:creationId xmlns:p14="http://schemas.microsoft.com/office/powerpoint/2010/main" val="46421675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24681D97-5F04-4ECE-9748-F517755D10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28240" y="166320"/>
            <a:ext cx="8770680" cy="131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90392" tIns="44291" rIns="90392" bIns="44291" anchor="b">
            <a:noAutofit/>
          </a:bodyPr>
          <a:lstStyle xmlns:a="http://schemas.openxmlformats.org/drawingml/2006/main"/>
          <a:p xmlns:a="http://schemas.openxmlformats.org/drawingml/2006/main"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600" b="1" i="1">
                <a:solidFill>
                  <a:srgbClr val="FF0033"/>
                </a:solidFill>
                <a:latin typeface="Arial"/>
                <a:ea typeface="Arial"/>
                <a:cs typeface="Arial"/>
              </a:defRPr>
            </a:pPr>
            <a:r>
              <a:rPr sz="3600" b="1" i="1" u="none">
                <a:solidFill>
                  <a:srgbClr val="FF0033"/>
                </a:solidFill>
                <a:latin typeface="Arial"/>
                <a:ea typeface="Arial"/>
                <a:cs typeface="Arial"/>
              </a:rPr>
              <a:t>回顾：什么时候需要 DBMS？</a:t>
            </a:r>
          </a:p>
        </p:txBody>
      </p:sp>
      <p:sp>
        <p:nvSpPr>
          <p:cNvPr id="28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A9D33F6-FC57-4B9F-842E-8AFDD951D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880" y="1828800"/>
            <a:ext cx="8381880" cy="4647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90392" tIns="44291" rIns="90392" bIns="44291" anchor="t">
            <a:normAutofit fontScale="100000"/>
          </a:bodyPr>
          <a:lstStyle xmlns:a="http://schemas.openxmlformats.org/drawingml/2006/main"/>
          <a:p xmlns:a="http://schemas.openxmlformats.org/drawingml/2006/main"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多个用户共享持久且逻辑相关的数据。</a:t>
            </a:r>
          </a:p>
          <a:p xmlns:a="http://schemas.openxmlformats.org/drawingml/2006/main"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并发更新时，各项规则仍必须成立。</a:t>
            </a:r>
          </a:p>
          <a:p xmlns:a="http://schemas.openxmlformats.org/drawingml/2006/main"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不同用户需要查看同一事实的不同视图。</a:t>
            </a:r>
          </a:p>
          <a:p xmlns:a="http://schemas.openxmlformats.org/drawingml/2006/main"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查询需求的变化往往快于固定文件格式。</a:t>
            </a:r>
          </a:p>
          <a:p xmlns:a="http://schemas.openxmlformats.org/drawingml/2006/main"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DBMS 统一协调存储、访问、完整性、恢复与安全。</a:t>
            </a:r>
          </a:p>
        </p:txBody>
      </p:sp>
    </p:spTree>
    <p:extLst>
      <p:ext uri="{BB962C8B-B14F-4D97-AF65-F5344CB8AC3E}">
        <p14:creationId xmlns:p14="http://schemas.microsoft.com/office/powerpoint/2010/main" val="46421675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B777EB5E-9692-427A-B10F-8EA6F7DE7E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7040" y="166320"/>
            <a:ext cx="8381880" cy="131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360" tIns="44280" rIns="90360" bIns="44280" anchor="b">
            <a:noAutofit/>
          </a:bodyPr>
          <a:lstStyle xmlns:a="http://schemas.openxmlformats.org/drawingml/2006/main"/>
          <a:p xmlns:a="http://schemas.openxmlformats.org/drawingml/2006/main"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3600" b="1" i="1" u="none">
                <a:solidFill>
                  <a:srgbClr val="FF0033"/>
                </a:solidFill>
                <a:latin typeface="Arial"/>
                <a:ea typeface="Arial"/>
                <a:cs typeface="Arial"/>
              </a:rPr>
              <a:t>数据库系统导论</a:t>
            </a:r>
          </a:p>
        </p:txBody>
      </p:sp>
      <p:sp>
        <p:nvSpPr>
          <p:cNvPr id="30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C1DC42A5-24BD-4A6A-8361-92B44AAE64FE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560160" y="1785600"/>
            <a:ext cx="8153280" cy="461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360" tIns="44280" rIns="90360" bIns="44280" anchor="t">
            <a:normAutofit fontScale="100000"/>
          </a:bodyPr>
          <a:lstStyle xmlns:a="http://schemas.openxmlformats.org/drawingml/2006/main"/>
          <a:p xmlns:a="http://schemas.openxmlformats.org/drawingml/2006/main">
            <a:pPr marL="343080" indent="-343080" algn="just">
              <a:spcBef>
                <a:spcPts val="601"/>
              </a:spcBef>
              <a:buClr>
                <a:srgbClr val="FF0033"/>
              </a:buClr>
              <a:buSzPct val="75000"/>
              <a:buFont typeface="Zapf Dingbat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学习动机</a:t>
            </a:r>
          </a:p>
          <a:p xmlns:a="http://schemas.openxmlformats.org/drawingml/2006/main"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特定机构的相关信息</a:t>
            </a:r>
          </a:p>
          <a:p xmlns:a="http://schemas.openxmlformats.org/drawingml/2006/main"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文件处理系统</a:t>
            </a:r>
          </a:p>
          <a:p xmlns:a="http://schemas.openxmlformats.org/drawingml/2006/main">
            <a:pPr marL="1143000" lvl="2" indent="-22860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永久记录分散存储在多个文件中</a:t>
            </a:r>
          </a:p>
          <a:p xmlns:a="http://schemas.openxmlformats.org/drawingml/2006/main">
            <a:pPr marL="1143000" lvl="2" indent="-22860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编写应用程序以检索和添加记录</a:t>
            </a:r>
          </a:p>
          <a:p xmlns:a="http://schemas.openxmlformats.org/drawingml/2006/main"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传统文件处理系统的缺点</a:t>
            </a:r>
          </a:p>
          <a:p xmlns:a="http://schemas.openxmlformats.org/drawingml/2006/main">
            <a:pPr marL="1143000" lvl="2" indent="-228600" algn="l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数据冗余与不一致</a:t>
            </a:r>
          </a:p>
          <a:p xmlns:a="http://schemas.openxmlformats.org/drawingml/2006/main">
            <a:pPr marL="1143000" lvl="2" indent="-228600" algn="l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数据访问困难</a:t>
            </a:r>
          </a:p>
          <a:p xmlns:a="http://schemas.openxmlformats.org/drawingml/2006/main">
            <a:pPr marL="1143000" lvl="2" indent="-228600" algn="l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数据孤立且格式各异</a:t>
            </a:r>
          </a:p>
          <a:p xmlns:a="http://schemas.openxmlformats.org/drawingml/2006/main">
            <a:pPr marL="1143000" lvl="2" indent="-228600" algn="l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并发访问异常</a:t>
            </a:r>
          </a:p>
          <a:p xmlns:a="http://schemas.openxmlformats.org/drawingml/2006/main">
            <a:pPr marL="1143000" lvl="2" indent="-228600" algn="l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安全问题</a:t>
            </a:r>
          </a:p>
          <a:p xmlns:a="http://schemas.openxmlformats.org/drawingml/2006/main">
            <a:pPr marL="1143000" lvl="2" indent="-228600" algn="l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完整性问题</a:t>
            </a:r>
          </a:p>
        </p:txBody>
      </p:sp>
    </p:spTree>
    <p:extLst>
      <p:ext uri="{BB962C8B-B14F-4D97-AF65-F5344CB8AC3E}">
        <p14:creationId xmlns:p14="http://schemas.microsoft.com/office/powerpoint/2010/main" val="58906076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70673E03-D666-4043-AF78-45D5FFB386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7040" y="166320"/>
            <a:ext cx="8381880" cy="131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360" tIns="44280" rIns="90360" bIns="44280" anchor="b">
            <a:noAutofit/>
          </a:bodyPr>
          <a:lstStyle xmlns:a="http://schemas.openxmlformats.org/drawingml/2006/main"/>
          <a:p xmlns:a="http://schemas.openxmlformats.org/drawingml/2006/main"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3600" b="1" i="1" u="none">
                <a:solidFill>
                  <a:srgbClr val="FF0033"/>
                </a:solidFill>
                <a:latin typeface="Arial"/>
                <a:ea typeface="Arial"/>
                <a:cs typeface="Arial"/>
              </a:rPr>
              <a:t>数据库系统导论</a:t>
            </a:r>
          </a:p>
        </p:txBody>
      </p:sp>
      <p:sp>
        <p:nvSpPr>
          <p:cNvPr id="32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2A37C21F-CF9C-4730-9457-28F5FE3468D6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560160" y="1785600"/>
            <a:ext cx="8153280" cy="461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360" tIns="44280" rIns="90360" bIns="44280" anchor="t">
            <a:normAutofit fontScale="100000"/>
          </a:bodyPr>
          <a:lstStyle xmlns:a="http://schemas.openxmlformats.org/drawingml/2006/main"/>
          <a:p xmlns:a="http://schemas.openxmlformats.org/drawingml/2006/main">
            <a:pPr marL="343080" indent="-343080" algn="just">
              <a:spcBef>
                <a:spcPts val="601"/>
              </a:spcBef>
              <a:buClr>
                <a:srgbClr val="FF0033"/>
              </a:buClr>
              <a:buSzPct val="75000"/>
              <a:buFont typeface="Zapf Dingbat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什么是数据？</a:t>
            </a:r>
          </a:p>
          <a:p xmlns:a="http://schemas.openxmlformats.org/drawingml/2006/main"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数据是被记录或可观察的事实，例如年龄、地址、身高等。</a:t>
            </a:r>
          </a:p>
          <a:p xmlns:a="http://schemas.openxmlformats.org/drawingml/2006/main"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数据无处不在，而且数量庞大</a:t>
            </a:r>
          </a:p>
          <a:p xmlns:a="http://schemas.openxmlformats.org/drawingml/2006/main"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每条数据都会占用计算机空间；那么，怎样才能高效而有效地存储数据？</a:t>
            </a:r>
          </a:p>
        </p:txBody>
      </p:sp>
      <p:sp>
        <p:nvSpPr>
          <p:cNvPr id="33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DAEE93E-64D9-47FF-8A84-845CCDC7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400" y="4054320"/>
            <a:ext cx="8145360" cy="220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60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" name="Text Box 5">
            <a:extLst xmlns:a="http://schemas.openxmlformats.org/drawingml/2006/main">
              <a:ext uri="{FF2B5EF4-FFF2-40B4-BE49-F238E27FC236}">
                <a16:creationId xmlns:a16="http://schemas.microsoft.com/office/drawing/2014/main" id="{BDACD6DE-691B-4FE3-8B33-55F64133E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840" y="4038480"/>
            <a:ext cx="8247240" cy="398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125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FD020F"/>
                </a:solidFill>
                <a:latin typeface="Arial"/>
                <a:ea typeface="Arial"/>
                <a:cs typeface="Arial"/>
              </a:rPr>
              <a:t>学号      学生姓名      性别    课程代码        课程名称        成绩</a:t>
            </a: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" name="Text Box 6">
            <a:extLst xmlns:a="http://schemas.openxmlformats.org/drawingml/2006/main">
              <a:ext uri="{FF2B5EF4-FFF2-40B4-BE49-F238E27FC236}">
                <a16:creationId xmlns:a16="http://schemas.microsoft.com/office/drawing/2014/main" id="{643B57A5-82FA-4F8F-87E0-44F44CEBB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400" y="4410000"/>
            <a:ext cx="8221680" cy="398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125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50000000     Peter Wong    M      CS3402    数据库系统      B+</a:t>
            </a: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Text Box 7">
            <a:extLst xmlns:a="http://schemas.openxmlformats.org/drawingml/2006/main">
              <a:ext uri="{FF2B5EF4-FFF2-40B4-BE49-F238E27FC236}">
                <a16:creationId xmlns:a16="http://schemas.microsoft.com/office/drawing/2014/main" id="{5C1F486D-F58C-4D8B-A175-497CE70E7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0" y="4727520"/>
            <a:ext cx="8215200" cy="398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125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50000000     Peter Wong    M      CS2302    数据结构            A</a:t>
            </a: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" name="Text Box 8">
            <a:extLst xmlns:a="http://schemas.openxmlformats.org/drawingml/2006/main">
              <a:ext uri="{FF2B5EF4-FFF2-40B4-BE49-F238E27FC236}">
                <a16:creationId xmlns:a16="http://schemas.microsoft.com/office/drawing/2014/main" id="{E122B61B-17DC-4A79-9F49-2BA18C88E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5060880"/>
            <a:ext cx="8209080" cy="398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125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50000000     Peter Wong    M          ….                 ….                        ..</a:t>
            </a: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" name="Text Box 9">
            <a:extLst xmlns:a="http://schemas.openxmlformats.org/drawingml/2006/main">
              <a:ext uri="{FF2B5EF4-FFF2-40B4-BE49-F238E27FC236}">
                <a16:creationId xmlns:a16="http://schemas.microsoft.com/office/drawing/2014/main" id="{FEEC9361-2148-4FA2-BFDC-CF5C7CA6C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00" y="5432400"/>
            <a:ext cx="8209080" cy="132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125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50000001     Mary Tsui        F      CS3402    数据库系统       A-      </a:t>
            </a: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spcBef>
                <a:spcPts val="125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50000002     Bob Lee          M     CS3402    数据库系统       B</a:t>
            </a: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spcBef>
                <a:spcPts val="125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" name="Line 10">
            <a:extLst xmlns:a="http://schemas.openxmlformats.org/drawingml/2006/main">
              <a:ext uri="{FF2B5EF4-FFF2-40B4-BE49-F238E27FC236}">
                <a16:creationId xmlns:a16="http://schemas.microsoft.com/office/drawing/2014/main" id="{39A77E5D-633A-41C0-BD6D-53D7C5F15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400" y="4419360"/>
            <a:ext cx="8145360" cy="15840"/>
          </a:xfrm>
          <a:prstGeom xmlns:a="http://schemas.openxmlformats.org/drawingml/2006/main" prst="line">
            <a:avLst/>
          </a:prstGeom>
          <a:ln xmlns:a="http://schemas.openxmlformats.org/drawingml/2006/main" w="1260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30960" rIns="90000" bIns="-30960" anchor="ctr">
            <a:noAutofit/>
          </a:bodyPr>
          <a:lstStyle xmlns:a="http://schemas.openxmlformats.org/drawingml/2006/main"/>
          <a:p xmlns:a="http://schemas.openxmlformats.org/drawingml/2006/main"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" name="Line 11">
            <a:extLst xmlns:a="http://schemas.openxmlformats.org/drawingml/2006/main">
              <a:ext uri="{FF2B5EF4-FFF2-40B4-BE49-F238E27FC236}">
                <a16:creationId xmlns:a16="http://schemas.microsoft.com/office/drawing/2014/main" id="{92EDA794-AEA0-49D1-B328-ABF036467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4760" y="4054320"/>
            <a:ext cx="0" cy="2209680"/>
          </a:xfrm>
          <a:prstGeom xmlns:a="http://schemas.openxmlformats.org/drawingml/2006/main" prst="line">
            <a:avLst/>
          </a:prstGeom>
          <a:ln xmlns:a="http://schemas.openxmlformats.org/drawingml/2006/main" w="1260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" name="Line 12">
            <a:extLst xmlns:a="http://schemas.openxmlformats.org/drawingml/2006/main">
              <a:ext uri="{FF2B5EF4-FFF2-40B4-BE49-F238E27FC236}">
                <a16:creationId xmlns:a16="http://schemas.microsoft.com/office/drawing/2014/main" id="{A4F6D5B0-5FC1-46F3-B327-506A29B6C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280" y="4054320"/>
            <a:ext cx="0" cy="2209680"/>
          </a:xfrm>
          <a:prstGeom xmlns:a="http://schemas.openxmlformats.org/drawingml/2006/main" prst="line">
            <a:avLst/>
          </a:prstGeom>
          <a:ln xmlns:a="http://schemas.openxmlformats.org/drawingml/2006/main" w="1260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" name="Line 13">
            <a:extLst xmlns:a="http://schemas.openxmlformats.org/drawingml/2006/main">
              <a:ext uri="{FF2B5EF4-FFF2-40B4-BE49-F238E27FC236}">
                <a16:creationId xmlns:a16="http://schemas.microsoft.com/office/drawing/2014/main" id="{65F3863C-F226-4CB4-9D0E-CEC8074D2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080" y="4054320"/>
            <a:ext cx="0" cy="2209680"/>
          </a:xfrm>
          <a:prstGeom xmlns:a="http://schemas.openxmlformats.org/drawingml/2006/main" prst="line">
            <a:avLst/>
          </a:prstGeom>
          <a:ln xmlns:a="http://schemas.openxmlformats.org/drawingml/2006/main" w="1260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" name="Line 14">
            <a:extLst xmlns:a="http://schemas.openxmlformats.org/drawingml/2006/main">
              <a:ext uri="{FF2B5EF4-FFF2-40B4-BE49-F238E27FC236}">
                <a16:creationId xmlns:a16="http://schemas.microsoft.com/office/drawing/2014/main" id="{F5CB37F8-FAA2-4D0B-9986-08BBC3C96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054320"/>
            <a:ext cx="0" cy="2209680"/>
          </a:xfrm>
          <a:prstGeom xmlns:a="http://schemas.openxmlformats.org/drawingml/2006/main" prst="line">
            <a:avLst/>
          </a:prstGeom>
          <a:ln xmlns:a="http://schemas.openxmlformats.org/drawingml/2006/main" w="1260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4" name="Line 12">
            <a:extLst xmlns:a="http://schemas.openxmlformats.org/drawingml/2006/main">
              <a:ext uri="{FF2B5EF4-FFF2-40B4-BE49-F238E27FC236}">
                <a16:creationId xmlns:a16="http://schemas.microsoft.com/office/drawing/2014/main" id="{C260AB59-FD99-4EE1-98A2-54FE32C22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080" y="4054320"/>
            <a:ext cx="0" cy="2209680"/>
          </a:xfrm>
          <a:prstGeom xmlns:a="http://schemas.openxmlformats.org/drawingml/2006/main" prst="line">
            <a:avLst/>
          </a:prstGeom>
          <a:ln xmlns:a="http://schemas.openxmlformats.org/drawingml/2006/main" w="1260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9589625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58FC7C59-75E6-448D-B315-5BDCCBCF58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7040" y="166320"/>
            <a:ext cx="8381880" cy="131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360" tIns="44280" rIns="90360" bIns="44280" anchor="b">
            <a:noAutofit/>
          </a:bodyPr>
          <a:lstStyle xmlns:a="http://schemas.openxmlformats.org/drawingml/2006/main"/>
          <a:p xmlns:a="http://schemas.openxmlformats.org/drawingml/2006/main"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3600" b="1" i="1" u="none">
                <a:solidFill>
                  <a:srgbClr val="FF0033"/>
                </a:solidFill>
                <a:latin typeface="Arial"/>
                <a:ea typeface="Arial"/>
                <a:cs typeface="Arial"/>
              </a:rPr>
              <a:t>引例</a:t>
            </a:r>
          </a:p>
        </p:txBody>
      </p:sp>
      <p:sp>
        <p:nvSpPr>
          <p:cNvPr id="46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72BFB028-F59C-4E65-8082-C650C547F9B0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560160" y="5257440"/>
            <a:ext cx="815328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360" tIns="44280" rIns="90360" bIns="44280" anchor="t">
            <a:normAutofit fontScale="100000"/>
          </a:bodyPr>
          <a:lstStyle xmlns:a="http://schemas.openxmlformats.org/drawingml/2006/main"/>
          <a:p xmlns:a="http://schemas.openxmlformats.org/drawingml/2006/main">
            <a:pPr marL="343080" indent="-343080" algn="l">
              <a:spcBef>
                <a:spcPts val="601"/>
              </a:spcBef>
              <a:buClr>
                <a:srgbClr val="FF0033"/>
              </a:buClr>
              <a:buSzPct val="75000"/>
              <a:buFont typeface="Zapf Dingbat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这种数据存储方式好吗？</a:t>
            </a:r>
          </a:p>
          <a:p xmlns:a="http://schemas.openxmlformats.org/drawingml/2006/main">
            <a:pPr marL="343080" indent="-343080" algn="l">
              <a:spcBef>
                <a:spcPts val="601"/>
              </a:spcBef>
              <a:buClr>
                <a:srgbClr val="FF0033"/>
              </a:buClr>
              <a:buSzPct val="75000"/>
              <a:buFont typeface="Zapf Dingbat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如何改进？</a:t>
            </a:r>
          </a:p>
        </p:txBody>
      </p:sp>
      <p:sp>
        <p:nvSpPr>
          <p:cNvPr id="47" name="Rectangle 4">
            <a:extLst xmlns:a="http://schemas.openxmlformats.org/drawingml/2006/main">
              <a:ext uri="{FF2B5EF4-FFF2-40B4-BE49-F238E27FC236}">
                <a16:creationId xmlns:a16="http://schemas.microsoft.com/office/drawing/2014/main" id="{DC4E5132-5EBE-42D8-94F4-8FDF3B578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400" y="2209680"/>
            <a:ext cx="8145360" cy="220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60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" name="Text Box 5">
            <a:extLst xmlns:a="http://schemas.openxmlformats.org/drawingml/2006/main">
              <a:ext uri="{FF2B5EF4-FFF2-40B4-BE49-F238E27FC236}">
                <a16:creationId xmlns:a16="http://schemas.microsoft.com/office/drawing/2014/main" id="{319BE28F-ECE9-4FB6-B5FF-7DD250F01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840" y="2193840"/>
            <a:ext cx="8247240" cy="398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125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FD020F"/>
                </a:solidFill>
                <a:latin typeface="Arial"/>
                <a:ea typeface="Arial"/>
                <a:cs typeface="Arial"/>
              </a:rPr>
              <a:t>学号      学生姓名      性别    课程代码        课程名称        成绩</a:t>
            </a: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" name="Text Box 6">
            <a:extLst xmlns:a="http://schemas.openxmlformats.org/drawingml/2006/main">
              <a:ext uri="{FF2B5EF4-FFF2-40B4-BE49-F238E27FC236}">
                <a16:creationId xmlns:a16="http://schemas.microsoft.com/office/drawing/2014/main" id="{62D95E44-CA31-4A2A-B969-96D1E874F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400" y="2565360"/>
            <a:ext cx="8221680" cy="398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125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50000000     Peter Wong    M      CS3402    数据库系统      B+</a:t>
            </a: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" name="Text Box 7">
            <a:extLst xmlns:a="http://schemas.openxmlformats.org/drawingml/2006/main">
              <a:ext uri="{FF2B5EF4-FFF2-40B4-BE49-F238E27FC236}">
                <a16:creationId xmlns:a16="http://schemas.microsoft.com/office/drawing/2014/main" id="{6E8834D3-E23F-4D38-A372-E834A04A9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0" y="2882880"/>
            <a:ext cx="8215200" cy="398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125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50000000     Peter Wong    M      CS2302    数据结构            A</a:t>
            </a: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1" name="Text Box 8">
            <a:extLst xmlns:a="http://schemas.openxmlformats.org/drawingml/2006/main">
              <a:ext uri="{FF2B5EF4-FFF2-40B4-BE49-F238E27FC236}">
                <a16:creationId xmlns:a16="http://schemas.microsoft.com/office/drawing/2014/main" id="{D707A3F1-411C-43D0-91B9-AD8D7EED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3216240"/>
            <a:ext cx="8209080" cy="398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125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50000000     Peter Wong    M          ….                 ….                        ..</a:t>
            </a: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" name="Text Box 9">
            <a:extLst xmlns:a="http://schemas.openxmlformats.org/drawingml/2006/main">
              <a:ext uri="{FF2B5EF4-FFF2-40B4-BE49-F238E27FC236}">
                <a16:creationId xmlns:a16="http://schemas.microsoft.com/office/drawing/2014/main" id="{BC3DFE4A-4806-43ED-AD49-9B6349C15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00" y="3587400"/>
            <a:ext cx="8209080" cy="132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125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50000001     Mary Tsui        F      CS3402    数据库系统       A-      </a:t>
            </a: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spcBef>
                <a:spcPts val="125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50000002     Bob Lee          M     CS3402    数据库系统       B</a:t>
            </a: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spcBef>
                <a:spcPts val="125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" name="Line 10">
            <a:extLst xmlns:a="http://schemas.openxmlformats.org/drawingml/2006/main">
              <a:ext uri="{FF2B5EF4-FFF2-40B4-BE49-F238E27FC236}">
                <a16:creationId xmlns:a16="http://schemas.microsoft.com/office/drawing/2014/main" id="{11C96FA0-6895-4C5C-B163-71A15FD7B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400" y="2574720"/>
            <a:ext cx="8145360" cy="15840"/>
          </a:xfrm>
          <a:prstGeom xmlns:a="http://schemas.openxmlformats.org/drawingml/2006/main" prst="line">
            <a:avLst/>
          </a:prstGeom>
          <a:ln xmlns:a="http://schemas.openxmlformats.org/drawingml/2006/main" w="1260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30960" rIns="90000" bIns="-30960" anchor="ctr">
            <a:noAutofit/>
          </a:bodyPr>
          <a:lstStyle xmlns:a="http://schemas.openxmlformats.org/drawingml/2006/main"/>
          <a:p xmlns:a="http://schemas.openxmlformats.org/drawingml/2006/main"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" name="Line 11">
            <a:extLst xmlns:a="http://schemas.openxmlformats.org/drawingml/2006/main">
              <a:ext uri="{FF2B5EF4-FFF2-40B4-BE49-F238E27FC236}">
                <a16:creationId xmlns:a16="http://schemas.microsoft.com/office/drawing/2014/main" id="{FD672995-C4F0-426E-8908-25A6D9BAD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4760" y="2209680"/>
            <a:ext cx="0" cy="2209680"/>
          </a:xfrm>
          <a:prstGeom xmlns:a="http://schemas.openxmlformats.org/drawingml/2006/main" prst="line">
            <a:avLst/>
          </a:prstGeom>
          <a:ln xmlns:a="http://schemas.openxmlformats.org/drawingml/2006/main" w="1260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" name="Line 12">
            <a:extLst xmlns:a="http://schemas.openxmlformats.org/drawingml/2006/main">
              <a:ext uri="{FF2B5EF4-FFF2-40B4-BE49-F238E27FC236}">
                <a16:creationId xmlns:a16="http://schemas.microsoft.com/office/drawing/2014/main" id="{443FE6B5-69ED-4DF9-8151-A29796856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280" y="2209680"/>
            <a:ext cx="0" cy="2209680"/>
          </a:xfrm>
          <a:prstGeom xmlns:a="http://schemas.openxmlformats.org/drawingml/2006/main" prst="line">
            <a:avLst/>
          </a:prstGeom>
          <a:ln xmlns:a="http://schemas.openxmlformats.org/drawingml/2006/main" w="1260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" name="Line 13">
            <a:extLst xmlns:a="http://schemas.openxmlformats.org/drawingml/2006/main">
              <a:ext uri="{FF2B5EF4-FFF2-40B4-BE49-F238E27FC236}">
                <a16:creationId xmlns:a16="http://schemas.microsoft.com/office/drawing/2014/main" id="{EA5D6B85-7CAC-4ED2-9E5B-DD20D0CD0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080" y="2209680"/>
            <a:ext cx="0" cy="2209680"/>
          </a:xfrm>
          <a:prstGeom xmlns:a="http://schemas.openxmlformats.org/drawingml/2006/main" prst="line">
            <a:avLst/>
          </a:prstGeom>
          <a:ln xmlns:a="http://schemas.openxmlformats.org/drawingml/2006/main" w="1260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" name="Line 14">
            <a:extLst xmlns:a="http://schemas.openxmlformats.org/drawingml/2006/main">
              <a:ext uri="{FF2B5EF4-FFF2-40B4-BE49-F238E27FC236}">
                <a16:creationId xmlns:a16="http://schemas.microsoft.com/office/drawing/2014/main" id="{D38ED3D5-9167-4D96-8B96-5597DA810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209680"/>
            <a:ext cx="0" cy="2209680"/>
          </a:xfrm>
          <a:prstGeom xmlns:a="http://schemas.openxmlformats.org/drawingml/2006/main" prst="line">
            <a:avLst/>
          </a:prstGeom>
          <a:ln xmlns:a="http://schemas.openxmlformats.org/drawingml/2006/main" w="1260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" name="Line 12">
            <a:extLst xmlns:a="http://schemas.openxmlformats.org/drawingml/2006/main">
              <a:ext uri="{FF2B5EF4-FFF2-40B4-BE49-F238E27FC236}">
                <a16:creationId xmlns:a16="http://schemas.microsoft.com/office/drawing/2014/main" id="{5FE78592-3D42-495F-A37F-B105CCBE8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080" y="2209680"/>
            <a:ext cx="0" cy="2209680"/>
          </a:xfrm>
          <a:prstGeom xmlns:a="http://schemas.openxmlformats.org/drawingml/2006/main" prst="line">
            <a:avLst/>
          </a:prstGeom>
          <a:ln xmlns:a="http://schemas.openxmlformats.org/drawingml/2006/main" w="1260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01204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B4C93B60-F055-400D-995F-F321F6479F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7040" y="166320"/>
            <a:ext cx="8381880" cy="131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360" tIns="44280" rIns="90360" bIns="44280" anchor="b">
            <a:noAutofit/>
          </a:bodyPr>
          <a:lstStyle xmlns:a="http://schemas.openxmlformats.org/drawingml/2006/main"/>
          <a:p xmlns:a="http://schemas.openxmlformats.org/drawingml/2006/main"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3600" b="1" i="1" u="none">
                <a:solidFill>
                  <a:srgbClr val="FF0033"/>
                </a:solidFill>
                <a:latin typeface="Arial"/>
                <a:ea typeface="Arial"/>
                <a:cs typeface="Arial"/>
              </a:rPr>
              <a:t>数据库系统导论</a:t>
            </a:r>
          </a:p>
        </p:txBody>
      </p:sp>
      <p:sp>
        <p:nvSpPr>
          <p:cNvPr id="60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701B33D0-2D4F-4641-9654-2E8D41C32E84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560160" y="1785600"/>
            <a:ext cx="8153280" cy="461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360" tIns="44280" rIns="90360" bIns="44280" anchor="t">
            <a:normAutofit fontScale="100000"/>
          </a:bodyPr>
          <a:lstStyle xmlns:a="http://schemas.openxmlformats.org/drawingml/2006/main"/>
          <a:p xmlns:a="http://schemas.openxmlformats.org/drawingml/2006/main">
            <a:pPr marL="343080" indent="-343080" algn="just">
              <a:spcBef>
                <a:spcPts val="601"/>
              </a:spcBef>
              <a:buClr>
                <a:srgbClr val="FF0033"/>
              </a:buClr>
              <a:buSzPct val="75000"/>
              <a:buFont typeface="Zapf Dingbat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什么是数据库（DB）？</a:t>
            </a:r>
          </a:p>
          <a:p xmlns:a="http://schemas.openxmlformats.org/drawingml/2006/main"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一种非冗余、持久的逻辑相关记录／文件集合，并按一定结构组织，以支持各种处理与检索需求</a:t>
            </a:r>
          </a:p>
          <a:p xmlns:a="http://schemas.openxmlformats.org/drawingml/2006/main">
            <a:pPr marL="743040" lvl="1" indent="0" algn="l">
              <a:spcBef>
                <a:spcPts val="499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0" u="none">
              <a:solidFill>
                <a:srgbClr val="3333CC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43080" indent="-343080" algn="just">
              <a:spcBef>
                <a:spcPts val="601"/>
              </a:spcBef>
              <a:buClr>
                <a:srgbClr val="FF0033"/>
              </a:buClr>
              <a:buSzPct val="75000"/>
              <a:buFont typeface="Zapf Dingbat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数据库管理系统（DBMS）</a:t>
            </a:r>
          </a:p>
          <a:p xmlns:a="http://schemas.openxmlformats.org/drawingml/2006/main"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一组用于创建、存储、更新和访问数据库数据的软件程序。</a:t>
            </a:r>
          </a:p>
        </p:txBody>
      </p:sp>
      <p:sp>
        <p:nvSpPr>
          <p:cNvPr id="61" name="Rectangle 1028">
            <a:extLst xmlns:a="http://schemas.openxmlformats.org/drawingml/2006/main">
              <a:ext uri="{FF2B5EF4-FFF2-40B4-BE49-F238E27FC236}">
                <a16:creationId xmlns:a16="http://schemas.microsoft.com/office/drawing/2014/main" id="{162C9C26-1A7D-426D-85FD-648CFF4F0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560" y="4952880"/>
            <a:ext cx="1676520" cy="1447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00"/>
          </a:solidFill>
          <a:ln xmlns:a="http://schemas.openxmlformats.org/drawingml/2006/main" w="1260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" name="Rectangle 1030">
            <a:extLst xmlns:a="http://schemas.openxmlformats.org/drawingml/2006/main">
              <a:ext uri="{FF2B5EF4-FFF2-40B4-BE49-F238E27FC236}">
                <a16:creationId xmlns:a16="http://schemas.microsoft.com/office/drawing/2014/main" id="{22B9A27C-E3AF-4BC2-B6D5-D7FA9B167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080" y="5333760"/>
            <a:ext cx="685800" cy="609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C99"/>
          </a:solidFill>
          <a:ln xmlns:a="http://schemas.openxmlformats.org/drawingml/2006/main" w="1260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" name="Oval 1029">
            <a:extLst xmlns:a="http://schemas.openxmlformats.org/drawingml/2006/main">
              <a:ext uri="{FF2B5EF4-FFF2-40B4-BE49-F238E27FC236}">
                <a16:creationId xmlns:a16="http://schemas.microsoft.com/office/drawing/2014/main" id="{674F1460-2C55-445C-BD16-E0625A84E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080" y="5257800"/>
            <a:ext cx="6858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CC99"/>
          </a:solidFill>
          <a:ln xmlns:a="http://schemas.openxmlformats.org/drawingml/2006/main" w="1260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" name="Text Box 1031">
            <a:extLst xmlns:a="http://schemas.openxmlformats.org/drawingml/2006/main">
              <a:ext uri="{FF2B5EF4-FFF2-40B4-BE49-F238E27FC236}">
                <a16:creationId xmlns:a16="http://schemas.microsoft.com/office/drawing/2014/main" id="{A7976497-EAA5-48B8-89A0-83A395B5D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638680"/>
            <a:ext cx="609480" cy="36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1125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u="none">
                <a:solidFill>
                  <a:srgbClr val="FD020F"/>
                </a:solidFill>
                <a:latin typeface="Arial"/>
                <a:ea typeface="Arial"/>
                <a:cs typeface="Arial"/>
              </a:rPr>
              <a:t>DB</a:t>
            </a:r>
            <a:endParaRPr sz="18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" name="Text Box 1032">
            <a:extLst xmlns:a="http://schemas.openxmlformats.org/drawingml/2006/main">
              <a:ext uri="{FF2B5EF4-FFF2-40B4-BE49-F238E27FC236}">
                <a16:creationId xmlns:a16="http://schemas.microsoft.com/office/drawing/2014/main" id="{8D398788-28D2-4F76-A089-3FC163C76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6019560"/>
            <a:ext cx="1371600" cy="398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125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1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DBMS</a:t>
            </a: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6" name="Oval 1033">
            <a:extLst xmlns:a="http://schemas.openxmlformats.org/drawingml/2006/main">
              <a:ext uri="{FF2B5EF4-FFF2-40B4-BE49-F238E27FC236}">
                <a16:creationId xmlns:a16="http://schemas.microsoft.com/office/drawing/2014/main" id="{8C3964AD-6539-49EF-B79B-A4483C3FC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560" y="5029200"/>
            <a:ext cx="381240" cy="38088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260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" name="Line 1034">
            <a:extLst xmlns:a="http://schemas.openxmlformats.org/drawingml/2006/main">
              <a:ext uri="{FF2B5EF4-FFF2-40B4-BE49-F238E27FC236}">
                <a16:creationId xmlns:a16="http://schemas.microsoft.com/office/drawing/2014/main" id="{65A22975-B26C-461E-A1FC-78E514A5E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280" y="5410080"/>
            <a:ext cx="380880" cy="228600"/>
          </a:xfrm>
          <a:prstGeom xmlns:a="http://schemas.openxmlformats.org/drawingml/2006/main" prst="line">
            <a:avLst/>
          </a:prstGeom>
          <a:ln xmlns:a="http://schemas.openxmlformats.org/drawingml/2006/main" w="1260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" name="Line 1035">
            <a:extLst xmlns:a="http://schemas.openxmlformats.org/drawingml/2006/main">
              <a:ext uri="{FF2B5EF4-FFF2-40B4-BE49-F238E27FC236}">
                <a16:creationId xmlns:a16="http://schemas.microsoft.com/office/drawing/2014/main" id="{47D24C6A-A155-4B23-ACD4-E2CADD9BD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819160" y="5409720"/>
            <a:ext cx="304920" cy="228600"/>
          </a:xfrm>
          <a:prstGeom xmlns:a="http://schemas.openxmlformats.org/drawingml/2006/main" prst="line">
            <a:avLst/>
          </a:prstGeom>
          <a:ln xmlns:a="http://schemas.openxmlformats.org/drawingml/2006/main" w="1260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" name="Line 1036">
            <a:extLst xmlns:a="http://schemas.openxmlformats.org/drawingml/2006/main">
              <a:ext uri="{FF2B5EF4-FFF2-40B4-BE49-F238E27FC236}">
                <a16:creationId xmlns:a16="http://schemas.microsoft.com/office/drawing/2014/main" id="{20BCDFDD-8AFB-45F6-BAFE-2F2DAD91B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160" y="5410080"/>
            <a:ext cx="0" cy="457200"/>
          </a:xfrm>
          <a:prstGeom xmlns:a="http://schemas.openxmlformats.org/drawingml/2006/main" prst="line">
            <a:avLst/>
          </a:prstGeom>
          <a:ln xmlns:a="http://schemas.openxmlformats.org/drawingml/2006/main" w="1260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0" name="Line 1037">
            <a:extLst xmlns:a="http://schemas.openxmlformats.org/drawingml/2006/main">
              <a:ext uri="{FF2B5EF4-FFF2-40B4-BE49-F238E27FC236}">
                <a16:creationId xmlns:a16="http://schemas.microsoft.com/office/drawing/2014/main" id="{4C5D4C8C-13F3-44C2-9581-F1B156A11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2590200" y="5867280"/>
            <a:ext cx="228600" cy="228600"/>
          </a:xfrm>
          <a:prstGeom xmlns:a="http://schemas.openxmlformats.org/drawingml/2006/main" prst="line">
            <a:avLst/>
          </a:prstGeom>
          <a:ln xmlns:a="http://schemas.openxmlformats.org/drawingml/2006/main" w="1260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" name="Line 1038">
            <a:extLst xmlns:a="http://schemas.openxmlformats.org/drawingml/2006/main">
              <a:ext uri="{FF2B5EF4-FFF2-40B4-BE49-F238E27FC236}">
                <a16:creationId xmlns:a16="http://schemas.microsoft.com/office/drawing/2014/main" id="{80FC8B2E-CD0E-4FB5-95D0-F71DB28FB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160" y="5867280"/>
            <a:ext cx="228600" cy="228600"/>
          </a:xfrm>
          <a:prstGeom xmlns:a="http://schemas.openxmlformats.org/drawingml/2006/main" prst="line">
            <a:avLst/>
          </a:prstGeom>
          <a:ln xmlns:a="http://schemas.openxmlformats.org/drawingml/2006/main" w="1260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2" name="AutoShape 1040">
            <a:extLst xmlns:a="http://schemas.openxmlformats.org/drawingml/2006/main">
              <a:ext uri="{FF2B5EF4-FFF2-40B4-BE49-F238E27FC236}">
                <a16:creationId xmlns:a16="http://schemas.microsoft.com/office/drawing/2014/main" id="{76B91E91-973F-44EB-82EC-966615818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572000"/>
            <a:ext cx="2743200" cy="1066680"/>
          </a:xfrm>
          <a:prstGeom xmlns:a="http://schemas.openxmlformats.org/drawingml/2006/main" prst="cloudCallout">
            <a:avLst>
              <a:gd name="adj1" fmla="val -50694"/>
              <a:gd name="adj2" fmla="val 60416"/>
            </a:avLst>
          </a:prstGeom>
          <a:noFill xmlns:a="http://schemas.openxmlformats.org/drawingml/2006/main"/>
          <a:ln xmlns:a="http://schemas.openxmlformats.org/drawingml/2006/main" w="1260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1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软件接口</a:t>
            </a: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3" name="Line 1041">
            <a:extLst xmlns:a="http://schemas.openxmlformats.org/drawingml/2006/main">
              <a:ext uri="{FF2B5EF4-FFF2-40B4-BE49-F238E27FC236}">
                <a16:creationId xmlns:a16="http://schemas.microsoft.com/office/drawing/2014/main" id="{3BF443DC-14FD-4B01-BDB3-5D4A830A7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080" y="5638680"/>
            <a:ext cx="533520" cy="0"/>
          </a:xfrm>
          <a:prstGeom xmlns:a="http://schemas.openxmlformats.org/drawingml/2006/main" prst="line">
            <a:avLst/>
          </a:prstGeom>
          <a:ln xmlns:a="http://schemas.openxmlformats.org/drawingml/2006/main" w="37800">
            <a:solidFill>
              <a:srgbClr val="000000"/>
            </a:solidFill>
            <a:headEnd type="triangle" w="med" len="med"/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6800" rIns="90000" bIns="-46800" anchor="ctr">
            <a:noAutofit/>
          </a:bodyPr>
          <a:lstStyle xmlns:a="http://schemas.openxmlformats.org/drawingml/2006/main"/>
          <a:p xmlns:a="http://schemas.openxmlformats.org/drawingml/2006/main"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5176746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24681D97-5F04-4ECE-9748-F517755D10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28240" y="166320"/>
            <a:ext cx="8770680" cy="131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90392" tIns="44291" rIns="90392" bIns="44291" anchor="b">
            <a:noAutofit/>
          </a:bodyPr>
          <a:lstStyle xmlns:a="http://schemas.openxmlformats.org/drawingml/2006/main"/>
          <a:p xmlns:a="http://schemas.openxmlformats.org/drawingml/2006/main"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600" b="1" i="1">
                <a:solidFill>
                  <a:srgbClr val="FF0033"/>
                </a:solidFill>
                <a:latin typeface="Arial"/>
                <a:ea typeface="Arial"/>
                <a:cs typeface="Arial"/>
              </a:defRPr>
            </a:pPr>
            <a:r>
              <a:rPr sz="3600" b="1" i="1" u="none">
                <a:solidFill>
                  <a:srgbClr val="FF0033"/>
                </a:solidFill>
                <a:latin typeface="Arial"/>
                <a:ea typeface="Arial"/>
                <a:cs typeface="Arial"/>
              </a:rPr>
              <a:t>文件式选课：可能出什么问题？</a:t>
            </a:r>
          </a:p>
        </p:txBody>
      </p:sp>
      <p:sp>
        <p:nvSpPr>
          <p:cNvPr id="28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A9D33F6-FC57-4B9F-842E-8AFDD951D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880" y="1828800"/>
            <a:ext cx="8381880" cy="4647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90392" tIns="44291" rIns="90392" bIns="44291" anchor="t">
            <a:normAutofit fontScale="100000"/>
          </a:bodyPr>
          <a:lstStyle xmlns:a="http://schemas.openxmlformats.org/drawingml/2006/main"/>
          <a:p xmlns:a="http://schemas.openxmlformats.org/drawingml/2006/main"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Alice 和 Ben 都看到“剩余 1 个名额”，两人却都选课成功。</a:t>
            </a:r>
          </a:p>
          <a:p xmlns:a="http://schemas.openxmlformats.org/drawingml/2006/main"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学生和课程资料被复制到多个电子表格中。</a:t>
            </a:r>
          </a:p>
          <a:p xmlns:a="http://schemas.openxmlformats.org/drawingml/2006/main"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教室变更只更新了一个文件，另一个文件没有更新。</a:t>
            </a:r>
          </a:p>
          <a:p xmlns:a="http://schemas.openxmlformats.org/drawingml/2006/main"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共享的导出文件向未获授权的用户泄露了成绩。</a:t>
            </a:r>
          </a:p>
          <a:p xmlns:a="http://schemas.openxmlformats.org/drawingml/2006/main"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这些分别属于冗余、并发、完整性还是安全问题？</a:t>
            </a:r>
          </a:p>
        </p:txBody>
      </p:sp>
    </p:spTree>
    <p:extLst>
      <p:ext uri="{BB962C8B-B14F-4D97-AF65-F5344CB8AC3E}">
        <p14:creationId xmlns:p14="http://schemas.microsoft.com/office/powerpoint/2010/main" val="46421675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24681D97-5F04-4ECE-9748-F517755D10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28240" y="166320"/>
            <a:ext cx="8770680" cy="131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90392" tIns="44291" rIns="90392" bIns="44291" anchor="b">
            <a:noAutofit/>
          </a:bodyPr>
          <a:lstStyle xmlns:a="http://schemas.openxmlformats.org/drawingml/2006/main"/>
          <a:p xmlns:a="http://schemas.openxmlformats.org/drawingml/2006/main"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600" b="1" i="1">
                <a:solidFill>
                  <a:srgbClr val="FF0033"/>
                </a:solidFill>
                <a:latin typeface="Arial"/>
                <a:ea typeface="Arial"/>
                <a:cs typeface="Arial"/>
              </a:defRPr>
            </a:pPr>
            <a:r>
              <a:rPr sz="3600" b="1" i="1" u="none">
                <a:solidFill>
                  <a:srgbClr val="FF0033"/>
                </a:solidFill>
                <a:latin typeface="Arial"/>
                <a:ea typeface="Arial"/>
                <a:cs typeface="Arial"/>
              </a:rPr>
              <a:t>诊断故障</a:t>
            </a:r>
          </a:p>
        </p:txBody>
      </p:sp>
      <p:sp>
        <p:nvSpPr>
          <p:cNvPr id="28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A9D33F6-FC57-4B9F-842E-8AFDD951D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880" y="1828800"/>
            <a:ext cx="8381880" cy="4647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90392" tIns="44291" rIns="90392" bIns="44291" anchor="t">
            <a:normAutofit fontScale="100000"/>
          </a:bodyPr>
          <a:lstStyle xmlns:a="http://schemas.openxmlformats.org/drawingml/2006/main"/>
          <a:p xmlns:a="http://schemas.openxmlformats.org/drawingml/2006/main"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冗余 → 重复保存的事实变得不一致</a:t>
            </a:r>
          </a:p>
          <a:p xmlns:a="http://schemas.openxmlformats.org/drawingml/2006/main"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并发 → 同时更新导致超额预约或更新丢失</a:t>
            </a:r>
          </a:p>
          <a:p xmlns:a="http://schemas.openxmlformats.org/drawingml/2006/main"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完整性 → 容量规则或键约束被违反</a:t>
            </a:r>
          </a:p>
          <a:p xmlns:a="http://schemas.openxmlformats.org/drawingml/2006/main"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安全 → 文件暴露了超出用户权限的数据</a:t>
            </a:r>
          </a:p>
          <a:p xmlns:a="http://schemas.openxmlformats.org/drawingml/2006/main"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DBMS 对策 → 事务、约束、授权、备份与恢复</a:t>
            </a:r>
          </a:p>
        </p:txBody>
      </p:sp>
    </p:spTree>
    <p:extLst>
      <p:ext uri="{BB962C8B-B14F-4D97-AF65-F5344CB8AC3E}">
        <p14:creationId xmlns:p14="http://schemas.microsoft.com/office/powerpoint/2010/main" val="46421675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4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7ECFC352-52B5-4097-9F53-A78F60CFF5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7040" y="166320"/>
            <a:ext cx="8381880" cy="131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360" tIns="44280" rIns="90360" bIns="44280" anchor="b">
            <a:noAutofit/>
          </a:bodyPr>
          <a:lstStyle xmlns:a="http://schemas.openxmlformats.org/drawingml/2006/main"/>
          <a:p xmlns:a="http://schemas.openxmlformats.org/drawingml/2006/main"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3600" b="1" i="1" u="none">
                <a:solidFill>
                  <a:srgbClr val="FF0033"/>
                </a:solidFill>
                <a:latin typeface="Arial"/>
                <a:ea typeface="Arial"/>
                <a:cs typeface="Arial"/>
              </a:rPr>
              <a:t>数据库系统概览</a:t>
            </a:r>
          </a:p>
        </p:txBody>
      </p:sp>
      <p:sp>
        <p:nvSpPr>
          <p:cNvPr id="75" name="Rectangle 3">
            <a:extLst xmlns:a="http://schemas.openxmlformats.org/drawingml/2006/main">
              <a:ext uri="{FF2B5EF4-FFF2-40B4-BE49-F238E27FC236}">
                <a16:creationId xmlns:a16="http://schemas.microsoft.com/office/drawing/2014/main" id="{9263DD28-7EBE-4496-80F1-B77008BDC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160" y="1785600"/>
            <a:ext cx="8153280" cy="461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360" tIns="44280" rIns="90360" bIns="44280" anchor="t">
            <a:normAutofit fontScale="100000"/>
          </a:bodyPr>
          <a:lstStyle xmlns:a="http://schemas.openxmlformats.org/drawingml/2006/main"/>
          <a:p xmlns:a="http://schemas.openxmlformats.org/drawingml/2006/main">
            <a:pPr marL="342720" indent="-342720" algn="just">
              <a:spcBef>
                <a:spcPts val="601"/>
              </a:spcBef>
              <a:buClr>
                <a:srgbClr val="FF0033"/>
              </a:buClr>
              <a:buSzPct val="75000"/>
              <a:buFont typeface="Zapf Dingbat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（封闭世界）数据库与（开放世界）网络数据／信息系统的区别</a:t>
            </a:r>
            <a:endParaRPr sz="24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42680" lvl="1" indent="-28548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数据库通常针对特定应用领域开发，例如大学不同办公室或学系、银行、公司等所使用的数据库。</a:t>
            </a: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42680" lvl="1" indent="-28548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sng">
                <a:solidFill>
                  <a:srgbClr val="3333CC"/>
                </a:solidFill>
                <a:latin typeface="Arial"/>
                <a:ea typeface="Arial"/>
                <a:cs typeface="Arial"/>
              </a:rPr>
              <a:t>封闭世界假设（CWA）：假定所有事实数据都已存入数据库；数据库中查不到的事实将被视为“假”。</a:t>
            </a: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59200" lvl="1" algn="just"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1" u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         对比</a:t>
            </a: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486000" lvl="2" algn="just"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 开放世界假设（OWA）：找不到的数据可能表示“未知”“不适用”或“尚未取得”等，而不只是简单地判定为真或假。</a:t>
            </a: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985828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A0835AED-B943-459F-8E4E-B71929E20F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7040" y="166320"/>
            <a:ext cx="8381880" cy="131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360" tIns="44280" rIns="90360" bIns="44280" anchor="b">
            <a:noAutofit/>
          </a:bodyPr>
          <a:lstStyle xmlns:a="http://schemas.openxmlformats.org/drawingml/2006/main"/>
          <a:p xmlns:a="http://schemas.openxmlformats.org/drawingml/2006/main"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3600" b="1" i="1" u="none">
                <a:solidFill>
                  <a:srgbClr val="FF0033"/>
                </a:solidFill>
                <a:latin typeface="Arial"/>
                <a:ea typeface="Arial"/>
                <a:cs typeface="Arial"/>
              </a:rPr>
              <a:t>数据库系统导论</a:t>
            </a:r>
          </a:p>
        </p:txBody>
      </p:sp>
      <p:sp>
        <p:nvSpPr>
          <p:cNvPr id="77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3D6FC8AD-AA5C-4F4B-8112-5E81318D24A8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560160" y="1785600"/>
            <a:ext cx="8153280" cy="461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360" tIns="44280" rIns="90360" bIns="44280" anchor="t">
            <a:normAutofit fontScale="100000"/>
          </a:bodyPr>
          <a:lstStyle xmlns:a="http://schemas.openxmlformats.org/drawingml/2006/main"/>
          <a:p xmlns:a="http://schemas.openxmlformats.org/drawingml/2006/main">
            <a:pPr marL="343080" indent="-343080" algn="just">
              <a:spcBef>
                <a:spcPts val="601"/>
              </a:spcBef>
              <a:buClr>
                <a:srgbClr val="FF0033"/>
              </a:buClr>
              <a:buSzPct val="75000"/>
              <a:buFont typeface="Zapf Dingbat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DBMS 与其他程序系统的区别</a:t>
            </a:r>
          </a:p>
          <a:p xmlns:a="http://schemas.openxmlformats.org/drawingml/2006/main"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具备管理持久数据的能力</a:t>
            </a:r>
          </a:p>
          <a:p xmlns:a="http://schemas.openxmlformats.org/drawingml/2006/main"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sng">
                <a:solidFill>
                  <a:srgbClr val="3333CC"/>
                </a:solidFill>
                <a:latin typeface="Arial"/>
                <a:ea typeface="Arial"/>
                <a:cs typeface="Arial"/>
              </a:rPr>
              <a:t>DBMS 的主要目标：提供一个便于、高效且稳健地检索与存储数据的环境</a:t>
            </a:r>
          </a:p>
          <a:p xmlns:a="http://schemas.openxmlformats.org/drawingml/2006/main">
            <a:pPr marL="343080" indent="-343080" algn="l">
              <a:spcBef>
                <a:spcPts val="601"/>
              </a:spcBef>
              <a:buClr>
                <a:srgbClr val="FF0033"/>
              </a:buClr>
              <a:buSzPct val="75000"/>
              <a:buFont typeface="Zapf Dingbat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DBMS 的其他能力</a:t>
            </a:r>
          </a:p>
          <a:p xmlns:a="http://schemas.openxmlformats.org/drawingml/2006/main"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数据建模</a:t>
            </a:r>
          </a:p>
          <a:p xmlns:a="http://schemas.openxmlformats.org/drawingml/2006/main"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用于定义、访问和操纵数据的高级语言</a:t>
            </a:r>
          </a:p>
          <a:p xmlns:a="http://schemas.openxmlformats.org/drawingml/2006/main"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事务管理与并发控制</a:t>
            </a:r>
          </a:p>
          <a:p xmlns:a="http://schemas.openxmlformats.org/drawingml/2006/main"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访问控制</a:t>
            </a:r>
          </a:p>
          <a:p xmlns:a="http://schemas.openxmlformats.org/drawingml/2006/main"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恢复</a:t>
            </a:r>
          </a:p>
        </p:txBody>
      </p:sp>
    </p:spTree>
    <p:extLst>
      <p:ext uri="{BB962C8B-B14F-4D97-AF65-F5344CB8AC3E}">
        <p14:creationId xmlns:p14="http://schemas.microsoft.com/office/powerpoint/2010/main" val="21744394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8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4660F552-115A-4D13-A96B-F30C6BA08E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7040" y="166320"/>
            <a:ext cx="8381880" cy="131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360" tIns="44280" rIns="90360" bIns="44280" anchor="b">
            <a:noAutofit/>
          </a:bodyPr>
          <a:lstStyle xmlns:a="http://schemas.openxmlformats.org/drawingml/2006/main"/>
          <a:p xmlns:a="http://schemas.openxmlformats.org/drawingml/2006/main"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3600" b="1" i="1" u="none">
                <a:solidFill>
                  <a:srgbClr val="FF0033"/>
                </a:solidFill>
                <a:latin typeface="Arial"/>
                <a:ea typeface="Arial"/>
                <a:cs typeface="Arial"/>
              </a:rPr>
              <a:t>数据库系统导论</a:t>
            </a:r>
          </a:p>
        </p:txBody>
      </p:sp>
      <p:sp>
        <p:nvSpPr>
          <p:cNvPr id="79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BC8DD30A-CD42-4F84-8BC1-80A130ED7865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151920" y="1785600"/>
            <a:ext cx="8991720" cy="461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360" tIns="44280" rIns="90360" bIns="44280" anchor="t">
            <a:normAutofit fontScale="100000"/>
          </a:bodyPr>
          <a:lstStyle xmlns:a="http://schemas.openxmlformats.org/drawingml/2006/main"/>
          <a:p xmlns:a="http://schemas.openxmlformats.org/drawingml/2006/main">
            <a:pPr marL="343080" indent="-343080" algn="just">
              <a:spcBef>
                <a:spcPts val="601"/>
              </a:spcBef>
              <a:buClr>
                <a:srgbClr val="FF0033"/>
              </a:buClr>
              <a:buSzPct val="75000"/>
              <a:buFont typeface="Zapf Dingbat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数据抽象</a:t>
            </a:r>
          </a:p>
          <a:p xmlns:a="http://schemas.openxmlformats.org/drawingml/2006/main"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数据库可能很复杂；根据角色不同，用户只需了解系统中与自己相关的部分。</a:t>
            </a:r>
          </a:p>
          <a:p xmlns:a="http://schemas.openxmlformats.org/drawingml/2006/main"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数据的抽象视图（数据抽象）</a:t>
            </a:r>
          </a:p>
          <a:p xmlns:a="http://schemas.openxmlformats.org/drawingml/2006/main">
            <a:pPr marL="1143000" lvl="2" indent="-22860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简化与系统的交互</a:t>
            </a:r>
          </a:p>
          <a:p xmlns:a="http://schemas.openxmlformats.org/drawingml/2006/main">
            <a:pPr marL="1143000" lvl="2" indent="-22860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隐藏数据存储与操纵的细节</a:t>
            </a:r>
          </a:p>
          <a:p xmlns:a="http://schemas.openxmlformats.org/drawingml/2006/main">
            <a:pPr marL="743040" lvl="1" indent="-285840" algn="l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抽象层次</a:t>
            </a:r>
          </a:p>
          <a:p xmlns:a="http://schemas.openxmlformats.org/drawingml/2006/main">
            <a:pPr marL="1143000" lvl="2" indent="-22860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物理／内部层：数据结构；数据实际如何存储</a:t>
            </a:r>
          </a:p>
          <a:p xmlns:a="http://schemas.openxmlformats.org/drawingml/2006/main">
            <a:pPr marL="1143000" lvl="2" indent="-22860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概念层：模式；实际存储哪些数据</a:t>
            </a:r>
          </a:p>
          <a:p xmlns:a="http://schemas.openxmlformats.org/drawingml/2006/main">
            <a:pPr marL="1143000" lvl="2" indent="-22860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视图／外部层：局部模式</a:t>
            </a:r>
          </a:p>
        </p:txBody>
      </p:sp>
    </p:spTree>
    <p:extLst>
      <p:ext uri="{BB962C8B-B14F-4D97-AF65-F5344CB8AC3E}">
        <p14:creationId xmlns:p14="http://schemas.microsoft.com/office/powerpoint/2010/main" val="1662812880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0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36FF7256-2574-4234-97BF-D49A08018F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7040" y="166320"/>
            <a:ext cx="8381880" cy="131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360" tIns="44280" rIns="90360" bIns="44280" anchor="b">
            <a:noAutofit/>
          </a:bodyPr>
          <a:lstStyle xmlns:a="http://schemas.openxmlformats.org/drawingml/2006/main"/>
          <a:p xmlns:a="http://schemas.openxmlformats.org/drawingml/2006/main"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3600" b="1" i="1" u="none">
                <a:solidFill>
                  <a:srgbClr val="FF0033"/>
                </a:solidFill>
                <a:latin typeface="Arial"/>
                <a:ea typeface="Arial"/>
                <a:cs typeface="Arial"/>
              </a:rPr>
              <a:t>数据抽象：三级模式结构</a:t>
            </a:r>
          </a:p>
        </p:txBody>
      </p:sp>
      <p:pic>
        <p:nvPicPr>
          <p:cNvPr id="83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a091e226484374"/>
          <a:stretch xmlns:a="http://schemas.openxmlformats.org/drawingml/2006/main"/>
        </p:blipFill>
        <p:spPr>
          <a:xfrm xmlns:a="http://schemas.openxmlformats.org/drawingml/2006/main">
            <a:off x="533160" y="1785600"/>
            <a:ext cx="7709040" cy="4615200"/>
          </a:xfrm>
          <a:prstGeom xmlns:a="http://schemas.openxmlformats.org/drawingml/2006/main" prst="rect">
            <a:avLst/>
          </a:prstGeom>
          <a:ln xmlns:a="http://schemas.openxmlformats.org/drawingml/2006/main" w="38160">
            <a:noFill/>
          </a:ln>
        </p:spPr>
      </p:pic>
    </p:spTree>
    <p:extLst>
      <p:ext uri="{BB962C8B-B14F-4D97-AF65-F5344CB8AC3E}">
        <p14:creationId xmlns:p14="http://schemas.microsoft.com/office/powerpoint/2010/main" val="514700718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18BF148E-AA3E-4FED-9C94-BD78EDA86E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7040" y="166320"/>
            <a:ext cx="8381880" cy="131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360" tIns="44280" rIns="90360" bIns="44280" anchor="b">
            <a:no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3600" b="1" i="1" u="none">
                <a:solidFill>
                  <a:srgbClr val="FF0033"/>
                </a:solidFill>
                <a:latin typeface="Arial"/>
                <a:ea typeface="Arial"/>
                <a:cs typeface="Arial"/>
              </a:rPr>
              <a:t>数据模型</a:t>
            </a:r>
          </a:p>
        </p:txBody>
      </p:sp>
      <p:sp>
        <p:nvSpPr>
          <p:cNvPr id="83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5F28D916-1FEE-4AC3-88CB-0F5C8E44E98E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560160" y="1785600"/>
            <a:ext cx="8153280" cy="461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360" tIns="44280" rIns="90360" bIns="44280" anchor="t">
            <a:normAutofit fontScale="100000"/>
          </a:bodyPr>
          <a:lstStyle xmlns:a="http://schemas.openxmlformats.org/drawingml/2006/main"/>
          <a:p xmlns:a="http://schemas.openxmlformats.org/drawingml/2006/main">
            <a:pPr marL="343080" indent="-343080" algn="just">
              <a:spcBef>
                <a:spcPts val="601"/>
              </a:spcBef>
              <a:buClr>
                <a:srgbClr val="FF0033"/>
              </a:buClr>
              <a:buSzPct val="75000"/>
              <a:buFont typeface="Zapf Dingbat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数据模型</a:t>
            </a:r>
          </a:p>
          <a:p xmlns:a="http://schemas.openxmlformats.org/drawingml/2006/main"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一组用于描述数据、数据关系、操作及一致性约束的概念工具</a:t>
            </a:r>
          </a:p>
          <a:p xmlns:a="http://schemas.openxmlformats.org/drawingml/2006/main"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数据库的“核心”</a:t>
            </a:r>
          </a:p>
          <a:p xmlns:a="http://schemas.openxmlformats.org/drawingml/2006/main">
            <a:pPr marL="343080" indent="-343080" algn="just">
              <a:spcBef>
                <a:spcPts val="601"/>
              </a:spcBef>
              <a:buClr>
                <a:srgbClr val="FF0033"/>
              </a:buClr>
              <a:buSzPct val="75000"/>
              <a:buFont typeface="Zapf Dingbat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数据模型的类别</a:t>
            </a:r>
          </a:p>
          <a:p xmlns:a="http://schemas.openxmlformats.org/drawingml/2006/main"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基于对象的逻辑模型（概念层与视图层）</a:t>
            </a:r>
          </a:p>
          <a:p xmlns:a="http://schemas.openxmlformats.org/drawingml/2006/main">
            <a:pPr marL="1143000" lvl="2" indent="-22860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FD020F"/>
                </a:solidFill>
                <a:latin typeface="Arial"/>
                <a:ea typeface="Arial"/>
                <a:cs typeface="Arial"/>
              </a:rPr>
              <a:t>实体—联系（ER）模型——20 世纪 70 年代中期</a:t>
            </a:r>
          </a:p>
          <a:p xmlns:a="http://schemas.openxmlformats.org/drawingml/2006/main">
            <a:pPr marL="1143000" lvl="2" indent="-22860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语义数据模型——20 世纪 80 年代初／中期</a:t>
            </a:r>
          </a:p>
          <a:p xmlns:a="http://schemas.openxmlformats.org/drawingml/2006/main">
            <a:pPr marL="1143000" lvl="2" indent="-22860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面向对象数据模型——20 世纪 80 年代后期</a:t>
            </a:r>
          </a:p>
          <a:p xmlns:a="http://schemas.openxmlformats.org/drawingml/2006/main"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基于记录的逻辑模型（概念层与视图层）</a:t>
            </a:r>
          </a:p>
          <a:p xmlns:a="http://schemas.openxmlformats.org/drawingml/2006/main">
            <a:pPr marL="1143000" lvl="2" indent="-22860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网状模型与层次模型——20 世纪 60 年代</a:t>
            </a:r>
          </a:p>
          <a:p xmlns:a="http://schemas.openxmlformats.org/drawingml/2006/main">
            <a:pPr marL="1143000" lvl="2" indent="-22860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FD020F"/>
                </a:solidFill>
                <a:latin typeface="Arial"/>
                <a:ea typeface="Arial"/>
                <a:cs typeface="Arial"/>
              </a:rPr>
              <a:t>关系模型——20 世纪 70 年代初</a:t>
            </a:r>
          </a:p>
        </p:txBody>
      </p:sp>
    </p:spTree>
    <p:extLst>
      <p:ext uri="{BB962C8B-B14F-4D97-AF65-F5344CB8AC3E}">
        <p14:creationId xmlns:p14="http://schemas.microsoft.com/office/powerpoint/2010/main" val="1236528481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4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46D48D03-0320-483A-9614-E9BAFC2895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7040" y="166320"/>
            <a:ext cx="8381880" cy="131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360" tIns="44280" rIns="90360" bIns="44280" anchor="b">
            <a:no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3600" b="1" i="1" u="none">
                <a:solidFill>
                  <a:srgbClr val="FF0033"/>
                </a:solidFill>
                <a:latin typeface="Arial"/>
                <a:ea typeface="Arial"/>
                <a:cs typeface="Arial"/>
              </a:rPr>
              <a:t>数据模型</a:t>
            </a:r>
          </a:p>
        </p:txBody>
      </p:sp>
      <p:sp>
        <p:nvSpPr>
          <p:cNvPr id="85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93320B77-7275-4E0B-9936-FF130E30CC0B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560160" y="1785600"/>
            <a:ext cx="8153280" cy="461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360" tIns="44280" rIns="90360" bIns="44280" anchor="t">
            <a:normAutofit fontScale="100000"/>
          </a:bodyPr>
          <a:lstStyle xmlns:a="http://schemas.openxmlformats.org/drawingml/2006/main"/>
          <a:p xmlns:a="http://schemas.openxmlformats.org/drawingml/2006/main">
            <a:pPr marL="343080" indent="-343080" algn="just">
              <a:spcBef>
                <a:spcPts val="601"/>
              </a:spcBef>
              <a:buClr>
                <a:srgbClr val="FF0033"/>
              </a:buClr>
              <a:buSzPct val="75000"/>
              <a:buFont typeface="Zapf Dingbat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数据模型的类别（续）</a:t>
            </a:r>
          </a:p>
          <a:p xmlns:a="http://schemas.openxmlformats.org/drawingml/2006/main"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物理数据模型（内部层）</a:t>
            </a:r>
          </a:p>
          <a:p xmlns:a="http://schemas.openxmlformats.org/drawingml/2006/main">
            <a:pPr marL="1143000" lvl="2" indent="-22860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统一模型</a:t>
            </a:r>
          </a:p>
          <a:p xmlns:a="http://schemas.openxmlformats.org/drawingml/2006/main">
            <a:pPr marL="1143000" lvl="2" indent="-22860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框架记忆模型</a:t>
            </a:r>
          </a:p>
          <a:p xmlns:a="http://schemas.openxmlformats.org/drawingml/2006/main">
            <a:pPr marL="421200" lvl="1" indent="-162000" algn="just"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  （本课程不会学习这些模型。）</a:t>
            </a:r>
            <a:endParaRPr sz="2000" b="0" u="none">
              <a:solidFill>
                <a:srgbClr val="3333CC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421200" lvl="1" indent="-162000" algn="just"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0" u="none">
              <a:solidFill>
                <a:srgbClr val="3333CC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43080" indent="-343080" algn="just">
              <a:spcBef>
                <a:spcPts val="601"/>
              </a:spcBef>
              <a:buClr>
                <a:srgbClr val="FF0033"/>
              </a:buClr>
              <a:buSzPct val="75000"/>
              <a:buFont typeface="Zapf Dingbat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基本概念与术语</a:t>
            </a:r>
          </a:p>
          <a:p xmlns:a="http://schemas.openxmlformats.org/drawingml/2006/main">
            <a:pPr marL="743040" lvl="1" indent="-285840" algn="l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i="1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实例</a:t>
            </a:r>
            <a:endParaRPr sz="2000" b="0" u="none">
              <a:solidFill>
                <a:srgbClr val="3333CC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648000" lvl="2" indent="-129600" algn="l">
              <a:spcBef>
                <a:spcPts val="499"/>
              </a:spcBef>
              <a:buNone/>
              <a:tabLst>
                <a:tab pos="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i="1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- 某一时刻存储在数据库中的数据（信息）集合，即一个快照</a:t>
            </a:r>
          </a:p>
          <a:p xmlns:a="http://schemas.openxmlformats.org/drawingml/2006/main">
            <a:pPr marL="743040" lvl="1" indent="-285840" algn="l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i="1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模式（schema）</a:t>
            </a:r>
            <a:endParaRPr sz="2000" b="0" u="none">
              <a:solidFill>
                <a:srgbClr val="3333CC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648000" lvl="2" indent="-129600" algn="l">
              <a:spcBef>
                <a:spcPts val="499"/>
              </a:spcBef>
              <a:buNone/>
              <a:tabLst>
                <a:tab pos="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i="1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- 数据库的整体结构（设计）——相对静态</a:t>
            </a:r>
            <a:endParaRPr sz="2000" b="0" u="none">
              <a:solidFill>
                <a:srgbClr val="3333CC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54127655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6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E5F13B4F-0D64-44FB-A7C5-A7F342D87E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04560" y="166320"/>
            <a:ext cx="8694720" cy="131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360" tIns="44280" rIns="90360" bIns="44280" anchor="b">
            <a:no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3600" b="1" i="1" u="none">
                <a:solidFill>
                  <a:srgbClr val="FF0033"/>
                </a:solidFill>
                <a:latin typeface="Arial"/>
                <a:ea typeface="Arial"/>
                <a:cs typeface="Arial"/>
              </a:rPr>
              <a:t>基本概念与术语</a:t>
            </a:r>
          </a:p>
        </p:txBody>
      </p:sp>
      <p:sp>
        <p:nvSpPr>
          <p:cNvPr id="87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AE335F71-6F4E-482E-9BEC-17AF78C29269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560160" y="1785600"/>
            <a:ext cx="8153280" cy="461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360" tIns="44280" rIns="90360" bIns="44280" anchor="t">
            <a:normAutofit fontScale="100000"/>
          </a:bodyPr>
          <a:lstStyle xmlns:a="http://schemas.openxmlformats.org/drawingml/2006/main"/>
          <a:p xmlns:a="http://schemas.openxmlformats.org/drawingml/2006/main">
            <a:pPr marL="343080" indent="-343080" algn="l">
              <a:spcBef>
                <a:spcPts val="499"/>
              </a:spcBef>
              <a:buClr>
                <a:srgbClr val="FF0033"/>
              </a:buClr>
              <a:buSzPct val="75000"/>
              <a:buFont typeface="Zapf Dingbat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i="1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数据独立性</a:t>
            </a:r>
            <a:endParaRPr sz="2000" b="0" u="none">
              <a:solidFill>
                <a:srgbClr val="3333CC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43040" lvl="1" indent="-285840" algn="l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在不影响上一层模式的情况下修改某一层模式定义的能力</a:t>
            </a:r>
          </a:p>
          <a:p xmlns:a="http://schemas.openxmlformats.org/drawingml/2006/main">
            <a:pPr marL="743040" lvl="1" indent="-285840" algn="l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由三级模式结构产生两种数据独立性：</a:t>
            </a:r>
          </a:p>
          <a:p xmlns:a="http://schemas.openxmlformats.org/drawingml/2006/main">
            <a:pPr marL="1143000" lvl="2" indent="-228600" algn="l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1" i="1" u="none">
                <a:solidFill>
                  <a:srgbClr val="FD020F"/>
                </a:solidFill>
                <a:latin typeface="Arial"/>
                <a:ea typeface="Arial"/>
                <a:cs typeface="Arial"/>
              </a:rPr>
              <a:t>物理数据独立性</a:t>
            </a:r>
            <a:endParaRPr sz="2000" b="0" u="none">
              <a:solidFill>
                <a:srgbClr val="3333CC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057400" lvl="4" indent="-228600" algn="l">
              <a:spcBef>
                <a:spcPts val="499"/>
              </a:spcBef>
              <a:buNone/>
              <a:tabLst>
                <a:tab pos="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i="1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——修改物理模式而不改变概念模式，因而无须重写应用程序的能力</a:t>
            </a:r>
            <a:endParaRPr sz="2000" b="0" u="none">
              <a:solidFill>
                <a:srgbClr val="3333CC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143000" lvl="2" indent="-228600" algn="l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1" i="1" u="none">
                <a:solidFill>
                  <a:srgbClr val="FD020F"/>
                </a:solidFill>
                <a:latin typeface="Arial"/>
                <a:ea typeface="Arial"/>
                <a:cs typeface="Arial"/>
              </a:rPr>
              <a:t>逻辑数据独立性</a:t>
            </a:r>
            <a:endParaRPr sz="2000" b="0" u="none">
              <a:solidFill>
                <a:srgbClr val="3333CC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057400" lvl="4" indent="-228600" algn="l">
              <a:spcBef>
                <a:spcPts val="499"/>
              </a:spcBef>
              <a:buNone/>
              <a:tabLst>
                <a:tab pos="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i="1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——修改概念模式而无须重写应用程序的能力</a:t>
            </a:r>
            <a:endParaRPr sz="2000" b="0" u="none">
              <a:solidFill>
                <a:srgbClr val="3333CC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057400" lvl="4" indent="-228600" algn="l">
              <a:spcBef>
                <a:spcPts val="499"/>
              </a:spcBef>
              <a:buNone/>
              <a:tabLst>
                <a:tab pos="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0" u="none">
              <a:solidFill>
                <a:srgbClr val="3333CC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93817338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8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4ED2F401-0B06-4373-9AB4-E2B6BB063C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7040" y="166320"/>
            <a:ext cx="8381880" cy="131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360" tIns="44280" rIns="90360" bIns="44280" anchor="b">
            <a:noAutofit/>
          </a:bodyPr>
          <a:lstStyle xmlns:a="http://schemas.openxmlformats.org/drawingml/2006/main"/>
          <a:p xmlns:a="http://schemas.openxmlformats.org/drawingml/2006/main"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3600" b="1" i="1" u="none">
                <a:solidFill>
                  <a:srgbClr val="FF0033"/>
                </a:solidFill>
                <a:latin typeface="Arial"/>
                <a:ea typeface="Arial"/>
                <a:cs typeface="Arial"/>
              </a:rPr>
              <a:t>数据抽象：三级模式结构</a:t>
            </a:r>
          </a:p>
        </p:txBody>
      </p:sp>
      <p:pic>
        <p:nvPicPr>
          <p:cNvPr id="91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6e5631aef94731"/>
          <a:stretch xmlns:a="http://schemas.openxmlformats.org/drawingml/2006/main"/>
        </p:blipFill>
        <p:spPr>
          <a:xfrm xmlns:a="http://schemas.openxmlformats.org/drawingml/2006/main">
            <a:off x="533160" y="1785600"/>
            <a:ext cx="7709040" cy="4615200"/>
          </a:xfrm>
          <a:prstGeom xmlns:a="http://schemas.openxmlformats.org/drawingml/2006/main" prst="rect">
            <a:avLst/>
          </a:prstGeom>
          <a:ln xmlns:a="http://schemas.openxmlformats.org/drawingml/2006/main" w="38160">
            <a:noFill/>
          </a:ln>
        </p:spPr>
      </p:pic>
    </p:spTree>
    <p:extLst>
      <p:ext uri="{BB962C8B-B14F-4D97-AF65-F5344CB8AC3E}">
        <p14:creationId xmlns:p14="http://schemas.microsoft.com/office/powerpoint/2010/main" val="2061446044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24681D97-5F04-4ECE-9748-F517755D10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28240" y="166320"/>
            <a:ext cx="8770680" cy="131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90392" tIns="44291" rIns="90392" bIns="44291" anchor="b">
            <a:noAutofit/>
          </a:bodyPr>
          <a:lstStyle xmlns:a="http://schemas.openxmlformats.org/drawingml/2006/main"/>
          <a:p xmlns:a="http://schemas.openxmlformats.org/drawingml/2006/main"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600" b="1" i="1">
                <a:solidFill>
                  <a:srgbClr val="FF0033"/>
                </a:solidFill>
                <a:latin typeface="Arial"/>
                <a:ea typeface="Arial"/>
                <a:cs typeface="Arial"/>
              </a:defRPr>
            </a:pPr>
            <a:r>
              <a:rPr sz="3600" b="1" i="1" u="none">
                <a:solidFill>
                  <a:srgbClr val="FF0033"/>
                </a:solidFill>
                <a:latin typeface="Arial"/>
                <a:ea typeface="Arial"/>
                <a:cs typeface="Arial"/>
              </a:rPr>
              <a:t>概念检查：模式还是实例？</a:t>
            </a:r>
          </a:p>
        </p:txBody>
      </p:sp>
      <p:sp>
        <p:nvSpPr>
          <p:cNvPr id="28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A9D33F6-FC57-4B9F-842E-8AFDD951D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880" y="1828800"/>
            <a:ext cx="8381880" cy="4647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90392" tIns="44291" rIns="90392" bIns="44291" anchor="t">
            <a:normAutofit fontScale="100000"/>
          </a:bodyPr>
          <a:lstStyle xmlns:a="http://schemas.openxmlformats.org/drawingml/2006/main"/>
          <a:p xmlns:a="http://schemas.openxmlformats.org/drawingml/2006/main"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A. COURSE(code, title, credits)——模式还是实例？</a:t>
            </a:r>
          </a:p>
          <a:p xmlns:a="http://schemas.openxmlformats.org/drawingml/2006/main"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B. (COMP5111, Database Systems, 3)——模式还是实例？</a:t>
            </a:r>
          </a:p>
          <a:p xmlns:a="http://schemas.openxmlformats.org/drawingml/2006/main"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C. 不改应用程序而重建索引——属于哪种独立性？</a:t>
            </a:r>
          </a:p>
          <a:p xmlns:a="http://schemas.openxmlformats.org/drawingml/2006/main"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D. 不改用户视图而增加可选属性——属于哪种独立性？</a:t>
            </a:r>
          </a:p>
          <a:p xmlns:a="http://schemas.openxmlformats.org/drawingml/2006/main"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先投票，再向邻座说明其中一个答案的理由。</a:t>
            </a:r>
          </a:p>
        </p:txBody>
      </p:sp>
    </p:spTree>
    <p:extLst>
      <p:ext uri="{BB962C8B-B14F-4D97-AF65-F5344CB8AC3E}">
        <p14:creationId xmlns:p14="http://schemas.microsoft.com/office/powerpoint/2010/main" val="464216751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24681D97-5F04-4ECE-9748-F517755D10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28240" y="166320"/>
            <a:ext cx="8770680" cy="131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90392" tIns="44291" rIns="90392" bIns="44291" anchor="b">
            <a:noAutofit/>
          </a:bodyPr>
          <a:lstStyle xmlns:a="http://schemas.openxmlformats.org/drawingml/2006/main"/>
          <a:p xmlns:a="http://schemas.openxmlformats.org/drawingml/2006/main"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600" b="1" i="1">
                <a:solidFill>
                  <a:srgbClr val="FF0033"/>
                </a:solidFill>
                <a:latin typeface="Arial"/>
                <a:ea typeface="Arial"/>
                <a:cs typeface="Arial"/>
              </a:defRPr>
            </a:pPr>
            <a:r>
              <a:rPr sz="3600" b="1" i="1" u="none">
                <a:solidFill>
                  <a:srgbClr val="FF0033"/>
                </a:solidFill>
                <a:latin typeface="Arial"/>
                <a:ea typeface="Arial"/>
                <a:cs typeface="Arial"/>
              </a:rPr>
              <a:t>休息——10 分钟</a:t>
            </a:r>
          </a:p>
        </p:txBody>
      </p:sp>
      <p:sp>
        <p:nvSpPr>
          <p:cNvPr id="28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A9D33F6-FC57-4B9F-842E-8AFDD951D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880" y="1828800"/>
            <a:ext cx="8381880" cy="4647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90392" tIns="44291" rIns="90392" bIns="44291" anchor="t">
            <a:normAutofit fontScale="100000"/>
          </a:bodyPr>
          <a:lstStyle xmlns:a="http://schemas.openxmlformats.org/drawingml/2006/main"/>
          <a:p xmlns:a="http://schemas.openxmlformats.org/drawingml/2006/main"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回来后准备把 DDL、DML、系统结构与查询联系起来。</a:t>
            </a:r>
          </a:p>
          <a:p xmlns:a="http://schemas.openxmlformats.org/drawingml/2006/main"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休息后：先预览一个 SQL 示例，再进行 ER 建模。</a:t>
            </a:r>
          </a:p>
        </p:txBody>
      </p:sp>
    </p:spTree>
    <p:extLst>
      <p:ext uri="{BB962C8B-B14F-4D97-AF65-F5344CB8AC3E}">
        <p14:creationId xmlns:p14="http://schemas.microsoft.com/office/powerpoint/2010/main" val="464216751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0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DAA9AD14-BC3A-4351-8A1B-6E49691D67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7040" y="166320"/>
            <a:ext cx="8381880" cy="131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360" tIns="44280" rIns="90360" bIns="44280" anchor="b">
            <a:no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3600" b="1" i="1" u="none">
                <a:solidFill>
                  <a:srgbClr val="FF0033"/>
                </a:solidFill>
                <a:latin typeface="Arial"/>
                <a:ea typeface="Arial"/>
                <a:cs typeface="Arial"/>
              </a:rPr>
              <a:t>基本概念与术语</a:t>
            </a:r>
          </a:p>
        </p:txBody>
      </p:sp>
      <p:sp>
        <p:nvSpPr>
          <p:cNvPr id="91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11EE4318-54DB-407B-917F-8A899D88CA7D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560160" y="1785600"/>
            <a:ext cx="8153280" cy="461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360" tIns="44280" rIns="90360" bIns="44280" anchor="t">
            <a:normAutofit fontScale="100000"/>
          </a:bodyPr>
          <a:lstStyle xmlns:a="http://schemas.openxmlformats.org/drawingml/2006/main"/>
          <a:p xmlns:a="http://schemas.openxmlformats.org/drawingml/2006/main">
            <a:pPr marL="343080" indent="-343080" algn="l">
              <a:spcBef>
                <a:spcPts val="601"/>
              </a:spcBef>
              <a:buClr>
                <a:srgbClr val="FF0033"/>
              </a:buClr>
              <a:buSzPct val="75000"/>
              <a:buFont typeface="Zapf Dingbat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0" i="1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数据定义语言（DDL）</a:t>
            </a:r>
            <a:endParaRPr sz="2400" b="0" u="none">
              <a:solidFill>
                <a:srgbClr val="3333CC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648000" lvl="2" indent="-129600" algn="l">
              <a:spcBef>
                <a:spcPts val="601"/>
              </a:spcBef>
              <a:buNone/>
              <a:tabLst>
                <a:tab pos="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0" i="1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- 用于定义数据库模式的语言</a:t>
            </a:r>
          </a:p>
          <a:p xmlns:a="http://schemas.openxmlformats.org/drawingml/2006/main">
            <a:pPr marL="648000" lvl="2" indent="-129600" algn="l">
              <a:spcBef>
                <a:spcPts val="601"/>
              </a:spcBef>
              <a:buNone/>
              <a:tabLst>
                <a:tab pos="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- DDL 语句编译后写入数据字典；数据字典是保存元数据（关于数据的数据）的文件，例如表的说明</a:t>
            </a:r>
          </a:p>
          <a:p xmlns:a="http://schemas.openxmlformats.org/drawingml/2006/main">
            <a:pPr marL="343080" indent="-343080" algn="l">
              <a:spcBef>
                <a:spcPts val="601"/>
              </a:spcBef>
              <a:buClr>
                <a:srgbClr val="FF0033"/>
              </a:buClr>
              <a:buSzPct val="75000"/>
              <a:buFont typeface="Zapf Dingbat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0" i="1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数据操纵语言（DML）</a:t>
            </a:r>
            <a:endParaRPr sz="2400" b="0" u="none">
              <a:solidFill>
                <a:srgbClr val="3333CC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143000" lvl="2" indent="-228600" algn="l">
              <a:spcBef>
                <a:spcPts val="601"/>
              </a:spcBef>
              <a:buClr>
                <a:srgbClr val="3333CC"/>
              </a:buClr>
              <a:buFont typeface="Helvetica"/>
              <a:buChar char="-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使用户能够操纵数据的语言 </a:t>
            </a:r>
          </a:p>
          <a:p xmlns:a="http://schemas.openxmlformats.org/drawingml/2006/main">
            <a:pPr marL="648000" lvl="2" indent="-129600" algn="l">
              <a:spcBef>
                <a:spcPts val="601"/>
              </a:spcBef>
              <a:buNone/>
              <a:tabLst>
                <a:tab pos="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- 用于检索数据的重要子集称为查询语言</a:t>
            </a:r>
            <a:endParaRPr sz="2400" b="0" u="none">
              <a:solidFill>
                <a:srgbClr val="3333CC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648000" lvl="2" indent="-129600" algn="l">
              <a:spcBef>
                <a:spcPts val="601"/>
              </a:spcBef>
              <a:buNone/>
              <a:tabLst>
                <a:tab pos="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- DML 分为两类：过程式（指定“做什么”及“怎么做”）与声明式（只指定“做什么”）</a:t>
            </a:r>
          </a:p>
        </p:txBody>
      </p:sp>
    </p:spTree>
    <p:extLst>
      <p:ext uri="{BB962C8B-B14F-4D97-AF65-F5344CB8AC3E}">
        <p14:creationId xmlns:p14="http://schemas.microsoft.com/office/powerpoint/2010/main" val="1187173273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3CB7FE28-82EA-4372-9851-178F03B9A2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7040" y="166320"/>
            <a:ext cx="8381880" cy="131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360" tIns="44280" rIns="90360" bIns="44280" anchor="b">
            <a:no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3600" b="1" i="1" u="none">
                <a:solidFill>
                  <a:srgbClr val="FF0033"/>
                </a:solidFill>
                <a:latin typeface="Arial"/>
                <a:ea typeface="Arial"/>
                <a:cs typeface="Arial"/>
              </a:rPr>
              <a:t>基本概念与术语</a:t>
            </a:r>
          </a:p>
        </p:txBody>
      </p:sp>
      <p:sp>
        <p:nvSpPr>
          <p:cNvPr id="93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E50DE443-9BFB-4486-A0E7-255CF478BFB7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560160" y="1785600"/>
            <a:ext cx="8431200" cy="461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360" tIns="44280" rIns="90360" bIns="44280" anchor="t">
            <a:normAutofit fontScale="100000"/>
          </a:bodyPr>
          <a:lstStyle xmlns:a="http://schemas.openxmlformats.org/drawingml/2006/main"/>
          <a:p xmlns:a="http://schemas.openxmlformats.org/drawingml/2006/main">
            <a:pPr marL="343080" indent="-343080" algn="l">
              <a:spcBef>
                <a:spcPts val="700"/>
              </a:spcBef>
              <a:buClr>
                <a:srgbClr val="FF0033"/>
              </a:buClr>
              <a:buSzPct val="75000"/>
              <a:buFont typeface="Zapf Dingbat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800" b="0" i="1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数据库用户</a:t>
            </a:r>
            <a:endParaRPr sz="2800" b="0" u="none">
              <a:solidFill>
                <a:srgbClr val="3333CC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43040" lvl="1" indent="-285840" algn="l">
              <a:spcBef>
                <a:spcPts val="700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8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应用程序员</a:t>
            </a:r>
          </a:p>
          <a:p xmlns:a="http://schemas.openxmlformats.org/drawingml/2006/main">
            <a:pPr marL="1143000" lvl="2" indent="-228600" algn="l">
              <a:spcBef>
                <a:spcPts val="700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8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用宿主语言编写嵌入式 DML</a:t>
            </a:r>
          </a:p>
          <a:p xmlns:a="http://schemas.openxmlformats.org/drawingml/2006/main">
            <a:pPr marL="743040" lvl="1" indent="-285840" algn="l">
              <a:spcBef>
                <a:spcPts val="700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8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交互式用户：</a:t>
            </a:r>
          </a:p>
          <a:p xmlns:a="http://schemas.openxmlformats.org/drawingml/2006/main">
            <a:pPr marL="1143000" lvl="2" indent="-228600" algn="l">
              <a:spcBef>
                <a:spcPts val="700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8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使用查询语言	</a:t>
            </a:r>
          </a:p>
          <a:p xmlns:a="http://schemas.openxmlformats.org/drawingml/2006/main">
            <a:pPr marL="743040" lvl="1" indent="-285840" algn="l">
              <a:spcBef>
                <a:spcPts val="700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8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普通用户：</a:t>
            </a:r>
          </a:p>
          <a:p xmlns:a="http://schemas.openxmlformats.org/drawingml/2006/main">
            <a:pPr marL="1143000" lvl="2" indent="-228600" algn="l">
              <a:spcBef>
                <a:spcPts val="700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8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运行应用程序</a:t>
            </a:r>
          </a:p>
          <a:p xmlns:a="http://schemas.openxmlformats.org/drawingml/2006/main">
            <a:pPr marL="1600200" lvl="3" indent="0" algn="l">
              <a:spcBef>
                <a:spcPts val="700"/>
              </a:spcBef>
              <a:buNone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800" b="0" u="none">
              <a:solidFill>
                <a:srgbClr val="3333CC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61364234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4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5D27EA39-CC32-4A3E-8EFF-E40269FB75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7040" y="166320"/>
            <a:ext cx="8381880" cy="131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360" tIns="44280" rIns="90360" bIns="44280" anchor="b">
            <a:no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3600" b="1" i="1" u="none">
                <a:solidFill>
                  <a:srgbClr val="FF0033"/>
                </a:solidFill>
                <a:latin typeface="Arial"/>
                <a:ea typeface="Arial"/>
                <a:cs typeface="Arial"/>
              </a:rPr>
              <a:t>基本概念与术语</a:t>
            </a:r>
          </a:p>
        </p:txBody>
      </p:sp>
      <p:sp>
        <p:nvSpPr>
          <p:cNvPr id="95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073B6F88-0084-4543-B2CF-0728C0F83C5E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559800" y="1785600"/>
            <a:ext cx="8355240" cy="461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360" tIns="44280" rIns="90360" bIns="44280" anchor="t">
            <a:normAutofit fontScale="100000"/>
          </a:bodyPr>
          <a:lstStyle xmlns:a="http://schemas.openxmlformats.org/drawingml/2006/main"/>
          <a:p xmlns:a="http://schemas.openxmlformats.org/drawingml/2006/main">
            <a:pPr marL="343080" indent="-343080" algn="l">
              <a:spcBef>
                <a:spcPts val="601"/>
              </a:spcBef>
              <a:buClr>
                <a:srgbClr val="FF0033"/>
              </a:buClr>
              <a:buSzPct val="75000"/>
              <a:buFont typeface="Zapf Dingbat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0" i="1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数据库管理员（DBA）</a:t>
            </a:r>
            <a:endParaRPr sz="2400" b="0" u="none">
              <a:solidFill>
                <a:srgbClr val="3333CC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43040" lvl="1" indent="-285840" algn="l">
              <a:spcBef>
                <a:spcPts val="601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DBA 是对数据库进行集中控制的人员</a:t>
            </a:r>
          </a:p>
          <a:p xmlns:a="http://schemas.openxmlformats.org/drawingml/2006/main">
            <a:pPr marL="743040" lvl="1" indent="-285840" algn="l">
              <a:spcBef>
                <a:spcPts val="601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DBA 的主要职责：</a:t>
            </a:r>
          </a:p>
          <a:p xmlns:a="http://schemas.openxmlformats.org/drawingml/2006/main">
            <a:pPr marL="1600200" lvl="3" indent="-228600" algn="l">
              <a:spcBef>
                <a:spcPts val="601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定义模式</a:t>
            </a:r>
          </a:p>
          <a:p xmlns:a="http://schemas.openxmlformats.org/drawingml/2006/main">
            <a:pPr marL="1600200" lvl="3" indent="-228600" algn="l">
              <a:spcBef>
                <a:spcPts val="601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定义存储结构和访问方法</a:t>
            </a:r>
          </a:p>
          <a:p xmlns:a="http://schemas.openxmlformats.org/drawingml/2006/main">
            <a:pPr marL="1600200" lvl="3" indent="-228600" algn="l">
              <a:spcBef>
                <a:spcPts val="601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修改模式及物理组织</a:t>
            </a:r>
          </a:p>
          <a:p xmlns:a="http://schemas.openxmlformats.org/drawingml/2006/main">
            <a:pPr marL="1600200" lvl="3" indent="-228600" algn="l">
              <a:spcBef>
                <a:spcPts val="601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授予数据访问权限</a:t>
            </a:r>
          </a:p>
          <a:p xmlns:a="http://schemas.openxmlformats.org/drawingml/2006/main">
            <a:pPr marL="1600200" lvl="3" indent="-228600" algn="l">
              <a:spcBef>
                <a:spcPts val="601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制定完整性约束</a:t>
            </a:r>
          </a:p>
        </p:txBody>
      </p:sp>
    </p:spTree>
    <p:extLst>
      <p:ext uri="{BB962C8B-B14F-4D97-AF65-F5344CB8AC3E}">
        <p14:creationId xmlns:p14="http://schemas.microsoft.com/office/powerpoint/2010/main" val="1851486754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6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C9311B5E-0B04-41F5-BB9D-5169CCAA6F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7040" y="166320"/>
            <a:ext cx="8381880" cy="131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360" tIns="44280" rIns="90360" bIns="44280" anchor="b">
            <a:no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3600" b="1" i="1" u="none">
                <a:solidFill>
                  <a:srgbClr val="FF0033"/>
                </a:solidFill>
                <a:latin typeface="Arial"/>
                <a:ea typeface="Arial"/>
                <a:cs typeface="Arial"/>
              </a:rPr>
              <a:t>系统结构</a:t>
            </a:r>
          </a:p>
        </p:txBody>
      </p:sp>
      <p:sp>
        <p:nvSpPr>
          <p:cNvPr id="97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AFFCF04D-4A13-4A6E-9EA8-BED76690F605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560160" y="1785600"/>
            <a:ext cx="8153280" cy="461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360" tIns="44280" rIns="90360" bIns="44280" anchor="t">
            <a:normAutofit fontScale="100000"/>
          </a:bodyPr>
          <a:lstStyle xmlns:a="http://schemas.openxmlformats.org/drawingml/2006/main"/>
          <a:p xmlns:a="http://schemas.openxmlformats.org/drawingml/2006/main">
            <a:pPr marL="343080" indent="-343080" algn="just">
              <a:spcBef>
                <a:spcPts val="601"/>
              </a:spcBef>
              <a:buClr>
                <a:srgbClr val="FF0033"/>
              </a:buClr>
              <a:buSzPct val="75000"/>
              <a:buFont typeface="Zapf Dingbat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文件管理器</a:t>
            </a:r>
          </a:p>
          <a:p xmlns:a="http://schemas.openxmlformats.org/drawingml/2006/main"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分配空间</a:t>
            </a:r>
          </a:p>
          <a:p xmlns:a="http://schemas.openxmlformats.org/drawingml/2006/main"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文件操作</a:t>
            </a:r>
          </a:p>
          <a:p xmlns:a="http://schemas.openxmlformats.org/drawingml/2006/main">
            <a:pPr marL="343080" indent="-343080" algn="just">
              <a:spcBef>
                <a:spcPts val="601"/>
              </a:spcBef>
              <a:buClr>
                <a:srgbClr val="FF0033"/>
              </a:buClr>
              <a:buSzPct val="75000"/>
              <a:buFont typeface="Zapf Dingbat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数据库管理器</a:t>
            </a:r>
          </a:p>
          <a:p xmlns:a="http://schemas.openxmlformats.org/drawingml/2006/main"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存储数据与应用程序／查询之间的接口</a:t>
            </a:r>
          </a:p>
          <a:p xmlns:a="http://schemas.openxmlformats.org/drawingml/2006/main"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把概念层命令转换为物理层命令</a:t>
            </a:r>
          </a:p>
          <a:p xmlns:a="http://schemas.openxmlformats.org/drawingml/2006/main"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负责</a:t>
            </a:r>
          </a:p>
          <a:p xmlns:a="http://schemas.openxmlformats.org/drawingml/2006/main">
            <a:pPr marL="1143000" lvl="2" indent="-22860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访问控制</a:t>
            </a:r>
          </a:p>
          <a:p xmlns:a="http://schemas.openxmlformats.org/drawingml/2006/main">
            <a:pPr marL="1143000" lvl="2" indent="-22860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并发控制</a:t>
            </a:r>
          </a:p>
          <a:p xmlns:a="http://schemas.openxmlformats.org/drawingml/2006/main">
            <a:pPr marL="1143000" lvl="2" indent="-22860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备份与恢复</a:t>
            </a:r>
          </a:p>
          <a:p xmlns:a="http://schemas.openxmlformats.org/drawingml/2006/main">
            <a:pPr marL="1143000" lvl="2" indent="-22860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完整性</a:t>
            </a:r>
          </a:p>
        </p:txBody>
      </p:sp>
    </p:spTree>
    <p:extLst>
      <p:ext uri="{BB962C8B-B14F-4D97-AF65-F5344CB8AC3E}">
        <p14:creationId xmlns:p14="http://schemas.microsoft.com/office/powerpoint/2010/main" val="803774705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8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0926F1A0-B6B6-43A6-BECF-C5463EA417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7040" y="166320"/>
            <a:ext cx="8381880" cy="131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360" tIns="44280" rIns="90360" bIns="44280" anchor="b">
            <a:no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3600" b="1" i="1" u="none">
                <a:solidFill>
                  <a:srgbClr val="FF0033"/>
                </a:solidFill>
                <a:latin typeface="Arial"/>
                <a:ea typeface="Arial"/>
                <a:cs typeface="Arial"/>
              </a:rPr>
              <a:t>系统结构</a:t>
            </a:r>
          </a:p>
        </p:txBody>
      </p:sp>
      <p:sp>
        <p:nvSpPr>
          <p:cNvPr id="99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63F2DC51-14F6-4C1D-A2F4-74DF72984252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560160" y="1785600"/>
            <a:ext cx="8153280" cy="461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360" tIns="44280" rIns="90360" bIns="44280" anchor="t">
            <a:normAutofit fontScale="100000"/>
          </a:bodyPr>
          <a:lstStyle xmlns:a="http://schemas.openxmlformats.org/drawingml/2006/main"/>
          <a:p xmlns:a="http://schemas.openxmlformats.org/drawingml/2006/main">
            <a:pPr marL="343080" indent="-343080" algn="just">
              <a:spcBef>
                <a:spcPts val="601"/>
              </a:spcBef>
              <a:buClr>
                <a:srgbClr val="FF0033"/>
              </a:buClr>
              <a:buSzPct val="75000"/>
              <a:buFont typeface="Zapf Dingbat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查询处理器</a:t>
            </a:r>
          </a:p>
          <a:p xmlns:a="http://schemas.openxmlformats.org/drawingml/2006/main"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把高级查询转换为低级指令</a:t>
            </a:r>
          </a:p>
          <a:p xmlns:a="http://schemas.openxmlformats.org/drawingml/2006/main"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查询优化</a:t>
            </a:r>
          </a:p>
          <a:p xmlns:a="http://schemas.openxmlformats.org/drawingml/2006/main">
            <a:pPr marL="343080" indent="-343080" algn="l">
              <a:spcBef>
                <a:spcPts val="499"/>
              </a:spcBef>
              <a:buClr>
                <a:srgbClr val="FF0033"/>
              </a:buClr>
              <a:buSzPct val="75000"/>
              <a:buFont typeface="Zapf Dingbat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DML（预）编译器</a:t>
            </a:r>
          </a:p>
          <a:p xmlns:a="http://schemas.openxmlformats.org/drawingml/2006/main">
            <a:pPr marL="743040" lvl="1" indent="-285840" algn="l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把嵌入应用程序的 DML 语句转换为过程调用</a:t>
            </a:r>
          </a:p>
          <a:p xmlns:a="http://schemas.openxmlformats.org/drawingml/2006/main">
            <a:pPr marL="343080" indent="-343080" algn="l">
              <a:spcBef>
                <a:spcPts val="499"/>
              </a:spcBef>
              <a:buClr>
                <a:srgbClr val="FF0033"/>
              </a:buClr>
              <a:buSzPct val="75000"/>
              <a:buFont typeface="Zapf Dingbat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DDL（预）编译器</a:t>
            </a:r>
          </a:p>
          <a:p xmlns:a="http://schemas.openxmlformats.org/drawingml/2006/main">
            <a:pPr marL="743040" lvl="1" indent="-285840" algn="l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把 DDL 语句转换为数据字典条目（例如表的说明）</a:t>
            </a:r>
          </a:p>
          <a:p xmlns:a="http://schemas.openxmlformats.org/drawingml/2006/main">
            <a:pPr marL="743040" lvl="1" indent="0" algn="just">
              <a:spcBef>
                <a:spcPts val="499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0" u="none">
              <a:solidFill>
                <a:srgbClr val="3333CC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59667001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8218B440-E69D-46A0-AA15-C30227CC57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7040" y="166320"/>
            <a:ext cx="8381880" cy="131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360" tIns="44280" rIns="90360" bIns="44280" anchor="b">
            <a:no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3600" b="1" i="1" u="none">
                <a:solidFill>
                  <a:srgbClr val="FF0033"/>
                </a:solidFill>
                <a:latin typeface="Arial"/>
                <a:ea typeface="Arial"/>
                <a:cs typeface="Arial"/>
              </a:rPr>
              <a:t>“参考”数据库系统结构</a:t>
            </a:r>
          </a:p>
        </p:txBody>
      </p:sp>
      <p:sp>
        <p:nvSpPr>
          <p:cNvPr id="101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05C6B90-FABD-43B6-B6BE-5CBC0F975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160" y="1785600"/>
            <a:ext cx="8153280" cy="461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360" tIns="44280" rIns="90360" bIns="44280" anchor="t">
            <a:normAutofit/>
          </a:bodyPr>
          <a:lstStyle xmlns:a="http://schemas.openxmlformats.org/drawingml/2006/main"/>
          <a:p xmlns:a="http://schemas.openxmlformats.org/drawingml/2006/main">
            <a:pPr marL="194400" indent="-194400">
              <a:spcBef>
                <a:spcPts val="6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 </a:t>
            </a:r>
            <a:endParaRPr sz="24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2" name="Rectangle 4">
            <a:extLst xmlns:a="http://schemas.openxmlformats.org/drawingml/2006/main">
              <a:ext uri="{FF2B5EF4-FFF2-40B4-BE49-F238E27FC236}">
                <a16:creationId xmlns:a16="http://schemas.microsoft.com/office/drawing/2014/main" id="{DC5042DE-3E3A-40C2-898E-9A925154D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280" y="2895480"/>
            <a:ext cx="7238880" cy="2209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C99"/>
          </a:solidFill>
          <a:ln xmlns:a="http://schemas.openxmlformats.org/drawingml/2006/main" w="1260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3" name="Text Box 5">
            <a:extLst xmlns:a="http://schemas.openxmlformats.org/drawingml/2006/main">
              <a:ext uri="{FF2B5EF4-FFF2-40B4-BE49-F238E27FC236}">
                <a16:creationId xmlns:a16="http://schemas.microsoft.com/office/drawing/2014/main" id="{6BC3E4D0-345C-4E49-AE36-9795EDCDC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027160"/>
            <a:ext cx="1447560" cy="708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60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10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600" b="1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应用</a:t>
            </a:r>
            <a:endParaRPr sz="16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spcBef>
                <a:spcPts val="10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600" b="1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接口</a:t>
            </a:r>
            <a:endParaRPr sz="16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4" name="Text Box 6">
            <a:extLst xmlns:a="http://schemas.openxmlformats.org/drawingml/2006/main">
              <a:ext uri="{FF2B5EF4-FFF2-40B4-BE49-F238E27FC236}">
                <a16:creationId xmlns:a16="http://schemas.microsoft.com/office/drawing/2014/main" id="{E703140D-829C-40F8-BDB1-E0781B4B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360" y="2057400"/>
            <a:ext cx="1447920" cy="708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60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10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600" b="1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应用</a:t>
            </a:r>
            <a:endParaRPr sz="16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spcBef>
                <a:spcPts val="10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600" b="1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程序</a:t>
            </a:r>
            <a:endParaRPr sz="16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5" name="Text Box 7">
            <a:extLst xmlns:a="http://schemas.openxmlformats.org/drawingml/2006/main">
              <a:ext uri="{FF2B5EF4-FFF2-40B4-BE49-F238E27FC236}">
                <a16:creationId xmlns:a16="http://schemas.microsoft.com/office/drawing/2014/main" id="{3A5273F0-8378-4A9E-8635-4AAFCD9F2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480" y="2241360"/>
            <a:ext cx="1447920" cy="33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60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10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600" b="1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（SQL）查询</a:t>
            </a:r>
            <a:endParaRPr sz="16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6" name="Text Box 8">
            <a:extLst xmlns:a="http://schemas.openxmlformats.org/drawingml/2006/main">
              <a:ext uri="{FF2B5EF4-FFF2-40B4-BE49-F238E27FC236}">
                <a16:creationId xmlns:a16="http://schemas.microsoft.com/office/drawing/2014/main" id="{7CDD52FA-C971-4DD3-929D-4481F1B7C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241360"/>
            <a:ext cx="1447560" cy="33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60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10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600" b="1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数据库模式</a:t>
            </a:r>
            <a:endParaRPr sz="16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7" name="Text Box 9">
            <a:extLst xmlns:a="http://schemas.openxmlformats.org/drawingml/2006/main">
              <a:ext uri="{FF2B5EF4-FFF2-40B4-BE49-F238E27FC236}">
                <a16:creationId xmlns:a16="http://schemas.microsoft.com/office/drawing/2014/main" id="{89B18F11-5530-407E-B415-86C591FC9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190760"/>
            <a:ext cx="1447560" cy="825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60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600" b="1" u="none">
                <a:solidFill>
                  <a:srgbClr val="FD020F"/>
                </a:solidFill>
                <a:latin typeface="Arial Narrow"/>
                <a:ea typeface="Arial Narrow"/>
                <a:cs typeface="Arial Narrow"/>
              </a:rPr>
              <a:t>应用程序目标代码</a:t>
            </a:r>
            <a:endParaRPr sz="16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8" name="Text Box 10">
            <a:extLst xmlns:a="http://schemas.openxmlformats.org/drawingml/2006/main">
              <a:ext uri="{FF2B5EF4-FFF2-40B4-BE49-F238E27FC236}">
                <a16:creationId xmlns:a16="http://schemas.microsoft.com/office/drawing/2014/main" id="{2356D2E5-A46F-49A6-A506-7460E9A4E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360" y="3308040"/>
            <a:ext cx="1447920" cy="33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60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600" b="1" u="none">
                <a:solidFill>
                  <a:srgbClr val="FD020F"/>
                </a:solidFill>
                <a:latin typeface="Arial Narrow"/>
                <a:ea typeface="Arial Narrow"/>
                <a:cs typeface="Arial Narrow"/>
              </a:rPr>
              <a:t>DML 编译器</a:t>
            </a:r>
            <a:endParaRPr sz="16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9" name="Text Box 11">
            <a:extLst xmlns:a="http://schemas.openxmlformats.org/drawingml/2006/main">
              <a:ext uri="{FF2B5EF4-FFF2-40B4-BE49-F238E27FC236}">
                <a16:creationId xmlns:a16="http://schemas.microsoft.com/office/drawing/2014/main" id="{2A0D4CFD-55BA-4B15-A33F-94222FB74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480" y="3352680"/>
            <a:ext cx="1143000" cy="58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60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600" b="1" u="none">
                <a:solidFill>
                  <a:srgbClr val="FD020F"/>
                </a:solidFill>
                <a:latin typeface="Arial Narrow"/>
                <a:ea typeface="Arial Narrow"/>
                <a:cs typeface="Arial Narrow"/>
              </a:rPr>
              <a:t>查询处理器</a:t>
            </a:r>
            <a:endParaRPr sz="16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0" name="Text Box 12">
            <a:extLst xmlns:a="http://schemas.openxmlformats.org/drawingml/2006/main">
              <a:ext uri="{FF2B5EF4-FFF2-40B4-BE49-F238E27FC236}">
                <a16:creationId xmlns:a16="http://schemas.microsoft.com/office/drawing/2014/main" id="{4E0C75DF-463A-4532-86D6-7A180E6B0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680" y="3276360"/>
            <a:ext cx="1447920" cy="33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60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600" b="1" u="none">
                <a:solidFill>
                  <a:srgbClr val="FD020F"/>
                </a:solidFill>
                <a:latin typeface="Arial Narrow"/>
                <a:ea typeface="Arial Narrow"/>
                <a:cs typeface="Arial Narrow"/>
              </a:rPr>
              <a:t>DDL 编译器</a:t>
            </a:r>
            <a:endParaRPr sz="16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1" name="Text Box 13">
            <a:extLst xmlns:a="http://schemas.openxmlformats.org/drawingml/2006/main">
              <a:ext uri="{FF2B5EF4-FFF2-40B4-BE49-F238E27FC236}">
                <a16:creationId xmlns:a16="http://schemas.microsoft.com/office/drawing/2014/main" id="{A6E12421-F314-4AB2-B481-BDA25947C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480" y="4190760"/>
            <a:ext cx="1295280" cy="58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60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600" b="1" u="none">
                <a:solidFill>
                  <a:srgbClr val="FD020F"/>
                </a:solidFill>
                <a:latin typeface="Arial Narrow"/>
                <a:ea typeface="Arial Narrow"/>
                <a:cs typeface="Arial Narrow"/>
              </a:rPr>
              <a:t>数据库管理器</a:t>
            </a:r>
            <a:endParaRPr sz="16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2" name="Text Box 14">
            <a:extLst xmlns:a="http://schemas.openxmlformats.org/drawingml/2006/main">
              <a:ext uri="{FF2B5EF4-FFF2-40B4-BE49-F238E27FC236}">
                <a16:creationId xmlns:a16="http://schemas.microsoft.com/office/drawing/2014/main" id="{9B4D008D-E0DC-43F2-91E8-23F29F6BD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647960"/>
            <a:ext cx="1066680" cy="33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600" b="1" u="none">
                <a:solidFill>
                  <a:srgbClr val="FFFF00"/>
                </a:solidFill>
                <a:latin typeface="Arial Narrow"/>
                <a:ea typeface="Arial Narrow"/>
                <a:cs typeface="Arial Narrow"/>
              </a:rPr>
              <a:t>DBMS</a:t>
            </a:r>
            <a:endParaRPr sz="16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3" name="Text Box 15">
            <a:extLst xmlns:a="http://schemas.openxmlformats.org/drawingml/2006/main">
              <a:ext uri="{FF2B5EF4-FFF2-40B4-BE49-F238E27FC236}">
                <a16:creationId xmlns:a16="http://schemas.microsoft.com/office/drawing/2014/main" id="{EF0A26EC-897F-48B7-9571-7E5D14E6C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4960" y="5257800"/>
            <a:ext cx="1295640" cy="33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60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600" b="1" u="none">
                <a:solidFill>
                  <a:srgbClr val="FD020F"/>
                </a:solidFill>
                <a:latin typeface="Arial Narrow"/>
                <a:ea typeface="Arial Narrow"/>
                <a:cs typeface="Arial Narrow"/>
              </a:rPr>
              <a:t>文件管理器</a:t>
            </a:r>
            <a:endParaRPr sz="16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4" name="Text Box 16">
            <a:extLst xmlns:a="http://schemas.openxmlformats.org/drawingml/2006/main">
              <a:ext uri="{FF2B5EF4-FFF2-40B4-BE49-F238E27FC236}">
                <a16:creationId xmlns:a16="http://schemas.microsoft.com/office/drawing/2014/main" id="{5A321624-80EB-43D9-B2BD-FE72D2EC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943600"/>
            <a:ext cx="685800" cy="398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125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1" u="none">
                <a:solidFill>
                  <a:srgbClr val="FD020F"/>
                </a:solidFill>
                <a:latin typeface="Arial"/>
                <a:ea typeface="Arial"/>
                <a:cs typeface="Arial"/>
              </a:rPr>
              <a:t>DB</a:t>
            </a:r>
          </a:p>
        </p:txBody>
      </p:sp>
      <p:sp>
        <p:nvSpPr>
          <p:cNvPr id="115" name="Text Box 17">
            <a:extLst xmlns:a="http://schemas.openxmlformats.org/drawingml/2006/main">
              <a:ext uri="{FF2B5EF4-FFF2-40B4-BE49-F238E27FC236}">
                <a16:creationId xmlns:a16="http://schemas.microsoft.com/office/drawing/2014/main" id="{B1250B1C-7470-4EC7-84C5-82779ED3B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715000"/>
            <a:ext cx="2057400" cy="10793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00"/>
          </a:solidFill>
          <a:ln xmlns:a="http://schemas.openxmlformats.org/drawingml/2006/main" w="1260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16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600" b="1" u="none">
                <a:solidFill>
                  <a:srgbClr val="FD020F"/>
                </a:solidFill>
                <a:latin typeface="Arial Narrow"/>
                <a:ea typeface="Arial Narrow"/>
                <a:cs typeface="Arial Narrow"/>
              </a:rPr>
              <a:t>数据文件</a:t>
            </a:r>
            <a:endParaRPr sz="16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600" b="1" u="none">
                <a:solidFill>
                  <a:srgbClr val="FD020F"/>
                </a:solidFill>
                <a:latin typeface="Arial Narrow"/>
                <a:ea typeface="Arial Narrow"/>
                <a:cs typeface="Arial Narrow"/>
              </a:rPr>
              <a:t>磁盘存储</a:t>
            </a:r>
            <a:endParaRPr sz="16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6" name="Oval 18">
            <a:extLst xmlns:a="http://schemas.openxmlformats.org/drawingml/2006/main">
              <a:ext uri="{FF2B5EF4-FFF2-40B4-BE49-F238E27FC236}">
                <a16:creationId xmlns:a16="http://schemas.microsoft.com/office/drawing/2014/main" id="{14DEA6DF-E9D9-4672-898B-641CBD9E3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486400"/>
            <a:ext cx="2057400" cy="380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00"/>
          </a:solidFill>
          <a:ln xmlns:a="http://schemas.openxmlformats.org/drawingml/2006/main" w="1260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7" name="Text Box 19">
            <a:extLst xmlns:a="http://schemas.openxmlformats.org/drawingml/2006/main">
              <a:ext uri="{FF2B5EF4-FFF2-40B4-BE49-F238E27FC236}">
                <a16:creationId xmlns:a16="http://schemas.microsoft.com/office/drawing/2014/main" id="{6DF3C2AD-3826-4A3E-BDD9-13AEA0EDA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160" y="6172200"/>
            <a:ext cx="990720" cy="581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60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600" b="1" u="none">
                <a:solidFill>
                  <a:srgbClr val="FD020F"/>
                </a:solidFill>
                <a:latin typeface="Arial Narrow"/>
                <a:ea typeface="Arial Narrow"/>
                <a:cs typeface="Arial Narrow"/>
              </a:rPr>
              <a:t>数据字典</a:t>
            </a:r>
            <a:endParaRPr sz="16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8" name="Line 20">
            <a:extLst xmlns:a="http://schemas.openxmlformats.org/drawingml/2006/main">
              <a:ext uri="{FF2B5EF4-FFF2-40B4-BE49-F238E27FC236}">
                <a16:creationId xmlns:a16="http://schemas.microsoft.com/office/drawing/2014/main" id="{A764D205-FF71-4A57-982A-CF527211C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360" y="2743200"/>
            <a:ext cx="0" cy="1447560"/>
          </a:xfrm>
          <a:prstGeom xmlns:a="http://schemas.openxmlformats.org/drawingml/2006/main" prst="line">
            <a:avLst/>
          </a:prstGeom>
          <a:ln xmlns:a="http://schemas.openxmlformats.org/drawingml/2006/main" w="12600">
            <a:solidFill>
              <a:srgbClr val="000000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9" name="Line 21">
            <a:extLst xmlns:a="http://schemas.openxmlformats.org/drawingml/2006/main">
              <a:ext uri="{FF2B5EF4-FFF2-40B4-BE49-F238E27FC236}">
                <a16:creationId xmlns:a16="http://schemas.microsoft.com/office/drawing/2014/main" id="{44C5E4AB-2D68-48ED-8F65-AFB325ED6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480" y="2819160"/>
            <a:ext cx="0" cy="533520"/>
          </a:xfrm>
          <a:prstGeom xmlns:a="http://schemas.openxmlformats.org/drawingml/2006/main" prst="line">
            <a:avLst/>
          </a:prstGeom>
          <a:ln xmlns:a="http://schemas.openxmlformats.org/drawingml/2006/main" w="12600">
            <a:solidFill>
              <a:srgbClr val="000000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0" name="Line 22">
            <a:extLst xmlns:a="http://schemas.openxmlformats.org/drawingml/2006/main">
              <a:ext uri="{FF2B5EF4-FFF2-40B4-BE49-F238E27FC236}">
                <a16:creationId xmlns:a16="http://schemas.microsoft.com/office/drawing/2014/main" id="{A0F64358-A51E-4AE7-9E91-AB91D49B6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2819160" y="3657600"/>
            <a:ext cx="990720" cy="533160"/>
          </a:xfrm>
          <a:prstGeom xmlns:a="http://schemas.openxmlformats.org/drawingml/2006/main" prst="line">
            <a:avLst/>
          </a:prstGeom>
          <a:ln xmlns:a="http://schemas.openxmlformats.org/drawingml/2006/main" w="12600">
            <a:solidFill>
              <a:srgbClr val="000000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Line 23">
            <a:extLst xmlns:a="http://schemas.openxmlformats.org/drawingml/2006/main">
              <a:ext uri="{FF2B5EF4-FFF2-40B4-BE49-F238E27FC236}">
                <a16:creationId xmlns:a16="http://schemas.microsoft.com/office/drawing/2014/main" id="{91EC9840-43F5-460D-B875-5375C9CA8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280" y="3504960"/>
            <a:ext cx="533520" cy="0"/>
          </a:xfrm>
          <a:prstGeom xmlns:a="http://schemas.openxmlformats.org/drawingml/2006/main" prst="line">
            <a:avLst/>
          </a:prstGeom>
          <a:ln xmlns:a="http://schemas.openxmlformats.org/drawingml/2006/main" w="12600">
            <a:solidFill>
              <a:srgbClr val="000000"/>
            </a:solidFill>
            <a:headEnd type="triangle" w="med" len="med"/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6800" rIns="90000" bIns="-46800" anchor="ctr">
            <a:noAutofit/>
          </a:bodyPr>
          <a:lstStyle xmlns:a="http://schemas.openxmlformats.org/drawingml/2006/main"/>
          <a:p xmlns:a="http://schemas.openxmlformats.org/drawingml/2006/main"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Line 24">
            <a:extLst xmlns:a="http://schemas.openxmlformats.org/drawingml/2006/main">
              <a:ext uri="{FF2B5EF4-FFF2-40B4-BE49-F238E27FC236}">
                <a16:creationId xmlns:a16="http://schemas.microsoft.com/office/drawing/2014/main" id="{3B119FAA-A040-4AA8-8538-5E048152C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0960" y="2590560"/>
            <a:ext cx="0" cy="762120"/>
          </a:xfrm>
          <a:prstGeom xmlns:a="http://schemas.openxmlformats.org/drawingml/2006/main" prst="line">
            <a:avLst/>
          </a:prstGeom>
          <a:ln xmlns:a="http://schemas.openxmlformats.org/drawingml/2006/main" w="12600">
            <a:solidFill>
              <a:srgbClr val="000000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3" name="Line 25">
            <a:extLst xmlns:a="http://schemas.openxmlformats.org/drawingml/2006/main">
              <a:ext uri="{FF2B5EF4-FFF2-40B4-BE49-F238E27FC236}">
                <a16:creationId xmlns:a16="http://schemas.microsoft.com/office/drawing/2014/main" id="{66A077BC-96D0-4425-A6CA-52EF479FF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7760" y="4495680"/>
            <a:ext cx="990720" cy="0"/>
          </a:xfrm>
          <a:prstGeom xmlns:a="http://schemas.openxmlformats.org/drawingml/2006/main" prst="line">
            <a:avLst/>
          </a:prstGeom>
          <a:ln xmlns:a="http://schemas.openxmlformats.org/drawingml/2006/main" w="12600">
            <a:solidFill>
              <a:srgbClr val="000000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6800" rIns="90000" bIns="-46800" anchor="ctr">
            <a:noAutofit/>
          </a:bodyPr>
          <a:lstStyle xmlns:a="http://schemas.openxmlformats.org/drawingml/2006/main"/>
          <a:p xmlns:a="http://schemas.openxmlformats.org/drawingml/2006/main"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4" name="Line 26">
            <a:extLst xmlns:a="http://schemas.openxmlformats.org/drawingml/2006/main">
              <a:ext uri="{FF2B5EF4-FFF2-40B4-BE49-F238E27FC236}">
                <a16:creationId xmlns:a16="http://schemas.microsoft.com/office/drawing/2014/main" id="{5CBA60DD-3CF2-4F9A-8E6C-7AD6CABEB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800600"/>
            <a:ext cx="0" cy="457200"/>
          </a:xfrm>
          <a:prstGeom xmlns:a="http://schemas.openxmlformats.org/drawingml/2006/main" prst="line">
            <a:avLst/>
          </a:prstGeom>
          <a:ln xmlns:a="http://schemas.openxmlformats.org/drawingml/2006/main" w="12600">
            <a:solidFill>
              <a:srgbClr val="000000"/>
            </a:solidFill>
            <a:headEnd type="triangle" w="med" len="med"/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Line 27">
            <a:extLst xmlns:a="http://schemas.openxmlformats.org/drawingml/2006/main">
              <a:ext uri="{FF2B5EF4-FFF2-40B4-BE49-F238E27FC236}">
                <a16:creationId xmlns:a16="http://schemas.microsoft.com/office/drawing/2014/main" id="{6EA49000-AD34-468C-82D1-E394ED135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562360"/>
            <a:ext cx="761760" cy="381240"/>
          </a:xfrm>
          <a:prstGeom xmlns:a="http://schemas.openxmlformats.org/drawingml/2006/main" prst="line">
            <a:avLst/>
          </a:prstGeom>
          <a:ln xmlns:a="http://schemas.openxmlformats.org/drawingml/2006/main" w="28440">
            <a:solidFill>
              <a:srgbClr val="000000"/>
            </a:solidFill>
            <a:headEnd type="triangle" w="med" len="med"/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Line 28">
            <a:extLst xmlns:a="http://schemas.openxmlformats.org/drawingml/2006/main">
              <a:ext uri="{FF2B5EF4-FFF2-40B4-BE49-F238E27FC236}">
                <a16:creationId xmlns:a16="http://schemas.microsoft.com/office/drawing/2014/main" id="{4F891908-1848-4B72-A647-70C041C33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800600"/>
            <a:ext cx="1371600" cy="1371600"/>
          </a:xfrm>
          <a:prstGeom xmlns:a="http://schemas.openxmlformats.org/drawingml/2006/main" prst="line">
            <a:avLst/>
          </a:prstGeom>
          <a:ln xmlns:a="http://schemas.openxmlformats.org/drawingml/2006/main" w="12600">
            <a:solidFill>
              <a:srgbClr val="000000"/>
            </a:solidFill>
            <a:headEnd type="triangle" w="med" len="med"/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Line 29">
            <a:extLst xmlns:a="http://schemas.openxmlformats.org/drawingml/2006/main">
              <a:ext uri="{FF2B5EF4-FFF2-40B4-BE49-F238E27FC236}">
                <a16:creationId xmlns:a16="http://schemas.microsoft.com/office/drawing/2014/main" id="{AAD56DC4-8473-471D-B8FA-43643A945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858000" y="3580920"/>
            <a:ext cx="685800" cy="2590920"/>
          </a:xfrm>
          <a:prstGeom xmlns:a="http://schemas.openxmlformats.org/drawingml/2006/main" prst="line">
            <a:avLst/>
          </a:prstGeom>
          <a:ln xmlns:a="http://schemas.openxmlformats.org/drawingml/2006/main" w="12600">
            <a:solidFill>
              <a:srgbClr val="000000"/>
            </a:solidFill>
            <a:headEnd type="triangle" w="med" len="med"/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Line 30">
            <a:extLst xmlns:a="http://schemas.openxmlformats.org/drawingml/2006/main">
              <a:ext uri="{FF2B5EF4-FFF2-40B4-BE49-F238E27FC236}">
                <a16:creationId xmlns:a16="http://schemas.microsoft.com/office/drawing/2014/main" id="{1A9597CA-D9F0-4086-8BD6-709ECFB50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9760" y="2590560"/>
            <a:ext cx="0" cy="685800"/>
          </a:xfrm>
          <a:prstGeom xmlns:a="http://schemas.openxmlformats.org/drawingml/2006/main" prst="line">
            <a:avLst/>
          </a:prstGeom>
          <a:ln xmlns:a="http://schemas.openxmlformats.org/drawingml/2006/main" w="12600">
            <a:solidFill>
              <a:srgbClr val="000000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Line 31">
            <a:extLst xmlns:a="http://schemas.openxmlformats.org/drawingml/2006/main">
              <a:ext uri="{FF2B5EF4-FFF2-40B4-BE49-F238E27FC236}">
                <a16:creationId xmlns:a16="http://schemas.microsoft.com/office/drawing/2014/main" id="{A9E9B3FF-EE09-446E-B903-5839BDE8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752480"/>
            <a:ext cx="0" cy="228600"/>
          </a:xfrm>
          <a:prstGeom xmlns:a="http://schemas.openxmlformats.org/drawingml/2006/main" prst="line">
            <a:avLst/>
          </a:prstGeom>
          <a:ln xmlns:a="http://schemas.openxmlformats.org/drawingml/2006/main" w="12600">
            <a:solidFill>
              <a:srgbClr val="000000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0" name="Line 32">
            <a:extLst xmlns:a="http://schemas.openxmlformats.org/drawingml/2006/main">
              <a:ext uri="{FF2B5EF4-FFF2-40B4-BE49-F238E27FC236}">
                <a16:creationId xmlns:a16="http://schemas.microsoft.com/office/drawing/2014/main" id="{4EE72BD3-DFE2-45AF-B924-77126EC99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480" y="1828800"/>
            <a:ext cx="0" cy="228600"/>
          </a:xfrm>
          <a:prstGeom xmlns:a="http://schemas.openxmlformats.org/drawingml/2006/main" prst="line">
            <a:avLst/>
          </a:prstGeom>
          <a:ln xmlns:a="http://schemas.openxmlformats.org/drawingml/2006/main" w="12600">
            <a:solidFill>
              <a:srgbClr val="000000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1" name="Line 33">
            <a:extLst xmlns:a="http://schemas.openxmlformats.org/drawingml/2006/main">
              <a:ext uri="{FF2B5EF4-FFF2-40B4-BE49-F238E27FC236}">
                <a16:creationId xmlns:a16="http://schemas.microsoft.com/office/drawing/2014/main" id="{0012DF90-58C2-4029-8DA8-4B1C7BAB0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0960" y="1904760"/>
            <a:ext cx="0" cy="381240"/>
          </a:xfrm>
          <a:prstGeom xmlns:a="http://schemas.openxmlformats.org/drawingml/2006/main" prst="line">
            <a:avLst/>
          </a:prstGeom>
          <a:ln xmlns:a="http://schemas.openxmlformats.org/drawingml/2006/main" w="12600">
            <a:solidFill>
              <a:srgbClr val="000000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" name="Line 34">
            <a:extLst xmlns:a="http://schemas.openxmlformats.org/drawingml/2006/main">
              <a:ext uri="{FF2B5EF4-FFF2-40B4-BE49-F238E27FC236}">
                <a16:creationId xmlns:a16="http://schemas.microsoft.com/office/drawing/2014/main" id="{AA062F60-CC23-4AC8-844A-1DDD2C690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9760" y="1904760"/>
            <a:ext cx="0" cy="381240"/>
          </a:xfrm>
          <a:prstGeom xmlns:a="http://schemas.openxmlformats.org/drawingml/2006/main" prst="line">
            <a:avLst/>
          </a:prstGeom>
          <a:ln xmlns:a="http://schemas.openxmlformats.org/drawingml/2006/main" w="12600">
            <a:solidFill>
              <a:srgbClr val="000000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" name="Text Box 35">
            <a:extLst xmlns:a="http://schemas.openxmlformats.org/drawingml/2006/main">
              <a:ext uri="{FF2B5EF4-FFF2-40B4-BE49-F238E27FC236}">
                <a16:creationId xmlns:a16="http://schemas.microsoft.com/office/drawing/2014/main" id="{D22FF655-BB3F-4494-93E0-20730CBE1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160"/>
            <a:ext cx="1143000" cy="33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600" b="1" u="none">
                <a:solidFill>
                  <a:srgbClr val="FD020F"/>
                </a:solidFill>
                <a:latin typeface="Arial Narrow"/>
                <a:ea typeface="Arial Narrow"/>
                <a:cs typeface="Arial Narrow"/>
              </a:rPr>
              <a:t>普通用户</a:t>
            </a:r>
            <a:endParaRPr sz="16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4" name="Text Box 36">
            <a:extLst xmlns:a="http://schemas.openxmlformats.org/drawingml/2006/main">
              <a:ext uri="{FF2B5EF4-FFF2-40B4-BE49-F238E27FC236}">
                <a16:creationId xmlns:a16="http://schemas.microsoft.com/office/drawing/2014/main" id="{31464DCC-02B9-4FB5-BE5C-D40C2348C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6880" y="1676160"/>
            <a:ext cx="1295280" cy="33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600" b="1" u="none">
                <a:solidFill>
                  <a:srgbClr val="FD020F"/>
                </a:solidFill>
                <a:latin typeface="Arial Narrow"/>
                <a:ea typeface="Arial Narrow"/>
                <a:cs typeface="Arial Narrow"/>
              </a:rPr>
              <a:t>应用程序员</a:t>
            </a:r>
            <a:endParaRPr sz="16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5" name="Text Box 37">
            <a:extLst xmlns:a="http://schemas.openxmlformats.org/drawingml/2006/main">
              <a:ext uri="{FF2B5EF4-FFF2-40B4-BE49-F238E27FC236}">
                <a16:creationId xmlns:a16="http://schemas.microsoft.com/office/drawing/2014/main" id="{7C9A0271-58C1-41D6-9EEE-99BEB662C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7960" y="1600200"/>
            <a:ext cx="1067040" cy="58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600" b="1" u="none">
                <a:solidFill>
                  <a:srgbClr val="FD020F"/>
                </a:solidFill>
                <a:latin typeface="Arial Narrow"/>
                <a:ea typeface="Arial Narrow"/>
                <a:cs typeface="Arial Narrow"/>
              </a:rPr>
              <a:t>交互式用户</a:t>
            </a:r>
            <a:endParaRPr sz="16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" name="Text Box 38">
            <a:extLst xmlns:a="http://schemas.openxmlformats.org/drawingml/2006/main">
              <a:ext uri="{FF2B5EF4-FFF2-40B4-BE49-F238E27FC236}">
                <a16:creationId xmlns:a16="http://schemas.microsoft.com/office/drawing/2014/main" id="{583F54F6-33B4-42A0-A5B6-504962990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3960" y="1676160"/>
            <a:ext cx="609840" cy="33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600" b="1" u="none">
                <a:solidFill>
                  <a:srgbClr val="FD020F"/>
                </a:solidFill>
                <a:latin typeface="Arial Narrow"/>
                <a:ea typeface="Arial Narrow"/>
                <a:cs typeface="Arial Narrow"/>
              </a:rPr>
              <a:t>DBA</a:t>
            </a:r>
            <a:endParaRPr sz="16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45543378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7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AFF660CE-513E-4EF0-8278-15B291ABBA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7040" y="166320"/>
            <a:ext cx="8381880" cy="131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360" tIns="44280" rIns="90360" bIns="44280" anchor="b">
            <a:noAutofit/>
          </a:bodyPr>
          <a:lstStyle xmlns:a="http://schemas.openxmlformats.org/drawingml/2006/main"/>
          <a:p xmlns:a="http://schemas.openxmlformats.org/drawingml/2006/main"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3600" b="1" i="1" u="none">
                <a:solidFill>
                  <a:srgbClr val="FF0033"/>
                </a:solidFill>
                <a:latin typeface="Arial"/>
                <a:ea typeface="Arial"/>
                <a:cs typeface="Arial"/>
              </a:rPr>
              <a:t>数据库概念与结构</a:t>
            </a:r>
          </a:p>
        </p:txBody>
      </p:sp>
      <p:sp>
        <p:nvSpPr>
          <p:cNvPr id="138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44E7D605-FE95-482A-8CB3-6CD8050FF99F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560160" y="1785600"/>
            <a:ext cx="8153280" cy="461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360" tIns="44280" rIns="90360" bIns="44280" anchor="t">
            <a:normAutofit fontScale="100000"/>
          </a:bodyPr>
          <a:lstStyle xmlns:a="http://schemas.openxmlformats.org/drawingml/2006/main"/>
          <a:p xmlns:a="http://schemas.openxmlformats.org/drawingml/2006/main">
            <a:pPr marL="343080" indent="-343080" algn="just">
              <a:spcBef>
                <a:spcPts val="601"/>
              </a:spcBef>
              <a:buClr>
                <a:srgbClr val="FF0033"/>
              </a:buClr>
              <a:buSzPct val="75000"/>
              <a:buFont typeface="Zapf Dingbat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数据库系统环境（续）</a:t>
            </a:r>
          </a:p>
          <a:p xmlns:a="http://schemas.openxmlformats.org/drawingml/2006/main"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数据库系统实用程序</a:t>
            </a:r>
          </a:p>
          <a:p xmlns:a="http://schemas.openxmlformats.org/drawingml/2006/main">
            <a:pPr marL="1143000" lvl="2" indent="-22860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数据装载</a:t>
            </a:r>
          </a:p>
          <a:p xmlns:a="http://schemas.openxmlformats.org/drawingml/2006/main">
            <a:pPr marL="1143000" lvl="2" indent="-22860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备份</a:t>
            </a:r>
          </a:p>
          <a:p xmlns:a="http://schemas.openxmlformats.org/drawingml/2006/main">
            <a:pPr marL="1143000" lvl="2" indent="-22860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文件重组</a:t>
            </a:r>
          </a:p>
          <a:p xmlns:a="http://schemas.openxmlformats.org/drawingml/2006/main">
            <a:pPr marL="1143000" lvl="2" indent="-22860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报表生成</a:t>
            </a:r>
          </a:p>
          <a:p xmlns:a="http://schemas.openxmlformats.org/drawingml/2006/main">
            <a:pPr marL="1143000" lvl="2" indent="-22860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数据字典</a:t>
            </a:r>
          </a:p>
          <a:p xmlns:a="http://schemas.openxmlformats.org/drawingml/2006/main">
            <a:pPr marL="1143000" lvl="2" indent="-22860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…</a:t>
            </a:r>
          </a:p>
          <a:p xmlns:a="http://schemas.openxmlformats.org/drawingml/2006/main">
            <a:pPr marL="1143000" lvl="2" indent="0" algn="just">
              <a:spcBef>
                <a:spcPts val="499"/>
              </a:spcBef>
              <a:buNone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0" u="none">
              <a:solidFill>
                <a:srgbClr val="3333CC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94400" indent="-194400" algn="just">
              <a:spcBef>
                <a:spcPts val="6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i="1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下一部分：DBMS 的分类！</a:t>
            </a:r>
            <a:endParaRPr sz="2400" b="0" u="none">
              <a:solidFill>
                <a:srgbClr val="3333CC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63024847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9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A6034165-FF54-4238-82A6-258D13785C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7040" y="166320"/>
            <a:ext cx="8381880" cy="131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360" tIns="44280" rIns="90360" bIns="44280" anchor="b">
            <a:noAutofit/>
          </a:bodyPr>
          <a:lstStyle xmlns:a="http://schemas.openxmlformats.org/drawingml/2006/main"/>
          <a:p xmlns:a="http://schemas.openxmlformats.org/drawingml/2006/main"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3600" b="1" i="1" u="none">
                <a:solidFill>
                  <a:srgbClr val="FF0033"/>
                </a:solidFill>
                <a:latin typeface="Arial"/>
                <a:ea typeface="Arial"/>
                <a:cs typeface="Arial"/>
              </a:rPr>
              <a:t>数据库的分类</a:t>
            </a:r>
          </a:p>
        </p:txBody>
      </p:sp>
      <p:sp>
        <p:nvSpPr>
          <p:cNvPr id="140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39BC8E28-E8DD-4D59-AB1E-CDA0348EB385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560160" y="1785600"/>
            <a:ext cx="8153280" cy="461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360" tIns="44280" rIns="90360" bIns="44280" anchor="t">
            <a:normAutofit fontScale="100000"/>
          </a:bodyPr>
          <a:lstStyle xmlns:a="http://schemas.openxmlformats.org/drawingml/2006/main"/>
          <a:p xmlns:a="http://schemas.openxmlformats.org/drawingml/2006/main">
            <a:pPr marL="343080" indent="-343080" algn="just">
              <a:spcBef>
                <a:spcPts val="601"/>
              </a:spcBef>
              <a:buClr>
                <a:srgbClr val="FF0033"/>
              </a:buClr>
              <a:buSzPct val="75000"/>
              <a:buFont typeface="Zapf Dingbat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按数据模型分类</a:t>
            </a:r>
          </a:p>
          <a:p xmlns:a="http://schemas.openxmlformats.org/drawingml/2006/main"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22228B"/>
                </a:solidFill>
                <a:latin typeface="Arial"/>
                <a:ea typeface="Arial"/>
                <a:cs typeface="Arial"/>
              </a:rPr>
              <a:t>层次型（20 世纪 60 年代后期）</a:t>
            </a:r>
            <a:endParaRPr sz="2000" b="0" u="none">
              <a:solidFill>
                <a:srgbClr val="3333CC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22228B"/>
                </a:solidFill>
                <a:latin typeface="Arial"/>
                <a:ea typeface="Arial"/>
                <a:cs typeface="Arial"/>
              </a:rPr>
              <a:t>网状型（20 世纪 60 年代后期）</a:t>
            </a:r>
            <a:endParaRPr sz="2000" b="0" u="none">
              <a:solidFill>
                <a:srgbClr val="3333CC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22228B"/>
                </a:solidFill>
                <a:latin typeface="Arial"/>
                <a:ea typeface="Arial"/>
                <a:cs typeface="Arial"/>
              </a:rPr>
              <a:t>关系型（20 世纪 70 年代）</a:t>
            </a:r>
            <a:endParaRPr sz="2000" b="0" u="none">
              <a:solidFill>
                <a:srgbClr val="3333CC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实体—联系型（ER）</a:t>
            </a:r>
          </a:p>
          <a:p xmlns:a="http://schemas.openxmlformats.org/drawingml/2006/main"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7030A0"/>
                </a:solidFill>
                <a:latin typeface="Arial"/>
                <a:ea typeface="Arial"/>
                <a:cs typeface="Arial"/>
              </a:rPr>
              <a:t>语义型（20 世纪 80 年代）</a:t>
            </a:r>
            <a:endParaRPr sz="2000" b="0" u="none">
              <a:solidFill>
                <a:srgbClr val="3333CC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7030A0"/>
                </a:solidFill>
                <a:latin typeface="Arial"/>
                <a:ea typeface="Arial"/>
                <a:cs typeface="Arial"/>
              </a:rPr>
              <a:t>函数型（20 世纪 80 年代）</a:t>
            </a:r>
            <a:endParaRPr sz="2000" b="0" u="none">
              <a:solidFill>
                <a:srgbClr val="3333CC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7030A0"/>
                </a:solidFill>
                <a:latin typeface="Arial"/>
                <a:ea typeface="Arial"/>
                <a:cs typeface="Arial"/>
              </a:rPr>
              <a:t>面向对象型（20 世纪 80 年代后期／90 年代初期）</a:t>
            </a:r>
            <a:endParaRPr sz="2000" b="0" u="none">
              <a:solidFill>
                <a:srgbClr val="3333CC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“智能型”</a:t>
            </a:r>
          </a:p>
          <a:p xmlns:a="http://schemas.openxmlformats.org/drawingml/2006/main">
            <a:pPr marL="1143000" lvl="2" indent="-22860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基于逻辑／演绎</a:t>
            </a:r>
          </a:p>
          <a:p xmlns:a="http://schemas.openxmlformats.org/drawingml/2006/main">
            <a:pPr marL="1143000" lvl="2" indent="-22860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专家／知识库型</a:t>
            </a:r>
          </a:p>
          <a:p xmlns:a="http://schemas.openxmlformats.org/drawingml/2006/main">
            <a:pPr marL="1143000" lvl="2" indent="-22860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超媒体型等</a:t>
            </a:r>
          </a:p>
          <a:p xmlns:a="http://schemas.openxmlformats.org/drawingml/2006/main">
            <a:pPr marL="194400" indent="-194400" algn="just"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0" u="none">
              <a:solidFill>
                <a:srgbClr val="3333CC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963125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1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00DA4B5E-E883-453C-9035-1473102889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7040" y="166320"/>
            <a:ext cx="8381880" cy="131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360" tIns="44280" rIns="90360" bIns="44280" anchor="b">
            <a:noAutofit/>
          </a:bodyPr>
          <a:lstStyle xmlns:a="http://schemas.openxmlformats.org/drawingml/2006/main"/>
          <a:p xmlns:a="http://schemas.openxmlformats.org/drawingml/2006/main"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3600" b="1" i="1" u="none">
                <a:solidFill>
                  <a:srgbClr val="FF0033"/>
                </a:solidFill>
                <a:latin typeface="Arial"/>
                <a:ea typeface="Arial"/>
                <a:cs typeface="Arial"/>
              </a:rPr>
              <a:t>DBMS 的分类</a:t>
            </a:r>
          </a:p>
        </p:txBody>
      </p:sp>
      <p:sp>
        <p:nvSpPr>
          <p:cNvPr id="142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20017E87-1DF2-4075-AB70-D0C9802367D8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560160" y="1785600"/>
            <a:ext cx="8153280" cy="461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360" tIns="44280" rIns="90360" bIns="44280" anchor="t">
            <a:normAutofit fontScale="100000"/>
          </a:bodyPr>
          <a:lstStyle xmlns:a="http://schemas.openxmlformats.org/drawingml/2006/main"/>
          <a:p xmlns:a="http://schemas.openxmlformats.org/drawingml/2006/main">
            <a:pPr marL="343080" indent="-343080" algn="just">
              <a:spcBef>
                <a:spcPts val="601"/>
              </a:spcBef>
              <a:buClr>
                <a:srgbClr val="FF0033"/>
              </a:buClr>
              <a:buSzPct val="75000"/>
              <a:buFont typeface="Zapf Dingbat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分类标准：</a:t>
            </a:r>
          </a:p>
          <a:p xmlns:a="http://schemas.openxmlformats.org/drawingml/2006/main"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数据／数据库模型</a:t>
            </a:r>
          </a:p>
          <a:p xmlns:a="http://schemas.openxmlformats.org/drawingml/2006/main"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用户数量</a:t>
            </a:r>
          </a:p>
          <a:p xmlns:a="http://schemas.openxmlformats.org/drawingml/2006/main">
            <a:pPr marL="1143000" lvl="2" indent="-22860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单用户（例如 PC 数据库）</a:t>
            </a:r>
          </a:p>
          <a:p xmlns:a="http://schemas.openxmlformats.org/drawingml/2006/main">
            <a:pPr marL="1143000" lvl="2" indent="-22860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多用户（需要并发控制）</a:t>
            </a:r>
          </a:p>
          <a:p xmlns:a="http://schemas.openxmlformats.org/drawingml/2006/main"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站点数量</a:t>
            </a:r>
          </a:p>
          <a:p xmlns:a="http://schemas.openxmlformats.org/drawingml/2006/main">
            <a:pPr marL="1143000" lvl="2" indent="-22860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集中式（逻辑上、物理上）</a:t>
            </a:r>
          </a:p>
          <a:p xmlns:a="http://schemas.openxmlformats.org/drawingml/2006/main">
            <a:pPr marL="1143000" lvl="2" indent="-22860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分散式（逻辑上、物理上）</a:t>
            </a:r>
          </a:p>
          <a:p xmlns:a="http://schemas.openxmlformats.org/drawingml/2006/main">
            <a:pPr marL="1600200" lvl="3" indent="-22860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同构与异构</a:t>
            </a:r>
          </a:p>
          <a:p xmlns:a="http://schemas.openxmlformats.org/drawingml/2006/main">
            <a:pPr marL="343080" indent="-343080" algn="just">
              <a:spcBef>
                <a:spcPts val="499"/>
              </a:spcBef>
              <a:buClr>
                <a:srgbClr val="FF0033"/>
              </a:buClr>
              <a:buSzPct val="75000"/>
              <a:buFont typeface="Zapf Dingbat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其他标准：</a:t>
            </a:r>
          </a:p>
          <a:p xmlns:a="http://schemas.openxmlformats.org/drawingml/2006/main"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成本</a:t>
            </a:r>
          </a:p>
          <a:p xmlns:a="http://schemas.openxmlformats.org/drawingml/2006/main"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通用 DBMS 与专用 DBMS 等</a:t>
            </a:r>
          </a:p>
          <a:p xmlns:a="http://schemas.openxmlformats.org/drawingml/2006/main">
            <a:pPr marL="194400" indent="-194400" algn="just"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0" u="none">
              <a:solidFill>
                <a:srgbClr val="3333CC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9014863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24681D97-5F04-4ECE-9748-F517755D10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28240" y="166320"/>
            <a:ext cx="8770680" cy="131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90392" tIns="44291" rIns="90392" bIns="44291" anchor="b">
            <a:noAutofit/>
          </a:bodyPr>
          <a:lstStyle xmlns:a="http://schemas.openxmlformats.org/drawingml/2006/main"/>
          <a:p xmlns:a="http://schemas.openxmlformats.org/drawingml/2006/main"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600" b="1" i="1">
                <a:solidFill>
                  <a:srgbClr val="FF0033"/>
                </a:solidFill>
                <a:latin typeface="Arial"/>
                <a:ea typeface="Arial"/>
                <a:cs typeface="Arial"/>
              </a:defRPr>
            </a:pPr>
            <a:r>
              <a:rPr sz="3600" b="1" i="1" u="none">
                <a:solidFill>
                  <a:srgbClr val="FF0033"/>
                </a:solidFill>
                <a:latin typeface="Arial"/>
                <a:ea typeface="Arial"/>
                <a:cs typeface="Arial"/>
              </a:rPr>
              <a:t>SQL 预览：用声明式方式提问</a:t>
            </a:r>
          </a:p>
        </p:txBody>
      </p:sp>
      <p:sp>
        <p:nvSpPr>
          <p:cNvPr id="28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A9D33F6-FC57-4B9F-842E-8AFDD951D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880" y="1828800"/>
            <a:ext cx="8381880" cy="4647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90392" tIns="44291" rIns="90392" bIns="44291" anchor="t">
            <a:normAutofit fontScale="100000"/>
          </a:bodyPr>
          <a:lstStyle xmlns:a="http://schemas.openxmlformats.org/drawingml/2006/main"/>
          <a:p xmlns:a="http://schemas.openxmlformats.org/drawingml/2006/main"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问题：哪些学生在 COMP5111 中获得 A− 或以上成绩？</a:t>
            </a:r>
          </a:p>
          <a:p xmlns:a="http://schemas.openxmlformats.org/drawingml/2006/main"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SELECT student_name, grade</a:t>
            </a:r>
          </a:p>
          <a:p xmlns:a="http://schemas.openxmlformats.org/drawingml/2006/main"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FROM Enrolment</a:t>
            </a:r>
          </a:p>
          <a:p xmlns:a="http://schemas.openxmlformats.org/drawingml/2006/main"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WHERE course_code = 'COMP5111'</a:t>
            </a:r>
          </a:p>
          <a:p xmlns:a="http://schemas.openxmlformats.org/drawingml/2006/main"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AND grade IN ('A+', 'A', 'A−');</a:t>
            </a:r>
          </a:p>
          <a:p xmlns:a="http://schemas.openxmlformats.org/drawingml/2006/main"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结果中应该出现哪些列和哪些行？</a:t>
            </a:r>
          </a:p>
        </p:txBody>
      </p:sp>
    </p:spTree>
    <p:extLst>
      <p:ext uri="{BB962C8B-B14F-4D97-AF65-F5344CB8AC3E}">
        <p14:creationId xmlns:p14="http://schemas.microsoft.com/office/powerpoint/2010/main" val="464216751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24681D97-5F04-4ECE-9748-F517755D10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28240" y="166320"/>
            <a:ext cx="8770680" cy="131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90392" tIns="44291" rIns="90392" bIns="44291" anchor="b">
            <a:noAutofit/>
          </a:bodyPr>
          <a:lstStyle xmlns:a="http://schemas.openxmlformats.org/drawingml/2006/main"/>
          <a:p xmlns:a="http://schemas.openxmlformats.org/drawingml/2006/main"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600" b="1" i="1">
                <a:solidFill>
                  <a:srgbClr val="FF0033"/>
                </a:solidFill>
                <a:latin typeface="Arial"/>
                <a:ea typeface="Arial"/>
                <a:cs typeface="Arial"/>
              </a:defRPr>
            </a:pPr>
            <a:r>
              <a:rPr sz="3600" b="1" i="1" u="none">
                <a:solidFill>
                  <a:srgbClr val="FF0033"/>
                </a:solidFill>
                <a:latin typeface="Arial"/>
                <a:ea typeface="Arial"/>
                <a:cs typeface="Arial"/>
              </a:rPr>
              <a:t>练习：编写两个查询</a:t>
            </a:r>
          </a:p>
        </p:txBody>
      </p:sp>
      <p:sp>
        <p:nvSpPr>
          <p:cNvPr id="28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A9D33F6-FC57-4B9F-842E-8AFDD951D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880" y="1828800"/>
            <a:ext cx="8381880" cy="4647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90392" tIns="44291" rIns="90392" bIns="44291" anchor="t">
            <a:normAutofit fontScale="100000"/>
          </a:bodyPr>
          <a:lstStyle xmlns:a="http://schemas.openxmlformats.org/drawingml/2006/main"/>
          <a:p xmlns:a="http://schemas.openxmlformats.org/drawingml/2006/main"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查询 A：列出 Peter Wong 修读的课程代码。</a:t>
            </a:r>
          </a:p>
          <a:p xmlns:a="http://schemas.openxmlformats.org/drawingml/2006/main"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查询 B：统计每门课程的选课人数。</a:t>
            </a:r>
          </a:p>
          <a:p xmlns:a="http://schemas.openxmlformats.org/drawingml/2006/main"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按需使用 SELECT、FROM、WHERE 和 GROUP BY。</a:t>
            </a:r>
          </a:p>
          <a:p xmlns:a="http://schemas.openxmlformats.org/drawingml/2006/main"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运行查询前先预测结果。</a:t>
            </a:r>
          </a:p>
          <a:p xmlns:a="http://schemas.openxmlformats.org/drawingml/2006/main"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与邻座比较答案，并说明一个设计选择。</a:t>
            </a:r>
          </a:p>
        </p:txBody>
      </p:sp>
    </p:spTree>
    <p:extLst>
      <p:ext uri="{BB962C8B-B14F-4D97-AF65-F5344CB8AC3E}">
        <p14:creationId xmlns:p14="http://schemas.microsoft.com/office/powerpoint/2010/main" val="464216751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24681D97-5F04-4ECE-9748-F517755D10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28240" y="166320"/>
            <a:ext cx="8770680" cy="131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90392" tIns="44291" rIns="90392" bIns="44291" anchor="b">
            <a:noAutofit/>
          </a:bodyPr>
          <a:lstStyle xmlns:a="http://schemas.openxmlformats.org/drawingml/2006/main"/>
          <a:p xmlns:a="http://schemas.openxmlformats.org/drawingml/2006/main"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600" b="1" i="1">
                <a:solidFill>
                  <a:srgbClr val="FF0033"/>
                </a:solidFill>
                <a:latin typeface="Arial"/>
                <a:ea typeface="Arial"/>
                <a:cs typeface="Arial"/>
              </a:defRPr>
            </a:pPr>
            <a:r>
              <a:rPr sz="3600" b="1" i="1" u="none">
                <a:solidFill>
                  <a:srgbClr val="FF0033"/>
                </a:solidFill>
                <a:latin typeface="Arial"/>
                <a:ea typeface="Arial"/>
                <a:cs typeface="Arial"/>
              </a:rPr>
              <a:t>SQL 回顾</a:t>
            </a:r>
          </a:p>
        </p:txBody>
      </p:sp>
      <p:sp>
        <p:nvSpPr>
          <p:cNvPr id="28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A9D33F6-FC57-4B9F-842E-8AFDD951D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880" y="1828800"/>
            <a:ext cx="8381880" cy="4647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90392" tIns="44291" rIns="90392" bIns="44291" anchor="t">
            <a:normAutofit fontScale="100000"/>
          </a:bodyPr>
          <a:lstStyle xmlns:a="http://schemas.openxmlformats.org/drawingml/2006/main"/>
          <a:p xmlns:a="http://schemas.openxmlformats.org/drawingml/2006/main"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SQL 说明需要“什么”结果；DBMS 决定“如何”取得结果。</a:t>
            </a:r>
          </a:p>
          <a:p xmlns:a="http://schemas.openxmlformats.org/drawingml/2006/main"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查询处理器负责检查、重写、优化并执行查询。</a:t>
            </a:r>
          </a:p>
          <a:p xmlns:a="http://schemas.openxmlformats.org/drawingml/2006/main"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同一个逻辑查询可以采用扫描、索引或不同的连接顺序。</a:t>
            </a:r>
          </a:p>
          <a:p xmlns:a="http://schemas.openxmlformats.org/drawingml/2006/main"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这种分离支持数据独立性。</a:t>
            </a:r>
          </a:p>
        </p:txBody>
      </p:sp>
    </p:spTree>
    <p:extLst>
      <p:ext uri="{BB962C8B-B14F-4D97-AF65-F5344CB8AC3E}">
        <p14:creationId xmlns:p14="http://schemas.microsoft.com/office/powerpoint/2010/main" val="464216751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827A9062-8D7D-4334-B846-1EE84B5F28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7040" y="166320"/>
            <a:ext cx="8381880" cy="131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360" tIns="44280" rIns="90360" bIns="44280" anchor="b">
            <a:noAutofit/>
          </a:bodyPr>
          <a:lstStyle xmlns:a="http://schemas.openxmlformats.org/drawingml/2006/main"/>
          <a:p xmlns:a="http://schemas.openxmlformats.org/drawingml/2006/main"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3600" b="1" i="1" u="none">
                <a:solidFill>
                  <a:srgbClr val="FF0033"/>
                </a:solidFill>
                <a:latin typeface="Arial"/>
                <a:ea typeface="Arial"/>
                <a:cs typeface="Arial"/>
              </a:rPr>
              <a:t>实体—联系模型</a:t>
            </a:r>
          </a:p>
        </p:txBody>
      </p:sp>
      <p:sp>
        <p:nvSpPr>
          <p:cNvPr id="14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E53B4704-2F43-4E85-A496-72C25AFE832F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560160" y="1785600"/>
            <a:ext cx="8153280" cy="461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360" tIns="44280" rIns="90360" bIns="44280" anchor="t">
            <a:normAutofit fontScale="100000"/>
          </a:bodyPr>
          <a:lstStyle xmlns:a="http://schemas.openxmlformats.org/drawingml/2006/main"/>
          <a:p xmlns:a="http://schemas.openxmlformats.org/drawingml/2006/main">
            <a:pPr marL="343080" indent="-343080" algn="just">
              <a:spcBef>
                <a:spcPts val="601"/>
              </a:spcBef>
              <a:buClr>
                <a:srgbClr val="FF0033"/>
              </a:buClr>
              <a:buSzPct val="75000"/>
              <a:buFont typeface="Zapf Dingbat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基本介绍</a:t>
            </a:r>
          </a:p>
          <a:p xmlns:a="http://schemas.openxmlformats.org/drawingml/2006/main"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由 P. Chen 于 1976 年提出</a:t>
            </a:r>
          </a:p>
          <a:p xmlns:a="http://schemas.openxmlformats.org/drawingml/2006/main"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最早的“语义”数据库模型之一</a:t>
            </a:r>
          </a:p>
          <a:p xmlns:a="http://schemas.openxmlformats.org/drawingml/2006/main"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主要用于设计基于记录的数据库（层次、网状、关系）</a:t>
            </a:r>
          </a:p>
          <a:p xmlns:a="http://schemas.openxmlformats.org/drawingml/2006/main"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ER 图是高效表达数据库结构的重要工具</a:t>
            </a:r>
          </a:p>
        </p:txBody>
      </p:sp>
    </p:spTree>
    <p:extLst>
      <p:ext uri="{BB962C8B-B14F-4D97-AF65-F5344CB8AC3E}">
        <p14:creationId xmlns:p14="http://schemas.microsoft.com/office/powerpoint/2010/main" val="845544551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24681D97-5F04-4ECE-9748-F517755D10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28240" y="166320"/>
            <a:ext cx="8770680" cy="131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90392" tIns="44291" rIns="90392" bIns="44291" anchor="b">
            <a:noAutofit/>
          </a:bodyPr>
          <a:lstStyle xmlns:a="http://schemas.openxmlformats.org/drawingml/2006/main"/>
          <a:p xmlns:a="http://schemas.openxmlformats.org/drawingml/2006/main"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600" b="1" i="1">
                <a:solidFill>
                  <a:srgbClr val="FF0033"/>
                </a:solidFill>
                <a:latin typeface="Arial"/>
                <a:ea typeface="Arial"/>
                <a:cs typeface="Arial"/>
              </a:defRPr>
            </a:pPr>
            <a:r>
              <a:rPr sz="3600" b="1" i="1" u="none">
                <a:solidFill>
                  <a:srgbClr val="FF0033"/>
                </a:solidFill>
                <a:latin typeface="Arial"/>
                <a:ea typeface="Arial"/>
                <a:cs typeface="Arial"/>
              </a:rPr>
              <a:t>ER 建模流程</a:t>
            </a:r>
          </a:p>
        </p:txBody>
      </p:sp>
      <p:sp>
        <p:nvSpPr>
          <p:cNvPr id="28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A9D33F6-FC57-4B9F-842E-8AFDD951D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880" y="1828800"/>
            <a:ext cx="8381880" cy="4647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90392" tIns="44291" rIns="90392" bIns="44291" anchor="t">
            <a:normAutofit fontScale="100000"/>
          </a:bodyPr>
          <a:lstStyle xmlns:a="http://schemas.openxmlformats.org/drawingml/2006/main"/>
          <a:p xmlns:a="http://schemas.openxmlformats.org/drawingml/2006/main"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1. 从名词、动词和规则三个角度阅读需求</a:t>
            </a:r>
          </a:p>
          <a:p xmlns:a="http://schemas.openxmlformats.org/drawingml/2006/main"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2. 提出实体类型和候选键</a:t>
            </a:r>
          </a:p>
          <a:p xmlns:a="http://schemas.openxmlformats.org/drawingml/2006/main"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3. 添加属性及其值域</a:t>
            </a:r>
          </a:p>
          <a:p xmlns:a="http://schemas.openxmlformats.org/drawingml/2006/main"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4. 添加联系、角色及联系属性</a:t>
            </a:r>
          </a:p>
          <a:p xmlns:a="http://schemas.openxmlformats.org/drawingml/2006/main"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5. 明确基数和参与约束</a:t>
            </a:r>
          </a:p>
          <a:p xmlns:a="http://schemas.openxmlformats.org/drawingml/2006/main"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6. 用示例场景和问题验证模型</a:t>
            </a:r>
          </a:p>
        </p:txBody>
      </p:sp>
    </p:spTree>
    <p:extLst>
      <p:ext uri="{BB962C8B-B14F-4D97-AF65-F5344CB8AC3E}">
        <p14:creationId xmlns:p14="http://schemas.microsoft.com/office/powerpoint/2010/main" val="464216751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5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18BFDA73-FB33-4180-9EE9-618E1E8A66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7040" y="166320"/>
            <a:ext cx="8381880" cy="131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360" tIns="44280" rIns="90360" bIns="44280" anchor="b">
            <a:noAutofit/>
          </a:bodyPr>
          <a:lstStyle xmlns:a="http://schemas.openxmlformats.org/drawingml/2006/main"/>
          <a:p xmlns:a="http://schemas.openxmlformats.org/drawingml/2006/main"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3600" b="1" i="1" u="none">
                <a:solidFill>
                  <a:srgbClr val="FF0033"/>
                </a:solidFill>
                <a:latin typeface="Arial"/>
                <a:ea typeface="Arial"/>
                <a:cs typeface="Arial"/>
              </a:rPr>
              <a:t>实体—联系模型</a:t>
            </a:r>
          </a:p>
        </p:txBody>
      </p:sp>
      <p:sp>
        <p:nvSpPr>
          <p:cNvPr id="146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926F7DF2-3E9C-49CD-9CFF-B3AE93D7F56C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560160" y="1785600"/>
            <a:ext cx="8153280" cy="461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360" tIns="44280" rIns="90360" bIns="44280" anchor="t">
            <a:normAutofit fontScale="100000"/>
          </a:bodyPr>
          <a:lstStyle xmlns:a="http://schemas.openxmlformats.org/drawingml/2006/main"/>
          <a:p xmlns:a="http://schemas.openxmlformats.org/drawingml/2006/main">
            <a:pPr marL="343080" indent="-343080" algn="just">
              <a:spcBef>
                <a:spcPts val="499"/>
              </a:spcBef>
              <a:buClr>
                <a:srgbClr val="FF0033"/>
              </a:buClr>
              <a:buSzPct val="75000"/>
              <a:buFont typeface="Zapf Dingbat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建模构件</a:t>
            </a:r>
          </a:p>
          <a:p xmlns:a="http://schemas.openxmlformats.org/drawingml/2006/main"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1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实体——具有独立存在性、可相互区分的对象</a:t>
            </a:r>
          </a:p>
          <a:p xmlns:a="http://schemas.openxmlformats.org/drawingml/2006/main">
            <a:pPr marL="2057400" lvl="4" indent="-228600" algn="just">
              <a:lnSpc>
                <a:spcPct val="100000"/>
              </a:lnSpc>
              <a:spcBef>
                <a:spcPts val="601"/>
              </a:spcBef>
              <a:buNone/>
              <a:tabLst>
                <a:tab pos="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1" u="none">
                <a:solidFill>
                  <a:srgbClr val="3333CC"/>
                </a:solidFill>
                <a:latin typeface="Garamond"/>
                <a:ea typeface="Garamond"/>
                <a:cs typeface="Garamond"/>
              </a:rPr>
              <a:t>示例：John Chan、PolyU、HK Bank 等</a:t>
            </a:r>
            <a:endParaRPr sz="2400" b="0" u="none">
              <a:solidFill>
                <a:srgbClr val="3333CC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43040" lvl="1" indent="-285840" algn="l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1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实体集——同一类型实体的集合</a:t>
            </a:r>
          </a:p>
          <a:p xmlns:a="http://schemas.openxmlformats.org/drawingml/2006/main">
            <a:pPr marL="2057400" lvl="4" indent="-228600" algn="l">
              <a:lnSpc>
                <a:spcPct val="100000"/>
              </a:lnSpc>
              <a:spcBef>
                <a:spcPts val="601"/>
              </a:spcBef>
              <a:buNone/>
              <a:tabLst>
                <a:tab pos="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1" u="none">
                <a:solidFill>
                  <a:srgbClr val="3333CC"/>
                </a:solidFill>
                <a:latin typeface="Garamond"/>
                <a:ea typeface="Garamond"/>
                <a:cs typeface="Garamond"/>
              </a:rPr>
              <a:t>示例：学生、雇员、客户等</a:t>
            </a:r>
            <a:endParaRPr sz="2400" b="0" u="none">
              <a:solidFill>
                <a:srgbClr val="3333CC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43040" lvl="1" indent="-285840" algn="l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1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在 ER 图中，实体集（通常简称实体）用矩形表示</a:t>
            </a:r>
          </a:p>
          <a:p xmlns:a="http://schemas.openxmlformats.org/drawingml/2006/main">
            <a:pPr marL="2057400" lvl="4" indent="-228600" algn="l">
              <a:spcBef>
                <a:spcPts val="499"/>
              </a:spcBef>
              <a:buNone/>
              <a:tabLst>
                <a:tab pos="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0" u="none">
              <a:solidFill>
                <a:srgbClr val="3333C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7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8745E92-3E3E-4B22-B4E9-2874C65C6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3160" y="4876560"/>
            <a:ext cx="2070360" cy="852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20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1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学生</a:t>
            </a: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01160840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8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1082FDE4-D27D-4373-8E25-EBE09BE354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7040" y="166320"/>
            <a:ext cx="8381880" cy="131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360" tIns="44280" rIns="90360" bIns="44280" anchor="b">
            <a:noAutofit/>
          </a:bodyPr>
          <a:lstStyle xmlns:a="http://schemas.openxmlformats.org/drawingml/2006/main"/>
          <a:p xmlns:a="http://schemas.openxmlformats.org/drawingml/2006/main"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3600" b="1" i="1" u="none">
                <a:solidFill>
                  <a:srgbClr val="FF0033"/>
                </a:solidFill>
                <a:latin typeface="Arial"/>
                <a:ea typeface="Arial"/>
                <a:cs typeface="Arial"/>
              </a:rPr>
              <a:t>实体—联系模型</a:t>
            </a:r>
          </a:p>
        </p:txBody>
      </p:sp>
      <p:sp>
        <p:nvSpPr>
          <p:cNvPr id="149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49AFD3A3-4193-4565-AD96-BA7B45CBDF33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560160" y="1785600"/>
            <a:ext cx="8153280" cy="461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360" tIns="44280" rIns="90360" bIns="44280" anchor="t">
            <a:normAutofit fontScale="100000"/>
          </a:bodyPr>
          <a:lstStyle xmlns:a="http://schemas.openxmlformats.org/drawingml/2006/main"/>
          <a:p xmlns:a="http://schemas.openxmlformats.org/drawingml/2006/main">
            <a:pPr marL="343080" indent="-343080" algn="just">
              <a:spcBef>
                <a:spcPts val="499"/>
              </a:spcBef>
              <a:buClr>
                <a:srgbClr val="FF0033"/>
              </a:buClr>
              <a:buSzPct val="75000"/>
              <a:buFont typeface="Zapf Dingbat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建模构件（续）</a:t>
            </a:r>
          </a:p>
          <a:p xmlns:a="http://schemas.openxmlformats.org/drawingml/2006/main"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1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属性（性质）——描述实体的一项信息 </a:t>
            </a:r>
          </a:p>
          <a:p xmlns:a="http://schemas.openxmlformats.org/drawingml/2006/main">
            <a:pPr marL="1600200" lvl="3" indent="-22860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i="1" u="sng">
                <a:solidFill>
                  <a:srgbClr val="3333CC"/>
                </a:solidFill>
                <a:latin typeface="Arial"/>
                <a:ea typeface="Arial"/>
                <a:cs typeface="Arial"/>
              </a:rPr>
              <a:t>示例：姓名、ID、地址和出生日期都是学生实体的属性</a:t>
            </a:r>
          </a:p>
          <a:p xmlns:a="http://schemas.openxmlformats.org/drawingml/2006/main">
            <a:pPr marL="1600200" lvl="3" indent="-22860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每个属性都从某个值域中取值</a:t>
            </a:r>
            <a:endParaRPr sz="2000" b="0" u="none">
              <a:solidFill>
                <a:srgbClr val="3333CC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057400" lvl="4" indent="-228600" algn="just">
              <a:spcBef>
                <a:spcPts val="499"/>
              </a:spcBef>
              <a:buNone/>
              <a:tabLst>
                <a:tab pos="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sng">
                <a:solidFill>
                  <a:srgbClr val="3333CC"/>
                </a:solidFill>
                <a:latin typeface="Arial"/>
                <a:ea typeface="Arial"/>
                <a:cs typeface="Arial"/>
              </a:rPr>
              <a:t>示例：姓名 ∈ 字符串， </a:t>
            </a:r>
          </a:p>
          <a:p xmlns:a="http://schemas.openxmlformats.org/drawingml/2006/main">
            <a:pPr marL="2057400" lvl="4" indent="-228600" algn="just">
              <a:spcBef>
                <a:spcPts val="499"/>
              </a:spcBef>
              <a:buNone/>
              <a:tabLst>
                <a:tab pos="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                ID ∈ 整数，…… </a:t>
            </a:r>
          </a:p>
          <a:p xmlns:a="http://schemas.openxmlformats.org/drawingml/2006/main">
            <a:pPr marL="1600200" lvl="3" indent="-22860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形式化地说，属性 A 是一个把实体集 E 映射到值域 D 的函数：</a:t>
            </a:r>
          </a:p>
          <a:p xmlns:a="http://schemas.openxmlformats.org/drawingml/2006/main">
            <a:pPr marL="2057400" lvl="4" indent="-228600" algn="just">
              <a:spcBef>
                <a:spcPts val="499"/>
              </a:spcBef>
              <a:buNone/>
              <a:tabLst>
                <a:tab pos="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                   </a:t>
            </a:r>
            <a:r>
              <a:rPr sz="2000" b="1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A: E </a:t>
            </a:r>
            <a:r>
              <a:rPr sz="2000" b="1" u="none">
                <a:solidFill>
                  <a:srgbClr val="3333CC"/>
                </a:solidFill>
                <a:latin typeface="Symbol"/>
                <a:ea typeface="Symbol"/>
                <a:cs typeface="Symbol"/>
              </a:rPr>
              <a:t></a:t>
            </a:r>
            <a:r>
              <a:rPr sz="2000" b="1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 D</a:t>
            </a:r>
            <a:endParaRPr sz="2000" b="0" u="none">
              <a:solidFill>
                <a:srgbClr val="3333CC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43080" indent="-343080" algn="just"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0" u="none">
              <a:solidFill>
                <a:srgbClr val="3333CC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72245181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0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C7CB4375-A47E-46FA-ACBE-BFF6D08F51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7040" y="166320"/>
            <a:ext cx="8381880" cy="131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360" tIns="44280" rIns="90360" bIns="44280" anchor="b">
            <a:noAutofit/>
          </a:bodyPr>
          <a:lstStyle xmlns:a="http://schemas.openxmlformats.org/drawingml/2006/main"/>
          <a:p xmlns:a="http://schemas.openxmlformats.org/drawingml/2006/main"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3600" b="1" i="1" u="none">
                <a:solidFill>
                  <a:srgbClr val="FF0033"/>
                </a:solidFill>
                <a:latin typeface="Arial"/>
                <a:ea typeface="Arial"/>
                <a:cs typeface="Arial"/>
              </a:rPr>
              <a:t>实体—联系模型</a:t>
            </a:r>
          </a:p>
        </p:txBody>
      </p:sp>
      <p:sp>
        <p:nvSpPr>
          <p:cNvPr id="151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43635883-E51E-4B79-AF20-E4D82E15015B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560160" y="1785600"/>
            <a:ext cx="8153280" cy="461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360" tIns="44280" rIns="90360" bIns="44280" anchor="t">
            <a:normAutofit fontScale="100000"/>
          </a:bodyPr>
          <a:lstStyle xmlns:a="http://schemas.openxmlformats.org/drawingml/2006/main"/>
          <a:p xmlns:a="http://schemas.openxmlformats.org/drawingml/2006/main">
            <a:pPr marL="343080" indent="-343080" algn="just">
              <a:spcBef>
                <a:spcPts val="499"/>
              </a:spcBef>
              <a:buClr>
                <a:srgbClr val="FF0033"/>
              </a:buClr>
              <a:buSzPct val="75000"/>
              <a:buFont typeface="Zapf Dingbat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建模构件（续）</a:t>
            </a:r>
          </a:p>
          <a:p xmlns:a="http://schemas.openxmlformats.org/drawingml/2006/main"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在 ER 图中，属性用与实体相连的椭圆表示</a:t>
            </a:r>
          </a:p>
          <a:p xmlns:a="http://schemas.openxmlformats.org/drawingml/2006/main">
            <a:pPr marL="1143000" lvl="2" indent="-228600" algn="just">
              <a:spcBef>
                <a:spcPts val="451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ER 图中通常省略值域信息</a:t>
            </a:r>
          </a:p>
          <a:p xmlns:a="http://schemas.openxmlformats.org/drawingml/2006/main">
            <a:pPr marL="1143000" lvl="2" indent="0" algn="just">
              <a:spcBef>
                <a:spcPts val="451"/>
              </a:spcBef>
              <a:buNone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1800" b="0" u="none">
              <a:solidFill>
                <a:srgbClr val="3333C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7D5FB94-4D9D-443D-B149-368733384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9320" y="5205240"/>
            <a:ext cx="2070360" cy="851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20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1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学生</a:t>
            </a: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3" name="Oval 2">
            <a:extLst xmlns:a="http://schemas.openxmlformats.org/drawingml/2006/main">
              <a:ext uri="{FF2B5EF4-FFF2-40B4-BE49-F238E27FC236}">
                <a16:creationId xmlns:a16="http://schemas.microsoft.com/office/drawing/2014/main" id="{F10305E6-9049-4A7B-ADC0-1BB5AAF87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2600" y="4630680"/>
            <a:ext cx="1503360" cy="841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20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1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姓名</a:t>
            </a: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4" name="Oval 3">
            <a:extLst xmlns:a="http://schemas.openxmlformats.org/drawingml/2006/main">
              <a:ext uri="{FF2B5EF4-FFF2-40B4-BE49-F238E27FC236}">
                <a16:creationId xmlns:a16="http://schemas.microsoft.com/office/drawing/2014/main" id="{299FC1AF-DD7E-48E7-881C-9A9408B12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2200" y="3733560"/>
            <a:ext cx="2070000" cy="8431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20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1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学号</a:t>
            </a: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5" name="Oval 4">
            <a:extLst xmlns:a="http://schemas.openxmlformats.org/drawingml/2006/main">
              <a:ext uri="{FF2B5EF4-FFF2-40B4-BE49-F238E27FC236}">
                <a16:creationId xmlns:a16="http://schemas.microsoft.com/office/drawing/2014/main" id="{A5FDD17F-5381-4DBA-B848-A31BF20EF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1240" y="4630680"/>
            <a:ext cx="1797120" cy="841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20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1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地址</a:t>
            </a: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6" name="Oval 5">
            <a:extLst xmlns:a="http://schemas.openxmlformats.org/drawingml/2006/main">
              <a:ext uri="{FF2B5EF4-FFF2-40B4-BE49-F238E27FC236}">
                <a16:creationId xmlns:a16="http://schemas.microsoft.com/office/drawing/2014/main" id="{08EC7D72-97AD-49D1-8D23-C00CBE9FD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320" y="3733560"/>
            <a:ext cx="2703600" cy="8431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20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1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出生日期</a:t>
            </a: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7" name="Straight Connector 6">
            <a:extLst xmlns:a="http://schemas.openxmlformats.org/drawingml/2006/main">
              <a:ext uri="{FF2B5EF4-FFF2-40B4-BE49-F238E27FC236}">
                <a16:creationId xmlns:a16="http://schemas.microsoft.com/office/drawing/2014/main" id="{A02AE3FA-6581-45DE-BB0A-D5A60E45E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5960" y="5051160"/>
            <a:ext cx="333360" cy="154080"/>
          </a:xfrm>
          <a:prstGeom xmlns:a="http://schemas.openxmlformats.org/drawingml/2006/main" prst="line">
            <a:avLst/>
          </a:prstGeom>
          <a:ln xmlns:a="http://schemas.openxmlformats.org/drawingml/2006/main" w="936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noAutofit/>
          </a:bodyPr>
          <a:lstStyle xmlns:a="http://schemas.openxmlformats.org/drawingml/2006/main"/>
          <a:p xmlns:a="http://schemas.openxmlformats.org/drawingml/2006/main"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8" name="Straight Connector 7">
            <a:extLst xmlns:a="http://schemas.openxmlformats.org/drawingml/2006/main">
              <a:ext uri="{FF2B5EF4-FFF2-40B4-BE49-F238E27FC236}">
                <a16:creationId xmlns:a16="http://schemas.microsoft.com/office/drawing/2014/main" id="{1C4B09C7-048C-42AE-B9E3-60EE595D3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0880" y="4576680"/>
            <a:ext cx="303120" cy="627120"/>
          </a:xfrm>
          <a:prstGeom xmlns:a="http://schemas.openxmlformats.org/drawingml/2006/main" prst="line">
            <a:avLst/>
          </a:prstGeom>
          <a:ln xmlns:a="http://schemas.openxmlformats.org/drawingml/2006/main" w="936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noAutofit/>
          </a:bodyPr>
          <a:lstStyle xmlns:a="http://schemas.openxmlformats.org/drawingml/2006/main"/>
          <a:p xmlns:a="http://schemas.openxmlformats.org/drawingml/2006/main"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9" name="Straight Connector 8">
            <a:extLst xmlns:a="http://schemas.openxmlformats.org/drawingml/2006/main">
              <a:ext uri="{FF2B5EF4-FFF2-40B4-BE49-F238E27FC236}">
                <a16:creationId xmlns:a16="http://schemas.microsoft.com/office/drawing/2014/main" id="{4B8B1186-6256-41C3-8065-ECD5E6A23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295240" y="4576680"/>
            <a:ext cx="876600" cy="627120"/>
          </a:xfrm>
          <a:prstGeom xmlns:a="http://schemas.openxmlformats.org/drawingml/2006/main" prst="line">
            <a:avLst/>
          </a:prstGeom>
          <a:ln xmlns:a="http://schemas.openxmlformats.org/drawingml/2006/main" w="936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noAutofit/>
          </a:bodyPr>
          <a:lstStyle xmlns:a="http://schemas.openxmlformats.org/drawingml/2006/main"/>
          <a:p xmlns:a="http://schemas.openxmlformats.org/drawingml/2006/main"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0" name="Straight Connector 9">
            <a:extLst xmlns:a="http://schemas.openxmlformats.org/drawingml/2006/main">
              <a:ext uri="{FF2B5EF4-FFF2-40B4-BE49-F238E27FC236}">
                <a16:creationId xmlns:a16="http://schemas.microsoft.com/office/drawing/2014/main" id="{849675B4-CB0F-45C0-AC11-F09A79485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719320" y="5051160"/>
            <a:ext cx="331560" cy="297000"/>
          </a:xfrm>
          <a:prstGeom xmlns:a="http://schemas.openxmlformats.org/drawingml/2006/main" prst="line">
            <a:avLst/>
          </a:prstGeom>
          <a:ln xmlns:a="http://schemas.openxmlformats.org/drawingml/2006/main" w="936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noAutofit/>
          </a:bodyPr>
          <a:lstStyle xmlns:a="http://schemas.openxmlformats.org/drawingml/2006/main"/>
          <a:p xmlns:a="http://schemas.openxmlformats.org/drawingml/2006/main"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1012595"/>
      </p:ext>
    </p:extLst>
  </p:cSld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1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AFE6CC32-FF64-4343-A670-72D87C1A4E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7040" y="166320"/>
            <a:ext cx="8381880" cy="131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360" tIns="44280" rIns="90360" bIns="44280" anchor="b">
            <a:noAutofit/>
          </a:bodyPr>
          <a:lstStyle xmlns:a="http://schemas.openxmlformats.org/drawingml/2006/main"/>
          <a:p xmlns:a="http://schemas.openxmlformats.org/drawingml/2006/main"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3600" b="1" i="1" u="none">
                <a:solidFill>
                  <a:srgbClr val="FF0033"/>
                </a:solidFill>
                <a:latin typeface="Arial"/>
                <a:ea typeface="Arial"/>
                <a:cs typeface="Arial"/>
              </a:rPr>
              <a:t>实体—联系模型</a:t>
            </a:r>
          </a:p>
        </p:txBody>
      </p:sp>
      <p:sp>
        <p:nvSpPr>
          <p:cNvPr id="162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B552B90F-5760-418F-9E5C-63645EA637B2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560160" y="1785600"/>
            <a:ext cx="8153280" cy="461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360" tIns="44280" rIns="90360" bIns="44280" anchor="t">
            <a:normAutofit fontScale="96415"/>
          </a:bodyPr>
          <a:lstStyle xmlns:a="http://schemas.openxmlformats.org/drawingml/2006/main"/>
          <a:p xmlns:a="http://schemas.openxmlformats.org/drawingml/2006/main">
            <a:pPr marL="343080" indent="-343080" algn="just">
              <a:spcBef>
                <a:spcPts val="499"/>
              </a:spcBef>
              <a:buClr>
                <a:srgbClr val="FF0033"/>
              </a:buClr>
              <a:buSzPct val="75000"/>
              <a:buFont typeface="Zapf Dingbat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建模构件（续）</a:t>
            </a:r>
          </a:p>
          <a:p xmlns:a="http://schemas.openxmlformats.org/drawingml/2006/main"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1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联系——若干实体之间的关联 </a:t>
            </a:r>
          </a:p>
          <a:p xmlns:a="http://schemas.openxmlformats.org/drawingml/2006/main">
            <a:pPr marL="1600200" lvl="3" indent="-22860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i="1" u="sng">
                <a:solidFill>
                  <a:srgbClr val="3333CC"/>
                </a:solidFill>
                <a:latin typeface="Arial"/>
                <a:ea typeface="Arial"/>
                <a:cs typeface="Arial"/>
              </a:rPr>
              <a:t>示例：Patrick 和 Eva 是朋友</a:t>
            </a:r>
          </a:p>
          <a:p xmlns:a="http://schemas.openxmlformats.org/drawingml/2006/main">
            <a:pPr marL="2057400" lvl="4" indent="-228600" algn="just">
              <a:spcBef>
                <a:spcPts val="499"/>
              </a:spcBef>
              <a:buNone/>
              <a:tabLst>
                <a:tab pos="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             Patrick 正在修读 cs3450       </a:t>
            </a:r>
          </a:p>
          <a:p xmlns:a="http://schemas.openxmlformats.org/drawingml/2006/main"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1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联系集——同一类型联系的集合</a:t>
            </a:r>
          </a:p>
          <a:p xmlns:a="http://schemas.openxmlformats.org/drawingml/2006/main">
            <a:pPr marL="1600200" lvl="3" indent="-22860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sng">
                <a:solidFill>
                  <a:srgbClr val="3333CC"/>
                </a:solidFill>
                <a:latin typeface="Arial"/>
                <a:ea typeface="Arial"/>
                <a:cs typeface="Arial"/>
              </a:rPr>
              <a:t>示例：</a:t>
            </a:r>
          </a:p>
          <a:p xmlns:a="http://schemas.openxmlformats.org/drawingml/2006/main">
            <a:pPr marL="1600200" lvl="3" indent="0" algn="just">
              <a:spcBef>
                <a:spcPts val="499"/>
              </a:spcBef>
              <a:buNone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0" u="none">
              <a:solidFill>
                <a:srgbClr val="3333CC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600200" lvl="3" indent="0" algn="just">
              <a:spcBef>
                <a:spcPts val="499"/>
              </a:spcBef>
              <a:buNone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0" u="none">
              <a:solidFill>
                <a:srgbClr val="3333CC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600200" lvl="3" indent="0" algn="just">
              <a:spcBef>
                <a:spcPts val="499"/>
              </a:spcBef>
              <a:buNone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0" u="none">
              <a:solidFill>
                <a:srgbClr val="3333CC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600200" lvl="3" indent="0" algn="just">
              <a:spcBef>
                <a:spcPts val="499"/>
              </a:spcBef>
              <a:buNone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0" u="none">
              <a:solidFill>
                <a:srgbClr val="3333CC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600200" lvl="3" indent="0" algn="just">
              <a:spcBef>
                <a:spcPts val="499"/>
              </a:spcBef>
              <a:buNone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0" u="none">
              <a:solidFill>
                <a:srgbClr val="3333CC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600200" lvl="3" indent="-22860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形式化地说，联系 R 是下列集合的子集：</a:t>
            </a:r>
          </a:p>
          <a:p xmlns:a="http://schemas.openxmlformats.org/drawingml/2006/main">
            <a:pPr marL="743040" lvl="1" indent="-285840" algn="just"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                   </a:t>
            </a:r>
            <a:r>
              <a:rPr sz="2000" b="1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{ (e1, e2, …, ek) | e1 </a:t>
            </a:r>
            <a:r>
              <a:rPr sz="2000" b="0" u="none">
                <a:solidFill>
                  <a:srgbClr val="3333CC"/>
                </a:solidFill>
                <a:latin typeface="Symbol"/>
                <a:ea typeface="Symbol"/>
                <a:cs typeface="Symbol"/>
              </a:rPr>
              <a:t></a:t>
            </a: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 E1, </a:t>
            </a:r>
            <a:r>
              <a:rPr sz="2000" b="1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e2 </a:t>
            </a:r>
            <a:r>
              <a:rPr sz="2000" b="0" u="none">
                <a:solidFill>
                  <a:srgbClr val="3333CC"/>
                </a:solidFill>
                <a:latin typeface="Symbol"/>
                <a:ea typeface="Symbol"/>
                <a:cs typeface="Symbol"/>
              </a:rPr>
              <a:t></a:t>
            </a: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 E2, …, </a:t>
            </a:r>
            <a:r>
              <a:rPr sz="2000" b="1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ek </a:t>
            </a:r>
            <a:r>
              <a:rPr sz="2000" b="0" u="none">
                <a:solidFill>
                  <a:srgbClr val="3333CC"/>
                </a:solidFill>
                <a:latin typeface="Symbol"/>
                <a:ea typeface="Symbol"/>
                <a:cs typeface="Symbol"/>
              </a:rPr>
              <a:t></a:t>
            </a: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 Ek) }</a:t>
            </a:r>
          </a:p>
          <a:p xmlns:a="http://schemas.openxmlformats.org/drawingml/2006/main">
            <a:pPr marL="343080" indent="-343080" algn="just"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0" u="none">
              <a:solidFill>
                <a:srgbClr val="3333C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3" name="Oval 4">
            <a:extLst xmlns:a="http://schemas.openxmlformats.org/drawingml/2006/main">
              <a:ext uri="{FF2B5EF4-FFF2-40B4-BE49-F238E27FC236}">
                <a16:creationId xmlns:a16="http://schemas.microsoft.com/office/drawing/2014/main" id="{D414CD0B-0AA9-4B49-9830-DD371F457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4960" y="3657600"/>
            <a:ext cx="1143000" cy="1752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CC99"/>
          </a:solidFill>
          <a:ln xmlns:a="http://schemas.openxmlformats.org/drawingml/2006/main" w="1260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4" name="Oval 5">
            <a:extLst xmlns:a="http://schemas.openxmlformats.org/drawingml/2006/main">
              <a:ext uri="{FF2B5EF4-FFF2-40B4-BE49-F238E27FC236}">
                <a16:creationId xmlns:a16="http://schemas.microsoft.com/office/drawing/2014/main" id="{F580F5C5-378E-4C34-979B-C029E23CD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657600"/>
            <a:ext cx="1143000" cy="1752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CC99"/>
          </a:solidFill>
          <a:ln xmlns:a="http://schemas.openxmlformats.org/drawingml/2006/main" w="1260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5" name="Text Box 6">
            <a:extLst xmlns:a="http://schemas.openxmlformats.org/drawingml/2006/main">
              <a:ext uri="{FF2B5EF4-FFF2-40B4-BE49-F238E27FC236}">
                <a16:creationId xmlns:a16="http://schemas.microsoft.com/office/drawing/2014/main" id="{C0E902F8-57AB-4409-8C22-A84DC90EC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560" y="3962160"/>
            <a:ext cx="838440" cy="1202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1125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u="none">
                <a:solidFill>
                  <a:srgbClr val="FD020F"/>
                </a:solidFill>
                <a:latin typeface="Arial"/>
                <a:ea typeface="Arial"/>
                <a:cs typeface="Arial"/>
              </a:rPr>
              <a:t>John</a:t>
            </a:r>
            <a:endParaRPr sz="18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spcBef>
                <a:spcPts val="1125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u="none">
                <a:solidFill>
                  <a:srgbClr val="FD020F"/>
                </a:solidFill>
                <a:latin typeface="Arial"/>
                <a:ea typeface="Arial"/>
                <a:cs typeface="Arial"/>
              </a:rPr>
              <a:t>mary</a:t>
            </a:r>
            <a:endParaRPr sz="18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spcBef>
                <a:spcPts val="1125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u="none">
                <a:solidFill>
                  <a:srgbClr val="FD020F"/>
                </a:solidFill>
                <a:latin typeface="Arial"/>
                <a:ea typeface="Arial"/>
                <a:cs typeface="Arial"/>
              </a:rPr>
              <a:t>may</a:t>
            </a:r>
            <a:endParaRPr sz="18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6" name="Text Box 7">
            <a:extLst xmlns:a="http://schemas.openxmlformats.org/drawingml/2006/main">
              <a:ext uri="{FF2B5EF4-FFF2-40B4-BE49-F238E27FC236}">
                <a16:creationId xmlns:a16="http://schemas.microsoft.com/office/drawing/2014/main" id="{22DD9FF7-4908-46AD-B6C9-F57156E88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560" y="3962160"/>
            <a:ext cx="990720" cy="1202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1125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u="none">
                <a:solidFill>
                  <a:srgbClr val="FD020F"/>
                </a:solidFill>
                <a:latin typeface="Arial"/>
                <a:ea typeface="Arial"/>
                <a:cs typeface="Arial"/>
              </a:rPr>
              <a:t>cs3450</a:t>
            </a:r>
            <a:endParaRPr sz="18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spcBef>
                <a:spcPts val="1125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u="none">
                <a:solidFill>
                  <a:srgbClr val="FD020F"/>
                </a:solidFill>
                <a:latin typeface="Arial"/>
                <a:ea typeface="Arial"/>
                <a:cs typeface="Arial"/>
              </a:rPr>
              <a:t>cs2578</a:t>
            </a:r>
            <a:endParaRPr sz="18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spcBef>
                <a:spcPts val="1125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u="none">
                <a:solidFill>
                  <a:srgbClr val="FD020F"/>
                </a:solidFill>
                <a:latin typeface="Arial"/>
                <a:ea typeface="Arial"/>
                <a:cs typeface="Arial"/>
              </a:rPr>
              <a:t>ee4532</a:t>
            </a:r>
            <a:endParaRPr sz="18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7" name="Line 8">
            <a:extLst xmlns:a="http://schemas.openxmlformats.org/drawingml/2006/main">
              <a:ext uri="{FF2B5EF4-FFF2-40B4-BE49-F238E27FC236}">
                <a16:creationId xmlns:a16="http://schemas.microsoft.com/office/drawing/2014/main" id="{4E7FE390-D1E0-48E4-82AF-99391C3A3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343400" y="4114440"/>
            <a:ext cx="1752480" cy="75960"/>
          </a:xfrm>
          <a:prstGeom xmlns:a="http://schemas.openxmlformats.org/drawingml/2006/main" prst="line">
            <a:avLst/>
          </a:prstGeom>
          <a:ln xmlns:a="http://schemas.openxmlformats.org/drawingml/2006/main" w="1260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29160" rIns="90000" bIns="29160" anchor="ctr">
            <a:noAutofit/>
          </a:bodyPr>
          <a:lstStyle xmlns:a="http://schemas.openxmlformats.org/drawingml/2006/main"/>
          <a:p xmlns:a="http://schemas.openxmlformats.org/drawingml/2006/main"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8" name="Line 9">
            <a:extLst xmlns:a="http://schemas.openxmlformats.org/drawingml/2006/main">
              <a:ext uri="{FF2B5EF4-FFF2-40B4-BE49-F238E27FC236}">
                <a16:creationId xmlns:a16="http://schemas.microsoft.com/office/drawing/2014/main" id="{C9B99E1B-7C39-409F-8F7F-715E555C8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190760"/>
            <a:ext cx="1752480" cy="762120"/>
          </a:xfrm>
          <a:prstGeom xmlns:a="http://schemas.openxmlformats.org/drawingml/2006/main" prst="line">
            <a:avLst/>
          </a:prstGeom>
          <a:ln xmlns:a="http://schemas.openxmlformats.org/drawingml/2006/main" w="1260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9" name="Line 10">
            <a:extLst xmlns:a="http://schemas.openxmlformats.org/drawingml/2006/main">
              <a:ext uri="{FF2B5EF4-FFF2-40B4-BE49-F238E27FC236}">
                <a16:creationId xmlns:a16="http://schemas.microsoft.com/office/drawing/2014/main" id="{1BFD794B-62F8-4D5D-8E48-CACFA53CB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267080" y="4190400"/>
            <a:ext cx="1828800" cy="381240"/>
          </a:xfrm>
          <a:prstGeom xmlns:a="http://schemas.openxmlformats.org/drawingml/2006/main" prst="line">
            <a:avLst/>
          </a:prstGeom>
          <a:ln xmlns:a="http://schemas.openxmlformats.org/drawingml/2006/main" w="1260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0" name="Line 11">
            <a:extLst xmlns:a="http://schemas.openxmlformats.org/drawingml/2006/main">
              <a:ext uri="{FF2B5EF4-FFF2-40B4-BE49-F238E27FC236}">
                <a16:creationId xmlns:a16="http://schemas.microsoft.com/office/drawing/2014/main" id="{1A629491-C1AD-4AF5-9E5B-87CBAA541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267080" y="4571640"/>
            <a:ext cx="1828800" cy="75960"/>
          </a:xfrm>
          <a:prstGeom xmlns:a="http://schemas.openxmlformats.org/drawingml/2006/main" prst="line">
            <a:avLst/>
          </a:prstGeom>
          <a:ln xmlns:a="http://schemas.openxmlformats.org/drawingml/2006/main" w="1260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29160" rIns="90000" bIns="29160" anchor="ctr">
            <a:noAutofit/>
          </a:bodyPr>
          <a:lstStyle xmlns:a="http://schemas.openxmlformats.org/drawingml/2006/main"/>
          <a:p xmlns:a="http://schemas.openxmlformats.org/drawingml/2006/main"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1" name="Line 12">
            <a:extLst xmlns:a="http://schemas.openxmlformats.org/drawingml/2006/main">
              <a:ext uri="{FF2B5EF4-FFF2-40B4-BE49-F238E27FC236}">
                <a16:creationId xmlns:a16="http://schemas.microsoft.com/office/drawing/2014/main" id="{60707F82-E410-44B3-8CFF-A90AB5C00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267080" y="4647600"/>
            <a:ext cx="1905120" cy="381240"/>
          </a:xfrm>
          <a:prstGeom xmlns:a="http://schemas.openxmlformats.org/drawingml/2006/main" prst="line">
            <a:avLst/>
          </a:prstGeom>
          <a:ln xmlns:a="http://schemas.openxmlformats.org/drawingml/2006/main" w="1260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2" name="Text Box 13">
            <a:extLst xmlns:a="http://schemas.openxmlformats.org/drawingml/2006/main">
              <a:ext uri="{FF2B5EF4-FFF2-40B4-BE49-F238E27FC236}">
                <a16:creationId xmlns:a16="http://schemas.microsoft.com/office/drawing/2014/main" id="{F0236EA7-C560-4DCE-9E95-8846A8A1C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641400"/>
            <a:ext cx="1143000" cy="398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125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1" i="1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修读</a:t>
            </a: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85073508"/>
      </p:ext>
    </p:extLst>
  </p:cSld>
</p:sld>
</file>

<file path=ppt/slides/slide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24681D97-5F04-4ECE-9748-F517755D10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28240" y="166320"/>
            <a:ext cx="8770680" cy="131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90392" tIns="44291" rIns="90392" bIns="44291" anchor="b">
            <a:noAutofit/>
          </a:bodyPr>
          <a:lstStyle xmlns:a="http://schemas.openxmlformats.org/drawingml/2006/main"/>
          <a:p xmlns:a="http://schemas.openxmlformats.org/drawingml/2006/main"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600" b="1" i="1">
                <a:solidFill>
                  <a:srgbClr val="FF0033"/>
                </a:solidFill>
                <a:latin typeface="Arial"/>
                <a:ea typeface="Arial"/>
                <a:cs typeface="Arial"/>
              </a:defRPr>
            </a:pPr>
            <a:r>
              <a:rPr sz="3600" b="1" i="1" u="none">
                <a:solidFill>
                  <a:srgbClr val="FF0033"/>
                </a:solidFill>
                <a:latin typeface="Arial"/>
                <a:ea typeface="Arial"/>
                <a:cs typeface="Arial"/>
              </a:rPr>
              <a:t>工作坊：图书借阅</a:t>
            </a:r>
          </a:p>
        </p:txBody>
      </p:sp>
      <p:sp>
        <p:nvSpPr>
          <p:cNvPr id="28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A9D33F6-FC57-4B9F-842E-8AFDD951D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880" y="1828800"/>
            <a:ext cx="8381880" cy="4647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90392" tIns="44291" rIns="90392" bIns="44291" anchor="t">
            <a:normAutofit fontScale="100000"/>
          </a:bodyPr>
          <a:lstStyle xmlns:a="http://schemas.openxmlformats.org/drawingml/2006/main"/>
          <a:p xmlns:a="http://schemas.openxmlformats.org/drawingml/2006/main"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图书馆记录会员、图书和实体复本。</a:t>
            </a:r>
          </a:p>
          <a:p xmlns:a="http://schemas.openxmlformats.org/drawingml/2006/main"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会员借阅复本；每笔借阅含借出、到期和可选归还日期。</a:t>
            </a:r>
          </a:p>
          <a:p xmlns:a="http://schemas.openxmlformats.org/drawingml/2006/main"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每个复本属于一本书；每位会员最多有五笔有效借阅。</a:t>
            </a:r>
          </a:p>
          <a:p xmlns:a="http://schemas.openxmlformats.org/drawingml/2006/main"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找出实体、键、联系、属性和约束。</a:t>
            </a:r>
          </a:p>
        </p:txBody>
      </p:sp>
    </p:spTree>
    <p:extLst>
      <p:ext uri="{BB962C8B-B14F-4D97-AF65-F5344CB8AC3E}">
        <p14:creationId xmlns:p14="http://schemas.microsoft.com/office/powerpoint/2010/main" val="464216751"/>
      </p:ext>
    </p:extLst>
  </p:cSld>
</p:sld>
</file>

<file path=ppt/slides/slide4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24681D97-5F04-4ECE-9748-F517755D10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28240" y="166320"/>
            <a:ext cx="8770680" cy="131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90392" tIns="44291" rIns="90392" bIns="44291" anchor="b">
            <a:noAutofit/>
          </a:bodyPr>
          <a:lstStyle xmlns:a="http://schemas.openxmlformats.org/drawingml/2006/main"/>
          <a:p xmlns:a="http://schemas.openxmlformats.org/drawingml/2006/main"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600" b="1" i="1">
                <a:solidFill>
                  <a:srgbClr val="FF0033"/>
                </a:solidFill>
                <a:latin typeface="Arial"/>
                <a:ea typeface="Arial"/>
                <a:cs typeface="Arial"/>
              </a:defRPr>
            </a:pPr>
            <a:r>
              <a:rPr sz="3600" b="1" i="1" u="none">
                <a:solidFill>
                  <a:srgbClr val="FF0033"/>
                </a:solidFill>
                <a:latin typeface="Arial"/>
                <a:ea typeface="Arial"/>
                <a:cs typeface="Arial"/>
              </a:rPr>
              <a:t>第 1 步：实体与键</a:t>
            </a:r>
          </a:p>
        </p:txBody>
      </p:sp>
      <p:sp>
        <p:nvSpPr>
          <p:cNvPr id="28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A9D33F6-FC57-4B9F-842E-8AFDD951D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880" y="1828800"/>
            <a:ext cx="8381880" cy="4647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90392" tIns="44291" rIns="90392" bIns="44291" anchor="t">
            <a:normAutofit fontScale="100000"/>
          </a:bodyPr>
          <a:lstStyle xmlns:a="http://schemas.openxmlformats.org/drawingml/2006/main"/>
          <a:p xmlns:a="http://schemas.openxmlformats.org/drawingml/2006/main"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MEMBER(member_id, name, email)</a:t>
            </a:r>
          </a:p>
          <a:p xmlns:a="http://schemas.openxmlformats.org/drawingml/2006/main"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BOOK(isbn, title, publisher)</a:t>
            </a:r>
          </a:p>
          <a:p xmlns:a="http://schemas.openxmlformats.org/drawingml/2006/main"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COPY(copy_id, status)——若只有 copy_no 唯一，也可建模为 BOOK 下的弱实体</a:t>
            </a:r>
          </a:p>
          <a:p xmlns:a="http://schemas.openxmlformats.org/drawingml/2006/main"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LOAN(issue_date, due_date, return_date)</a:t>
            </a:r>
          </a:p>
          <a:p xmlns:a="http://schemas.openxmlformats.org/drawingml/2006/main"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决策：将 LOAN 建模为带属性的联系，还是关联实体？</a:t>
            </a:r>
          </a:p>
        </p:txBody>
      </p:sp>
    </p:spTree>
    <p:extLst>
      <p:ext uri="{BB962C8B-B14F-4D97-AF65-F5344CB8AC3E}">
        <p14:creationId xmlns:p14="http://schemas.microsoft.com/office/powerpoint/2010/main" val="464216751"/>
      </p:ext>
    </p:extLst>
  </p:cSld>
</p:sld>
</file>

<file path=ppt/slides/slide4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B12BDA03-7E97-4126-93E0-4FB8E6A1C8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7040" y="166320"/>
            <a:ext cx="8381880" cy="131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360" tIns="44280" rIns="90360" bIns="44280" anchor="b">
            <a:noAutofit/>
          </a:bodyPr>
          <a:lstStyle xmlns:a="http://schemas.openxmlformats.org/drawingml/2006/main"/>
          <a:p xmlns:a="http://schemas.openxmlformats.org/drawingml/2006/main"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3600" b="1" i="1" u="none">
                <a:solidFill>
                  <a:srgbClr val="FF0033"/>
                </a:solidFill>
                <a:latin typeface="Arial"/>
                <a:ea typeface="Arial"/>
                <a:cs typeface="Arial"/>
              </a:rPr>
              <a:t>实体—联系模型</a:t>
            </a:r>
          </a:p>
        </p:txBody>
      </p:sp>
      <p:sp>
        <p:nvSpPr>
          <p:cNvPr id="17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3C06D4E4-496D-467E-A014-43C6996BA5F8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560160" y="1785600"/>
            <a:ext cx="8153280" cy="461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360" tIns="44280" rIns="90360" bIns="44280" anchor="t">
            <a:normAutofit fontScale="100000"/>
          </a:bodyPr>
          <a:lstStyle xmlns:a="http://schemas.openxmlformats.org/drawingml/2006/main"/>
          <a:p xmlns:a="http://schemas.openxmlformats.org/drawingml/2006/main">
            <a:pPr marL="343080" indent="-343080" algn="just">
              <a:spcBef>
                <a:spcPts val="499"/>
              </a:spcBef>
              <a:buClr>
                <a:srgbClr val="FF0033"/>
              </a:buClr>
              <a:buSzPct val="75000"/>
              <a:buFont typeface="Zapf Dingbat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建模构件（续）</a:t>
            </a:r>
          </a:p>
          <a:p xmlns:a="http://schemas.openxmlformats.org/drawingml/2006/main"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1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联系</a:t>
            </a:r>
            <a:endParaRPr sz="2000" b="0" u="none">
              <a:solidFill>
                <a:srgbClr val="3333CC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143000" lvl="2" indent="-22860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联系在 ER 图中用菱形连接实体</a:t>
            </a:r>
          </a:p>
          <a:p xmlns:a="http://schemas.openxmlformats.org/drawingml/2006/main">
            <a:pPr marL="1143000" lvl="2" indent="-22860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联系也可以具有属性</a:t>
            </a:r>
          </a:p>
          <a:p xmlns:a="http://schemas.openxmlformats.org/drawingml/2006/main">
            <a:pPr marL="1143000" lvl="2" indent="0" algn="just">
              <a:spcBef>
                <a:spcPts val="499"/>
              </a:spcBef>
              <a:buNone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0" u="none">
              <a:solidFill>
                <a:srgbClr val="3333CC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143000" lvl="2" indent="0" algn="just">
              <a:spcBef>
                <a:spcPts val="499"/>
              </a:spcBef>
              <a:buNone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0" u="none">
              <a:solidFill>
                <a:srgbClr val="3333C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5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F79D1F2-4191-4066-9469-EE591BA70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6120" y="5601960"/>
            <a:ext cx="1407960" cy="466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20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1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学生</a:t>
            </a: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6" name="Oval 2">
            <a:extLst xmlns:a="http://schemas.openxmlformats.org/drawingml/2006/main">
              <a:ext uri="{FF2B5EF4-FFF2-40B4-BE49-F238E27FC236}">
                <a16:creationId xmlns:a16="http://schemas.microsoft.com/office/drawing/2014/main" id="{35BACC12-9AE0-45E8-AEE3-8BDEC2416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920" y="5006880"/>
            <a:ext cx="1503360" cy="4762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20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1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姓名</a:t>
            </a: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7" name="Oval 3">
            <a:extLst xmlns:a="http://schemas.openxmlformats.org/drawingml/2006/main">
              <a:ext uri="{FF2B5EF4-FFF2-40B4-BE49-F238E27FC236}">
                <a16:creationId xmlns:a16="http://schemas.microsoft.com/office/drawing/2014/main" id="{C63D173B-D3EC-4643-95F5-AFF7B607A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0080" y="4551120"/>
            <a:ext cx="2124000" cy="379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20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1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学号</a:t>
            </a: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8" name="Oval 4">
            <a:extLst xmlns:a="http://schemas.openxmlformats.org/drawingml/2006/main">
              <a:ext uri="{FF2B5EF4-FFF2-40B4-BE49-F238E27FC236}">
                <a16:creationId xmlns:a16="http://schemas.microsoft.com/office/drawing/2014/main" id="{6E7DE1FE-49FB-490B-AC50-0EC2EEFBC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760" y="6381720"/>
            <a:ext cx="1854360" cy="3092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20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1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地址</a:t>
            </a: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9" name="Oval 5">
            <a:extLst xmlns:a="http://schemas.openxmlformats.org/drawingml/2006/main">
              <a:ext uri="{FF2B5EF4-FFF2-40B4-BE49-F238E27FC236}">
                <a16:creationId xmlns:a16="http://schemas.microsoft.com/office/drawing/2014/main" id="{EB163ACC-46CB-4E76-96D8-B0EE47B38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1960" y="5538600"/>
            <a:ext cx="2217240" cy="606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20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1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出生日期</a:t>
            </a: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0" name="Straight Connector 6">
            <a:extLst xmlns:a="http://schemas.openxmlformats.org/drawingml/2006/main">
              <a:ext uri="{FF2B5EF4-FFF2-40B4-BE49-F238E27FC236}">
                <a16:creationId xmlns:a16="http://schemas.microsoft.com/office/drawing/2014/main" id="{218091C1-DD2C-4128-839E-B5C9F0825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5280" y="5244840"/>
            <a:ext cx="420840" cy="585720"/>
          </a:xfrm>
          <a:prstGeom xmlns:a="http://schemas.openxmlformats.org/drawingml/2006/main" prst="line">
            <a:avLst/>
          </a:prstGeom>
          <a:ln xmlns:a="http://schemas.openxmlformats.org/drawingml/2006/main" w="936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noAutofit/>
          </a:bodyPr>
          <a:lstStyle xmlns:a="http://schemas.openxmlformats.org/drawingml/2006/main"/>
          <a:p xmlns:a="http://schemas.openxmlformats.org/drawingml/2006/main"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1" name="Straight Connector 7">
            <a:extLst xmlns:a="http://schemas.openxmlformats.org/drawingml/2006/main">
              <a:ext uri="{FF2B5EF4-FFF2-40B4-BE49-F238E27FC236}">
                <a16:creationId xmlns:a16="http://schemas.microsoft.com/office/drawing/2014/main" id="{D42F74AB-19EF-4278-9CF5-CED805E4D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080" y="4930560"/>
            <a:ext cx="196920" cy="669960"/>
          </a:xfrm>
          <a:prstGeom xmlns:a="http://schemas.openxmlformats.org/drawingml/2006/main" prst="line">
            <a:avLst/>
          </a:prstGeom>
          <a:ln xmlns:a="http://schemas.openxmlformats.org/drawingml/2006/main" w="936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noAutofit/>
          </a:bodyPr>
          <a:lstStyle xmlns:a="http://schemas.openxmlformats.org/drawingml/2006/main"/>
          <a:p xmlns:a="http://schemas.openxmlformats.org/drawingml/2006/main"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2" name="Straight Connector 8">
            <a:extLst xmlns:a="http://schemas.openxmlformats.org/drawingml/2006/main">
              <a:ext uri="{FF2B5EF4-FFF2-40B4-BE49-F238E27FC236}">
                <a16:creationId xmlns:a16="http://schemas.microsoft.com/office/drawing/2014/main" id="{7AD3C061-C6DF-41B3-BDC9-B402C527D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5280" y="5841720"/>
            <a:ext cx="420840" cy="98640"/>
          </a:xfrm>
          <a:prstGeom xmlns:a="http://schemas.openxmlformats.org/drawingml/2006/main" prst="line">
            <a:avLst/>
          </a:prstGeom>
          <a:ln xmlns:a="http://schemas.openxmlformats.org/drawingml/2006/main" w="936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noAutofit/>
          </a:bodyPr>
          <a:lstStyle xmlns:a="http://schemas.openxmlformats.org/drawingml/2006/main"/>
          <a:p xmlns:a="http://schemas.openxmlformats.org/drawingml/2006/main"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3" name="Straight Connector 9">
            <a:extLst xmlns:a="http://schemas.openxmlformats.org/drawingml/2006/main">
              <a:ext uri="{FF2B5EF4-FFF2-40B4-BE49-F238E27FC236}">
                <a16:creationId xmlns:a16="http://schemas.microsoft.com/office/drawing/2014/main" id="{2863EACE-8D6F-4959-BF48-2BE94409B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2615760" y="6068880"/>
            <a:ext cx="703080" cy="466560"/>
          </a:xfrm>
          <a:prstGeom xmlns:a="http://schemas.openxmlformats.org/drawingml/2006/main" prst="line">
            <a:avLst/>
          </a:prstGeom>
          <a:ln xmlns:a="http://schemas.openxmlformats.org/drawingml/2006/main" w="936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noAutofit/>
          </a:bodyPr>
          <a:lstStyle xmlns:a="http://schemas.openxmlformats.org/drawingml/2006/main"/>
          <a:p xmlns:a="http://schemas.openxmlformats.org/drawingml/2006/main"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4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BFA65633-2D2F-4390-B32D-AA8F522E7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3840" y="5657760"/>
            <a:ext cx="1407960" cy="466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20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1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课程</a:t>
            </a: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5" name="Oval 11">
            <a:extLst xmlns:a="http://schemas.openxmlformats.org/drawingml/2006/main">
              <a:ext uri="{FF2B5EF4-FFF2-40B4-BE49-F238E27FC236}">
                <a16:creationId xmlns:a16="http://schemas.microsoft.com/office/drawing/2014/main" id="{99C72452-3D02-4AD1-9D53-699068A92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1200" y="4441680"/>
            <a:ext cx="1408320" cy="379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20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1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代码</a:t>
            </a: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6" name="Oval 12">
            <a:extLst xmlns:a="http://schemas.openxmlformats.org/drawingml/2006/main">
              <a:ext uri="{FF2B5EF4-FFF2-40B4-BE49-F238E27FC236}">
                <a16:creationId xmlns:a16="http://schemas.microsoft.com/office/drawing/2014/main" id="{F112C82F-863F-4AFC-BFA4-0B07CC8FB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9720" y="5006880"/>
            <a:ext cx="1027440" cy="380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20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1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名称</a:t>
            </a: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7" name="Straight Connector 13">
            <a:extLst xmlns:a="http://schemas.openxmlformats.org/drawingml/2006/main">
              <a:ext uri="{FF2B5EF4-FFF2-40B4-BE49-F238E27FC236}">
                <a16:creationId xmlns:a16="http://schemas.microsoft.com/office/drawing/2014/main" id="{0C0CA3A6-182E-468C-BB02-C78C84CA8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4640" y="4821120"/>
            <a:ext cx="52200" cy="779400"/>
          </a:xfrm>
          <a:prstGeom xmlns:a="http://schemas.openxmlformats.org/drawingml/2006/main" prst="line">
            <a:avLst/>
          </a:prstGeom>
          <a:ln xmlns:a="http://schemas.openxmlformats.org/drawingml/2006/main" w="936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noAutofit/>
          </a:bodyPr>
          <a:lstStyle xmlns:a="http://schemas.openxmlformats.org/drawingml/2006/main"/>
          <a:p xmlns:a="http://schemas.openxmlformats.org/drawingml/2006/main"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8" name="Straight Connector 14">
            <a:extLst xmlns:a="http://schemas.openxmlformats.org/drawingml/2006/main">
              <a:ext uri="{FF2B5EF4-FFF2-40B4-BE49-F238E27FC236}">
                <a16:creationId xmlns:a16="http://schemas.microsoft.com/office/drawing/2014/main" id="{8A0329C3-09F9-499D-8646-2BD719710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8011440" y="5387760"/>
            <a:ext cx="522360" cy="503280"/>
          </a:xfrm>
          <a:prstGeom xmlns:a="http://schemas.openxmlformats.org/drawingml/2006/main" prst="line">
            <a:avLst/>
          </a:prstGeom>
          <a:ln xmlns:a="http://schemas.openxmlformats.org/drawingml/2006/main" w="936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noAutofit/>
          </a:bodyPr>
          <a:lstStyle xmlns:a="http://schemas.openxmlformats.org/drawingml/2006/main"/>
          <a:p xmlns:a="http://schemas.openxmlformats.org/drawingml/2006/main"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9" name="Diamond 15">
            <a:extLst xmlns:a="http://schemas.openxmlformats.org/drawingml/2006/main">
              <a:ext uri="{FF2B5EF4-FFF2-40B4-BE49-F238E27FC236}">
                <a16:creationId xmlns:a16="http://schemas.microsoft.com/office/drawing/2014/main" id="{E878DFCA-DE13-4EBB-A78C-EC3CEE4E2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0120" y="5538600"/>
            <a:ext cx="1827360" cy="58752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20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1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修读</a:t>
            </a: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0" name="Straight Connector 16">
            <a:extLst xmlns:a="http://schemas.openxmlformats.org/drawingml/2006/main">
              <a:ext uri="{FF2B5EF4-FFF2-40B4-BE49-F238E27FC236}">
                <a16:creationId xmlns:a16="http://schemas.microsoft.com/office/drawing/2014/main" id="{1ADDFE18-2C43-4A0F-B56E-C4EE71FDA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024080" y="5832000"/>
            <a:ext cx="446040" cy="3240"/>
          </a:xfrm>
          <a:prstGeom xmlns:a="http://schemas.openxmlformats.org/drawingml/2006/main" prst="line">
            <a:avLst/>
          </a:prstGeom>
          <a:ln xmlns:a="http://schemas.openxmlformats.org/drawingml/2006/main" w="936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3560" rIns="90000" bIns="-43560" anchor="t">
            <a:noAutofit/>
          </a:bodyPr>
          <a:lstStyle xmlns:a="http://schemas.openxmlformats.org/drawingml/2006/main"/>
          <a:p xmlns:a="http://schemas.openxmlformats.org/drawingml/2006/main"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1" name="Straight Connector 17">
            <a:extLst xmlns:a="http://schemas.openxmlformats.org/drawingml/2006/main">
              <a:ext uri="{FF2B5EF4-FFF2-40B4-BE49-F238E27FC236}">
                <a16:creationId xmlns:a16="http://schemas.microsoft.com/office/drawing/2014/main" id="{35856B8F-CA15-41C1-969A-2D2AF578C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7480" y="5832360"/>
            <a:ext cx="306360" cy="58680"/>
          </a:xfrm>
          <a:prstGeom xmlns:a="http://schemas.openxmlformats.org/drawingml/2006/main" prst="line">
            <a:avLst/>
          </a:prstGeom>
          <a:ln xmlns:a="http://schemas.openxmlformats.org/drawingml/2006/main" w="936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11880" rIns="90000" bIns="11880" anchor="t">
            <a:noAutofit/>
          </a:bodyPr>
          <a:lstStyle xmlns:a="http://schemas.openxmlformats.org/drawingml/2006/main"/>
          <a:p xmlns:a="http://schemas.openxmlformats.org/drawingml/2006/main"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2" name="Oval 18">
            <a:extLst xmlns:a="http://schemas.openxmlformats.org/drawingml/2006/main">
              <a:ext uri="{FF2B5EF4-FFF2-40B4-BE49-F238E27FC236}">
                <a16:creationId xmlns:a16="http://schemas.microsoft.com/office/drawing/2014/main" id="{EAC08E93-C3ED-418D-B3E8-D4D11C7A8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5160" y="4441680"/>
            <a:ext cx="1407960" cy="379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20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1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成绩</a:t>
            </a: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3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2F15E964-40F2-42D6-9A03-8617C3762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9680" y="4821120"/>
            <a:ext cx="203400" cy="717480"/>
          </a:xfrm>
          <a:prstGeom xmlns:a="http://schemas.openxmlformats.org/drawingml/2006/main" prst="line">
            <a:avLst/>
          </a:prstGeom>
          <a:ln xmlns:a="http://schemas.openxmlformats.org/drawingml/2006/main" w="936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noAutofit/>
          </a:bodyPr>
          <a:lstStyle xmlns:a="http://schemas.openxmlformats.org/drawingml/2006/main"/>
          <a:p xmlns:a="http://schemas.openxmlformats.org/drawingml/2006/main"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6945107"/>
      </p:ext>
    </p:extLst>
  </p:cSld>
</p:sld>
</file>

<file path=ppt/slides/slide4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4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B9C61A34-7758-429F-B79C-84F673F19E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7040" y="166320"/>
            <a:ext cx="8381880" cy="131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360" tIns="44280" rIns="90360" bIns="44280" anchor="b">
            <a:noAutofit/>
          </a:bodyPr>
          <a:lstStyle xmlns:a="http://schemas.openxmlformats.org/drawingml/2006/main"/>
          <a:p xmlns:a="http://schemas.openxmlformats.org/drawingml/2006/main"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3600" b="1" i="1" u="none">
                <a:solidFill>
                  <a:srgbClr val="FF0033"/>
                </a:solidFill>
                <a:latin typeface="Arial"/>
                <a:ea typeface="Arial"/>
                <a:cs typeface="Arial"/>
              </a:rPr>
              <a:t>实体—联系模型</a:t>
            </a:r>
          </a:p>
        </p:txBody>
      </p:sp>
      <p:sp>
        <p:nvSpPr>
          <p:cNvPr id="195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F3F9190C-F7AA-40C1-A65D-B7EAA2ACB66E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560160" y="1785600"/>
            <a:ext cx="8153280" cy="461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360" tIns="44280" rIns="90360" bIns="44280" anchor="t">
            <a:normAutofit fontScale="100000"/>
          </a:bodyPr>
          <a:lstStyle xmlns:a="http://schemas.openxmlformats.org/drawingml/2006/main"/>
          <a:p xmlns:a="http://schemas.openxmlformats.org/drawingml/2006/main">
            <a:pPr marL="343080" indent="-343080" algn="just">
              <a:spcBef>
                <a:spcPts val="499"/>
              </a:spcBef>
              <a:buClr>
                <a:srgbClr val="FF0033"/>
              </a:buClr>
              <a:buSzPct val="75000"/>
              <a:buFont typeface="Zapf Dingbat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建模构件（续）</a:t>
            </a:r>
          </a:p>
          <a:p xmlns:a="http://schemas.openxmlformats.org/drawingml/2006/main"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1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联系的度</a:t>
            </a:r>
            <a:endParaRPr sz="2000" b="0" u="none">
              <a:solidFill>
                <a:srgbClr val="3333CC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143000" lvl="2" indent="-22860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联系的度是参与该联系的实体类型数量</a:t>
            </a:r>
          </a:p>
          <a:p xmlns:a="http://schemas.openxmlformats.org/drawingml/2006/main">
            <a:pPr marL="1143000" lvl="2" indent="-22860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二元联系</a:t>
            </a:r>
          </a:p>
          <a:p xmlns:a="http://schemas.openxmlformats.org/drawingml/2006/main">
            <a:pPr marL="1600200" lvl="3" indent="-22860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最常见的联系类型，连接两个实体</a:t>
            </a:r>
          </a:p>
          <a:p xmlns:a="http://schemas.openxmlformats.org/drawingml/2006/main">
            <a:pPr marL="1600200" lvl="3" indent="0" algn="just">
              <a:spcBef>
                <a:spcPts val="499"/>
              </a:spcBef>
              <a:buNone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0" u="none">
              <a:solidFill>
                <a:srgbClr val="3333CC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143000" lvl="2" indent="0" algn="just">
              <a:spcBef>
                <a:spcPts val="499"/>
              </a:spcBef>
              <a:buNone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0" u="none">
              <a:solidFill>
                <a:srgbClr val="3333C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6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BCB3694E-5E52-4884-84BE-C18698115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560" y="4897080"/>
            <a:ext cx="1406520" cy="466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20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1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学生</a:t>
            </a: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7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F94744A6-DFB1-4477-89FC-4FBBB3BF0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7680" y="4897080"/>
            <a:ext cx="1407960" cy="466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20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1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课程</a:t>
            </a: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8" name="Diamond 22">
            <a:extLst xmlns:a="http://schemas.openxmlformats.org/drawingml/2006/main">
              <a:ext uri="{FF2B5EF4-FFF2-40B4-BE49-F238E27FC236}">
                <a16:creationId xmlns:a16="http://schemas.microsoft.com/office/drawing/2014/main" id="{5E0D7D53-83B7-4F63-9ADF-8238687F1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1920" y="4833720"/>
            <a:ext cx="1827000" cy="58752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20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1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修读</a:t>
            </a: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9" name="Straight Connector 23">
            <a:extLst xmlns:a="http://schemas.openxmlformats.org/drawingml/2006/main">
              <a:ext uri="{FF2B5EF4-FFF2-40B4-BE49-F238E27FC236}">
                <a16:creationId xmlns:a16="http://schemas.microsoft.com/office/drawing/2014/main" id="{76A8CD20-EC3E-4D5F-97FF-BC84F5ABA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854080" y="5127120"/>
            <a:ext cx="447840" cy="3240"/>
          </a:xfrm>
          <a:prstGeom xmlns:a="http://schemas.openxmlformats.org/drawingml/2006/main" prst="line">
            <a:avLst/>
          </a:prstGeom>
          <a:ln xmlns:a="http://schemas.openxmlformats.org/drawingml/2006/main" w="936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3560" rIns="90000" bIns="-43560" anchor="t">
            <a:noAutofit/>
          </a:bodyPr>
          <a:lstStyle xmlns:a="http://schemas.openxmlformats.org/drawingml/2006/main"/>
          <a:p xmlns:a="http://schemas.openxmlformats.org/drawingml/2006/main"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0" name="Straight Connector 24">
            <a:extLst xmlns:a="http://schemas.openxmlformats.org/drawingml/2006/main">
              <a:ext uri="{FF2B5EF4-FFF2-40B4-BE49-F238E27FC236}">
                <a16:creationId xmlns:a16="http://schemas.microsoft.com/office/drawing/2014/main" id="{CBD401F3-D93D-4F39-B94E-5D177861A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920" y="5127480"/>
            <a:ext cx="428760" cy="3240"/>
          </a:xfrm>
          <a:prstGeom xmlns:a="http://schemas.openxmlformats.org/drawingml/2006/main" prst="line">
            <a:avLst/>
          </a:prstGeom>
          <a:ln xmlns:a="http://schemas.openxmlformats.org/drawingml/2006/main" w="936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3560" rIns="90000" bIns="-43560" anchor="t">
            <a:noAutofit/>
          </a:bodyPr>
          <a:lstStyle xmlns:a="http://schemas.openxmlformats.org/drawingml/2006/main"/>
          <a:p xmlns:a="http://schemas.openxmlformats.org/drawingml/2006/main"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00060287"/>
      </p:ext>
    </p:extLst>
  </p:cSld>
</p:sld>
</file>

<file path=ppt/slides/slide4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1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DDDADF66-A006-4CBB-9638-962302D25E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7040" y="166320"/>
            <a:ext cx="8381880" cy="131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360" tIns="44280" rIns="90360" bIns="44280" anchor="b">
            <a:noAutofit/>
          </a:bodyPr>
          <a:lstStyle xmlns:a="http://schemas.openxmlformats.org/drawingml/2006/main"/>
          <a:p xmlns:a="http://schemas.openxmlformats.org/drawingml/2006/main"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3600" b="1" i="1" u="none">
                <a:solidFill>
                  <a:srgbClr val="FF0033"/>
                </a:solidFill>
                <a:latin typeface="Arial"/>
                <a:ea typeface="Arial"/>
                <a:cs typeface="Arial"/>
              </a:rPr>
              <a:t>实体—联系模型</a:t>
            </a:r>
          </a:p>
        </p:txBody>
      </p:sp>
      <p:sp>
        <p:nvSpPr>
          <p:cNvPr id="202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C383B543-AB73-473C-81F1-B49FADD03612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560160" y="1785600"/>
            <a:ext cx="8153280" cy="461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360" tIns="44280" rIns="90360" bIns="44280" anchor="t">
            <a:normAutofit fontScale="100000"/>
          </a:bodyPr>
          <a:lstStyle xmlns:a="http://schemas.openxmlformats.org/drawingml/2006/main"/>
          <a:p xmlns:a="http://schemas.openxmlformats.org/drawingml/2006/main">
            <a:pPr marL="343080" indent="-343080" algn="just">
              <a:spcBef>
                <a:spcPts val="499"/>
              </a:spcBef>
              <a:buClr>
                <a:srgbClr val="FF0033"/>
              </a:buClr>
              <a:buSzPct val="75000"/>
              <a:buFont typeface="Zapf Dingbat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建模构件（续）</a:t>
            </a:r>
          </a:p>
          <a:p xmlns:a="http://schemas.openxmlformats.org/drawingml/2006/main"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1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联系的度</a:t>
            </a:r>
            <a:endParaRPr sz="2000" b="0" u="none">
              <a:solidFill>
                <a:srgbClr val="3333CC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143000" lvl="2" indent="-22860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联系的度是参与该联系的实体类型数量</a:t>
            </a:r>
          </a:p>
          <a:p xmlns:a="http://schemas.openxmlformats.org/drawingml/2006/main">
            <a:pPr marL="1143000" lvl="2" indent="-22860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递归联系</a:t>
            </a:r>
          </a:p>
          <a:p xmlns:a="http://schemas.openxmlformats.org/drawingml/2006/main">
            <a:pPr marL="1600200" lvl="3" indent="-22860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联系有时会连接同一实体类型中的两个实体</a:t>
            </a:r>
          </a:p>
          <a:p xmlns:a="http://schemas.openxmlformats.org/drawingml/2006/main">
            <a:pPr marL="1600200" lvl="3" indent="-22860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为区分联系的两端，需要使用称为角色标志的标签</a:t>
            </a:r>
          </a:p>
          <a:p xmlns:a="http://schemas.openxmlformats.org/drawingml/2006/main">
            <a:pPr marL="1600200" lvl="3" indent="0" algn="just">
              <a:spcBef>
                <a:spcPts val="499"/>
              </a:spcBef>
              <a:buNone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0" u="none">
              <a:solidFill>
                <a:srgbClr val="3333CC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600200" lvl="3" indent="0" algn="just">
              <a:spcBef>
                <a:spcPts val="499"/>
              </a:spcBef>
              <a:buNone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0" u="none">
              <a:solidFill>
                <a:srgbClr val="3333CC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143000" lvl="2" indent="0" algn="just">
              <a:spcBef>
                <a:spcPts val="499"/>
              </a:spcBef>
              <a:buNone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0" u="none">
              <a:solidFill>
                <a:srgbClr val="3333C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3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072C9E6-B044-4FA6-987E-9A2E33C4E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3280" y="5503680"/>
            <a:ext cx="1676520" cy="816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20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1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雇员</a:t>
            </a: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4" name="Diamond 2">
            <a:extLst xmlns:a="http://schemas.openxmlformats.org/drawingml/2006/main">
              <a:ext uri="{FF2B5EF4-FFF2-40B4-BE49-F238E27FC236}">
                <a16:creationId xmlns:a16="http://schemas.microsoft.com/office/drawing/2014/main" id="{FD1E1790-2D9C-4F05-BA3F-C577784CB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560" y="5618160"/>
            <a:ext cx="3110040" cy="58716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20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1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监管</a:t>
            </a: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5" name="Straight Connector 3">
            <a:extLst xmlns:a="http://schemas.openxmlformats.org/drawingml/2006/main">
              <a:ext uri="{FF2B5EF4-FFF2-40B4-BE49-F238E27FC236}">
                <a16:creationId xmlns:a16="http://schemas.microsoft.com/office/drawing/2014/main" id="{542DA304-E7FD-4E91-9130-B9E4EE4DE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709800" y="5618160"/>
            <a:ext cx="2558880" cy="2880"/>
          </a:xfrm>
          <a:prstGeom xmlns:a="http://schemas.openxmlformats.org/drawingml/2006/main" prst="line">
            <a:avLst/>
          </a:prstGeom>
          <a:ln xmlns:a="http://schemas.openxmlformats.org/drawingml/2006/main" w="936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3920" rIns="90000" bIns="-43920" anchor="t">
            <a:noAutofit/>
          </a:bodyPr>
          <a:lstStyle xmlns:a="http://schemas.openxmlformats.org/drawingml/2006/main"/>
          <a:p xmlns:a="http://schemas.openxmlformats.org/drawingml/2006/main"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6" name="Straight Connector 4">
            <a:extLst xmlns:a="http://schemas.openxmlformats.org/drawingml/2006/main">
              <a:ext uri="{FF2B5EF4-FFF2-40B4-BE49-F238E27FC236}">
                <a16:creationId xmlns:a16="http://schemas.microsoft.com/office/drawing/2014/main" id="{A3B08FC9-840F-4FDC-A453-18D6333DE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709800" y="6201720"/>
            <a:ext cx="2292480" cy="3240"/>
          </a:xfrm>
          <a:prstGeom xmlns:a="http://schemas.openxmlformats.org/drawingml/2006/main" prst="line">
            <a:avLst/>
          </a:prstGeom>
          <a:ln xmlns:a="http://schemas.openxmlformats.org/drawingml/2006/main" w="936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3560" rIns="90000" bIns="-43560" anchor="t">
            <a:noAutofit/>
          </a:bodyPr>
          <a:lstStyle xmlns:a="http://schemas.openxmlformats.org/drawingml/2006/main"/>
          <a:p xmlns:a="http://schemas.openxmlformats.org/drawingml/2006/main"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7" name="TextBox 5">
            <a:extLst xmlns:a="http://schemas.openxmlformats.org/drawingml/2006/main">
              <a:ext uri="{FF2B5EF4-FFF2-40B4-BE49-F238E27FC236}">
                <a16:creationId xmlns:a16="http://schemas.microsoft.com/office/drawing/2014/main" id="{0CEABF51-AD2C-4FCE-9704-532337BDD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257800"/>
            <a:ext cx="1996920" cy="398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1" u="none">
                <a:solidFill>
                  <a:srgbClr val="FD020F"/>
                </a:solidFill>
                <a:latin typeface="Arial"/>
                <a:ea typeface="Arial"/>
                <a:cs typeface="Arial"/>
              </a:rPr>
              <a:t>主管</a:t>
            </a:r>
          </a:p>
        </p:txBody>
      </p:sp>
      <p:sp>
        <p:nvSpPr>
          <p:cNvPr id="208" name="TextBox 6">
            <a:extLst xmlns:a="http://schemas.openxmlformats.org/drawingml/2006/main">
              <a:ext uri="{FF2B5EF4-FFF2-40B4-BE49-F238E27FC236}">
                <a16:creationId xmlns:a16="http://schemas.microsoft.com/office/drawing/2014/main" id="{EA779328-74AD-4589-BDD7-E644FC1B7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6203880"/>
            <a:ext cx="1996920" cy="398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1" u="none">
                <a:solidFill>
                  <a:srgbClr val="FD020F"/>
                </a:solidFill>
                <a:latin typeface="Arial"/>
                <a:ea typeface="Arial"/>
                <a:cs typeface="Arial"/>
              </a:rPr>
              <a:t>被监管者</a:t>
            </a:r>
          </a:p>
        </p:txBody>
      </p:sp>
    </p:spTree>
    <p:extLst>
      <p:ext uri="{BB962C8B-B14F-4D97-AF65-F5344CB8AC3E}">
        <p14:creationId xmlns:p14="http://schemas.microsoft.com/office/powerpoint/2010/main" val="371891673"/>
      </p:ext>
    </p:extLst>
  </p:cSld>
</p:sld>
</file>

<file path=ppt/slides/slide4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9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96D18DEA-DEF6-4107-9BD2-BDFFB8AF2C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7040" y="166320"/>
            <a:ext cx="8381880" cy="131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360" tIns="44280" rIns="90360" bIns="44280" anchor="b">
            <a:noAutofit/>
          </a:bodyPr>
          <a:lstStyle xmlns:a="http://schemas.openxmlformats.org/drawingml/2006/main"/>
          <a:p xmlns:a="http://schemas.openxmlformats.org/drawingml/2006/main"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3600" b="1" i="1" u="none">
                <a:solidFill>
                  <a:srgbClr val="FF0033"/>
                </a:solidFill>
                <a:latin typeface="Arial"/>
                <a:ea typeface="Arial"/>
                <a:cs typeface="Arial"/>
              </a:rPr>
              <a:t>实体—联系模型</a:t>
            </a:r>
          </a:p>
        </p:txBody>
      </p:sp>
      <p:sp>
        <p:nvSpPr>
          <p:cNvPr id="210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181A08A9-97C5-4846-A067-8D388C57E758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560160" y="1785600"/>
            <a:ext cx="8153280" cy="461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360" tIns="44280" rIns="90360" bIns="44280" anchor="t">
            <a:normAutofit fontScale="100000"/>
          </a:bodyPr>
          <a:lstStyle xmlns:a="http://schemas.openxmlformats.org/drawingml/2006/main"/>
          <a:p xmlns:a="http://schemas.openxmlformats.org/drawingml/2006/main">
            <a:pPr marL="343080" indent="-343080" algn="just">
              <a:spcBef>
                <a:spcPts val="499"/>
              </a:spcBef>
              <a:buClr>
                <a:srgbClr val="FF0033"/>
              </a:buClr>
              <a:buSzPct val="75000"/>
              <a:buFont typeface="Zapf Dingbat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建模构件（续）</a:t>
            </a:r>
          </a:p>
          <a:p xmlns:a="http://schemas.openxmlformats.org/drawingml/2006/main"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1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联系与属性</a:t>
            </a:r>
            <a:endParaRPr sz="2000" b="0" u="none">
              <a:solidFill>
                <a:srgbClr val="3333CC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143000" lvl="2" indent="-22860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属性 A：E → D 是联系的一种“简化”形式：</a:t>
            </a:r>
          </a:p>
          <a:p xmlns:a="http://schemas.openxmlformats.org/drawingml/2006/main">
            <a:pPr marL="1600200" lvl="3" indent="-228600" algn="just">
              <a:spcBef>
                <a:spcPts val="499"/>
              </a:spcBef>
              <a:buNone/>
              <a:tabLst>
                <a:tab pos="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如果允许 D 为实体集，那么 A 就成为联系 </a:t>
            </a:r>
          </a:p>
          <a:p xmlns:a="http://schemas.openxmlformats.org/drawingml/2006/main">
            <a:pPr marL="1143000" lvl="2" indent="-22860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联系可以带有属性</a:t>
            </a:r>
          </a:p>
          <a:p xmlns:a="http://schemas.openxmlformats.org/drawingml/2006/main">
            <a:pPr marL="1600200" lvl="3" indent="-22860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联系本身的性质</a:t>
            </a:r>
          </a:p>
          <a:p xmlns:a="http://schemas.openxmlformats.org/drawingml/2006/main">
            <a:pPr marL="1600200" lvl="3" indent="-22860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sng">
                <a:solidFill>
                  <a:srgbClr val="3333CC"/>
                </a:solidFill>
                <a:latin typeface="Arial"/>
                <a:ea typeface="Arial"/>
                <a:cs typeface="Arial"/>
              </a:rPr>
              <a:t>示例：Patrick 修读 cs2450，成绩为 B+</a:t>
            </a:r>
          </a:p>
          <a:p xmlns:a="http://schemas.openxmlformats.org/drawingml/2006/main">
            <a:pPr marL="2057400" lvl="4" indent="-228600" algn="just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1" u="none">
                <a:solidFill>
                  <a:srgbClr val="3333CC"/>
                </a:solidFill>
                <a:latin typeface="Garamond"/>
                <a:ea typeface="Garamond"/>
                <a:cs typeface="Garamond"/>
              </a:rPr>
              <a:t>            供应商 S 以价格 P 供应物品 T </a:t>
            </a:r>
          </a:p>
        </p:txBody>
      </p:sp>
    </p:spTree>
    <p:extLst>
      <p:ext uri="{BB962C8B-B14F-4D97-AF65-F5344CB8AC3E}">
        <p14:creationId xmlns:p14="http://schemas.microsoft.com/office/powerpoint/2010/main" val="346437119"/>
      </p:ext>
    </p:extLst>
  </p:cSld>
</p:sld>
</file>

<file path=ppt/slides/slide4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1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DF49D926-1CA9-4359-8D7C-07707D623A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7040" y="166320"/>
            <a:ext cx="8381880" cy="131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360" tIns="44280" rIns="90360" bIns="44280" anchor="b">
            <a:noAutofit/>
          </a:bodyPr>
          <a:lstStyle xmlns:a="http://schemas.openxmlformats.org/drawingml/2006/main"/>
          <a:p xmlns:a="http://schemas.openxmlformats.org/drawingml/2006/main"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3600" b="1" i="1" u="none">
                <a:solidFill>
                  <a:srgbClr val="FF0033"/>
                </a:solidFill>
                <a:latin typeface="Arial"/>
                <a:ea typeface="Arial"/>
                <a:cs typeface="Arial"/>
              </a:rPr>
              <a:t>实体—联系模型</a:t>
            </a:r>
          </a:p>
        </p:txBody>
      </p:sp>
      <p:sp>
        <p:nvSpPr>
          <p:cNvPr id="212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4E937448-E4ED-414A-87EE-3A54181904DE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560160" y="1785600"/>
            <a:ext cx="8153280" cy="461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360" tIns="44280" rIns="90360" bIns="44280" anchor="t">
            <a:normAutofit fontScale="100000"/>
          </a:bodyPr>
          <a:lstStyle xmlns:a="http://schemas.openxmlformats.org/drawingml/2006/main"/>
          <a:p xmlns:a="http://schemas.openxmlformats.org/drawingml/2006/main">
            <a:pPr marL="343080" indent="-343080" algn="just">
              <a:spcBef>
                <a:spcPts val="499"/>
              </a:spcBef>
              <a:buClr>
                <a:srgbClr val="FF0033"/>
              </a:buClr>
              <a:buSzPct val="75000"/>
              <a:buFont typeface="Zapf Dingbat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建模构件（续）</a:t>
            </a:r>
          </a:p>
          <a:p xmlns:a="http://schemas.openxmlformats.org/drawingml/2006/main"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1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实体集与属性</a:t>
            </a:r>
            <a:endParaRPr sz="2000" b="0" u="none">
              <a:solidFill>
                <a:srgbClr val="3333CC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143000" lvl="2" indent="-22860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什么应视为属性，什么应视为实体集？ </a:t>
            </a:r>
          </a:p>
          <a:p xmlns:a="http://schemas.openxmlformats.org/drawingml/2006/main">
            <a:pPr marL="1600200" lvl="3" indent="-22860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sng">
                <a:solidFill>
                  <a:srgbClr val="3333CC"/>
                </a:solidFill>
                <a:latin typeface="Arial"/>
                <a:ea typeface="Arial"/>
                <a:cs typeface="Arial"/>
              </a:rPr>
              <a:t>示例：雇员与电话</a:t>
            </a:r>
          </a:p>
          <a:p xmlns:a="http://schemas.openxmlformats.org/drawingml/2006/main">
            <a:pPr marL="2057400" lvl="4" indent="-228600" algn="just">
              <a:spcBef>
                <a:spcPts val="499"/>
              </a:spcBef>
              <a:buNone/>
              <a:tabLst>
                <a:tab pos="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   1）雇员实体集带有 phone# 属性 </a:t>
            </a:r>
          </a:p>
          <a:p xmlns:a="http://schemas.openxmlformats.org/drawingml/2006/main">
            <a:pPr marL="1600200" lvl="3" indent="-228600" algn="just">
              <a:spcBef>
                <a:spcPts val="499"/>
              </a:spcBef>
              <a:buNone/>
              <a:tabLst>
                <a:tab pos="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         2）empPhn 联系集连接 employee 实体集 </a:t>
            </a:r>
          </a:p>
          <a:p xmlns:a="http://schemas.openxmlformats.org/drawingml/2006/main">
            <a:pPr marL="1600200" lvl="3" indent="-228600" algn="just">
              <a:spcBef>
                <a:spcPts val="499"/>
              </a:spcBef>
              <a:buNone/>
              <a:tabLst>
                <a:tab pos="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             与 phone# 实体集 </a:t>
            </a:r>
          </a:p>
          <a:p xmlns:a="http://schemas.openxmlformats.org/drawingml/2006/main">
            <a:pPr marL="1143000" lvl="2" indent="-22860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没有简单答案，取决于</a:t>
            </a:r>
          </a:p>
          <a:p xmlns:a="http://schemas.openxmlformats.org/drawingml/2006/main">
            <a:pPr marL="1600200" lvl="3" indent="-228600" algn="just">
              <a:spcBef>
                <a:spcPts val="499"/>
              </a:spcBef>
              <a:buNone/>
              <a:tabLst>
                <a:tab pos="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- 我们要建模的内容</a:t>
            </a:r>
          </a:p>
          <a:p xmlns:a="http://schemas.openxmlformats.org/drawingml/2006/main">
            <a:pPr marL="1600200" lvl="3" indent="-228600" algn="just">
              <a:spcBef>
                <a:spcPts val="499"/>
              </a:spcBef>
              <a:buNone/>
              <a:tabLst>
                <a:tab pos="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- 属性的含义</a:t>
            </a:r>
          </a:p>
          <a:p xmlns:a="http://schemas.openxmlformats.org/drawingml/2006/main">
            <a:pPr marL="2057400" lvl="4" indent="-228600" algn="just">
              <a:spcBef>
                <a:spcPts val="499"/>
              </a:spcBef>
              <a:buNone/>
              <a:tabLst>
                <a:tab pos="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0" u="none">
              <a:solidFill>
                <a:srgbClr val="3333CC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21051637"/>
      </p:ext>
    </p:extLst>
  </p:cSld>
</p:sld>
</file>

<file path=ppt/slides/slide4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3" name="Oval 2">
            <a:extLst xmlns:a="http://schemas.openxmlformats.org/drawingml/2006/main">
              <a:ext uri="{FF2B5EF4-FFF2-40B4-BE49-F238E27FC236}">
                <a16:creationId xmlns:a16="http://schemas.microsoft.com/office/drawing/2014/main" id="{F3A99D50-F6FB-4D1B-BFA5-86492EDE1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360" y="4635380"/>
            <a:ext cx="99072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CC99"/>
          </a:solidFill>
          <a:ln xmlns:a="http://schemas.openxmlformats.org/drawingml/2006/main" w="1260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4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DD12288A-9710-4684-98CF-44FCD0CC39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7040" y="166320"/>
            <a:ext cx="8381880" cy="131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360" tIns="44280" rIns="90360" bIns="44280" anchor="b">
            <a:noAutofit/>
          </a:bodyPr>
          <a:lstStyle xmlns:a="http://schemas.openxmlformats.org/drawingml/2006/main"/>
          <a:p xmlns:a="http://schemas.openxmlformats.org/drawingml/2006/main"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3600" b="1" i="1" u="none">
                <a:solidFill>
                  <a:srgbClr val="FF0033"/>
                </a:solidFill>
                <a:latin typeface="Arial"/>
                <a:ea typeface="Arial"/>
                <a:cs typeface="Arial"/>
              </a:rPr>
              <a:t>实体—联系模型</a:t>
            </a:r>
          </a:p>
        </p:txBody>
      </p:sp>
      <p:sp>
        <p:nvSpPr>
          <p:cNvPr id="215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B3913C4D-D1CE-4845-B057-962841709055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560160" y="1785600"/>
            <a:ext cx="8153280" cy="461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360" tIns="44280" rIns="90360" bIns="44280" anchor="t">
            <a:normAutofit fontScale="100000"/>
          </a:bodyPr>
          <a:lstStyle xmlns:a="http://schemas.openxmlformats.org/drawingml/2006/main"/>
          <a:p xmlns:a="http://schemas.openxmlformats.org/drawingml/2006/main">
            <a:pPr marL="343080" indent="-343080" algn="just">
              <a:spcBef>
                <a:spcPts val="601"/>
              </a:spcBef>
              <a:buClr>
                <a:srgbClr val="FF0033"/>
              </a:buClr>
              <a:buSzPct val="75000"/>
              <a:buFont typeface="Zapf Dingbat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完整性约束 </a:t>
            </a:r>
          </a:p>
          <a:p xmlns:a="http://schemas.openxmlformats.org/drawingml/2006/main"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映射基数</a:t>
            </a:r>
          </a:p>
          <a:p xmlns:a="http://schemas.openxmlformats.org/drawingml/2006/main">
            <a:pPr marL="1143000" lvl="2" indent="-22860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一对一（1:1）</a:t>
            </a:r>
          </a:p>
          <a:p xmlns:a="http://schemas.openxmlformats.org/drawingml/2006/main">
            <a:pPr marL="648000" lvl="2" indent="-129600" algn="just">
              <a:spcBef>
                <a:spcPts val="499"/>
              </a:spcBef>
              <a:buNone/>
              <a:tabLst>
                <a:tab pos="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0" u="none">
              <a:solidFill>
                <a:srgbClr val="3333CC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648000" lvl="2" indent="-129600" algn="just">
              <a:spcBef>
                <a:spcPts val="499"/>
              </a:spcBef>
              <a:buNone/>
              <a:tabLst>
                <a:tab pos="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0" u="none">
              <a:solidFill>
                <a:srgbClr val="3333CC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648000" lvl="2" indent="-129600" algn="just">
              <a:spcBef>
                <a:spcPts val="499"/>
              </a:spcBef>
              <a:buNone/>
              <a:tabLst>
                <a:tab pos="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0" u="none">
              <a:solidFill>
                <a:srgbClr val="3333CC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648000" lvl="2" indent="-129600" algn="just">
              <a:spcBef>
                <a:spcPts val="499"/>
              </a:spcBef>
              <a:buNone/>
              <a:tabLst>
                <a:tab pos="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0" u="none">
              <a:solidFill>
                <a:srgbClr val="3333CC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143000" lvl="2" indent="-22860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一对多（1:M）／多对一（N:1）</a:t>
            </a:r>
          </a:p>
          <a:p xmlns:a="http://schemas.openxmlformats.org/drawingml/2006/main">
            <a:pPr marL="648000" lvl="2" indent="-129600" algn="just">
              <a:spcBef>
                <a:spcPts val="499"/>
              </a:spcBef>
              <a:buNone/>
              <a:tabLst>
                <a:tab pos="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0" u="none">
              <a:solidFill>
                <a:srgbClr val="3333CC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648000" lvl="2" indent="-129600" algn="just">
              <a:spcBef>
                <a:spcPts val="499"/>
              </a:spcBef>
              <a:buNone/>
              <a:tabLst>
                <a:tab pos="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0" u="none">
              <a:solidFill>
                <a:srgbClr val="3333CC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648000" lvl="2" indent="-129600" algn="just">
              <a:spcBef>
                <a:spcPts val="499"/>
              </a:spcBef>
              <a:buNone/>
              <a:tabLst>
                <a:tab pos="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0" u="none">
              <a:solidFill>
                <a:srgbClr val="3333CC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143000" lvl="2" indent="-22860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多对多（M:N）</a:t>
            </a:r>
          </a:p>
          <a:p xmlns:a="http://schemas.openxmlformats.org/drawingml/2006/main">
            <a:pPr marL="1166400" lvl="4" indent="-129600" algn="just">
              <a:lnSpc>
                <a:spcPct val="100000"/>
              </a:lnSpc>
              <a:spcBef>
                <a:spcPts val="601"/>
              </a:spcBef>
              <a:buNone/>
              <a:tabLst>
                <a:tab pos="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0" u="none">
                <a:solidFill>
                  <a:srgbClr val="3333CC"/>
                </a:solidFill>
                <a:latin typeface="Garamond"/>
                <a:ea typeface="Garamond"/>
                <a:cs typeface="Garamond"/>
              </a:rPr>
              <a:t>??</a:t>
            </a:r>
            <a:endParaRPr sz="2400" b="0" u="none">
              <a:solidFill>
                <a:srgbClr val="3333C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6" name="Oval 5">
            <a:extLst xmlns:a="http://schemas.openxmlformats.org/drawingml/2006/main">
              <a:ext uri="{FF2B5EF4-FFF2-40B4-BE49-F238E27FC236}">
                <a16:creationId xmlns:a16="http://schemas.microsoft.com/office/drawing/2014/main" id="{61E71D14-9AA1-441A-B0DB-7CA3935EB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743200"/>
            <a:ext cx="1143000" cy="1218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CC99"/>
          </a:solidFill>
          <a:ln xmlns:a="http://schemas.openxmlformats.org/drawingml/2006/main" w="1260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7" name="Oval 6">
            <a:extLst xmlns:a="http://schemas.openxmlformats.org/drawingml/2006/main">
              <a:ext uri="{FF2B5EF4-FFF2-40B4-BE49-F238E27FC236}">
                <a16:creationId xmlns:a16="http://schemas.microsoft.com/office/drawing/2014/main" id="{117287C2-86F8-4445-B9BF-81C7E8FB8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080" y="2666880"/>
            <a:ext cx="1143000" cy="12952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CC99"/>
          </a:solidFill>
          <a:ln xmlns:a="http://schemas.openxmlformats.org/drawingml/2006/main" w="1260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8" name="Text Box 7">
            <a:extLst xmlns:a="http://schemas.openxmlformats.org/drawingml/2006/main">
              <a:ext uri="{FF2B5EF4-FFF2-40B4-BE49-F238E27FC236}">
                <a16:creationId xmlns:a16="http://schemas.microsoft.com/office/drawing/2014/main" id="{8662E7C7-A9F2-48C3-84AB-ED269E092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680" y="2743200"/>
            <a:ext cx="609480" cy="1202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1125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u="none">
                <a:solidFill>
                  <a:srgbClr val="FD020F"/>
                </a:solidFill>
                <a:latin typeface="Arial"/>
                <a:ea typeface="Arial"/>
                <a:cs typeface="Arial"/>
              </a:rPr>
              <a:t>a</a:t>
            </a:r>
            <a:endParaRPr sz="18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spcBef>
                <a:spcPts val="1125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u="none">
                <a:solidFill>
                  <a:srgbClr val="FD020F"/>
                </a:solidFill>
                <a:latin typeface="Arial"/>
                <a:ea typeface="Arial"/>
                <a:cs typeface="Arial"/>
              </a:rPr>
              <a:t>b</a:t>
            </a:r>
            <a:endParaRPr sz="18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spcBef>
                <a:spcPts val="1125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u="none">
                <a:solidFill>
                  <a:srgbClr val="FD020F"/>
                </a:solidFill>
                <a:latin typeface="Arial"/>
                <a:ea typeface="Arial"/>
                <a:cs typeface="Arial"/>
              </a:rPr>
              <a:t>c</a:t>
            </a:r>
            <a:endParaRPr sz="18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9" name="Text Box 8">
            <a:extLst xmlns:a="http://schemas.openxmlformats.org/drawingml/2006/main">
              <a:ext uri="{FF2B5EF4-FFF2-40B4-BE49-F238E27FC236}">
                <a16:creationId xmlns:a16="http://schemas.microsoft.com/office/drawing/2014/main" id="{78F25EFA-B62E-46E2-BD7C-CF65E607B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3960" y="2743200"/>
            <a:ext cx="609840" cy="1202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1125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u="none">
                <a:solidFill>
                  <a:srgbClr val="FD020F"/>
                </a:solidFill>
                <a:latin typeface="Arial"/>
                <a:ea typeface="Arial"/>
                <a:cs typeface="Arial"/>
              </a:rPr>
              <a:t>1</a:t>
            </a:r>
            <a:endParaRPr sz="18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spcBef>
                <a:spcPts val="1125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u="none">
                <a:solidFill>
                  <a:srgbClr val="FD020F"/>
                </a:solidFill>
                <a:latin typeface="Arial"/>
                <a:ea typeface="Arial"/>
                <a:cs typeface="Arial"/>
              </a:rPr>
              <a:t>2</a:t>
            </a:r>
            <a:endParaRPr sz="18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spcBef>
                <a:spcPts val="1125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u="none">
                <a:solidFill>
                  <a:srgbClr val="FD020F"/>
                </a:solidFill>
                <a:latin typeface="Arial"/>
                <a:ea typeface="Arial"/>
                <a:cs typeface="Arial"/>
              </a:rPr>
              <a:t>3</a:t>
            </a:r>
            <a:endParaRPr sz="18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0" name="Line 9">
            <a:extLst xmlns:a="http://schemas.openxmlformats.org/drawingml/2006/main">
              <a:ext uri="{FF2B5EF4-FFF2-40B4-BE49-F238E27FC236}">
                <a16:creationId xmlns:a16="http://schemas.microsoft.com/office/drawing/2014/main" id="{C0F6D479-DAD2-4F00-9D23-74D3102E4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280" y="2971800"/>
            <a:ext cx="2286000" cy="0"/>
          </a:xfrm>
          <a:prstGeom xmlns:a="http://schemas.openxmlformats.org/drawingml/2006/main" prst="line">
            <a:avLst/>
          </a:prstGeom>
          <a:ln xmlns:a="http://schemas.openxmlformats.org/drawingml/2006/main" w="1260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6800" rIns="90000" bIns="-46800" anchor="ctr">
            <a:noAutofit/>
          </a:bodyPr>
          <a:lstStyle xmlns:a="http://schemas.openxmlformats.org/drawingml/2006/main"/>
          <a:p xmlns:a="http://schemas.openxmlformats.org/drawingml/2006/main"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1" name="Line 10">
            <a:extLst xmlns:a="http://schemas.openxmlformats.org/drawingml/2006/main">
              <a:ext uri="{FF2B5EF4-FFF2-40B4-BE49-F238E27FC236}">
                <a16:creationId xmlns:a16="http://schemas.microsoft.com/office/drawing/2014/main" id="{D2F0A216-AD70-4879-BA4E-ECBDBB7C0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280" y="3352680"/>
            <a:ext cx="2286000" cy="0"/>
          </a:xfrm>
          <a:prstGeom xmlns:a="http://schemas.openxmlformats.org/drawingml/2006/main" prst="line">
            <a:avLst/>
          </a:prstGeom>
          <a:ln xmlns:a="http://schemas.openxmlformats.org/drawingml/2006/main" w="1260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6800" rIns="90000" bIns="-46800" anchor="ctr">
            <a:noAutofit/>
          </a:bodyPr>
          <a:lstStyle xmlns:a="http://schemas.openxmlformats.org/drawingml/2006/main"/>
          <a:p xmlns:a="http://schemas.openxmlformats.org/drawingml/2006/main"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2" name="Line 11">
            <a:extLst xmlns:a="http://schemas.openxmlformats.org/drawingml/2006/main">
              <a:ext uri="{FF2B5EF4-FFF2-40B4-BE49-F238E27FC236}">
                <a16:creationId xmlns:a16="http://schemas.microsoft.com/office/drawing/2014/main" id="{F14431C1-9AA6-42CF-8F68-2C86C187E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280" y="3733560"/>
            <a:ext cx="2286000" cy="0"/>
          </a:xfrm>
          <a:prstGeom xmlns:a="http://schemas.openxmlformats.org/drawingml/2006/main" prst="line">
            <a:avLst/>
          </a:prstGeom>
          <a:ln xmlns:a="http://schemas.openxmlformats.org/drawingml/2006/main" w="1260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6800" rIns="90000" bIns="-46800" anchor="ctr">
            <a:noAutofit/>
          </a:bodyPr>
          <a:lstStyle xmlns:a="http://schemas.openxmlformats.org/drawingml/2006/main"/>
          <a:p xmlns:a="http://schemas.openxmlformats.org/drawingml/2006/main"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3" name="Oval 12">
            <a:extLst xmlns:a="http://schemas.openxmlformats.org/drawingml/2006/main">
              <a:ext uri="{FF2B5EF4-FFF2-40B4-BE49-F238E27FC236}">
                <a16:creationId xmlns:a16="http://schemas.microsoft.com/office/drawing/2014/main" id="{6185AEB4-3D99-47E3-B62B-CF3E286A4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080" y="4635380"/>
            <a:ext cx="99072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CC99"/>
          </a:solidFill>
          <a:ln xmlns:a="http://schemas.openxmlformats.org/drawingml/2006/main" w="1260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4" name="Text Box 13">
            <a:extLst xmlns:a="http://schemas.openxmlformats.org/drawingml/2006/main">
              <a:ext uri="{FF2B5EF4-FFF2-40B4-BE49-F238E27FC236}">
                <a16:creationId xmlns:a16="http://schemas.microsoft.com/office/drawing/2014/main" id="{E72EAD94-5DFD-475F-9B95-596917C8C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86060"/>
            <a:ext cx="609480" cy="1202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1125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u="none">
                <a:solidFill>
                  <a:srgbClr val="FD020F"/>
                </a:solidFill>
                <a:latin typeface="Arial"/>
                <a:ea typeface="Arial"/>
                <a:cs typeface="Arial"/>
              </a:rPr>
              <a:t>a</a:t>
            </a:r>
            <a:endParaRPr sz="18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spcBef>
                <a:spcPts val="1125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u="none">
                <a:solidFill>
                  <a:srgbClr val="FD020F"/>
                </a:solidFill>
                <a:latin typeface="Arial"/>
                <a:ea typeface="Arial"/>
                <a:cs typeface="Arial"/>
              </a:rPr>
              <a:t>b</a:t>
            </a:r>
            <a:endParaRPr sz="18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spcBef>
                <a:spcPts val="1125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u="none">
                <a:solidFill>
                  <a:srgbClr val="FD020F"/>
                </a:solidFill>
                <a:latin typeface="Arial"/>
                <a:ea typeface="Arial"/>
                <a:cs typeface="Arial"/>
              </a:rPr>
              <a:t>c</a:t>
            </a:r>
            <a:endParaRPr sz="18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5" name="Text Box 14">
            <a:extLst xmlns:a="http://schemas.openxmlformats.org/drawingml/2006/main">
              <a:ext uri="{FF2B5EF4-FFF2-40B4-BE49-F238E27FC236}">
                <a16:creationId xmlns:a16="http://schemas.microsoft.com/office/drawing/2014/main" id="{810C9375-6661-4A61-BC81-8BA73709C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787660"/>
            <a:ext cx="380880" cy="785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1125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u="none">
                <a:solidFill>
                  <a:srgbClr val="FD020F"/>
                </a:solidFill>
                <a:latin typeface="Arial"/>
                <a:ea typeface="Arial"/>
                <a:cs typeface="Arial"/>
              </a:rPr>
              <a:t>1</a:t>
            </a:r>
            <a:endParaRPr sz="18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spcBef>
                <a:spcPts val="1125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u="none">
                <a:solidFill>
                  <a:srgbClr val="FD020F"/>
                </a:solidFill>
                <a:latin typeface="Arial"/>
                <a:ea typeface="Arial"/>
                <a:cs typeface="Arial"/>
              </a:rPr>
              <a:t>2</a:t>
            </a:r>
            <a:endParaRPr sz="18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6" name="Line 15">
            <a:extLst xmlns:a="http://schemas.openxmlformats.org/drawingml/2006/main">
              <a:ext uri="{FF2B5EF4-FFF2-40B4-BE49-F238E27FC236}">
                <a16:creationId xmlns:a16="http://schemas.microsoft.com/office/drawing/2014/main" id="{20A387F2-AAC8-44FB-9EF7-1B0D04D70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787660"/>
            <a:ext cx="2361960" cy="152640"/>
          </a:xfrm>
          <a:prstGeom xmlns:a="http://schemas.openxmlformats.org/drawingml/2006/main" prst="line">
            <a:avLst/>
          </a:prstGeom>
          <a:ln xmlns:a="http://schemas.openxmlformats.org/drawingml/2006/main" w="1260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7" name="Line 16">
            <a:extLst xmlns:a="http://schemas.openxmlformats.org/drawingml/2006/main">
              <a:ext uri="{FF2B5EF4-FFF2-40B4-BE49-F238E27FC236}">
                <a16:creationId xmlns:a16="http://schemas.microsoft.com/office/drawing/2014/main" id="{110FAEF5-C26E-489C-A283-27AC763C6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724280" y="5016260"/>
            <a:ext cx="2438280" cy="152640"/>
          </a:xfrm>
          <a:prstGeom xmlns:a="http://schemas.openxmlformats.org/drawingml/2006/main" prst="line">
            <a:avLst/>
          </a:prstGeom>
          <a:ln xmlns:a="http://schemas.openxmlformats.org/drawingml/2006/main" w="1260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8" name="Line 17">
            <a:extLst xmlns:a="http://schemas.openxmlformats.org/drawingml/2006/main">
              <a:ext uri="{FF2B5EF4-FFF2-40B4-BE49-F238E27FC236}">
                <a16:creationId xmlns:a16="http://schemas.microsoft.com/office/drawing/2014/main" id="{516CC88D-763C-4A8D-AC21-1C1548ED2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724280" y="5397140"/>
            <a:ext cx="2438280" cy="152280"/>
          </a:xfrm>
          <a:prstGeom xmlns:a="http://schemas.openxmlformats.org/drawingml/2006/main" prst="line">
            <a:avLst/>
          </a:prstGeom>
          <a:ln xmlns:a="http://schemas.openxmlformats.org/drawingml/2006/main" w="1260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47071841"/>
      </p:ext>
    </p:extLst>
  </p:cSld>
</p:sld>
</file>

<file path=ppt/slides/slide4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24681D97-5F04-4ECE-9748-F517755D10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28240" y="166320"/>
            <a:ext cx="8770680" cy="131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90392" tIns="44291" rIns="90392" bIns="44291" anchor="b">
            <a:noAutofit/>
          </a:bodyPr>
          <a:lstStyle xmlns:a="http://schemas.openxmlformats.org/drawingml/2006/main"/>
          <a:p xmlns:a="http://schemas.openxmlformats.org/drawingml/2006/main"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600" b="1" i="1">
                <a:solidFill>
                  <a:srgbClr val="FF0033"/>
                </a:solidFill>
                <a:latin typeface="Arial"/>
                <a:ea typeface="Arial"/>
                <a:cs typeface="Arial"/>
              </a:defRPr>
            </a:pPr>
            <a:r>
              <a:rPr sz="3600" b="1" i="1" u="none">
                <a:solidFill>
                  <a:srgbClr val="FF0033"/>
                </a:solidFill>
                <a:latin typeface="Arial"/>
                <a:ea typeface="Arial"/>
                <a:cs typeface="Arial"/>
              </a:rPr>
              <a:t>基数挑战</a:t>
            </a:r>
          </a:p>
        </p:txBody>
      </p:sp>
      <p:sp>
        <p:nvSpPr>
          <p:cNvPr id="28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A9D33F6-FC57-4B9F-842E-8AFDD951D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880" y="1828800"/>
            <a:ext cx="8381880" cy="4647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90392" tIns="44291" rIns="90392" bIns="44291" anchor="t">
            <a:normAutofit fontScale="100000"/>
          </a:bodyPr>
          <a:lstStyle xmlns:a="http://schemas.openxmlformats.org/drawingml/2006/main"/>
          <a:p xmlns:a="http://schemas.openxmlformats.org/drawingml/2006/main"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一本 BOOK 有多个 COPY 记录；每个 COPY 恰好属于一本 BOOK。</a:t>
            </a:r>
          </a:p>
          <a:p xmlns:a="http://schemas.openxmlformats.org/drawingml/2006/main"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一个 MEMBER 可以有 0～5 条有效 LOAN 记录。</a:t>
            </a:r>
          </a:p>
          <a:p xmlns:a="http://schemas.openxmlformats.org/drawingml/2006/main"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每条 LOAN 恰好属于一个 MEMBER 和一个 COPY。</a:t>
            </a:r>
          </a:p>
          <a:p xmlns:a="http://schemas.openxmlformats.org/drawingml/2006/main"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一个 COPY 可以出现在多条历史借阅记录中，但最多只能出现在一条有效借阅记录中。</a:t>
            </a:r>
          </a:p>
          <a:p xmlns:a="http://schemas.openxmlformats.org/drawingml/2006/main"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写出 1:N 及最小—最大约束。</a:t>
            </a:r>
          </a:p>
        </p:txBody>
      </p:sp>
    </p:spTree>
    <p:extLst>
      <p:ext uri="{BB962C8B-B14F-4D97-AF65-F5344CB8AC3E}">
        <p14:creationId xmlns:p14="http://schemas.microsoft.com/office/powerpoint/2010/main" val="464216751"/>
      </p:ext>
    </p:extLst>
  </p:cSld>
</p:sld>
</file>

<file path=ppt/slides/slide4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24681D97-5F04-4ECE-9748-F517755D10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28240" y="166320"/>
            <a:ext cx="8770680" cy="131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90392" tIns="44291" rIns="90392" bIns="44291" anchor="b">
            <a:noAutofit/>
          </a:bodyPr>
          <a:lstStyle xmlns:a="http://schemas.openxmlformats.org/drawingml/2006/main"/>
          <a:p xmlns:a="http://schemas.openxmlformats.org/drawingml/2006/main"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600" b="1" i="1">
                <a:solidFill>
                  <a:srgbClr val="FF0033"/>
                </a:solidFill>
                <a:latin typeface="Arial"/>
                <a:ea typeface="Arial"/>
                <a:cs typeface="Arial"/>
              </a:defRPr>
            </a:pPr>
            <a:r>
              <a:rPr sz="3600" b="1" i="1" u="none">
                <a:solidFill>
                  <a:srgbClr val="FF0033"/>
                </a:solidFill>
                <a:latin typeface="Arial"/>
                <a:ea typeface="Arial"/>
                <a:cs typeface="Arial"/>
              </a:rPr>
              <a:t>基数答案</a:t>
            </a:r>
          </a:p>
        </p:txBody>
      </p:sp>
      <p:sp>
        <p:nvSpPr>
          <p:cNvPr id="28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A9D33F6-FC57-4B9F-842E-8AFDD951D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880" y="1828800"/>
            <a:ext cx="8381880" cy="4647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90392" tIns="44291" rIns="90392" bIns="44291" anchor="t">
            <a:normAutofit fontScale="100000"/>
          </a:bodyPr>
          <a:lstStyle xmlns:a="http://schemas.openxmlformats.org/drawingml/2006/main"/>
          <a:p xmlns:a="http://schemas.openxmlformats.org/drawingml/2006/main"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BOOK (1,N)——COPY (1,1)</a:t>
            </a:r>
          </a:p>
          <a:p xmlns:a="http://schemas.openxmlformats.org/drawingml/2006/main"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MEMBER（0,5 条有效记录）——LOAN (1,1)</a:t>
            </a:r>
          </a:p>
          <a:p xmlns:a="http://schemas.openxmlformats.org/drawingml/2006/main"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COPY（0,N 条历史记录）——LOAN (1,1)</a:t>
            </a:r>
          </a:p>
          <a:p xmlns:a="http://schemas.openxmlformats.org/drawingml/2006/main"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“每个复本最多有一笔有效借阅”是一条时态业务规则。</a:t>
            </a:r>
          </a:p>
          <a:p xmlns:a="http://schemas.openxmlformats.org/drawingml/2006/main"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仅靠简单的静态基数无法表达所有现实约束。</a:t>
            </a:r>
          </a:p>
        </p:txBody>
      </p:sp>
    </p:spTree>
    <p:extLst>
      <p:ext uri="{BB962C8B-B14F-4D97-AF65-F5344CB8AC3E}">
        <p14:creationId xmlns:p14="http://schemas.microsoft.com/office/powerpoint/2010/main" val="464216751"/>
      </p:ext>
    </p:extLst>
  </p:cSld>
</p:sld>
</file>

<file path=ppt/slides/slide5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9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A90E6A0F-AB2A-4C97-971C-E2F8BEA7B1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7040" y="166320"/>
            <a:ext cx="8381880" cy="131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360" tIns="44280" rIns="90360" bIns="44280" anchor="b">
            <a:noAutofit/>
          </a:bodyPr>
          <a:lstStyle xmlns:a="http://schemas.openxmlformats.org/drawingml/2006/main"/>
          <a:p xmlns:a="http://schemas.openxmlformats.org/drawingml/2006/main"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3600" b="1" i="1" u="none">
                <a:solidFill>
                  <a:srgbClr val="FF0033"/>
                </a:solidFill>
                <a:latin typeface="Arial"/>
                <a:ea typeface="Arial"/>
                <a:cs typeface="Arial"/>
              </a:rPr>
              <a:t>实体—联系模型</a:t>
            </a:r>
          </a:p>
        </p:txBody>
      </p:sp>
      <p:sp>
        <p:nvSpPr>
          <p:cNvPr id="230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E2E2C0F0-6B3E-4A1A-A59A-21D1CAAF0C25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560160" y="1785600"/>
            <a:ext cx="8153280" cy="461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360" tIns="44280" rIns="90360" bIns="44280" anchor="t">
            <a:normAutofit fontScale="100000"/>
          </a:bodyPr>
          <a:lstStyle xmlns:a="http://schemas.openxmlformats.org/drawingml/2006/main"/>
          <a:p xmlns:a="http://schemas.openxmlformats.org/drawingml/2006/main">
            <a:pPr marL="343080" indent="-343080" algn="just">
              <a:spcBef>
                <a:spcPts val="601"/>
              </a:spcBef>
              <a:buClr>
                <a:srgbClr val="FF0033"/>
              </a:buClr>
              <a:buSzPct val="75000"/>
              <a:buFont typeface="Zapf Dingbat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ER 图</a:t>
            </a:r>
          </a:p>
          <a:p xmlns:a="http://schemas.openxmlformats.org/drawingml/2006/main"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矩形：        实体集</a:t>
            </a:r>
          </a:p>
          <a:p xmlns:a="http://schemas.openxmlformats.org/drawingml/2006/main"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椭圆：        属性</a:t>
            </a:r>
          </a:p>
          <a:p xmlns:a="http://schemas.openxmlformats.org/drawingml/2006/main"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菱形：        联系集</a:t>
            </a:r>
          </a:p>
          <a:p xmlns:a="http://schemas.openxmlformats.org/drawingml/2006/main"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连线：        属性连接实体集／联系集</a:t>
            </a:r>
          </a:p>
          <a:p xmlns:a="http://schemas.openxmlformats.org/drawingml/2006/main">
            <a:pPr marL="1166400" lvl="4" indent="-129600" algn="just">
              <a:spcBef>
                <a:spcPts val="499"/>
              </a:spcBef>
              <a:buNone/>
              <a:tabLst>
                <a:tab pos="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           或实体集连接联系集</a:t>
            </a:r>
          </a:p>
          <a:p xmlns:a="http://schemas.openxmlformats.org/drawingml/2006/main">
            <a:pPr marL="1166400" lvl="4" indent="-129600" algn="just">
              <a:spcBef>
                <a:spcPts val="499"/>
              </a:spcBef>
              <a:buNone/>
              <a:tabLst>
                <a:tab pos="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0" u="none">
              <a:solidFill>
                <a:srgbClr val="3333C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1" name="AutoShape 4">
            <a:extLst xmlns:a="http://schemas.openxmlformats.org/drawingml/2006/main">
              <a:ext uri="{FF2B5EF4-FFF2-40B4-BE49-F238E27FC236}">
                <a16:creationId xmlns:a16="http://schemas.microsoft.com/office/drawing/2014/main" id="{109A7A28-3407-41C5-A9E0-9AB9049B9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4381560" y="4228560"/>
            <a:ext cx="609480" cy="685800"/>
          </a:xfrm>
          <a:prstGeom xmlns:a="http://schemas.openxmlformats.org/drawingml/2006/main" prst="triangle">
            <a:avLst>
              <a:gd name="adj" fmla="val 50000"/>
            </a:avLst>
          </a:prstGeom>
          <a:solidFill xmlns:a="http://schemas.openxmlformats.org/drawingml/2006/main">
            <a:srgbClr val="00CC99"/>
          </a:solidFill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2" name="AutoShape 5">
            <a:extLst xmlns:a="http://schemas.openxmlformats.org/drawingml/2006/main">
              <a:ext uri="{FF2B5EF4-FFF2-40B4-BE49-F238E27FC236}">
                <a16:creationId xmlns:a16="http://schemas.microsoft.com/office/drawing/2014/main" id="{6ED92C03-318F-4E64-8829-E733EEB03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067000" y="4228920"/>
            <a:ext cx="609480" cy="685800"/>
          </a:xfrm>
          <a:prstGeom xmlns:a="http://schemas.openxmlformats.org/drawingml/2006/main" prst="triangle">
            <a:avLst>
              <a:gd name="adj" fmla="val 50000"/>
            </a:avLst>
          </a:prstGeom>
          <a:solidFill xmlns:a="http://schemas.openxmlformats.org/drawingml/2006/main">
            <a:srgbClr val="00CC99"/>
          </a:solidFill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3" name="AutoShape 6">
            <a:extLst xmlns:a="http://schemas.openxmlformats.org/drawingml/2006/main">
              <a:ext uri="{FF2B5EF4-FFF2-40B4-BE49-F238E27FC236}">
                <a16:creationId xmlns:a16="http://schemas.microsoft.com/office/drawing/2014/main" id="{71ACDF2B-DA53-4EB8-BDA7-C9AC40E86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066640" y="5067000"/>
            <a:ext cx="609840" cy="685800"/>
          </a:xfrm>
          <a:prstGeom xmlns:a="http://schemas.openxmlformats.org/drawingml/2006/main" prst="triangle">
            <a:avLst>
              <a:gd name="adj" fmla="val 50000"/>
            </a:avLst>
          </a:prstGeom>
          <a:solidFill xmlns:a="http://schemas.openxmlformats.org/drawingml/2006/main">
            <a:srgbClr val="00CC99"/>
          </a:solidFill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4" name="AutoShape 7">
            <a:extLst xmlns:a="http://schemas.openxmlformats.org/drawingml/2006/main">
              <a:ext uri="{FF2B5EF4-FFF2-40B4-BE49-F238E27FC236}">
                <a16:creationId xmlns:a16="http://schemas.microsoft.com/office/drawing/2014/main" id="{F9C3FD83-C75A-4683-AFED-8FFE06118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4381200" y="5067000"/>
            <a:ext cx="609840" cy="685800"/>
          </a:xfrm>
          <a:prstGeom xmlns:a="http://schemas.openxmlformats.org/drawingml/2006/main" prst="triangle">
            <a:avLst>
              <a:gd name="adj" fmla="val 50000"/>
            </a:avLst>
          </a:prstGeom>
          <a:solidFill xmlns:a="http://schemas.openxmlformats.org/drawingml/2006/main">
            <a:srgbClr val="00CC99"/>
          </a:solidFill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5" name="AutoShape 8">
            <a:extLst xmlns:a="http://schemas.openxmlformats.org/drawingml/2006/main">
              <a:ext uri="{FF2B5EF4-FFF2-40B4-BE49-F238E27FC236}">
                <a16:creationId xmlns:a16="http://schemas.microsoft.com/office/drawing/2014/main" id="{BC95DEAF-093C-4ABD-A91D-3C7953148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4381560" y="5905080"/>
            <a:ext cx="609480" cy="685800"/>
          </a:xfrm>
          <a:prstGeom xmlns:a="http://schemas.openxmlformats.org/drawingml/2006/main" prst="triangle">
            <a:avLst>
              <a:gd name="adj" fmla="val 50000"/>
            </a:avLst>
          </a:prstGeom>
          <a:solidFill xmlns:a="http://schemas.openxmlformats.org/drawingml/2006/main">
            <a:srgbClr val="00CC99"/>
          </a:solidFill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6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276756C-C106-4454-AC0B-E34CFEF02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067000" y="5905440"/>
            <a:ext cx="609480" cy="685800"/>
          </a:xfrm>
          <a:prstGeom xmlns:a="http://schemas.openxmlformats.org/drawingml/2006/main" prst="triangle">
            <a:avLst>
              <a:gd name="adj" fmla="val 50000"/>
            </a:avLst>
          </a:prstGeom>
          <a:solidFill xmlns:a="http://schemas.openxmlformats.org/drawingml/2006/main">
            <a:srgbClr val="00CC99"/>
          </a:solidFill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7" name="Line 10">
            <a:extLst xmlns:a="http://schemas.openxmlformats.org/drawingml/2006/main">
              <a:ext uri="{FF2B5EF4-FFF2-40B4-BE49-F238E27FC236}">
                <a16:creationId xmlns:a16="http://schemas.microsoft.com/office/drawing/2014/main" id="{C0FCAD1F-32BB-49A1-9970-8916FB912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572000"/>
            <a:ext cx="1371600" cy="0"/>
          </a:xfrm>
          <a:prstGeom xmlns:a="http://schemas.openxmlformats.org/drawingml/2006/main" prst="line">
            <a:avLst/>
          </a:prstGeom>
          <a:ln xmlns:a="http://schemas.openxmlformats.org/drawingml/2006/main" w="1260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6800" rIns="90000" bIns="-46800" anchor="ctr">
            <a:noAutofit/>
          </a:bodyPr>
          <a:lstStyle xmlns:a="http://schemas.openxmlformats.org/drawingml/2006/main"/>
          <a:p xmlns:a="http://schemas.openxmlformats.org/drawingml/2006/main"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8" name="Line 11">
            <a:extLst xmlns:a="http://schemas.openxmlformats.org/drawingml/2006/main">
              <a:ext uri="{FF2B5EF4-FFF2-40B4-BE49-F238E27FC236}">
                <a16:creationId xmlns:a16="http://schemas.microsoft.com/office/drawing/2014/main" id="{A64C448C-4008-409C-9E52-2D8B55C11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572000"/>
            <a:ext cx="1371600" cy="0"/>
          </a:xfrm>
          <a:prstGeom xmlns:a="http://schemas.openxmlformats.org/drawingml/2006/main" prst="line">
            <a:avLst/>
          </a:prstGeom>
          <a:ln xmlns:a="http://schemas.openxmlformats.org/drawingml/2006/main" w="1260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6800" rIns="90000" bIns="-46800" anchor="ctr">
            <a:noAutofit/>
          </a:bodyPr>
          <a:lstStyle xmlns:a="http://schemas.openxmlformats.org/drawingml/2006/main"/>
          <a:p xmlns:a="http://schemas.openxmlformats.org/drawingml/2006/main"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9" name="Text Box 12">
            <a:extLst xmlns:a="http://schemas.openxmlformats.org/drawingml/2006/main">
              <a:ext uri="{FF2B5EF4-FFF2-40B4-BE49-F238E27FC236}">
                <a16:creationId xmlns:a16="http://schemas.microsoft.com/office/drawing/2014/main" id="{70D8AFBB-FB3F-42F2-8AA0-CC278A31F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680" y="4190760"/>
            <a:ext cx="457200" cy="398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125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1" u="none">
                <a:solidFill>
                  <a:srgbClr val="FD020F"/>
                </a:solidFill>
                <a:latin typeface="Arial"/>
                <a:ea typeface="Arial"/>
                <a:cs typeface="Arial"/>
              </a:rPr>
              <a:t>m</a:t>
            </a:r>
          </a:p>
        </p:txBody>
      </p:sp>
      <p:sp>
        <p:nvSpPr>
          <p:cNvPr id="240" name="Text Box 13">
            <a:extLst xmlns:a="http://schemas.openxmlformats.org/drawingml/2006/main">
              <a:ext uri="{FF2B5EF4-FFF2-40B4-BE49-F238E27FC236}">
                <a16:creationId xmlns:a16="http://schemas.microsoft.com/office/drawing/2014/main" id="{65EBC6B3-4866-48B1-94C0-CA01CDA76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190760"/>
            <a:ext cx="457200" cy="398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125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1" u="none">
                <a:solidFill>
                  <a:srgbClr val="FD020F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241" name="Line 14">
            <a:extLst xmlns:a="http://schemas.openxmlformats.org/drawingml/2006/main">
              <a:ext uri="{FF2B5EF4-FFF2-40B4-BE49-F238E27FC236}">
                <a16:creationId xmlns:a16="http://schemas.microsoft.com/office/drawing/2014/main" id="{FD27BFD4-E427-45FF-BCDA-23CE34C7E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410080"/>
            <a:ext cx="1371600" cy="0"/>
          </a:xfrm>
          <a:prstGeom xmlns:a="http://schemas.openxmlformats.org/drawingml/2006/main" prst="line">
            <a:avLst/>
          </a:prstGeom>
          <a:ln xmlns:a="http://schemas.openxmlformats.org/drawingml/2006/main" w="1260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6800" rIns="90000" bIns="-46800" anchor="ctr">
            <a:noAutofit/>
          </a:bodyPr>
          <a:lstStyle xmlns:a="http://schemas.openxmlformats.org/drawingml/2006/main"/>
          <a:p xmlns:a="http://schemas.openxmlformats.org/drawingml/2006/main"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2" name="Text Box 15">
            <a:extLst xmlns:a="http://schemas.openxmlformats.org/drawingml/2006/main">
              <a:ext uri="{FF2B5EF4-FFF2-40B4-BE49-F238E27FC236}">
                <a16:creationId xmlns:a16="http://schemas.microsoft.com/office/drawing/2014/main" id="{16C43251-5CE9-4886-A08B-FE066BDD9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680" y="5013000"/>
            <a:ext cx="457200" cy="398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125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1" u="none">
                <a:solidFill>
                  <a:srgbClr val="FD020F"/>
                </a:solidFill>
                <a:latin typeface="Arial"/>
                <a:ea typeface="Arial"/>
                <a:cs typeface="Arial"/>
              </a:rPr>
              <a:t>m</a:t>
            </a:r>
          </a:p>
        </p:txBody>
      </p:sp>
      <p:sp>
        <p:nvSpPr>
          <p:cNvPr id="243" name="Line 16">
            <a:extLst xmlns:a="http://schemas.openxmlformats.org/drawingml/2006/main">
              <a:ext uri="{FF2B5EF4-FFF2-40B4-BE49-F238E27FC236}">
                <a16:creationId xmlns:a16="http://schemas.microsoft.com/office/drawing/2014/main" id="{33FBEE5D-AADE-4CBB-AC2B-D01A569A0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410080"/>
            <a:ext cx="1371600" cy="0"/>
          </a:xfrm>
          <a:prstGeom xmlns:a="http://schemas.openxmlformats.org/drawingml/2006/main" prst="line">
            <a:avLst/>
          </a:prstGeom>
          <a:ln xmlns:a="http://schemas.openxmlformats.org/drawingml/2006/main" w="12600">
            <a:solidFill>
              <a:srgbClr val="000000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6800" rIns="90000" bIns="-46800" anchor="ctr">
            <a:noAutofit/>
          </a:bodyPr>
          <a:lstStyle xmlns:a="http://schemas.openxmlformats.org/drawingml/2006/main"/>
          <a:p xmlns:a="http://schemas.openxmlformats.org/drawingml/2006/main"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4" name="Text Box 17">
            <a:extLst xmlns:a="http://schemas.openxmlformats.org/drawingml/2006/main">
              <a:ext uri="{FF2B5EF4-FFF2-40B4-BE49-F238E27FC236}">
                <a16:creationId xmlns:a16="http://schemas.microsoft.com/office/drawing/2014/main" id="{25E86BAA-9901-4594-9AC6-F753C6887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013000"/>
            <a:ext cx="457200" cy="398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125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1" u="none">
                <a:solidFill>
                  <a:srgbClr val="FD020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45" name="Line 18">
            <a:extLst xmlns:a="http://schemas.openxmlformats.org/drawingml/2006/main">
              <a:ext uri="{FF2B5EF4-FFF2-40B4-BE49-F238E27FC236}">
                <a16:creationId xmlns:a16="http://schemas.microsoft.com/office/drawing/2014/main" id="{D82D03A4-CE45-4E0D-94FB-B81955FA5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248160"/>
            <a:ext cx="1371600" cy="0"/>
          </a:xfrm>
          <a:prstGeom xmlns:a="http://schemas.openxmlformats.org/drawingml/2006/main" prst="line">
            <a:avLst/>
          </a:prstGeom>
          <a:ln xmlns:a="http://schemas.openxmlformats.org/drawingml/2006/main" w="12600">
            <a:solidFill>
              <a:srgbClr val="000000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6800" rIns="90000" bIns="-46800" anchor="ctr">
            <a:noAutofit/>
          </a:bodyPr>
          <a:lstStyle xmlns:a="http://schemas.openxmlformats.org/drawingml/2006/main"/>
          <a:p xmlns:a="http://schemas.openxmlformats.org/drawingml/2006/main"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6" name="Text Box 19">
            <a:extLst xmlns:a="http://schemas.openxmlformats.org/drawingml/2006/main">
              <a:ext uri="{FF2B5EF4-FFF2-40B4-BE49-F238E27FC236}">
                <a16:creationId xmlns:a16="http://schemas.microsoft.com/office/drawing/2014/main" id="{BC1FC21F-33BD-4B0C-837A-455866C26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851440"/>
            <a:ext cx="457200" cy="398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125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1" u="none">
                <a:solidFill>
                  <a:srgbClr val="FD020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47" name="Line 20">
            <a:extLst xmlns:a="http://schemas.openxmlformats.org/drawingml/2006/main">
              <a:ext uri="{FF2B5EF4-FFF2-40B4-BE49-F238E27FC236}">
                <a16:creationId xmlns:a16="http://schemas.microsoft.com/office/drawing/2014/main" id="{9764208F-6470-472B-BE48-845E7D877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6248160"/>
            <a:ext cx="1371600" cy="0"/>
          </a:xfrm>
          <a:prstGeom xmlns:a="http://schemas.openxmlformats.org/drawingml/2006/main" prst="line">
            <a:avLst/>
          </a:prstGeom>
          <a:ln xmlns:a="http://schemas.openxmlformats.org/drawingml/2006/main" w="12600">
            <a:solidFill>
              <a:srgbClr val="000000"/>
            </a:solidFill>
            <a:head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6800" rIns="90000" bIns="-46800" anchor="ctr">
            <a:noAutofit/>
          </a:bodyPr>
          <a:lstStyle xmlns:a="http://schemas.openxmlformats.org/drawingml/2006/main"/>
          <a:p xmlns:a="http://schemas.openxmlformats.org/drawingml/2006/main"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8" name="Text Box 21">
            <a:extLst xmlns:a="http://schemas.openxmlformats.org/drawingml/2006/main">
              <a:ext uri="{FF2B5EF4-FFF2-40B4-BE49-F238E27FC236}">
                <a16:creationId xmlns:a16="http://schemas.microsoft.com/office/drawing/2014/main" id="{F6C2F582-2F42-4540-9582-1A160D695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4960" y="5867280"/>
            <a:ext cx="457200" cy="398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125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1" u="none">
                <a:solidFill>
                  <a:srgbClr val="FD020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49" name="Text Box 22">
            <a:extLst xmlns:a="http://schemas.openxmlformats.org/drawingml/2006/main">
              <a:ext uri="{FF2B5EF4-FFF2-40B4-BE49-F238E27FC236}">
                <a16:creationId xmlns:a16="http://schemas.microsoft.com/office/drawing/2014/main" id="{F3D7254B-F644-4491-AD99-83CD54FF8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560" y="4343400"/>
            <a:ext cx="381240" cy="398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125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1" i="1" u="none">
                <a:solidFill>
                  <a:srgbClr val="FD020F"/>
                </a:solidFill>
                <a:latin typeface="Arial"/>
                <a:ea typeface="Arial"/>
                <a:cs typeface="Arial"/>
              </a:rPr>
              <a:t>R</a:t>
            </a: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0" name="Text Box 23">
            <a:extLst xmlns:a="http://schemas.openxmlformats.org/drawingml/2006/main">
              <a:ext uri="{FF2B5EF4-FFF2-40B4-BE49-F238E27FC236}">
                <a16:creationId xmlns:a16="http://schemas.microsoft.com/office/drawing/2014/main" id="{A4A40913-519B-4E83-A6D3-F10BEDCB9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560" y="5241600"/>
            <a:ext cx="381240" cy="398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125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1" i="1" u="none">
                <a:solidFill>
                  <a:srgbClr val="FD020F"/>
                </a:solidFill>
                <a:latin typeface="Arial"/>
                <a:ea typeface="Arial"/>
                <a:cs typeface="Arial"/>
              </a:rPr>
              <a:t>R</a:t>
            </a: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1" name="Text Box 24">
            <a:extLst xmlns:a="http://schemas.openxmlformats.org/drawingml/2006/main">
              <a:ext uri="{FF2B5EF4-FFF2-40B4-BE49-F238E27FC236}">
                <a16:creationId xmlns:a16="http://schemas.microsoft.com/office/drawing/2014/main" id="{AB64D34E-EDD5-4779-84C2-3F0075D16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560" y="6080040"/>
            <a:ext cx="381240" cy="398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125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1" i="1" u="none">
                <a:solidFill>
                  <a:srgbClr val="FD020F"/>
                </a:solidFill>
                <a:latin typeface="Arial"/>
                <a:ea typeface="Arial"/>
                <a:cs typeface="Arial"/>
              </a:rPr>
              <a:t>R</a:t>
            </a: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31041241"/>
      </p:ext>
    </p:extLst>
  </p:cSld>
</p:sld>
</file>

<file path=ppt/slides/slide5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3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3B7A2684-3E79-47BB-B6E4-ABF2670F8E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3455" y="745920"/>
            <a:ext cx="9068040" cy="473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0" rIns="91440" bIns="45720" anchor="ctr">
            <a:spAutoFit/>
          </a:bodyPr>
          <a:lstStyle xmlns:a="http://schemas.openxmlformats.org/drawingml/2006/main"/>
          <a:p xmlns:a="http://schemas.openxmlformats.org/drawingml/2006/main"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800" b="1" i="1" u="none">
                <a:solidFill>
                  <a:srgbClr val="FF0033"/>
                </a:solidFill>
                <a:latin typeface="Arial"/>
                <a:ea typeface="Arial"/>
                <a:cs typeface="Arial"/>
              </a:rPr>
              <a:t>ER 图表示法汇总</a:t>
            </a:r>
          </a:p>
        </p:txBody>
      </p:sp>
      <p:sp>
        <p:nvSpPr>
          <p:cNvPr id="254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426EDE4-7A3A-4CF6-A585-7FECFF8CA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280" y="1773969"/>
            <a:ext cx="4419720" cy="47470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901"/>
              </a:spcBef>
              <a:spcAft>
                <a:spcPts val="1049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2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实体类型</a:t>
            </a:r>
            <a:endParaRPr sz="12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spcBef>
                <a:spcPts val="901"/>
              </a:spcBef>
              <a:spcAft>
                <a:spcPts val="1049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2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弱实体类型</a:t>
            </a:r>
            <a:endParaRPr sz="12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spcBef>
                <a:spcPts val="901"/>
              </a:spcBef>
              <a:spcAft>
                <a:spcPts val="1049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2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联系类型</a:t>
            </a:r>
            <a:endParaRPr sz="12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spcBef>
                <a:spcPts val="901"/>
              </a:spcBef>
              <a:spcAft>
                <a:spcPts val="1049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2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标识联系类型</a:t>
            </a:r>
            <a:endParaRPr sz="12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spcBef>
                <a:spcPts val="901"/>
              </a:spcBef>
              <a:spcAft>
                <a:spcPts val="1049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2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属性</a:t>
            </a:r>
            <a:endParaRPr sz="12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spcBef>
                <a:spcPts val="901"/>
              </a:spcBef>
              <a:spcAft>
                <a:spcPts val="1049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2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键属性</a:t>
            </a:r>
            <a:endParaRPr sz="12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spcBef>
                <a:spcPts val="901"/>
              </a:spcBef>
              <a:spcAft>
                <a:spcPts val="1049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2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多值属性</a:t>
            </a:r>
            <a:endParaRPr sz="12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spcBef>
                <a:spcPts val="901"/>
              </a:spcBef>
              <a:spcAft>
                <a:spcPts val="1049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2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复合属性</a:t>
            </a:r>
            <a:endParaRPr sz="12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spcBef>
                <a:spcPts val="901"/>
              </a:spcBef>
              <a:spcAft>
                <a:spcPts val="1049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2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E2 全参与 R</a:t>
            </a:r>
            <a:endParaRPr sz="12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spcBef>
                <a:spcPts val="901"/>
              </a:spcBef>
              <a:spcAft>
                <a:spcPts val="1049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2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R 中 E1:E2 的基数比为 1:N</a:t>
            </a:r>
            <a:endParaRPr sz="12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spcBef>
                <a:spcPts val="901"/>
              </a:spcBef>
              <a:spcAft>
                <a:spcPts val="1049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2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E 参与 R 的结构约束（最小值，最大值）</a:t>
            </a:r>
            <a:endParaRPr sz="12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5" name="Text Box 5">
            <a:extLst xmlns:a="http://schemas.openxmlformats.org/drawingml/2006/main">
              <a:ext uri="{FF2B5EF4-FFF2-40B4-BE49-F238E27FC236}">
                <a16:creationId xmlns:a16="http://schemas.microsoft.com/office/drawing/2014/main" id="{82000C22-366B-4C97-BABF-CDB18AB21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280" y="2260445"/>
            <a:ext cx="1143230" cy="2769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90000" tIns="0" rIns="9000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b="1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符号</a:t>
            </a:r>
            <a:endParaRPr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7" name="Rectangle 7">
            <a:extLst xmlns:a="http://schemas.openxmlformats.org/drawingml/2006/main">
              <a:ext uri="{FF2B5EF4-FFF2-40B4-BE49-F238E27FC236}">
                <a16:creationId xmlns:a16="http://schemas.microsoft.com/office/drawing/2014/main" id="{8FBE8284-6CFF-42F4-A0E9-05C18E228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4320" y="2238745"/>
            <a:ext cx="914400" cy="32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36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8" name="Rectangle 8">
            <a:extLst xmlns:a="http://schemas.openxmlformats.org/drawingml/2006/main">
              <a:ext uri="{FF2B5EF4-FFF2-40B4-BE49-F238E27FC236}">
                <a16:creationId xmlns:a16="http://schemas.microsoft.com/office/drawing/2014/main" id="{BE8E89F9-CD50-4419-8902-E1FAF2B01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6160" y="2204185"/>
            <a:ext cx="990720" cy="399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36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9" name="Rectangle 9">
            <a:extLst xmlns:a="http://schemas.openxmlformats.org/drawingml/2006/main">
              <a:ext uri="{FF2B5EF4-FFF2-40B4-BE49-F238E27FC236}">
                <a16:creationId xmlns:a16="http://schemas.microsoft.com/office/drawing/2014/main" id="{5F1124E1-10C5-4EAF-A8F0-C59F2447D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22800">
            <a:off x="2891880" y="2712145"/>
            <a:ext cx="254160" cy="254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36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1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F421766D-B0C5-4665-8934-17216BAAD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22800">
            <a:off x="2891880" y="3158545"/>
            <a:ext cx="254160" cy="25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36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2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33A8E21F-E9A6-469E-83E1-8011EECC7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22800">
            <a:off x="2858400" y="3117145"/>
            <a:ext cx="320760" cy="320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36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4" name="Oval 14">
            <a:extLst xmlns:a="http://schemas.openxmlformats.org/drawingml/2006/main">
              <a:ext uri="{FF2B5EF4-FFF2-40B4-BE49-F238E27FC236}">
                <a16:creationId xmlns:a16="http://schemas.microsoft.com/office/drawing/2014/main" id="{856BF2DF-BDF1-4D99-B99D-32BBEA5FC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8440" y="3601345"/>
            <a:ext cx="746280" cy="21096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36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5" name="Line 15">
            <a:extLst xmlns:a="http://schemas.openxmlformats.org/drawingml/2006/main">
              <a:ext uri="{FF2B5EF4-FFF2-40B4-BE49-F238E27FC236}">
                <a16:creationId xmlns:a16="http://schemas.microsoft.com/office/drawing/2014/main" id="{5E3DCE3B-E789-47CB-9929-52AA73755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2331720" y="3707545"/>
            <a:ext cx="396720" cy="0"/>
          </a:xfrm>
          <a:prstGeom xmlns:a="http://schemas.openxmlformats.org/drawingml/2006/main" prst="line">
            <a:avLst/>
          </a:prstGeom>
          <a:ln xmlns:a="http://schemas.openxmlformats.org/drawingml/2006/main" w="936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6800" rIns="90000" bIns="-46800" anchor="ctr">
            <a:noAutofit/>
          </a:bodyPr>
          <a:lstStyle xmlns:a="http://schemas.openxmlformats.org/drawingml/2006/main"/>
          <a:p xmlns:a="http://schemas.openxmlformats.org/drawingml/2006/main"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8" name="Oval 18">
            <a:extLst xmlns:a="http://schemas.openxmlformats.org/drawingml/2006/main">
              <a:ext uri="{FF2B5EF4-FFF2-40B4-BE49-F238E27FC236}">
                <a16:creationId xmlns:a16="http://schemas.microsoft.com/office/drawing/2014/main" id="{7F4CC952-D23B-4531-9CE0-1D101E5C5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8440" y="3977545"/>
            <a:ext cx="746280" cy="21096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36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9" name="Line 19">
            <a:extLst xmlns:a="http://schemas.openxmlformats.org/drawingml/2006/main">
              <a:ext uri="{FF2B5EF4-FFF2-40B4-BE49-F238E27FC236}">
                <a16:creationId xmlns:a16="http://schemas.microsoft.com/office/drawing/2014/main" id="{0D925115-35B8-4852-BDE5-BB1F2D464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2331720" y="4083745"/>
            <a:ext cx="396720" cy="0"/>
          </a:xfrm>
          <a:prstGeom xmlns:a="http://schemas.openxmlformats.org/drawingml/2006/main" prst="line">
            <a:avLst/>
          </a:prstGeom>
          <a:ln xmlns:a="http://schemas.openxmlformats.org/drawingml/2006/main" w="936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6800" rIns="90000" bIns="-46800" anchor="ctr">
            <a:noAutofit/>
          </a:bodyPr>
          <a:lstStyle xmlns:a="http://schemas.openxmlformats.org/drawingml/2006/main"/>
          <a:p xmlns:a="http://schemas.openxmlformats.org/drawingml/2006/main"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0" name="Line 20">
            <a:extLst xmlns:a="http://schemas.openxmlformats.org/drawingml/2006/main">
              <a:ext uri="{FF2B5EF4-FFF2-40B4-BE49-F238E27FC236}">
                <a16:creationId xmlns:a16="http://schemas.microsoft.com/office/drawing/2014/main" id="{98AC8A75-09B8-40E3-8F12-0C36D32DA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1080" y="4124785"/>
            <a:ext cx="426960" cy="0"/>
          </a:xfrm>
          <a:prstGeom xmlns:a="http://schemas.openxmlformats.org/drawingml/2006/main" prst="line">
            <a:avLst/>
          </a:prstGeom>
          <a:ln xmlns:a="http://schemas.openxmlformats.org/drawingml/2006/main" w="936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6800" rIns="90000" bIns="-46800" anchor="ctr">
            <a:noAutofit/>
          </a:bodyPr>
          <a:lstStyle xmlns:a="http://schemas.openxmlformats.org/drawingml/2006/main"/>
          <a:p xmlns:a="http://schemas.openxmlformats.org/drawingml/2006/main"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2" name="Oval 22">
            <a:extLst xmlns:a="http://schemas.openxmlformats.org/drawingml/2006/main">
              <a:ext uri="{FF2B5EF4-FFF2-40B4-BE49-F238E27FC236}">
                <a16:creationId xmlns:a16="http://schemas.microsoft.com/office/drawing/2014/main" id="{20400164-6784-4A02-8AF9-7F78D32E2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8440" y="4388665"/>
            <a:ext cx="746280" cy="21096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36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3" name="Line 23">
            <a:extLst xmlns:a="http://schemas.openxmlformats.org/drawingml/2006/main">
              <a:ext uri="{FF2B5EF4-FFF2-40B4-BE49-F238E27FC236}">
                <a16:creationId xmlns:a16="http://schemas.microsoft.com/office/drawing/2014/main" id="{C74F897E-E733-444D-8251-5F10961F5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2331720" y="4494865"/>
            <a:ext cx="396720" cy="0"/>
          </a:xfrm>
          <a:prstGeom xmlns:a="http://schemas.openxmlformats.org/drawingml/2006/main" prst="line">
            <a:avLst/>
          </a:prstGeom>
          <a:ln xmlns:a="http://schemas.openxmlformats.org/drawingml/2006/main" w="936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6800" rIns="90000" bIns="-46800" anchor="ctr">
            <a:noAutofit/>
          </a:bodyPr>
          <a:lstStyle xmlns:a="http://schemas.openxmlformats.org/drawingml/2006/main"/>
          <a:p xmlns:a="http://schemas.openxmlformats.org/drawingml/2006/main"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4" name="Oval 24">
            <a:extLst xmlns:a="http://schemas.openxmlformats.org/drawingml/2006/main">
              <a:ext uri="{FF2B5EF4-FFF2-40B4-BE49-F238E27FC236}">
                <a16:creationId xmlns:a16="http://schemas.microsoft.com/office/drawing/2014/main" id="{A57A58A3-B9E8-404B-B624-20ACEE5FC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2240" y="4361665"/>
            <a:ext cx="958680" cy="27288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36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9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7C4DD9E6-7CF7-4BF5-B620-285F169F3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080" y="5213330"/>
            <a:ext cx="639720" cy="24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36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E1</a:t>
            </a:r>
            <a:endParaRPr sz="14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0" name="Line 30">
            <a:extLst xmlns:a="http://schemas.openxmlformats.org/drawingml/2006/main">
              <a:ext uri="{FF2B5EF4-FFF2-40B4-BE49-F238E27FC236}">
                <a16:creationId xmlns:a16="http://schemas.microsoft.com/office/drawing/2014/main" id="{55A9BE2A-666F-4832-8C73-FB6F94D29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3640" y="5340410"/>
            <a:ext cx="487440" cy="0"/>
          </a:xfrm>
          <a:prstGeom xmlns:a="http://schemas.openxmlformats.org/drawingml/2006/main" prst="line">
            <a:avLst/>
          </a:prstGeom>
          <a:ln xmlns:a="http://schemas.openxmlformats.org/drawingml/2006/main" w="936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6800" rIns="90000" bIns="-46800" anchor="ctr">
            <a:noAutofit/>
          </a:bodyPr>
          <a:lstStyle xmlns:a="http://schemas.openxmlformats.org/drawingml/2006/main"/>
          <a:p xmlns:a="http://schemas.openxmlformats.org/drawingml/2006/main"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1" name="Text Box 31">
            <a:extLst xmlns:a="http://schemas.openxmlformats.org/drawingml/2006/main">
              <a:ext uri="{FF2B5EF4-FFF2-40B4-BE49-F238E27FC236}">
                <a16:creationId xmlns:a16="http://schemas.microsoft.com/office/drawing/2014/main" id="{541C1471-A2CD-44F6-A9FB-189A661CA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3160" y="5207210"/>
            <a:ext cx="282240" cy="27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90000" tIns="46800" rIns="90000" bIns="4680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</a:t>
            </a:r>
            <a:endParaRPr sz="12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2" name="Line 32">
            <a:extLst xmlns:a="http://schemas.openxmlformats.org/drawingml/2006/main">
              <a:ext uri="{FF2B5EF4-FFF2-40B4-BE49-F238E27FC236}">
                <a16:creationId xmlns:a16="http://schemas.microsoft.com/office/drawing/2014/main" id="{CA8AD417-C80F-464A-90BD-1B26568BA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2520" y="5306930"/>
            <a:ext cx="1176480" cy="0"/>
          </a:xfrm>
          <a:prstGeom xmlns:a="http://schemas.openxmlformats.org/drawingml/2006/main" prst="line">
            <a:avLst/>
          </a:prstGeom>
          <a:ln xmlns:a="http://schemas.openxmlformats.org/drawingml/2006/main" w="936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6800" rIns="90000" bIns="-46800" anchor="ctr">
            <a:noAutofit/>
          </a:bodyPr>
          <a:lstStyle xmlns:a="http://schemas.openxmlformats.org/drawingml/2006/main"/>
          <a:p xmlns:a="http://schemas.openxmlformats.org/drawingml/2006/main"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3" name="Line 33">
            <a:extLst xmlns:a="http://schemas.openxmlformats.org/drawingml/2006/main">
              <a:ext uri="{FF2B5EF4-FFF2-40B4-BE49-F238E27FC236}">
                <a16:creationId xmlns:a16="http://schemas.microsoft.com/office/drawing/2014/main" id="{294EA10E-E7D8-4B67-B554-D83F39D7F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2120" y="5353010"/>
            <a:ext cx="1136880" cy="0"/>
          </a:xfrm>
          <a:prstGeom xmlns:a="http://schemas.openxmlformats.org/drawingml/2006/main" prst="line">
            <a:avLst/>
          </a:prstGeom>
          <a:ln xmlns:a="http://schemas.openxmlformats.org/drawingml/2006/main" w="936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6800" rIns="90000" bIns="-46800" anchor="ctr">
            <a:noAutofit/>
          </a:bodyPr>
          <a:lstStyle xmlns:a="http://schemas.openxmlformats.org/drawingml/2006/main"/>
          <a:p xmlns:a="http://schemas.openxmlformats.org/drawingml/2006/main"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4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526CBDD6-0EA8-41F5-B4B8-88168CF0B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213330"/>
            <a:ext cx="639720" cy="241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36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E2</a:t>
            </a:r>
            <a:endParaRPr sz="14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5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D35C0E5B-45D6-4E78-AD9A-671932617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080" y="5638850"/>
            <a:ext cx="639720" cy="24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36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E1</a:t>
            </a:r>
            <a:endParaRPr sz="14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6" name="Line 36">
            <a:extLst xmlns:a="http://schemas.openxmlformats.org/drawingml/2006/main">
              <a:ext uri="{FF2B5EF4-FFF2-40B4-BE49-F238E27FC236}">
                <a16:creationId xmlns:a16="http://schemas.microsoft.com/office/drawing/2014/main" id="{9A04B6A0-25BB-4B2C-A95F-8DDEFE2CB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3640" y="5765930"/>
            <a:ext cx="487440" cy="0"/>
          </a:xfrm>
          <a:prstGeom xmlns:a="http://schemas.openxmlformats.org/drawingml/2006/main" prst="line">
            <a:avLst/>
          </a:prstGeom>
          <a:ln xmlns:a="http://schemas.openxmlformats.org/drawingml/2006/main" w="936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6800" rIns="90000" bIns="-46800" anchor="ctr">
            <a:noAutofit/>
          </a:bodyPr>
          <a:lstStyle xmlns:a="http://schemas.openxmlformats.org/drawingml/2006/main"/>
          <a:p xmlns:a="http://schemas.openxmlformats.org/drawingml/2006/main"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7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84BF0CF2-61F7-457C-92FB-90227773E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22800">
            <a:off x="2037960" y="5637050"/>
            <a:ext cx="253800" cy="25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36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rot="10800000" vert="eaVert" wrap="none" lIns="46800" tIns="90000" rIns="46800" bIns="90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8" name="Text Box 38">
            <a:extLst xmlns:a="http://schemas.openxmlformats.org/drawingml/2006/main">
              <a:ext uri="{FF2B5EF4-FFF2-40B4-BE49-F238E27FC236}">
                <a16:creationId xmlns:a16="http://schemas.microsoft.com/office/drawing/2014/main" id="{B9353E7C-E892-4F4D-B1BB-FC9EBEEAB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3640" y="5634170"/>
            <a:ext cx="282240" cy="27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90000" tIns="46800" rIns="90000" bIns="4680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</a:t>
            </a:r>
            <a:endParaRPr sz="12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9" name="Line 39">
            <a:extLst xmlns:a="http://schemas.openxmlformats.org/drawingml/2006/main">
              <a:ext uri="{FF2B5EF4-FFF2-40B4-BE49-F238E27FC236}">
                <a16:creationId xmlns:a16="http://schemas.microsoft.com/office/drawing/2014/main" id="{BA283B48-0B14-4B27-AA0B-10B71F05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1960" y="5769170"/>
            <a:ext cx="731880" cy="0"/>
          </a:xfrm>
          <a:prstGeom xmlns:a="http://schemas.openxmlformats.org/drawingml/2006/main" prst="line">
            <a:avLst/>
          </a:prstGeom>
          <a:ln xmlns:a="http://schemas.openxmlformats.org/drawingml/2006/main" w="936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6800" rIns="90000" bIns="-46800" anchor="ctr">
            <a:noAutofit/>
          </a:bodyPr>
          <a:lstStyle xmlns:a="http://schemas.openxmlformats.org/drawingml/2006/main"/>
          <a:p xmlns:a="http://schemas.openxmlformats.org/drawingml/2006/main"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0" name="Text Box 40">
            <a:extLst xmlns:a="http://schemas.openxmlformats.org/drawingml/2006/main">
              <a:ext uri="{FF2B5EF4-FFF2-40B4-BE49-F238E27FC236}">
                <a16:creationId xmlns:a16="http://schemas.microsoft.com/office/drawing/2014/main" id="{6D29897D-BC65-4C3A-94C5-21AA5F1A1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9800" y="5543810"/>
            <a:ext cx="290880" cy="27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90000" tIns="46800" rIns="90000" bIns="4680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</a:t>
            </a:r>
            <a:endParaRPr sz="12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1" name="Rectangle 41">
            <a:extLst xmlns:a="http://schemas.openxmlformats.org/drawingml/2006/main">
              <a:ext uri="{FF2B5EF4-FFF2-40B4-BE49-F238E27FC236}">
                <a16:creationId xmlns:a16="http://schemas.microsoft.com/office/drawing/2014/main" id="{CFC37517-EC8E-414B-AC94-73F09A171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3840" y="5650010"/>
            <a:ext cx="639720" cy="24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36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E2</a:t>
            </a:r>
            <a:endParaRPr sz="14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2" name="Line 42">
            <a:extLst xmlns:a="http://schemas.openxmlformats.org/drawingml/2006/main">
              <a:ext uri="{FF2B5EF4-FFF2-40B4-BE49-F238E27FC236}">
                <a16:creationId xmlns:a16="http://schemas.microsoft.com/office/drawing/2014/main" id="{09C73F9D-0872-4AA1-8308-31A21FCA5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3640" y="6242210"/>
            <a:ext cx="487440" cy="0"/>
          </a:xfrm>
          <a:prstGeom xmlns:a="http://schemas.openxmlformats.org/drawingml/2006/main" prst="line">
            <a:avLst/>
          </a:prstGeom>
          <a:ln xmlns:a="http://schemas.openxmlformats.org/drawingml/2006/main" w="936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6800" rIns="90000" bIns="-46800" anchor="ctr">
            <a:noAutofit/>
          </a:bodyPr>
          <a:lstStyle xmlns:a="http://schemas.openxmlformats.org/drawingml/2006/main"/>
          <a:p xmlns:a="http://schemas.openxmlformats.org/drawingml/2006/main"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3" name="Rectangle 43">
            <a:extLst xmlns:a="http://schemas.openxmlformats.org/drawingml/2006/main">
              <a:ext uri="{FF2B5EF4-FFF2-40B4-BE49-F238E27FC236}">
                <a16:creationId xmlns:a16="http://schemas.microsoft.com/office/drawing/2014/main" id="{0C57A37F-C9BD-46E2-BE3A-09772C3C9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22800">
            <a:off x="2037960" y="6113330"/>
            <a:ext cx="253800" cy="25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36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rot="10800000" vert="eaVert" wrap="none" lIns="46800" tIns="90000" rIns="46800" bIns="90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4" name="Text Box 44">
            <a:extLst xmlns:a="http://schemas.openxmlformats.org/drawingml/2006/main">
              <a:ext uri="{FF2B5EF4-FFF2-40B4-BE49-F238E27FC236}">
                <a16:creationId xmlns:a16="http://schemas.microsoft.com/office/drawing/2014/main" id="{84291EBC-048C-405A-ADA9-4B0AC95C1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3640" y="6110450"/>
            <a:ext cx="282240" cy="27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90000" tIns="46800" rIns="90000" bIns="4680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</a:t>
            </a:r>
            <a:endParaRPr sz="12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5" name="Line 45">
            <a:extLst xmlns:a="http://schemas.openxmlformats.org/drawingml/2006/main">
              <a:ext uri="{FF2B5EF4-FFF2-40B4-BE49-F238E27FC236}">
                <a16:creationId xmlns:a16="http://schemas.microsoft.com/office/drawing/2014/main" id="{B86F2DB2-F1CA-40B9-850D-F27A44BF8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1960" y="6245450"/>
            <a:ext cx="731880" cy="0"/>
          </a:xfrm>
          <a:prstGeom xmlns:a="http://schemas.openxmlformats.org/drawingml/2006/main" prst="line">
            <a:avLst/>
          </a:prstGeom>
          <a:ln xmlns:a="http://schemas.openxmlformats.org/drawingml/2006/main" w="936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6800" rIns="90000" bIns="-46800" anchor="ctr">
            <a:noAutofit/>
          </a:bodyPr>
          <a:lstStyle xmlns:a="http://schemas.openxmlformats.org/drawingml/2006/main"/>
          <a:p xmlns:a="http://schemas.openxmlformats.org/drawingml/2006/main"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6" name="Text Box 46">
            <a:extLst xmlns:a="http://schemas.openxmlformats.org/drawingml/2006/main">
              <a:ext uri="{FF2B5EF4-FFF2-40B4-BE49-F238E27FC236}">
                <a16:creationId xmlns:a16="http://schemas.microsoft.com/office/drawing/2014/main" id="{634DD8A4-4018-4D25-B193-824DFDDF0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8880" y="6019730"/>
            <a:ext cx="819720" cy="27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90000" tIns="46800" rIns="90000" bIns="468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(min,max)</a:t>
            </a:r>
            <a:endParaRPr sz="12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7" name="Rectangle 47">
            <a:extLst xmlns:a="http://schemas.openxmlformats.org/drawingml/2006/main">
              <a:ext uri="{FF2B5EF4-FFF2-40B4-BE49-F238E27FC236}">
                <a16:creationId xmlns:a16="http://schemas.microsoft.com/office/drawing/2014/main" id="{B75F23AA-7CFC-4873-B5BD-B86B3973A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3840" y="6126290"/>
            <a:ext cx="639720" cy="24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36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</a:t>
            </a:r>
            <a:endParaRPr sz="14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9" name="Oval 49">
            <a:extLst xmlns:a="http://schemas.openxmlformats.org/drawingml/2006/main">
              <a:ext uri="{FF2B5EF4-FFF2-40B4-BE49-F238E27FC236}">
                <a16:creationId xmlns:a16="http://schemas.microsoft.com/office/drawing/2014/main" id="{82025CF4-0525-4BB4-A35E-30F13730B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400" y="4745785"/>
            <a:ext cx="237600" cy="13824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36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0" name="Oval 50">
            <a:extLst xmlns:a="http://schemas.openxmlformats.org/drawingml/2006/main">
              <a:ext uri="{FF2B5EF4-FFF2-40B4-BE49-F238E27FC236}">
                <a16:creationId xmlns:a16="http://schemas.microsoft.com/office/drawing/2014/main" id="{8BEADE71-1BBE-4E28-9EE5-2896DC076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9280" y="4745785"/>
            <a:ext cx="237600" cy="13824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36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1" name="Oval 51">
            <a:extLst xmlns:a="http://schemas.openxmlformats.org/drawingml/2006/main">
              <a:ext uri="{FF2B5EF4-FFF2-40B4-BE49-F238E27FC236}">
                <a16:creationId xmlns:a16="http://schemas.microsoft.com/office/drawing/2014/main" id="{C187F87B-546E-4F71-A7E5-C2A183461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60" y="4745785"/>
            <a:ext cx="237600" cy="13824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36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2" name="Oval 52">
            <a:extLst xmlns:a="http://schemas.openxmlformats.org/drawingml/2006/main">
              <a:ext uri="{FF2B5EF4-FFF2-40B4-BE49-F238E27FC236}">
                <a16:creationId xmlns:a16="http://schemas.microsoft.com/office/drawing/2014/main" id="{7159D5DD-2919-41A5-BF75-65315F5D5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7560" y="4953145"/>
            <a:ext cx="237600" cy="13824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36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3" name="Line 53">
            <a:extLst xmlns:a="http://schemas.openxmlformats.org/drawingml/2006/main">
              <a:ext uri="{FF2B5EF4-FFF2-40B4-BE49-F238E27FC236}">
                <a16:creationId xmlns:a16="http://schemas.microsoft.com/office/drawing/2014/main" id="{5F18E2C0-70B0-4135-B4F4-9F7846A04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2769120" y="5021545"/>
            <a:ext cx="218880" cy="0"/>
          </a:xfrm>
          <a:prstGeom xmlns:a="http://schemas.openxmlformats.org/drawingml/2006/main" prst="line">
            <a:avLst/>
          </a:prstGeom>
          <a:ln xmlns:a="http://schemas.openxmlformats.org/drawingml/2006/main" w="936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6800" rIns="90000" bIns="-46800" anchor="ctr">
            <a:noAutofit/>
          </a:bodyPr>
          <a:lstStyle xmlns:a="http://schemas.openxmlformats.org/drawingml/2006/main"/>
          <a:p xmlns:a="http://schemas.openxmlformats.org/drawingml/2006/main"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4" name="Line 54">
            <a:extLst xmlns:a="http://schemas.openxmlformats.org/drawingml/2006/main">
              <a:ext uri="{FF2B5EF4-FFF2-40B4-BE49-F238E27FC236}">
                <a16:creationId xmlns:a16="http://schemas.microsoft.com/office/drawing/2014/main" id="{A13B21D3-661F-4BCE-8438-AE9760A90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000" y="4834705"/>
            <a:ext cx="216720" cy="142560"/>
          </a:xfrm>
          <a:prstGeom xmlns:a="http://schemas.openxmlformats.org/drawingml/2006/main" prst="line">
            <a:avLst/>
          </a:prstGeom>
          <a:ln xmlns:a="http://schemas.openxmlformats.org/drawingml/2006/main" w="936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5" name="Line 55">
            <a:extLst xmlns:a="http://schemas.openxmlformats.org/drawingml/2006/main">
              <a:ext uri="{FF2B5EF4-FFF2-40B4-BE49-F238E27FC236}">
                <a16:creationId xmlns:a16="http://schemas.microsoft.com/office/drawing/2014/main" id="{AA074834-9812-456A-8554-108176D16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9080" y="4874305"/>
            <a:ext cx="68400" cy="88920"/>
          </a:xfrm>
          <a:prstGeom xmlns:a="http://schemas.openxmlformats.org/drawingml/2006/main" prst="line">
            <a:avLst/>
          </a:prstGeom>
          <a:ln xmlns:a="http://schemas.openxmlformats.org/drawingml/2006/main" w="936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2120" rIns="90000" bIns="42120" anchor="ctr">
            <a:noAutofit/>
          </a:bodyPr>
          <a:lstStyle xmlns:a="http://schemas.openxmlformats.org/drawingml/2006/main"/>
          <a:p xmlns:a="http://schemas.openxmlformats.org/drawingml/2006/main"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6" name="Line 56">
            <a:extLst xmlns:a="http://schemas.openxmlformats.org/drawingml/2006/main">
              <a:ext uri="{FF2B5EF4-FFF2-40B4-BE49-F238E27FC236}">
                <a16:creationId xmlns:a16="http://schemas.microsoft.com/office/drawing/2014/main" id="{7D3B61BA-D44F-4E1B-8819-A7C7A364D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206160" y="4884025"/>
            <a:ext cx="187200" cy="109440"/>
          </a:xfrm>
          <a:prstGeom xmlns:a="http://schemas.openxmlformats.org/drawingml/2006/main" prst="line">
            <a:avLst/>
          </a:prstGeom>
          <a:ln xmlns:a="http://schemas.openxmlformats.org/drawingml/2006/main" w="936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7" name="Line 57">
            <a:extLst xmlns:a="http://schemas.openxmlformats.org/drawingml/2006/main">
              <a:ext uri="{FF2B5EF4-FFF2-40B4-BE49-F238E27FC236}">
                <a16:creationId xmlns:a16="http://schemas.microsoft.com/office/drawing/2014/main" id="{B466A21C-97BC-4222-9E34-3F89883E8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6040" y="4815625"/>
            <a:ext cx="149400" cy="0"/>
          </a:xfrm>
          <a:prstGeom xmlns:a="http://schemas.openxmlformats.org/drawingml/2006/main" prst="line">
            <a:avLst/>
          </a:prstGeom>
          <a:ln xmlns:a="http://schemas.openxmlformats.org/drawingml/2006/main" w="936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6800" rIns="90000" bIns="-46800" anchor="ctr">
            <a:noAutofit/>
          </a:bodyPr>
          <a:lstStyle xmlns:a="http://schemas.openxmlformats.org/drawingml/2006/main"/>
          <a:p xmlns:a="http://schemas.openxmlformats.org/drawingml/2006/main"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8" name="Text Box 58">
            <a:extLst xmlns:a="http://schemas.openxmlformats.org/drawingml/2006/main">
              <a:ext uri="{FF2B5EF4-FFF2-40B4-BE49-F238E27FC236}">
                <a16:creationId xmlns:a16="http://schemas.microsoft.com/office/drawing/2014/main" id="{C7AEDCB6-C3B6-4A56-B20C-671A13665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9800" y="5543810"/>
            <a:ext cx="290880" cy="27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90000" tIns="46800" rIns="90000" bIns="4680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</a:t>
            </a:r>
            <a:endParaRPr sz="12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9" name="Rectangle 59">
            <a:extLst xmlns:a="http://schemas.openxmlformats.org/drawingml/2006/main">
              <a:ext uri="{FF2B5EF4-FFF2-40B4-BE49-F238E27FC236}">
                <a16:creationId xmlns:a16="http://schemas.microsoft.com/office/drawing/2014/main" id="{DBE83485-6E70-44CC-BE6F-D91B63B60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22800">
            <a:off x="1998360" y="5211530"/>
            <a:ext cx="253800" cy="254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36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rot="10800000" vert="eaVert" wrap="none" lIns="46800" tIns="90000" rIns="46800" bIns="90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0" name="Rectangle 60">
            <a:extLst xmlns:a="http://schemas.openxmlformats.org/drawingml/2006/main">
              <a:ext uri="{FF2B5EF4-FFF2-40B4-BE49-F238E27FC236}">
                <a16:creationId xmlns:a16="http://schemas.microsoft.com/office/drawing/2014/main" id="{2C5FD7FA-2D61-4AB2-AC5C-BDA4C7E28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0800" y="1746985"/>
            <a:ext cx="901800" cy="314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36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34651776"/>
      </p:ext>
    </p:extLst>
  </p:cSld>
</p:sld>
</file>

<file path=ppt/slides/slide5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1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ADF553B4-FD33-434B-85CC-101CEFB218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7040" y="166320"/>
            <a:ext cx="8381880" cy="131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360" tIns="44280" rIns="90360" bIns="44280" anchor="b">
            <a:noAutofit/>
          </a:bodyPr>
          <a:lstStyle xmlns:a="http://schemas.openxmlformats.org/drawingml/2006/main"/>
          <a:p xmlns:a="http://schemas.openxmlformats.org/drawingml/2006/main"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3600" b="1" i="1" u="none">
                <a:solidFill>
                  <a:srgbClr val="FF0033"/>
                </a:solidFill>
                <a:latin typeface="Arial"/>
                <a:ea typeface="Arial"/>
                <a:cs typeface="Arial"/>
              </a:rPr>
              <a:t>实体—联系模型</a:t>
            </a:r>
          </a:p>
        </p:txBody>
      </p:sp>
      <p:sp>
        <p:nvSpPr>
          <p:cNvPr id="312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4DD5386A-2B37-4774-9467-710EA5F27AF1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560160" y="1785600"/>
            <a:ext cx="8153280" cy="461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360" tIns="44280" rIns="90360" bIns="44280" anchor="t">
            <a:normAutofit fontScale="100000"/>
          </a:bodyPr>
          <a:lstStyle xmlns:a="http://schemas.openxmlformats.org/drawingml/2006/main"/>
          <a:p xmlns:a="http://schemas.openxmlformats.org/drawingml/2006/main">
            <a:pPr marL="343080" indent="-343080" algn="just">
              <a:spcBef>
                <a:spcPts val="601"/>
              </a:spcBef>
              <a:buClr>
                <a:srgbClr val="FF0033"/>
              </a:buClr>
              <a:buSzPct val="75000"/>
              <a:buFont typeface="Zapf Dingbat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完整性约束（续）</a:t>
            </a:r>
          </a:p>
          <a:p xmlns:a="http://schemas.openxmlformats.org/drawingml/2006/main"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键：用于区分各个实体或联系</a:t>
            </a:r>
          </a:p>
          <a:p xmlns:a="http://schemas.openxmlformats.org/drawingml/2006/main">
            <a:pPr marL="1143000" lvl="2" indent="-228600" algn="l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1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超键——由一个或多个属性组成，合在一起能唯一标识实体集中的一个实体</a:t>
            </a:r>
          </a:p>
          <a:p xmlns:a="http://schemas.openxmlformats.org/drawingml/2006/main">
            <a:pPr marL="1600200" lvl="3" indent="-228600" algn="l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sng">
                <a:solidFill>
                  <a:srgbClr val="3333CC"/>
                </a:solidFill>
                <a:latin typeface="Arial"/>
                <a:ea typeface="Arial"/>
                <a:cs typeface="Arial"/>
              </a:rPr>
              <a:t>示例：{学号，姓名} 可以标识一名学生</a:t>
            </a:r>
          </a:p>
          <a:p xmlns:a="http://schemas.openxmlformats.org/drawingml/2006/main">
            <a:pPr marL="1143000" lvl="2" indent="-228600" algn="l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1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候选键——能够唯一标识实体集中一个实体的最小属性集</a:t>
            </a:r>
          </a:p>
          <a:p xmlns:a="http://schemas.openxmlformats.org/drawingml/2006/main">
            <a:pPr marL="1600200" lvl="3" indent="-228600" algn="l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其任何真子集都不是超键的超键</a:t>
            </a:r>
          </a:p>
          <a:p xmlns:a="http://schemas.openxmlformats.org/drawingml/2006/main">
            <a:pPr marL="1600200" lvl="3" indent="-228600" algn="l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sng">
                <a:solidFill>
                  <a:srgbClr val="3333CC"/>
                </a:solidFill>
                <a:latin typeface="Arial"/>
                <a:ea typeface="Arial"/>
                <a:cs typeface="Arial"/>
              </a:rPr>
              <a:t>示例：学号可以标识一名学生，</a:t>
            </a:r>
          </a:p>
          <a:p xmlns:a="http://schemas.openxmlformats.org/drawingml/2006/main">
            <a:pPr marL="1166400" lvl="4" indent="-129600" algn="l">
              <a:spcBef>
                <a:spcPts val="499"/>
              </a:spcBef>
              <a:buNone/>
              <a:tabLst>
                <a:tab pos="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              但姓名不是候选键（为什么？）</a:t>
            </a:r>
          </a:p>
          <a:p xmlns:a="http://schemas.openxmlformats.org/drawingml/2006/main">
            <a:pPr marL="1143000" lvl="2" indent="-228600" algn="l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1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主键——数据库设计者选定、用于标识实体集中一个实体的候选键</a:t>
            </a:r>
          </a:p>
        </p:txBody>
      </p:sp>
    </p:spTree>
    <p:extLst>
      <p:ext uri="{BB962C8B-B14F-4D97-AF65-F5344CB8AC3E}">
        <p14:creationId xmlns:p14="http://schemas.microsoft.com/office/powerpoint/2010/main" val="1411499664"/>
      </p:ext>
    </p:extLst>
  </p:cSld>
</p:sld>
</file>

<file path=ppt/slides/slide5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BC8560CB-6B93-4611-ABAC-6DC810565D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7040" y="166320"/>
            <a:ext cx="8381880" cy="131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360" tIns="44280" rIns="90360" bIns="44280" anchor="b">
            <a:noAutofit/>
          </a:bodyPr>
          <a:lstStyle xmlns:a="http://schemas.openxmlformats.org/drawingml/2006/main"/>
          <a:p xmlns:a="http://schemas.openxmlformats.org/drawingml/2006/main"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3600" b="1" i="1" u="none">
                <a:solidFill>
                  <a:srgbClr val="FF0033"/>
                </a:solidFill>
                <a:latin typeface="Arial"/>
                <a:ea typeface="Arial"/>
                <a:cs typeface="Arial"/>
              </a:rPr>
              <a:t>实体—联系模型</a:t>
            </a:r>
          </a:p>
        </p:txBody>
      </p:sp>
      <p:sp>
        <p:nvSpPr>
          <p:cNvPr id="31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2003B441-492B-49ED-A475-0083E4D714D6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560160" y="1785600"/>
            <a:ext cx="8153280" cy="461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360" tIns="44280" rIns="90360" bIns="44280" anchor="t">
            <a:normAutofit fontScale="100000"/>
          </a:bodyPr>
          <a:lstStyle xmlns:a="http://schemas.openxmlformats.org/drawingml/2006/main"/>
          <a:p xmlns:a="http://schemas.openxmlformats.org/drawingml/2006/main">
            <a:pPr marL="343080" indent="-343080" algn="just">
              <a:spcBef>
                <a:spcPts val="700"/>
              </a:spcBef>
              <a:buClr>
                <a:srgbClr val="FF0033"/>
              </a:buClr>
              <a:buSzPct val="75000"/>
              <a:buFont typeface="Zapf Dingbat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8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完整性约束（续）</a:t>
            </a:r>
          </a:p>
          <a:p xmlns:a="http://schemas.openxmlformats.org/drawingml/2006/main">
            <a:pPr marL="743040" lvl="1" indent="-285840" algn="just">
              <a:spcBef>
                <a:spcPts val="550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2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键：用于区分各个实体或联系</a:t>
            </a:r>
          </a:p>
          <a:p xmlns:a="http://schemas.openxmlformats.org/drawingml/2006/main">
            <a:pPr marL="743040" lvl="1" indent="-285840" algn="just">
              <a:spcBef>
                <a:spcPts val="550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2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插入／删除约束：⇒ “强”实体与“弱”实体</a:t>
            </a:r>
          </a:p>
          <a:p xmlns:a="http://schemas.openxmlformats.org/drawingml/2006/main">
            <a:pPr marL="343080" indent="-343080" algn="just">
              <a:spcBef>
                <a:spcPts val="601"/>
              </a:spcBef>
              <a:buClr>
                <a:srgbClr val="FF0033"/>
              </a:buClr>
              <a:buSzPct val="75000"/>
              <a:buFont typeface="Zapf Dingbat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ER 图表示法</a:t>
            </a:r>
          </a:p>
          <a:p xmlns:a="http://schemas.openxmlformats.org/drawingml/2006/main">
            <a:pPr marL="743040" lvl="1" indent="-285840" algn="just">
              <a:spcBef>
                <a:spcPts val="601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矩形：实体集</a:t>
            </a:r>
          </a:p>
          <a:p xmlns:a="http://schemas.openxmlformats.org/drawingml/2006/main">
            <a:pPr marL="743040" lvl="1" indent="-285840" algn="just">
              <a:spcBef>
                <a:spcPts val="601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菱形：联系集</a:t>
            </a:r>
          </a:p>
          <a:p xmlns:a="http://schemas.openxmlformats.org/drawingml/2006/main">
            <a:pPr marL="743040" lvl="1" indent="-285840" algn="just">
              <a:spcBef>
                <a:spcPts val="601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椭圆：属性</a:t>
            </a:r>
          </a:p>
          <a:p xmlns:a="http://schemas.openxmlformats.org/drawingml/2006/main">
            <a:pPr marL="743040" lvl="1" indent="-285840" algn="just">
              <a:spcBef>
                <a:spcPts val="601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其他表示法（例如双矩形表示“弱实体集”、双椭圆表示“多值属性”、带下划线的属性表示键等）</a:t>
            </a:r>
          </a:p>
          <a:p xmlns:a="http://schemas.openxmlformats.org/drawingml/2006/main">
            <a:pPr marL="194400" indent="-194400" algn="just">
              <a:spcBef>
                <a:spcPts val="6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400" b="0" u="none">
              <a:solidFill>
                <a:srgbClr val="3333CC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73068602"/>
      </p:ext>
    </p:extLst>
  </p:cSld>
</p:sld>
</file>

<file path=ppt/slides/slide5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5" name="Line 2">
            <a:extLst xmlns:a="http://schemas.openxmlformats.org/drawingml/2006/main">
              <a:ext uri="{FF2B5EF4-FFF2-40B4-BE49-F238E27FC236}">
                <a16:creationId xmlns:a16="http://schemas.microsoft.com/office/drawing/2014/main" id="{55672DD4-A418-4F50-BE9D-78C183E68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360" y="5867280"/>
            <a:ext cx="2210040" cy="0"/>
          </a:xfrm>
          <a:prstGeom xmlns:a="http://schemas.openxmlformats.org/drawingml/2006/main" prst="line">
            <a:avLst/>
          </a:prstGeom>
          <a:ln xmlns:a="http://schemas.openxmlformats.org/drawingml/2006/main" w="12600">
            <a:solidFill>
              <a:srgbClr val="000000"/>
            </a:solidFill>
            <a:head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6800" rIns="90000" bIns="-46800" anchor="ctr">
            <a:noAutofit/>
          </a:bodyPr>
          <a:lstStyle xmlns:a="http://schemas.openxmlformats.org/drawingml/2006/main"/>
          <a:p xmlns:a="http://schemas.openxmlformats.org/drawingml/2006/main"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6" name="Line 3">
            <a:extLst xmlns:a="http://schemas.openxmlformats.org/drawingml/2006/main">
              <a:ext uri="{FF2B5EF4-FFF2-40B4-BE49-F238E27FC236}">
                <a16:creationId xmlns:a16="http://schemas.microsoft.com/office/drawing/2014/main" id="{99C3F60F-A735-4E52-A217-8B7D330E6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360" y="6172200"/>
            <a:ext cx="2362320" cy="0"/>
          </a:xfrm>
          <a:prstGeom xmlns:a="http://schemas.openxmlformats.org/drawingml/2006/main" prst="line">
            <a:avLst/>
          </a:prstGeom>
          <a:ln xmlns:a="http://schemas.openxmlformats.org/drawingml/2006/main" w="1260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6800" rIns="90000" bIns="-46800" anchor="ctr">
            <a:noAutofit/>
          </a:bodyPr>
          <a:lstStyle xmlns:a="http://schemas.openxmlformats.org/drawingml/2006/main"/>
          <a:p xmlns:a="http://schemas.openxmlformats.org/drawingml/2006/main"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7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7F6729AC-E3CC-4EAB-A4BC-176E4B0247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7040" y="166320"/>
            <a:ext cx="8381880" cy="131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360" tIns="44280" rIns="90360" bIns="44280" anchor="b">
            <a:noAutofit/>
          </a:bodyPr>
          <a:lstStyle xmlns:a="http://schemas.openxmlformats.org/drawingml/2006/main"/>
          <a:p xmlns:a="http://schemas.openxmlformats.org/drawingml/2006/main"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3600" b="1" i="1" u="none">
                <a:solidFill>
                  <a:srgbClr val="FF0033"/>
                </a:solidFill>
                <a:latin typeface="Arial"/>
                <a:ea typeface="Arial"/>
                <a:cs typeface="Arial"/>
              </a:rPr>
              <a:t>实体—联系模型</a:t>
            </a:r>
          </a:p>
        </p:txBody>
      </p:sp>
      <p:sp>
        <p:nvSpPr>
          <p:cNvPr id="319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6912EBC-0D9B-4E02-9559-F673603C0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880" y="1600200"/>
            <a:ext cx="8153280" cy="4614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360" tIns="44280" rIns="90360" bIns="44280" anchor="t">
            <a:normAutofit fontScale="100000"/>
          </a:bodyPr>
          <a:lstStyle xmlns:a="http://schemas.openxmlformats.org/drawingml/2006/main"/>
          <a:p xmlns:a="http://schemas.openxmlformats.org/drawingml/2006/main">
            <a:pPr marL="342720" indent="-342720" algn="just">
              <a:spcBef>
                <a:spcPts val="601"/>
              </a:spcBef>
              <a:buClr>
                <a:srgbClr val="FF0033"/>
              </a:buClr>
              <a:buSzPct val="75000"/>
              <a:buFont typeface="Zapf Dingbat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弱实体集</a:t>
            </a:r>
            <a:endParaRPr sz="24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42680" lvl="1" indent="-28548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没有足够属性构成主键／候选键的实体集</a:t>
            </a: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421200" lvl="1" indent="-162000" algn="just"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421200" lvl="1" indent="-162000" algn="just"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421200" lvl="1" indent="-162000" algn="just"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421200" lvl="1" indent="-162000" algn="just"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421200" lvl="1" indent="-162000" algn="just"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42720" indent="-342720" algn="just">
              <a:spcBef>
                <a:spcPts val="499"/>
              </a:spcBef>
              <a:buClr>
                <a:srgbClr val="FF0033"/>
              </a:buClr>
              <a:buSzPct val="75000"/>
              <a:buFont typeface="Zapf Dingbat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角色标志</a:t>
            </a: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166400" lvl="4" indent="-129600" algn="just">
              <a:spcBef>
                <a:spcPts val="499"/>
              </a:spcBef>
              <a:buNone/>
              <a:tabLst>
                <a:tab pos="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0" name="Text Box 7">
            <a:extLst xmlns:a="http://schemas.openxmlformats.org/drawingml/2006/main">
              <a:ext uri="{FF2B5EF4-FFF2-40B4-BE49-F238E27FC236}">
                <a16:creationId xmlns:a16="http://schemas.microsoft.com/office/drawing/2014/main" id="{DC8AD821-3A78-4A85-820D-644112045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7120" y="3733560"/>
            <a:ext cx="996480" cy="398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60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90000" tIns="46800" rIns="90000" bIns="46800" anchor="t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账户</a:t>
            </a: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1" name="AutoShape 8">
            <a:extLst xmlns:a="http://schemas.openxmlformats.org/drawingml/2006/main">
              <a:ext uri="{FF2B5EF4-FFF2-40B4-BE49-F238E27FC236}">
                <a16:creationId xmlns:a16="http://schemas.microsoft.com/office/drawing/2014/main" id="{078012D2-F3A3-4EFB-A55A-E809CC084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152600" y="3619440"/>
            <a:ext cx="609480" cy="685800"/>
          </a:xfrm>
          <a:prstGeom xmlns:a="http://schemas.openxmlformats.org/drawingml/2006/main" prst="triangle">
            <a:avLst>
              <a:gd name="adj" fmla="val 50000"/>
            </a:avLst>
          </a:prstGeom>
          <a:solidFill xmlns:a="http://schemas.openxmlformats.org/drawingml/2006/main">
            <a:srgbClr val="00CC99"/>
          </a:solidFill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2" name="AutoShape 9">
            <a:extLst xmlns:a="http://schemas.openxmlformats.org/drawingml/2006/main">
              <a:ext uri="{FF2B5EF4-FFF2-40B4-BE49-F238E27FC236}">
                <a16:creationId xmlns:a16="http://schemas.microsoft.com/office/drawing/2014/main" id="{1D0E9049-665D-41C9-A32A-025B8B112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3467160" y="3619080"/>
            <a:ext cx="609480" cy="685800"/>
          </a:xfrm>
          <a:prstGeom xmlns:a="http://schemas.openxmlformats.org/drawingml/2006/main" prst="triangle">
            <a:avLst>
              <a:gd name="adj" fmla="val 50000"/>
            </a:avLst>
          </a:prstGeom>
          <a:solidFill xmlns:a="http://schemas.openxmlformats.org/drawingml/2006/main">
            <a:srgbClr val="00CC99"/>
          </a:solidFill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3" name="Text Box 10">
            <a:extLst xmlns:a="http://schemas.openxmlformats.org/drawingml/2006/main">
              <a:ext uri="{FF2B5EF4-FFF2-40B4-BE49-F238E27FC236}">
                <a16:creationId xmlns:a16="http://schemas.microsoft.com/office/drawing/2014/main" id="{D4ED7C2C-6764-45C1-B22C-103DB2237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733560"/>
            <a:ext cx="609480" cy="7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125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1" u="none">
                <a:solidFill>
                  <a:srgbClr val="FD020F"/>
                </a:solidFill>
                <a:latin typeface="Arial"/>
                <a:ea typeface="Arial"/>
                <a:cs typeface="Arial"/>
              </a:rPr>
              <a:t>日志</a:t>
            </a:r>
          </a:p>
        </p:txBody>
      </p:sp>
      <p:sp>
        <p:nvSpPr>
          <p:cNvPr id="324" name="Text Box 11">
            <a:extLst xmlns:a="http://schemas.openxmlformats.org/drawingml/2006/main">
              <a:ext uri="{FF2B5EF4-FFF2-40B4-BE49-F238E27FC236}">
                <a16:creationId xmlns:a16="http://schemas.microsoft.com/office/drawing/2014/main" id="{D140CCED-9EA7-40BA-B964-FC01D6FF3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560" y="3733560"/>
            <a:ext cx="1447920" cy="398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60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交易</a:t>
            </a: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5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F2387AC4-F065-4366-A3C7-6D5C87D5A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657600"/>
            <a:ext cx="1600200" cy="533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60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6" name="Oval 13">
            <a:extLst xmlns:a="http://schemas.openxmlformats.org/drawingml/2006/main">
              <a:ext uri="{FF2B5EF4-FFF2-40B4-BE49-F238E27FC236}">
                <a16:creationId xmlns:a16="http://schemas.microsoft.com/office/drawing/2014/main" id="{C88A76A3-7909-45D3-BAE9-BBF97C22D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360" y="2895480"/>
            <a:ext cx="1295640" cy="53352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260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7" name="Text Box 14">
            <a:extLst xmlns:a="http://schemas.openxmlformats.org/drawingml/2006/main">
              <a:ext uri="{FF2B5EF4-FFF2-40B4-BE49-F238E27FC236}">
                <a16:creationId xmlns:a16="http://schemas.microsoft.com/office/drawing/2014/main" id="{AE43CB9A-E6A6-4854-B526-53E8DF7DB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71800"/>
            <a:ext cx="1218960" cy="398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125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FD020F"/>
                </a:solidFill>
                <a:latin typeface="Arial"/>
                <a:ea typeface="Arial"/>
                <a:cs typeface="Arial"/>
              </a:rPr>
              <a:t>账户号</a:t>
            </a: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8" name="Oval 15">
            <a:extLst xmlns:a="http://schemas.openxmlformats.org/drawingml/2006/main">
              <a:ext uri="{FF2B5EF4-FFF2-40B4-BE49-F238E27FC236}">
                <a16:creationId xmlns:a16="http://schemas.microsoft.com/office/drawing/2014/main" id="{CB0C93F6-0780-439B-890E-CBFA96453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560" y="2895480"/>
            <a:ext cx="1295640" cy="53352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260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9" name="Text Box 16">
            <a:extLst xmlns:a="http://schemas.openxmlformats.org/drawingml/2006/main">
              <a:ext uri="{FF2B5EF4-FFF2-40B4-BE49-F238E27FC236}">
                <a16:creationId xmlns:a16="http://schemas.microsoft.com/office/drawing/2014/main" id="{79FF8598-2EBD-44D7-824B-0E7EF79BF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6880" y="2971800"/>
            <a:ext cx="1219320" cy="398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125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FD020F"/>
                </a:solidFill>
                <a:latin typeface="Arial"/>
                <a:ea typeface="Arial"/>
                <a:cs typeface="Arial"/>
              </a:rPr>
              <a:t>余额</a:t>
            </a: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0" name="Line 17">
            <a:extLst xmlns:a="http://schemas.openxmlformats.org/drawingml/2006/main">
              <a:ext uri="{FF2B5EF4-FFF2-40B4-BE49-F238E27FC236}">
                <a16:creationId xmlns:a16="http://schemas.microsoft.com/office/drawing/2014/main" id="{BAED5B5C-8512-4917-98FA-90C3D1C60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429000"/>
            <a:ext cx="609480" cy="304560"/>
          </a:xfrm>
          <a:prstGeom xmlns:a="http://schemas.openxmlformats.org/drawingml/2006/main" prst="line">
            <a:avLst/>
          </a:prstGeom>
          <a:ln xmlns:a="http://schemas.openxmlformats.org/drawingml/2006/main" w="1260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1" name="Line 18">
            <a:extLst xmlns:a="http://schemas.openxmlformats.org/drawingml/2006/main">
              <a:ext uri="{FF2B5EF4-FFF2-40B4-BE49-F238E27FC236}">
                <a16:creationId xmlns:a16="http://schemas.microsoft.com/office/drawing/2014/main" id="{B42E5C05-C6DC-4692-A8CF-A346B2BD1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514600" y="3429000"/>
            <a:ext cx="685800" cy="304560"/>
          </a:xfrm>
          <a:prstGeom xmlns:a="http://schemas.openxmlformats.org/drawingml/2006/main" prst="line">
            <a:avLst/>
          </a:prstGeom>
          <a:ln xmlns:a="http://schemas.openxmlformats.org/drawingml/2006/main" w="1260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2" name="Line 19">
            <a:extLst xmlns:a="http://schemas.openxmlformats.org/drawingml/2006/main">
              <a:ext uri="{FF2B5EF4-FFF2-40B4-BE49-F238E27FC236}">
                <a16:creationId xmlns:a16="http://schemas.microsoft.com/office/drawing/2014/main" id="{7F3F1735-C0AA-41AF-900C-C416F3A06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2819160" y="3962160"/>
            <a:ext cx="609840" cy="0"/>
          </a:xfrm>
          <a:prstGeom xmlns:a="http://schemas.openxmlformats.org/drawingml/2006/main" prst="line">
            <a:avLst/>
          </a:prstGeom>
          <a:ln xmlns:a="http://schemas.openxmlformats.org/drawingml/2006/main" w="12600">
            <a:solidFill>
              <a:srgbClr val="000000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6800" rIns="90000" bIns="-46800" anchor="ctr">
            <a:noAutofit/>
          </a:bodyPr>
          <a:lstStyle xmlns:a="http://schemas.openxmlformats.org/drawingml/2006/main"/>
          <a:p xmlns:a="http://schemas.openxmlformats.org/drawingml/2006/main"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3" name="Line 20">
            <a:extLst xmlns:a="http://schemas.openxmlformats.org/drawingml/2006/main">
              <a:ext uri="{FF2B5EF4-FFF2-40B4-BE49-F238E27FC236}">
                <a16:creationId xmlns:a16="http://schemas.microsoft.com/office/drawing/2014/main" id="{98AC1D24-FA75-453E-96C2-EA3336AA5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280" y="3962160"/>
            <a:ext cx="1219320" cy="0"/>
          </a:xfrm>
          <a:prstGeom xmlns:a="http://schemas.openxmlformats.org/drawingml/2006/main" prst="line">
            <a:avLst/>
          </a:prstGeom>
          <a:ln xmlns:a="http://schemas.openxmlformats.org/drawingml/2006/main" w="1260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6800" rIns="90000" bIns="-46800" anchor="ctr">
            <a:noAutofit/>
          </a:bodyPr>
          <a:lstStyle xmlns:a="http://schemas.openxmlformats.org/drawingml/2006/main"/>
          <a:p xmlns:a="http://schemas.openxmlformats.org/drawingml/2006/main"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4" name="Oval 21">
            <a:extLst xmlns:a="http://schemas.openxmlformats.org/drawingml/2006/main">
              <a:ext uri="{FF2B5EF4-FFF2-40B4-BE49-F238E27FC236}">
                <a16:creationId xmlns:a16="http://schemas.microsoft.com/office/drawing/2014/main" id="{E1ACD4B0-0766-414C-B979-B8A170B89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43200"/>
            <a:ext cx="1295280" cy="53316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260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5" name="Text Box 22">
            <a:extLst xmlns:a="http://schemas.openxmlformats.org/drawingml/2006/main">
              <a:ext uri="{FF2B5EF4-FFF2-40B4-BE49-F238E27FC236}">
                <a16:creationId xmlns:a16="http://schemas.microsoft.com/office/drawing/2014/main" id="{C69C02A4-1DCD-43C8-90CA-F0DA5671F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560" y="2819160"/>
            <a:ext cx="1219320" cy="398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125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FD020F"/>
                </a:solidFill>
                <a:latin typeface="Arial"/>
                <a:ea typeface="Arial"/>
                <a:cs typeface="Arial"/>
              </a:rPr>
              <a:t>交易号</a:t>
            </a: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6" name="Text Box 23">
            <a:extLst xmlns:a="http://schemas.openxmlformats.org/drawingml/2006/main">
              <a:ext uri="{FF2B5EF4-FFF2-40B4-BE49-F238E27FC236}">
                <a16:creationId xmlns:a16="http://schemas.microsoft.com/office/drawing/2014/main" id="{63973819-8772-428F-AEB5-E6691D7CA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480" y="2819160"/>
            <a:ext cx="914400" cy="7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125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FD020F"/>
                </a:solidFill>
                <a:latin typeface="Arial"/>
                <a:ea typeface="Arial"/>
                <a:cs typeface="Arial"/>
              </a:rPr>
              <a:t>日志日期</a:t>
            </a: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7" name="Oval 24">
            <a:extLst xmlns:a="http://schemas.openxmlformats.org/drawingml/2006/main">
              <a:ext uri="{FF2B5EF4-FFF2-40B4-BE49-F238E27FC236}">
                <a16:creationId xmlns:a16="http://schemas.microsoft.com/office/drawing/2014/main" id="{EF709187-1E6D-45D5-ACC1-789500240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160" y="2743200"/>
            <a:ext cx="990720" cy="53316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260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8" name="Oval 25">
            <a:extLst xmlns:a="http://schemas.openxmlformats.org/drawingml/2006/main">
              <a:ext uri="{FF2B5EF4-FFF2-40B4-BE49-F238E27FC236}">
                <a16:creationId xmlns:a16="http://schemas.microsoft.com/office/drawing/2014/main" id="{20A662AC-421F-4227-8BD3-43674CF29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480" y="2743200"/>
            <a:ext cx="1295280" cy="53316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260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9" name="Text Box 26">
            <a:extLst xmlns:a="http://schemas.openxmlformats.org/drawingml/2006/main">
              <a:ext uri="{FF2B5EF4-FFF2-40B4-BE49-F238E27FC236}">
                <a16:creationId xmlns:a16="http://schemas.microsoft.com/office/drawing/2014/main" id="{44E70B8D-3B17-4631-BF0C-2AD8C0F1A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9760" y="2819160"/>
            <a:ext cx="1219320" cy="398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125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FD020F"/>
                </a:solidFill>
                <a:latin typeface="Arial"/>
                <a:ea typeface="Arial"/>
                <a:cs typeface="Arial"/>
              </a:rPr>
              <a:t>金额</a:t>
            </a: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0" name="Line 27">
            <a:extLst xmlns:a="http://schemas.openxmlformats.org/drawingml/2006/main">
              <a:ext uri="{FF2B5EF4-FFF2-40B4-BE49-F238E27FC236}">
                <a16:creationId xmlns:a16="http://schemas.microsoft.com/office/drawing/2014/main" id="{48375FB3-CFAF-4574-BC88-992368EA6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680" y="3276360"/>
            <a:ext cx="762120" cy="381240"/>
          </a:xfrm>
          <a:prstGeom xmlns:a="http://schemas.openxmlformats.org/drawingml/2006/main" prst="line">
            <a:avLst/>
          </a:prstGeom>
          <a:ln xmlns:a="http://schemas.openxmlformats.org/drawingml/2006/main" w="1260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1" name="Line 28">
            <a:extLst xmlns:a="http://schemas.openxmlformats.org/drawingml/2006/main">
              <a:ext uri="{FF2B5EF4-FFF2-40B4-BE49-F238E27FC236}">
                <a16:creationId xmlns:a16="http://schemas.microsoft.com/office/drawing/2014/main" id="{4BBA4558-2391-4E3D-A2FF-7F97C1BA9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680" y="3276360"/>
            <a:ext cx="0" cy="381240"/>
          </a:xfrm>
          <a:prstGeom xmlns:a="http://schemas.openxmlformats.org/drawingml/2006/main" prst="line">
            <a:avLst/>
          </a:prstGeom>
          <a:ln xmlns:a="http://schemas.openxmlformats.org/drawingml/2006/main" w="1260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2" name="Line 29">
            <a:extLst xmlns:a="http://schemas.openxmlformats.org/drawingml/2006/main">
              <a:ext uri="{FF2B5EF4-FFF2-40B4-BE49-F238E27FC236}">
                <a16:creationId xmlns:a16="http://schemas.microsoft.com/office/drawing/2014/main" id="{A0762EF9-6CC9-43FD-BA37-668383F9A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238880" y="3276000"/>
            <a:ext cx="609480" cy="381240"/>
          </a:xfrm>
          <a:prstGeom xmlns:a="http://schemas.openxmlformats.org/drawingml/2006/main" prst="line">
            <a:avLst/>
          </a:prstGeom>
          <a:ln xmlns:a="http://schemas.openxmlformats.org/drawingml/2006/main" w="1260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3" name="Text Box 30">
            <a:extLst xmlns:a="http://schemas.openxmlformats.org/drawingml/2006/main">
              <a:ext uri="{FF2B5EF4-FFF2-40B4-BE49-F238E27FC236}">
                <a16:creationId xmlns:a16="http://schemas.microsoft.com/office/drawing/2014/main" id="{C40AFFD8-E10D-4638-AD1D-AC97F6BC1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0840" y="5838480"/>
            <a:ext cx="1179000" cy="398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60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90000" tIns="46800" rIns="90000" bIns="46800" anchor="t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雇员</a:t>
            </a: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4" name="Oval 31">
            <a:extLst xmlns:a="http://schemas.openxmlformats.org/drawingml/2006/main">
              <a:ext uri="{FF2B5EF4-FFF2-40B4-BE49-F238E27FC236}">
                <a16:creationId xmlns:a16="http://schemas.microsoft.com/office/drawing/2014/main" id="{2337B925-F40B-4038-B940-AA03C911D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280" y="4952880"/>
            <a:ext cx="1523880" cy="53352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260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5" name="Oval 32">
            <a:extLst xmlns:a="http://schemas.openxmlformats.org/drawingml/2006/main">
              <a:ext uri="{FF2B5EF4-FFF2-40B4-BE49-F238E27FC236}">
                <a16:creationId xmlns:a16="http://schemas.microsoft.com/office/drawing/2014/main" id="{A49CAF29-9669-4859-87A9-F13943CC2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7760" y="4952880"/>
            <a:ext cx="1295640" cy="53352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260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6" name="Text Box 33">
            <a:extLst xmlns:a="http://schemas.openxmlformats.org/drawingml/2006/main">
              <a:ext uri="{FF2B5EF4-FFF2-40B4-BE49-F238E27FC236}">
                <a16:creationId xmlns:a16="http://schemas.microsoft.com/office/drawing/2014/main" id="{6632692B-E0CA-438F-A222-DAB97341A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013000"/>
            <a:ext cx="1523880" cy="398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125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FD020F"/>
                </a:solidFill>
                <a:latin typeface="Arial"/>
                <a:ea typeface="Arial"/>
                <a:cs typeface="Arial"/>
              </a:rPr>
              <a:t>雇员姓名</a:t>
            </a: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7" name="Text Box 34">
            <a:extLst xmlns:a="http://schemas.openxmlformats.org/drawingml/2006/main">
              <a:ext uri="{FF2B5EF4-FFF2-40B4-BE49-F238E27FC236}">
                <a16:creationId xmlns:a16="http://schemas.microsoft.com/office/drawing/2014/main" id="{B34C1624-D2ED-4E0B-A409-09E334B71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080" y="5013000"/>
            <a:ext cx="1219320" cy="398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125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FD020F"/>
                </a:solidFill>
                <a:latin typeface="Arial"/>
                <a:ea typeface="Arial"/>
                <a:cs typeface="Arial"/>
              </a:rPr>
              <a:t>电话</a:t>
            </a: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8" name="AutoShape 35">
            <a:extLst xmlns:a="http://schemas.openxmlformats.org/drawingml/2006/main">
              <a:ext uri="{FF2B5EF4-FFF2-40B4-BE49-F238E27FC236}">
                <a16:creationId xmlns:a16="http://schemas.microsoft.com/office/drawing/2014/main" id="{9C70D7F2-B5E8-42D0-B511-A7FCB14F4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5143320" y="5676480"/>
            <a:ext cx="762120" cy="685800"/>
          </a:xfrm>
          <a:prstGeom xmlns:a="http://schemas.openxmlformats.org/drawingml/2006/main" prst="triangle">
            <a:avLst>
              <a:gd name="adj" fmla="val 50000"/>
            </a:avLst>
          </a:prstGeom>
          <a:solidFill xmlns:a="http://schemas.openxmlformats.org/drawingml/2006/main">
            <a:srgbClr val="00CC99"/>
          </a:solidFill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9" name="AutoShape 36">
            <a:extLst xmlns:a="http://schemas.openxmlformats.org/drawingml/2006/main">
              <a:ext uri="{FF2B5EF4-FFF2-40B4-BE49-F238E27FC236}">
                <a16:creationId xmlns:a16="http://schemas.microsoft.com/office/drawing/2014/main" id="{C3EC9BC0-0ADF-4EC3-BB3C-4BB95DA27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828760" y="5676840"/>
            <a:ext cx="762120" cy="685800"/>
          </a:xfrm>
          <a:prstGeom xmlns:a="http://schemas.openxmlformats.org/drawingml/2006/main" prst="triangle">
            <a:avLst>
              <a:gd name="adj" fmla="val 50000"/>
            </a:avLst>
          </a:prstGeom>
          <a:solidFill xmlns:a="http://schemas.openxmlformats.org/drawingml/2006/main">
            <a:srgbClr val="00CC99"/>
          </a:solidFill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0" name="Text Box 37">
            <a:extLst xmlns:a="http://schemas.openxmlformats.org/drawingml/2006/main">
              <a:ext uri="{FF2B5EF4-FFF2-40B4-BE49-F238E27FC236}">
                <a16:creationId xmlns:a16="http://schemas.microsoft.com/office/drawing/2014/main" id="{344B1B79-7104-4455-9BD0-8ECEC54EC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080" y="5805360"/>
            <a:ext cx="1143000" cy="36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1125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1" u="none">
                <a:solidFill>
                  <a:srgbClr val="FD020F"/>
                </a:solidFill>
                <a:latin typeface="Arial Narrow"/>
                <a:ea typeface="Arial Narrow"/>
                <a:cs typeface="Arial Narrow"/>
              </a:rPr>
              <a:t>任职于</a:t>
            </a:r>
            <a:endParaRPr sz="18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1" name="Line 38">
            <a:extLst xmlns:a="http://schemas.openxmlformats.org/drawingml/2006/main">
              <a:ext uri="{FF2B5EF4-FFF2-40B4-BE49-F238E27FC236}">
                <a16:creationId xmlns:a16="http://schemas.microsoft.com/office/drawing/2014/main" id="{721A3DC8-03E8-4326-A7AB-C05FF5F28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486400"/>
            <a:ext cx="457200" cy="380880"/>
          </a:xfrm>
          <a:prstGeom xmlns:a="http://schemas.openxmlformats.org/drawingml/2006/main" prst="line">
            <a:avLst/>
          </a:prstGeom>
          <a:ln xmlns:a="http://schemas.openxmlformats.org/drawingml/2006/main" w="1260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2" name="Line 39">
            <a:extLst xmlns:a="http://schemas.openxmlformats.org/drawingml/2006/main">
              <a:ext uri="{FF2B5EF4-FFF2-40B4-BE49-F238E27FC236}">
                <a16:creationId xmlns:a16="http://schemas.microsoft.com/office/drawing/2014/main" id="{65D5109C-D7EF-4045-BAE6-28C94581D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819160" y="5486400"/>
            <a:ext cx="609840" cy="380880"/>
          </a:xfrm>
          <a:prstGeom xmlns:a="http://schemas.openxmlformats.org/drawingml/2006/main" prst="line">
            <a:avLst/>
          </a:prstGeom>
          <a:ln xmlns:a="http://schemas.openxmlformats.org/drawingml/2006/main" w="1260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3" name="Text Box 40">
            <a:extLst xmlns:a="http://schemas.openxmlformats.org/drawingml/2006/main">
              <a:ext uri="{FF2B5EF4-FFF2-40B4-BE49-F238E27FC236}">
                <a16:creationId xmlns:a16="http://schemas.microsoft.com/office/drawing/2014/main" id="{FD722194-ADED-4237-90C1-5E09A90BC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562360"/>
            <a:ext cx="1218960" cy="36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1125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1" i="1" u="none">
                <a:solidFill>
                  <a:srgbClr val="FD020F"/>
                </a:solidFill>
                <a:latin typeface="Arial Narrow"/>
                <a:ea typeface="Arial Narrow"/>
                <a:cs typeface="Arial Narrow"/>
              </a:rPr>
              <a:t>管理者</a:t>
            </a:r>
            <a:endParaRPr sz="18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4" name="Text Box 41">
            <a:extLst xmlns:a="http://schemas.openxmlformats.org/drawingml/2006/main">
              <a:ext uri="{FF2B5EF4-FFF2-40B4-BE49-F238E27FC236}">
                <a16:creationId xmlns:a16="http://schemas.microsoft.com/office/drawing/2014/main" id="{8F9EC5CA-EF34-408A-B4CD-967ECD19A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6110280"/>
            <a:ext cx="1218960" cy="36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1125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1" i="1" u="none">
                <a:solidFill>
                  <a:srgbClr val="FD020F"/>
                </a:solidFill>
                <a:latin typeface="Arial Narrow"/>
                <a:ea typeface="Arial Narrow"/>
                <a:cs typeface="Arial Narrow"/>
              </a:rPr>
              <a:t>员工</a:t>
            </a:r>
            <a:endParaRPr sz="18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5" name="Oval 42">
            <a:extLst xmlns:a="http://schemas.openxmlformats.org/drawingml/2006/main">
              <a:ext uri="{FF2B5EF4-FFF2-40B4-BE49-F238E27FC236}">
                <a16:creationId xmlns:a16="http://schemas.microsoft.com/office/drawing/2014/main" id="{C3C31369-CC7C-4539-8BF8-9546D72CC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876560"/>
            <a:ext cx="1447560" cy="6858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260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6" name="AutoShape 43">
            <a:extLst xmlns:a="http://schemas.openxmlformats.org/drawingml/2006/main">
              <a:ext uri="{FF2B5EF4-FFF2-40B4-BE49-F238E27FC236}">
                <a16:creationId xmlns:a16="http://schemas.microsoft.com/office/drawing/2014/main" id="{1DCC65F8-A54B-45D8-ABF2-18C94806F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419360"/>
            <a:ext cx="2133360" cy="609840"/>
          </a:xfrm>
          <a:prstGeom xmlns:a="http://schemas.openxmlformats.org/drawingml/2006/main" prst="wedgeRoundRectCallout">
            <a:avLst>
              <a:gd name="adj1" fmla="val -43518"/>
              <a:gd name="adj2" fmla="val 70000"/>
              <a:gd name="adj3" fmla="val 16667"/>
            </a:avLst>
          </a:prstGeom>
          <a:solidFill xmlns:a="http://schemas.openxmlformats.org/drawingml/2006/main">
            <a:srgbClr val="CCCCFF"/>
          </a:solidFill>
          <a:ln xmlns:a="http://schemas.openxmlformats.org/drawingml/2006/main" w="12600">
            <a:solidFill>
              <a:srgbClr val="000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i="1" u="none">
                <a:solidFill>
                  <a:srgbClr val="FD020F"/>
                </a:solidFill>
                <a:latin typeface="Arial"/>
                <a:ea typeface="Arial"/>
                <a:cs typeface="Arial"/>
              </a:rPr>
              <a:t>多值属性</a:t>
            </a: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63006329"/>
      </p:ext>
    </p:extLst>
  </p:cSld>
</p:sld>
</file>

<file path=ppt/slides/slide5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7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E034C54F-9822-430B-95D1-70359AE398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7040" y="166320"/>
            <a:ext cx="8381880" cy="131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360" tIns="44280" rIns="90360" bIns="44280" anchor="b">
            <a:noAutofit/>
          </a:bodyPr>
          <a:lstStyle xmlns:a="http://schemas.openxmlformats.org/drawingml/2006/main"/>
          <a:p xmlns:a="http://schemas.openxmlformats.org/drawingml/2006/main"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900" b="0" i="1" u="none">
                <a:solidFill>
                  <a:srgbClr val="FF0033"/>
                </a:solidFill>
                <a:latin typeface="Arial"/>
                <a:ea typeface="Arial"/>
                <a:cs typeface="Arial"/>
              </a:rPr>
              <a:t>银行数据库的 ER 图</a:t>
            </a:r>
            <a:endParaRPr sz="2900" b="1" i="1" u="none">
              <a:solidFill>
                <a:srgbClr val="FF0033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60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72fd26d2274fa1"/>
          <a:stretch xmlns:a="http://schemas.openxmlformats.org/drawingml/2006/main"/>
        </p:blipFill>
        <p:spPr>
          <a:xfrm xmlns:a="http://schemas.openxmlformats.org/drawingml/2006/main">
            <a:off x="0" y="1523880"/>
            <a:ext cx="9144000" cy="5257800"/>
          </a:xfrm>
          <a:prstGeom xmlns:a="http://schemas.openxmlformats.org/drawingml/2006/main" prst="rect">
            <a:avLst/>
          </a:prstGeom>
          <a:ln xmlns:a="http://schemas.openxmlformats.org/drawingml/2006/main" w="38160">
            <a:noFill/>
          </a:ln>
        </p:spPr>
      </p:pic>
    </p:spTree>
    <p:extLst>
      <p:ext uri="{BB962C8B-B14F-4D97-AF65-F5344CB8AC3E}">
        <p14:creationId xmlns:p14="http://schemas.microsoft.com/office/powerpoint/2010/main" val="971971233"/>
      </p:ext>
    </p:extLst>
  </p:cSld>
</p:sld>
</file>

<file path=ppt/slides/slide5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0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7CE8FF77-5330-44A0-A25B-A2312E9D4D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7040" y="166320"/>
            <a:ext cx="8381880" cy="131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360" tIns="44280" rIns="90360" bIns="44280" anchor="b">
            <a:noAutofit/>
          </a:bodyPr>
          <a:lstStyle xmlns:a="http://schemas.openxmlformats.org/drawingml/2006/main"/>
          <a:p xmlns:a="http://schemas.openxmlformats.org/drawingml/2006/main"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900" b="0" i="1" u="none">
                <a:solidFill>
                  <a:srgbClr val="FF0033"/>
                </a:solidFill>
                <a:latin typeface="Arial"/>
                <a:ea typeface="Arial"/>
                <a:cs typeface="Arial"/>
              </a:rPr>
              <a:t>带角色名称与最小—最大约束的 ER 图</a:t>
            </a:r>
            <a:endParaRPr sz="2900" b="1" i="1" u="none">
              <a:solidFill>
                <a:srgbClr val="FF0033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63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f13adc275b4ecc"/>
          <a:stretch xmlns:a="http://schemas.openxmlformats.org/drawingml/2006/main"/>
        </p:blipFill>
        <p:spPr>
          <a:xfrm xmlns:a="http://schemas.openxmlformats.org/drawingml/2006/main">
            <a:off x="228600" y="1600200"/>
            <a:ext cx="8610480" cy="5257800"/>
          </a:xfrm>
          <a:prstGeom xmlns:a="http://schemas.openxmlformats.org/drawingml/2006/main" prst="rect">
            <a:avLst/>
          </a:prstGeom>
          <a:ln xmlns:a="http://schemas.openxmlformats.org/drawingml/2006/main" w="38160">
            <a:noFill/>
          </a:ln>
        </p:spPr>
      </p:pic>
    </p:spTree>
    <p:extLst>
      <p:ext uri="{BB962C8B-B14F-4D97-AF65-F5344CB8AC3E}">
        <p14:creationId xmlns:p14="http://schemas.microsoft.com/office/powerpoint/2010/main" val="873800433"/>
      </p:ext>
    </p:extLst>
  </p:cSld>
</p:sld>
</file>

<file path=ppt/slides/slide5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471DAAA0-3DF7-4420-827F-C3B1D0544E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7040" y="166320"/>
            <a:ext cx="8381880" cy="131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360" tIns="44280" rIns="90360" bIns="44280" anchor="b">
            <a:noAutofit/>
          </a:bodyPr>
          <a:lstStyle xmlns:a="http://schemas.openxmlformats.org/drawingml/2006/main"/>
          <a:p xmlns:a="http://schemas.openxmlformats.org/drawingml/2006/main"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3600" b="1" i="1" u="none">
                <a:solidFill>
                  <a:srgbClr val="FF0033"/>
                </a:solidFill>
                <a:latin typeface="Arial"/>
                <a:ea typeface="Arial"/>
                <a:cs typeface="Arial"/>
              </a:rPr>
              <a:t>总结</a:t>
            </a:r>
          </a:p>
        </p:txBody>
      </p:sp>
      <p:sp>
        <p:nvSpPr>
          <p:cNvPr id="36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2D7E585-DF83-49C1-B07F-0D9CC0470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480"/>
            <a:ext cx="8153280" cy="4614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360" tIns="44280" rIns="90360" bIns="44280" anchor="t">
            <a:normAutofit fontScale="100000"/>
          </a:bodyPr>
          <a:lstStyle xmlns:a="http://schemas.openxmlformats.org/drawingml/2006/main"/>
          <a:p xmlns:a="http://schemas.openxmlformats.org/drawingml/2006/main">
            <a:pPr marL="742680" lvl="1" indent="-28548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ER 模型被视为第一个以联系而非属性为中心的“概念／语义”模型</a:t>
            </a: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42680" lvl="1" indent="-28548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它成功融合了早期数据模型的优点</a:t>
            </a: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42680" lvl="1" indent="-28548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简单且易于理解</a:t>
            </a: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42680" lvl="1" indent="-28548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42680" lvl="1" indent="-28548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可以直接映射为表（关系模型）</a:t>
            </a: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648000" lvl="2" indent="-129600" algn="just">
              <a:spcBef>
                <a:spcPts val="499"/>
              </a:spcBef>
              <a:buNone/>
              <a:tabLst>
                <a:tab pos="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i="1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（将在后续课程中学习）</a:t>
            </a: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76965595"/>
      </p:ext>
    </p:extLst>
  </p:cSld>
</p:sld>
</file>

<file path=ppt/slides/slide5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24681D97-5F04-4ECE-9748-F517755D10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28240" y="166320"/>
            <a:ext cx="8770680" cy="131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90392" tIns="44291" rIns="90392" bIns="44291" anchor="b">
            <a:noAutofit/>
          </a:bodyPr>
          <a:lstStyle xmlns:a="http://schemas.openxmlformats.org/drawingml/2006/main"/>
          <a:p xmlns:a="http://schemas.openxmlformats.org/drawingml/2006/main"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600" b="1" i="1">
                <a:solidFill>
                  <a:srgbClr val="FF0033"/>
                </a:solidFill>
                <a:latin typeface="Arial"/>
                <a:ea typeface="Arial"/>
                <a:cs typeface="Arial"/>
              </a:defRPr>
            </a:pPr>
            <a:r>
              <a:rPr sz="3600" b="1" i="1" u="none">
                <a:solidFill>
                  <a:srgbClr val="FF0033"/>
                </a:solidFill>
                <a:latin typeface="Arial"/>
                <a:ea typeface="Arial"/>
                <a:cs typeface="Arial"/>
              </a:rPr>
              <a:t>从 ER 模型到关系模型：预览</a:t>
            </a:r>
          </a:p>
        </p:txBody>
      </p:sp>
      <p:sp>
        <p:nvSpPr>
          <p:cNvPr id="28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A9D33F6-FC57-4B9F-842E-8AFDD951D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880" y="1828800"/>
            <a:ext cx="8381880" cy="4647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90392" tIns="44291" rIns="90392" bIns="44291" anchor="t">
            <a:normAutofit fontScale="100000"/>
          </a:bodyPr>
          <a:lstStyle xmlns:a="http://schemas.openxmlformats.org/drawingml/2006/main"/>
          <a:p xmlns:a="http://schemas.openxmlformats.org/drawingml/2006/main"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实体类型 → 表；键属性 → 主键</a:t>
            </a:r>
          </a:p>
          <a:p xmlns:a="http://schemas.openxmlformats.org/drawingml/2006/main"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1:N 联系 → 在 N 端设置外键</a:t>
            </a:r>
          </a:p>
          <a:p xmlns:a="http://schemas.openxmlformats.org/drawingml/2006/main"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M:N 联系 → 建立包含双方外键的桥接表</a:t>
            </a:r>
          </a:p>
          <a:p xmlns:a="http://schemas.openxmlformats.org/drawingml/2006/main"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联系属性 → 桥接表中的列</a:t>
            </a:r>
          </a:p>
          <a:p xmlns:a="http://schemas.openxmlformats.org/drawingml/2006/main"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示例：ENROLMENT(student_id, course_code, grade)</a:t>
            </a:r>
          </a:p>
        </p:txBody>
      </p:sp>
    </p:spTree>
    <p:extLst>
      <p:ext uri="{BB962C8B-B14F-4D97-AF65-F5344CB8AC3E}">
        <p14:creationId xmlns:p14="http://schemas.microsoft.com/office/powerpoint/2010/main" val="464216751"/>
      </p:ext>
    </p:extLst>
  </p:cSld>
</p:sld>
</file>

<file path=ppt/slides/slide5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24681D97-5F04-4ECE-9748-F517755D10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28240" y="166320"/>
            <a:ext cx="8770680" cy="131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90392" tIns="44291" rIns="90392" bIns="44291" anchor="b">
            <a:noAutofit/>
          </a:bodyPr>
          <a:lstStyle xmlns:a="http://schemas.openxmlformats.org/drawingml/2006/main"/>
          <a:p xmlns:a="http://schemas.openxmlformats.org/drawingml/2006/main"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600" b="1" i="1">
                <a:solidFill>
                  <a:srgbClr val="FF0033"/>
                </a:solidFill>
                <a:latin typeface="Arial"/>
                <a:ea typeface="Arial"/>
                <a:cs typeface="Arial"/>
              </a:defRPr>
            </a:pPr>
            <a:r>
              <a:rPr sz="3600" b="1" i="1" u="none">
                <a:solidFill>
                  <a:srgbClr val="FF0033"/>
                </a:solidFill>
                <a:latin typeface="Arial"/>
                <a:ea typeface="Arial"/>
                <a:cs typeface="Arial"/>
              </a:rPr>
              <a:t>检索挑战</a:t>
            </a:r>
          </a:p>
        </p:txBody>
      </p:sp>
      <p:sp>
        <p:nvSpPr>
          <p:cNvPr id="28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A9D33F6-FC57-4B9F-842E-8AFDD951D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880" y="1828800"/>
            <a:ext cx="8381880" cy="4647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90392" tIns="44291" rIns="90392" bIns="44291" anchor="t">
            <a:normAutofit fontScale="100000"/>
          </a:bodyPr>
          <a:lstStyle xmlns:a="http://schemas.openxmlformats.org/drawingml/2006/main"/>
          <a:p xmlns:a="http://schemas.openxmlformats.org/drawingml/2006/main"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STUDENT(student_id, name)</a:t>
            </a:r>
          </a:p>
          <a:p xmlns:a="http://schemas.openxmlformats.org/drawingml/2006/main"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COURSE(course_code, title)</a:t>
            </a:r>
          </a:p>
          <a:p xmlns:a="http://schemas.openxmlformats.org/drawingml/2006/main"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ENROLMENT(student_id, course_code, grade)</a:t>
            </a:r>
          </a:p>
          <a:p xmlns:a="http://schemas.openxmlformats.org/drawingml/2006/main"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找出所有主键和外键。</a:t>
            </a:r>
          </a:p>
          <a:p xmlns:a="http://schemas.openxmlformats.org/drawingml/2006/main"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追踪回答“谁修读 COMP5111？”所需的连接路径。</a:t>
            </a:r>
          </a:p>
          <a:p xmlns:a="http://schemas.openxmlformats.org/drawingml/2006/main"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如时间允许，写出查询。</a:t>
            </a:r>
          </a:p>
        </p:txBody>
      </p:sp>
    </p:spTree>
    <p:extLst>
      <p:ext uri="{BB962C8B-B14F-4D97-AF65-F5344CB8AC3E}">
        <p14:creationId xmlns:p14="http://schemas.microsoft.com/office/powerpoint/2010/main" val="464216751"/>
      </p:ext>
    </p:extLst>
  </p:cSld>
</p:sld>
</file>

<file path=ppt/slides/slide6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24681D97-5F04-4ECE-9748-F517755D10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28240" y="166320"/>
            <a:ext cx="8770680" cy="131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90392" tIns="44291" rIns="90392" bIns="44291" anchor="b">
            <a:noAutofit/>
          </a:bodyPr>
          <a:lstStyle xmlns:a="http://schemas.openxmlformats.org/drawingml/2006/main"/>
          <a:p xmlns:a="http://schemas.openxmlformats.org/drawingml/2006/main"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600" b="1" i="1">
                <a:solidFill>
                  <a:srgbClr val="FF0033"/>
                </a:solidFill>
                <a:latin typeface="Arial"/>
                <a:ea typeface="Arial"/>
                <a:cs typeface="Arial"/>
              </a:defRPr>
            </a:pPr>
            <a:r>
              <a:rPr sz="3600" b="1" i="1" u="none">
                <a:solidFill>
                  <a:srgbClr val="FF0033"/>
                </a:solidFill>
                <a:latin typeface="Arial"/>
                <a:ea typeface="Arial"/>
                <a:cs typeface="Arial"/>
              </a:rPr>
              <a:t>离堂小测</a:t>
            </a:r>
          </a:p>
        </p:txBody>
      </p:sp>
      <p:sp>
        <p:nvSpPr>
          <p:cNvPr id="28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A9D33F6-FC57-4B9F-842E-8AFDD951D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880" y="1828800"/>
            <a:ext cx="8381880" cy="4647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90392" tIns="44291" rIns="90392" bIns="44291" anchor="t">
            <a:normAutofit fontScale="100000"/>
          </a:bodyPr>
          <a:lstStyle xmlns:a="http://schemas.openxmlformats.org/drawingml/2006/main"/>
          <a:p xmlns:a="http://schemas.openxmlformats.org/drawingml/2006/main"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1. 数据库存储持久且相关的数据；DBMS 对其进行管理。</a:t>
            </a:r>
          </a:p>
          <a:p xmlns:a="http://schemas.openxmlformats.org/drawingml/2006/main"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2. 模式是设计；实例是当前状态。</a:t>
            </a:r>
          </a:p>
          <a:p xmlns:a="http://schemas.openxmlformats.org/drawingml/2006/main"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3. ER 建模明确表达实体、联系、键和约束。</a:t>
            </a:r>
          </a:p>
          <a:p xmlns:a="http://schemas.openxmlformats.org/drawingml/2006/main"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离开前：写出一个可建模的应用和一个未解决的问题。</a:t>
            </a:r>
          </a:p>
        </p:txBody>
      </p:sp>
    </p:spTree>
    <p:extLst>
      <p:ext uri="{BB962C8B-B14F-4D97-AF65-F5344CB8AC3E}">
        <p14:creationId xmlns:p14="http://schemas.microsoft.com/office/powerpoint/2010/main" val="464216751"/>
      </p:ext>
    </p:extLst>
  </p:cSld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Libre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Libre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2026-09-03T12:47:27.1550000Z</dcterms:created>
  <dcterms:modified xsi:type="dcterms:W3CDTF">2026-09-03T12:47:27.1550000Z</dcterms:modified>
</coreProperties>
</file>