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973"/>
  </p:normalViewPr>
  <p:slideViewPr>
    <p:cSldViewPr snapToGrid="0">
      <p:cViewPr>
        <p:scale>
          <a:sx n="116" d="100"/>
          <a:sy n="116" d="100"/>
        </p:scale>
        <p:origin x="608"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开场先把本讲与上一讲连接起来：上一讲讨论任务类型，这一讲讨论所有任务共同依赖的数据基础。</a:t>
            </a:r>
          </a:p>
          <a:p>
            <a:r>
              <a:t>参考来源：INT6163 course design: data collection, management, preprocessing, exploratory analysis and evidence-based interpretation. UMN Introduction to Data Mining, Chapter 2: Data — objects, attributes, data sets, data quality, proximity measures and preprocessing. UMN Introduction to Data Mining, Data Exploration — summary statistics, histograms, box plots, scatter plots, matrix plots and parallel coordinates.</a:t>
            </a:r>
          </a:p>
          <a:p>
            <a:r>
              <a:t>开场语：上一讲确定了任务类型，这一讲回答模型之前更基础的问题——数据到底是什么、是否可信、怎样处理和理解。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用三条主线说明本讲不是工具操作清单，而是从数据表示一路推进到可解释的探索结果。</a:t>
            </a:r>
          </a:p>
          <a:p>
            <a:r>
              <a:t>参考来源：UMN Introduction to Data Mining, Chapter 2: Data — objects, attributes, data sets, data quality, proximity measures and preprocessing. UMN Introduction to Data Mining, Data Exploration — summary statistics, histograms, box plots, scatter plots, matrix plots and parallel coordinates.</a:t>
            </a:r>
          </a:p>
          <a:p>
            <a:r>
              <a:t>讲解顺序：1. 数据如何表示：对象、属性、数据矩阵与数据集形态；2. 数据如何处理：质量问题、预处理与相似度；3. 数据如何理解：描述统计、可视化与探索性分析</a:t>
            </a:r>
          </a:p>
          <a:p>
            <a:r>
              <a:t>讲解方式：不要只读要点；每个概念都连接到 student-week 数据中的一个具体变量或处理决定。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进入第一部分。先定义一行数据代表什么，再讨论列、标签和不同数据形态。</a:t>
            </a:r>
          </a:p>
          <a:p>
            <a:r>
              <a:t>参考来源：UMN Introduction to Data Mining, Chapter 2: Data — objects, attributes, data sets, data quality, proximity measures and preprocessing.</a:t>
            </a:r>
          </a:p>
          <a:p>
            <a:r>
              <a:t>过渡语：先说明这一部分解决的数据问题，再进入定义、公式和贯穿案例。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先用学生、交易和网页说明 object 不等于人。重点解释 student-level 与 student-week 的区别。</a:t>
            </a:r>
          </a:p>
          <a:p>
            <a:r>
              <a:t>参考来源：UMN Introduction to Data Mining, Chapter 2: Data — objects, attributes, data sets, data quality, proximity measures and preprocessing.</a:t>
            </a:r>
          </a:p>
          <a:p>
            <a:r>
              <a:t>讲解顺序：1. 对象：被分析的实体、事件或时间片；2. 记录：对象在数据表中的具体表示；3. 粒度：同一学生可以是一行，也可以拆成多个 student-week；4. 后果：对象定义不同，标签、特征和结论都会改变</a:t>
            </a:r>
          </a:p>
          <a:p>
            <a:r>
              <a:t>讲解方式：不要只读要点；每个概念都连接到 student-week 数据中的一个具体变量或处理决定。</a:t>
            </a:r>
          </a:p>
          <a:p>
            <a:r>
              <a:t>收束语：分析开始前，必须先说明一行数据的分析单位。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逐行指出对象，逐列指出属性，再指出标签 y 与标识符 student_id 的不同。强调矩阵只是表示，不代表所有列都能直接进入模型。</a:t>
            </a:r>
          </a:p>
          <a:p>
            <a:r>
              <a:t>参考来源：UMN Chapter 2, Data Matrix and Attribute Values.</a:t>
            </a:r>
          </a:p>
          <a:p>
            <a:r>
              <a:t>讲解方式：不要只读要点；每个概念都连接到 student-week 数据中的一个具体变量或处理决定。</a:t>
            </a:r>
          </a:p>
          <a:p>
            <a:r>
              <a:t>收束语：行定义对象，列定义属性，标签定义要预测的结果。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从左到右解释三个粒度：学生、学生周、单次事件。用同一个登录行为说明粒度越细，记录越多，时间信息越完整，但处理成本也更高。</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收束语：先确定粒度，再定义特征和标签。</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t>字段在数据库中的数据类型，不等于它在分析中的角色。</a:t>
            </a:r>
            <a:r>
              <a:rPr lang="zh-CN" altLang="en-US" dirty="0"/>
              <a:t> 例如 </a:t>
            </a:r>
            <a:r>
              <a:rPr lang="en-US" altLang="zh-CN" dirty="0"/>
              <a:t>week </a:t>
            </a:r>
            <a:r>
              <a:rPr lang="zh-CN" altLang="en-US" dirty="0"/>
              <a:t>虽然是整数，却是时间索引；</a:t>
            </a:r>
            <a:r>
              <a:rPr lang="en-US" altLang="zh-CN" dirty="0" err="1"/>
              <a:t>student_id</a:t>
            </a:r>
            <a:r>
              <a:rPr lang="en-US" altLang="zh-CN" dirty="0"/>
              <a:t> </a:t>
            </a:r>
            <a:r>
              <a:rPr lang="zh-CN" altLang="en-US" dirty="0"/>
              <a:t>看起来像字符串或编号，却只是身份标识；</a:t>
            </a:r>
            <a:r>
              <a:rPr lang="en-US" altLang="zh-CN" dirty="0"/>
              <a:t>dropout_next4w </a:t>
            </a:r>
            <a:r>
              <a:rPr lang="zh-CN" altLang="en-US" dirty="0"/>
              <a:t>虽然是 </a:t>
            </a:r>
            <a:r>
              <a:rPr lang="en-US" altLang="zh-CN" dirty="0"/>
              <a:t>0/1</a:t>
            </a:r>
            <a:r>
              <a:rPr lang="zh-CN" altLang="en-US" dirty="0"/>
              <a:t>，却是预测目标。</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因为数字本身只告诉你“是多少”，不告诉你“它代表什么”。计算可以非常精确，但只要字段含义、单位、统计口径或时间范围理解错了，结论就会“精确地错”。</a:t>
            </a:r>
          </a:p>
          <a:p>
            <a:r>
              <a:rPr lang="zh-CN" altLang="en-US" dirty="0"/>
              <a:t>例如表中有一行：</a:t>
            </a:r>
          </a:p>
          <a:p>
            <a:r>
              <a:rPr lang="en-US" altLang="zh-CN" dirty="0"/>
              <a:t>student_idlogin_countvideo_ratequiz_scoreS00230.3542</a:t>
            </a:r>
          </a:p>
          <a:p>
            <a:r>
              <a:rPr lang="zh-CN" altLang="en-US" dirty="0"/>
              <a:t>如果没有字段定义，分析者可能解释为：</a:t>
            </a:r>
          </a:p>
          <a:p>
            <a:r>
              <a:rPr lang="zh-CN" altLang="en-US" dirty="0"/>
              <a:t>本周只登录 </a:t>
            </a:r>
            <a:r>
              <a:rPr lang="en-US" altLang="zh-CN" dirty="0"/>
              <a:t>3 </a:t>
            </a:r>
            <a:r>
              <a:rPr lang="zh-CN" altLang="en-US" dirty="0"/>
              <a:t>次；</a:t>
            </a:r>
          </a:p>
          <a:p>
            <a:r>
              <a:rPr lang="zh-CN" altLang="en-US" dirty="0"/>
              <a:t>只看完 </a:t>
            </a:r>
            <a:r>
              <a:rPr lang="en-US" altLang="zh-CN" dirty="0"/>
              <a:t>35% </a:t>
            </a:r>
            <a:r>
              <a:rPr lang="zh-CN" altLang="en-US" dirty="0"/>
              <a:t>的课程视频；</a:t>
            </a:r>
          </a:p>
          <a:p>
            <a:r>
              <a:rPr lang="zh-CN" altLang="en-US" dirty="0"/>
              <a:t>测验仅得 </a:t>
            </a:r>
            <a:r>
              <a:rPr lang="en-US" altLang="zh-CN" dirty="0"/>
              <a:t>42 </a:t>
            </a:r>
            <a:r>
              <a:rPr lang="zh-CN" altLang="en-US" dirty="0"/>
              <a:t>分（满分 </a:t>
            </a:r>
            <a:r>
              <a:rPr lang="en-US" altLang="zh-CN" dirty="0"/>
              <a:t>100</a:t>
            </a:r>
            <a:r>
              <a:rPr lang="zh-CN" altLang="en-US" dirty="0"/>
              <a:t>）。</a:t>
            </a:r>
          </a:p>
          <a:p>
            <a:r>
              <a:rPr lang="zh-CN" altLang="en-US" dirty="0"/>
              <a:t>于是得出一个看似有数据支撑的结论：</a:t>
            </a:r>
          </a:p>
          <a:p>
            <a:r>
              <a:rPr lang="zh-CN" altLang="en-US" dirty="0"/>
              <a:t>“</a:t>
            </a:r>
            <a:r>
              <a:rPr lang="en-US" altLang="zh-CN" dirty="0"/>
              <a:t>S002 </a:t>
            </a:r>
            <a:r>
              <a:rPr lang="zh-CN" altLang="en-US" dirty="0"/>
              <a:t>学习投入不足，测验不及格，应被列为高风险学生。”</a:t>
            </a:r>
          </a:p>
          <a:p>
            <a:r>
              <a:rPr lang="zh-CN" altLang="en-US" dirty="0"/>
              <a:t>但真实定义可能是：</a:t>
            </a:r>
          </a:p>
          <a:p>
            <a:r>
              <a:rPr lang="en-US" altLang="zh-CN" dirty="0" err="1"/>
              <a:t>login_count</a:t>
            </a:r>
            <a:r>
              <a:rPr lang="en-US" altLang="zh-CN" dirty="0"/>
              <a:t> = 3</a:t>
            </a:r>
            <a:r>
              <a:rPr lang="zh-CN" altLang="en-US" dirty="0"/>
              <a:t>：当天使用了 </a:t>
            </a:r>
            <a:r>
              <a:rPr lang="en-US" altLang="zh-CN" dirty="0"/>
              <a:t>3 </a:t>
            </a:r>
            <a:r>
              <a:rPr lang="zh-CN" altLang="en-US" dirty="0"/>
              <a:t>台设备，并非登录次数；</a:t>
            </a:r>
          </a:p>
          <a:p>
            <a:r>
              <a:rPr lang="en-US" altLang="zh-CN" dirty="0" err="1"/>
              <a:t>video_rate</a:t>
            </a:r>
            <a:r>
              <a:rPr lang="en-US" altLang="zh-CN" dirty="0"/>
              <a:t> = 0.35</a:t>
            </a:r>
            <a:r>
              <a:rPr lang="zh-CN" altLang="en-US" dirty="0"/>
              <a:t>：视频以 </a:t>
            </a:r>
            <a:r>
              <a:rPr lang="en-US" altLang="zh-CN" dirty="0"/>
              <a:t>0.35 </a:t>
            </a:r>
            <a:r>
              <a:rPr lang="zh-CN" altLang="en-US" dirty="0"/>
              <a:t>小时计，即观看了 </a:t>
            </a:r>
            <a:r>
              <a:rPr lang="en-US" altLang="zh-CN" dirty="0"/>
              <a:t>21 </a:t>
            </a:r>
            <a:r>
              <a:rPr lang="zh-CN" altLang="en-US" dirty="0"/>
              <a:t>分钟，并非完成率；</a:t>
            </a:r>
          </a:p>
          <a:p>
            <a:r>
              <a:rPr lang="en-US" altLang="zh-CN" dirty="0" err="1"/>
              <a:t>quiz_score</a:t>
            </a:r>
            <a:r>
              <a:rPr lang="en-US" altLang="zh-CN" dirty="0"/>
              <a:t> = 42</a:t>
            </a:r>
            <a:r>
              <a:rPr lang="zh-CN" altLang="en-US" dirty="0"/>
              <a:t>：满分是 </a:t>
            </a:r>
            <a:r>
              <a:rPr lang="en-US" altLang="zh-CN" dirty="0"/>
              <a:t>50 </a:t>
            </a:r>
            <a:r>
              <a:rPr lang="zh-CN" altLang="en-US" dirty="0"/>
              <a:t>分，实际成绩为 </a:t>
            </a:r>
            <a:r>
              <a:rPr lang="en-US" altLang="zh-CN" b="1" dirty="0"/>
              <a:t>84%</a:t>
            </a:r>
            <a:r>
              <a:rPr lang="zh-CN" altLang="en-US" dirty="0"/>
              <a:t>；</a:t>
            </a:r>
          </a:p>
          <a:p>
            <a:r>
              <a:rPr lang="zh-CN" altLang="en-US" dirty="0"/>
              <a:t>数据采集时间只有周一上午，而不是完整的一周。</a:t>
            </a:r>
          </a:p>
          <a:p>
            <a:r>
              <a:rPr lang="zh-CN" altLang="en-US" dirty="0"/>
              <a:t>这样一来，“不及格、高风险”的结论就完全错误。即使分析程序准确算出风险概率为 </a:t>
            </a:r>
            <a:r>
              <a:rPr lang="en-US" altLang="zh-CN" dirty="0"/>
              <a:t>87.36%</a:t>
            </a:r>
            <a:r>
              <a:rPr lang="zh-CN" altLang="en-US" dirty="0"/>
              <a:t>，小数点再多也不能弥补字段理解错误。</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先读左侧标识符，再读右侧分析特征。强调数据库字段类型为 integer，不代表它在统计上就是数值属性。</a:t>
            </a:r>
          </a:p>
          <a:p>
            <a:r>
              <a:t>参考来源：UMN Introduction to Data Mining, Chapter 2: Data — objects, attributes, data sets, data quality, proximity measures and preprocessing.</a:t>
            </a:r>
          </a:p>
          <a:p>
            <a:r>
              <a:t>讲解顺序：1. 标识符 Identifier 用于唯一定位对象 数值大小通常没有意义 student_id = 1002 不比 1001 更大 不应直接计算平均值或距离；2. 分析特征 Feature 描述对象的可比较性质 取值变化具有业务含义 login_count = 10 高于 3 可以进入统计、距离或模型</a:t>
            </a:r>
          </a:p>
          <a:p>
            <a:r>
              <a:t>讲解方式：先明确左右两边的定义，再用同一组数据说明两种处理方式会产生怎样不同的结果。</a:t>
            </a:r>
          </a:p>
          <a:p>
            <a:r>
              <a:t>收束语：数据库中的数字，不一定是可以做算术运算的数值属性。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沿时间轴讲清楚：第 1–4 周产生特征 X，第 4 周末形成预测时点，第 5–8 周观察标签 y。预测时点之后的信息不能回填到 X。</a:t>
            </a:r>
          </a:p>
          <a:p>
            <a:r>
              <a:t>参考来源：INT6163 course design: data collection, management, preprocessing, exploratory analysis and evidence-based interpretation. CMU 10-601 Introduction to Machine Learning — train/test separation and leakage-aware preprocessing.</a:t>
            </a:r>
          </a:p>
          <a:p>
            <a:r>
              <a:t>讲解方式：不要只读要点；每个概念都连接到 student-week 数据中的一个具体变量或处理决定。</a:t>
            </a:r>
          </a:p>
          <a:p>
            <a:r>
              <a:t>收束语：特征描述过去，标签描述要预测的未知结果。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左侧展示每格大多有值的学生行为表，右侧展示大量为零的文档词频矩阵。说明文本、交易和网页数据通常高维且稀疏。</a:t>
            </a:r>
          </a:p>
          <a:p>
            <a:r>
              <a:t>参考来源：UMN Introduction to Data Mining, Chapter 2: Data — objects, attributes, data sets, data quality, proximity measures and preprocessing. Stanford CS246 Mining Massive Data Sets — sparse and high-dimensional data representation.</a:t>
            </a:r>
          </a:p>
          <a:p>
            <a:r>
              <a:t>讲解方式：不要只读要点；每个概念都连接到 student-week 数据中的一个具体变量或处理决定。</a:t>
            </a:r>
          </a:p>
          <a:p>
            <a:r>
              <a:t>收束语：数据很稀疏时，存储方式和相似度选择都要改变。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逐项解释数据形态。强调同一业务系统可能同时产生记录、事务、图和序列。</a:t>
            </a:r>
          </a:p>
          <a:p>
            <a:r>
              <a:t>参考来源：UMN Introduction to Data Mining, Chapter 2: Data — objects, attributes, data sets, data quality, proximity measures and preprocessing.</a:t>
            </a:r>
          </a:p>
          <a:p>
            <a:r>
              <a:t>讲解顺序：1. 记录数据：固定属性描述每个对象；2. 事务数据：每条记录是一组同时出现的项目；3. 图数据：节点和边表达对象之间的关系；4. 有序数据：顺序与时间间隔本身包含信息</a:t>
            </a:r>
          </a:p>
          <a:p>
            <a:r>
              <a:t>讲解方式：不要只读要点；每个概念都连接到 student-week 数据中的一个具体变量或处理决定。</a:t>
            </a:r>
          </a:p>
          <a:p>
            <a:r>
              <a:t>收束语：数据形态决定自然表示，也决定后续可用方法。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比较固定列与项目集合。用课程资源访问说明事务数据更自然地支持关联规则。</a:t>
            </a:r>
          </a:p>
          <a:p>
            <a:r>
              <a:t>参考来源：UMN Introduction to Data Mining, Chapter 2: Data — objects, attributes, data sets, data quality, proximity measures and preprocessing.</a:t>
            </a:r>
          </a:p>
          <a:p>
            <a:r>
              <a:t>讲解顺序：1. 记录数据 Record data 每行对象拥有固定列 适合分类、回归和聚类 例：每名学生的登录次数与成绩 缺失表示某个属性没有值；2. 事务数据 Transaction data 每行是一组项目集合 列不必固定出现 例：一次学习会话访问了哪些资源 缺失与“没有出现”通常等价</a:t>
            </a:r>
          </a:p>
          <a:p>
            <a:r>
              <a:t>讲解方式：先明确左右两边的定义，再用同一组数据说明两种处理方式会产生怎样不同的结果。</a:t>
            </a:r>
          </a:p>
          <a:p>
            <a:r>
              <a:t>收束语：不要为了使用某个算法，强行把数据改造成不自然的形态。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先讲社交网络图，再讲带时间和位置的行为。说明将结构数据压成普通表格时会损失什么。</a:t>
            </a:r>
          </a:p>
          <a:p>
            <a:r>
              <a:t>参考来源：UMN Introduction to Data Mining, Chapter 2: Data — objects, attributes, data sets, data quality, proximity measures and preprocessing.</a:t>
            </a:r>
          </a:p>
          <a:p>
            <a:r>
              <a:t>讲解顺序：1. 图数据：关系由边表达，节点属性只是信息的一部分；2. 序列数据：先后顺序、间隔和重复模式都可能重要；3. 空间数据：邻近关系和坐标系统影响分析；4. 普通矩阵：若忽略结构，可能丢失最关键的信息</a:t>
            </a:r>
          </a:p>
          <a:p>
            <a:r>
              <a:t>讲解方式：不要只读要点；每个概念都连接到 student-week 数据中的一个具体变量或处理决定。</a:t>
            </a:r>
          </a:p>
          <a:p>
            <a:r>
              <a:t>收束语：结构不是装饰，而是数据的一部分。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按行比较单位和问题。重点说明数据形态不是文件格式，而是数据内部关系的组织方式。</a:t>
            </a:r>
          </a:p>
          <a:p>
            <a:r>
              <a:t>参考来源：UMN Introduction to Data Mining, Chapter 2: Data — objects, attributes, data sets, data quality, proximity measures and preprocessing.</a:t>
            </a:r>
          </a:p>
          <a:p>
            <a:r>
              <a:t>讲解顺序：1. 数据形态：自然分析单位：典型问题；2. 记录数据：学生或 student-week：分类、回归、聚类；3. 事务数据：一次会话或一个购物篮：共现项目与关联规则；4. 文档数据：文档及其词向量：文本分类与相似检索；5. 图数据：节点、边或子图：影响力、社区与链接预测；6. 序列数据：有序事件或时间窗口：趋势、模式与预测</a:t>
            </a:r>
          </a:p>
          <a:p>
            <a:r>
              <a:t>讲解方式：按行解释表格，并指出不同数据类型、处理方法和评价方式为什么不能混用。</a:t>
            </a:r>
          </a:p>
          <a:p>
            <a:r>
              <a:t>收束语：先识别数据形态，再决定表示和算法。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用同一批 LMS 日志展示三种汇总方式。学生级回答长期结果，student-week 支持动态预警，会话级保留操作顺序。</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收束语：汇总方式改变数据，也改变可以回答的问题。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进入第二部分。属性类型不是命名问题，而是决定哪些运算、统计量和相似度有意义。</a:t>
            </a:r>
          </a:p>
          <a:p>
            <a:r>
              <a:t>参考来源：UMN Introduction to Data Mining, Chapter 2: Data — objects, attributes, data sets, data quality, proximity measures and preprocessing.</a:t>
            </a:r>
          </a:p>
          <a:p>
            <a:r>
              <a:t>过渡语：先说明这一部分解决的数据问题，再进入定义、公式和贯穿案例。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标称属性（</a:t>
            </a:r>
            <a:r>
              <a:rPr lang="en-US" altLang="zh-CN" dirty="0"/>
              <a:t>Nominal Attribute</a:t>
            </a:r>
            <a:r>
              <a:rPr lang="zh-CN" altLang="en-US" dirty="0"/>
              <a:t>）是数据挖掘和机器学习中的一种数据类型，</a:t>
            </a:r>
            <a:r>
              <a:rPr lang="zh-CN" altLang="en-US" sz="1200" b="0" u="none" strike="noStrike" kern="1200" dirty="0">
                <a:effectLst/>
              </a:rPr>
              <a:t>指其值是一些符号、类别、状态或事物的名称，彼此之间没有固有的大小顺序或定量关系</a:t>
            </a:r>
            <a:r>
              <a:rPr lang="zh-CN" alt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用专业编码说明 nominal 的数字只是代码。可以统计出现次数，但不能计算代码均值。</a:t>
            </a:r>
          </a:p>
          <a:p>
            <a:r>
              <a:t>参考来源：UMN Introduction to Data Mining, Chapter 2: Data — objects, attributes, data sets, data quality, proximity measures and preprocessing.</a:t>
            </a:r>
          </a:p>
          <a:p>
            <a:r>
              <a:t>讲解顺序：1. 没有自然顺序：课程类别、地区、专业；2. 允许比较相等与不相等：A 是否等于 B；3. 适合频数和众数：不能计算类别的平均值；4. 编码数字不产生大小关系：专业 3 不高于专业 2</a:t>
            </a:r>
          </a:p>
          <a:p>
            <a:r>
              <a:t>讲解方式：不要只读要点；每个概念都连接到 student-week 数据中的一个具体变量或处理决定。</a:t>
            </a:r>
          </a:p>
          <a:p>
            <a:r>
              <a:t>收束语：给类别编号，不会把它变成数值属性。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t>对称二元属性</a:t>
            </a:r>
            <a:r>
              <a:rPr lang="zh-CN" altLang="en-US" dirty="0"/>
              <a:t>：</a:t>
            </a:r>
            <a:r>
              <a:rPr lang="en-US" altLang="zh-CN" dirty="0"/>
              <a:t>0 </a:t>
            </a:r>
            <a:r>
              <a:rPr lang="zh-CN" altLang="en-US" dirty="0"/>
              <a:t>和 </a:t>
            </a:r>
            <a:r>
              <a:rPr lang="en-US" altLang="zh-CN" dirty="0"/>
              <a:t>1 </a:t>
            </a:r>
            <a:r>
              <a:rPr lang="zh-CN" altLang="en-US" dirty="0"/>
              <a:t>同样重要。</a:t>
            </a:r>
            <a:br>
              <a:rPr lang="zh-CN" altLang="en-US" dirty="0"/>
            </a:br>
            <a:r>
              <a:rPr lang="zh-CN" altLang="en-US" dirty="0"/>
              <a:t>例如“是否住校”。两个人都住校（</a:t>
            </a:r>
            <a:r>
              <a:rPr lang="en-US" altLang="zh-CN" dirty="0"/>
              <a:t>1–1</a:t>
            </a:r>
            <a:r>
              <a:rPr lang="zh-CN" altLang="en-US" dirty="0"/>
              <a:t>）或都不住校（</a:t>
            </a:r>
            <a:r>
              <a:rPr lang="en-US" altLang="zh-CN" dirty="0"/>
              <a:t>0–0</a:t>
            </a:r>
            <a:r>
              <a:rPr lang="zh-CN" altLang="en-US" dirty="0"/>
              <a:t>），都算相似；一个住校、一个不住校（</a:t>
            </a:r>
            <a:r>
              <a:rPr lang="en-US" altLang="zh-CN" dirty="0"/>
              <a:t>0–1</a:t>
            </a:r>
            <a:r>
              <a:rPr lang="zh-CN" altLang="en-US" dirty="0"/>
              <a:t>），算不同。</a:t>
            </a:r>
          </a:p>
          <a:p>
            <a:r>
              <a:rPr lang="zh-CN" altLang="en-US" b="1" dirty="0"/>
              <a:t>非对称二元属性</a:t>
            </a:r>
            <a:r>
              <a:rPr lang="zh-CN" altLang="en-US" dirty="0"/>
              <a:t>：通常把稀少、重要的事件记为 </a:t>
            </a:r>
            <a:r>
              <a:rPr lang="en-US" altLang="zh-CN" dirty="0"/>
              <a:t>1</a:t>
            </a:r>
            <a:r>
              <a:rPr lang="zh-CN" altLang="en-US" dirty="0"/>
              <a:t>。</a:t>
            </a:r>
            <a:br>
              <a:rPr lang="zh-CN" altLang="en-US" dirty="0"/>
            </a:br>
            <a:r>
              <a:rPr lang="zh-CN" altLang="en-US" dirty="0"/>
              <a:t>例如“是否患病”。两个人都患病（</a:t>
            </a:r>
            <a:r>
              <a:rPr lang="en-US" altLang="zh-CN" dirty="0"/>
              <a:t>1–1</a:t>
            </a:r>
            <a:r>
              <a:rPr lang="zh-CN" altLang="en-US" dirty="0"/>
              <a:t>）是有意义的相似；只有一个患病（</a:t>
            </a:r>
            <a:r>
              <a:rPr lang="en-US" altLang="zh-CN" dirty="0"/>
              <a:t>0–1</a:t>
            </a:r>
            <a:r>
              <a:rPr lang="zh-CN" altLang="en-US" dirty="0"/>
              <a:t>）是不同；但两个人都没患病（</a:t>
            </a:r>
            <a:r>
              <a:rPr lang="en-US" altLang="zh-CN" dirty="0"/>
              <a:t>0–0</a:t>
            </a:r>
            <a:r>
              <a:rPr lang="zh-CN" altLang="en-US" dirty="0"/>
              <a:t>）很普遍，因此通常不作为相似证据。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用满意度 1–5 说明可以排序，但 4 到 5 的心理差距未必等于 1 到 2。</a:t>
            </a:r>
          </a:p>
          <a:p>
            <a:r>
              <a:t>参考来源：UMN Introduction to Data Mining, Chapter 2: Data — objects, attributes, data sets, data quality, proximity measures and preprocessing.</a:t>
            </a:r>
          </a:p>
          <a:p>
            <a:r>
              <a:t>讲解顺序：1. 存在自然顺序：低、中、高；2. 等级差不一定相等：高与中不一定等于中与低；3. 适合中位数和百分位数：平均值需要谨慎解释；4. 编码要保留顺序：但不能假设线性距离</a:t>
            </a:r>
          </a:p>
          <a:p>
            <a:r>
              <a:t>讲解方式：不要只读要点；每个概念都连接到 student-week 数据中的一个具体变量或处理决定。</a:t>
            </a:r>
          </a:p>
          <a:p>
            <a:r>
              <a:t>收束语：有顺序不等于有等距。</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t>区间尺度</a:t>
            </a:r>
            <a:r>
              <a:rPr lang="zh-CN" altLang="en-US" dirty="0"/>
              <a:t>和</a:t>
            </a:r>
            <a:r>
              <a:rPr lang="zh-CN" altLang="en-US" b="1" dirty="0"/>
              <a:t>比率尺度</a:t>
            </a:r>
            <a:r>
              <a:rPr lang="zh-CN" altLang="en-US" dirty="0"/>
              <a:t>都是数值型测量尺度。两者都能比较大小、计算差值，关键区别在于：</a:t>
            </a:r>
            <a:r>
              <a:rPr lang="zh-CN" altLang="en-US" b="1" dirty="0"/>
              <a:t>零点是否代表“完全没有”。</a:t>
            </a:r>
            <a:endParaRPr lang="zh-CN" altLang="en-US" dirty="0"/>
          </a:p>
          <a:p>
            <a:r>
              <a:rPr lang="zh-CN" altLang="en-US" dirty="0"/>
              <a:t>尺度零点含义可以比较例子区间尺度人为设定的参照点大小、差值摄氏温度、年份比率尺度表示该数量完全不存在大小、差值、倍数时长、次数、距离、重量</a:t>
            </a:r>
          </a:p>
          <a:p>
            <a:r>
              <a:rPr lang="zh-CN" altLang="en-US" b="1" dirty="0"/>
              <a:t>区间尺度</a:t>
            </a:r>
            <a:endParaRPr lang="zh-CN" altLang="en-US" dirty="0"/>
          </a:p>
          <a:p>
            <a:r>
              <a:rPr lang="zh-CN" altLang="en-US" dirty="0"/>
              <a:t>例如摄氏温度：</a:t>
            </a:r>
          </a:p>
          <a:p>
            <a:r>
              <a:rPr lang="en-US" altLang="zh-CN" dirty="0"/>
              <a:t>20°C </a:t>
            </a:r>
            <a:r>
              <a:rPr lang="zh-CN" altLang="en-US" dirty="0"/>
              <a:t>比 </a:t>
            </a:r>
            <a:r>
              <a:rPr lang="en-US" altLang="zh-CN" dirty="0"/>
              <a:t>10°C </a:t>
            </a:r>
            <a:r>
              <a:rPr lang="zh-CN" altLang="en-US" dirty="0"/>
              <a:t>高 </a:t>
            </a:r>
            <a:r>
              <a:rPr lang="en-US" altLang="zh-CN" dirty="0"/>
              <a:t>10°C</a:t>
            </a:r>
            <a:r>
              <a:rPr lang="zh-CN" altLang="en-US" dirty="0"/>
              <a:t>。</a:t>
            </a:r>
          </a:p>
          <a:p>
            <a:r>
              <a:rPr lang="zh-CN" altLang="en-US" dirty="0"/>
              <a:t>但不能说 </a:t>
            </a:r>
            <a:r>
              <a:rPr lang="en-US" altLang="zh-CN" dirty="0"/>
              <a:t>20°C </a:t>
            </a:r>
            <a:r>
              <a:rPr lang="zh-CN" altLang="en-US" dirty="0"/>
              <a:t>是 </a:t>
            </a:r>
            <a:r>
              <a:rPr lang="en-US" altLang="zh-CN" dirty="0"/>
              <a:t>10°C </a:t>
            </a:r>
            <a:r>
              <a:rPr lang="zh-CN" altLang="en-US" dirty="0"/>
              <a:t>的“两倍热”。</a:t>
            </a:r>
          </a:p>
          <a:p>
            <a:r>
              <a:rPr lang="zh-CN" altLang="en-US" dirty="0"/>
              <a:t>因为 </a:t>
            </a:r>
            <a:r>
              <a:rPr lang="en-US" altLang="zh-CN" dirty="0"/>
              <a:t>0°C </a:t>
            </a:r>
            <a:r>
              <a:rPr lang="zh-CN" altLang="en-US" dirty="0"/>
              <a:t>不代表“没有温度”，只是人为规定的零点。</a:t>
            </a:r>
          </a:p>
          <a:p>
            <a:r>
              <a:rPr lang="zh-CN" altLang="en-US" dirty="0"/>
              <a:t>年份也是如此：</a:t>
            </a:r>
            <a:r>
              <a:rPr lang="en-US" altLang="zh-CN" dirty="0"/>
              <a:t>2020 </a:t>
            </a:r>
            <a:r>
              <a:rPr lang="zh-CN" altLang="en-US" dirty="0"/>
              <a:t>年与 </a:t>
            </a:r>
            <a:r>
              <a:rPr lang="en-US" altLang="zh-CN" dirty="0"/>
              <a:t>2010 </a:t>
            </a:r>
            <a:r>
              <a:rPr lang="zh-CN" altLang="en-US" dirty="0"/>
              <a:t>年相差 </a:t>
            </a:r>
            <a:r>
              <a:rPr lang="en-US" altLang="zh-CN" dirty="0"/>
              <a:t>10 </a:t>
            </a:r>
            <a:r>
              <a:rPr lang="zh-CN" altLang="en-US" dirty="0"/>
              <a:t>年，但不能说 </a:t>
            </a:r>
            <a:r>
              <a:rPr lang="en-US" altLang="zh-CN" dirty="0"/>
              <a:t>2020 </a:t>
            </a:r>
            <a:r>
              <a:rPr lang="zh-CN" altLang="en-US" dirty="0"/>
              <a:t>年是 </a:t>
            </a:r>
            <a:r>
              <a:rPr lang="en-US" altLang="zh-CN" dirty="0"/>
              <a:t>1010 </a:t>
            </a:r>
            <a:r>
              <a:rPr lang="zh-CN" altLang="en-US" dirty="0"/>
              <a:t>年的两倍。</a:t>
            </a:r>
          </a:p>
          <a:p>
            <a:r>
              <a:rPr lang="zh-CN" altLang="en-US" b="1" dirty="0"/>
              <a:t>比率尺度</a:t>
            </a:r>
            <a:endParaRPr lang="zh-CN" altLang="en-US" dirty="0"/>
          </a:p>
          <a:p>
            <a:r>
              <a:rPr lang="zh-CN" altLang="en-US" dirty="0"/>
              <a:t>例如学习时长：</a:t>
            </a:r>
          </a:p>
          <a:p>
            <a:r>
              <a:rPr lang="en-US" altLang="zh-CN" dirty="0"/>
              <a:t>0 </a:t>
            </a:r>
            <a:r>
              <a:rPr lang="zh-CN" altLang="en-US" dirty="0"/>
              <a:t>分钟表示完全没有学习。</a:t>
            </a:r>
          </a:p>
          <a:p>
            <a:r>
              <a:rPr lang="en-US" altLang="zh-CN" dirty="0"/>
              <a:t>20 </a:t>
            </a:r>
            <a:r>
              <a:rPr lang="zh-CN" altLang="en-US" dirty="0"/>
              <a:t>分钟比 </a:t>
            </a:r>
            <a:r>
              <a:rPr lang="en-US" altLang="zh-CN" dirty="0"/>
              <a:t>10 </a:t>
            </a:r>
            <a:r>
              <a:rPr lang="zh-CN" altLang="en-US" dirty="0"/>
              <a:t>分钟多 </a:t>
            </a:r>
            <a:r>
              <a:rPr lang="en-US" altLang="zh-CN" dirty="0"/>
              <a:t>10 </a:t>
            </a:r>
            <a:r>
              <a:rPr lang="zh-CN" altLang="en-US" dirty="0"/>
              <a:t>分钟。</a:t>
            </a:r>
          </a:p>
          <a:p>
            <a:r>
              <a:rPr lang="en-US" altLang="zh-CN" dirty="0"/>
              <a:t>20 </a:t>
            </a:r>
            <a:r>
              <a:rPr lang="zh-CN" altLang="en-US" dirty="0"/>
              <a:t>分钟确实是 </a:t>
            </a:r>
            <a:r>
              <a:rPr lang="en-US" altLang="zh-CN" dirty="0"/>
              <a:t>10 </a:t>
            </a:r>
            <a:r>
              <a:rPr lang="zh-CN" altLang="en-US" dirty="0"/>
              <a:t>分钟的两倍。</a:t>
            </a:r>
          </a:p>
          <a:p>
            <a:r>
              <a:rPr lang="zh-CN" altLang="en-US" dirty="0"/>
              <a:t>登录次数也一样：登录 </a:t>
            </a:r>
            <a:r>
              <a:rPr lang="en-US" altLang="zh-CN" dirty="0"/>
              <a:t>0 </a:t>
            </a:r>
            <a:r>
              <a:rPr lang="zh-CN" altLang="en-US" dirty="0"/>
              <a:t>次表示没有登录，因此登录 </a:t>
            </a:r>
            <a:r>
              <a:rPr lang="en-US" altLang="zh-CN" dirty="0"/>
              <a:t>10 </a:t>
            </a:r>
            <a:r>
              <a:rPr lang="zh-CN" altLang="en-US" dirty="0"/>
              <a:t>次是登录 </a:t>
            </a:r>
            <a:r>
              <a:rPr lang="en-US" altLang="zh-CN" dirty="0"/>
              <a:t>5 </a:t>
            </a:r>
            <a:r>
              <a:rPr lang="zh-CN" altLang="en-US" dirty="0"/>
              <a:t>次的两倍。</a:t>
            </a:r>
          </a:p>
          <a:p>
            <a:r>
              <a:rPr lang="zh-CN" altLang="en-US" dirty="0"/>
              <a:t>最简单的判断方法是：</a:t>
            </a:r>
          </a:p>
          <a:p>
            <a:r>
              <a:rPr lang="zh-CN" altLang="en-US" dirty="0"/>
              <a:t>问自己：“这个变量等于 </a:t>
            </a:r>
            <a:r>
              <a:rPr lang="en-US" altLang="zh-CN" dirty="0"/>
              <a:t>0 </a:t>
            </a:r>
            <a:r>
              <a:rPr lang="zh-CN" altLang="en-US" dirty="0"/>
              <a:t>时，是否表示该事物完全不存在？”</a:t>
            </a:r>
          </a:p>
          <a:p>
            <a:r>
              <a:rPr lang="zh-CN" altLang="en-US" dirty="0"/>
              <a:t>如果不是，通常是</a:t>
            </a:r>
            <a:r>
              <a:rPr lang="zh-CN" altLang="en-US" b="1" dirty="0"/>
              <a:t>区间尺度</a:t>
            </a:r>
            <a:r>
              <a:rPr lang="zh-CN" altLang="en-US" dirty="0"/>
              <a:t>。</a:t>
            </a:r>
          </a:p>
          <a:p>
            <a:r>
              <a:rPr lang="zh-CN" altLang="en-US" dirty="0"/>
              <a:t>如果是，而且“几倍”的说法合理，通常是</a:t>
            </a:r>
            <a:r>
              <a:rPr lang="zh-CN" altLang="en-US" b="1" dirty="0"/>
              <a:t>比率尺度</a:t>
            </a:r>
            <a:r>
              <a:rPr lang="zh-CN" altLang="en-US"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说明离散/连续与 nominal/numeric 是不同维度。二元变量是离散属性，成绩也可能以整数存储但概念上近似连续。</a:t>
            </a:r>
          </a:p>
          <a:p>
            <a:r>
              <a:t>参考来源：UMN Introduction to Data Mining, Chapter 2: Data — objects, attributes, data sets, data quality, proximity measures and preprocessing.</a:t>
            </a:r>
          </a:p>
          <a:p>
            <a:r>
              <a:t>讲解顺序：1. 离散属性 Discrete 取值可以逐个计数 登录次数：0、1、2、3… 通常来自计数或有限类别 相邻值之间没有其他可能值；2. 连续属性 Continuous 理论上可以在区间内任意取值 学习时长：23.4 分钟 通常来自测量 存储时会因精度而离散化</a:t>
            </a:r>
          </a:p>
          <a:p>
            <a:r>
              <a:t>讲解方式：先明确左右两边的定义，再用同一组数据说明两种处理方式会产生怎样不同的结果。</a:t>
            </a:r>
          </a:p>
          <a:p>
            <a:r>
              <a:t>收束语：存成整数不一定代表概念上是离散变量。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从上到下解释每一行增加了什么运算。提醒学生不要只背名词，要看运算是否有意义。</a:t>
            </a:r>
          </a:p>
          <a:p>
            <a:r>
              <a:t>参考来源：UMN Introduction to Data Mining, Chapter 2: Data — objects, attributes, data sets, data quality, proximity measures and preprocessing.</a:t>
            </a:r>
          </a:p>
          <a:p>
            <a:r>
              <a:t>讲解顺序：1. 尺度：允许的比较：适合的统计量；2. 标称：=、≠：频数、比例、众数；3. 有序：=、≠、&lt;、&gt;：中位数、百分位数、秩；4. 区间：顺序与差值：均值、标准差、相关；5. 比率：顺序、差值与比值：均值、变异系数、几何平均</a:t>
            </a:r>
          </a:p>
          <a:p>
            <a:r>
              <a:t>讲解方式：按行解释表格，并指出不同数据类型、处理方法和评价方式为什么不能混用。</a:t>
            </a:r>
          </a:p>
          <a:p>
            <a:r>
              <a:t>收束语：统计方法必须与测量尺度匹配。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依次解释四个字段：student_id 是标识符、week 是有序时间、quiz_score 是数值、dropout 是非对称二元标签。</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收束语：判断属性类型时，要问这个数值允许怎样解释。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逐行讲错误与修正。可以强调很多模型错误并非算法问题，而是字段语义被误读。</a:t>
            </a:r>
          </a:p>
          <a:p>
            <a:r>
              <a:t>参考来源：UMN Introduction to Data Mining, Chapter 2: Data — objects, attributes, data sets, data quality, proximity measures and preprocessing.</a:t>
            </a:r>
          </a:p>
          <a:p>
            <a:r>
              <a:t>讲解顺序：1. 错误做法：为什么错：正确处理；2. 对 student_id 求平均：编号没有数量意义：作为键保留，不进入统计；3. 把 1–5 满意度当连续值：等级间距未必相等：报告分布、中位数或秩；4. 把缺失编码为 0：0 可能是合法取值：保留 NA 或增加缺失指示；5. 把 postcode 当数值：大小和差值没有意义：按标称类别或空间位置处理；6. 把时间戳直接当类别：丢失顺序和间隔：提取时间差、周期和窗口</a:t>
            </a:r>
          </a:p>
          <a:p>
            <a:r>
              <a:t>讲解方式：按行解释表格，并指出不同数据类型、处理方法和评价方式为什么不能混用。</a:t>
            </a:r>
          </a:p>
          <a:p>
            <a:r>
              <a:t>收束语：先修正字段语义，再讨论模型。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以贯穿案例完成一次正式变量字典。指出 quiz_score 是否严格为 ratio 并不重要，关键是说明可用运算与限制。</a:t>
            </a:r>
          </a:p>
          <a:p>
            <a:r>
              <a:t>参考来源：INT6163 course design: data collection, management, preprocessing, exploratory analysis and evidence-based interpretation. UMN Introduction to Data Mining, Chapter 2: Data — objects, attributes, data sets, data quality, proximity measures and preprocessing.</a:t>
            </a:r>
          </a:p>
          <a:p>
            <a:r>
              <a:t>讲解顺序：1. 变量：属性类型：可用处理；2. program：标称：频数、one-hot encoding；3. engagement_level：有序：秩、中位数、有序编码；4. login_count：离散比率：均值、标准化、距离；5. video_rate：连续比率：均值、分位数、归一化；6. quiz_score：连续近似区间：均值、标准差、相关</a:t>
            </a:r>
          </a:p>
          <a:p>
            <a:r>
              <a:t>讲解方式：按行解释表格，并指出不同数据类型、处理方法和评价方式为什么不能混用。</a:t>
            </a:r>
          </a:p>
          <a:p>
            <a:r>
              <a:t>收束语：变量字典应同时写数据类型、语义和允许操作。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从左到右讲四个判断问题：只是名称吗、能排序吗、差值相等吗、零点真实吗。用这四问可以落到标称、有序、区间和比率。</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收束语：属性类型可以通过允许的比较和运算推导出来。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进入数据质量部分。先说明质量不是抽象评价，而是数据能否支持当前分析目的。</a:t>
            </a:r>
          </a:p>
          <a:p>
            <a:r>
              <a:t>参考来源：UMN Introduction to Data Mining, Chapter 2: Data — objects, attributes, data sets, data quality, proximity measures and preprocessing.</a:t>
            </a:r>
          </a:p>
          <a:p>
            <a:r>
              <a:t>过渡语：先说明这一部分解决的数据问题，再进入定义、公式和贯穿案例。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依次解释六个维度，并强调同一份数据对月度报表可能足够，对实时预警却可能不够及时。</a:t>
            </a:r>
          </a:p>
          <a:p>
            <a:r>
              <a:t>参考来源：UMN Introduction to Data Mining, Chapter 2: Data — objects, attributes, data sets, data quality, proximity measures and preprocessing.</a:t>
            </a:r>
          </a:p>
          <a:p>
            <a:r>
              <a:t>讲解顺序：1. 准确性：记录是否接近真实状态；2. 完整性：关键对象和字段是否缺失；3. 一致性：同一概念是否使用相同定义与编码；4. 及时性：数据是否覆盖正确的预测时点；5. 可信性：来源、采集过程和修改记录是否可追溯；6. 可解释性：字段名称、单位和取值是否清楚</a:t>
            </a:r>
          </a:p>
          <a:p>
            <a:r>
              <a:t>讲解方式：不要只读要点；每个概念都连接到 student-week 数据中的一个具体变量或处理决定。</a:t>
            </a:r>
          </a:p>
          <a:p>
            <a:r>
              <a:t>收束语：高质量数据不是“没有错误”，而是足以支持当前决策。</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从原始 student-week 表开始：S004 的 quiz 为空。先不要立刻填补，先区分没有参加测验、系统没有同步、该周没有安排测验三种不同含义。</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收束语：处理缺失值之前，必须先解释缺失是怎样产生的。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说明 MCAR、MAR、MNAR 是对缺失产生过程的假设，而不是由空白单元格自动给出的标签。用登录次数帮助解释 MAR。</a:t>
            </a:r>
          </a:p>
          <a:p>
            <a:r>
              <a:t>参考来源：UMN Introduction to Data Mining, Chapter 2: Data — objects, attributes, data sets, data quality, proximity measures and preprocessing. Missing Values.</a:t>
            </a:r>
          </a:p>
          <a:p>
            <a:r>
              <a:t>讲解顺序：1. 机制：含义：student-week 示例；2. MCAR：缺失与任何已观测或未观测变量都无关：同步服务随机中断，少量 quiz 丢失；3. MAR：缺失可由已观测变量解释：低登录学生更常缺少 quiz；4. MNAR：缺失与该变量未观测值本身有关：成绩很差的学生选择不提交</a:t>
            </a:r>
          </a:p>
          <a:p>
            <a:r>
              <a:t>讲解方式：按行解释表格，并指出不同数据类型、处理方法和评价方式为什么不能混用。</a:t>
            </a:r>
          </a:p>
          <a:p>
            <a:r>
              <a:t>收束语：缺失机制决定填补是否会引入系统性偏差。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逐行比较方法。强调没有一种填补方法在所有数据上都最好，选择依据是缺失机制、字段语义和后续用途。</a:t>
            </a:r>
          </a:p>
          <a:p>
            <a:r>
              <a:t>参考来源：UMN Introduction to Data Mining, Chapter 2: Data — objects, attributes, data sets, data quality, proximity measures and preprocessing.</a:t>
            </a:r>
          </a:p>
          <a:p>
            <a:r>
              <a:t>讲解顺序：1. 方法：适用情况：主要风险；2. 删除记录：缺失很少且近似随机：样本量下降，可能改变群体比例；3. 删除字段：字段大面积缺失且业务价值低：可能丢失重要信号；4. 常数填补：“未发生”本身具有明确含义：常数可能被误当成真实数值；5. 中位数 / 众数：需要简单稳健的基线：压缩方差，弱化变量关系；6. 分组填补：不同群体分布明显不同：分组定义可能泄漏标签</a:t>
            </a:r>
          </a:p>
          <a:p>
            <a:r>
              <a:t>讲解方式：按行解释表格，并指出不同数据类型、处理方法和评价方式为什么不能混用。</a:t>
            </a:r>
          </a:p>
          <a:p>
            <a:r>
              <a:t>收束语：填补的目标是保留可用信息，不是把表格变得没有空白。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讲稿</a:t>
            </a:r>
            <a:r>
              <a:rPr dirty="0"/>
              <a:t>：</a:t>
            </a:r>
          </a:p>
          <a:p>
            <a:r>
              <a:rPr dirty="0" err="1"/>
              <a:t>完整算出均值与中位数，然后解释为什么数学上可算不代表业务上合理。最后给出缺失指示变量与数值填补并用的方案</a:t>
            </a:r>
            <a:r>
              <a:rPr dirty="0"/>
              <a:t>。</a:t>
            </a:r>
          </a:p>
          <a:p>
            <a:r>
              <a:rPr dirty="0" err="1"/>
              <a:t>参考来源：UMN</a:t>
            </a:r>
            <a:r>
              <a:rPr dirty="0"/>
              <a:t> Introduction to Data Mining, Chapter 2: Data — objects, attributes, data sets, data quality, proximity measures and preprocessing.</a:t>
            </a:r>
          </a:p>
          <a:p>
            <a:r>
              <a:rPr dirty="0"/>
              <a:t>讲解顺序：1. </a:t>
            </a:r>
            <a:r>
              <a:rPr dirty="0" err="1"/>
              <a:t>原始记录：同一课程中，quiz_score</a:t>
            </a:r>
            <a:r>
              <a:rPr dirty="0"/>
              <a:t> </a:t>
            </a:r>
            <a:r>
              <a:rPr dirty="0" err="1"/>
              <a:t>为</a:t>
            </a:r>
            <a:r>
              <a:rPr dirty="0"/>
              <a:t> 42、66、78、90、NA；2. </a:t>
            </a:r>
            <a:r>
              <a:rPr dirty="0" err="1"/>
              <a:t>均值填补</a:t>
            </a:r>
            <a:r>
              <a:rPr dirty="0"/>
              <a:t>：(42 + 66 + 78 + 90) / 4 = 69；3. </a:t>
            </a:r>
            <a:r>
              <a:rPr dirty="0" err="1"/>
              <a:t>中位数填补</a:t>
            </a:r>
            <a:r>
              <a:rPr dirty="0"/>
              <a:t>：(66 + 78) / 2 = 72；4. </a:t>
            </a:r>
            <a:r>
              <a:rPr dirty="0" err="1"/>
              <a:t>业务判断：若</a:t>
            </a:r>
            <a:r>
              <a:rPr dirty="0"/>
              <a:t> NA </a:t>
            </a:r>
            <a:r>
              <a:rPr dirty="0" err="1"/>
              <a:t>表示未参加测验，填</a:t>
            </a:r>
            <a:r>
              <a:rPr dirty="0"/>
              <a:t> 69 </a:t>
            </a:r>
            <a:r>
              <a:rPr dirty="0" err="1"/>
              <a:t>或</a:t>
            </a:r>
            <a:r>
              <a:rPr dirty="0"/>
              <a:t> 72 都会掩盖风险；5. </a:t>
            </a:r>
            <a:r>
              <a:rPr dirty="0" err="1"/>
              <a:t>处理结果：保留</a:t>
            </a:r>
            <a:r>
              <a:rPr dirty="0"/>
              <a:t> </a:t>
            </a:r>
            <a:r>
              <a:rPr dirty="0" err="1"/>
              <a:t>NA，增加</a:t>
            </a:r>
            <a:r>
              <a:rPr dirty="0"/>
              <a:t> </a:t>
            </a:r>
            <a:r>
              <a:rPr dirty="0" err="1"/>
              <a:t>quiz_missing</a:t>
            </a:r>
            <a:r>
              <a:rPr dirty="0"/>
              <a:t> = 1，并按建模需要再填补</a:t>
            </a:r>
          </a:p>
          <a:p>
            <a:r>
              <a:rPr dirty="0" err="1"/>
              <a:t>讲解方式：先给出原始数据，再逐步计算或处理，最后解释结果改变了什么判断</a:t>
            </a:r>
            <a:r>
              <a:rPr dirty="0"/>
              <a:t>。</a:t>
            </a:r>
          </a:p>
          <a:p>
            <a:r>
              <a:rPr dirty="0" err="1"/>
              <a:t>收束语：先保留缺失含义，再提供模型可以使用的数值</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左侧说明噪声是测量或记录中的随机扰动，右侧说明异常值是显著偏离整体模式的对象。指出异常可能是错误，也可能是最有价值的风险信号。</a:t>
            </a:r>
          </a:p>
          <a:p>
            <a:r>
              <a:t>参考来源：UMN Introduction to Data Mining, Chapter 2: Data — objects, attributes, data sets, data quality, proximity measures and preprocessing. Noise and Outliers.</a:t>
            </a:r>
          </a:p>
          <a:p>
            <a:r>
              <a:t>讲解方式：不要只读要点；每个概念都连接到 student-week 数据中的一个具体变量或处理决定。</a:t>
            </a:r>
          </a:p>
          <a:p>
            <a:r>
              <a:t>收束语：噪声通常需要减弱，异常值通常需要调查。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t>自然变异</a:t>
            </a:r>
            <a:r>
              <a:rPr lang="zh-CN" altLang="en-US" dirty="0"/>
              <a:t>是现实中真实存在的差异，并非测量或记录造成的错误。</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按顺序讲异常值处理。先用规则或图形发现，再回到日志与业务系统核查；只有确认错误后才修正或删除。</a:t>
            </a:r>
          </a:p>
          <a:p>
            <a:r>
              <a:t>参考来源：UMN Introduction to Data Mining, Chapter 2: Data — objects, attributes, data sets, data quality, proximity measures and preprocessing.</a:t>
            </a:r>
          </a:p>
          <a:p>
            <a:r>
              <a:t>讲解顺序：1. 检测；2. 核查来源；3. 判断语义；4. 采取处理；5. 记录影响</a:t>
            </a:r>
          </a:p>
          <a:p>
            <a:r>
              <a:t>讲解方式：从左到右讲清每一步输入和输出，强调漏掉任何一步都会影响最终结论可信度。</a:t>
            </a:r>
          </a:p>
          <a:p>
            <a:r>
              <a:t>收束语：异常处理的核心不是删除，而是给出可追溯的判断依据。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逐行说明重复不只是浪费空间，它还会改变均值、频数和模型权重。强调主键、编码表和单位字典的重要性。</a:t>
            </a:r>
          </a:p>
          <a:p>
            <a:r>
              <a:t>参考来源：UMN Introduction to Data Mining, Chapter 2: Data — objects, attributes, data sets, data quality, proximity measures and preprocessing.</a:t>
            </a:r>
          </a:p>
          <a:p>
            <a:r>
              <a:t>讲解顺序：1. 问题：示例：处理；2. 完全重复：同一 student-week 被导入两次：按稳定主键去重；3. 近似重复：同一学生有 S102 与 s-102 两种 ID：统一格式并做实体匹配；4. 类别不一致：program 为 AI、A.I.、Artificial Intelligence：建立标准编码表；5. 单位不一致：时长同时使用秒与分钟：转换为同一单位并保留原字段；6. 时间不一致：本地时间与 UTC 混用：统一时区后再建立时间窗口</a:t>
            </a:r>
          </a:p>
          <a:p>
            <a:r>
              <a:t>讲解方式：按行解释表格，并指出不同数据类型、处理方法和评价方式为什么不能混用。</a:t>
            </a:r>
          </a:p>
          <a:p>
            <a:r>
              <a:t>收束语：去重和标准化必须依赖明确的业务键与数据字典。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说明特征再丰富也无法弥补系统性标签错误。特别指出干预会改变结果，因此历史标签包含现有制度的影响。</a:t>
            </a:r>
          </a:p>
          <a:p>
            <a:r>
              <a:t>参考来源：INT6163 course design: data collection, management, preprocessing, exploratory analysis and evidence-based interpretation. CMU 10-601 Introduction to Machine Learning — train/test separation and leakage-aware preprocessing.</a:t>
            </a:r>
          </a:p>
          <a:p>
            <a:r>
              <a:t>讲解顺序：1. 标签错误 退课日期被延迟同步 暂时休学被误记为退课 干预成功的学生被记作未退课 同一学生不同系统标签冲突；2. 检查方法 抽样回查原始记录 比较多个系统的一致性 检查标签时间是否晚于预测点 统计不同标注者的一致程度</a:t>
            </a:r>
          </a:p>
          <a:p>
            <a:r>
              <a:t>讲解方式：先明确左右两边的定义，再用同一组数据说明两种处理方式会产生怎样不同的结果。</a:t>
            </a:r>
          </a:p>
          <a:p>
            <a:r>
              <a:t>收束语：模型学习的是历史标签的定义，而不是抽象的“真实风险”。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把质量审计讲成可重复流程。每次修正都要能回答改了什么、为什么改、影响了多少记录。</a:t>
            </a:r>
          </a:p>
          <a:p>
            <a:r>
              <a:t>参考来源：UMN Introduction to Data Mining, Chapter 2: Data — objects, attributes, data sets, data quality, proximity measures and preprocessing.</a:t>
            </a:r>
          </a:p>
          <a:p>
            <a:r>
              <a:t>讲解顺序：1. 定义规则；2. 运行检查；3. 定位来源；4. 修正数据；5. 复核分布；6. 保存记录</a:t>
            </a:r>
          </a:p>
          <a:p>
            <a:r>
              <a:t>讲解方式：从左到右讲清每一步输入和输出，强调漏掉任何一步都会影响最终结论可信度。</a:t>
            </a:r>
          </a:p>
          <a:p>
            <a:r>
              <a:t>收束语：可复现的数据清洗比一次性的手工修表更可靠。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这里的 </a:t>
            </a:r>
            <a:r>
              <a:rPr lang="en-US" altLang="zh-CN" b="1" dirty="0" err="1"/>
              <a:t>video_rate</a:t>
            </a:r>
            <a:r>
              <a:rPr lang="en-US" altLang="zh-CN" b="1" dirty="0"/>
              <a:t> </a:t>
            </a:r>
            <a:r>
              <a:rPr lang="zh-CN" altLang="en-US" b="1" dirty="0"/>
              <a:t>指视频完成率（观看进度）</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进入预处理部分。说明预处理的目标是把原始记录转换成算法可比较、可复现且不泄漏未来的信息。</a:t>
            </a:r>
          </a:p>
          <a:p>
            <a:r>
              <a:t>参考来源：UMN Introduction to Data Mining, Chapter 2: Data — objects, attributes, data sets, data quality, proximity measures and preprocessing.</a:t>
            </a:r>
          </a:p>
          <a:p>
            <a:r>
              <a:t>过渡语：先说明这一部分解决的数据问题，再进入定义、公式和贯穿案例。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从对象粒度开始逐步讲预处理。强调划分训练集与测试集必须早于任何使用整体分布估计参数的步骤。</a:t>
            </a:r>
          </a:p>
          <a:p>
            <a:r>
              <a:t>参考来源：UMN Introduction to Data Mining, Chapter 2: Data — objects, attributes, data sets, data quality, proximity measures and preprocessing.</a:t>
            </a:r>
          </a:p>
          <a:p>
            <a:r>
              <a:t>讲解顺序：1. 选择对象；2. 清理质量问题；3. 构造字段；4. 编码与缩放；5. 划分数据；6. 保存流水线</a:t>
            </a:r>
          </a:p>
          <a:p>
            <a:r>
              <a:t>讲解方式：从左到右讲清每一步输入和输出，强调漏掉任何一步都会影响最终结论可信度。</a:t>
            </a:r>
          </a:p>
          <a:p>
            <a:r>
              <a:t>收束语：预处理不是模型前的杂务，而是模型定义的一部分。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对照两列说明删除选择。强调任何删除都要报告样本量、群体结构和时间覆盖的变化。</a:t>
            </a:r>
          </a:p>
          <a:p>
            <a:r>
              <a:t>参考来源：UMN Introduction to Data Mining, Chapter 2: Data — objects, attributes, data sets, data quality, proximity measures and preprocessing.</a:t>
            </a:r>
          </a:p>
          <a:p>
            <a:r>
              <a:t>讲解顺序：1. 判断问题：倾向删除记录：倾向删除字段；2. 缺失比例：极少数记录缺失：字段大面积缺失；3. 缺失机制：接近随机：由采集制度长期造成；4. 字段价值：关键字段可由其他记录补充：字段与目标关系弱；5. 群体影响：删除后群体比例基本不变：保留记录比保留字段更重要；6. 时间影响：缺失集中在偶发故障：整个历史阶段均不可用</a:t>
            </a:r>
          </a:p>
          <a:p>
            <a:r>
              <a:t>讲解方式：按行解释表格，并指出不同数据类型、处理方法和评价方式为什么不能混用。</a:t>
            </a:r>
          </a:p>
          <a:p>
            <a:r>
              <a:t>收束语：删除的代价不只是多少行或多少列，还包括代表性。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解释每种方法隐含的假设。特别说明模型填补仍然是估计，不应让学生误以为恢复了真实值。</a:t>
            </a:r>
          </a:p>
          <a:p>
            <a:r>
              <a:t>参考来源：UMN Introduction to Data Mining, Chapter 2: Data — objects, attributes, data sets, data quality, proximity measures and preprocessing.</a:t>
            </a:r>
          </a:p>
          <a:p>
            <a:r>
              <a:t>讲解顺序：1. 方法：计算方式：适用特点；2. 均值：用非缺失值平均数：分布较对称，对极端值敏感；3. 中位数：用第 50 百分位：偏态分布更稳健；4. 分组统计：在课程或项目内计算：保留群体差异，但组内样本要足够；5. 前向填充：使用上一个时间点：适合缓慢变化的时间序列；6. 模型填补：由其他变量预测缺失值：关系复杂，但必须在训练集内拟合</a:t>
            </a:r>
          </a:p>
          <a:p>
            <a:r>
              <a:t>讲解方式：按行解释表格，并指出不同数据类型、处理方法和评价方式为什么不能混用。</a:t>
            </a:r>
          </a:p>
          <a:p>
            <a:r>
              <a:t>收束语：填补方法必须与变量分布、时间结构和缺失机制一致。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逐步计算两个课程与整体的中位数，展示整体填补为什么抹平群体差异。</a:t>
            </a:r>
          </a:p>
          <a:p>
            <a:r>
              <a:t>参考来源：UMN Introduction to Data Mining, Chapter 2: Data — objects, attributes, data sets, data quality, proximity measures and preprocessing.</a:t>
            </a:r>
          </a:p>
          <a:p>
            <a:r>
              <a:t>讲解顺序：1. 课程 A：2、4、6、NA，中位数 = (4 + 6) / 2 = 5；2. 课程 B：12、14、18、NA，中位数 = 14；3. 整体中位数：(2 + 4 + 6 + 12 + 14 + 18) / 2 = 9；4. 比较：整体填补会把 A 的低活跃学生抬高，把 B 的高活跃学生压低；5. 处理：在训练集内按课程计算中位数，并保存每组参数</a:t>
            </a:r>
          </a:p>
          <a:p>
            <a:r>
              <a:t>讲解方式：先给出原始数据，再逐步计算或处理，最后解释结果改变了什么判断。</a:t>
            </a:r>
          </a:p>
          <a:p>
            <a:r>
              <a:t>收束语：分组填补可以保留结构，但参数仍只能从训练数据估计。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t>填补值解决“模型没法计算”</a:t>
            </a:r>
            <a:endParaRPr lang="zh-CN" altLang="en-US" dirty="0"/>
          </a:p>
          <a:p>
            <a:r>
              <a:rPr lang="en-US" altLang="zh-CN" dirty="0" err="1"/>
              <a:t>quiz_score</a:t>
            </a:r>
            <a:r>
              <a:rPr lang="en-US" altLang="zh-CN" dirty="0"/>
              <a:t> = NA </a:t>
            </a:r>
            <a:r>
              <a:rPr lang="zh-CN" altLang="en-US" dirty="0"/>
              <a:t>不能直接进入很多模型，所以用中位数 </a:t>
            </a:r>
            <a:r>
              <a:rPr lang="en-US" altLang="zh-CN" dirty="0"/>
              <a:t>72 </a:t>
            </a:r>
            <a:r>
              <a:rPr lang="zh-CN" altLang="en-US" dirty="0"/>
              <a:t>填补，使该字段变成可计算的数值。</a:t>
            </a:r>
          </a:p>
          <a:p>
            <a:r>
              <a:rPr lang="zh-CN" altLang="en-US" b="1" dirty="0"/>
              <a:t>缺失指示解决“缺失信息被掩盖”</a:t>
            </a:r>
            <a:endParaRPr lang="zh-CN" altLang="en-US" dirty="0"/>
          </a:p>
          <a:p>
            <a:r>
              <a:rPr lang="zh-CN" altLang="en-US" dirty="0"/>
              <a:t>填成 </a:t>
            </a:r>
            <a:r>
              <a:rPr lang="en-US" altLang="zh-CN" dirty="0"/>
              <a:t>72 </a:t>
            </a:r>
            <a:r>
              <a:rPr lang="zh-CN" altLang="en-US" dirty="0"/>
              <a:t>后，模型无法判断这个 </a:t>
            </a:r>
            <a:r>
              <a:rPr lang="en-US" altLang="zh-CN" dirty="0"/>
              <a:t>72 </a:t>
            </a:r>
            <a:r>
              <a:rPr lang="zh-CN" altLang="en-US" dirty="0"/>
              <a:t>是学生真实考了 </a:t>
            </a:r>
            <a:r>
              <a:rPr lang="en-US" altLang="zh-CN" dirty="0"/>
              <a:t>72 </a:t>
            </a:r>
            <a:r>
              <a:rPr lang="zh-CN" altLang="en-US" dirty="0"/>
              <a:t>分，还是因为缺失而填入的。因此增加：</a:t>
            </a:r>
          </a:p>
          <a:p>
            <a:r>
              <a:rPr lang="en-US" altLang="zh-CN" dirty="0" err="1"/>
              <a:t>quiz_score_missing</a:t>
            </a:r>
            <a:r>
              <a:rPr lang="en-US" altLang="zh-CN" dirty="0"/>
              <a:t> = 1</a:t>
            </a:r>
            <a:r>
              <a:rPr lang="zh-CN" altLang="en-US" dirty="0"/>
              <a:t>：原值缺失</a:t>
            </a:r>
            <a:br>
              <a:rPr lang="zh-CN" altLang="en-US" dirty="0"/>
            </a:br>
            <a:r>
              <a:rPr lang="en-US" altLang="zh-CN" dirty="0" err="1"/>
              <a:t>quiz_score_missing</a:t>
            </a:r>
            <a:r>
              <a:rPr lang="en-US" altLang="zh-CN" dirty="0"/>
              <a:t> = 0</a:t>
            </a:r>
            <a:r>
              <a:rPr lang="zh-CN" altLang="en-US" dirty="0"/>
              <a:t>：原值存在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左侧展示 program 的原始类别；中间展示错误的 1、2、3 编码；右侧展示 one-hot。说明普通整数编码会让模型误以为类别之间存在大小和距离。</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收束语：标称类别通常用 one-hot；只有真正有顺序的类别才使用有序编码。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先看完整编码：三个类别分别对应三列，每一行只有一个位置为 1。在线性回归或逻辑回归包含截距项时，三列之和恒等于 1，会与截距形成完全共线，因此常删除一列。这里把 Psychology 设为基准类别，只保留 program_AI 和 program_Education。此时 Psychology 对应的 0、0 不是缺失值，而是明确表示基准类别；模型截距描述基准类别，其他两个系数表示相对于 Psychology 的差异。树模型等方法不一定需要删除基准列，应根据算法和解释目标决定编码方案。</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收束语：使用 k - 1 个变量时，全 0 表示基准类别，不表示数据缺失。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解释公式中 x、min、max 的含义，并指出训练集参数复用原则。</a:t>
            </a:r>
          </a:p>
          <a:p>
            <a:r>
              <a:t>参考来源：UMN Introduction to Data Mining, Chapter 2: Data — objects, attributes, data sets, data quality, proximity measures and preprocessing.</a:t>
            </a:r>
          </a:p>
          <a:p>
            <a:r>
              <a:t>讲解顺序：1. 把原始值映射到固定区间，常用 [0, 1]；2. min 与 max 必须只由训练集计算；3. 对新数据使用同一组 min 与 max；4. 极端值会压缩大多数样本的差异</a:t>
            </a:r>
          </a:p>
          <a:p>
            <a:r>
              <a:t>讲解方式：先解释每个符号，再代入贯穿案例中的数值计算，并说明公式适用条件。</a:t>
            </a:r>
          </a:p>
          <a:p>
            <a:r>
              <a:t>收束语：归一化改变尺度，不改变样本的相对顺序。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完整代入公式。重点解释新数据可能超出训练范围，不能为了把 1.20 压回 1 而重新用测试数据计算 max。</a:t>
            </a:r>
          </a:p>
          <a:p>
            <a:r>
              <a:t>参考来源：UMN Introduction to Data Mining, Chapter 2: Data — objects, attributes, data sets, data quality, proximity measures and preprocessing.</a:t>
            </a:r>
          </a:p>
          <a:p>
            <a:r>
              <a:t>讲解顺序：1. 训练集范围：min = 0，max = 20；2. 学生 S002：x = 3；3. 代入公式：(3 − 0) / (20 − 0) = 0.15；4. 新学生 x = 24：仍使用训练参数，结果为 1.20；5. 解释：超过 1 并非计算错误，而是新数据超出训练范围</a:t>
            </a:r>
          </a:p>
          <a:p>
            <a:r>
              <a:t>讲解方式：先给出原始数据，再逐步计算或处理，最后解释结果改变了什么判断。</a:t>
            </a:r>
          </a:p>
          <a:p>
            <a:r>
              <a:t>收束语：测试数据不能反过来修改训练阶段确定的缩放参数。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解释 Z-score 不会把数据限制在固定区间。均值和标准差同样只能在训练集计算。</a:t>
            </a:r>
          </a:p>
          <a:p>
            <a:r>
              <a:t>参考来源：UMN Introduction to Data Mining, Chapter 2: Data — objects, attributes, data sets, data quality, proximity measures and preprocessing.</a:t>
            </a:r>
          </a:p>
          <a:p>
            <a:r>
              <a:t>讲解顺序：1. 中心化：减去训练集均值 μ；2. 尺度化：除以训练集标准差 σ；3. 标准化后 0 表示训练集平均水平；4. 正负值表示高于或低于平均水平</a:t>
            </a:r>
          </a:p>
          <a:p>
            <a:r>
              <a:t>讲解方式：先解释每个符号，再代入贯穿案例中的数值计算，并说明公式适用条件。</a:t>
            </a:r>
          </a:p>
          <a:p>
            <a:r>
              <a:t>收束语：Z-score 适合比较不同量纲下的相对位置。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先强调原始值不能直接比较：12 次登录和 0.80 的视频完成率使用不同单位。第一个变量只使用训练集统计量，计算得到 (12 减 8) 除以 4，结果为正 1；第二个变量计算 (0.80 减 0.60) 除以 0.20，同样得到正 1。把两个结果放到共同的 Z-score 坐标轴上，它们都位于训练集均值右侧一个标准差。这说明两项行为相对于各自分布都处于相同位置。标准化没有让登录次数和视频完成率变成同一种含义，只让依赖距离或梯度的模型能够在相近尺度上使用它们。</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收束语：Z-score 统一的是相对位置和数值尺度，不会消除变量的语义差异。</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用两名学生比较：登录次数相差 10，视频完成率只相差 0.1。原始欧氏距离几乎全部由登录次数决定；标准化后两列才按相对差异共同贡献。</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收束语：只要算法依赖距离或梯度，缩放就可能改变结果。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逐行解释变换如何改变解释。重点指出比例的分母必须有业务含义，移动平均不能使用预测时点之后的数据。</a:t>
            </a:r>
          </a:p>
          <a:p>
            <a:r>
              <a:t>参考来源：UMN Introduction to Data Mining, Chapter 2: Data — objects, attributes, data sets, data quality, proximity measures and preprocessing.</a:t>
            </a:r>
          </a:p>
          <a:p>
            <a:r>
              <a:t>讲解顺序：1. 变换：作用：典型场景；2. log(1 + x)：压缩长尾和极端大值：点击数、时长、交易金额；3. 平方根：温和压缩右偏分布：计数数据；4. 比例：除以可比较的机会数：观看分钟 / 可用视频分钟；5. 差分：关注相邻时间点变化：本周登录 − 上周登录；6. 移动平均：降低短期波动：连续多周活跃趋势</a:t>
            </a:r>
          </a:p>
          <a:p>
            <a:r>
              <a:t>讲解方式：按行解释表格，并指出不同数据类型、处理方法和评价方式为什么不能混用。</a:t>
            </a:r>
          </a:p>
          <a:p>
            <a:r>
              <a:t>收束语：变换不仅改变分布，也重新定义了特征表达的问题。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对比简单随机抽样与分层抽样。若退课只占 5%，简单随机抽样可能得到很少正例；分层抽样可保证训练分析中有足够的退课样本，但最终评估仍应反映真实比例。</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收束语：抽样用于提高计算与分析效率，不能悄悄改变结论适用的人群。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用 video_rate 演示等宽与等频两种切分。等宽保持区间宽度一致，等频让每个区间样本数接近；两者产生的边界和解释不同。</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收束语：离散化边界必须由训练数据确定，并与解释目的相匹配。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依次展示一维、二维、三维中的网格。相同数量的样本分散到更多单元后，邻居更少，距离差异变弱，这就是维度灾难的直观来源。</a:t>
            </a:r>
          </a:p>
          <a:p>
            <a:r>
              <a:t>参考来源：UMN Introduction to Data Mining, Chapter 2: Data — objects, attributes, data sets, data quality, proximity measures and preprocessing. Curse of Dimensionality. Stanford CS246 Mining Massive Data Sets — sparse and high-dimensional data representation.</a:t>
            </a:r>
          </a:p>
          <a:p>
            <a:r>
              <a:t>讲解方式：不要只读要点；每个概念都连接到 student-week 数据中的一个具体变量或处理决定。</a:t>
            </a:r>
          </a:p>
          <a:p>
            <a:r>
              <a:t>收束语：高维数据需要更多样本，并常常需要选择或压缩特征。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对比选择与构造。强调特征选择减少维度，特征构造改变表示；二者都必须在预测时点内完成。</a:t>
            </a:r>
          </a:p>
          <a:p>
            <a:r>
              <a:t>参考来源：UMN Introduction to Data Mining, Chapter 2: Data — objects, attributes, data sets, data quality, proximity measures and preprocessing.</a:t>
            </a:r>
          </a:p>
          <a:p>
            <a:r>
              <a:t>讲解顺序：1. Feature Selection 从已有变量中保留一部分 删除重复、无关或不稳定变量 结果仍保持原变量含义 例：从 120 个日志字段保留 18 个；2. Feature Creation 由原始变量构造新表达 聚合、比例、趋势或交互 可能提高信号，也可能引入泄漏 例：近 4 周登录下降斜率</a:t>
            </a:r>
          </a:p>
          <a:p>
            <a:r>
              <a:t>讲解方式：先明确左右两边的定义，再用同一组数据说明两种处理方式会产生怎样不同的结果。</a:t>
            </a:r>
          </a:p>
          <a:p>
            <a:r>
              <a:t>收束语：好的特征应同时具有信息量、稳定性和可解释性。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u="none" strike="noStrike" kern="1200" dirty="0">
                <a:effectLst/>
              </a:rPr>
              <a:t>PCA</a:t>
            </a:r>
            <a:r>
              <a:rPr lang="zh-CN" altLang="en-US" sz="1200" b="1" u="none" strike="noStrike" kern="1200" dirty="0">
                <a:effectLst/>
              </a:rPr>
              <a:t>（主成分分析，</a:t>
            </a:r>
            <a:r>
              <a:rPr lang="en-US" altLang="zh-CN" sz="1200" b="1" u="none" strike="noStrike" kern="1200" dirty="0">
                <a:effectLst/>
              </a:rPr>
              <a:t>Principal Component Analysis</a:t>
            </a:r>
            <a:r>
              <a:rPr lang="zh-CN" altLang="en-US" sz="1200" b="1" u="none" strike="noStrike" kern="1200" dirty="0">
                <a:effectLst/>
              </a:rPr>
              <a:t>）主要用于解决数据维度过高带来的“维数灾难”问题。</a:t>
            </a:r>
            <a:r>
              <a:rPr lang="zh-CN" altLang="en-US" dirty="0"/>
              <a:t> 它通过</a:t>
            </a:r>
            <a:r>
              <a:rPr lang="zh-CN" altLang="en-US" sz="1200" b="1" u="none" strike="noStrike" kern="1200" dirty="0">
                <a:effectLst/>
              </a:rPr>
              <a:t>降维</a:t>
            </a:r>
            <a:r>
              <a:rPr lang="zh-CN" altLang="en-US" sz="1200" b="0" u="none" strike="noStrike" kern="1200" dirty="0">
                <a:effectLst/>
              </a:rPr>
              <a:t>的方式，在</a:t>
            </a:r>
            <a:r>
              <a:rPr lang="zh-CN" altLang="en-US" sz="1200" b="1" u="none" strike="noStrike" kern="1200" dirty="0">
                <a:effectLst/>
              </a:rPr>
              <a:t>尽量保留原始数据特征（方差）</a:t>
            </a:r>
            <a:r>
              <a:rPr lang="zh-CN" altLang="en-US" sz="1200" b="0" u="none" strike="noStrike" kern="1200" dirty="0">
                <a:effectLst/>
              </a:rPr>
              <a:t>的前提下，将大量相关的变量转化为少数几个互不相关的综合指标。</a:t>
            </a:r>
            <a:endParaRPr lang="en-US" altLang="zh-CN" sz="1200" b="0" u="none" strike="noStrike" kern="1200" dirty="0">
              <a:effectLst/>
            </a:endParaRPr>
          </a:p>
          <a:p>
            <a:endParaRPr lang="en-US" sz="1200" b="0" u="none" strike="noStrike" kern="1200" dirty="0">
              <a:effectLst/>
            </a:endParaRPr>
          </a:p>
          <a:p>
            <a:r>
              <a:rPr lang="zh-CN" altLang="en-US" sz="1200" b="1" u="none" strike="noStrike" kern="1200" dirty="0">
                <a:effectLst/>
              </a:rPr>
              <a:t>消除特征冗余（多重共线性）</a:t>
            </a:r>
            <a:r>
              <a:rPr lang="zh-CN" altLang="en-US" sz="1200" b="0" u="none" strike="noStrike" kern="1200" dirty="0">
                <a:effectLst/>
              </a:rPr>
              <a:t>：在海量数据中，很多指标往往相互关联（例如身高和体重、房子的面积和房间数）。</a:t>
            </a:r>
            <a:r>
              <a:rPr lang="en-US" altLang="zh-CN" sz="1200" b="0" u="none" strike="noStrike" kern="1200" dirty="0">
                <a:effectLst/>
              </a:rPr>
              <a:t>PCA </a:t>
            </a:r>
            <a:r>
              <a:rPr lang="zh-CN" altLang="en-US" sz="1200" b="0" u="none" strike="noStrike" kern="1200" dirty="0">
                <a:effectLst/>
              </a:rPr>
              <a:t>可以将这些高度相关的变量转化为彼此独立的“主成分”，避免特征重复对模型造成干扰。</a:t>
            </a:r>
          </a:p>
          <a:p>
            <a:r>
              <a:rPr lang="zh-CN" altLang="en-US" sz="1200" b="1" u="none" strike="noStrike" kern="1200" dirty="0">
                <a:effectLst/>
              </a:rPr>
              <a:t>提升模型计算效率</a:t>
            </a:r>
            <a:r>
              <a:rPr lang="zh-CN" altLang="en-US" sz="1200" b="0" u="none" strike="noStrike" kern="1200" dirty="0">
                <a:effectLst/>
              </a:rPr>
              <a:t>：高维数据包含大量特征，直接输入机器学习模型会导致计算量爆炸。降维后，数据量大幅减少，从而</a:t>
            </a:r>
            <a:r>
              <a:rPr lang="zh-CN" altLang="en-US" sz="1200" b="1" u="none" strike="noStrike" kern="1200" dirty="0">
                <a:effectLst/>
              </a:rPr>
              <a:t>显著加快模型的训练和预测速度</a:t>
            </a:r>
            <a:r>
              <a:rPr lang="zh-CN" altLang="en-US" sz="1200" b="0" u="none" strike="noStrike" kern="1200" dirty="0">
                <a:effectLst/>
              </a:rPr>
              <a:t>。</a:t>
            </a:r>
          </a:p>
          <a:p>
            <a:r>
              <a:rPr lang="zh-CN" altLang="en-US" sz="1200" b="1" u="none" strike="noStrike" kern="1200" dirty="0">
                <a:effectLst/>
              </a:rPr>
              <a:t>防止模型过拟合</a:t>
            </a:r>
            <a:r>
              <a:rPr lang="zh-CN" altLang="en-US" sz="1200" b="0" u="none" strike="noStrike" kern="1200" dirty="0">
                <a:effectLst/>
              </a:rPr>
              <a:t>：特征过多、样本较少时，模型容易把噪声当成规律，导致过拟合。</a:t>
            </a:r>
            <a:r>
              <a:rPr lang="en-US" altLang="zh-CN" sz="1200" b="0" u="none" strike="noStrike" kern="1200" dirty="0">
                <a:effectLst/>
              </a:rPr>
              <a:t>PCA </a:t>
            </a:r>
            <a:r>
              <a:rPr lang="zh-CN" altLang="en-US" sz="1200" b="0" u="none" strike="noStrike" kern="1200" dirty="0">
                <a:effectLst/>
              </a:rPr>
              <a:t>通过剔除贡献较小的次要成分（通常包含大量噪声），能够提高模型的泛化能力。</a:t>
            </a:r>
          </a:p>
          <a:p>
            <a:r>
              <a:rPr lang="zh-CN" altLang="en-US" sz="1200" b="1" u="none" strike="noStrike" kern="1200" dirty="0">
                <a:effectLst/>
              </a:rPr>
              <a:t>实现数据可视化</a:t>
            </a:r>
            <a:r>
              <a:rPr lang="zh-CN" altLang="en-US" sz="1200" b="0" u="none" strike="noStrike" kern="1200" dirty="0">
                <a:effectLst/>
              </a:rPr>
              <a:t>：人类只能直观理解三维及以下的空间。如果数据有几十甚至上百个特征，</a:t>
            </a:r>
            <a:r>
              <a:rPr lang="en-US" altLang="zh-CN" sz="1200" b="0" u="none" strike="noStrike" kern="1200" dirty="0">
                <a:effectLst/>
              </a:rPr>
              <a:t>PCA </a:t>
            </a:r>
            <a:r>
              <a:rPr lang="zh-CN" altLang="en-US" sz="1200" b="0" u="none" strike="noStrike" kern="1200" dirty="0">
                <a:effectLst/>
              </a:rPr>
              <a:t>可以将它们降到 </a:t>
            </a:r>
            <a:r>
              <a:rPr lang="en-US" altLang="zh-CN" sz="1200" b="1" u="none" strike="noStrike" kern="1200" dirty="0">
                <a:effectLst/>
              </a:rPr>
              <a:t>2</a:t>
            </a:r>
            <a:r>
              <a:rPr lang="zh-CN" altLang="en-US" sz="1200" b="1" u="none" strike="noStrike" kern="1200" dirty="0">
                <a:effectLst/>
              </a:rPr>
              <a:t>维或</a:t>
            </a:r>
            <a:r>
              <a:rPr lang="en-US" altLang="zh-CN" sz="1200" b="1" u="none" strike="noStrike" kern="1200" dirty="0">
                <a:effectLst/>
              </a:rPr>
              <a:t>3</a:t>
            </a:r>
            <a:r>
              <a:rPr lang="zh-CN" altLang="en-US" sz="1200" b="1" u="none" strike="noStrike" kern="1200" dirty="0">
                <a:effectLst/>
              </a:rPr>
              <a:t>维</a:t>
            </a:r>
            <a:r>
              <a:rPr lang="zh-CN" altLang="en-US" sz="1200" b="0" u="none" strike="noStrike" kern="1200" dirty="0">
                <a:effectLst/>
              </a:rPr>
              <a:t>，从而可以通过散点图等方式直接观察数据的分布、聚类趋势和异常值。</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先确定预测时点：第 4 周末做预测时，模型只能使用 W1 到 W4 已经发生的行为；W5 到 W8 的退课结果用于定义标签和最终评估，不能反向进入特征。时间泄漏是把未来登录次数等部署时不可获得的信息放进 X。统计泄漏是先合并训练集与测试集，再计算填补值、均值或标准差。表示泄漏是先用全数据学习 PCA 方向或选择特征，再进行划分。三类错误都会让模型间接看到测试信息，使线下指标虚高而部署表现下降。</a:t>
            </a:r>
          </a:p>
          <a:p>
            <a:r>
              <a:t>参考来源：INT6163 course design: data collection, management, preprocessing, exploratory analysis and evidence-based interpretation. CMU 10-601 Introduction to Machine Learning — train/test separation and leakage-aware preprocessing.</a:t>
            </a:r>
          </a:p>
          <a:p>
            <a:r>
              <a:t>讲解方式：不要只读要点；每个概念都连接到 student-week 数据中的一个具体变量或处理决定。</a:t>
            </a:r>
          </a:p>
          <a:p>
            <a:r>
              <a:t>收束语：预测时点之后的信息，以及测试集学到的任何参数，都不能进入训练流程。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逐步强调 fit 与 transform 的区别：均值、标准差、类别字典、PCA 方向都只在训练集拟合；测试集只接受转换。</a:t>
            </a:r>
          </a:p>
          <a:p>
            <a:r>
              <a:t>参考来源：CMU 10-601 Introduction to Machine Learning — train/test separation and leakage-aware preprocessing. UMN Introduction to Data Mining, Chapter 2: Data — objects, attributes, data sets, data quality, proximity measures and preprocessing.</a:t>
            </a:r>
          </a:p>
          <a:p>
            <a:r>
              <a:t>讲解顺序：1. 划分训练与测试；2. 在训练集拟合；3. 转换训练集；4. 转换测试集；5. 训练与评估</a:t>
            </a:r>
          </a:p>
          <a:p>
            <a:r>
              <a:t>讲解方式：从左到右讲清每一步输入和输出，强调漏掉任何一步都会影响最终结论可信度。</a:t>
            </a:r>
          </a:p>
          <a:p>
            <a:r>
              <a:t>收束语：先划分，再拟合预处理；测试集只能 transform，不能 fit。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进入相似度与距离。说明聚类、最近邻和异常检测都依赖“对象之间有多接近”的定义。</a:t>
            </a:r>
          </a:p>
          <a:p>
            <a:r>
              <a:t>参考来源：UMN Introduction to Data Mining, Chapter 2: Data — objects, attributes, data sets, data quality, proximity measures and preprocessing.</a:t>
            </a:r>
          </a:p>
          <a:p>
            <a:r>
              <a:t>过渡语：先说明这一部分解决的数据问题，再进入定义、公式和贯穿案例。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先区分相似度和相异度的方向，再说明两者可以相互转换，例如 d = 1 − s，但转换后未必满足度量性质。</a:t>
            </a:r>
          </a:p>
          <a:p>
            <a:r>
              <a:t>参考来源：UMN Introduction to Data Mining, Chapter 2: Data — objects, attributes, data sets, data quality, proximity measures and preprocessing.</a:t>
            </a:r>
          </a:p>
          <a:p>
            <a:r>
              <a:t>讲解顺序：1. Similarity 相似度 对象越相似，数值越大 常见范围为 0–1 完全相同通常取 1 例：cosine similarity、Jaccard；2. Dissimilarity 相异度 对象越不同，数值越大 完全相同通常取 0 距离是满足额外性质的相异度 例：Euclidean、Manhattan</a:t>
            </a:r>
          </a:p>
          <a:p>
            <a:r>
              <a:t>讲解方式：先明确左右两边的定义，再用同一组数据说明两种处理方式会产生怎样不同的结果。</a:t>
            </a:r>
          </a:p>
          <a:p>
            <a:r>
              <a:t>收束语：比较方法必须说明方向、范围和“相同”时的取值。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逐项解释四个性质。用校园三地点路线说明三角不等式：直接距离不应大于经由中间点的总距离。</a:t>
            </a:r>
          </a:p>
          <a:p>
            <a:r>
              <a:t>参考来源：UMN Introduction to Data Mining, Chapter 2: Data — objects, attributes, data sets, data quality, proximity measures and preprocessing. Measures of Similarity and Dissimilarity.</a:t>
            </a:r>
          </a:p>
          <a:p>
            <a:r>
              <a:t>讲解顺序：1. 非负性：d(x, y) ≥ 0；2. 同一性：d(x, y) = 0 当且仅当 x = y；3. 对称性：d(x, y) = d(y, x)；4. 三角不等式：d(x, z) ≤ d(x, y) + d(y, z)</a:t>
            </a:r>
          </a:p>
          <a:p>
            <a:r>
              <a:t>讲解方式：不要只读要点；每个概念都连接到 student-week 数据中的一个具体变量或处理决定。</a:t>
            </a:r>
          </a:p>
          <a:p>
            <a:r>
              <a:t>收束语：满足四个性质的相异度才是严格意义上的 metric。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按属性类型说明比较方式。重点解释非对称二元中 1 通常表示稀少且重要的事件，因此共同为 0 不应增加相似度。</a:t>
            </a:r>
          </a:p>
          <a:p>
            <a:r>
              <a:t>参考来源：UMN Introduction to Data Mining, Chapter 2: Data — objects, attributes, data sets, data quality, proximity measures and preprocessing.</a:t>
            </a:r>
          </a:p>
          <a:p>
            <a:r>
              <a:t>讲解顺序：1. 属性类型：比较方式：示例；2. 标称：相同为 1，不同为 0：program 是否相同；3. 有序：先转为秩，再按秩差比较：engagement_level：低 / 中 / 高；4. 区间 / 比率：绝对差或标准化差：quiz_score、video_rate；5. 对称二元：同时为 0 和同时为 1 都重要：是否住校；6. 非对称二元：共同缺席通常不算相似：是否退课、是否患病</a:t>
            </a:r>
          </a:p>
          <a:p>
            <a:r>
              <a:t>讲解方式：按行解释表格，并指出不同数据类型、处理方法和评价方式为什么不能混用。</a:t>
            </a:r>
          </a:p>
          <a:p>
            <a:r>
              <a:t>收束语：数据类型决定怎样比较，不能对所有列统一套欧氏距离。</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解释二维和多维欧氏距离是直线距离。提醒各维度单位差异会直接改变结果。</a:t>
            </a:r>
          </a:p>
          <a:p>
            <a:r>
              <a:t>参考来源：UMN Introduction to Data Mining, Chapter 2: Data — objects, attributes, data sets, data quality, proximity measures and preprocessing.</a:t>
            </a:r>
          </a:p>
          <a:p>
            <a:r>
              <a:t>讲解顺序：1. 计算每个维度的差；2. 将差值平方后求和；3. 最后开平方；4. 适合连续数值且各维度尺度可比较的情况</a:t>
            </a:r>
          </a:p>
          <a:p>
            <a:r>
              <a:t>讲解方式：先解释每个符号，再代入贯穿案例中的数值计算，并说明公式适用条件。</a:t>
            </a:r>
          </a:p>
          <a:p>
            <a:r>
              <a:t>收束语：欧氏距离把每个维度的平方差累加。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逐步写出差值、平方、求和与开方。说明 0.566 本身没有绝对好坏，必须与其他对象间距离比较。</a:t>
            </a:r>
          </a:p>
          <a:p>
            <a:r>
              <a:t>参考来源：UMN Introduction to Data Mining, Chapter 2: Data — objects, attributes, data sets, data quality, proximity measures and preprocessing.</a:t>
            </a:r>
          </a:p>
          <a:p>
            <a:r>
              <a:t>讲解顺序：1. 标准化特征：A = (0.20, 0.90)，B = (0.60, 0.50)；2. 第一维差：0.20 − 0.60 = −0.40；3. 第二维差：0.90 − 0.50 = 0.40；4. 平方和：(−0.40)² + 0.40² = 0.32；5. 距离：√0.32 ≈ 0.566</a:t>
            </a:r>
          </a:p>
          <a:p>
            <a:r>
              <a:t>讲解方式：先给出原始数据，再逐步计算或处理，最后解释结果改变了什么判断。</a:t>
            </a:r>
          </a:p>
          <a:p>
            <a:r>
              <a:t>收束语：距离的意义来自相对比较，而不是单个数字。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用同一对学生代入：|0.20−0.60| + |0.90−0.50| = 0.80。与欧氏距离 0.566 对比，强调数值大小不能跨不同度量直接比较。</a:t>
            </a:r>
          </a:p>
          <a:p>
            <a:r>
              <a:t>参考来源：UMN Introduction to Data Mining, Chapter 2: Data — objects, attributes, data sets, data quality, proximity measures and preprocessing.</a:t>
            </a:r>
          </a:p>
          <a:p>
            <a:r>
              <a:t>讲解顺序：1. 对每个维度计算绝对差；2. 直接累加，不对差值平方；3. 对单个维度的大偏差没有平方放大；4. 适合网格路径或希望降低极端差影响的场景</a:t>
            </a:r>
          </a:p>
          <a:p>
            <a:r>
              <a:t>讲解方式：先解释每个符号，再代入贯穿案例中的数值计算，并说明公式适用条件。</a:t>
            </a:r>
          </a:p>
          <a:p>
            <a:r>
              <a:t>收束语：Manhattan 与 Euclidean 对多维差异的组合方式不同。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左侧画欧氏距离半径相同的圆形邻域，右侧画 Manhattan 距离的菱形邻域。说明邻域形状会改变最近邻和聚类结果。</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收束语：选择距离函数，就是在选择什么样的差异可以互相补偿。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比较查询学生 Q 与 A、B。原始量纲下登录次数主导，A 更近；标准化后视频完成率差异被放大，B 可能更近。用这个结果连接前面的标准化。</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收束语：距离算法的结果与预处理方案不可分割。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解释余弦相似度为夹角的余弦。两个向量方向相同，即使长度不同，相似度也可以接近 1。</a:t>
            </a:r>
          </a:p>
          <a:p>
            <a:r>
              <a:t>参考来源：UMN Introduction to Data Mining, Chapter 2: Data — objects, attributes, data sets, data quality, proximity measures and preprocessing. Cosine Similarity. Stanford CS246 Mining Massive Data Sets — sparse and high-dimensional data representation.</a:t>
            </a:r>
          </a:p>
          <a:p>
            <a:r>
              <a:t>讲解顺序：1. 分子是两个向量的点积；2. 分母用两个向量长度归一化；3. 关注出现模式的方向，而不是总量；4. 适合文本词频和高维稀疏向量</a:t>
            </a:r>
          </a:p>
          <a:p>
            <a:r>
              <a:t>讲解方式：先解释每个符号，再代入贯穿案例中的数值计算，并说明公式适用条件。</a:t>
            </a:r>
          </a:p>
          <a:p>
            <a:r>
              <a:t>收束语：当总量差异不重要而相对模式重要时，cosine 更合适。</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先读取两个资源访问向量：A 为 3、0、4，B 为 6、0、8，因此 B 正好等于 2A。计算点积得到 50，两个向量的长度分别为 5 和 10，所以余弦相似度等于 50 除以 50，即 1。方向图中 B 与 A 位于同一条射线上，夹角为 0 度。再与欧氏距离比较：B 减 A 等于 3、0、4，因此欧氏距离为 5。两种结果并不冲突，cosine 说明访问组成比例完全相同，欧氏距离说明绝对访问量仍有明显差异。</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收束语：Cosine 比较组成方向；Euclidean distance 比较绝对差异。</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以资源访问集合说明交集与并集。若 A 访问 {1,2,4}，B 访问 {2,4,5}，交集为 2，并集为 4，Jaccard = 0.5。</a:t>
            </a:r>
          </a:p>
          <a:p>
            <a:r>
              <a:t>参考来源：UMN Introduction to Data Mining, Chapter 2: Data — objects, attributes, data sets, data quality, proximity measures and preprocessing.</a:t>
            </a:r>
          </a:p>
          <a:p>
            <a:r>
              <a:t>讲解顺序：1. 只关心至少一个对象出现过的项目；2. 共同为 1 计入交集；3. 至少一个为 1 计入并集；4. 共同为 0 不增加相似度</a:t>
            </a:r>
          </a:p>
          <a:p>
            <a:r>
              <a:t>讲解方式：先解释每个符号，再代入贯穿案例中的数值计算，并说明公式适用条件。</a:t>
            </a:r>
          </a:p>
          <a:p>
            <a:r>
              <a:t>收束语：Jaccard 强调共同出现，而不把共同缺席当作相似。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逐行总结选择依据。强调选择不是按算法名字，而是按数据类型和“相似”的业务含义。</a:t>
            </a:r>
          </a:p>
          <a:p>
            <a:r>
              <a:t>参考来源：UMN Introduction to Data Mining, Chapter 2: Data — objects, attributes, data sets, data quality, proximity measures and preprocessing.</a:t>
            </a:r>
          </a:p>
          <a:p>
            <a:r>
              <a:t>讲解顺序：1. 数据 / 目的：优先考虑：原因；2. 连续数值、量纲可比：Euclidean：直线距离，几何解释清楚；3. 连续数值、希望减弱大偏差：Manhattan：绝对差累加；4. 文本词频或高维稀疏向量：Cosine：关注方向，不受总长度直接支配；5. 集合或非对称二元：Jaccard：忽略共同为 0；6. 混合属性：分类型计算后加权组合：避免把类别硬转成连续距离</a:t>
            </a:r>
          </a:p>
          <a:p>
            <a:r>
              <a:t>讲解方式：按行解释表格，并指出不同数据类型、处理方法和评价方式为什么不能混用。</a:t>
            </a:r>
          </a:p>
          <a:p>
            <a:r>
              <a:t>收束语：先定义业务上的相似，再选择数学度量。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解释加权平均距离。用学习行为说明可以同时比较 program、login_count、engagement_level 与资源集合。</a:t>
            </a:r>
          </a:p>
          <a:p>
            <a:r>
              <a:t>参考来源：UMN Introduction to Data Mining, Chapter 2: Data — objects, attributes, data sets, data quality, proximity measures and preprocessing.</a:t>
            </a:r>
          </a:p>
          <a:p>
            <a:r>
              <a:t>讲解顺序：1. 对数值、有序、标称和二元属性分别计算差异；2. 把每项差异归一到相近范围；3. 缺失的属性不参与该对象对的分母；4. 权重反映业务重要性，也会改变结果</a:t>
            </a:r>
          </a:p>
          <a:p>
            <a:r>
              <a:t>讲解方式：先解释每个符号，再代入贯穿案例中的数值计算，并说明公式适用条件。</a:t>
            </a:r>
          </a:p>
          <a:p>
            <a:r>
              <a:t>收束语：混合数据的距离应保留各属性类型的比较规则。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进入最后一部分。说明 EDA 用统计量和图形回答分布、差异、关系与异常四类问题。</a:t>
            </a:r>
          </a:p>
          <a:p>
            <a:r>
              <a:t>参考来源：UMN Introduction to Data Mining, Data Exploration — summary statistics, histograms, box plots, scatter plots, matrix plots and parallel coordinates.</a:t>
            </a:r>
          </a:p>
          <a:p>
            <a:r>
              <a:t>过渡语：先说明这一部分解决的数据问题，再进入定义、公式和贯穿案例。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依次解释四类问题：单变量看分布，多群体看差异，多变量看关系，时间与异常看稳定性。指出 EDA 不是随意画图，而是用图回答明确问题。</a:t>
            </a:r>
          </a:p>
          <a:p>
            <a:r>
              <a:t>参考来源：UMN Introduction to Data Mining, Data Exploration — summary statistics, histograms, box plots, scatter plots, matrix plots and parallel coordinates.</a:t>
            </a:r>
          </a:p>
          <a:p>
            <a:r>
              <a:t>讲解顺序：1. 分布；2. 群体差异；3. 变量关系；4. 时间与异常</a:t>
            </a:r>
          </a:p>
          <a:p>
            <a:r>
              <a:t>讲解方式：从左到右讲清每一步输入和输出，强调漏掉任何一步都会影响最终结论可信度。</a:t>
            </a:r>
          </a:p>
          <a:p>
            <a:r>
              <a:t>收束语：每一张图都应对应一个可说明的问题。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说明三个统计量回答不同问题。均值使用所有数值，中位数使用顺序，众数只依赖频率。</a:t>
            </a:r>
          </a:p>
          <a:p>
            <a:r>
              <a:t>参考来源：UMN Introduction to Data Mining, Chapter 2: Data — objects, attributes, data sets, data quality, proximity measures and preprocessing.</a:t>
            </a:r>
          </a:p>
          <a:p>
            <a:r>
              <a:t>讲解顺序：1. 统计量：定义：适合情况；2. 均值 Mean：所有值之和除以样本数：分布较对称，数值尺度有意义；3. 中位数 Median：排序后位于中间的位置：偏态分布或存在极端值；4. 众数 Mode：出现频率最高的取值：类别变量或离散取值</a:t>
            </a:r>
          </a:p>
          <a:p>
            <a:r>
              <a:t>讲解方式：按行解释表格，并指出不同数据类型、处理方法和评价方式为什么不能混用。</a:t>
            </a:r>
          </a:p>
          <a:p>
            <a:r>
              <a:t>收束语：中心位置没有唯一答案，要看分布形状与变量类型。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先看原始数据 2、3、3、4、8，均值为 4，中位数为 3。把最后一个值从 8 改成 80 后，均值被拉到 18.4，但排序后的中间位置没有改变，中位数仍为 3。下方对比说明，均值使用每个观测值的数值大小，因此对极端值敏感；中位数主要依赖排序位置，所以更稳健。最后强调处理规则：如果 80 是录入错误，应依据原始记录更正；如果它是真实的高活跃学生，则应保留，并使用中位数、四分位数等稳健统计描述分布，而不是自动删除。</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收束语：均值对数值大小敏感，中位数对极端值更稳健。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解释样本方差分母为 n−1。可用两组均值相同但波动不同的数据说明只看均值不够。</a:t>
            </a:r>
          </a:p>
          <a:p>
            <a:r>
              <a:t>参考来源：UMN Introduction to Data Mining, Chapter 2: Data — objects, attributes, data sets, data quality, proximity measures and preprocessing.</a:t>
            </a:r>
          </a:p>
          <a:p>
            <a:r>
              <a:t>讲解顺序：1. 极差 = 最大值 − 最小值，只使用两个端点；2. 方差计算每个值与均值的平方偏差；3. 标准差与原变量单位相同，更容易解释；4. 方差和标准差都对极端值敏感</a:t>
            </a:r>
          </a:p>
          <a:p>
            <a:r>
              <a:t>讲解方式：先解释每个符号，再代入贯穿案例中的数值计算，并说明公式适用条件。</a:t>
            </a:r>
          </a:p>
          <a:p>
            <a:r>
              <a:t>收束语：中心相同的两组数据，离散程度可能完全不同。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先将数据排序并分成上下两个半组。本例采用上下半组中位数法：下半组 1、2、3、4 的中位数为 2.5，因此 Q1 等于 2.5；全体数据的中位数为 4.5；上半组 5、8、12、20 的中位数为 10，因此 Q3 等于 10。中间百分之五十的数据位于 2.5 到 10 之间，IQR 等于 7.5。根据常用的 1.5 倍 IQR 规则，下界为负 8.75，上界为 21.25。最大值 20 没有超过上界，因此看起来很大，但不会被这条规则标记为潜在异常值。不同软件可能采用略有不同的分位数算法，报告结果时应说明所用定义。</a:t>
            </a:r>
          </a:p>
          <a:p>
            <a:r>
              <a:t>参考来源：UMN Introduction to Data Mining, Chapter 2: Data — objects, attributes, data sets, data quality, proximity measures and preprocessing.</a:t>
            </a:r>
          </a:p>
          <a:p>
            <a:r>
              <a:t>讲解方式：不要只读要点；每个概念都连接到 student-week 数据中的一个具体变量或处理决定。</a:t>
            </a:r>
          </a:p>
          <a:p>
            <a:r>
              <a:t>收束语：中间 50% 位于 2.5–10；20 未超过 IQR 上界 21.25。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展示同一组登录次数在合理分箱下的直方图。依次指出峰值、右偏、长尾和空区间；再说明分箱太宽会掩盖结构，太窄会放大随机波动。</a:t>
            </a:r>
          </a:p>
          <a:p>
            <a:r>
              <a:t>参考来源：UMN Introduction to Data Mining, Data Exploration — summary statistics, histograms, box plots, scatter plots, matrix plots and parallel coordinates. Histograms.</a:t>
            </a:r>
          </a:p>
          <a:p>
            <a:r>
              <a:t>讲解方式：不要只读要点；每个概念都连接到 student-week 数据中的一个具体变量或处理决定。</a:t>
            </a:r>
          </a:p>
          <a:p>
            <a:r>
              <a:t>收束语：直方图的结论依赖分箱，因此要同时检查不同合理粒度。</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讲稿</a:t>
            </a:r>
            <a:r>
              <a:rPr dirty="0"/>
              <a:t>：</a:t>
            </a:r>
          </a:p>
          <a:p>
            <a:r>
              <a:rPr dirty="0" err="1"/>
              <a:t>比较三门课程的</a:t>
            </a:r>
            <a:r>
              <a:rPr dirty="0"/>
              <a:t> </a:t>
            </a:r>
            <a:r>
              <a:rPr dirty="0" err="1"/>
              <a:t>video_rate。先解释箱体为</a:t>
            </a:r>
            <a:r>
              <a:rPr dirty="0"/>
              <a:t> Q1 </a:t>
            </a:r>
            <a:r>
              <a:rPr dirty="0" err="1"/>
              <a:t>到</a:t>
            </a:r>
            <a:r>
              <a:rPr dirty="0"/>
              <a:t> Q3，中线为中位数，须线表示常规范围，单独点表示潜在异常。Course B </a:t>
            </a:r>
            <a:r>
              <a:rPr dirty="0" err="1"/>
              <a:t>的中位数最高，为</a:t>
            </a:r>
            <a:r>
              <a:rPr dirty="0"/>
              <a:t> 0.58；Course A </a:t>
            </a:r>
            <a:r>
              <a:rPr dirty="0" err="1"/>
              <a:t>的</a:t>
            </a:r>
            <a:r>
              <a:rPr dirty="0"/>
              <a:t> IQR </a:t>
            </a:r>
            <a:r>
              <a:rPr dirty="0" err="1"/>
              <a:t>最大，为</a:t>
            </a:r>
            <a:r>
              <a:rPr dirty="0"/>
              <a:t> 0.48，说明中间百分之五十的差异更大；Course A </a:t>
            </a:r>
            <a:r>
              <a:rPr dirty="0" err="1"/>
              <a:t>有一个较低的潜在异常点</a:t>
            </a:r>
            <a:r>
              <a:rPr dirty="0"/>
              <a:t> 0.05，Course C </a:t>
            </a:r>
            <a:r>
              <a:rPr dirty="0" err="1"/>
              <a:t>有一个较高的潜在异常点</a:t>
            </a:r>
            <a:r>
              <a:rPr dirty="0"/>
              <a:t> 0.96。比较群体时要同时看中心、离散程度、偏态和异常点，而不是只比较中位数。</a:t>
            </a:r>
          </a:p>
          <a:p>
            <a:r>
              <a:rPr dirty="0" err="1"/>
              <a:t>参考来源：UMN</a:t>
            </a:r>
            <a:r>
              <a:rPr dirty="0"/>
              <a:t> Introduction to Data Mining, Data Exploration — summary statistics, histograms, box plots, scatter plots, matrix plots and parallel coordinates. Box Plots.</a:t>
            </a:r>
          </a:p>
          <a:p>
            <a:r>
              <a:rPr dirty="0" err="1"/>
              <a:t>讲解方式：不要只读要点；每个概念都连接到</a:t>
            </a:r>
            <a:r>
              <a:rPr dirty="0"/>
              <a:t> student-week </a:t>
            </a:r>
            <a:r>
              <a:rPr dirty="0" err="1"/>
              <a:t>数据中的一个具体变量或处理决定</a:t>
            </a:r>
            <a:r>
              <a:rPr dirty="0"/>
              <a:t>。</a:t>
            </a:r>
          </a:p>
          <a:p>
            <a:r>
              <a:rPr dirty="0" err="1"/>
              <a:t>收束语：箱线图用于比较分布，不应只比较中位数一条线</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横轴为 video_rate，纵轴为 quiz_score，颜色区分是否退课。先看整体上升趋势，再看低完成率区域中退课点更集中，最后指出单个偏离点需要回查。</a:t>
            </a:r>
          </a:p>
          <a:p>
            <a:r>
              <a:t>参考来源：UMN Introduction to Data Mining, Data Exploration — summary statistics, histograms, box plots, scatter plots, matrix plots and parallel coordinates. Scatter Plots.</a:t>
            </a:r>
          </a:p>
          <a:p>
            <a:r>
              <a:t>讲解方式：不要只读要点；每个概念都连接到 student-week 数据中的一个具体变量或处理决定。</a:t>
            </a:r>
          </a:p>
          <a:p>
            <a:r>
              <a:t>收束语：散点图能提示关系，但不能单凭图形证明因果。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解释相关系数由标准化后的协方差得到。强调相关不是因果，且 r = 0 不代表变量完全无关。</a:t>
            </a:r>
          </a:p>
          <a:p>
            <a:r>
              <a:t>参考来源：UMN Introduction to Data Mining, Data Exploration — summary statistics, histograms, box plots, scatter plots, matrix plots and parallel coordinates. Correlation Analysis.</a:t>
            </a:r>
          </a:p>
          <a:p>
            <a:r>
              <a:t>讲解顺序：1. r 接近 1：两个变量近似同向线性变化；2. r 接近 −1：两个变量近似反向线性变化；3. r 接近 0：没有明显线性关系，但仍可能存在非线性关系；4. 极端值、混合群体和时间趋势都可能制造误导</a:t>
            </a:r>
          </a:p>
          <a:p>
            <a:r>
              <a:t>讲解方式：先解释每个符号，再代入贯穿案例中的数值计算，并说明公式适用条件。</a:t>
            </a:r>
          </a:p>
          <a:p>
            <a:r>
              <a:t>收束语：相关系数必须与散点图和业务机制一起解释。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逐格解释颜色表示相关方向与强度。指出 login_count、video_rate、quiz_score 之间正相关，而 missing_quiz 与它们负相关。提醒高相关可能表示冗余，也可能是同一行为链的不同阶段。</a:t>
            </a:r>
          </a:p>
          <a:p>
            <a:r>
              <a:t>参考来源：UMN Introduction to Data Mining, Data Exploration — summary statistics, histograms, box plots, scatter plots, matrix plots and parallel coordinates. Matrix Plots.</a:t>
            </a:r>
          </a:p>
          <a:p>
            <a:r>
              <a:t>讲解方式：不要只读要点；每个概念都连接到 student-week 数据中的一个具体变量或处理决定。</a:t>
            </a:r>
          </a:p>
          <a:p>
            <a:r>
              <a:t>收束语：相关矩阵适合发现候选关系，不能替代逐变量核查。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这一页在说明：</a:t>
            </a:r>
            <a:r>
              <a:rPr lang="zh-CN" altLang="en-US" b="1" dirty="0"/>
              <a:t>探索性数据分析（</a:t>
            </a:r>
            <a:r>
              <a:rPr lang="en-US" altLang="zh-CN" b="1" dirty="0"/>
              <a:t>EDA</a:t>
            </a:r>
            <a:r>
              <a:rPr lang="zh-CN" altLang="en-US" b="1" dirty="0"/>
              <a:t>）不只是“看看数据”，而是要用发现来决定后面的预处理、评估方式和模型选择。</a:t>
            </a:r>
            <a:endParaRPr lang="zh-CN" altLang="en-US" dirty="0"/>
          </a:p>
          <a:p>
            <a:r>
              <a:rPr lang="zh-CN" altLang="en-US" dirty="0"/>
              <a:t>四幅图分别表示：</a:t>
            </a:r>
          </a:p>
          <a:p>
            <a:r>
              <a:rPr lang="zh-CN" altLang="en-US" b="1" dirty="0"/>
              <a:t>标签比例</a:t>
            </a:r>
            <a:endParaRPr lang="zh-CN" altLang="en-US" dirty="0"/>
          </a:p>
          <a:p>
            <a:r>
              <a:rPr lang="zh-CN" altLang="en-US" dirty="0"/>
              <a:t>退课占 </a:t>
            </a:r>
            <a:r>
              <a:rPr lang="en-US" altLang="zh-CN" dirty="0"/>
              <a:t>20%</a:t>
            </a:r>
            <a:r>
              <a:rPr lang="zh-CN" altLang="en-US" dirty="0"/>
              <a:t>，未退课占 </a:t>
            </a:r>
            <a:r>
              <a:rPr lang="en-US" altLang="zh-CN" dirty="0"/>
              <a:t>80%</a:t>
            </a:r>
            <a:r>
              <a:rPr lang="zh-CN" altLang="en-US" dirty="0"/>
              <a:t>，说明类别不平衡。此时不能只看准确率，应考虑分层抽样，并关注召回率、</a:t>
            </a:r>
            <a:r>
              <a:rPr lang="en-US" altLang="zh-CN" dirty="0"/>
              <a:t>F1</a:t>
            </a:r>
            <a:r>
              <a:rPr lang="zh-CN" altLang="en-US" dirty="0"/>
              <a:t>、</a:t>
            </a:r>
            <a:r>
              <a:rPr lang="en-US" altLang="zh-CN" dirty="0"/>
              <a:t>PR-AUC </a:t>
            </a:r>
            <a:r>
              <a:rPr lang="zh-CN" altLang="en-US" dirty="0"/>
              <a:t>等指标，必要时使用类别权重或重采样。</a:t>
            </a:r>
          </a:p>
          <a:p>
            <a:r>
              <a:rPr lang="en-US" altLang="zh-CN" b="1" dirty="0" err="1"/>
              <a:t>quiz_score</a:t>
            </a:r>
            <a:r>
              <a:rPr lang="en-US" altLang="zh-CN" b="1" dirty="0"/>
              <a:t> </a:t>
            </a:r>
            <a:r>
              <a:rPr lang="zh-CN" altLang="en-US" b="1" dirty="0"/>
              <a:t>的分布</a:t>
            </a:r>
            <a:endParaRPr lang="zh-CN" altLang="en-US" dirty="0"/>
          </a:p>
          <a:p>
            <a:r>
              <a:rPr lang="zh-CN" altLang="en-US" dirty="0"/>
              <a:t>高分样本较多、低分样本较少，呈现低分长尾。需要检查极端值、分布偏斜，并判断是否需要标准化、稳健缩放或变换。</a:t>
            </a:r>
          </a:p>
          <a:p>
            <a:r>
              <a:rPr lang="zh-CN" altLang="en-US" b="1" dirty="0"/>
              <a:t>课程群体差异</a:t>
            </a:r>
            <a:endParaRPr lang="zh-CN" altLang="en-US" dirty="0"/>
          </a:p>
          <a:p>
            <a:r>
              <a:rPr lang="en-US" altLang="zh-CN" dirty="0"/>
              <a:t>A</a:t>
            </a:r>
            <a:r>
              <a:rPr lang="zh-CN" altLang="en-US" dirty="0"/>
              <a:t>、</a:t>
            </a:r>
            <a:r>
              <a:rPr lang="en-US" altLang="zh-CN" dirty="0"/>
              <a:t>B</a:t>
            </a:r>
            <a:r>
              <a:rPr lang="zh-CN" altLang="en-US" dirty="0"/>
              <a:t>、</a:t>
            </a:r>
            <a:r>
              <a:rPr lang="en-US" altLang="zh-CN" dirty="0"/>
              <a:t>C </a:t>
            </a:r>
            <a:r>
              <a:rPr lang="zh-CN" altLang="en-US" dirty="0"/>
              <a:t>三门课程的某个比例分别约为 </a:t>
            </a:r>
            <a:r>
              <a:rPr lang="en-US" altLang="zh-CN" dirty="0"/>
              <a:t>0.42</a:t>
            </a:r>
            <a:r>
              <a:rPr lang="zh-CN" altLang="en-US" dirty="0"/>
              <a:t>、</a:t>
            </a:r>
            <a:r>
              <a:rPr lang="en-US" altLang="zh-CN" dirty="0"/>
              <a:t>0.58</a:t>
            </a:r>
            <a:r>
              <a:rPr lang="zh-CN" altLang="en-US" dirty="0"/>
              <a:t>、</a:t>
            </a:r>
            <a:r>
              <a:rPr lang="en-US" altLang="zh-CN" dirty="0"/>
              <a:t>0.24——</a:t>
            </a:r>
            <a:r>
              <a:rPr lang="zh-CN" altLang="en-US" dirty="0"/>
              <a:t>结合案例，很可能是退课率。说明不同课程的学生群体或退课规律不同，因此课程可能是重要特征；数据划分和评估时也应检查各课程上的表现，不能只看总体结果。</a:t>
            </a:r>
          </a:p>
          <a:p>
            <a:r>
              <a:rPr lang="en-US" altLang="zh-CN" b="1" dirty="0"/>
              <a:t>video </a:t>
            </a:r>
            <a:r>
              <a:rPr lang="zh-CN" altLang="en-US" b="1" dirty="0"/>
              <a:t>与 </a:t>
            </a:r>
            <a:r>
              <a:rPr lang="en-US" altLang="zh-CN" b="1" dirty="0"/>
              <a:t>quiz </a:t>
            </a:r>
            <a:r>
              <a:rPr lang="zh-CN" altLang="en-US" b="1" dirty="0"/>
              <a:t>的关系</a:t>
            </a:r>
            <a:endParaRPr lang="zh-CN" altLang="en-US" dirty="0"/>
          </a:p>
          <a:p>
            <a:r>
              <a:rPr lang="zh-CN" altLang="en-US" dirty="0"/>
              <a:t>大多数点表现为正相关：视频学习越多，测验成绩通常越高。但红点是异常样本</a:t>
            </a:r>
            <a:r>
              <a:rPr lang="en-US" altLang="zh-CN" dirty="0"/>
              <a:t>——</a:t>
            </a:r>
            <a:r>
              <a:rPr lang="zh-CN" altLang="en-US" dirty="0"/>
              <a:t>视频量高、测验分数却低，需要检查它是真实现象、特殊学生，还是数据错误。也提示模型可能要考虑变量之间的关系或交互。</a:t>
            </a:r>
          </a:p>
          <a:p>
            <a:r>
              <a:rPr lang="zh-CN" altLang="en-US" dirty="0"/>
              <a:t>核心意思是：</a:t>
            </a:r>
          </a:p>
          <a:p>
            <a:r>
              <a:rPr lang="zh-CN" altLang="en-US" dirty="0"/>
              <a:t>先通过 </a:t>
            </a:r>
            <a:r>
              <a:rPr lang="en-US" altLang="zh-CN" dirty="0"/>
              <a:t>EDA </a:t>
            </a:r>
            <a:r>
              <a:rPr lang="zh-CN" altLang="en-US" dirty="0"/>
              <a:t>发现“不平衡、偏态、群体差异、变量关系和异常点”，再据此决定如何处理数据、选择指标和挑选模型。</a:t>
            </a:r>
          </a:p>
          <a:p>
            <a:r>
              <a:rPr lang="zh-CN" altLang="en-US" dirty="0"/>
              <a:t>同时，这些图只能说明</a:t>
            </a:r>
            <a:r>
              <a:rPr lang="zh-CN" altLang="en-US" b="1" dirty="0"/>
              <a:t>分布和相关性</a:t>
            </a:r>
            <a:r>
              <a:rPr lang="zh-CN" altLang="en-US" dirty="0"/>
              <a:t>，例如看视频多与成绩高有关，但不能直接证明“看视频导致成绩提高”。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用一个具体链条收束：发现 quiz 低分长尾，检查是否由缺考造成，按 missing 标记分组验证，决定保留缺失指示并使用稳健缩放，最后记录规则。</a:t>
            </a:r>
          </a:p>
          <a:p>
            <a:r>
              <a:t>参考来源：UMN Introduction to Data Mining, Chapter 2: Data — objects, attributes, data sets, data quality, proximity measures and preprocessing.</a:t>
            </a:r>
          </a:p>
          <a:p>
            <a:r>
              <a:t>讲解顺序：1. 发现；2. 解释；3. 验证；4. 处理；5. 记录</a:t>
            </a:r>
          </a:p>
          <a:p>
            <a:r>
              <a:t>讲解方式：从左到右讲清每一步输入和输出，强调漏掉任何一步都会影响最终结论可信度。</a:t>
            </a:r>
          </a:p>
          <a:p>
            <a:r>
              <a:t>收束语：EDA 不是报告终点，而是数据处理与建模决策的依据。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讲稿：</a:t>
            </a:r>
          </a:p>
          <a:p>
            <a:r>
              <a:t>按六点回顾本讲，并把它们重新串成一个顺序：定义数据、检查质量、预处理、比较对象、探索结构、记录决策。</a:t>
            </a:r>
          </a:p>
          <a:p>
            <a:r>
              <a:t>参考来源：INT6163 course design: data collection, management, preprocessing, exploratory analysis and evidence-based interpretation. UMN Introduction to Data Mining, Chapter 2: Data — objects, attributes, data sets, data quality, proximity measures and preprocessing. UMN Introduction to Data Mining, Data Exploration — summary statistics, histograms, box plots, scatter plots, matrix plots and parallel coordinates.</a:t>
            </a:r>
          </a:p>
          <a:p>
            <a:r>
              <a:t>讲解顺序：1. 数据表示：先定义对象粒度、属性语义和标签时间窗口；2. 数据质量：缺失、噪声、异常、重复与标签错误要分别处理；3. 数据预处理：填补、编码、缩放与降维参数只在训练集拟合；4. 相似度：数据类型与业务含义决定距离或相似度；5. 探索性分析：用统计量和图形理解分布、差异、关系与异常；6. 贯穿原则：处理前后都要比较，并保留可复现的审计记录</a:t>
            </a:r>
          </a:p>
          <a:p>
            <a:r>
              <a:t>讲解方式：不要只读要点；每个概念都连接到 student-week 数据中的一个具体变量或处理决定。</a:t>
            </a:r>
          </a:p>
          <a:p>
            <a:r>
              <a:t>收束语：可靠的数据分析始于正确表示、可追溯处理和充分探索。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angyy@eduhk.h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gif"/><Relationship Id="rId5" Type="http://schemas.openxmlformats.org/officeDocument/2006/relationships/image" Target="../media/image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gi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gi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7.gi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8.gif"/><Relationship Id="rId4" Type="http://schemas.openxmlformats.org/officeDocument/2006/relationships/image" Target="../media/image9.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5FFCEBE-8F8E-4A44-8A04-92D54B6EA3E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C8FECF39-26E6-4279-96BD-F697C1D18EE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71D22BCD-F6BD-4056-A816-70E67519CF8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2B8C978E-1F11-478D-880E-736CD6194D84}"/>
              </a:ext>
            </a:extLst>
          </p:cNvPr>
          <p:cNvSpPr>
            <a:spLocks noGrp="1"/>
          </p:cNvSpPr>
          <p:nvPr/>
        </p:nvSpPr>
        <p:spPr>
          <a:xfrm>
            <a:off x="1143000" y="1952625"/>
            <a:ext cx="99060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3300" b="1">
                <a:solidFill>
                  <a:srgbClr val="014DA1"/>
                </a:solidFill>
                <a:latin typeface="黑体"/>
                <a:ea typeface="黑体"/>
                <a:cs typeface="黑体"/>
              </a:defRPr>
            </a:pPr>
            <a:r>
              <a:rPr>
                <a:latin typeface="Times New Roman"/>
                <a:ea typeface="Times New Roman"/>
                <a:cs typeface="Times New Roman"/>
              </a:rPr>
              <a:t>INT6163 Advanced Data Analytics</a:t>
            </a:r>
          </a:p>
        </p:txBody>
      </p:sp>
      <p:sp>
        <p:nvSpPr>
          <p:cNvPr id="5" name="矩形 4">
            <a:extLst>
              <a:ext uri="{FF2B5EF4-FFF2-40B4-BE49-F238E27FC236}">
                <a16:creationId xmlns:a16="http://schemas.microsoft.com/office/drawing/2014/main" id="{3FDA3D2D-EB1C-43A7-97DA-C771F0D09701}"/>
              </a:ext>
            </a:extLst>
          </p:cNvPr>
          <p:cNvSpPr>
            <a:spLocks noGrp="1"/>
          </p:cNvSpPr>
          <p:nvPr/>
        </p:nvSpPr>
        <p:spPr>
          <a:xfrm>
            <a:off x="1314450" y="2857500"/>
            <a:ext cx="9525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00204A"/>
                </a:solidFill>
                <a:latin typeface="黑体"/>
                <a:ea typeface="黑体"/>
                <a:cs typeface="黑体"/>
              </a:defRPr>
            </a:pPr>
            <a:r>
              <a:rPr>
                <a:latin typeface="Times New Roman"/>
                <a:ea typeface="Times New Roman"/>
                <a:cs typeface="Times New Roman"/>
              </a:rPr>
              <a:t>Lesson 02 · </a:t>
            </a:r>
            <a:r>
              <a:rPr>
                <a:latin typeface="黑体"/>
                <a:ea typeface="黑体"/>
                <a:cs typeface="黑体"/>
              </a:rPr>
              <a:t>数据、数据质量与探索性分析</a:t>
            </a:r>
          </a:p>
        </p:txBody>
      </p:sp>
      <p:sp>
        <p:nvSpPr>
          <p:cNvPr id="8" name="文本框 7">
            <a:extLst>
              <a:ext uri="{FF2B5EF4-FFF2-40B4-BE49-F238E27FC236}">
                <a16:creationId xmlns:a16="http://schemas.microsoft.com/office/drawing/2014/main" id="{80951C3B-DF93-B255-5761-0722040AA579}"/>
              </a:ext>
            </a:extLst>
          </p:cNvPr>
          <p:cNvSpPr txBox="1"/>
          <p:nvPr/>
        </p:nvSpPr>
        <p:spPr>
          <a:xfrm>
            <a:off x="3027021" y="4361978"/>
            <a:ext cx="6099858" cy="1410643"/>
          </a:xfrm>
          <a:prstGeom prst="rect">
            <a:avLst/>
          </a:prstGeom>
          <a:noFill/>
        </p:spPr>
        <p:txBody>
          <a:bodyPr wrap="square">
            <a:spAutoFit/>
          </a:bodyPr>
          <a:lstStyle/>
          <a:p>
            <a:pPr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2000" b="1" u="none" dirty="0">
                <a:solidFill>
                  <a:srgbClr val="22228B"/>
                </a:solidFill>
                <a:latin typeface="Arial"/>
                <a:ea typeface="Arial"/>
                <a:cs typeface="Arial"/>
              </a:rPr>
              <a:t>Yin Nan</a:t>
            </a:r>
            <a:endParaRPr lang="en-US" altLang="zh-CN" sz="2000" b="1" u="none" dirty="0">
              <a:solidFill>
                <a:srgbClr val="FD020F"/>
              </a:solidFill>
              <a:latin typeface="Arial"/>
              <a:ea typeface="Arial"/>
              <a:cs typeface="Arial"/>
            </a:endParaRPr>
          </a:p>
          <a:p>
            <a:pPr algn="ctr">
              <a:lnSpc>
                <a:spcPts val="1397"/>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zh-CN" sz="2000" b="1" u="none" dirty="0">
              <a:solidFill>
                <a:srgbClr val="FD020F"/>
              </a:solidFill>
              <a:latin typeface="Arial"/>
              <a:ea typeface="Arial"/>
              <a:cs typeface="Arial"/>
            </a:endParaRPr>
          </a:p>
          <a:p>
            <a:pPr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800" b="1" u="none" dirty="0">
                <a:solidFill>
                  <a:srgbClr val="3333CC"/>
                </a:solidFill>
                <a:latin typeface="Arial"/>
                <a:ea typeface="Arial"/>
                <a:cs typeface="Arial"/>
              </a:rPr>
              <a:t>Department of Mathematics and Information Technology (MIT) </a:t>
            </a:r>
            <a:endParaRPr lang="en-US" altLang="zh-CN" sz="1800" b="1" u="none" dirty="0">
              <a:solidFill>
                <a:srgbClr val="FD020F"/>
              </a:solidFill>
              <a:latin typeface="Arial"/>
              <a:ea typeface="Arial"/>
              <a:cs typeface="Arial"/>
            </a:endParaRPr>
          </a:p>
          <a:p>
            <a:pPr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800" b="1" u="none" dirty="0">
                <a:solidFill>
                  <a:srgbClr val="22228B"/>
                </a:solidFill>
                <a:latin typeface="Arial"/>
                <a:ea typeface="Arial"/>
                <a:cs typeface="Arial"/>
              </a:rPr>
              <a:t>(E-mail: </a:t>
            </a:r>
            <a:r>
              <a:rPr lang="en-US" altLang="zh-CN" sz="1800" b="1" u="sng" dirty="0">
                <a:solidFill>
                  <a:srgbClr val="CCCCFF"/>
                </a:solidFill>
                <a:latin typeface="Arial"/>
                <a:ea typeface="Arial"/>
                <a:cs typeface="Arial"/>
                <a:hlinkClick r:id="rId3"/>
              </a:rPr>
              <a:t>nyin@eduhk.hk</a:t>
            </a:r>
            <a:r>
              <a:rPr lang="en-US" altLang="zh-CN" sz="1800" b="1" u="none" dirty="0">
                <a:solidFill>
                  <a:srgbClr val="22228B"/>
                </a:solidFill>
                <a:latin typeface="Arial"/>
                <a:ea typeface="Arial"/>
                <a:cs typeface="Arial"/>
              </a:rPr>
              <a:t>)</a:t>
            </a:r>
            <a:endParaRPr lang="en-US" altLang="zh-CN" sz="1800" b="1" u="none" dirty="0">
              <a:solidFill>
                <a:srgbClr val="FD020F"/>
              </a:solidFill>
              <a:latin typeface="Arial"/>
              <a:ea typeface="Arial"/>
              <a:cs typeface="Arial"/>
            </a:endParaRPr>
          </a:p>
        </p:txBody>
      </p:sp>
    </p:spTree>
    <p:extLst>
      <p:ext uri="{BB962C8B-B14F-4D97-AF65-F5344CB8AC3E}">
        <p14:creationId xmlns:p14="http://schemas.microsoft.com/office/powerpoint/2010/main" val="1595767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E9C2A297-5414-4664-A3E8-62D26E56795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084867E-4D51-4711-83E3-98E200ABCE6F}"/>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4BF0D250-B5F0-4C00-9A52-8C05FDC5685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0E2E8AE1-80A8-46C1-8FB7-FB29DA0A185F}"/>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本讲内容</a:t>
            </a:r>
          </a:p>
        </p:txBody>
      </p:sp>
      <p:sp>
        <p:nvSpPr>
          <p:cNvPr id="5" name="矩形 4">
            <a:extLst>
              <a:ext uri="{FF2B5EF4-FFF2-40B4-BE49-F238E27FC236}">
                <a16:creationId xmlns:a16="http://schemas.microsoft.com/office/drawing/2014/main" id="{6427DE04-3077-4E76-9267-03FF80A981EC}"/>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2/90</a:t>
            </a:r>
          </a:p>
        </p:txBody>
      </p:sp>
      <p:sp>
        <p:nvSpPr>
          <p:cNvPr id="6" name="矩形 5">
            <a:extLst>
              <a:ext uri="{FF2B5EF4-FFF2-40B4-BE49-F238E27FC236}">
                <a16:creationId xmlns:a16="http://schemas.microsoft.com/office/drawing/2014/main" id="{5F96DE9F-AD35-45E4-96E2-42FC7311E727}"/>
              </a:ext>
            </a:extLst>
          </p:cNvPr>
          <p:cNvSpPr>
            <a:spLocks noGrp="1"/>
          </p:cNvSpPr>
          <p:nvPr/>
        </p:nvSpPr>
        <p:spPr>
          <a:xfrm>
            <a:off x="990600" y="1238250"/>
            <a:ext cx="10210800" cy="1066800"/>
          </a:xfrm>
          <a:prstGeom prst="rect">
            <a:avLst/>
          </a:prstGeom>
          <a:solidFill>
            <a:srgbClr val="F6F9FE"/>
          </a:solidFill>
          <a:ln w="9525">
            <a:solidFill>
              <a:srgbClr val="B8C3D1"/>
            </a:solidFill>
            <a:prstDash val="solid"/>
          </a:ln>
        </p:spPr>
        <p:txBody>
          <a:bodyPr/>
          <a:lstStyle/>
          <a:p>
            <a:endParaRPr lang="zh-CN" altLang="en-US"/>
          </a:p>
        </p:txBody>
      </p:sp>
      <p:sp>
        <p:nvSpPr>
          <p:cNvPr id="7" name="椭圆 6">
            <a:extLst>
              <a:ext uri="{FF2B5EF4-FFF2-40B4-BE49-F238E27FC236}">
                <a16:creationId xmlns:a16="http://schemas.microsoft.com/office/drawing/2014/main" id="{A6C91D33-E8D6-480C-8526-46117EFBA81A}"/>
              </a:ext>
            </a:extLst>
          </p:cNvPr>
          <p:cNvSpPr>
            <a:spLocks noGrp="1"/>
          </p:cNvSpPr>
          <p:nvPr/>
        </p:nvSpPr>
        <p:spPr>
          <a:xfrm>
            <a:off x="1428750" y="1495425"/>
            <a:ext cx="552450" cy="552450"/>
          </a:xfrm>
          <a:prstGeom prst="ellipse">
            <a:avLst/>
          </a:prstGeom>
          <a:solidFill>
            <a:srgbClr val="EAF7FF"/>
          </a:solidFill>
          <a:ln w="19050">
            <a:solidFill>
              <a:srgbClr val="5BB0E6"/>
            </a:solidFill>
            <a:prstDash val="solid"/>
          </a:ln>
        </p:spPr>
        <p:txBody>
          <a:bodyPr/>
          <a:lstStyle/>
          <a:p>
            <a:endParaRPr lang="zh-CN" altLang="en-US"/>
          </a:p>
        </p:txBody>
      </p:sp>
      <p:sp>
        <p:nvSpPr>
          <p:cNvPr id="8" name="矩形 7">
            <a:extLst>
              <a:ext uri="{FF2B5EF4-FFF2-40B4-BE49-F238E27FC236}">
                <a16:creationId xmlns:a16="http://schemas.microsoft.com/office/drawing/2014/main" id="{2C56978C-06F5-4DA8-A156-180CFE35D26E}"/>
              </a:ext>
            </a:extLst>
          </p:cNvPr>
          <p:cNvSpPr>
            <a:spLocks noGrp="1"/>
          </p:cNvSpPr>
          <p:nvPr/>
        </p:nvSpPr>
        <p:spPr>
          <a:xfrm>
            <a:off x="1581150" y="1590675"/>
            <a:ext cx="266700" cy="304800"/>
          </a:xfrm>
          <a:prstGeom prst="rect">
            <a:avLst/>
          </a:prstGeom>
          <a:solidFill>
            <a:srgbClr val="EAF7FF"/>
          </a:solidFill>
          <a:ln w="0">
            <a:solidFill>
              <a:srgbClr val="000000">
                <a:alpha val="0"/>
              </a:srgbClr>
            </a:solidFill>
            <a:prstDash val="solid"/>
          </a:ln>
        </p:spPr>
        <p:txBody>
          <a:bodyPr lIns="0" tIns="0" rIns="0" bIns="0" anchor="t"/>
          <a:lstStyle/>
          <a:p>
            <a:pPr algn="ctr">
              <a:defRPr sz="1950" b="1">
                <a:solidFill>
                  <a:srgbClr val="014DA1"/>
                </a:solidFill>
                <a:latin typeface="黑体"/>
                <a:ea typeface="黑体"/>
                <a:cs typeface="黑体"/>
              </a:defRPr>
            </a:pPr>
            <a:r>
              <a:rPr>
                <a:latin typeface="Times New Roman"/>
                <a:ea typeface="Times New Roman"/>
                <a:cs typeface="Times New Roman"/>
              </a:rPr>
              <a:t>1</a:t>
            </a:r>
          </a:p>
        </p:txBody>
      </p:sp>
      <p:sp>
        <p:nvSpPr>
          <p:cNvPr id="9" name="矩形 8">
            <a:extLst>
              <a:ext uri="{FF2B5EF4-FFF2-40B4-BE49-F238E27FC236}">
                <a16:creationId xmlns:a16="http://schemas.microsoft.com/office/drawing/2014/main" id="{D712864E-FC63-4125-83AC-6330B2125A8A}"/>
              </a:ext>
            </a:extLst>
          </p:cNvPr>
          <p:cNvSpPr>
            <a:spLocks noGrp="1"/>
          </p:cNvSpPr>
          <p:nvPr/>
        </p:nvSpPr>
        <p:spPr>
          <a:xfrm>
            <a:off x="2362200" y="1581150"/>
            <a:ext cx="7905750" cy="361950"/>
          </a:xfrm>
          <a:prstGeom prst="rect">
            <a:avLst/>
          </a:prstGeom>
          <a:solidFill>
            <a:srgbClr val="F6F9FE"/>
          </a:solidFill>
          <a:ln w="0">
            <a:solidFill>
              <a:srgbClr val="000000">
                <a:alpha val="0"/>
              </a:srgbClr>
            </a:solidFill>
            <a:prstDash val="solid"/>
          </a:ln>
        </p:spPr>
        <p:txBody>
          <a:bodyPr lIns="0" tIns="0" rIns="0" bIns="0" anchor="t"/>
          <a:lstStyle/>
          <a:p>
            <a:pPr algn="l">
              <a:defRPr sz="2025" b="1">
                <a:solidFill>
                  <a:srgbClr val="014DA1"/>
                </a:solidFill>
                <a:latin typeface="黑体"/>
                <a:ea typeface="黑体"/>
                <a:cs typeface="黑体"/>
              </a:defRPr>
            </a:pPr>
            <a:r>
              <a:rPr>
                <a:latin typeface="黑体"/>
                <a:ea typeface="黑体"/>
                <a:cs typeface="黑体"/>
              </a:rPr>
              <a:t>数据如何表示：对象、属性、数据矩阵与数据集形态</a:t>
            </a:r>
          </a:p>
        </p:txBody>
      </p:sp>
      <p:sp>
        <p:nvSpPr>
          <p:cNvPr id="10" name="矩形 9">
            <a:extLst>
              <a:ext uri="{FF2B5EF4-FFF2-40B4-BE49-F238E27FC236}">
                <a16:creationId xmlns:a16="http://schemas.microsoft.com/office/drawing/2014/main" id="{A804C376-76A7-482C-9846-6ADDB27C5C1C}"/>
              </a:ext>
            </a:extLst>
          </p:cNvPr>
          <p:cNvSpPr>
            <a:spLocks noGrp="1"/>
          </p:cNvSpPr>
          <p:nvPr/>
        </p:nvSpPr>
        <p:spPr>
          <a:xfrm>
            <a:off x="990600" y="2552700"/>
            <a:ext cx="10210800" cy="1066800"/>
          </a:xfrm>
          <a:prstGeom prst="rect">
            <a:avLst/>
          </a:prstGeom>
          <a:solidFill>
            <a:srgbClr val="FFFFFF"/>
          </a:solidFill>
          <a:ln w="9525">
            <a:solidFill>
              <a:srgbClr val="B8C3D1"/>
            </a:solidFill>
            <a:prstDash val="solid"/>
          </a:ln>
        </p:spPr>
        <p:txBody>
          <a:bodyPr/>
          <a:lstStyle/>
          <a:p>
            <a:endParaRPr lang="zh-CN" altLang="en-US"/>
          </a:p>
        </p:txBody>
      </p:sp>
      <p:sp>
        <p:nvSpPr>
          <p:cNvPr id="11" name="椭圆 10">
            <a:extLst>
              <a:ext uri="{FF2B5EF4-FFF2-40B4-BE49-F238E27FC236}">
                <a16:creationId xmlns:a16="http://schemas.microsoft.com/office/drawing/2014/main" id="{51049354-5917-49A0-BE7B-53F51E3EADFE}"/>
              </a:ext>
            </a:extLst>
          </p:cNvPr>
          <p:cNvSpPr>
            <a:spLocks noGrp="1"/>
          </p:cNvSpPr>
          <p:nvPr/>
        </p:nvSpPr>
        <p:spPr>
          <a:xfrm>
            <a:off x="1428750" y="2809875"/>
            <a:ext cx="552450" cy="552450"/>
          </a:xfrm>
          <a:prstGeom prst="ellipse">
            <a:avLst/>
          </a:prstGeom>
          <a:solidFill>
            <a:srgbClr val="EAF7FF"/>
          </a:solidFill>
          <a:ln w="19050">
            <a:solidFill>
              <a:srgbClr val="5BB0E6"/>
            </a:solidFill>
            <a:prstDash val="solid"/>
          </a:ln>
        </p:spPr>
        <p:txBody>
          <a:bodyPr/>
          <a:lstStyle/>
          <a:p>
            <a:endParaRPr lang="zh-CN" altLang="en-US"/>
          </a:p>
        </p:txBody>
      </p:sp>
      <p:sp>
        <p:nvSpPr>
          <p:cNvPr id="12" name="矩形 11">
            <a:extLst>
              <a:ext uri="{FF2B5EF4-FFF2-40B4-BE49-F238E27FC236}">
                <a16:creationId xmlns:a16="http://schemas.microsoft.com/office/drawing/2014/main" id="{041292D9-D076-4295-A7FA-1819ABD4A6DC}"/>
              </a:ext>
            </a:extLst>
          </p:cNvPr>
          <p:cNvSpPr>
            <a:spLocks noGrp="1"/>
          </p:cNvSpPr>
          <p:nvPr/>
        </p:nvSpPr>
        <p:spPr>
          <a:xfrm>
            <a:off x="1581150" y="2905125"/>
            <a:ext cx="266700" cy="304800"/>
          </a:xfrm>
          <a:prstGeom prst="rect">
            <a:avLst/>
          </a:prstGeom>
          <a:solidFill>
            <a:srgbClr val="EAF7FF"/>
          </a:solidFill>
          <a:ln w="0">
            <a:solidFill>
              <a:srgbClr val="000000">
                <a:alpha val="0"/>
              </a:srgbClr>
            </a:solidFill>
            <a:prstDash val="solid"/>
          </a:ln>
        </p:spPr>
        <p:txBody>
          <a:bodyPr lIns="0" tIns="0" rIns="0" bIns="0" anchor="t"/>
          <a:lstStyle/>
          <a:p>
            <a:pPr algn="ctr">
              <a:defRPr sz="1950" b="1">
                <a:solidFill>
                  <a:srgbClr val="014DA1"/>
                </a:solidFill>
                <a:latin typeface="黑体"/>
                <a:ea typeface="黑体"/>
                <a:cs typeface="黑体"/>
              </a:defRPr>
            </a:pPr>
            <a:r>
              <a:rPr>
                <a:latin typeface="Times New Roman"/>
                <a:ea typeface="Times New Roman"/>
                <a:cs typeface="Times New Roman"/>
              </a:rPr>
              <a:t>2</a:t>
            </a:r>
          </a:p>
        </p:txBody>
      </p:sp>
      <p:sp>
        <p:nvSpPr>
          <p:cNvPr id="13" name="矩形 12">
            <a:extLst>
              <a:ext uri="{FF2B5EF4-FFF2-40B4-BE49-F238E27FC236}">
                <a16:creationId xmlns:a16="http://schemas.microsoft.com/office/drawing/2014/main" id="{56516A99-218A-4F36-A51D-3368B7424477}"/>
              </a:ext>
            </a:extLst>
          </p:cNvPr>
          <p:cNvSpPr>
            <a:spLocks noGrp="1"/>
          </p:cNvSpPr>
          <p:nvPr/>
        </p:nvSpPr>
        <p:spPr>
          <a:xfrm>
            <a:off x="2362200" y="2895600"/>
            <a:ext cx="7905750" cy="361950"/>
          </a:xfrm>
          <a:prstGeom prst="rect">
            <a:avLst/>
          </a:prstGeom>
          <a:solidFill>
            <a:srgbClr val="FFFFFF"/>
          </a:solidFill>
          <a:ln w="0">
            <a:solidFill>
              <a:srgbClr val="000000">
                <a:alpha val="0"/>
              </a:srgbClr>
            </a:solidFill>
            <a:prstDash val="solid"/>
          </a:ln>
        </p:spPr>
        <p:txBody>
          <a:bodyPr lIns="0" tIns="0" rIns="0" bIns="0" anchor="t"/>
          <a:lstStyle/>
          <a:p>
            <a:pPr algn="l">
              <a:defRPr sz="2025" b="1">
                <a:solidFill>
                  <a:srgbClr val="1F2933"/>
                </a:solidFill>
                <a:latin typeface="黑体"/>
                <a:ea typeface="黑体"/>
                <a:cs typeface="黑体"/>
              </a:defRPr>
            </a:pPr>
            <a:r>
              <a:rPr>
                <a:latin typeface="黑体"/>
                <a:ea typeface="黑体"/>
                <a:cs typeface="黑体"/>
              </a:rPr>
              <a:t>数据如何处理：质量问题、预处理与相似度</a:t>
            </a:r>
          </a:p>
        </p:txBody>
      </p:sp>
      <p:sp>
        <p:nvSpPr>
          <p:cNvPr id="14" name="矩形 13">
            <a:extLst>
              <a:ext uri="{FF2B5EF4-FFF2-40B4-BE49-F238E27FC236}">
                <a16:creationId xmlns:a16="http://schemas.microsoft.com/office/drawing/2014/main" id="{91203D4F-83E9-4AA4-9689-C1A080C4923A}"/>
              </a:ext>
            </a:extLst>
          </p:cNvPr>
          <p:cNvSpPr>
            <a:spLocks noGrp="1"/>
          </p:cNvSpPr>
          <p:nvPr/>
        </p:nvSpPr>
        <p:spPr>
          <a:xfrm>
            <a:off x="990600" y="3867150"/>
            <a:ext cx="10210800" cy="1066800"/>
          </a:xfrm>
          <a:prstGeom prst="rect">
            <a:avLst/>
          </a:prstGeom>
          <a:solidFill>
            <a:srgbClr val="F6F9FE"/>
          </a:solidFill>
          <a:ln w="9525">
            <a:solidFill>
              <a:srgbClr val="B8C3D1"/>
            </a:solidFill>
            <a:prstDash val="solid"/>
          </a:ln>
        </p:spPr>
        <p:txBody>
          <a:bodyPr/>
          <a:lstStyle/>
          <a:p>
            <a:endParaRPr lang="zh-CN" altLang="en-US"/>
          </a:p>
        </p:txBody>
      </p:sp>
      <p:sp>
        <p:nvSpPr>
          <p:cNvPr id="15" name="椭圆 14">
            <a:extLst>
              <a:ext uri="{FF2B5EF4-FFF2-40B4-BE49-F238E27FC236}">
                <a16:creationId xmlns:a16="http://schemas.microsoft.com/office/drawing/2014/main" id="{39A2270B-B743-48A4-9D08-F4453DE81EBE}"/>
              </a:ext>
            </a:extLst>
          </p:cNvPr>
          <p:cNvSpPr>
            <a:spLocks noGrp="1"/>
          </p:cNvSpPr>
          <p:nvPr/>
        </p:nvSpPr>
        <p:spPr>
          <a:xfrm>
            <a:off x="1428750" y="4124325"/>
            <a:ext cx="552450" cy="552450"/>
          </a:xfrm>
          <a:prstGeom prst="ellipse">
            <a:avLst/>
          </a:prstGeom>
          <a:solidFill>
            <a:srgbClr val="EAF7FF"/>
          </a:solidFill>
          <a:ln w="19050">
            <a:solidFill>
              <a:srgbClr val="5BB0E6"/>
            </a:solidFill>
            <a:prstDash val="solid"/>
          </a:ln>
        </p:spPr>
        <p:txBody>
          <a:bodyPr/>
          <a:lstStyle/>
          <a:p>
            <a:endParaRPr lang="zh-CN" altLang="en-US"/>
          </a:p>
        </p:txBody>
      </p:sp>
      <p:sp>
        <p:nvSpPr>
          <p:cNvPr id="16" name="矩形 15">
            <a:extLst>
              <a:ext uri="{FF2B5EF4-FFF2-40B4-BE49-F238E27FC236}">
                <a16:creationId xmlns:a16="http://schemas.microsoft.com/office/drawing/2014/main" id="{F1301E83-51C0-488F-9F08-5837870DE91F}"/>
              </a:ext>
            </a:extLst>
          </p:cNvPr>
          <p:cNvSpPr>
            <a:spLocks noGrp="1"/>
          </p:cNvSpPr>
          <p:nvPr/>
        </p:nvSpPr>
        <p:spPr>
          <a:xfrm>
            <a:off x="1581150" y="4219575"/>
            <a:ext cx="266700" cy="304800"/>
          </a:xfrm>
          <a:prstGeom prst="rect">
            <a:avLst/>
          </a:prstGeom>
          <a:solidFill>
            <a:srgbClr val="EAF7FF"/>
          </a:solidFill>
          <a:ln w="0">
            <a:solidFill>
              <a:srgbClr val="000000">
                <a:alpha val="0"/>
              </a:srgbClr>
            </a:solidFill>
            <a:prstDash val="solid"/>
          </a:ln>
        </p:spPr>
        <p:txBody>
          <a:bodyPr lIns="0" tIns="0" rIns="0" bIns="0" anchor="t"/>
          <a:lstStyle/>
          <a:p>
            <a:pPr algn="ctr">
              <a:defRPr sz="1950" b="1">
                <a:solidFill>
                  <a:srgbClr val="014DA1"/>
                </a:solidFill>
                <a:latin typeface="黑体"/>
                <a:ea typeface="黑体"/>
                <a:cs typeface="黑体"/>
              </a:defRPr>
            </a:pPr>
            <a:r>
              <a:rPr>
                <a:latin typeface="Times New Roman"/>
                <a:ea typeface="Times New Roman"/>
                <a:cs typeface="Times New Roman"/>
              </a:rPr>
              <a:t>3</a:t>
            </a:r>
          </a:p>
        </p:txBody>
      </p:sp>
      <p:sp>
        <p:nvSpPr>
          <p:cNvPr id="17" name="矩形 16">
            <a:extLst>
              <a:ext uri="{FF2B5EF4-FFF2-40B4-BE49-F238E27FC236}">
                <a16:creationId xmlns:a16="http://schemas.microsoft.com/office/drawing/2014/main" id="{C6B0FD58-EB28-48EE-BAF4-E9A5D95BB3E7}"/>
              </a:ext>
            </a:extLst>
          </p:cNvPr>
          <p:cNvSpPr>
            <a:spLocks noGrp="1"/>
          </p:cNvSpPr>
          <p:nvPr/>
        </p:nvSpPr>
        <p:spPr>
          <a:xfrm>
            <a:off x="2362200" y="4210050"/>
            <a:ext cx="7905750" cy="361950"/>
          </a:xfrm>
          <a:prstGeom prst="rect">
            <a:avLst/>
          </a:prstGeom>
          <a:solidFill>
            <a:srgbClr val="F6F9FE"/>
          </a:solidFill>
          <a:ln w="0">
            <a:solidFill>
              <a:srgbClr val="000000">
                <a:alpha val="0"/>
              </a:srgbClr>
            </a:solidFill>
            <a:prstDash val="solid"/>
          </a:ln>
        </p:spPr>
        <p:txBody>
          <a:bodyPr lIns="0" tIns="0" rIns="0" bIns="0" anchor="t"/>
          <a:lstStyle/>
          <a:p>
            <a:pPr algn="l">
              <a:defRPr sz="2025" b="1">
                <a:solidFill>
                  <a:srgbClr val="1F2933"/>
                </a:solidFill>
                <a:latin typeface="黑体"/>
                <a:ea typeface="黑体"/>
                <a:cs typeface="黑体"/>
              </a:defRPr>
            </a:pPr>
            <a:r>
              <a:rPr>
                <a:latin typeface="黑体"/>
                <a:ea typeface="黑体"/>
                <a:cs typeface="黑体"/>
              </a:rPr>
              <a:t>数据如何理解：描述统计、可视化与探索性分析</a:t>
            </a:r>
          </a:p>
        </p:txBody>
      </p:sp>
    </p:spTree>
    <p:extLst>
      <p:ext uri="{BB962C8B-B14F-4D97-AF65-F5344CB8AC3E}">
        <p14:creationId xmlns:p14="http://schemas.microsoft.com/office/powerpoint/2010/main" val="1738941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7E7B43FC-B7FF-418A-A439-0823DDB5DE7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FCB11C54-76DF-4255-955E-10574BEAF5A0}"/>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B5C6CB22-8DC2-480A-AB26-EDB356DDA1C0}"/>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1A10BC5-D2B4-47CE-B5C9-34630A5BBFB2}"/>
              </a:ext>
            </a:extLst>
          </p:cNvPr>
          <p:cNvSpPr>
            <a:spLocks noGrp="1"/>
          </p:cNvSpPr>
          <p:nvPr/>
        </p:nvSpPr>
        <p:spPr>
          <a:xfrm>
            <a:off x="685800" y="1752600"/>
            <a:ext cx="45720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00204A"/>
                </a:solidFill>
                <a:latin typeface="黑体"/>
                <a:ea typeface="黑体"/>
                <a:cs typeface="黑体"/>
              </a:defRPr>
            </a:pPr>
            <a:r>
              <a:rPr>
                <a:latin typeface="Times New Roman"/>
                <a:ea typeface="Times New Roman"/>
                <a:cs typeface="Times New Roman"/>
              </a:rPr>
              <a:t>Part 1 · </a:t>
            </a:r>
            <a:r>
              <a:rPr>
                <a:latin typeface="黑体"/>
                <a:ea typeface="黑体"/>
                <a:cs typeface="黑体"/>
              </a:rPr>
              <a:t>数据对象与数据表示</a:t>
            </a:r>
          </a:p>
        </p:txBody>
      </p:sp>
      <p:sp>
        <p:nvSpPr>
          <p:cNvPr id="5" name="矩形 4">
            <a:extLst>
              <a:ext uri="{FF2B5EF4-FFF2-40B4-BE49-F238E27FC236}">
                <a16:creationId xmlns:a16="http://schemas.microsoft.com/office/drawing/2014/main" id="{245D5967-9666-4247-9C33-C0C0EF81F15D}"/>
              </a:ext>
            </a:extLst>
          </p:cNvPr>
          <p:cNvSpPr>
            <a:spLocks noGrp="1"/>
          </p:cNvSpPr>
          <p:nvPr/>
        </p:nvSpPr>
        <p:spPr>
          <a:xfrm>
            <a:off x="685800" y="3009900"/>
            <a:ext cx="42862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14DA1"/>
                </a:solidFill>
                <a:latin typeface="黑体"/>
                <a:ea typeface="黑体"/>
                <a:cs typeface="黑体"/>
              </a:defRPr>
            </a:pPr>
            <a:r>
              <a:rPr>
                <a:latin typeface="黑体"/>
                <a:ea typeface="黑体"/>
                <a:cs typeface="黑体"/>
              </a:rPr>
              <a:t>一行代表谁，一列描述什么</a:t>
            </a:r>
          </a:p>
        </p:txBody>
      </p:sp>
      <p:sp>
        <p:nvSpPr>
          <p:cNvPr id="6" name="矩形 5">
            <a:extLst>
              <a:ext uri="{FF2B5EF4-FFF2-40B4-BE49-F238E27FC236}">
                <a16:creationId xmlns:a16="http://schemas.microsoft.com/office/drawing/2014/main" id="{D7BF5701-5CB3-461F-900C-9FD334393B50}"/>
              </a:ext>
            </a:extLst>
          </p:cNvPr>
          <p:cNvSpPr>
            <a:spLocks noGrp="1"/>
          </p:cNvSpPr>
          <p:nvPr/>
        </p:nvSpPr>
        <p:spPr>
          <a:xfrm>
            <a:off x="685800" y="4038600"/>
            <a:ext cx="3905250"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E5E738D1-B220-470C-BC2D-55B1A26A1C00}"/>
              </a:ext>
            </a:extLst>
          </p:cNvPr>
          <p:cNvSpPr>
            <a:spLocks noGrp="1"/>
          </p:cNvSpPr>
          <p:nvPr/>
        </p:nvSpPr>
        <p:spPr>
          <a:xfrm>
            <a:off x="54292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26" name="图片 25"/>
          <p:cNvPicPr>
            <a:picLocks noChangeAspect="1"/>
          </p:cNvPicPr>
          <p:nvPr/>
        </p:nvPicPr>
        <p:blipFill>
          <a:blip r:embed="rId3"/>
          <a:srcRect l="26856" r="26856"/>
          <a:stretch>
            <a:fillRect/>
          </a:stretch>
        </p:blipFill>
        <p:spPr>
          <a:xfrm>
            <a:off x="5429250" y="1257300"/>
            <a:ext cx="1924050" cy="3409950"/>
          </a:xfrm>
          <a:prstGeom prst="rect">
            <a:avLst/>
          </a:prstGeom>
        </p:spPr>
      </p:pic>
      <p:sp>
        <p:nvSpPr>
          <p:cNvPr id="9" name="矩形 8">
            <a:extLst>
              <a:ext uri="{FF2B5EF4-FFF2-40B4-BE49-F238E27FC236}">
                <a16:creationId xmlns:a16="http://schemas.microsoft.com/office/drawing/2014/main" id="{95C042DA-AAFD-4CB3-91CC-0796D1EECF0F}"/>
              </a:ext>
            </a:extLst>
          </p:cNvPr>
          <p:cNvSpPr>
            <a:spLocks noGrp="1"/>
          </p:cNvSpPr>
          <p:nvPr/>
        </p:nvSpPr>
        <p:spPr>
          <a:xfrm>
            <a:off x="54292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8E8D2F8F-707E-4FE8-8F46-43439687EF05}"/>
              </a:ext>
            </a:extLst>
          </p:cNvPr>
          <p:cNvSpPr>
            <a:spLocks noGrp="1"/>
          </p:cNvSpPr>
          <p:nvPr/>
        </p:nvSpPr>
        <p:spPr>
          <a:xfrm>
            <a:off x="55245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原始记录</a:t>
            </a:r>
          </a:p>
        </p:txBody>
      </p:sp>
      <p:sp>
        <p:nvSpPr>
          <p:cNvPr id="11" name="矩形 10">
            <a:extLst>
              <a:ext uri="{FF2B5EF4-FFF2-40B4-BE49-F238E27FC236}">
                <a16:creationId xmlns:a16="http://schemas.microsoft.com/office/drawing/2014/main" id="{52880FD3-CC91-468D-91DE-C7274195B27C}"/>
              </a:ext>
            </a:extLst>
          </p:cNvPr>
          <p:cNvSpPr>
            <a:spLocks noGrp="1"/>
          </p:cNvSpPr>
          <p:nvPr/>
        </p:nvSpPr>
        <p:spPr>
          <a:xfrm>
            <a:off x="750570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0" name="图片 29"/>
          <p:cNvPicPr>
            <a:picLocks noChangeAspect="1"/>
          </p:cNvPicPr>
          <p:nvPr/>
        </p:nvPicPr>
        <p:blipFill>
          <a:blip r:embed="rId4"/>
          <a:srcRect l="33686" r="33686"/>
          <a:stretch>
            <a:fillRect/>
          </a:stretch>
        </p:blipFill>
        <p:spPr>
          <a:xfrm>
            <a:off x="7505700" y="1257300"/>
            <a:ext cx="1924050" cy="3409950"/>
          </a:xfrm>
          <a:prstGeom prst="rect">
            <a:avLst/>
          </a:prstGeom>
        </p:spPr>
      </p:pic>
      <p:sp>
        <p:nvSpPr>
          <p:cNvPr id="13" name="矩形 12">
            <a:extLst>
              <a:ext uri="{FF2B5EF4-FFF2-40B4-BE49-F238E27FC236}">
                <a16:creationId xmlns:a16="http://schemas.microsoft.com/office/drawing/2014/main" id="{22CAF5A3-FCF8-4AFF-8096-8EF84C1D3CD7}"/>
              </a:ext>
            </a:extLst>
          </p:cNvPr>
          <p:cNvSpPr>
            <a:spLocks noGrp="1"/>
          </p:cNvSpPr>
          <p:nvPr/>
        </p:nvSpPr>
        <p:spPr>
          <a:xfrm>
            <a:off x="750570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C8EF8F4E-3D75-4F00-B292-630B9347A364}"/>
              </a:ext>
            </a:extLst>
          </p:cNvPr>
          <p:cNvSpPr>
            <a:spLocks noGrp="1"/>
          </p:cNvSpPr>
          <p:nvPr/>
        </p:nvSpPr>
        <p:spPr>
          <a:xfrm>
            <a:off x="760095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文档数据</a:t>
            </a:r>
          </a:p>
        </p:txBody>
      </p:sp>
      <p:sp>
        <p:nvSpPr>
          <p:cNvPr id="15" name="矩形 14">
            <a:extLst>
              <a:ext uri="{FF2B5EF4-FFF2-40B4-BE49-F238E27FC236}">
                <a16:creationId xmlns:a16="http://schemas.microsoft.com/office/drawing/2014/main" id="{2E743078-F0F9-4D72-B59F-8A6BA4241D12}"/>
              </a:ext>
            </a:extLst>
          </p:cNvPr>
          <p:cNvSpPr>
            <a:spLocks noGrp="1"/>
          </p:cNvSpPr>
          <p:nvPr/>
        </p:nvSpPr>
        <p:spPr>
          <a:xfrm>
            <a:off x="95821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4" name="图片 33"/>
          <p:cNvPicPr>
            <a:picLocks noChangeAspect="1"/>
          </p:cNvPicPr>
          <p:nvPr/>
        </p:nvPicPr>
        <p:blipFill>
          <a:blip r:embed="rId5"/>
          <a:srcRect l="35894" r="35894"/>
          <a:stretch>
            <a:fillRect/>
          </a:stretch>
        </p:blipFill>
        <p:spPr>
          <a:xfrm>
            <a:off x="9582150" y="1257300"/>
            <a:ext cx="1924050" cy="3409950"/>
          </a:xfrm>
          <a:prstGeom prst="rect">
            <a:avLst/>
          </a:prstGeom>
        </p:spPr>
      </p:pic>
      <p:sp>
        <p:nvSpPr>
          <p:cNvPr id="17" name="矩形 16">
            <a:extLst>
              <a:ext uri="{FF2B5EF4-FFF2-40B4-BE49-F238E27FC236}">
                <a16:creationId xmlns:a16="http://schemas.microsoft.com/office/drawing/2014/main" id="{1A14303B-0F9E-429D-881C-37CF77C93B8B}"/>
              </a:ext>
            </a:extLst>
          </p:cNvPr>
          <p:cNvSpPr>
            <a:spLocks noGrp="1"/>
          </p:cNvSpPr>
          <p:nvPr/>
        </p:nvSpPr>
        <p:spPr>
          <a:xfrm>
            <a:off x="95821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A8397648-27FB-4D0C-B704-3C5506DF33F6}"/>
              </a:ext>
            </a:extLst>
          </p:cNvPr>
          <p:cNvSpPr>
            <a:spLocks noGrp="1"/>
          </p:cNvSpPr>
          <p:nvPr/>
        </p:nvSpPr>
        <p:spPr>
          <a:xfrm>
            <a:off x="96774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网络数据</a:t>
            </a:r>
          </a:p>
        </p:txBody>
      </p:sp>
    </p:spTree>
    <p:extLst>
      <p:ext uri="{BB962C8B-B14F-4D97-AF65-F5344CB8AC3E}">
        <p14:creationId xmlns:p14="http://schemas.microsoft.com/office/powerpoint/2010/main" val="174239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1425EE27-12FE-4919-BE94-FE45DF99D828}"/>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E97664C7-B281-466D-A4D6-88C897401602}"/>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D81F89F3-681B-4AE0-B225-9FE2BC3B1FD3}"/>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9548F9DA-081E-48E0-8B27-C45B0A40B2F8}"/>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数据对象决定“一行”代表什么</a:t>
            </a:r>
          </a:p>
        </p:txBody>
      </p:sp>
      <p:sp>
        <p:nvSpPr>
          <p:cNvPr id="5" name="矩形 4">
            <a:extLst>
              <a:ext uri="{FF2B5EF4-FFF2-40B4-BE49-F238E27FC236}">
                <a16:creationId xmlns:a16="http://schemas.microsoft.com/office/drawing/2014/main" id="{C09D5829-7024-4FFF-AA96-EE95581C2EBF}"/>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4/90</a:t>
            </a:r>
          </a:p>
        </p:txBody>
      </p:sp>
      <p:sp>
        <p:nvSpPr>
          <p:cNvPr id="6" name="矩形 5">
            <a:extLst>
              <a:ext uri="{FF2B5EF4-FFF2-40B4-BE49-F238E27FC236}">
                <a16:creationId xmlns:a16="http://schemas.microsoft.com/office/drawing/2014/main" id="{CB33DDCD-F890-4082-9AC4-900A9B601413}"/>
              </a:ext>
            </a:extLst>
          </p:cNvPr>
          <p:cNvSpPr>
            <a:spLocks noGrp="1"/>
          </p:cNvSpPr>
          <p:nvPr/>
        </p:nvSpPr>
        <p:spPr>
          <a:xfrm>
            <a:off x="628650" y="1200150"/>
            <a:ext cx="2857500" cy="3962400"/>
          </a:xfrm>
          <a:prstGeom prst="rect">
            <a:avLst/>
          </a:prstGeom>
          <a:solidFill>
            <a:srgbClr val="FFFFFF"/>
          </a:solidFill>
          <a:ln w="9525">
            <a:solidFill>
              <a:srgbClr val="C7D0DC"/>
            </a:solidFill>
            <a:prstDash val="solid"/>
          </a:ln>
        </p:spPr>
        <p:txBody>
          <a:bodyPr/>
          <a:lstStyle/>
          <a:p>
            <a:endParaRPr lang="zh-CN" altLang="en-US"/>
          </a:p>
        </p:txBody>
      </p:sp>
      <p:pic>
        <p:nvPicPr>
          <p:cNvPr id="33" name="图片 32"/>
          <p:cNvPicPr>
            <a:picLocks noChangeAspect="1"/>
          </p:cNvPicPr>
          <p:nvPr/>
        </p:nvPicPr>
        <p:blipFill>
          <a:blip r:embed="rId3"/>
          <a:srcRect l="17787" r="17787"/>
          <a:stretch>
            <a:fillRect/>
          </a:stretch>
        </p:blipFill>
        <p:spPr>
          <a:xfrm>
            <a:off x="628650" y="1200150"/>
            <a:ext cx="2857500" cy="3638550"/>
          </a:xfrm>
          <a:prstGeom prst="rect">
            <a:avLst/>
          </a:prstGeom>
        </p:spPr>
      </p:pic>
      <p:sp>
        <p:nvSpPr>
          <p:cNvPr id="8" name="矩形 7">
            <a:extLst>
              <a:ext uri="{FF2B5EF4-FFF2-40B4-BE49-F238E27FC236}">
                <a16:creationId xmlns:a16="http://schemas.microsoft.com/office/drawing/2014/main" id="{6F841741-92DC-4E50-9654-104F8E105BF6}"/>
              </a:ext>
            </a:extLst>
          </p:cNvPr>
          <p:cNvSpPr>
            <a:spLocks noGrp="1"/>
          </p:cNvSpPr>
          <p:nvPr/>
        </p:nvSpPr>
        <p:spPr>
          <a:xfrm>
            <a:off x="628650" y="4838700"/>
            <a:ext cx="285750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9" name="矩形 8">
            <a:extLst>
              <a:ext uri="{FF2B5EF4-FFF2-40B4-BE49-F238E27FC236}">
                <a16:creationId xmlns:a16="http://schemas.microsoft.com/office/drawing/2014/main" id="{7F8903B0-556C-4D53-AE76-F3FB57CF7EAE}"/>
              </a:ext>
            </a:extLst>
          </p:cNvPr>
          <p:cNvSpPr>
            <a:spLocks noGrp="1"/>
          </p:cNvSpPr>
          <p:nvPr/>
        </p:nvSpPr>
        <p:spPr>
          <a:xfrm>
            <a:off x="723900" y="4905375"/>
            <a:ext cx="266700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同一系统同时产生多类记录</a:t>
            </a:r>
          </a:p>
        </p:txBody>
      </p:sp>
      <p:sp>
        <p:nvSpPr>
          <p:cNvPr id="10" name="矩形 9">
            <a:extLst>
              <a:ext uri="{FF2B5EF4-FFF2-40B4-BE49-F238E27FC236}">
                <a16:creationId xmlns:a16="http://schemas.microsoft.com/office/drawing/2014/main" id="{5BC2FD0C-195E-4B60-A504-96931DCC1F40}"/>
              </a:ext>
            </a:extLst>
          </p:cNvPr>
          <p:cNvSpPr>
            <a:spLocks noGrp="1"/>
          </p:cNvSpPr>
          <p:nvPr/>
        </p:nvSpPr>
        <p:spPr>
          <a:xfrm>
            <a:off x="3638550" y="1200150"/>
            <a:ext cx="2857500" cy="3962400"/>
          </a:xfrm>
          <a:prstGeom prst="rect">
            <a:avLst/>
          </a:prstGeom>
          <a:solidFill>
            <a:srgbClr val="FFFFFF"/>
          </a:solidFill>
          <a:ln w="9525">
            <a:solidFill>
              <a:srgbClr val="C7D0DC"/>
            </a:solidFill>
            <a:prstDash val="solid"/>
          </a:ln>
        </p:spPr>
        <p:txBody>
          <a:bodyPr/>
          <a:lstStyle/>
          <a:p>
            <a:endParaRPr lang="zh-CN" altLang="en-US"/>
          </a:p>
        </p:txBody>
      </p:sp>
      <p:pic>
        <p:nvPicPr>
          <p:cNvPr id="37" name="图片 36"/>
          <p:cNvPicPr>
            <a:picLocks noChangeAspect="1"/>
          </p:cNvPicPr>
          <p:nvPr/>
        </p:nvPicPr>
        <p:blipFill>
          <a:blip r:embed="rId4"/>
          <a:srcRect l="30617" r="30617"/>
          <a:stretch>
            <a:fillRect/>
          </a:stretch>
        </p:blipFill>
        <p:spPr>
          <a:xfrm>
            <a:off x="3638550" y="1200150"/>
            <a:ext cx="2857500" cy="3638550"/>
          </a:xfrm>
          <a:prstGeom prst="rect">
            <a:avLst/>
          </a:prstGeom>
        </p:spPr>
      </p:pic>
      <p:sp>
        <p:nvSpPr>
          <p:cNvPr id="12" name="矩形 11">
            <a:extLst>
              <a:ext uri="{FF2B5EF4-FFF2-40B4-BE49-F238E27FC236}">
                <a16:creationId xmlns:a16="http://schemas.microsoft.com/office/drawing/2014/main" id="{58F93132-C3A4-4727-9E08-EBA634E6E4FF}"/>
              </a:ext>
            </a:extLst>
          </p:cNvPr>
          <p:cNvSpPr>
            <a:spLocks noGrp="1"/>
          </p:cNvSpPr>
          <p:nvPr/>
        </p:nvSpPr>
        <p:spPr>
          <a:xfrm>
            <a:off x="3638550" y="4838700"/>
            <a:ext cx="285750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A619CF74-C613-4ACB-AC29-65DF2923C8AA}"/>
              </a:ext>
            </a:extLst>
          </p:cNvPr>
          <p:cNvSpPr>
            <a:spLocks noGrp="1"/>
          </p:cNvSpPr>
          <p:nvPr/>
        </p:nvSpPr>
        <p:spPr>
          <a:xfrm>
            <a:off x="3733800" y="4905375"/>
            <a:ext cx="266700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行为记录带有时间和位置</a:t>
            </a:r>
          </a:p>
        </p:txBody>
      </p:sp>
      <p:sp>
        <p:nvSpPr>
          <p:cNvPr id="14" name="矩形 13">
            <a:extLst>
              <a:ext uri="{FF2B5EF4-FFF2-40B4-BE49-F238E27FC236}">
                <a16:creationId xmlns:a16="http://schemas.microsoft.com/office/drawing/2014/main" id="{5ADE4667-3ACD-4323-9A39-23098093F9AB}"/>
              </a:ext>
            </a:extLst>
          </p:cNvPr>
          <p:cNvSpPr>
            <a:spLocks noGrp="1"/>
          </p:cNvSpPr>
          <p:nvPr/>
        </p:nvSpPr>
        <p:spPr>
          <a:xfrm>
            <a:off x="6858000" y="1238250"/>
            <a:ext cx="4133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0204A"/>
                </a:solidFill>
                <a:latin typeface="黑体"/>
                <a:ea typeface="黑体"/>
                <a:cs typeface="黑体"/>
              </a:defRPr>
            </a:pPr>
            <a:r>
              <a:rPr>
                <a:latin typeface="黑体"/>
                <a:ea typeface="黑体"/>
                <a:cs typeface="黑体"/>
              </a:rPr>
              <a:t>对象</a:t>
            </a:r>
          </a:p>
        </p:txBody>
      </p:sp>
      <p:sp>
        <p:nvSpPr>
          <p:cNvPr id="15" name="矩形 14">
            <a:extLst>
              <a:ext uri="{FF2B5EF4-FFF2-40B4-BE49-F238E27FC236}">
                <a16:creationId xmlns:a16="http://schemas.microsoft.com/office/drawing/2014/main" id="{04B347B8-CA95-43E8-BDDE-CE17834DAA64}"/>
              </a:ext>
            </a:extLst>
          </p:cNvPr>
          <p:cNvSpPr>
            <a:spLocks noGrp="1"/>
          </p:cNvSpPr>
          <p:nvPr/>
        </p:nvSpPr>
        <p:spPr>
          <a:xfrm>
            <a:off x="6858000" y="1581150"/>
            <a:ext cx="4133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被分析的实体、事件或时间片</a:t>
            </a:r>
          </a:p>
        </p:txBody>
      </p:sp>
      <p:sp>
        <p:nvSpPr>
          <p:cNvPr id="16" name="矩形 15">
            <a:extLst>
              <a:ext uri="{FF2B5EF4-FFF2-40B4-BE49-F238E27FC236}">
                <a16:creationId xmlns:a16="http://schemas.microsoft.com/office/drawing/2014/main" id="{915FCF9F-E47E-436D-9DF0-661CF7D19AE0}"/>
              </a:ext>
            </a:extLst>
          </p:cNvPr>
          <p:cNvSpPr>
            <a:spLocks noGrp="1"/>
          </p:cNvSpPr>
          <p:nvPr/>
        </p:nvSpPr>
        <p:spPr>
          <a:xfrm>
            <a:off x="6858000" y="2095500"/>
            <a:ext cx="41338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317FA0B7-65B8-4D38-B7D6-23E36DB1060A}"/>
              </a:ext>
            </a:extLst>
          </p:cNvPr>
          <p:cNvSpPr>
            <a:spLocks noGrp="1"/>
          </p:cNvSpPr>
          <p:nvPr/>
        </p:nvSpPr>
        <p:spPr>
          <a:xfrm>
            <a:off x="6858000" y="2209800"/>
            <a:ext cx="4133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0204A"/>
                </a:solidFill>
                <a:latin typeface="黑体"/>
                <a:ea typeface="黑体"/>
                <a:cs typeface="黑体"/>
              </a:defRPr>
            </a:pPr>
            <a:r>
              <a:rPr>
                <a:latin typeface="黑体"/>
                <a:ea typeface="黑体"/>
                <a:cs typeface="黑体"/>
              </a:rPr>
              <a:t>记录</a:t>
            </a:r>
          </a:p>
        </p:txBody>
      </p:sp>
      <p:sp>
        <p:nvSpPr>
          <p:cNvPr id="18" name="矩形 17">
            <a:extLst>
              <a:ext uri="{FF2B5EF4-FFF2-40B4-BE49-F238E27FC236}">
                <a16:creationId xmlns:a16="http://schemas.microsoft.com/office/drawing/2014/main" id="{D65143A9-FCFF-40F6-9A26-8D729E74089D}"/>
              </a:ext>
            </a:extLst>
          </p:cNvPr>
          <p:cNvSpPr>
            <a:spLocks noGrp="1"/>
          </p:cNvSpPr>
          <p:nvPr/>
        </p:nvSpPr>
        <p:spPr>
          <a:xfrm>
            <a:off x="6858000" y="2552700"/>
            <a:ext cx="4133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对象在数据表中的具体表示</a:t>
            </a:r>
          </a:p>
        </p:txBody>
      </p:sp>
      <p:sp>
        <p:nvSpPr>
          <p:cNvPr id="19" name="矩形 18">
            <a:extLst>
              <a:ext uri="{FF2B5EF4-FFF2-40B4-BE49-F238E27FC236}">
                <a16:creationId xmlns:a16="http://schemas.microsoft.com/office/drawing/2014/main" id="{2BD1AA5F-F0B5-471E-B1A2-6FEF6750F05F}"/>
              </a:ext>
            </a:extLst>
          </p:cNvPr>
          <p:cNvSpPr>
            <a:spLocks noGrp="1"/>
          </p:cNvSpPr>
          <p:nvPr/>
        </p:nvSpPr>
        <p:spPr>
          <a:xfrm>
            <a:off x="6858000" y="3067050"/>
            <a:ext cx="41338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49E0B969-9DEF-48FF-947E-47B4841B277B}"/>
              </a:ext>
            </a:extLst>
          </p:cNvPr>
          <p:cNvSpPr>
            <a:spLocks noGrp="1"/>
          </p:cNvSpPr>
          <p:nvPr/>
        </p:nvSpPr>
        <p:spPr>
          <a:xfrm>
            <a:off x="6858000" y="3181350"/>
            <a:ext cx="4133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0204A"/>
                </a:solidFill>
                <a:latin typeface="黑体"/>
                <a:ea typeface="黑体"/>
                <a:cs typeface="黑体"/>
              </a:defRPr>
            </a:pPr>
            <a:r>
              <a:rPr>
                <a:latin typeface="黑体"/>
                <a:ea typeface="黑体"/>
                <a:cs typeface="黑体"/>
              </a:rPr>
              <a:t>粒度</a:t>
            </a:r>
          </a:p>
        </p:txBody>
      </p:sp>
      <p:sp>
        <p:nvSpPr>
          <p:cNvPr id="21" name="矩形 20">
            <a:extLst>
              <a:ext uri="{FF2B5EF4-FFF2-40B4-BE49-F238E27FC236}">
                <a16:creationId xmlns:a16="http://schemas.microsoft.com/office/drawing/2014/main" id="{9466A385-D41E-4324-8ACF-FF7CA6F30EA4}"/>
              </a:ext>
            </a:extLst>
          </p:cNvPr>
          <p:cNvSpPr>
            <a:spLocks noGrp="1"/>
          </p:cNvSpPr>
          <p:nvPr/>
        </p:nvSpPr>
        <p:spPr>
          <a:xfrm>
            <a:off x="6858000" y="3524250"/>
            <a:ext cx="4133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同一学生可以是一行，也可以拆成多个 </a:t>
            </a:r>
            <a:r>
              <a:rPr>
                <a:latin typeface="Times New Roman"/>
                <a:ea typeface="Times New Roman"/>
                <a:cs typeface="Times New Roman"/>
              </a:rPr>
              <a:t>student-week</a:t>
            </a:r>
          </a:p>
        </p:txBody>
      </p:sp>
      <p:sp>
        <p:nvSpPr>
          <p:cNvPr id="22" name="矩形 21">
            <a:extLst>
              <a:ext uri="{FF2B5EF4-FFF2-40B4-BE49-F238E27FC236}">
                <a16:creationId xmlns:a16="http://schemas.microsoft.com/office/drawing/2014/main" id="{034B8AA8-DEB2-4CDF-A85E-2FA640DDE002}"/>
              </a:ext>
            </a:extLst>
          </p:cNvPr>
          <p:cNvSpPr>
            <a:spLocks noGrp="1"/>
          </p:cNvSpPr>
          <p:nvPr/>
        </p:nvSpPr>
        <p:spPr>
          <a:xfrm>
            <a:off x="6858000" y="4038600"/>
            <a:ext cx="41338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2125B744-3C5A-4ACD-BCD0-999B61384F8F}"/>
              </a:ext>
            </a:extLst>
          </p:cNvPr>
          <p:cNvSpPr>
            <a:spLocks noGrp="1"/>
          </p:cNvSpPr>
          <p:nvPr/>
        </p:nvSpPr>
        <p:spPr>
          <a:xfrm>
            <a:off x="6858000" y="4152900"/>
            <a:ext cx="4133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B4964B"/>
                </a:solidFill>
                <a:latin typeface="黑体"/>
                <a:ea typeface="黑体"/>
                <a:cs typeface="黑体"/>
              </a:defRPr>
            </a:pPr>
            <a:r>
              <a:rPr>
                <a:latin typeface="黑体"/>
                <a:ea typeface="黑体"/>
                <a:cs typeface="黑体"/>
              </a:rPr>
              <a:t>后果</a:t>
            </a:r>
          </a:p>
        </p:txBody>
      </p:sp>
      <p:sp>
        <p:nvSpPr>
          <p:cNvPr id="24" name="矩形 23">
            <a:extLst>
              <a:ext uri="{FF2B5EF4-FFF2-40B4-BE49-F238E27FC236}">
                <a16:creationId xmlns:a16="http://schemas.microsoft.com/office/drawing/2014/main" id="{BB9542C3-350B-4303-8102-E6F642CF0368}"/>
              </a:ext>
            </a:extLst>
          </p:cNvPr>
          <p:cNvSpPr>
            <a:spLocks noGrp="1"/>
          </p:cNvSpPr>
          <p:nvPr/>
        </p:nvSpPr>
        <p:spPr>
          <a:xfrm>
            <a:off x="6858000" y="4495800"/>
            <a:ext cx="4133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对象定义不同，标签、特征和结论都会改变</a:t>
            </a:r>
          </a:p>
        </p:txBody>
      </p:sp>
      <p:sp>
        <p:nvSpPr>
          <p:cNvPr id="25" name="矩形 24">
            <a:extLst>
              <a:ext uri="{FF2B5EF4-FFF2-40B4-BE49-F238E27FC236}">
                <a16:creationId xmlns:a16="http://schemas.microsoft.com/office/drawing/2014/main" id="{F7F88476-58AE-4B65-B66C-AC45B0B4A3FF}"/>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6" name="矩形 25">
            <a:extLst>
              <a:ext uri="{FF2B5EF4-FFF2-40B4-BE49-F238E27FC236}">
                <a16:creationId xmlns:a16="http://schemas.microsoft.com/office/drawing/2014/main" id="{3F619A7C-A5C5-4964-9B92-0BAD4463397D}"/>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分析开始前，必须先说明一行数据的分析单位。</a:t>
            </a:r>
          </a:p>
        </p:txBody>
      </p:sp>
    </p:spTree>
    <p:extLst>
      <p:ext uri="{BB962C8B-B14F-4D97-AF65-F5344CB8AC3E}">
        <p14:creationId xmlns:p14="http://schemas.microsoft.com/office/powerpoint/2010/main" val="1707692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矩形 67">
            <a:extLst>
              <a:ext uri="{FF2B5EF4-FFF2-40B4-BE49-F238E27FC236}">
                <a16:creationId xmlns:a16="http://schemas.microsoft.com/office/drawing/2014/main" id="{1D8E84F6-FE06-4535-8309-0727EB3D9E1D}"/>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973A9782-1BE5-4568-BB40-2CD47B312296}"/>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DC24D09F-7DCF-4A10-A201-85C2C0AA7DF4}"/>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2864A69C-D705-4FFE-B965-B2C4E97196F4}"/>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数据矩阵把对象和属性组织起来</a:t>
            </a:r>
          </a:p>
        </p:txBody>
      </p:sp>
      <p:sp>
        <p:nvSpPr>
          <p:cNvPr id="5" name="矩形 4">
            <a:extLst>
              <a:ext uri="{FF2B5EF4-FFF2-40B4-BE49-F238E27FC236}">
                <a16:creationId xmlns:a16="http://schemas.microsoft.com/office/drawing/2014/main" id="{21B4D45D-43BB-4CA9-98C1-80BD0BE6A1D0}"/>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5/90</a:t>
            </a:r>
          </a:p>
        </p:txBody>
      </p:sp>
      <p:sp>
        <p:nvSpPr>
          <p:cNvPr id="6" name="矩形 5">
            <a:extLst>
              <a:ext uri="{FF2B5EF4-FFF2-40B4-BE49-F238E27FC236}">
                <a16:creationId xmlns:a16="http://schemas.microsoft.com/office/drawing/2014/main" id="{E590E1AD-846C-417E-A5E2-28D69AF473DC}"/>
              </a:ext>
            </a:extLst>
          </p:cNvPr>
          <p:cNvSpPr>
            <a:spLocks noGrp="1"/>
          </p:cNvSpPr>
          <p:nvPr/>
        </p:nvSpPr>
        <p:spPr>
          <a:xfrm>
            <a:off x="781050" y="1295400"/>
            <a:ext cx="2057400" cy="552450"/>
          </a:xfrm>
          <a:prstGeom prst="rect">
            <a:avLst/>
          </a:prstGeom>
          <a:solidFill>
            <a:srgbClr val="EAF2FF"/>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5752B3F3-73B4-4760-A664-7567ECA73049}"/>
              </a:ext>
            </a:extLst>
          </p:cNvPr>
          <p:cNvSpPr>
            <a:spLocks noGrp="1"/>
          </p:cNvSpPr>
          <p:nvPr/>
        </p:nvSpPr>
        <p:spPr>
          <a:xfrm>
            <a:off x="857250" y="1457325"/>
            <a:ext cx="1905000" cy="247650"/>
          </a:xfrm>
          <a:prstGeom prst="rect">
            <a:avLst/>
          </a:prstGeom>
          <a:solidFill>
            <a:srgbClr val="EAF2FF"/>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Times New Roman"/>
                <a:ea typeface="Times New Roman"/>
                <a:cs typeface="Times New Roman"/>
              </a:rPr>
              <a:t>student_id</a:t>
            </a:r>
          </a:p>
        </p:txBody>
      </p:sp>
      <p:sp>
        <p:nvSpPr>
          <p:cNvPr id="8" name="矩形 7">
            <a:extLst>
              <a:ext uri="{FF2B5EF4-FFF2-40B4-BE49-F238E27FC236}">
                <a16:creationId xmlns:a16="http://schemas.microsoft.com/office/drawing/2014/main" id="{8E0D2EE3-286C-4284-90EF-B83D1C5DB404}"/>
              </a:ext>
            </a:extLst>
          </p:cNvPr>
          <p:cNvSpPr>
            <a:spLocks noGrp="1"/>
          </p:cNvSpPr>
          <p:nvPr/>
        </p:nvSpPr>
        <p:spPr>
          <a:xfrm>
            <a:off x="2838450" y="1295400"/>
            <a:ext cx="2076450" cy="552450"/>
          </a:xfrm>
          <a:prstGeom prst="rect">
            <a:avLst/>
          </a:prstGeom>
          <a:solidFill>
            <a:srgbClr val="00204A"/>
          </a:solidFill>
          <a:ln w="9525">
            <a:solidFill>
              <a:srgbClr val="B6C0CC"/>
            </a:solidFill>
            <a:prstDash val="solid"/>
          </a:ln>
        </p:spPr>
        <p:txBody>
          <a:bodyPr/>
          <a:lstStyle/>
          <a:p>
            <a:endParaRPr lang="zh-CN" altLang="en-US"/>
          </a:p>
        </p:txBody>
      </p:sp>
      <p:sp>
        <p:nvSpPr>
          <p:cNvPr id="9" name="矩形 8">
            <a:extLst>
              <a:ext uri="{FF2B5EF4-FFF2-40B4-BE49-F238E27FC236}">
                <a16:creationId xmlns:a16="http://schemas.microsoft.com/office/drawing/2014/main" id="{7D68A698-361C-466A-B0F3-58DF118EFFF4}"/>
              </a:ext>
            </a:extLst>
          </p:cNvPr>
          <p:cNvSpPr>
            <a:spLocks noGrp="1"/>
          </p:cNvSpPr>
          <p:nvPr/>
        </p:nvSpPr>
        <p:spPr>
          <a:xfrm>
            <a:off x="2914650" y="1457325"/>
            <a:ext cx="1924050" cy="247650"/>
          </a:xfrm>
          <a:prstGeom prst="rect">
            <a:avLst/>
          </a:prstGeom>
          <a:solidFill>
            <a:srgbClr val="00204A"/>
          </a:solidFill>
          <a:ln w="0">
            <a:solidFill>
              <a:srgbClr val="000000">
                <a:alpha val="0"/>
              </a:srgbClr>
            </a:solidFill>
            <a:prstDash val="solid"/>
          </a:ln>
        </p:spPr>
        <p:txBody>
          <a:bodyPr lIns="0" tIns="0" rIns="0" bIns="0" anchor="t"/>
          <a:lstStyle/>
          <a:p>
            <a:pPr algn="ctr">
              <a:defRPr sz="1200" b="1">
                <a:solidFill>
                  <a:srgbClr val="FFFFFF"/>
                </a:solidFill>
                <a:latin typeface="黑体"/>
                <a:ea typeface="黑体"/>
                <a:cs typeface="黑体"/>
              </a:defRPr>
            </a:pPr>
            <a:r>
              <a:rPr>
                <a:latin typeface="Times New Roman"/>
                <a:ea typeface="Times New Roman"/>
                <a:cs typeface="Times New Roman"/>
              </a:rPr>
              <a:t>login_count</a:t>
            </a:r>
          </a:p>
        </p:txBody>
      </p:sp>
      <p:sp>
        <p:nvSpPr>
          <p:cNvPr id="10" name="矩形 9">
            <a:extLst>
              <a:ext uri="{FF2B5EF4-FFF2-40B4-BE49-F238E27FC236}">
                <a16:creationId xmlns:a16="http://schemas.microsoft.com/office/drawing/2014/main" id="{FD0DB931-3EE4-4A95-BABE-67157C12ED4E}"/>
              </a:ext>
            </a:extLst>
          </p:cNvPr>
          <p:cNvSpPr>
            <a:spLocks noGrp="1"/>
          </p:cNvSpPr>
          <p:nvPr/>
        </p:nvSpPr>
        <p:spPr>
          <a:xfrm>
            <a:off x="4914900" y="1295400"/>
            <a:ext cx="2076450" cy="552450"/>
          </a:xfrm>
          <a:prstGeom prst="rect">
            <a:avLst/>
          </a:prstGeom>
          <a:solidFill>
            <a:srgbClr val="00204A"/>
          </a:solidFill>
          <a:ln w="9525">
            <a:solidFill>
              <a:srgbClr val="B6C0CC"/>
            </a:solidFill>
            <a:prstDash val="solid"/>
          </a:ln>
        </p:spPr>
        <p:txBody>
          <a:bodyPr/>
          <a:lstStyle/>
          <a:p>
            <a:endParaRPr lang="zh-CN" altLang="en-US"/>
          </a:p>
        </p:txBody>
      </p:sp>
      <p:sp>
        <p:nvSpPr>
          <p:cNvPr id="11" name="矩形 10">
            <a:extLst>
              <a:ext uri="{FF2B5EF4-FFF2-40B4-BE49-F238E27FC236}">
                <a16:creationId xmlns:a16="http://schemas.microsoft.com/office/drawing/2014/main" id="{2EEB7C91-2D4E-488F-A0D3-0DC917CE74FF}"/>
              </a:ext>
            </a:extLst>
          </p:cNvPr>
          <p:cNvSpPr>
            <a:spLocks noGrp="1"/>
          </p:cNvSpPr>
          <p:nvPr/>
        </p:nvSpPr>
        <p:spPr>
          <a:xfrm>
            <a:off x="4991100" y="1457325"/>
            <a:ext cx="1924050" cy="247650"/>
          </a:xfrm>
          <a:prstGeom prst="rect">
            <a:avLst/>
          </a:prstGeom>
          <a:solidFill>
            <a:srgbClr val="00204A"/>
          </a:solidFill>
          <a:ln w="0">
            <a:solidFill>
              <a:srgbClr val="000000">
                <a:alpha val="0"/>
              </a:srgbClr>
            </a:solidFill>
            <a:prstDash val="solid"/>
          </a:ln>
        </p:spPr>
        <p:txBody>
          <a:bodyPr lIns="0" tIns="0" rIns="0" bIns="0" anchor="t"/>
          <a:lstStyle/>
          <a:p>
            <a:pPr algn="ctr">
              <a:defRPr sz="1200" b="1">
                <a:solidFill>
                  <a:srgbClr val="FFFFFF"/>
                </a:solidFill>
                <a:latin typeface="黑体"/>
                <a:ea typeface="黑体"/>
                <a:cs typeface="黑体"/>
              </a:defRPr>
            </a:pPr>
            <a:r>
              <a:rPr>
                <a:latin typeface="Times New Roman"/>
                <a:ea typeface="Times New Roman"/>
                <a:cs typeface="Times New Roman"/>
              </a:rPr>
              <a:t>video_rate</a:t>
            </a:r>
          </a:p>
        </p:txBody>
      </p:sp>
      <p:sp>
        <p:nvSpPr>
          <p:cNvPr id="12" name="矩形 11">
            <a:extLst>
              <a:ext uri="{FF2B5EF4-FFF2-40B4-BE49-F238E27FC236}">
                <a16:creationId xmlns:a16="http://schemas.microsoft.com/office/drawing/2014/main" id="{0750FCFE-02DF-42FA-AC19-0FDB5AED61C4}"/>
              </a:ext>
            </a:extLst>
          </p:cNvPr>
          <p:cNvSpPr>
            <a:spLocks noGrp="1"/>
          </p:cNvSpPr>
          <p:nvPr/>
        </p:nvSpPr>
        <p:spPr>
          <a:xfrm>
            <a:off x="6991350" y="1295400"/>
            <a:ext cx="2076450" cy="552450"/>
          </a:xfrm>
          <a:prstGeom prst="rect">
            <a:avLst/>
          </a:prstGeom>
          <a:solidFill>
            <a:srgbClr val="00204A"/>
          </a:solidFill>
          <a:ln w="9525">
            <a:solidFill>
              <a:srgbClr val="B6C0CC"/>
            </a:solidFill>
            <a:prstDash val="solid"/>
          </a:ln>
        </p:spPr>
        <p:txBody>
          <a:bodyPr/>
          <a:lstStyle/>
          <a:p>
            <a:endParaRPr lang="zh-CN" altLang="en-US"/>
          </a:p>
        </p:txBody>
      </p:sp>
      <p:sp>
        <p:nvSpPr>
          <p:cNvPr id="13" name="矩形 12">
            <a:extLst>
              <a:ext uri="{FF2B5EF4-FFF2-40B4-BE49-F238E27FC236}">
                <a16:creationId xmlns:a16="http://schemas.microsoft.com/office/drawing/2014/main" id="{FCEE7F29-D33D-4A70-BFEB-1FD5DC9DFB38}"/>
              </a:ext>
            </a:extLst>
          </p:cNvPr>
          <p:cNvSpPr>
            <a:spLocks noGrp="1"/>
          </p:cNvSpPr>
          <p:nvPr/>
        </p:nvSpPr>
        <p:spPr>
          <a:xfrm>
            <a:off x="7067550" y="1457325"/>
            <a:ext cx="1924050" cy="247650"/>
          </a:xfrm>
          <a:prstGeom prst="rect">
            <a:avLst/>
          </a:prstGeom>
          <a:solidFill>
            <a:srgbClr val="00204A"/>
          </a:solidFill>
          <a:ln w="0">
            <a:solidFill>
              <a:srgbClr val="000000">
                <a:alpha val="0"/>
              </a:srgbClr>
            </a:solidFill>
            <a:prstDash val="solid"/>
          </a:ln>
        </p:spPr>
        <p:txBody>
          <a:bodyPr lIns="0" tIns="0" rIns="0" bIns="0" anchor="t"/>
          <a:lstStyle/>
          <a:p>
            <a:pPr algn="ctr">
              <a:defRPr sz="1200" b="1">
                <a:solidFill>
                  <a:srgbClr val="FFFFFF"/>
                </a:solidFill>
                <a:latin typeface="黑体"/>
                <a:ea typeface="黑体"/>
                <a:cs typeface="黑体"/>
              </a:defRPr>
            </a:pPr>
            <a:r>
              <a:rPr>
                <a:latin typeface="Times New Roman"/>
                <a:ea typeface="Times New Roman"/>
                <a:cs typeface="Times New Roman"/>
              </a:rPr>
              <a:t>quiz</a:t>
            </a:r>
          </a:p>
        </p:txBody>
      </p:sp>
      <p:sp>
        <p:nvSpPr>
          <p:cNvPr id="14" name="矩形 13">
            <a:extLst>
              <a:ext uri="{FF2B5EF4-FFF2-40B4-BE49-F238E27FC236}">
                <a16:creationId xmlns:a16="http://schemas.microsoft.com/office/drawing/2014/main" id="{611DCFD9-4932-4B7D-954F-752BB7998335}"/>
              </a:ext>
            </a:extLst>
          </p:cNvPr>
          <p:cNvSpPr>
            <a:spLocks noGrp="1"/>
          </p:cNvSpPr>
          <p:nvPr/>
        </p:nvSpPr>
        <p:spPr>
          <a:xfrm>
            <a:off x="9067800" y="1295400"/>
            <a:ext cx="2076450" cy="552450"/>
          </a:xfrm>
          <a:prstGeom prst="rect">
            <a:avLst/>
          </a:prstGeom>
          <a:solidFill>
            <a:srgbClr val="F5E7E7"/>
          </a:solidFill>
          <a:ln w="9525">
            <a:solidFill>
              <a:srgbClr val="B6C0CC"/>
            </a:solidFill>
            <a:prstDash val="solid"/>
          </a:ln>
        </p:spPr>
        <p:txBody>
          <a:bodyPr/>
          <a:lstStyle/>
          <a:p>
            <a:endParaRPr lang="zh-CN" altLang="en-US"/>
          </a:p>
        </p:txBody>
      </p:sp>
      <p:sp>
        <p:nvSpPr>
          <p:cNvPr id="15" name="矩形 14">
            <a:extLst>
              <a:ext uri="{FF2B5EF4-FFF2-40B4-BE49-F238E27FC236}">
                <a16:creationId xmlns:a16="http://schemas.microsoft.com/office/drawing/2014/main" id="{0D95AAEF-C47D-4579-8F0C-23B7B4A1F414}"/>
              </a:ext>
            </a:extLst>
          </p:cNvPr>
          <p:cNvSpPr>
            <a:spLocks noGrp="1"/>
          </p:cNvSpPr>
          <p:nvPr/>
        </p:nvSpPr>
        <p:spPr>
          <a:xfrm>
            <a:off x="9144000" y="1457325"/>
            <a:ext cx="1924050" cy="247650"/>
          </a:xfrm>
          <a:prstGeom prst="rect">
            <a:avLst/>
          </a:prstGeom>
          <a:solidFill>
            <a:srgbClr val="F5E7E7"/>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Times New Roman"/>
                <a:ea typeface="Times New Roman"/>
                <a:cs typeface="Times New Roman"/>
              </a:rPr>
              <a:t>dropout</a:t>
            </a:r>
          </a:p>
        </p:txBody>
      </p:sp>
      <p:sp>
        <p:nvSpPr>
          <p:cNvPr id="16" name="矩形 15">
            <a:extLst>
              <a:ext uri="{FF2B5EF4-FFF2-40B4-BE49-F238E27FC236}">
                <a16:creationId xmlns:a16="http://schemas.microsoft.com/office/drawing/2014/main" id="{CBF7B40A-6E06-4860-A36A-1BFB3BA29FF8}"/>
              </a:ext>
            </a:extLst>
          </p:cNvPr>
          <p:cNvSpPr>
            <a:spLocks noGrp="1"/>
          </p:cNvSpPr>
          <p:nvPr/>
        </p:nvSpPr>
        <p:spPr>
          <a:xfrm>
            <a:off x="781050" y="1847850"/>
            <a:ext cx="2057400" cy="552450"/>
          </a:xfrm>
          <a:prstGeom prst="rect">
            <a:avLst/>
          </a:prstGeom>
          <a:solidFill>
            <a:srgbClr val="F0F5FC"/>
          </a:solidFill>
          <a:ln w="9525">
            <a:solidFill>
              <a:srgbClr val="C8D0DA"/>
            </a:solidFill>
            <a:prstDash val="solid"/>
          </a:ln>
        </p:spPr>
        <p:txBody>
          <a:bodyPr/>
          <a:lstStyle/>
          <a:p>
            <a:endParaRPr lang="zh-CN" altLang="en-US"/>
          </a:p>
        </p:txBody>
      </p:sp>
      <p:sp>
        <p:nvSpPr>
          <p:cNvPr id="17" name="矩形 16">
            <a:extLst>
              <a:ext uri="{FF2B5EF4-FFF2-40B4-BE49-F238E27FC236}">
                <a16:creationId xmlns:a16="http://schemas.microsoft.com/office/drawing/2014/main" id="{46438F8D-10F9-4B85-92CC-EF4CE96719DD}"/>
              </a:ext>
            </a:extLst>
          </p:cNvPr>
          <p:cNvSpPr>
            <a:spLocks noGrp="1"/>
          </p:cNvSpPr>
          <p:nvPr/>
        </p:nvSpPr>
        <p:spPr>
          <a:xfrm>
            <a:off x="857250" y="2009775"/>
            <a:ext cx="1905000" cy="247650"/>
          </a:xfrm>
          <a:prstGeom prst="rect">
            <a:avLst/>
          </a:prstGeom>
          <a:solidFill>
            <a:srgbClr val="F0F5FC"/>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S001</a:t>
            </a:r>
          </a:p>
        </p:txBody>
      </p:sp>
      <p:sp>
        <p:nvSpPr>
          <p:cNvPr id="18" name="矩形 17">
            <a:extLst>
              <a:ext uri="{FF2B5EF4-FFF2-40B4-BE49-F238E27FC236}">
                <a16:creationId xmlns:a16="http://schemas.microsoft.com/office/drawing/2014/main" id="{5A16D88D-6D69-4BB3-8A9F-A76A6EEB08BB}"/>
              </a:ext>
            </a:extLst>
          </p:cNvPr>
          <p:cNvSpPr>
            <a:spLocks noGrp="1"/>
          </p:cNvSpPr>
          <p:nvPr/>
        </p:nvSpPr>
        <p:spPr>
          <a:xfrm>
            <a:off x="2838450" y="1847850"/>
            <a:ext cx="2076450" cy="552450"/>
          </a:xfrm>
          <a:prstGeom prst="rect">
            <a:avLst/>
          </a:prstGeom>
          <a:solidFill>
            <a:srgbClr val="FFFFFF"/>
          </a:solidFill>
          <a:ln w="9525">
            <a:solidFill>
              <a:srgbClr val="C8D0DA"/>
            </a:solidFill>
            <a:prstDash val="solid"/>
          </a:ln>
        </p:spPr>
        <p:txBody>
          <a:bodyPr/>
          <a:lstStyle/>
          <a:p>
            <a:endParaRPr lang="zh-CN" altLang="en-US"/>
          </a:p>
        </p:txBody>
      </p:sp>
      <p:sp>
        <p:nvSpPr>
          <p:cNvPr id="19" name="矩形 18">
            <a:extLst>
              <a:ext uri="{FF2B5EF4-FFF2-40B4-BE49-F238E27FC236}">
                <a16:creationId xmlns:a16="http://schemas.microsoft.com/office/drawing/2014/main" id="{3066E279-AE24-4F37-BE53-246E4323C46A}"/>
              </a:ext>
            </a:extLst>
          </p:cNvPr>
          <p:cNvSpPr>
            <a:spLocks noGrp="1"/>
          </p:cNvSpPr>
          <p:nvPr/>
        </p:nvSpPr>
        <p:spPr>
          <a:xfrm>
            <a:off x="2914650" y="2009775"/>
            <a:ext cx="1924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12</a:t>
            </a:r>
          </a:p>
        </p:txBody>
      </p:sp>
      <p:sp>
        <p:nvSpPr>
          <p:cNvPr id="20" name="矩形 19">
            <a:extLst>
              <a:ext uri="{FF2B5EF4-FFF2-40B4-BE49-F238E27FC236}">
                <a16:creationId xmlns:a16="http://schemas.microsoft.com/office/drawing/2014/main" id="{A5882574-63D2-444A-AA8B-09BABA36F2F5}"/>
              </a:ext>
            </a:extLst>
          </p:cNvPr>
          <p:cNvSpPr>
            <a:spLocks noGrp="1"/>
          </p:cNvSpPr>
          <p:nvPr/>
        </p:nvSpPr>
        <p:spPr>
          <a:xfrm>
            <a:off x="4914900" y="1847850"/>
            <a:ext cx="2076450" cy="552450"/>
          </a:xfrm>
          <a:prstGeom prst="rect">
            <a:avLst/>
          </a:prstGeom>
          <a:solidFill>
            <a:srgbClr val="FFFFFF"/>
          </a:solidFill>
          <a:ln w="9525">
            <a:solidFill>
              <a:srgbClr val="C8D0DA"/>
            </a:solidFill>
            <a:prstDash val="solid"/>
          </a:ln>
        </p:spPr>
        <p:txBody>
          <a:bodyPr/>
          <a:lstStyle/>
          <a:p>
            <a:endParaRPr lang="zh-CN" altLang="en-US"/>
          </a:p>
        </p:txBody>
      </p:sp>
      <p:sp>
        <p:nvSpPr>
          <p:cNvPr id="21" name="矩形 20">
            <a:extLst>
              <a:ext uri="{FF2B5EF4-FFF2-40B4-BE49-F238E27FC236}">
                <a16:creationId xmlns:a16="http://schemas.microsoft.com/office/drawing/2014/main" id="{CE568A01-2BB2-4A24-A50B-3CF5DD6ECAC1}"/>
              </a:ext>
            </a:extLst>
          </p:cNvPr>
          <p:cNvSpPr>
            <a:spLocks noGrp="1"/>
          </p:cNvSpPr>
          <p:nvPr/>
        </p:nvSpPr>
        <p:spPr>
          <a:xfrm>
            <a:off x="4991100" y="2009775"/>
            <a:ext cx="1924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0.86</a:t>
            </a:r>
          </a:p>
        </p:txBody>
      </p:sp>
      <p:sp>
        <p:nvSpPr>
          <p:cNvPr id="22" name="矩形 21">
            <a:extLst>
              <a:ext uri="{FF2B5EF4-FFF2-40B4-BE49-F238E27FC236}">
                <a16:creationId xmlns:a16="http://schemas.microsoft.com/office/drawing/2014/main" id="{E1B44F28-1803-40E5-BC84-82201E6CA1D8}"/>
              </a:ext>
            </a:extLst>
          </p:cNvPr>
          <p:cNvSpPr>
            <a:spLocks noGrp="1"/>
          </p:cNvSpPr>
          <p:nvPr/>
        </p:nvSpPr>
        <p:spPr>
          <a:xfrm>
            <a:off x="6991350" y="1847850"/>
            <a:ext cx="2076450" cy="552450"/>
          </a:xfrm>
          <a:prstGeom prst="rect">
            <a:avLst/>
          </a:prstGeom>
          <a:solidFill>
            <a:srgbClr val="FFFFFF"/>
          </a:solidFill>
          <a:ln w="9525">
            <a:solidFill>
              <a:srgbClr val="C8D0DA"/>
            </a:solidFill>
            <a:prstDash val="solid"/>
          </a:ln>
        </p:spPr>
        <p:txBody>
          <a:bodyPr/>
          <a:lstStyle/>
          <a:p>
            <a:endParaRPr lang="zh-CN" altLang="en-US"/>
          </a:p>
        </p:txBody>
      </p:sp>
      <p:sp>
        <p:nvSpPr>
          <p:cNvPr id="23" name="矩形 22">
            <a:extLst>
              <a:ext uri="{FF2B5EF4-FFF2-40B4-BE49-F238E27FC236}">
                <a16:creationId xmlns:a16="http://schemas.microsoft.com/office/drawing/2014/main" id="{8D4A00F6-E84F-453B-AAAC-68E57E27AB88}"/>
              </a:ext>
            </a:extLst>
          </p:cNvPr>
          <p:cNvSpPr>
            <a:spLocks noGrp="1"/>
          </p:cNvSpPr>
          <p:nvPr/>
        </p:nvSpPr>
        <p:spPr>
          <a:xfrm>
            <a:off x="7067550" y="2009775"/>
            <a:ext cx="1924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78</a:t>
            </a:r>
          </a:p>
        </p:txBody>
      </p:sp>
      <p:sp>
        <p:nvSpPr>
          <p:cNvPr id="24" name="矩形 23">
            <a:extLst>
              <a:ext uri="{FF2B5EF4-FFF2-40B4-BE49-F238E27FC236}">
                <a16:creationId xmlns:a16="http://schemas.microsoft.com/office/drawing/2014/main" id="{477804C9-55CD-4F0F-B232-926CE2455526}"/>
              </a:ext>
            </a:extLst>
          </p:cNvPr>
          <p:cNvSpPr>
            <a:spLocks noGrp="1"/>
          </p:cNvSpPr>
          <p:nvPr/>
        </p:nvSpPr>
        <p:spPr>
          <a:xfrm>
            <a:off x="9067800" y="1847850"/>
            <a:ext cx="2076450" cy="552450"/>
          </a:xfrm>
          <a:prstGeom prst="rect">
            <a:avLst/>
          </a:prstGeom>
          <a:solidFill>
            <a:srgbClr val="FFF6F6"/>
          </a:solidFill>
          <a:ln w="9525">
            <a:solidFill>
              <a:srgbClr val="C8D0DA"/>
            </a:solidFill>
            <a:prstDash val="solid"/>
          </a:ln>
        </p:spPr>
        <p:txBody>
          <a:bodyPr/>
          <a:lstStyle/>
          <a:p>
            <a:endParaRPr lang="zh-CN" altLang="en-US"/>
          </a:p>
        </p:txBody>
      </p:sp>
      <p:sp>
        <p:nvSpPr>
          <p:cNvPr id="25" name="矩形 24">
            <a:extLst>
              <a:ext uri="{FF2B5EF4-FFF2-40B4-BE49-F238E27FC236}">
                <a16:creationId xmlns:a16="http://schemas.microsoft.com/office/drawing/2014/main" id="{7C4EDD95-2342-4AB4-BB0A-EDE57061930E}"/>
              </a:ext>
            </a:extLst>
          </p:cNvPr>
          <p:cNvSpPr>
            <a:spLocks noGrp="1"/>
          </p:cNvSpPr>
          <p:nvPr/>
        </p:nvSpPr>
        <p:spPr>
          <a:xfrm>
            <a:off x="9144000" y="2009775"/>
            <a:ext cx="1924050" cy="247650"/>
          </a:xfrm>
          <a:prstGeom prst="rect">
            <a:avLst/>
          </a:prstGeom>
          <a:solidFill>
            <a:srgbClr val="FFF6F6"/>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0</a:t>
            </a:r>
          </a:p>
        </p:txBody>
      </p:sp>
      <p:sp>
        <p:nvSpPr>
          <p:cNvPr id="26" name="矩形 25">
            <a:extLst>
              <a:ext uri="{FF2B5EF4-FFF2-40B4-BE49-F238E27FC236}">
                <a16:creationId xmlns:a16="http://schemas.microsoft.com/office/drawing/2014/main" id="{084282B6-117B-4577-9072-1DAA9410227C}"/>
              </a:ext>
            </a:extLst>
          </p:cNvPr>
          <p:cNvSpPr>
            <a:spLocks noGrp="1"/>
          </p:cNvSpPr>
          <p:nvPr/>
        </p:nvSpPr>
        <p:spPr>
          <a:xfrm>
            <a:off x="781050" y="2400300"/>
            <a:ext cx="2057400" cy="552450"/>
          </a:xfrm>
          <a:prstGeom prst="rect">
            <a:avLst/>
          </a:prstGeom>
          <a:solidFill>
            <a:srgbClr val="F0F5FC"/>
          </a:solidFill>
          <a:ln w="9525">
            <a:solidFill>
              <a:srgbClr val="C8D0DA"/>
            </a:solidFill>
            <a:prstDash val="solid"/>
          </a:ln>
        </p:spPr>
        <p:txBody>
          <a:bodyPr/>
          <a:lstStyle/>
          <a:p>
            <a:endParaRPr lang="zh-CN" altLang="en-US"/>
          </a:p>
        </p:txBody>
      </p:sp>
      <p:sp>
        <p:nvSpPr>
          <p:cNvPr id="27" name="矩形 26">
            <a:extLst>
              <a:ext uri="{FF2B5EF4-FFF2-40B4-BE49-F238E27FC236}">
                <a16:creationId xmlns:a16="http://schemas.microsoft.com/office/drawing/2014/main" id="{751328B6-CF05-4F0E-8F56-358A94FA6E59}"/>
              </a:ext>
            </a:extLst>
          </p:cNvPr>
          <p:cNvSpPr>
            <a:spLocks noGrp="1"/>
          </p:cNvSpPr>
          <p:nvPr/>
        </p:nvSpPr>
        <p:spPr>
          <a:xfrm>
            <a:off x="857250" y="2562225"/>
            <a:ext cx="1905000" cy="247650"/>
          </a:xfrm>
          <a:prstGeom prst="rect">
            <a:avLst/>
          </a:prstGeom>
          <a:solidFill>
            <a:srgbClr val="F0F5FC"/>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S002</a:t>
            </a:r>
          </a:p>
        </p:txBody>
      </p:sp>
      <p:sp>
        <p:nvSpPr>
          <p:cNvPr id="28" name="矩形 27">
            <a:extLst>
              <a:ext uri="{FF2B5EF4-FFF2-40B4-BE49-F238E27FC236}">
                <a16:creationId xmlns:a16="http://schemas.microsoft.com/office/drawing/2014/main" id="{008B24AA-D265-4EE5-8E2F-6670D7DC4CF5}"/>
              </a:ext>
            </a:extLst>
          </p:cNvPr>
          <p:cNvSpPr>
            <a:spLocks noGrp="1"/>
          </p:cNvSpPr>
          <p:nvPr/>
        </p:nvSpPr>
        <p:spPr>
          <a:xfrm>
            <a:off x="2838450" y="2400300"/>
            <a:ext cx="2076450" cy="552450"/>
          </a:xfrm>
          <a:prstGeom prst="rect">
            <a:avLst/>
          </a:prstGeom>
          <a:solidFill>
            <a:srgbClr val="F8FAFC"/>
          </a:solidFill>
          <a:ln w="9525">
            <a:solidFill>
              <a:srgbClr val="C8D0DA"/>
            </a:solidFill>
            <a:prstDash val="solid"/>
          </a:ln>
        </p:spPr>
        <p:txBody>
          <a:bodyPr/>
          <a:lstStyle/>
          <a:p>
            <a:endParaRPr lang="zh-CN" altLang="en-US"/>
          </a:p>
        </p:txBody>
      </p:sp>
      <p:sp>
        <p:nvSpPr>
          <p:cNvPr id="29" name="矩形 28">
            <a:extLst>
              <a:ext uri="{FF2B5EF4-FFF2-40B4-BE49-F238E27FC236}">
                <a16:creationId xmlns:a16="http://schemas.microsoft.com/office/drawing/2014/main" id="{3C88ED01-43DE-41C9-AF6D-4C64DAA516BF}"/>
              </a:ext>
            </a:extLst>
          </p:cNvPr>
          <p:cNvSpPr>
            <a:spLocks noGrp="1"/>
          </p:cNvSpPr>
          <p:nvPr/>
        </p:nvSpPr>
        <p:spPr>
          <a:xfrm>
            <a:off x="2914650" y="2562225"/>
            <a:ext cx="1924050" cy="247650"/>
          </a:xfrm>
          <a:prstGeom prst="rect">
            <a:avLst/>
          </a:prstGeom>
          <a:solidFill>
            <a:srgbClr val="F8FAFC"/>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3</a:t>
            </a:r>
          </a:p>
        </p:txBody>
      </p:sp>
      <p:sp>
        <p:nvSpPr>
          <p:cNvPr id="30" name="矩形 29">
            <a:extLst>
              <a:ext uri="{FF2B5EF4-FFF2-40B4-BE49-F238E27FC236}">
                <a16:creationId xmlns:a16="http://schemas.microsoft.com/office/drawing/2014/main" id="{9621DBEA-5692-403B-B285-47A1FFC2A0A1}"/>
              </a:ext>
            </a:extLst>
          </p:cNvPr>
          <p:cNvSpPr>
            <a:spLocks noGrp="1"/>
          </p:cNvSpPr>
          <p:nvPr/>
        </p:nvSpPr>
        <p:spPr>
          <a:xfrm>
            <a:off x="4914900" y="2400300"/>
            <a:ext cx="2076450" cy="552450"/>
          </a:xfrm>
          <a:prstGeom prst="rect">
            <a:avLst/>
          </a:prstGeom>
          <a:solidFill>
            <a:srgbClr val="F8FAFC"/>
          </a:solidFill>
          <a:ln w="9525">
            <a:solidFill>
              <a:srgbClr val="C8D0DA"/>
            </a:solidFill>
            <a:prstDash val="solid"/>
          </a:ln>
        </p:spPr>
        <p:txBody>
          <a:bodyPr/>
          <a:lstStyle/>
          <a:p>
            <a:endParaRPr lang="zh-CN" altLang="en-US"/>
          </a:p>
        </p:txBody>
      </p:sp>
      <p:sp>
        <p:nvSpPr>
          <p:cNvPr id="31" name="矩形 30">
            <a:extLst>
              <a:ext uri="{FF2B5EF4-FFF2-40B4-BE49-F238E27FC236}">
                <a16:creationId xmlns:a16="http://schemas.microsoft.com/office/drawing/2014/main" id="{24889738-938A-4838-B010-5C9AAAEC6F6E}"/>
              </a:ext>
            </a:extLst>
          </p:cNvPr>
          <p:cNvSpPr>
            <a:spLocks noGrp="1"/>
          </p:cNvSpPr>
          <p:nvPr/>
        </p:nvSpPr>
        <p:spPr>
          <a:xfrm>
            <a:off x="4991100" y="2562225"/>
            <a:ext cx="1924050" cy="247650"/>
          </a:xfrm>
          <a:prstGeom prst="rect">
            <a:avLst/>
          </a:prstGeom>
          <a:solidFill>
            <a:srgbClr val="F8FAFC"/>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0.35</a:t>
            </a:r>
          </a:p>
        </p:txBody>
      </p:sp>
      <p:sp>
        <p:nvSpPr>
          <p:cNvPr id="32" name="矩形 31">
            <a:extLst>
              <a:ext uri="{FF2B5EF4-FFF2-40B4-BE49-F238E27FC236}">
                <a16:creationId xmlns:a16="http://schemas.microsoft.com/office/drawing/2014/main" id="{14C78258-1543-4008-B4E0-DC513E9B8279}"/>
              </a:ext>
            </a:extLst>
          </p:cNvPr>
          <p:cNvSpPr>
            <a:spLocks noGrp="1"/>
          </p:cNvSpPr>
          <p:nvPr/>
        </p:nvSpPr>
        <p:spPr>
          <a:xfrm>
            <a:off x="6991350" y="2400300"/>
            <a:ext cx="2076450" cy="552450"/>
          </a:xfrm>
          <a:prstGeom prst="rect">
            <a:avLst/>
          </a:prstGeom>
          <a:solidFill>
            <a:srgbClr val="F8FAFC"/>
          </a:solidFill>
          <a:ln w="9525">
            <a:solidFill>
              <a:srgbClr val="C8D0DA"/>
            </a:solidFill>
            <a:prstDash val="solid"/>
          </a:ln>
        </p:spPr>
        <p:txBody>
          <a:bodyPr/>
          <a:lstStyle/>
          <a:p>
            <a:endParaRPr lang="zh-CN" altLang="en-US"/>
          </a:p>
        </p:txBody>
      </p:sp>
      <p:sp>
        <p:nvSpPr>
          <p:cNvPr id="33" name="矩形 32">
            <a:extLst>
              <a:ext uri="{FF2B5EF4-FFF2-40B4-BE49-F238E27FC236}">
                <a16:creationId xmlns:a16="http://schemas.microsoft.com/office/drawing/2014/main" id="{F7BAD250-4C98-4FCB-BBAA-DD95F43C594D}"/>
              </a:ext>
            </a:extLst>
          </p:cNvPr>
          <p:cNvSpPr>
            <a:spLocks noGrp="1"/>
          </p:cNvSpPr>
          <p:nvPr/>
        </p:nvSpPr>
        <p:spPr>
          <a:xfrm>
            <a:off x="7067550" y="2562225"/>
            <a:ext cx="1924050" cy="247650"/>
          </a:xfrm>
          <a:prstGeom prst="rect">
            <a:avLst/>
          </a:prstGeom>
          <a:solidFill>
            <a:srgbClr val="F8FAFC"/>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42</a:t>
            </a:r>
          </a:p>
        </p:txBody>
      </p:sp>
      <p:sp>
        <p:nvSpPr>
          <p:cNvPr id="34" name="矩形 33">
            <a:extLst>
              <a:ext uri="{FF2B5EF4-FFF2-40B4-BE49-F238E27FC236}">
                <a16:creationId xmlns:a16="http://schemas.microsoft.com/office/drawing/2014/main" id="{6DA74D30-37F5-4C34-B365-9BB7ADCE0563}"/>
              </a:ext>
            </a:extLst>
          </p:cNvPr>
          <p:cNvSpPr>
            <a:spLocks noGrp="1"/>
          </p:cNvSpPr>
          <p:nvPr/>
        </p:nvSpPr>
        <p:spPr>
          <a:xfrm>
            <a:off x="9067800" y="2400300"/>
            <a:ext cx="2076450" cy="552450"/>
          </a:xfrm>
          <a:prstGeom prst="rect">
            <a:avLst/>
          </a:prstGeom>
          <a:solidFill>
            <a:srgbClr val="FFF6F6"/>
          </a:solidFill>
          <a:ln w="9525">
            <a:solidFill>
              <a:srgbClr val="C8D0DA"/>
            </a:solidFill>
            <a:prstDash val="solid"/>
          </a:ln>
        </p:spPr>
        <p:txBody>
          <a:bodyPr/>
          <a:lstStyle/>
          <a:p>
            <a:endParaRPr lang="zh-CN" altLang="en-US"/>
          </a:p>
        </p:txBody>
      </p:sp>
      <p:sp>
        <p:nvSpPr>
          <p:cNvPr id="35" name="矩形 34">
            <a:extLst>
              <a:ext uri="{FF2B5EF4-FFF2-40B4-BE49-F238E27FC236}">
                <a16:creationId xmlns:a16="http://schemas.microsoft.com/office/drawing/2014/main" id="{ACBF63E1-2F2D-40A9-AB1E-4D3D8E30EE56}"/>
              </a:ext>
            </a:extLst>
          </p:cNvPr>
          <p:cNvSpPr>
            <a:spLocks noGrp="1"/>
          </p:cNvSpPr>
          <p:nvPr/>
        </p:nvSpPr>
        <p:spPr>
          <a:xfrm>
            <a:off x="9144000" y="2562225"/>
            <a:ext cx="1924050" cy="247650"/>
          </a:xfrm>
          <a:prstGeom prst="rect">
            <a:avLst/>
          </a:prstGeom>
          <a:solidFill>
            <a:srgbClr val="FFF6F6"/>
          </a:solidFill>
          <a:ln w="0">
            <a:solidFill>
              <a:srgbClr val="000000">
                <a:alpha val="0"/>
              </a:srgbClr>
            </a:solidFill>
            <a:prstDash val="solid"/>
          </a:ln>
        </p:spPr>
        <p:txBody>
          <a:bodyPr lIns="0" tIns="0" rIns="0" bIns="0" anchor="t"/>
          <a:lstStyle/>
          <a:p>
            <a:pPr algn="ctr">
              <a:defRPr sz="1350" b="1">
                <a:solidFill>
                  <a:srgbClr val="A33A3A"/>
                </a:solidFill>
                <a:latin typeface="黑体"/>
                <a:ea typeface="黑体"/>
                <a:cs typeface="黑体"/>
              </a:defRPr>
            </a:pPr>
            <a:r>
              <a:rPr>
                <a:latin typeface="Times New Roman"/>
                <a:ea typeface="Times New Roman"/>
                <a:cs typeface="Times New Roman"/>
              </a:rPr>
              <a:t>1</a:t>
            </a:r>
          </a:p>
        </p:txBody>
      </p:sp>
      <p:sp>
        <p:nvSpPr>
          <p:cNvPr id="36" name="矩形 35">
            <a:extLst>
              <a:ext uri="{FF2B5EF4-FFF2-40B4-BE49-F238E27FC236}">
                <a16:creationId xmlns:a16="http://schemas.microsoft.com/office/drawing/2014/main" id="{D4799FFE-334F-4B87-89CF-6A4C64C6263C}"/>
              </a:ext>
            </a:extLst>
          </p:cNvPr>
          <p:cNvSpPr>
            <a:spLocks noGrp="1"/>
          </p:cNvSpPr>
          <p:nvPr/>
        </p:nvSpPr>
        <p:spPr>
          <a:xfrm>
            <a:off x="781050" y="2952750"/>
            <a:ext cx="2057400" cy="552450"/>
          </a:xfrm>
          <a:prstGeom prst="rect">
            <a:avLst/>
          </a:prstGeom>
          <a:solidFill>
            <a:srgbClr val="F0F5FC"/>
          </a:solidFill>
          <a:ln w="9525">
            <a:solidFill>
              <a:srgbClr val="C8D0DA"/>
            </a:solidFill>
            <a:prstDash val="solid"/>
          </a:ln>
        </p:spPr>
        <p:txBody>
          <a:bodyPr/>
          <a:lstStyle/>
          <a:p>
            <a:endParaRPr lang="zh-CN" altLang="en-US"/>
          </a:p>
        </p:txBody>
      </p:sp>
      <p:sp>
        <p:nvSpPr>
          <p:cNvPr id="37" name="矩形 36">
            <a:extLst>
              <a:ext uri="{FF2B5EF4-FFF2-40B4-BE49-F238E27FC236}">
                <a16:creationId xmlns:a16="http://schemas.microsoft.com/office/drawing/2014/main" id="{5F2D4EE6-E4CA-4CF6-B7B7-732A68D5810F}"/>
              </a:ext>
            </a:extLst>
          </p:cNvPr>
          <p:cNvSpPr>
            <a:spLocks noGrp="1"/>
          </p:cNvSpPr>
          <p:nvPr/>
        </p:nvSpPr>
        <p:spPr>
          <a:xfrm>
            <a:off x="857250" y="3114675"/>
            <a:ext cx="1905000" cy="247650"/>
          </a:xfrm>
          <a:prstGeom prst="rect">
            <a:avLst/>
          </a:prstGeom>
          <a:solidFill>
            <a:srgbClr val="F0F5FC"/>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S003</a:t>
            </a:r>
          </a:p>
        </p:txBody>
      </p:sp>
      <p:sp>
        <p:nvSpPr>
          <p:cNvPr id="38" name="矩形 37">
            <a:extLst>
              <a:ext uri="{FF2B5EF4-FFF2-40B4-BE49-F238E27FC236}">
                <a16:creationId xmlns:a16="http://schemas.microsoft.com/office/drawing/2014/main" id="{814DE12B-4716-48E2-8B3A-28780AB433B6}"/>
              </a:ext>
            </a:extLst>
          </p:cNvPr>
          <p:cNvSpPr>
            <a:spLocks noGrp="1"/>
          </p:cNvSpPr>
          <p:nvPr/>
        </p:nvSpPr>
        <p:spPr>
          <a:xfrm>
            <a:off x="2838450" y="2952750"/>
            <a:ext cx="2076450" cy="552450"/>
          </a:xfrm>
          <a:prstGeom prst="rect">
            <a:avLst/>
          </a:prstGeom>
          <a:solidFill>
            <a:srgbClr val="FFFFFF"/>
          </a:solidFill>
          <a:ln w="9525">
            <a:solidFill>
              <a:srgbClr val="C8D0DA"/>
            </a:solidFill>
            <a:prstDash val="solid"/>
          </a:ln>
        </p:spPr>
        <p:txBody>
          <a:bodyPr/>
          <a:lstStyle/>
          <a:p>
            <a:endParaRPr lang="zh-CN" altLang="en-US"/>
          </a:p>
        </p:txBody>
      </p:sp>
      <p:sp>
        <p:nvSpPr>
          <p:cNvPr id="39" name="矩形 38">
            <a:extLst>
              <a:ext uri="{FF2B5EF4-FFF2-40B4-BE49-F238E27FC236}">
                <a16:creationId xmlns:a16="http://schemas.microsoft.com/office/drawing/2014/main" id="{C690D08A-A4DD-4A83-835C-2AFCB4683CF0}"/>
              </a:ext>
            </a:extLst>
          </p:cNvPr>
          <p:cNvSpPr>
            <a:spLocks noGrp="1"/>
          </p:cNvSpPr>
          <p:nvPr/>
        </p:nvSpPr>
        <p:spPr>
          <a:xfrm>
            <a:off x="2914650" y="3114675"/>
            <a:ext cx="1924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8</a:t>
            </a:r>
          </a:p>
        </p:txBody>
      </p:sp>
      <p:sp>
        <p:nvSpPr>
          <p:cNvPr id="40" name="矩形 39">
            <a:extLst>
              <a:ext uri="{FF2B5EF4-FFF2-40B4-BE49-F238E27FC236}">
                <a16:creationId xmlns:a16="http://schemas.microsoft.com/office/drawing/2014/main" id="{3A4A859F-B629-46C4-8444-81AAF49AD340}"/>
              </a:ext>
            </a:extLst>
          </p:cNvPr>
          <p:cNvSpPr>
            <a:spLocks noGrp="1"/>
          </p:cNvSpPr>
          <p:nvPr/>
        </p:nvSpPr>
        <p:spPr>
          <a:xfrm>
            <a:off x="4914900" y="2952750"/>
            <a:ext cx="2076450" cy="552450"/>
          </a:xfrm>
          <a:prstGeom prst="rect">
            <a:avLst/>
          </a:prstGeom>
          <a:solidFill>
            <a:srgbClr val="FFFFFF"/>
          </a:solidFill>
          <a:ln w="9525">
            <a:solidFill>
              <a:srgbClr val="C8D0DA"/>
            </a:solidFill>
            <a:prstDash val="solid"/>
          </a:ln>
        </p:spPr>
        <p:txBody>
          <a:bodyPr/>
          <a:lstStyle/>
          <a:p>
            <a:endParaRPr lang="zh-CN" altLang="en-US"/>
          </a:p>
        </p:txBody>
      </p:sp>
      <p:sp>
        <p:nvSpPr>
          <p:cNvPr id="41" name="矩形 40">
            <a:extLst>
              <a:ext uri="{FF2B5EF4-FFF2-40B4-BE49-F238E27FC236}">
                <a16:creationId xmlns:a16="http://schemas.microsoft.com/office/drawing/2014/main" id="{6B7C02C2-B668-4708-994F-702A2A4188BE}"/>
              </a:ext>
            </a:extLst>
          </p:cNvPr>
          <p:cNvSpPr>
            <a:spLocks noGrp="1"/>
          </p:cNvSpPr>
          <p:nvPr/>
        </p:nvSpPr>
        <p:spPr>
          <a:xfrm>
            <a:off x="4991100" y="3114675"/>
            <a:ext cx="1924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0.72</a:t>
            </a:r>
          </a:p>
        </p:txBody>
      </p:sp>
      <p:sp>
        <p:nvSpPr>
          <p:cNvPr id="42" name="矩形 41">
            <a:extLst>
              <a:ext uri="{FF2B5EF4-FFF2-40B4-BE49-F238E27FC236}">
                <a16:creationId xmlns:a16="http://schemas.microsoft.com/office/drawing/2014/main" id="{648399B8-08AF-4E4E-8E8F-872E09BBC248}"/>
              </a:ext>
            </a:extLst>
          </p:cNvPr>
          <p:cNvSpPr>
            <a:spLocks noGrp="1"/>
          </p:cNvSpPr>
          <p:nvPr/>
        </p:nvSpPr>
        <p:spPr>
          <a:xfrm>
            <a:off x="6991350" y="2952750"/>
            <a:ext cx="2076450" cy="552450"/>
          </a:xfrm>
          <a:prstGeom prst="rect">
            <a:avLst/>
          </a:prstGeom>
          <a:solidFill>
            <a:srgbClr val="FFFFFF"/>
          </a:solidFill>
          <a:ln w="9525">
            <a:solidFill>
              <a:srgbClr val="C8D0DA"/>
            </a:solidFill>
            <a:prstDash val="solid"/>
          </a:ln>
        </p:spPr>
        <p:txBody>
          <a:bodyPr/>
          <a:lstStyle/>
          <a:p>
            <a:endParaRPr lang="zh-CN" altLang="en-US"/>
          </a:p>
        </p:txBody>
      </p:sp>
      <p:sp>
        <p:nvSpPr>
          <p:cNvPr id="43" name="矩形 42">
            <a:extLst>
              <a:ext uri="{FF2B5EF4-FFF2-40B4-BE49-F238E27FC236}">
                <a16:creationId xmlns:a16="http://schemas.microsoft.com/office/drawing/2014/main" id="{FDF2B02C-246B-422E-80E2-54D8653DBF24}"/>
              </a:ext>
            </a:extLst>
          </p:cNvPr>
          <p:cNvSpPr>
            <a:spLocks noGrp="1"/>
          </p:cNvSpPr>
          <p:nvPr/>
        </p:nvSpPr>
        <p:spPr>
          <a:xfrm>
            <a:off x="7067550" y="3114675"/>
            <a:ext cx="1924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66</a:t>
            </a:r>
          </a:p>
        </p:txBody>
      </p:sp>
      <p:sp>
        <p:nvSpPr>
          <p:cNvPr id="44" name="矩形 43">
            <a:extLst>
              <a:ext uri="{FF2B5EF4-FFF2-40B4-BE49-F238E27FC236}">
                <a16:creationId xmlns:a16="http://schemas.microsoft.com/office/drawing/2014/main" id="{7B3A6365-B4A2-43C4-BD0F-BB87D7513EA1}"/>
              </a:ext>
            </a:extLst>
          </p:cNvPr>
          <p:cNvSpPr>
            <a:spLocks noGrp="1"/>
          </p:cNvSpPr>
          <p:nvPr/>
        </p:nvSpPr>
        <p:spPr>
          <a:xfrm>
            <a:off x="9067800" y="2952750"/>
            <a:ext cx="2076450" cy="552450"/>
          </a:xfrm>
          <a:prstGeom prst="rect">
            <a:avLst/>
          </a:prstGeom>
          <a:solidFill>
            <a:srgbClr val="FFF6F6"/>
          </a:solidFill>
          <a:ln w="9525">
            <a:solidFill>
              <a:srgbClr val="C8D0DA"/>
            </a:solidFill>
            <a:prstDash val="solid"/>
          </a:ln>
        </p:spPr>
        <p:txBody>
          <a:bodyPr/>
          <a:lstStyle/>
          <a:p>
            <a:endParaRPr lang="zh-CN" altLang="en-US"/>
          </a:p>
        </p:txBody>
      </p:sp>
      <p:sp>
        <p:nvSpPr>
          <p:cNvPr id="45" name="矩形 44">
            <a:extLst>
              <a:ext uri="{FF2B5EF4-FFF2-40B4-BE49-F238E27FC236}">
                <a16:creationId xmlns:a16="http://schemas.microsoft.com/office/drawing/2014/main" id="{E2F67504-7282-42F7-B736-E86C345463C5}"/>
              </a:ext>
            </a:extLst>
          </p:cNvPr>
          <p:cNvSpPr>
            <a:spLocks noGrp="1"/>
          </p:cNvSpPr>
          <p:nvPr/>
        </p:nvSpPr>
        <p:spPr>
          <a:xfrm>
            <a:off x="9144000" y="3114675"/>
            <a:ext cx="1924050" cy="247650"/>
          </a:xfrm>
          <a:prstGeom prst="rect">
            <a:avLst/>
          </a:prstGeom>
          <a:solidFill>
            <a:srgbClr val="FFF6F6"/>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0</a:t>
            </a:r>
          </a:p>
        </p:txBody>
      </p:sp>
      <p:sp>
        <p:nvSpPr>
          <p:cNvPr id="46" name="矩形 45">
            <a:extLst>
              <a:ext uri="{FF2B5EF4-FFF2-40B4-BE49-F238E27FC236}">
                <a16:creationId xmlns:a16="http://schemas.microsoft.com/office/drawing/2014/main" id="{EA323485-C09C-4ED0-B241-9A8FD6F82BFE}"/>
              </a:ext>
            </a:extLst>
          </p:cNvPr>
          <p:cNvSpPr>
            <a:spLocks noGrp="1"/>
          </p:cNvSpPr>
          <p:nvPr/>
        </p:nvSpPr>
        <p:spPr>
          <a:xfrm>
            <a:off x="781050" y="3505200"/>
            <a:ext cx="2057400" cy="552450"/>
          </a:xfrm>
          <a:prstGeom prst="rect">
            <a:avLst/>
          </a:prstGeom>
          <a:solidFill>
            <a:srgbClr val="F0F5FC"/>
          </a:solidFill>
          <a:ln w="9525">
            <a:solidFill>
              <a:srgbClr val="C8D0DA"/>
            </a:solidFill>
            <a:prstDash val="solid"/>
          </a:ln>
        </p:spPr>
        <p:txBody>
          <a:bodyPr/>
          <a:lstStyle/>
          <a:p>
            <a:endParaRPr lang="zh-CN" altLang="en-US"/>
          </a:p>
        </p:txBody>
      </p:sp>
      <p:sp>
        <p:nvSpPr>
          <p:cNvPr id="47" name="矩形 46">
            <a:extLst>
              <a:ext uri="{FF2B5EF4-FFF2-40B4-BE49-F238E27FC236}">
                <a16:creationId xmlns:a16="http://schemas.microsoft.com/office/drawing/2014/main" id="{A15AEFB5-57CE-4A07-B5EA-F8F780897514}"/>
              </a:ext>
            </a:extLst>
          </p:cNvPr>
          <p:cNvSpPr>
            <a:spLocks noGrp="1"/>
          </p:cNvSpPr>
          <p:nvPr/>
        </p:nvSpPr>
        <p:spPr>
          <a:xfrm>
            <a:off x="857250" y="3667125"/>
            <a:ext cx="1905000" cy="247650"/>
          </a:xfrm>
          <a:prstGeom prst="rect">
            <a:avLst/>
          </a:prstGeom>
          <a:solidFill>
            <a:srgbClr val="F0F5FC"/>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S004</a:t>
            </a:r>
          </a:p>
        </p:txBody>
      </p:sp>
      <p:sp>
        <p:nvSpPr>
          <p:cNvPr id="48" name="矩形 47">
            <a:extLst>
              <a:ext uri="{FF2B5EF4-FFF2-40B4-BE49-F238E27FC236}">
                <a16:creationId xmlns:a16="http://schemas.microsoft.com/office/drawing/2014/main" id="{C1470660-597D-45C2-B093-55B94388ABBC}"/>
              </a:ext>
            </a:extLst>
          </p:cNvPr>
          <p:cNvSpPr>
            <a:spLocks noGrp="1"/>
          </p:cNvSpPr>
          <p:nvPr/>
        </p:nvSpPr>
        <p:spPr>
          <a:xfrm>
            <a:off x="2838450" y="3505200"/>
            <a:ext cx="2076450" cy="552450"/>
          </a:xfrm>
          <a:prstGeom prst="rect">
            <a:avLst/>
          </a:prstGeom>
          <a:solidFill>
            <a:srgbClr val="F8FAFC"/>
          </a:solidFill>
          <a:ln w="9525">
            <a:solidFill>
              <a:srgbClr val="C8D0DA"/>
            </a:solidFill>
            <a:prstDash val="solid"/>
          </a:ln>
        </p:spPr>
        <p:txBody>
          <a:bodyPr/>
          <a:lstStyle/>
          <a:p>
            <a:endParaRPr lang="zh-CN" altLang="en-US"/>
          </a:p>
        </p:txBody>
      </p:sp>
      <p:sp>
        <p:nvSpPr>
          <p:cNvPr id="49" name="矩形 48">
            <a:extLst>
              <a:ext uri="{FF2B5EF4-FFF2-40B4-BE49-F238E27FC236}">
                <a16:creationId xmlns:a16="http://schemas.microsoft.com/office/drawing/2014/main" id="{B9032A9E-6F64-4FB3-93AA-94086BC049A3}"/>
              </a:ext>
            </a:extLst>
          </p:cNvPr>
          <p:cNvSpPr>
            <a:spLocks noGrp="1"/>
          </p:cNvSpPr>
          <p:nvPr/>
        </p:nvSpPr>
        <p:spPr>
          <a:xfrm>
            <a:off x="2914650" y="3667125"/>
            <a:ext cx="1924050" cy="247650"/>
          </a:xfrm>
          <a:prstGeom prst="rect">
            <a:avLst/>
          </a:prstGeom>
          <a:solidFill>
            <a:srgbClr val="F8FAFC"/>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0</a:t>
            </a:r>
          </a:p>
        </p:txBody>
      </p:sp>
      <p:sp>
        <p:nvSpPr>
          <p:cNvPr id="50" name="矩形 49">
            <a:extLst>
              <a:ext uri="{FF2B5EF4-FFF2-40B4-BE49-F238E27FC236}">
                <a16:creationId xmlns:a16="http://schemas.microsoft.com/office/drawing/2014/main" id="{FA0EE0AD-025C-47D6-91D3-D2513A72E9DF}"/>
              </a:ext>
            </a:extLst>
          </p:cNvPr>
          <p:cNvSpPr>
            <a:spLocks noGrp="1"/>
          </p:cNvSpPr>
          <p:nvPr/>
        </p:nvSpPr>
        <p:spPr>
          <a:xfrm>
            <a:off x="4914900" y="3505200"/>
            <a:ext cx="2076450" cy="552450"/>
          </a:xfrm>
          <a:prstGeom prst="rect">
            <a:avLst/>
          </a:prstGeom>
          <a:solidFill>
            <a:srgbClr val="F8FAFC"/>
          </a:solidFill>
          <a:ln w="9525">
            <a:solidFill>
              <a:srgbClr val="C8D0DA"/>
            </a:solidFill>
            <a:prstDash val="solid"/>
          </a:ln>
        </p:spPr>
        <p:txBody>
          <a:bodyPr/>
          <a:lstStyle/>
          <a:p>
            <a:endParaRPr lang="zh-CN" altLang="en-US"/>
          </a:p>
        </p:txBody>
      </p:sp>
      <p:sp>
        <p:nvSpPr>
          <p:cNvPr id="51" name="矩形 50">
            <a:extLst>
              <a:ext uri="{FF2B5EF4-FFF2-40B4-BE49-F238E27FC236}">
                <a16:creationId xmlns:a16="http://schemas.microsoft.com/office/drawing/2014/main" id="{C874C7C7-9000-47CF-84E5-1CFB8F6075A9}"/>
              </a:ext>
            </a:extLst>
          </p:cNvPr>
          <p:cNvSpPr>
            <a:spLocks noGrp="1"/>
          </p:cNvSpPr>
          <p:nvPr/>
        </p:nvSpPr>
        <p:spPr>
          <a:xfrm>
            <a:off x="4991100" y="3667125"/>
            <a:ext cx="1924050" cy="247650"/>
          </a:xfrm>
          <a:prstGeom prst="rect">
            <a:avLst/>
          </a:prstGeom>
          <a:solidFill>
            <a:srgbClr val="F8FAFC"/>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0.10</a:t>
            </a:r>
          </a:p>
        </p:txBody>
      </p:sp>
      <p:sp>
        <p:nvSpPr>
          <p:cNvPr id="52" name="矩形 51">
            <a:extLst>
              <a:ext uri="{FF2B5EF4-FFF2-40B4-BE49-F238E27FC236}">
                <a16:creationId xmlns:a16="http://schemas.microsoft.com/office/drawing/2014/main" id="{2FC37A58-76FE-4710-B052-6507F6D4B303}"/>
              </a:ext>
            </a:extLst>
          </p:cNvPr>
          <p:cNvSpPr>
            <a:spLocks noGrp="1"/>
          </p:cNvSpPr>
          <p:nvPr/>
        </p:nvSpPr>
        <p:spPr>
          <a:xfrm>
            <a:off x="6991350" y="3505200"/>
            <a:ext cx="2076450" cy="552450"/>
          </a:xfrm>
          <a:prstGeom prst="rect">
            <a:avLst/>
          </a:prstGeom>
          <a:solidFill>
            <a:srgbClr val="F8FAFC"/>
          </a:solidFill>
          <a:ln w="9525">
            <a:solidFill>
              <a:srgbClr val="C8D0DA"/>
            </a:solidFill>
            <a:prstDash val="solid"/>
          </a:ln>
        </p:spPr>
        <p:txBody>
          <a:bodyPr/>
          <a:lstStyle/>
          <a:p>
            <a:endParaRPr lang="zh-CN" altLang="en-US"/>
          </a:p>
        </p:txBody>
      </p:sp>
      <p:sp>
        <p:nvSpPr>
          <p:cNvPr id="53" name="矩形 52">
            <a:extLst>
              <a:ext uri="{FF2B5EF4-FFF2-40B4-BE49-F238E27FC236}">
                <a16:creationId xmlns:a16="http://schemas.microsoft.com/office/drawing/2014/main" id="{382D904A-66A8-4562-8F6D-B11FE3AE0D3C}"/>
              </a:ext>
            </a:extLst>
          </p:cNvPr>
          <p:cNvSpPr>
            <a:spLocks noGrp="1"/>
          </p:cNvSpPr>
          <p:nvPr/>
        </p:nvSpPr>
        <p:spPr>
          <a:xfrm>
            <a:off x="7067550" y="3667125"/>
            <a:ext cx="1924050" cy="247650"/>
          </a:xfrm>
          <a:prstGeom prst="rect">
            <a:avLst/>
          </a:prstGeom>
          <a:solidFill>
            <a:srgbClr val="F8FAFC"/>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a:t>
            </a:r>
          </a:p>
        </p:txBody>
      </p:sp>
      <p:sp>
        <p:nvSpPr>
          <p:cNvPr id="54" name="矩形 53">
            <a:extLst>
              <a:ext uri="{FF2B5EF4-FFF2-40B4-BE49-F238E27FC236}">
                <a16:creationId xmlns:a16="http://schemas.microsoft.com/office/drawing/2014/main" id="{4E6DA43B-A2D8-413D-80A5-2B09BFDC2433}"/>
              </a:ext>
            </a:extLst>
          </p:cNvPr>
          <p:cNvSpPr>
            <a:spLocks noGrp="1"/>
          </p:cNvSpPr>
          <p:nvPr/>
        </p:nvSpPr>
        <p:spPr>
          <a:xfrm>
            <a:off x="9067800" y="3505200"/>
            <a:ext cx="2076450" cy="552450"/>
          </a:xfrm>
          <a:prstGeom prst="rect">
            <a:avLst/>
          </a:prstGeom>
          <a:solidFill>
            <a:srgbClr val="FFF6F6"/>
          </a:solidFill>
          <a:ln w="9525">
            <a:solidFill>
              <a:srgbClr val="C8D0DA"/>
            </a:solidFill>
            <a:prstDash val="solid"/>
          </a:ln>
        </p:spPr>
        <p:txBody>
          <a:bodyPr/>
          <a:lstStyle/>
          <a:p>
            <a:endParaRPr lang="zh-CN" altLang="en-US"/>
          </a:p>
        </p:txBody>
      </p:sp>
      <p:sp>
        <p:nvSpPr>
          <p:cNvPr id="55" name="矩形 54">
            <a:extLst>
              <a:ext uri="{FF2B5EF4-FFF2-40B4-BE49-F238E27FC236}">
                <a16:creationId xmlns:a16="http://schemas.microsoft.com/office/drawing/2014/main" id="{BBFB8712-29F2-4F14-B299-AB1EE7B3FF6F}"/>
              </a:ext>
            </a:extLst>
          </p:cNvPr>
          <p:cNvSpPr>
            <a:spLocks noGrp="1"/>
          </p:cNvSpPr>
          <p:nvPr/>
        </p:nvSpPr>
        <p:spPr>
          <a:xfrm>
            <a:off x="9144000" y="3667125"/>
            <a:ext cx="1924050" cy="247650"/>
          </a:xfrm>
          <a:prstGeom prst="rect">
            <a:avLst/>
          </a:prstGeom>
          <a:solidFill>
            <a:srgbClr val="FFF6F6"/>
          </a:solidFill>
          <a:ln w="0">
            <a:solidFill>
              <a:srgbClr val="000000">
                <a:alpha val="0"/>
              </a:srgbClr>
            </a:solidFill>
            <a:prstDash val="solid"/>
          </a:ln>
        </p:spPr>
        <p:txBody>
          <a:bodyPr lIns="0" tIns="0" rIns="0" bIns="0" anchor="t"/>
          <a:lstStyle/>
          <a:p>
            <a:pPr algn="ctr">
              <a:defRPr sz="1350" b="1">
                <a:solidFill>
                  <a:srgbClr val="A33A3A"/>
                </a:solidFill>
                <a:latin typeface="黑体"/>
                <a:ea typeface="黑体"/>
                <a:cs typeface="黑体"/>
              </a:defRPr>
            </a:pPr>
            <a:r>
              <a:rPr>
                <a:latin typeface="Times New Roman"/>
                <a:ea typeface="Times New Roman"/>
                <a:cs typeface="Times New Roman"/>
              </a:rPr>
              <a:t>1</a:t>
            </a:r>
          </a:p>
        </p:txBody>
      </p:sp>
      <p:sp>
        <p:nvSpPr>
          <p:cNvPr id="56" name="矩形 55">
            <a:extLst>
              <a:ext uri="{FF2B5EF4-FFF2-40B4-BE49-F238E27FC236}">
                <a16:creationId xmlns:a16="http://schemas.microsoft.com/office/drawing/2014/main" id="{C2103732-1D10-4BEC-B597-872369552966}"/>
              </a:ext>
            </a:extLst>
          </p:cNvPr>
          <p:cNvSpPr>
            <a:spLocks noGrp="1"/>
          </p:cNvSpPr>
          <p:nvPr/>
        </p:nvSpPr>
        <p:spPr>
          <a:xfrm>
            <a:off x="781050" y="4229100"/>
            <a:ext cx="2057400" cy="476250"/>
          </a:xfrm>
          <a:prstGeom prst="rect">
            <a:avLst/>
          </a:prstGeom>
          <a:solidFill>
            <a:srgbClr val="EAF2FF"/>
          </a:solidFill>
          <a:ln w="19050">
            <a:solidFill>
              <a:srgbClr val="FFFFFF"/>
            </a:solidFill>
            <a:prstDash val="solid"/>
          </a:ln>
        </p:spPr>
        <p:txBody>
          <a:bodyPr/>
          <a:lstStyle/>
          <a:p>
            <a:endParaRPr lang="zh-CN" altLang="en-US"/>
          </a:p>
        </p:txBody>
      </p:sp>
      <p:sp>
        <p:nvSpPr>
          <p:cNvPr id="57" name="矩形 56">
            <a:extLst>
              <a:ext uri="{FF2B5EF4-FFF2-40B4-BE49-F238E27FC236}">
                <a16:creationId xmlns:a16="http://schemas.microsoft.com/office/drawing/2014/main" id="{4A8CD5EA-AF9E-409D-8AA4-FD0A44A332B2}"/>
              </a:ext>
            </a:extLst>
          </p:cNvPr>
          <p:cNvSpPr>
            <a:spLocks noGrp="1"/>
          </p:cNvSpPr>
          <p:nvPr/>
        </p:nvSpPr>
        <p:spPr>
          <a:xfrm>
            <a:off x="857250" y="4362450"/>
            <a:ext cx="1905000" cy="209550"/>
          </a:xfrm>
          <a:prstGeom prst="rect">
            <a:avLst/>
          </a:prstGeom>
          <a:solidFill>
            <a:srgbClr val="EAF2FF"/>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黑体"/>
                <a:ea typeface="黑体"/>
                <a:cs typeface="黑体"/>
              </a:rPr>
              <a:t>对象标识</a:t>
            </a:r>
          </a:p>
        </p:txBody>
      </p:sp>
      <p:sp>
        <p:nvSpPr>
          <p:cNvPr id="58" name="矩形 57">
            <a:extLst>
              <a:ext uri="{FF2B5EF4-FFF2-40B4-BE49-F238E27FC236}">
                <a16:creationId xmlns:a16="http://schemas.microsoft.com/office/drawing/2014/main" id="{74002B40-DB88-4855-A1FC-029483C0039D}"/>
              </a:ext>
            </a:extLst>
          </p:cNvPr>
          <p:cNvSpPr>
            <a:spLocks noGrp="1"/>
          </p:cNvSpPr>
          <p:nvPr/>
        </p:nvSpPr>
        <p:spPr>
          <a:xfrm>
            <a:off x="2838450" y="4229100"/>
            <a:ext cx="2076450" cy="476250"/>
          </a:xfrm>
          <a:prstGeom prst="rect">
            <a:avLst/>
          </a:prstGeom>
          <a:solidFill>
            <a:srgbClr val="F4EBC2"/>
          </a:solidFill>
          <a:ln w="19050">
            <a:solidFill>
              <a:srgbClr val="FFFFFF"/>
            </a:solidFill>
            <a:prstDash val="solid"/>
          </a:ln>
        </p:spPr>
        <p:txBody>
          <a:bodyPr/>
          <a:lstStyle/>
          <a:p>
            <a:endParaRPr lang="zh-CN" altLang="en-US"/>
          </a:p>
        </p:txBody>
      </p:sp>
      <p:sp>
        <p:nvSpPr>
          <p:cNvPr id="59" name="矩形 58">
            <a:extLst>
              <a:ext uri="{FF2B5EF4-FFF2-40B4-BE49-F238E27FC236}">
                <a16:creationId xmlns:a16="http://schemas.microsoft.com/office/drawing/2014/main" id="{14064C29-976F-4E81-838E-D5E6FB6C9A17}"/>
              </a:ext>
            </a:extLst>
          </p:cNvPr>
          <p:cNvSpPr>
            <a:spLocks noGrp="1"/>
          </p:cNvSpPr>
          <p:nvPr/>
        </p:nvSpPr>
        <p:spPr>
          <a:xfrm>
            <a:off x="2914650" y="4362450"/>
            <a:ext cx="1924050" cy="209550"/>
          </a:xfrm>
          <a:prstGeom prst="rect">
            <a:avLst/>
          </a:prstGeom>
          <a:solidFill>
            <a:srgbClr val="F4EBC2"/>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黑体"/>
                <a:ea typeface="黑体"/>
                <a:cs typeface="黑体"/>
              </a:rPr>
              <a:t>特征 </a:t>
            </a:r>
            <a:r>
              <a:rPr>
                <a:latin typeface="Times New Roman"/>
                <a:ea typeface="Times New Roman"/>
                <a:cs typeface="Times New Roman"/>
              </a:rPr>
              <a:t>X</a:t>
            </a:r>
          </a:p>
        </p:txBody>
      </p:sp>
      <p:sp>
        <p:nvSpPr>
          <p:cNvPr id="60" name="矩形 59">
            <a:extLst>
              <a:ext uri="{FF2B5EF4-FFF2-40B4-BE49-F238E27FC236}">
                <a16:creationId xmlns:a16="http://schemas.microsoft.com/office/drawing/2014/main" id="{BF1FD4BB-ACB4-4F5C-B049-F3C59929258E}"/>
              </a:ext>
            </a:extLst>
          </p:cNvPr>
          <p:cNvSpPr>
            <a:spLocks noGrp="1"/>
          </p:cNvSpPr>
          <p:nvPr/>
        </p:nvSpPr>
        <p:spPr>
          <a:xfrm>
            <a:off x="4914900" y="4229100"/>
            <a:ext cx="2076450" cy="476250"/>
          </a:xfrm>
          <a:prstGeom prst="rect">
            <a:avLst/>
          </a:prstGeom>
          <a:solidFill>
            <a:srgbClr val="F4EBC2"/>
          </a:solidFill>
          <a:ln w="19050">
            <a:solidFill>
              <a:srgbClr val="FFFFFF"/>
            </a:solidFill>
            <a:prstDash val="solid"/>
          </a:ln>
        </p:spPr>
        <p:txBody>
          <a:bodyPr/>
          <a:lstStyle/>
          <a:p>
            <a:endParaRPr lang="zh-CN" altLang="en-US"/>
          </a:p>
        </p:txBody>
      </p:sp>
      <p:sp>
        <p:nvSpPr>
          <p:cNvPr id="61" name="矩形 60">
            <a:extLst>
              <a:ext uri="{FF2B5EF4-FFF2-40B4-BE49-F238E27FC236}">
                <a16:creationId xmlns:a16="http://schemas.microsoft.com/office/drawing/2014/main" id="{0F016D5B-5248-43A2-A32E-5776190F7EC2}"/>
              </a:ext>
            </a:extLst>
          </p:cNvPr>
          <p:cNvSpPr>
            <a:spLocks noGrp="1"/>
          </p:cNvSpPr>
          <p:nvPr/>
        </p:nvSpPr>
        <p:spPr>
          <a:xfrm>
            <a:off x="4991100" y="4362450"/>
            <a:ext cx="1924050" cy="209550"/>
          </a:xfrm>
          <a:prstGeom prst="rect">
            <a:avLst/>
          </a:prstGeom>
          <a:solidFill>
            <a:srgbClr val="F4EBC2"/>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黑体"/>
                <a:ea typeface="黑体"/>
                <a:cs typeface="黑体"/>
              </a:rPr>
              <a:t>特征 </a:t>
            </a:r>
            <a:r>
              <a:rPr>
                <a:latin typeface="Times New Roman"/>
                <a:ea typeface="Times New Roman"/>
                <a:cs typeface="Times New Roman"/>
              </a:rPr>
              <a:t>X</a:t>
            </a:r>
          </a:p>
        </p:txBody>
      </p:sp>
      <p:sp>
        <p:nvSpPr>
          <p:cNvPr id="62" name="矩形 61">
            <a:extLst>
              <a:ext uri="{FF2B5EF4-FFF2-40B4-BE49-F238E27FC236}">
                <a16:creationId xmlns:a16="http://schemas.microsoft.com/office/drawing/2014/main" id="{9C31FD19-2BF3-40AF-9660-F0B0266878D6}"/>
              </a:ext>
            </a:extLst>
          </p:cNvPr>
          <p:cNvSpPr>
            <a:spLocks noGrp="1"/>
          </p:cNvSpPr>
          <p:nvPr/>
        </p:nvSpPr>
        <p:spPr>
          <a:xfrm>
            <a:off x="6991350" y="4229100"/>
            <a:ext cx="2076450" cy="476250"/>
          </a:xfrm>
          <a:prstGeom prst="rect">
            <a:avLst/>
          </a:prstGeom>
          <a:solidFill>
            <a:srgbClr val="F4EBC2"/>
          </a:solidFill>
          <a:ln w="19050">
            <a:solidFill>
              <a:srgbClr val="FFFFFF"/>
            </a:solidFill>
            <a:prstDash val="solid"/>
          </a:ln>
        </p:spPr>
        <p:txBody>
          <a:bodyPr/>
          <a:lstStyle/>
          <a:p>
            <a:endParaRPr lang="zh-CN" altLang="en-US"/>
          </a:p>
        </p:txBody>
      </p:sp>
      <p:sp>
        <p:nvSpPr>
          <p:cNvPr id="63" name="矩形 62">
            <a:extLst>
              <a:ext uri="{FF2B5EF4-FFF2-40B4-BE49-F238E27FC236}">
                <a16:creationId xmlns:a16="http://schemas.microsoft.com/office/drawing/2014/main" id="{77D00340-000D-4DEF-B7E4-D355C0C4B918}"/>
              </a:ext>
            </a:extLst>
          </p:cNvPr>
          <p:cNvSpPr>
            <a:spLocks noGrp="1"/>
          </p:cNvSpPr>
          <p:nvPr/>
        </p:nvSpPr>
        <p:spPr>
          <a:xfrm>
            <a:off x="7067550" y="4362450"/>
            <a:ext cx="1924050" cy="209550"/>
          </a:xfrm>
          <a:prstGeom prst="rect">
            <a:avLst/>
          </a:prstGeom>
          <a:solidFill>
            <a:srgbClr val="F4EBC2"/>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黑体"/>
                <a:ea typeface="黑体"/>
                <a:cs typeface="黑体"/>
              </a:rPr>
              <a:t>特征 </a:t>
            </a:r>
            <a:r>
              <a:rPr>
                <a:latin typeface="Times New Roman"/>
                <a:ea typeface="Times New Roman"/>
                <a:cs typeface="Times New Roman"/>
              </a:rPr>
              <a:t>X</a:t>
            </a:r>
          </a:p>
        </p:txBody>
      </p:sp>
      <p:sp>
        <p:nvSpPr>
          <p:cNvPr id="64" name="矩形 63">
            <a:extLst>
              <a:ext uri="{FF2B5EF4-FFF2-40B4-BE49-F238E27FC236}">
                <a16:creationId xmlns:a16="http://schemas.microsoft.com/office/drawing/2014/main" id="{1623B542-0157-456D-8578-772F514F71F9}"/>
              </a:ext>
            </a:extLst>
          </p:cNvPr>
          <p:cNvSpPr>
            <a:spLocks noGrp="1"/>
          </p:cNvSpPr>
          <p:nvPr/>
        </p:nvSpPr>
        <p:spPr>
          <a:xfrm>
            <a:off x="9067800" y="4229100"/>
            <a:ext cx="2076450" cy="476250"/>
          </a:xfrm>
          <a:prstGeom prst="rect">
            <a:avLst/>
          </a:prstGeom>
          <a:solidFill>
            <a:srgbClr val="F5E7E7"/>
          </a:solidFill>
          <a:ln w="19050">
            <a:solidFill>
              <a:srgbClr val="FFFFFF"/>
            </a:solidFill>
            <a:prstDash val="solid"/>
          </a:ln>
        </p:spPr>
        <p:txBody>
          <a:bodyPr/>
          <a:lstStyle/>
          <a:p>
            <a:endParaRPr lang="zh-CN" altLang="en-US"/>
          </a:p>
        </p:txBody>
      </p:sp>
      <p:sp>
        <p:nvSpPr>
          <p:cNvPr id="65" name="矩形 64">
            <a:extLst>
              <a:ext uri="{FF2B5EF4-FFF2-40B4-BE49-F238E27FC236}">
                <a16:creationId xmlns:a16="http://schemas.microsoft.com/office/drawing/2014/main" id="{C13A95DC-4AF1-49E5-B248-4D564FD752F6}"/>
              </a:ext>
            </a:extLst>
          </p:cNvPr>
          <p:cNvSpPr>
            <a:spLocks noGrp="1"/>
          </p:cNvSpPr>
          <p:nvPr/>
        </p:nvSpPr>
        <p:spPr>
          <a:xfrm>
            <a:off x="9144000" y="4362450"/>
            <a:ext cx="1924050" cy="209550"/>
          </a:xfrm>
          <a:prstGeom prst="rect">
            <a:avLst/>
          </a:prstGeom>
          <a:solidFill>
            <a:srgbClr val="F5E7E7"/>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黑体"/>
                <a:ea typeface="黑体"/>
                <a:cs typeface="黑体"/>
              </a:rPr>
              <a:t>标签 </a:t>
            </a:r>
            <a:r>
              <a:rPr>
                <a:latin typeface="Times New Roman"/>
                <a:ea typeface="Times New Roman"/>
                <a:cs typeface="Times New Roman"/>
              </a:rPr>
              <a:t>y</a:t>
            </a:r>
          </a:p>
        </p:txBody>
      </p:sp>
      <p:sp>
        <p:nvSpPr>
          <p:cNvPr id="66" name="矩形 65">
            <a:extLst>
              <a:ext uri="{FF2B5EF4-FFF2-40B4-BE49-F238E27FC236}">
                <a16:creationId xmlns:a16="http://schemas.microsoft.com/office/drawing/2014/main" id="{465DDBF8-BB34-4B61-81EB-F6DF103D792F}"/>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67" name="矩形 66">
            <a:extLst>
              <a:ext uri="{FF2B5EF4-FFF2-40B4-BE49-F238E27FC236}">
                <a16:creationId xmlns:a16="http://schemas.microsoft.com/office/drawing/2014/main" id="{9869E86F-6290-4F79-BE9F-A0EA04BAF25A}"/>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行定义对象，列定义属性，标签定义要预测的结果。</a:t>
            </a:r>
          </a:p>
        </p:txBody>
      </p:sp>
    </p:spTree>
    <p:extLst>
      <p:ext uri="{BB962C8B-B14F-4D97-AF65-F5344CB8AC3E}">
        <p14:creationId xmlns:p14="http://schemas.microsoft.com/office/powerpoint/2010/main" val="1213713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矩形 95">
            <a:extLst>
              <a:ext uri="{FF2B5EF4-FFF2-40B4-BE49-F238E27FC236}">
                <a16:creationId xmlns:a16="http://schemas.microsoft.com/office/drawing/2014/main" id="{DC6DD70D-0D73-4198-9DE4-09BE86386516}"/>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9D7055A-32C5-4BE1-B84A-657389FEDACE}"/>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87E7C241-E500-4843-B084-488E30699C41}"/>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485B8888-613A-4D4D-9E58-099F0A5BD430}"/>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数据粒度改变问题本身</a:t>
            </a:r>
          </a:p>
        </p:txBody>
      </p:sp>
      <p:sp>
        <p:nvSpPr>
          <p:cNvPr id="5" name="矩形 4">
            <a:extLst>
              <a:ext uri="{FF2B5EF4-FFF2-40B4-BE49-F238E27FC236}">
                <a16:creationId xmlns:a16="http://schemas.microsoft.com/office/drawing/2014/main" id="{DB65C77F-3A5A-417D-AF21-BC3B48F257A8}"/>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6/90</a:t>
            </a:r>
          </a:p>
        </p:txBody>
      </p:sp>
      <p:sp>
        <p:nvSpPr>
          <p:cNvPr id="6" name="矩形 5">
            <a:extLst>
              <a:ext uri="{FF2B5EF4-FFF2-40B4-BE49-F238E27FC236}">
                <a16:creationId xmlns:a16="http://schemas.microsoft.com/office/drawing/2014/main" id="{243E089A-A790-472E-BC6A-0736B2DAB317}"/>
              </a:ext>
            </a:extLst>
          </p:cNvPr>
          <p:cNvSpPr>
            <a:spLocks noGrp="1"/>
          </p:cNvSpPr>
          <p:nvPr/>
        </p:nvSpPr>
        <p:spPr>
          <a:xfrm>
            <a:off x="685800" y="1257300"/>
            <a:ext cx="3448050" cy="401955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921FA677-2343-409E-9B26-B66BA454DD51}"/>
              </a:ext>
            </a:extLst>
          </p:cNvPr>
          <p:cNvSpPr>
            <a:spLocks noGrp="1"/>
          </p:cNvSpPr>
          <p:nvPr/>
        </p:nvSpPr>
        <p:spPr>
          <a:xfrm>
            <a:off x="685800" y="1257300"/>
            <a:ext cx="344805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E6AD0EBC-AE89-4269-9F59-2442AD978539}"/>
              </a:ext>
            </a:extLst>
          </p:cNvPr>
          <p:cNvSpPr>
            <a:spLocks noGrp="1"/>
          </p:cNvSpPr>
          <p:nvPr/>
        </p:nvSpPr>
        <p:spPr>
          <a:xfrm>
            <a:off x="914400" y="1485900"/>
            <a:ext cx="2990850" cy="342900"/>
          </a:xfrm>
          <a:prstGeom prst="rect">
            <a:avLst/>
          </a:prstGeom>
          <a:solidFill>
            <a:srgbClr val="FFFFFF"/>
          </a:solidFill>
          <a:ln w="0">
            <a:solidFill>
              <a:srgbClr val="000000">
                <a:alpha val="0"/>
              </a:srgbClr>
            </a:solidFill>
            <a:prstDash val="solid"/>
          </a:ln>
        </p:spPr>
        <p:txBody>
          <a:bodyPr lIns="0" tIns="0" rIns="0" bIns="0" anchor="t"/>
          <a:lstStyle/>
          <a:p>
            <a:pPr algn="ctr">
              <a:defRPr sz="1950" b="1">
                <a:solidFill>
                  <a:srgbClr val="00204A"/>
                </a:solidFill>
                <a:latin typeface="黑体"/>
                <a:ea typeface="黑体"/>
                <a:cs typeface="黑体"/>
              </a:defRPr>
            </a:pPr>
            <a:r>
              <a:rPr>
                <a:latin typeface="黑体"/>
                <a:ea typeface="黑体"/>
                <a:cs typeface="黑体"/>
              </a:rPr>
              <a:t>学生</a:t>
            </a:r>
          </a:p>
        </p:txBody>
      </p:sp>
      <p:sp>
        <p:nvSpPr>
          <p:cNvPr id="9" name="矩形 8">
            <a:extLst>
              <a:ext uri="{FF2B5EF4-FFF2-40B4-BE49-F238E27FC236}">
                <a16:creationId xmlns:a16="http://schemas.microsoft.com/office/drawing/2014/main" id="{C94309C4-4AC9-4A08-AD60-E95ECF43CF63}"/>
              </a:ext>
            </a:extLst>
          </p:cNvPr>
          <p:cNvSpPr>
            <a:spLocks noGrp="1"/>
          </p:cNvSpPr>
          <p:nvPr/>
        </p:nvSpPr>
        <p:spPr>
          <a:xfrm>
            <a:off x="914400" y="1885950"/>
            <a:ext cx="2990850" cy="247650"/>
          </a:xfrm>
          <a:prstGeom prst="rect">
            <a:avLst/>
          </a:prstGeom>
          <a:solidFill>
            <a:srgbClr val="FFFFFF"/>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每名学生一行</a:t>
            </a:r>
          </a:p>
        </p:txBody>
      </p:sp>
      <p:sp>
        <p:nvSpPr>
          <p:cNvPr id="10" name="矩形 9">
            <a:extLst>
              <a:ext uri="{FF2B5EF4-FFF2-40B4-BE49-F238E27FC236}">
                <a16:creationId xmlns:a16="http://schemas.microsoft.com/office/drawing/2014/main" id="{F0F2BB16-143E-4AE6-A6FA-9997C4BEFC0C}"/>
              </a:ext>
            </a:extLst>
          </p:cNvPr>
          <p:cNvSpPr>
            <a:spLocks noGrp="1"/>
          </p:cNvSpPr>
          <p:nvPr/>
        </p:nvSpPr>
        <p:spPr>
          <a:xfrm>
            <a:off x="1257300" y="2438400"/>
            <a:ext cx="2305050" cy="247650"/>
          </a:xfrm>
          <a:prstGeom prst="rect">
            <a:avLst/>
          </a:prstGeom>
          <a:solidFill>
            <a:srgbClr val="DDEBFA"/>
          </a:solidFill>
          <a:ln w="9525">
            <a:solidFill>
              <a:srgbClr val="B4C1D0"/>
            </a:solidFill>
            <a:prstDash val="solid"/>
          </a:ln>
        </p:spPr>
        <p:txBody>
          <a:bodyPr/>
          <a:lstStyle/>
          <a:p>
            <a:endParaRPr lang="zh-CN" altLang="en-US"/>
          </a:p>
        </p:txBody>
      </p:sp>
      <p:sp>
        <p:nvSpPr>
          <p:cNvPr id="11" name="矩形 10">
            <a:extLst>
              <a:ext uri="{FF2B5EF4-FFF2-40B4-BE49-F238E27FC236}">
                <a16:creationId xmlns:a16="http://schemas.microsoft.com/office/drawing/2014/main" id="{718AFC1D-D596-44AC-92BB-4AA3D0DB33A6}"/>
              </a:ext>
            </a:extLst>
          </p:cNvPr>
          <p:cNvSpPr>
            <a:spLocks noGrp="1"/>
          </p:cNvSpPr>
          <p:nvPr/>
        </p:nvSpPr>
        <p:spPr>
          <a:xfrm>
            <a:off x="1833563"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F924F521-1CF4-47A2-BFB7-00C19F6F629E}"/>
              </a:ext>
            </a:extLst>
          </p:cNvPr>
          <p:cNvSpPr>
            <a:spLocks noGrp="1"/>
          </p:cNvSpPr>
          <p:nvPr/>
        </p:nvSpPr>
        <p:spPr>
          <a:xfrm>
            <a:off x="2409825"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FD99BF20-8C86-46A9-9125-4333F0ADF177}"/>
              </a:ext>
            </a:extLst>
          </p:cNvPr>
          <p:cNvSpPr>
            <a:spLocks noGrp="1"/>
          </p:cNvSpPr>
          <p:nvPr/>
        </p:nvSpPr>
        <p:spPr>
          <a:xfrm>
            <a:off x="2986088"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D87BFDC0-484F-47C5-96B8-A6009BF29248}"/>
              </a:ext>
            </a:extLst>
          </p:cNvPr>
          <p:cNvSpPr>
            <a:spLocks noGrp="1"/>
          </p:cNvSpPr>
          <p:nvPr/>
        </p:nvSpPr>
        <p:spPr>
          <a:xfrm>
            <a:off x="1009650" y="4381500"/>
            <a:ext cx="2800350" cy="628650"/>
          </a:xfrm>
          <a:prstGeom prst="rect">
            <a:avLst/>
          </a:prstGeom>
          <a:solidFill>
            <a:srgbClr val="FFFFFF"/>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黑体"/>
                <a:ea typeface="黑体"/>
                <a:cs typeface="黑体"/>
              </a:rPr>
              <a:t>适合最终成绩或退课结果</a:t>
            </a:r>
          </a:p>
        </p:txBody>
      </p:sp>
      <p:sp>
        <p:nvSpPr>
          <p:cNvPr id="15" name="矩形 14">
            <a:extLst>
              <a:ext uri="{FF2B5EF4-FFF2-40B4-BE49-F238E27FC236}">
                <a16:creationId xmlns:a16="http://schemas.microsoft.com/office/drawing/2014/main" id="{B20BB63F-DCFB-4EF0-B7D2-FC1BC5E48B94}"/>
              </a:ext>
            </a:extLst>
          </p:cNvPr>
          <p:cNvSpPr>
            <a:spLocks noGrp="1"/>
          </p:cNvSpPr>
          <p:nvPr/>
        </p:nvSpPr>
        <p:spPr>
          <a:xfrm>
            <a:off x="4362450" y="1257300"/>
            <a:ext cx="3448050" cy="4019550"/>
          </a:xfrm>
          <a:prstGeom prst="rect">
            <a:avLst/>
          </a:prstGeom>
          <a:solidFill>
            <a:srgbClr val="F7FBFF"/>
          </a:solidFill>
          <a:ln w="9525">
            <a:solidFill>
              <a:srgbClr val="B8C3D1"/>
            </a:solidFill>
            <a:prstDash val="solid"/>
          </a:ln>
        </p:spPr>
        <p:txBody>
          <a:bodyPr/>
          <a:lstStyle/>
          <a:p>
            <a:endParaRPr lang="zh-CN" altLang="en-US"/>
          </a:p>
        </p:txBody>
      </p:sp>
      <p:sp>
        <p:nvSpPr>
          <p:cNvPr id="16" name="矩形 15">
            <a:extLst>
              <a:ext uri="{FF2B5EF4-FFF2-40B4-BE49-F238E27FC236}">
                <a16:creationId xmlns:a16="http://schemas.microsoft.com/office/drawing/2014/main" id="{4C9C4801-330F-4E04-9332-3D4A5455BEF6}"/>
              </a:ext>
            </a:extLst>
          </p:cNvPr>
          <p:cNvSpPr>
            <a:spLocks noGrp="1"/>
          </p:cNvSpPr>
          <p:nvPr/>
        </p:nvSpPr>
        <p:spPr>
          <a:xfrm>
            <a:off x="4362450" y="1257300"/>
            <a:ext cx="3448050" cy="762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15D314D8-4E95-441D-80EB-23E0239DD6E0}"/>
              </a:ext>
            </a:extLst>
          </p:cNvPr>
          <p:cNvSpPr>
            <a:spLocks noGrp="1"/>
          </p:cNvSpPr>
          <p:nvPr/>
        </p:nvSpPr>
        <p:spPr>
          <a:xfrm>
            <a:off x="4591050" y="1485900"/>
            <a:ext cx="2990850" cy="342900"/>
          </a:xfrm>
          <a:prstGeom prst="rect">
            <a:avLst/>
          </a:prstGeom>
          <a:solidFill>
            <a:srgbClr val="F7FBFF"/>
          </a:solidFill>
          <a:ln w="0">
            <a:solidFill>
              <a:srgbClr val="000000">
                <a:alpha val="0"/>
              </a:srgbClr>
            </a:solidFill>
            <a:prstDash val="solid"/>
          </a:ln>
        </p:spPr>
        <p:txBody>
          <a:bodyPr lIns="0" tIns="0" rIns="0" bIns="0" anchor="t"/>
          <a:lstStyle/>
          <a:p>
            <a:pPr algn="ctr">
              <a:defRPr sz="1950" b="1">
                <a:solidFill>
                  <a:srgbClr val="00204A"/>
                </a:solidFill>
                <a:latin typeface="黑体"/>
                <a:ea typeface="黑体"/>
                <a:cs typeface="黑体"/>
              </a:defRPr>
            </a:pPr>
            <a:r>
              <a:rPr>
                <a:latin typeface="黑体"/>
                <a:ea typeface="黑体"/>
                <a:cs typeface="黑体"/>
              </a:rPr>
              <a:t>学生周</a:t>
            </a:r>
          </a:p>
        </p:txBody>
      </p:sp>
      <p:sp>
        <p:nvSpPr>
          <p:cNvPr id="18" name="矩形 17">
            <a:extLst>
              <a:ext uri="{FF2B5EF4-FFF2-40B4-BE49-F238E27FC236}">
                <a16:creationId xmlns:a16="http://schemas.microsoft.com/office/drawing/2014/main" id="{F026B28E-5182-455E-9A30-B58C18D19EA6}"/>
              </a:ext>
            </a:extLst>
          </p:cNvPr>
          <p:cNvSpPr>
            <a:spLocks noGrp="1"/>
          </p:cNvSpPr>
          <p:nvPr/>
        </p:nvSpPr>
        <p:spPr>
          <a:xfrm>
            <a:off x="4591050" y="1885950"/>
            <a:ext cx="2990850" cy="247650"/>
          </a:xfrm>
          <a:prstGeom prst="rect">
            <a:avLst/>
          </a:prstGeom>
          <a:solidFill>
            <a:srgbClr val="F7FBFF"/>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每名学生每周一行</a:t>
            </a:r>
          </a:p>
        </p:txBody>
      </p:sp>
      <p:sp>
        <p:nvSpPr>
          <p:cNvPr id="19" name="矩形 18">
            <a:extLst>
              <a:ext uri="{FF2B5EF4-FFF2-40B4-BE49-F238E27FC236}">
                <a16:creationId xmlns:a16="http://schemas.microsoft.com/office/drawing/2014/main" id="{587EDEB1-ACA7-4003-B0A1-3CAC70C729EA}"/>
              </a:ext>
            </a:extLst>
          </p:cNvPr>
          <p:cNvSpPr>
            <a:spLocks noGrp="1"/>
          </p:cNvSpPr>
          <p:nvPr/>
        </p:nvSpPr>
        <p:spPr>
          <a:xfrm>
            <a:off x="4933950" y="2438400"/>
            <a:ext cx="2305050" cy="247650"/>
          </a:xfrm>
          <a:prstGeom prst="rect">
            <a:avLst/>
          </a:prstGeom>
          <a:solidFill>
            <a:srgbClr val="DDEBFA"/>
          </a:solidFill>
          <a:ln w="9525">
            <a:solidFill>
              <a:srgbClr val="B4C1D0"/>
            </a:solidFill>
            <a:prstDash val="solid"/>
          </a:ln>
        </p:spPr>
        <p:txBody>
          <a:bodyPr/>
          <a:lstStyle/>
          <a:p>
            <a:endParaRPr lang="zh-CN" altLang="en-US"/>
          </a:p>
        </p:txBody>
      </p:sp>
      <p:sp>
        <p:nvSpPr>
          <p:cNvPr id="20" name="矩形 19">
            <a:extLst>
              <a:ext uri="{FF2B5EF4-FFF2-40B4-BE49-F238E27FC236}">
                <a16:creationId xmlns:a16="http://schemas.microsoft.com/office/drawing/2014/main" id="{CC1D7525-FF0C-4DBB-AD96-4209699E2DD6}"/>
              </a:ext>
            </a:extLst>
          </p:cNvPr>
          <p:cNvSpPr>
            <a:spLocks noGrp="1"/>
          </p:cNvSpPr>
          <p:nvPr/>
        </p:nvSpPr>
        <p:spPr>
          <a:xfrm>
            <a:off x="5394960"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CC2E6926-F0A1-44E6-B427-E242A4BB7D97}"/>
              </a:ext>
            </a:extLst>
          </p:cNvPr>
          <p:cNvSpPr>
            <a:spLocks noGrp="1"/>
          </p:cNvSpPr>
          <p:nvPr/>
        </p:nvSpPr>
        <p:spPr>
          <a:xfrm>
            <a:off x="5855970"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0E52EB08-D834-4C09-B72E-E658F43AC339}"/>
              </a:ext>
            </a:extLst>
          </p:cNvPr>
          <p:cNvSpPr>
            <a:spLocks noGrp="1"/>
          </p:cNvSpPr>
          <p:nvPr/>
        </p:nvSpPr>
        <p:spPr>
          <a:xfrm>
            <a:off x="6316980"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092FD416-2A9A-4FE8-AF2D-5A50B56EF19A}"/>
              </a:ext>
            </a:extLst>
          </p:cNvPr>
          <p:cNvSpPr>
            <a:spLocks noGrp="1"/>
          </p:cNvSpPr>
          <p:nvPr/>
        </p:nvSpPr>
        <p:spPr>
          <a:xfrm>
            <a:off x="6777990"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667B5F71-735D-4D25-8280-78E954B4E296}"/>
              </a:ext>
            </a:extLst>
          </p:cNvPr>
          <p:cNvSpPr>
            <a:spLocks noGrp="1"/>
          </p:cNvSpPr>
          <p:nvPr/>
        </p:nvSpPr>
        <p:spPr>
          <a:xfrm>
            <a:off x="4933950" y="2800350"/>
            <a:ext cx="2305050" cy="247650"/>
          </a:xfrm>
          <a:prstGeom prst="rect">
            <a:avLst/>
          </a:prstGeom>
          <a:solidFill>
            <a:srgbClr val="F4EBC2"/>
          </a:solidFill>
          <a:ln w="9525">
            <a:solidFill>
              <a:srgbClr val="B4C1D0"/>
            </a:solidFill>
            <a:prstDash val="solid"/>
          </a:ln>
        </p:spPr>
        <p:txBody>
          <a:bodyPr/>
          <a:lstStyle/>
          <a:p>
            <a:endParaRPr lang="zh-CN" altLang="en-US"/>
          </a:p>
        </p:txBody>
      </p:sp>
      <p:sp>
        <p:nvSpPr>
          <p:cNvPr id="25" name="矩形 24">
            <a:extLst>
              <a:ext uri="{FF2B5EF4-FFF2-40B4-BE49-F238E27FC236}">
                <a16:creationId xmlns:a16="http://schemas.microsoft.com/office/drawing/2014/main" id="{C71BF669-E456-47FE-B486-83904BAEA719}"/>
              </a:ext>
            </a:extLst>
          </p:cNvPr>
          <p:cNvSpPr>
            <a:spLocks noGrp="1"/>
          </p:cNvSpPr>
          <p:nvPr/>
        </p:nvSpPr>
        <p:spPr>
          <a:xfrm>
            <a:off x="5394960" y="28003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6" name="矩形 25">
            <a:extLst>
              <a:ext uri="{FF2B5EF4-FFF2-40B4-BE49-F238E27FC236}">
                <a16:creationId xmlns:a16="http://schemas.microsoft.com/office/drawing/2014/main" id="{881E9D28-0BA6-458E-AFD3-5B0C993988CC}"/>
              </a:ext>
            </a:extLst>
          </p:cNvPr>
          <p:cNvSpPr>
            <a:spLocks noGrp="1"/>
          </p:cNvSpPr>
          <p:nvPr/>
        </p:nvSpPr>
        <p:spPr>
          <a:xfrm>
            <a:off x="5855970" y="28003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7" name="矩形 26">
            <a:extLst>
              <a:ext uri="{FF2B5EF4-FFF2-40B4-BE49-F238E27FC236}">
                <a16:creationId xmlns:a16="http://schemas.microsoft.com/office/drawing/2014/main" id="{18EC620B-77BC-4A79-A4E7-97C3E8E0BA0D}"/>
              </a:ext>
            </a:extLst>
          </p:cNvPr>
          <p:cNvSpPr>
            <a:spLocks noGrp="1"/>
          </p:cNvSpPr>
          <p:nvPr/>
        </p:nvSpPr>
        <p:spPr>
          <a:xfrm>
            <a:off x="6316980" y="28003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8" name="矩形 27">
            <a:extLst>
              <a:ext uri="{FF2B5EF4-FFF2-40B4-BE49-F238E27FC236}">
                <a16:creationId xmlns:a16="http://schemas.microsoft.com/office/drawing/2014/main" id="{3C443BCB-8E81-43B1-B718-BAA9CB94FFDB}"/>
              </a:ext>
            </a:extLst>
          </p:cNvPr>
          <p:cNvSpPr>
            <a:spLocks noGrp="1"/>
          </p:cNvSpPr>
          <p:nvPr/>
        </p:nvSpPr>
        <p:spPr>
          <a:xfrm>
            <a:off x="6777990" y="28003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9" name="矩形 28">
            <a:extLst>
              <a:ext uri="{FF2B5EF4-FFF2-40B4-BE49-F238E27FC236}">
                <a16:creationId xmlns:a16="http://schemas.microsoft.com/office/drawing/2014/main" id="{2129E3AB-6F91-42F0-ACE6-40A7A5726E0F}"/>
              </a:ext>
            </a:extLst>
          </p:cNvPr>
          <p:cNvSpPr>
            <a:spLocks noGrp="1"/>
          </p:cNvSpPr>
          <p:nvPr/>
        </p:nvSpPr>
        <p:spPr>
          <a:xfrm>
            <a:off x="4933950" y="3162300"/>
            <a:ext cx="2305050" cy="247650"/>
          </a:xfrm>
          <a:prstGeom prst="rect">
            <a:avLst/>
          </a:prstGeom>
          <a:solidFill>
            <a:srgbClr val="DDEBFA"/>
          </a:solidFill>
          <a:ln w="9525">
            <a:solidFill>
              <a:srgbClr val="B4C1D0"/>
            </a:solidFill>
            <a:prstDash val="solid"/>
          </a:ln>
        </p:spPr>
        <p:txBody>
          <a:bodyPr/>
          <a:lstStyle/>
          <a:p>
            <a:endParaRPr lang="zh-CN" altLang="en-US"/>
          </a:p>
        </p:txBody>
      </p:sp>
      <p:sp>
        <p:nvSpPr>
          <p:cNvPr id="30" name="矩形 29">
            <a:extLst>
              <a:ext uri="{FF2B5EF4-FFF2-40B4-BE49-F238E27FC236}">
                <a16:creationId xmlns:a16="http://schemas.microsoft.com/office/drawing/2014/main" id="{99E48814-EAAF-4A2C-8031-309C6A17AE13}"/>
              </a:ext>
            </a:extLst>
          </p:cNvPr>
          <p:cNvSpPr>
            <a:spLocks noGrp="1"/>
          </p:cNvSpPr>
          <p:nvPr/>
        </p:nvSpPr>
        <p:spPr>
          <a:xfrm>
            <a:off x="5394960" y="31623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D1C0C316-9DAB-4576-BB26-3AF2E47FE6EC}"/>
              </a:ext>
            </a:extLst>
          </p:cNvPr>
          <p:cNvSpPr>
            <a:spLocks noGrp="1"/>
          </p:cNvSpPr>
          <p:nvPr/>
        </p:nvSpPr>
        <p:spPr>
          <a:xfrm>
            <a:off x="5855970" y="31623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70F118EC-820D-43B8-9A2A-DBA8DBAB2F6E}"/>
              </a:ext>
            </a:extLst>
          </p:cNvPr>
          <p:cNvSpPr>
            <a:spLocks noGrp="1"/>
          </p:cNvSpPr>
          <p:nvPr/>
        </p:nvSpPr>
        <p:spPr>
          <a:xfrm>
            <a:off x="6316980" y="31623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15521690-9349-4082-83D5-3743F72D9034}"/>
              </a:ext>
            </a:extLst>
          </p:cNvPr>
          <p:cNvSpPr>
            <a:spLocks noGrp="1"/>
          </p:cNvSpPr>
          <p:nvPr/>
        </p:nvSpPr>
        <p:spPr>
          <a:xfrm>
            <a:off x="6777990" y="31623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D3F9B02D-067B-4CF9-A818-345EE673BFC5}"/>
              </a:ext>
            </a:extLst>
          </p:cNvPr>
          <p:cNvSpPr>
            <a:spLocks noGrp="1"/>
          </p:cNvSpPr>
          <p:nvPr/>
        </p:nvSpPr>
        <p:spPr>
          <a:xfrm>
            <a:off x="4933950" y="3524250"/>
            <a:ext cx="2305050" cy="247650"/>
          </a:xfrm>
          <a:prstGeom prst="rect">
            <a:avLst/>
          </a:prstGeom>
          <a:solidFill>
            <a:srgbClr val="F4EBC2"/>
          </a:solidFill>
          <a:ln w="9525">
            <a:solidFill>
              <a:srgbClr val="B4C1D0"/>
            </a:solidFill>
            <a:prstDash val="solid"/>
          </a:ln>
        </p:spPr>
        <p:txBody>
          <a:bodyPr/>
          <a:lstStyle/>
          <a:p>
            <a:endParaRPr lang="zh-CN" altLang="en-US"/>
          </a:p>
        </p:txBody>
      </p:sp>
      <p:sp>
        <p:nvSpPr>
          <p:cNvPr id="35" name="矩形 34">
            <a:extLst>
              <a:ext uri="{FF2B5EF4-FFF2-40B4-BE49-F238E27FC236}">
                <a16:creationId xmlns:a16="http://schemas.microsoft.com/office/drawing/2014/main" id="{AE45EF82-7A5F-4BE5-BF67-6F54BE0AE59F}"/>
              </a:ext>
            </a:extLst>
          </p:cNvPr>
          <p:cNvSpPr>
            <a:spLocks noGrp="1"/>
          </p:cNvSpPr>
          <p:nvPr/>
        </p:nvSpPr>
        <p:spPr>
          <a:xfrm>
            <a:off x="5394960" y="35242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54052071-AE77-43A5-BCCC-3EFA36AAE3F9}"/>
              </a:ext>
            </a:extLst>
          </p:cNvPr>
          <p:cNvSpPr>
            <a:spLocks noGrp="1"/>
          </p:cNvSpPr>
          <p:nvPr/>
        </p:nvSpPr>
        <p:spPr>
          <a:xfrm>
            <a:off x="5855970" y="35242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7" name="矩形 36">
            <a:extLst>
              <a:ext uri="{FF2B5EF4-FFF2-40B4-BE49-F238E27FC236}">
                <a16:creationId xmlns:a16="http://schemas.microsoft.com/office/drawing/2014/main" id="{0FD83D86-3A5B-46D6-B90D-0E9C39158E98}"/>
              </a:ext>
            </a:extLst>
          </p:cNvPr>
          <p:cNvSpPr>
            <a:spLocks noGrp="1"/>
          </p:cNvSpPr>
          <p:nvPr/>
        </p:nvSpPr>
        <p:spPr>
          <a:xfrm>
            <a:off x="6316980" y="35242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8" name="矩形 37">
            <a:extLst>
              <a:ext uri="{FF2B5EF4-FFF2-40B4-BE49-F238E27FC236}">
                <a16:creationId xmlns:a16="http://schemas.microsoft.com/office/drawing/2014/main" id="{8806FC58-8E45-4E31-AF49-3B2CB47D1F43}"/>
              </a:ext>
            </a:extLst>
          </p:cNvPr>
          <p:cNvSpPr>
            <a:spLocks noGrp="1"/>
          </p:cNvSpPr>
          <p:nvPr/>
        </p:nvSpPr>
        <p:spPr>
          <a:xfrm>
            <a:off x="6777990" y="35242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9" name="矩形 38">
            <a:extLst>
              <a:ext uri="{FF2B5EF4-FFF2-40B4-BE49-F238E27FC236}">
                <a16:creationId xmlns:a16="http://schemas.microsoft.com/office/drawing/2014/main" id="{6FB908F7-1019-4C10-942B-08C609487691}"/>
              </a:ext>
            </a:extLst>
          </p:cNvPr>
          <p:cNvSpPr>
            <a:spLocks noGrp="1"/>
          </p:cNvSpPr>
          <p:nvPr/>
        </p:nvSpPr>
        <p:spPr>
          <a:xfrm>
            <a:off x="4686300" y="4381500"/>
            <a:ext cx="2800350" cy="628650"/>
          </a:xfrm>
          <a:prstGeom prst="rect">
            <a:avLst/>
          </a:prstGeom>
          <a:solidFill>
            <a:srgbClr val="F7FBFF"/>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黑体"/>
                <a:ea typeface="黑体"/>
                <a:cs typeface="黑体"/>
              </a:rPr>
              <a:t>适合周度预警与趋势分析</a:t>
            </a:r>
          </a:p>
        </p:txBody>
      </p:sp>
      <p:sp>
        <p:nvSpPr>
          <p:cNvPr id="40" name="矩形 39">
            <a:extLst>
              <a:ext uri="{FF2B5EF4-FFF2-40B4-BE49-F238E27FC236}">
                <a16:creationId xmlns:a16="http://schemas.microsoft.com/office/drawing/2014/main" id="{DA6A7E9B-6795-4C44-A3A1-1416CDFF3DC8}"/>
              </a:ext>
            </a:extLst>
          </p:cNvPr>
          <p:cNvSpPr>
            <a:spLocks noGrp="1"/>
          </p:cNvSpPr>
          <p:nvPr/>
        </p:nvSpPr>
        <p:spPr>
          <a:xfrm>
            <a:off x="8039100" y="1257300"/>
            <a:ext cx="3448050" cy="4019550"/>
          </a:xfrm>
          <a:prstGeom prst="rect">
            <a:avLst/>
          </a:prstGeom>
          <a:solidFill>
            <a:srgbClr val="FFFFFF"/>
          </a:solidFill>
          <a:ln w="9525">
            <a:solidFill>
              <a:srgbClr val="B8C3D1"/>
            </a:solidFill>
            <a:prstDash val="solid"/>
          </a:ln>
        </p:spPr>
        <p:txBody>
          <a:bodyPr/>
          <a:lstStyle/>
          <a:p>
            <a:endParaRPr lang="zh-CN" altLang="en-US"/>
          </a:p>
        </p:txBody>
      </p:sp>
      <p:sp>
        <p:nvSpPr>
          <p:cNvPr id="41" name="矩形 40">
            <a:extLst>
              <a:ext uri="{FF2B5EF4-FFF2-40B4-BE49-F238E27FC236}">
                <a16:creationId xmlns:a16="http://schemas.microsoft.com/office/drawing/2014/main" id="{DFAC30F7-7F86-4C0A-A506-9DF6E024E35A}"/>
              </a:ext>
            </a:extLst>
          </p:cNvPr>
          <p:cNvSpPr>
            <a:spLocks noGrp="1"/>
          </p:cNvSpPr>
          <p:nvPr/>
        </p:nvSpPr>
        <p:spPr>
          <a:xfrm>
            <a:off x="8039100" y="1257300"/>
            <a:ext cx="344805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26021D49-11D7-48FD-88BD-151BDC92468A}"/>
              </a:ext>
            </a:extLst>
          </p:cNvPr>
          <p:cNvSpPr>
            <a:spLocks noGrp="1"/>
          </p:cNvSpPr>
          <p:nvPr/>
        </p:nvSpPr>
        <p:spPr>
          <a:xfrm>
            <a:off x="8267700" y="1485900"/>
            <a:ext cx="2990850" cy="342900"/>
          </a:xfrm>
          <a:prstGeom prst="rect">
            <a:avLst/>
          </a:prstGeom>
          <a:solidFill>
            <a:srgbClr val="FFFFFF"/>
          </a:solidFill>
          <a:ln w="0">
            <a:solidFill>
              <a:srgbClr val="000000">
                <a:alpha val="0"/>
              </a:srgbClr>
            </a:solidFill>
            <a:prstDash val="solid"/>
          </a:ln>
        </p:spPr>
        <p:txBody>
          <a:bodyPr lIns="0" tIns="0" rIns="0" bIns="0" anchor="t"/>
          <a:lstStyle/>
          <a:p>
            <a:pPr algn="ctr">
              <a:defRPr sz="1950" b="1">
                <a:solidFill>
                  <a:srgbClr val="00204A"/>
                </a:solidFill>
                <a:latin typeface="黑体"/>
                <a:ea typeface="黑体"/>
                <a:cs typeface="黑体"/>
              </a:defRPr>
            </a:pPr>
            <a:r>
              <a:rPr>
                <a:latin typeface="黑体"/>
                <a:ea typeface="黑体"/>
                <a:cs typeface="黑体"/>
              </a:rPr>
              <a:t>点击事件</a:t>
            </a:r>
          </a:p>
        </p:txBody>
      </p:sp>
      <p:sp>
        <p:nvSpPr>
          <p:cNvPr id="43" name="矩形 42">
            <a:extLst>
              <a:ext uri="{FF2B5EF4-FFF2-40B4-BE49-F238E27FC236}">
                <a16:creationId xmlns:a16="http://schemas.microsoft.com/office/drawing/2014/main" id="{8CB73D37-0503-4F91-9A67-81F5D6306D75}"/>
              </a:ext>
            </a:extLst>
          </p:cNvPr>
          <p:cNvSpPr>
            <a:spLocks noGrp="1"/>
          </p:cNvSpPr>
          <p:nvPr/>
        </p:nvSpPr>
        <p:spPr>
          <a:xfrm>
            <a:off x="8267700" y="1885950"/>
            <a:ext cx="2990850" cy="247650"/>
          </a:xfrm>
          <a:prstGeom prst="rect">
            <a:avLst/>
          </a:prstGeom>
          <a:solidFill>
            <a:srgbClr val="FFFFFF"/>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每次行为一行</a:t>
            </a:r>
          </a:p>
        </p:txBody>
      </p:sp>
      <p:sp>
        <p:nvSpPr>
          <p:cNvPr id="44" name="矩形 43">
            <a:extLst>
              <a:ext uri="{FF2B5EF4-FFF2-40B4-BE49-F238E27FC236}">
                <a16:creationId xmlns:a16="http://schemas.microsoft.com/office/drawing/2014/main" id="{C7F7755E-1BFF-48E9-BBE5-C866BEB1E1C1}"/>
              </a:ext>
            </a:extLst>
          </p:cNvPr>
          <p:cNvSpPr>
            <a:spLocks noGrp="1"/>
          </p:cNvSpPr>
          <p:nvPr/>
        </p:nvSpPr>
        <p:spPr>
          <a:xfrm>
            <a:off x="8610600" y="2438400"/>
            <a:ext cx="2305050" cy="161925"/>
          </a:xfrm>
          <a:prstGeom prst="rect">
            <a:avLst/>
          </a:prstGeom>
          <a:solidFill>
            <a:srgbClr val="DDEBFA"/>
          </a:solidFill>
          <a:ln w="9525">
            <a:solidFill>
              <a:srgbClr val="B4C1D0"/>
            </a:solidFill>
            <a:prstDash val="solid"/>
          </a:ln>
        </p:spPr>
        <p:txBody>
          <a:bodyPr/>
          <a:lstStyle/>
          <a:p>
            <a:endParaRPr lang="zh-CN" altLang="en-US"/>
          </a:p>
        </p:txBody>
      </p:sp>
      <p:sp>
        <p:nvSpPr>
          <p:cNvPr id="45" name="矩形 44">
            <a:extLst>
              <a:ext uri="{FF2B5EF4-FFF2-40B4-BE49-F238E27FC236}">
                <a16:creationId xmlns:a16="http://schemas.microsoft.com/office/drawing/2014/main" id="{250DA464-1BCF-4515-BE1E-F8CE983F6187}"/>
              </a:ext>
            </a:extLst>
          </p:cNvPr>
          <p:cNvSpPr>
            <a:spLocks noGrp="1"/>
          </p:cNvSpPr>
          <p:nvPr/>
        </p:nvSpPr>
        <p:spPr>
          <a:xfrm>
            <a:off x="8939893"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46" name="矩形 45">
            <a:extLst>
              <a:ext uri="{FF2B5EF4-FFF2-40B4-BE49-F238E27FC236}">
                <a16:creationId xmlns:a16="http://schemas.microsoft.com/office/drawing/2014/main" id="{EBF59B59-C942-49A8-AED9-E035F73DDCE2}"/>
              </a:ext>
            </a:extLst>
          </p:cNvPr>
          <p:cNvSpPr>
            <a:spLocks noGrp="1"/>
          </p:cNvSpPr>
          <p:nvPr/>
        </p:nvSpPr>
        <p:spPr>
          <a:xfrm>
            <a:off x="9269186"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47" name="矩形 46">
            <a:extLst>
              <a:ext uri="{FF2B5EF4-FFF2-40B4-BE49-F238E27FC236}">
                <a16:creationId xmlns:a16="http://schemas.microsoft.com/office/drawing/2014/main" id="{A2BB0D6E-86B0-4A3A-9074-F2D3B1B580D0}"/>
              </a:ext>
            </a:extLst>
          </p:cNvPr>
          <p:cNvSpPr>
            <a:spLocks noGrp="1"/>
          </p:cNvSpPr>
          <p:nvPr/>
        </p:nvSpPr>
        <p:spPr>
          <a:xfrm>
            <a:off x="9598479"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48" name="矩形 47">
            <a:extLst>
              <a:ext uri="{FF2B5EF4-FFF2-40B4-BE49-F238E27FC236}">
                <a16:creationId xmlns:a16="http://schemas.microsoft.com/office/drawing/2014/main" id="{B119063A-ED7E-4517-8097-202420854B71}"/>
              </a:ext>
            </a:extLst>
          </p:cNvPr>
          <p:cNvSpPr>
            <a:spLocks noGrp="1"/>
          </p:cNvSpPr>
          <p:nvPr/>
        </p:nvSpPr>
        <p:spPr>
          <a:xfrm>
            <a:off x="9927771"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49" name="矩形 48">
            <a:extLst>
              <a:ext uri="{FF2B5EF4-FFF2-40B4-BE49-F238E27FC236}">
                <a16:creationId xmlns:a16="http://schemas.microsoft.com/office/drawing/2014/main" id="{FB6D78D7-129A-4990-8DBA-D51405A52115}"/>
              </a:ext>
            </a:extLst>
          </p:cNvPr>
          <p:cNvSpPr>
            <a:spLocks noGrp="1"/>
          </p:cNvSpPr>
          <p:nvPr/>
        </p:nvSpPr>
        <p:spPr>
          <a:xfrm>
            <a:off x="10257064"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ECE47745-D175-4A55-824E-04622FA41F5E}"/>
              </a:ext>
            </a:extLst>
          </p:cNvPr>
          <p:cNvSpPr>
            <a:spLocks noGrp="1"/>
          </p:cNvSpPr>
          <p:nvPr/>
        </p:nvSpPr>
        <p:spPr>
          <a:xfrm>
            <a:off x="10586357"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1" name="矩形 50">
            <a:extLst>
              <a:ext uri="{FF2B5EF4-FFF2-40B4-BE49-F238E27FC236}">
                <a16:creationId xmlns:a16="http://schemas.microsoft.com/office/drawing/2014/main" id="{7F2B89F8-FBB7-44DF-AD59-EBE39B27F951}"/>
              </a:ext>
            </a:extLst>
          </p:cNvPr>
          <p:cNvSpPr>
            <a:spLocks noGrp="1"/>
          </p:cNvSpPr>
          <p:nvPr/>
        </p:nvSpPr>
        <p:spPr>
          <a:xfrm>
            <a:off x="8610600" y="2676525"/>
            <a:ext cx="2305050" cy="161925"/>
          </a:xfrm>
          <a:prstGeom prst="rect">
            <a:avLst/>
          </a:prstGeom>
          <a:solidFill>
            <a:srgbClr val="F4EBC2"/>
          </a:solidFill>
          <a:ln w="9525">
            <a:solidFill>
              <a:srgbClr val="B4C1D0"/>
            </a:solidFill>
            <a:prstDash val="solid"/>
          </a:ln>
        </p:spPr>
        <p:txBody>
          <a:bodyPr/>
          <a:lstStyle/>
          <a:p>
            <a:endParaRPr lang="zh-CN" altLang="en-US"/>
          </a:p>
        </p:txBody>
      </p:sp>
      <p:sp>
        <p:nvSpPr>
          <p:cNvPr id="52" name="矩形 51">
            <a:extLst>
              <a:ext uri="{FF2B5EF4-FFF2-40B4-BE49-F238E27FC236}">
                <a16:creationId xmlns:a16="http://schemas.microsoft.com/office/drawing/2014/main" id="{F199B5AC-A24E-4EFC-8916-DD7A55AC852A}"/>
              </a:ext>
            </a:extLst>
          </p:cNvPr>
          <p:cNvSpPr>
            <a:spLocks noGrp="1"/>
          </p:cNvSpPr>
          <p:nvPr/>
        </p:nvSpPr>
        <p:spPr>
          <a:xfrm>
            <a:off x="8939893"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3" name="矩形 52">
            <a:extLst>
              <a:ext uri="{FF2B5EF4-FFF2-40B4-BE49-F238E27FC236}">
                <a16:creationId xmlns:a16="http://schemas.microsoft.com/office/drawing/2014/main" id="{DCC3FE55-ACEE-4E76-95B6-A3AD72194E93}"/>
              </a:ext>
            </a:extLst>
          </p:cNvPr>
          <p:cNvSpPr>
            <a:spLocks noGrp="1"/>
          </p:cNvSpPr>
          <p:nvPr/>
        </p:nvSpPr>
        <p:spPr>
          <a:xfrm>
            <a:off x="9269186"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4" name="矩形 53">
            <a:extLst>
              <a:ext uri="{FF2B5EF4-FFF2-40B4-BE49-F238E27FC236}">
                <a16:creationId xmlns:a16="http://schemas.microsoft.com/office/drawing/2014/main" id="{BEE0C26F-3157-4C12-9CC8-F3AA3BCD65CD}"/>
              </a:ext>
            </a:extLst>
          </p:cNvPr>
          <p:cNvSpPr>
            <a:spLocks noGrp="1"/>
          </p:cNvSpPr>
          <p:nvPr/>
        </p:nvSpPr>
        <p:spPr>
          <a:xfrm>
            <a:off x="9598479"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5" name="矩形 54">
            <a:extLst>
              <a:ext uri="{FF2B5EF4-FFF2-40B4-BE49-F238E27FC236}">
                <a16:creationId xmlns:a16="http://schemas.microsoft.com/office/drawing/2014/main" id="{BE262055-4017-4AA9-8CB4-6B297EC87B0C}"/>
              </a:ext>
            </a:extLst>
          </p:cNvPr>
          <p:cNvSpPr>
            <a:spLocks noGrp="1"/>
          </p:cNvSpPr>
          <p:nvPr/>
        </p:nvSpPr>
        <p:spPr>
          <a:xfrm>
            <a:off x="9927771"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6" name="矩形 55">
            <a:extLst>
              <a:ext uri="{FF2B5EF4-FFF2-40B4-BE49-F238E27FC236}">
                <a16:creationId xmlns:a16="http://schemas.microsoft.com/office/drawing/2014/main" id="{5D595E10-9B4C-437A-B331-EBCBAE61CF4D}"/>
              </a:ext>
            </a:extLst>
          </p:cNvPr>
          <p:cNvSpPr>
            <a:spLocks noGrp="1"/>
          </p:cNvSpPr>
          <p:nvPr/>
        </p:nvSpPr>
        <p:spPr>
          <a:xfrm>
            <a:off x="10257064"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7" name="矩形 56">
            <a:extLst>
              <a:ext uri="{FF2B5EF4-FFF2-40B4-BE49-F238E27FC236}">
                <a16:creationId xmlns:a16="http://schemas.microsoft.com/office/drawing/2014/main" id="{BA3D97B6-D612-4B53-8447-91CB8DC9A7C9}"/>
              </a:ext>
            </a:extLst>
          </p:cNvPr>
          <p:cNvSpPr>
            <a:spLocks noGrp="1"/>
          </p:cNvSpPr>
          <p:nvPr/>
        </p:nvSpPr>
        <p:spPr>
          <a:xfrm>
            <a:off x="10586357"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8" name="矩形 57">
            <a:extLst>
              <a:ext uri="{FF2B5EF4-FFF2-40B4-BE49-F238E27FC236}">
                <a16:creationId xmlns:a16="http://schemas.microsoft.com/office/drawing/2014/main" id="{A9C2E296-F767-4C39-BBEB-6276EE03AB79}"/>
              </a:ext>
            </a:extLst>
          </p:cNvPr>
          <p:cNvSpPr>
            <a:spLocks noGrp="1"/>
          </p:cNvSpPr>
          <p:nvPr/>
        </p:nvSpPr>
        <p:spPr>
          <a:xfrm>
            <a:off x="8610600" y="2914650"/>
            <a:ext cx="2305050" cy="161925"/>
          </a:xfrm>
          <a:prstGeom prst="rect">
            <a:avLst/>
          </a:prstGeom>
          <a:solidFill>
            <a:srgbClr val="DDEBFA"/>
          </a:solidFill>
          <a:ln w="9525">
            <a:solidFill>
              <a:srgbClr val="B4C1D0"/>
            </a:solidFill>
            <a:prstDash val="solid"/>
          </a:ln>
        </p:spPr>
        <p:txBody>
          <a:bodyPr/>
          <a:lstStyle/>
          <a:p>
            <a:endParaRPr lang="zh-CN" altLang="en-US"/>
          </a:p>
        </p:txBody>
      </p:sp>
      <p:sp>
        <p:nvSpPr>
          <p:cNvPr id="59" name="矩形 58">
            <a:extLst>
              <a:ext uri="{FF2B5EF4-FFF2-40B4-BE49-F238E27FC236}">
                <a16:creationId xmlns:a16="http://schemas.microsoft.com/office/drawing/2014/main" id="{2D7F3BCA-545D-41EA-BD64-C7D46C60FE13}"/>
              </a:ext>
            </a:extLst>
          </p:cNvPr>
          <p:cNvSpPr>
            <a:spLocks noGrp="1"/>
          </p:cNvSpPr>
          <p:nvPr/>
        </p:nvSpPr>
        <p:spPr>
          <a:xfrm>
            <a:off x="8939893"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0" name="矩形 59">
            <a:extLst>
              <a:ext uri="{FF2B5EF4-FFF2-40B4-BE49-F238E27FC236}">
                <a16:creationId xmlns:a16="http://schemas.microsoft.com/office/drawing/2014/main" id="{59A100A2-21FC-4A2F-9DCA-8F31D6D36892}"/>
              </a:ext>
            </a:extLst>
          </p:cNvPr>
          <p:cNvSpPr>
            <a:spLocks noGrp="1"/>
          </p:cNvSpPr>
          <p:nvPr/>
        </p:nvSpPr>
        <p:spPr>
          <a:xfrm>
            <a:off x="9269186"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1" name="矩形 60">
            <a:extLst>
              <a:ext uri="{FF2B5EF4-FFF2-40B4-BE49-F238E27FC236}">
                <a16:creationId xmlns:a16="http://schemas.microsoft.com/office/drawing/2014/main" id="{D34DB79F-F282-4BC8-BE01-572FC4534C99}"/>
              </a:ext>
            </a:extLst>
          </p:cNvPr>
          <p:cNvSpPr>
            <a:spLocks noGrp="1"/>
          </p:cNvSpPr>
          <p:nvPr/>
        </p:nvSpPr>
        <p:spPr>
          <a:xfrm>
            <a:off x="9598479"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2" name="矩形 61">
            <a:extLst>
              <a:ext uri="{FF2B5EF4-FFF2-40B4-BE49-F238E27FC236}">
                <a16:creationId xmlns:a16="http://schemas.microsoft.com/office/drawing/2014/main" id="{EADA6DFF-7465-4BC8-BED3-EE68D07B61DC}"/>
              </a:ext>
            </a:extLst>
          </p:cNvPr>
          <p:cNvSpPr>
            <a:spLocks noGrp="1"/>
          </p:cNvSpPr>
          <p:nvPr/>
        </p:nvSpPr>
        <p:spPr>
          <a:xfrm>
            <a:off x="9927771"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3" name="矩形 62">
            <a:extLst>
              <a:ext uri="{FF2B5EF4-FFF2-40B4-BE49-F238E27FC236}">
                <a16:creationId xmlns:a16="http://schemas.microsoft.com/office/drawing/2014/main" id="{5D789757-0CCD-4182-A4BB-4F1A790C9D85}"/>
              </a:ext>
            </a:extLst>
          </p:cNvPr>
          <p:cNvSpPr>
            <a:spLocks noGrp="1"/>
          </p:cNvSpPr>
          <p:nvPr/>
        </p:nvSpPr>
        <p:spPr>
          <a:xfrm>
            <a:off x="10257064"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4" name="矩形 63">
            <a:extLst>
              <a:ext uri="{FF2B5EF4-FFF2-40B4-BE49-F238E27FC236}">
                <a16:creationId xmlns:a16="http://schemas.microsoft.com/office/drawing/2014/main" id="{3EBDB385-810D-4F64-9B5D-4F2CC1397617}"/>
              </a:ext>
            </a:extLst>
          </p:cNvPr>
          <p:cNvSpPr>
            <a:spLocks noGrp="1"/>
          </p:cNvSpPr>
          <p:nvPr/>
        </p:nvSpPr>
        <p:spPr>
          <a:xfrm>
            <a:off x="10586357"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5" name="矩形 64">
            <a:extLst>
              <a:ext uri="{FF2B5EF4-FFF2-40B4-BE49-F238E27FC236}">
                <a16:creationId xmlns:a16="http://schemas.microsoft.com/office/drawing/2014/main" id="{45D74556-FBE5-4E0A-B592-D1FC58C022DE}"/>
              </a:ext>
            </a:extLst>
          </p:cNvPr>
          <p:cNvSpPr>
            <a:spLocks noGrp="1"/>
          </p:cNvSpPr>
          <p:nvPr/>
        </p:nvSpPr>
        <p:spPr>
          <a:xfrm>
            <a:off x="8610600" y="3152775"/>
            <a:ext cx="2305050" cy="161925"/>
          </a:xfrm>
          <a:prstGeom prst="rect">
            <a:avLst/>
          </a:prstGeom>
          <a:solidFill>
            <a:srgbClr val="F4EBC2"/>
          </a:solidFill>
          <a:ln w="9525">
            <a:solidFill>
              <a:srgbClr val="B4C1D0"/>
            </a:solidFill>
            <a:prstDash val="solid"/>
          </a:ln>
        </p:spPr>
        <p:txBody>
          <a:bodyPr/>
          <a:lstStyle/>
          <a:p>
            <a:endParaRPr lang="zh-CN" altLang="en-US"/>
          </a:p>
        </p:txBody>
      </p:sp>
      <p:sp>
        <p:nvSpPr>
          <p:cNvPr id="66" name="矩形 65">
            <a:extLst>
              <a:ext uri="{FF2B5EF4-FFF2-40B4-BE49-F238E27FC236}">
                <a16:creationId xmlns:a16="http://schemas.microsoft.com/office/drawing/2014/main" id="{915140E4-577A-4E65-8D10-637DE65D3BFC}"/>
              </a:ext>
            </a:extLst>
          </p:cNvPr>
          <p:cNvSpPr>
            <a:spLocks noGrp="1"/>
          </p:cNvSpPr>
          <p:nvPr/>
        </p:nvSpPr>
        <p:spPr>
          <a:xfrm>
            <a:off x="8939893"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7" name="矩形 66">
            <a:extLst>
              <a:ext uri="{FF2B5EF4-FFF2-40B4-BE49-F238E27FC236}">
                <a16:creationId xmlns:a16="http://schemas.microsoft.com/office/drawing/2014/main" id="{260B44E0-677D-4E65-9C73-127DCB5BDEC9}"/>
              </a:ext>
            </a:extLst>
          </p:cNvPr>
          <p:cNvSpPr>
            <a:spLocks noGrp="1"/>
          </p:cNvSpPr>
          <p:nvPr/>
        </p:nvSpPr>
        <p:spPr>
          <a:xfrm>
            <a:off x="9269186"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8" name="矩形 67">
            <a:extLst>
              <a:ext uri="{FF2B5EF4-FFF2-40B4-BE49-F238E27FC236}">
                <a16:creationId xmlns:a16="http://schemas.microsoft.com/office/drawing/2014/main" id="{A69F894D-FE1A-4FA8-872F-8C9B64BDD7E4}"/>
              </a:ext>
            </a:extLst>
          </p:cNvPr>
          <p:cNvSpPr>
            <a:spLocks noGrp="1"/>
          </p:cNvSpPr>
          <p:nvPr/>
        </p:nvSpPr>
        <p:spPr>
          <a:xfrm>
            <a:off x="9598479"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9" name="矩形 68">
            <a:extLst>
              <a:ext uri="{FF2B5EF4-FFF2-40B4-BE49-F238E27FC236}">
                <a16:creationId xmlns:a16="http://schemas.microsoft.com/office/drawing/2014/main" id="{D3B44872-A621-44D4-A3A4-D75ECE2B9282}"/>
              </a:ext>
            </a:extLst>
          </p:cNvPr>
          <p:cNvSpPr>
            <a:spLocks noGrp="1"/>
          </p:cNvSpPr>
          <p:nvPr/>
        </p:nvSpPr>
        <p:spPr>
          <a:xfrm>
            <a:off x="9927771"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0" name="矩形 69">
            <a:extLst>
              <a:ext uri="{FF2B5EF4-FFF2-40B4-BE49-F238E27FC236}">
                <a16:creationId xmlns:a16="http://schemas.microsoft.com/office/drawing/2014/main" id="{76C8D734-8BAF-40C0-A788-D83A606F123B}"/>
              </a:ext>
            </a:extLst>
          </p:cNvPr>
          <p:cNvSpPr>
            <a:spLocks noGrp="1"/>
          </p:cNvSpPr>
          <p:nvPr/>
        </p:nvSpPr>
        <p:spPr>
          <a:xfrm>
            <a:off x="10257064"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1" name="矩形 70">
            <a:extLst>
              <a:ext uri="{FF2B5EF4-FFF2-40B4-BE49-F238E27FC236}">
                <a16:creationId xmlns:a16="http://schemas.microsoft.com/office/drawing/2014/main" id="{E89FE945-862A-4F42-9A4B-6FCA012AED00}"/>
              </a:ext>
            </a:extLst>
          </p:cNvPr>
          <p:cNvSpPr>
            <a:spLocks noGrp="1"/>
          </p:cNvSpPr>
          <p:nvPr/>
        </p:nvSpPr>
        <p:spPr>
          <a:xfrm>
            <a:off x="10586357"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2" name="矩形 71">
            <a:extLst>
              <a:ext uri="{FF2B5EF4-FFF2-40B4-BE49-F238E27FC236}">
                <a16:creationId xmlns:a16="http://schemas.microsoft.com/office/drawing/2014/main" id="{DF7F6B31-6449-4363-9A18-A8E52A68C64E}"/>
              </a:ext>
            </a:extLst>
          </p:cNvPr>
          <p:cNvSpPr>
            <a:spLocks noGrp="1"/>
          </p:cNvSpPr>
          <p:nvPr/>
        </p:nvSpPr>
        <p:spPr>
          <a:xfrm>
            <a:off x="8610600" y="3390900"/>
            <a:ext cx="2305050" cy="161925"/>
          </a:xfrm>
          <a:prstGeom prst="rect">
            <a:avLst/>
          </a:prstGeom>
          <a:solidFill>
            <a:srgbClr val="DDEBFA"/>
          </a:solidFill>
          <a:ln w="9525">
            <a:solidFill>
              <a:srgbClr val="B4C1D0"/>
            </a:solidFill>
            <a:prstDash val="solid"/>
          </a:ln>
        </p:spPr>
        <p:txBody>
          <a:bodyPr/>
          <a:lstStyle/>
          <a:p>
            <a:endParaRPr lang="zh-CN" altLang="en-US"/>
          </a:p>
        </p:txBody>
      </p:sp>
      <p:sp>
        <p:nvSpPr>
          <p:cNvPr id="73" name="矩形 72">
            <a:extLst>
              <a:ext uri="{FF2B5EF4-FFF2-40B4-BE49-F238E27FC236}">
                <a16:creationId xmlns:a16="http://schemas.microsoft.com/office/drawing/2014/main" id="{581A30D0-2A2B-40D8-856D-CA94246DE698}"/>
              </a:ext>
            </a:extLst>
          </p:cNvPr>
          <p:cNvSpPr>
            <a:spLocks noGrp="1"/>
          </p:cNvSpPr>
          <p:nvPr/>
        </p:nvSpPr>
        <p:spPr>
          <a:xfrm>
            <a:off x="8939893"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4" name="矩形 73">
            <a:extLst>
              <a:ext uri="{FF2B5EF4-FFF2-40B4-BE49-F238E27FC236}">
                <a16:creationId xmlns:a16="http://schemas.microsoft.com/office/drawing/2014/main" id="{44D2E987-EA4F-4904-B585-0A13D5BACC58}"/>
              </a:ext>
            </a:extLst>
          </p:cNvPr>
          <p:cNvSpPr>
            <a:spLocks noGrp="1"/>
          </p:cNvSpPr>
          <p:nvPr/>
        </p:nvSpPr>
        <p:spPr>
          <a:xfrm>
            <a:off x="9269186"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5" name="矩形 74">
            <a:extLst>
              <a:ext uri="{FF2B5EF4-FFF2-40B4-BE49-F238E27FC236}">
                <a16:creationId xmlns:a16="http://schemas.microsoft.com/office/drawing/2014/main" id="{1C5C01F4-1F3B-4DE9-B659-C36C157AB109}"/>
              </a:ext>
            </a:extLst>
          </p:cNvPr>
          <p:cNvSpPr>
            <a:spLocks noGrp="1"/>
          </p:cNvSpPr>
          <p:nvPr/>
        </p:nvSpPr>
        <p:spPr>
          <a:xfrm>
            <a:off x="9598479"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6" name="矩形 75">
            <a:extLst>
              <a:ext uri="{FF2B5EF4-FFF2-40B4-BE49-F238E27FC236}">
                <a16:creationId xmlns:a16="http://schemas.microsoft.com/office/drawing/2014/main" id="{A5DA5FA9-0EB2-4F9D-89EE-A1D33122776C}"/>
              </a:ext>
            </a:extLst>
          </p:cNvPr>
          <p:cNvSpPr>
            <a:spLocks noGrp="1"/>
          </p:cNvSpPr>
          <p:nvPr/>
        </p:nvSpPr>
        <p:spPr>
          <a:xfrm>
            <a:off x="9927771"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7" name="矩形 76">
            <a:extLst>
              <a:ext uri="{FF2B5EF4-FFF2-40B4-BE49-F238E27FC236}">
                <a16:creationId xmlns:a16="http://schemas.microsoft.com/office/drawing/2014/main" id="{003165EF-B012-446E-989B-76E5E77E89CA}"/>
              </a:ext>
            </a:extLst>
          </p:cNvPr>
          <p:cNvSpPr>
            <a:spLocks noGrp="1"/>
          </p:cNvSpPr>
          <p:nvPr/>
        </p:nvSpPr>
        <p:spPr>
          <a:xfrm>
            <a:off x="10257064"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8" name="矩形 77">
            <a:extLst>
              <a:ext uri="{FF2B5EF4-FFF2-40B4-BE49-F238E27FC236}">
                <a16:creationId xmlns:a16="http://schemas.microsoft.com/office/drawing/2014/main" id="{140BF115-88BF-454E-94D6-AE27E0FD543A}"/>
              </a:ext>
            </a:extLst>
          </p:cNvPr>
          <p:cNvSpPr>
            <a:spLocks noGrp="1"/>
          </p:cNvSpPr>
          <p:nvPr/>
        </p:nvSpPr>
        <p:spPr>
          <a:xfrm>
            <a:off x="10586357"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9" name="矩形 78">
            <a:extLst>
              <a:ext uri="{FF2B5EF4-FFF2-40B4-BE49-F238E27FC236}">
                <a16:creationId xmlns:a16="http://schemas.microsoft.com/office/drawing/2014/main" id="{8EA9FB92-4FBC-494D-8C0C-4958747ECBF6}"/>
              </a:ext>
            </a:extLst>
          </p:cNvPr>
          <p:cNvSpPr>
            <a:spLocks noGrp="1"/>
          </p:cNvSpPr>
          <p:nvPr/>
        </p:nvSpPr>
        <p:spPr>
          <a:xfrm>
            <a:off x="8610600" y="3629025"/>
            <a:ext cx="2305050" cy="161925"/>
          </a:xfrm>
          <a:prstGeom prst="rect">
            <a:avLst/>
          </a:prstGeom>
          <a:solidFill>
            <a:srgbClr val="F4EBC2"/>
          </a:solidFill>
          <a:ln w="9525">
            <a:solidFill>
              <a:srgbClr val="B4C1D0"/>
            </a:solidFill>
            <a:prstDash val="solid"/>
          </a:ln>
        </p:spPr>
        <p:txBody>
          <a:bodyPr/>
          <a:lstStyle/>
          <a:p>
            <a:endParaRPr lang="zh-CN" altLang="en-US"/>
          </a:p>
        </p:txBody>
      </p:sp>
      <p:sp>
        <p:nvSpPr>
          <p:cNvPr id="80" name="矩形 79">
            <a:extLst>
              <a:ext uri="{FF2B5EF4-FFF2-40B4-BE49-F238E27FC236}">
                <a16:creationId xmlns:a16="http://schemas.microsoft.com/office/drawing/2014/main" id="{C879EBDC-FB30-42B3-BEE2-4C7B369FB35B}"/>
              </a:ext>
            </a:extLst>
          </p:cNvPr>
          <p:cNvSpPr>
            <a:spLocks noGrp="1"/>
          </p:cNvSpPr>
          <p:nvPr/>
        </p:nvSpPr>
        <p:spPr>
          <a:xfrm>
            <a:off x="8939893"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1" name="矩形 80">
            <a:extLst>
              <a:ext uri="{FF2B5EF4-FFF2-40B4-BE49-F238E27FC236}">
                <a16:creationId xmlns:a16="http://schemas.microsoft.com/office/drawing/2014/main" id="{B8E503E3-5B50-4AAB-A1BA-75733937B32D}"/>
              </a:ext>
            </a:extLst>
          </p:cNvPr>
          <p:cNvSpPr>
            <a:spLocks noGrp="1"/>
          </p:cNvSpPr>
          <p:nvPr/>
        </p:nvSpPr>
        <p:spPr>
          <a:xfrm>
            <a:off x="9269186"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2" name="矩形 81">
            <a:extLst>
              <a:ext uri="{FF2B5EF4-FFF2-40B4-BE49-F238E27FC236}">
                <a16:creationId xmlns:a16="http://schemas.microsoft.com/office/drawing/2014/main" id="{5037E961-2000-452C-B3A2-1DF5DED1006E}"/>
              </a:ext>
            </a:extLst>
          </p:cNvPr>
          <p:cNvSpPr>
            <a:spLocks noGrp="1"/>
          </p:cNvSpPr>
          <p:nvPr/>
        </p:nvSpPr>
        <p:spPr>
          <a:xfrm>
            <a:off x="9598479"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3" name="矩形 82">
            <a:extLst>
              <a:ext uri="{FF2B5EF4-FFF2-40B4-BE49-F238E27FC236}">
                <a16:creationId xmlns:a16="http://schemas.microsoft.com/office/drawing/2014/main" id="{C77DF28E-F354-4D4A-9C81-9C1C93E6458D}"/>
              </a:ext>
            </a:extLst>
          </p:cNvPr>
          <p:cNvSpPr>
            <a:spLocks noGrp="1"/>
          </p:cNvSpPr>
          <p:nvPr/>
        </p:nvSpPr>
        <p:spPr>
          <a:xfrm>
            <a:off x="9927771"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4" name="矩形 83">
            <a:extLst>
              <a:ext uri="{FF2B5EF4-FFF2-40B4-BE49-F238E27FC236}">
                <a16:creationId xmlns:a16="http://schemas.microsoft.com/office/drawing/2014/main" id="{87DBA397-DCF6-4D96-8518-FA17AB4CDB43}"/>
              </a:ext>
            </a:extLst>
          </p:cNvPr>
          <p:cNvSpPr>
            <a:spLocks noGrp="1"/>
          </p:cNvSpPr>
          <p:nvPr/>
        </p:nvSpPr>
        <p:spPr>
          <a:xfrm>
            <a:off x="10257064"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5" name="矩形 84">
            <a:extLst>
              <a:ext uri="{FF2B5EF4-FFF2-40B4-BE49-F238E27FC236}">
                <a16:creationId xmlns:a16="http://schemas.microsoft.com/office/drawing/2014/main" id="{E19BDA76-58C5-47F7-9F05-92D53CCB2F93}"/>
              </a:ext>
            </a:extLst>
          </p:cNvPr>
          <p:cNvSpPr>
            <a:spLocks noGrp="1"/>
          </p:cNvSpPr>
          <p:nvPr/>
        </p:nvSpPr>
        <p:spPr>
          <a:xfrm>
            <a:off x="10586357"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6" name="矩形 85">
            <a:extLst>
              <a:ext uri="{FF2B5EF4-FFF2-40B4-BE49-F238E27FC236}">
                <a16:creationId xmlns:a16="http://schemas.microsoft.com/office/drawing/2014/main" id="{3E699153-7305-4E2B-A31D-303DE1B920D4}"/>
              </a:ext>
            </a:extLst>
          </p:cNvPr>
          <p:cNvSpPr>
            <a:spLocks noGrp="1"/>
          </p:cNvSpPr>
          <p:nvPr/>
        </p:nvSpPr>
        <p:spPr>
          <a:xfrm>
            <a:off x="8610600" y="3867150"/>
            <a:ext cx="2305050" cy="161925"/>
          </a:xfrm>
          <a:prstGeom prst="rect">
            <a:avLst/>
          </a:prstGeom>
          <a:solidFill>
            <a:srgbClr val="DDEBFA"/>
          </a:solidFill>
          <a:ln w="9525">
            <a:solidFill>
              <a:srgbClr val="B4C1D0"/>
            </a:solidFill>
            <a:prstDash val="solid"/>
          </a:ln>
        </p:spPr>
        <p:txBody>
          <a:bodyPr/>
          <a:lstStyle/>
          <a:p>
            <a:endParaRPr lang="zh-CN" altLang="en-US"/>
          </a:p>
        </p:txBody>
      </p:sp>
      <p:sp>
        <p:nvSpPr>
          <p:cNvPr id="87" name="矩形 86">
            <a:extLst>
              <a:ext uri="{FF2B5EF4-FFF2-40B4-BE49-F238E27FC236}">
                <a16:creationId xmlns:a16="http://schemas.microsoft.com/office/drawing/2014/main" id="{54E98833-974D-487E-B18C-225FC4B91511}"/>
              </a:ext>
            </a:extLst>
          </p:cNvPr>
          <p:cNvSpPr>
            <a:spLocks noGrp="1"/>
          </p:cNvSpPr>
          <p:nvPr/>
        </p:nvSpPr>
        <p:spPr>
          <a:xfrm>
            <a:off x="8939893"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8" name="矩形 87">
            <a:extLst>
              <a:ext uri="{FF2B5EF4-FFF2-40B4-BE49-F238E27FC236}">
                <a16:creationId xmlns:a16="http://schemas.microsoft.com/office/drawing/2014/main" id="{CE57BE15-939D-42FD-AB94-E564FB648FC1}"/>
              </a:ext>
            </a:extLst>
          </p:cNvPr>
          <p:cNvSpPr>
            <a:spLocks noGrp="1"/>
          </p:cNvSpPr>
          <p:nvPr/>
        </p:nvSpPr>
        <p:spPr>
          <a:xfrm>
            <a:off x="9269186"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9" name="矩形 88">
            <a:extLst>
              <a:ext uri="{FF2B5EF4-FFF2-40B4-BE49-F238E27FC236}">
                <a16:creationId xmlns:a16="http://schemas.microsoft.com/office/drawing/2014/main" id="{9D95F711-999A-4E85-8802-E2C621D95E30}"/>
              </a:ext>
            </a:extLst>
          </p:cNvPr>
          <p:cNvSpPr>
            <a:spLocks noGrp="1"/>
          </p:cNvSpPr>
          <p:nvPr/>
        </p:nvSpPr>
        <p:spPr>
          <a:xfrm>
            <a:off x="9598479"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90" name="矩形 89">
            <a:extLst>
              <a:ext uri="{FF2B5EF4-FFF2-40B4-BE49-F238E27FC236}">
                <a16:creationId xmlns:a16="http://schemas.microsoft.com/office/drawing/2014/main" id="{1E555DDC-13F8-484C-A2A7-36730DB0D0B2}"/>
              </a:ext>
            </a:extLst>
          </p:cNvPr>
          <p:cNvSpPr>
            <a:spLocks noGrp="1"/>
          </p:cNvSpPr>
          <p:nvPr/>
        </p:nvSpPr>
        <p:spPr>
          <a:xfrm>
            <a:off x="9927771"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91" name="矩形 90">
            <a:extLst>
              <a:ext uri="{FF2B5EF4-FFF2-40B4-BE49-F238E27FC236}">
                <a16:creationId xmlns:a16="http://schemas.microsoft.com/office/drawing/2014/main" id="{370BE516-B9B0-4059-AFD7-18E1B693B3A0}"/>
              </a:ext>
            </a:extLst>
          </p:cNvPr>
          <p:cNvSpPr>
            <a:spLocks noGrp="1"/>
          </p:cNvSpPr>
          <p:nvPr/>
        </p:nvSpPr>
        <p:spPr>
          <a:xfrm>
            <a:off x="10257064"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92" name="矩形 91">
            <a:extLst>
              <a:ext uri="{FF2B5EF4-FFF2-40B4-BE49-F238E27FC236}">
                <a16:creationId xmlns:a16="http://schemas.microsoft.com/office/drawing/2014/main" id="{C17A96B8-D345-4D01-9D57-178C5B33CB97}"/>
              </a:ext>
            </a:extLst>
          </p:cNvPr>
          <p:cNvSpPr>
            <a:spLocks noGrp="1"/>
          </p:cNvSpPr>
          <p:nvPr/>
        </p:nvSpPr>
        <p:spPr>
          <a:xfrm>
            <a:off x="10586357"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93" name="矩形 92">
            <a:extLst>
              <a:ext uri="{FF2B5EF4-FFF2-40B4-BE49-F238E27FC236}">
                <a16:creationId xmlns:a16="http://schemas.microsoft.com/office/drawing/2014/main" id="{B204305C-4D91-47FB-A956-3033E7CFAE54}"/>
              </a:ext>
            </a:extLst>
          </p:cNvPr>
          <p:cNvSpPr>
            <a:spLocks noGrp="1"/>
          </p:cNvSpPr>
          <p:nvPr/>
        </p:nvSpPr>
        <p:spPr>
          <a:xfrm>
            <a:off x="8362950" y="4381500"/>
            <a:ext cx="2800350" cy="628650"/>
          </a:xfrm>
          <a:prstGeom prst="rect">
            <a:avLst/>
          </a:prstGeom>
          <a:solidFill>
            <a:srgbClr val="FFFFFF"/>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黑体"/>
                <a:ea typeface="黑体"/>
                <a:cs typeface="黑体"/>
              </a:rPr>
              <a:t>适合序列与实时分析</a:t>
            </a:r>
          </a:p>
        </p:txBody>
      </p:sp>
      <p:sp>
        <p:nvSpPr>
          <p:cNvPr id="94" name="矩形 93">
            <a:extLst>
              <a:ext uri="{FF2B5EF4-FFF2-40B4-BE49-F238E27FC236}">
                <a16:creationId xmlns:a16="http://schemas.microsoft.com/office/drawing/2014/main" id="{DB85E80C-5340-4DC1-A450-9BD07AFAB29E}"/>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95" name="矩形 94">
            <a:extLst>
              <a:ext uri="{FF2B5EF4-FFF2-40B4-BE49-F238E27FC236}">
                <a16:creationId xmlns:a16="http://schemas.microsoft.com/office/drawing/2014/main" id="{93C00531-2CDD-4331-8773-C1057C9FCD7C}"/>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先确定粒度，再定义特征和标签。</a:t>
            </a:r>
          </a:p>
        </p:txBody>
      </p:sp>
    </p:spTree>
    <p:extLst>
      <p:ext uri="{BB962C8B-B14F-4D97-AF65-F5344CB8AC3E}">
        <p14:creationId xmlns:p14="http://schemas.microsoft.com/office/powerpoint/2010/main" val="2081135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6B33A154-D775-4E39-8EA0-9465B242B99E}"/>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30D4CDAE-B37C-4B77-82BE-8FD1DEC004C5}"/>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262A5361-8E74-4FFB-A633-CFA657EA9B8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648B86E-8D13-4BE0-BC67-D9398A92E491}"/>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dirty="0" err="1">
                <a:latin typeface="黑体"/>
                <a:ea typeface="黑体"/>
                <a:cs typeface="黑体"/>
              </a:rPr>
              <a:t>案例：</a:t>
            </a:r>
            <a:r>
              <a:rPr dirty="0" err="1">
                <a:latin typeface="Times New Roman"/>
                <a:ea typeface="Times New Roman"/>
                <a:cs typeface="Times New Roman"/>
              </a:rPr>
              <a:t>student-week</a:t>
            </a:r>
            <a:r>
              <a:rPr dirty="0">
                <a:latin typeface="Times New Roman"/>
                <a:ea typeface="Times New Roman"/>
                <a:cs typeface="Times New Roman"/>
              </a:rPr>
              <a:t> </a:t>
            </a:r>
            <a:r>
              <a:rPr dirty="0" err="1">
                <a:latin typeface="黑体"/>
                <a:ea typeface="黑体"/>
                <a:cs typeface="黑体"/>
              </a:rPr>
              <a:t>数据表</a:t>
            </a:r>
            <a:endParaRPr dirty="0">
              <a:latin typeface="黑体"/>
              <a:ea typeface="黑体"/>
              <a:cs typeface="黑体"/>
            </a:endParaRPr>
          </a:p>
        </p:txBody>
      </p:sp>
      <p:sp>
        <p:nvSpPr>
          <p:cNvPr id="5" name="矩形 4">
            <a:extLst>
              <a:ext uri="{FF2B5EF4-FFF2-40B4-BE49-F238E27FC236}">
                <a16:creationId xmlns:a16="http://schemas.microsoft.com/office/drawing/2014/main" id="{8C4FBC81-A0D9-417A-BF7E-4E90D0CB0F6A}"/>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7/90</a:t>
            </a:r>
          </a:p>
        </p:txBody>
      </p:sp>
      <p:sp>
        <p:nvSpPr>
          <p:cNvPr id="6" name="矩形 5">
            <a:extLst>
              <a:ext uri="{FF2B5EF4-FFF2-40B4-BE49-F238E27FC236}">
                <a16:creationId xmlns:a16="http://schemas.microsoft.com/office/drawing/2014/main" id="{AEF49514-DA6D-46FC-A7A4-143CD9C8F1B4}"/>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EE972989-021F-4098-9E0A-09D6A781F8AA}"/>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字段</a:t>
            </a:r>
          </a:p>
        </p:txBody>
      </p:sp>
      <p:sp>
        <p:nvSpPr>
          <p:cNvPr id="8" name="矩形 7">
            <a:extLst>
              <a:ext uri="{FF2B5EF4-FFF2-40B4-BE49-F238E27FC236}">
                <a16:creationId xmlns:a16="http://schemas.microsoft.com/office/drawing/2014/main" id="{3D64F251-CF16-495B-9672-AAAE47B314B2}"/>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4BFE0700-7197-4C4E-A6B2-13CC029F7FB2}"/>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示例</a:t>
            </a:r>
          </a:p>
        </p:txBody>
      </p:sp>
      <p:sp>
        <p:nvSpPr>
          <p:cNvPr id="10" name="矩形 9">
            <a:extLst>
              <a:ext uri="{FF2B5EF4-FFF2-40B4-BE49-F238E27FC236}">
                <a16:creationId xmlns:a16="http://schemas.microsoft.com/office/drawing/2014/main" id="{EDBB61D8-5943-427F-AAC4-68F7652CB779}"/>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3DB884AF-2A7C-4E20-A68B-66C7959B24C4}"/>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在分析中的角色</a:t>
            </a:r>
          </a:p>
        </p:txBody>
      </p:sp>
      <p:sp>
        <p:nvSpPr>
          <p:cNvPr id="12" name="矩形 11">
            <a:extLst>
              <a:ext uri="{FF2B5EF4-FFF2-40B4-BE49-F238E27FC236}">
                <a16:creationId xmlns:a16="http://schemas.microsoft.com/office/drawing/2014/main" id="{6EC73603-2778-4A70-9414-709DF53F309F}"/>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90905741-3DFA-4BC5-9C84-B8BD04AEDA22}"/>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student_id</a:t>
            </a:r>
          </a:p>
        </p:txBody>
      </p:sp>
      <p:sp>
        <p:nvSpPr>
          <p:cNvPr id="14" name="矩形 13">
            <a:extLst>
              <a:ext uri="{FF2B5EF4-FFF2-40B4-BE49-F238E27FC236}">
                <a16:creationId xmlns:a16="http://schemas.microsoft.com/office/drawing/2014/main" id="{F3673F6B-2C74-4BC7-B583-D854B6E34ABD}"/>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07EC9960-5DB5-4B3F-AF89-7F4F960FCBA6}"/>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S002</a:t>
            </a:r>
          </a:p>
        </p:txBody>
      </p:sp>
      <p:sp>
        <p:nvSpPr>
          <p:cNvPr id="16" name="矩形 15">
            <a:extLst>
              <a:ext uri="{FF2B5EF4-FFF2-40B4-BE49-F238E27FC236}">
                <a16:creationId xmlns:a16="http://schemas.microsoft.com/office/drawing/2014/main" id="{F1BCFEC9-553D-4817-B4B8-A6902E7A9DED}"/>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B69707A2-335F-48AF-A44B-063C343C428D}"/>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对象标识符，不作为普通数值</a:t>
            </a:r>
          </a:p>
        </p:txBody>
      </p:sp>
      <p:sp>
        <p:nvSpPr>
          <p:cNvPr id="18" name="矩形 17">
            <a:extLst>
              <a:ext uri="{FF2B5EF4-FFF2-40B4-BE49-F238E27FC236}">
                <a16:creationId xmlns:a16="http://schemas.microsoft.com/office/drawing/2014/main" id="{6934D9B9-5C28-4AFE-921A-9EE8421E6E41}"/>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FACCD27A-FC6D-43A9-B076-BD9066BB8CC3}"/>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week</a:t>
            </a:r>
          </a:p>
        </p:txBody>
      </p:sp>
      <p:sp>
        <p:nvSpPr>
          <p:cNvPr id="20" name="矩形 19">
            <a:extLst>
              <a:ext uri="{FF2B5EF4-FFF2-40B4-BE49-F238E27FC236}">
                <a16:creationId xmlns:a16="http://schemas.microsoft.com/office/drawing/2014/main" id="{08856E13-2C15-4E43-AE27-A61F7DAB23D3}"/>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5BE502B3-1E31-4FCE-84A4-5CE9C363E667}"/>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4</a:t>
            </a:r>
          </a:p>
        </p:txBody>
      </p:sp>
      <p:sp>
        <p:nvSpPr>
          <p:cNvPr id="22" name="矩形 21">
            <a:extLst>
              <a:ext uri="{FF2B5EF4-FFF2-40B4-BE49-F238E27FC236}">
                <a16:creationId xmlns:a16="http://schemas.microsoft.com/office/drawing/2014/main" id="{7E250BDC-9B52-4060-B2A0-96CFB194A467}"/>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76A0DC06-143A-40BB-B0FB-0866D0573AFA}"/>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时间索引，界定预测时点</a:t>
            </a:r>
          </a:p>
        </p:txBody>
      </p:sp>
      <p:sp>
        <p:nvSpPr>
          <p:cNvPr id="24" name="矩形 23">
            <a:extLst>
              <a:ext uri="{FF2B5EF4-FFF2-40B4-BE49-F238E27FC236}">
                <a16:creationId xmlns:a16="http://schemas.microsoft.com/office/drawing/2014/main" id="{5A7104AE-7555-4480-B734-42AD444B69A8}"/>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713087B5-5CEF-4A80-900E-3E921F1CFD83}"/>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login_count</a:t>
            </a:r>
          </a:p>
        </p:txBody>
      </p:sp>
      <p:sp>
        <p:nvSpPr>
          <p:cNvPr id="26" name="矩形 25">
            <a:extLst>
              <a:ext uri="{FF2B5EF4-FFF2-40B4-BE49-F238E27FC236}">
                <a16:creationId xmlns:a16="http://schemas.microsoft.com/office/drawing/2014/main" id="{582F52AB-5655-47C5-ADC8-03BA49B6595C}"/>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55A5ACDE-2A5C-4216-AA5D-F392B02C34E1}"/>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3</a:t>
            </a:r>
          </a:p>
        </p:txBody>
      </p:sp>
      <p:sp>
        <p:nvSpPr>
          <p:cNvPr id="28" name="矩形 27">
            <a:extLst>
              <a:ext uri="{FF2B5EF4-FFF2-40B4-BE49-F238E27FC236}">
                <a16:creationId xmlns:a16="http://schemas.microsoft.com/office/drawing/2014/main" id="{A608EEF9-27E4-468E-8092-B10B58E0238D}"/>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51A63955-BEBB-413D-971A-0E782DEFA5F7}"/>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行为特征，离散数值</a:t>
            </a:r>
          </a:p>
        </p:txBody>
      </p:sp>
      <p:sp>
        <p:nvSpPr>
          <p:cNvPr id="30" name="矩形 29">
            <a:extLst>
              <a:ext uri="{FF2B5EF4-FFF2-40B4-BE49-F238E27FC236}">
                <a16:creationId xmlns:a16="http://schemas.microsoft.com/office/drawing/2014/main" id="{96506FAE-9A59-4685-A8C6-0692CDB0B5A6}"/>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AE07B085-E72C-41D6-B4C8-B4223449B8B1}"/>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video_rate</a:t>
            </a:r>
          </a:p>
        </p:txBody>
      </p:sp>
      <p:sp>
        <p:nvSpPr>
          <p:cNvPr id="32" name="矩形 31">
            <a:extLst>
              <a:ext uri="{FF2B5EF4-FFF2-40B4-BE49-F238E27FC236}">
                <a16:creationId xmlns:a16="http://schemas.microsoft.com/office/drawing/2014/main" id="{069550CC-4BB9-407B-AE69-474B09EC9D42}"/>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155CC37A-9896-49A4-AD91-E56EC6CD45F1}"/>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0.35</a:t>
            </a:r>
          </a:p>
        </p:txBody>
      </p:sp>
      <p:sp>
        <p:nvSpPr>
          <p:cNvPr id="34" name="矩形 33">
            <a:extLst>
              <a:ext uri="{FF2B5EF4-FFF2-40B4-BE49-F238E27FC236}">
                <a16:creationId xmlns:a16="http://schemas.microsoft.com/office/drawing/2014/main" id="{F4533266-7F9B-4043-B70D-641AFA51D99A}"/>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4041413C-3038-4597-A7D4-226BBA8B0631}"/>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比例特征，范围 </a:t>
            </a:r>
            <a:r>
              <a:rPr>
                <a:latin typeface="Times New Roman"/>
                <a:ea typeface="Times New Roman"/>
                <a:cs typeface="Times New Roman"/>
              </a:rPr>
              <a:t>0–1</a:t>
            </a:r>
          </a:p>
        </p:txBody>
      </p:sp>
      <p:sp>
        <p:nvSpPr>
          <p:cNvPr id="36" name="矩形 35">
            <a:extLst>
              <a:ext uri="{FF2B5EF4-FFF2-40B4-BE49-F238E27FC236}">
                <a16:creationId xmlns:a16="http://schemas.microsoft.com/office/drawing/2014/main" id="{EA3182E8-308F-4E6C-85E9-0350E4338A85}"/>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9268B304-BA22-4968-9460-4C67DCEFC637}"/>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dropout_next4w</a:t>
            </a:r>
          </a:p>
        </p:txBody>
      </p:sp>
      <p:sp>
        <p:nvSpPr>
          <p:cNvPr id="38" name="矩形 37">
            <a:extLst>
              <a:ext uri="{FF2B5EF4-FFF2-40B4-BE49-F238E27FC236}">
                <a16:creationId xmlns:a16="http://schemas.microsoft.com/office/drawing/2014/main" id="{6AD5FFED-FFDC-450F-ADBE-E0109903AF3E}"/>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4187EA63-FCE1-4AB8-BE1C-0490F2956BB5}"/>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1</a:t>
            </a:r>
          </a:p>
        </p:txBody>
      </p:sp>
      <p:sp>
        <p:nvSpPr>
          <p:cNvPr id="40" name="矩形 39">
            <a:extLst>
              <a:ext uri="{FF2B5EF4-FFF2-40B4-BE49-F238E27FC236}">
                <a16:creationId xmlns:a16="http://schemas.microsoft.com/office/drawing/2014/main" id="{A7ECAC92-F984-44EB-905D-993DFC784130}"/>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A0091B8B-90DF-4920-B7A2-20169157FE4B}"/>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未来四周是否退课的标签</a:t>
            </a:r>
          </a:p>
        </p:txBody>
      </p:sp>
      <p:sp>
        <p:nvSpPr>
          <p:cNvPr id="42" name="矩形 41">
            <a:extLst>
              <a:ext uri="{FF2B5EF4-FFF2-40B4-BE49-F238E27FC236}">
                <a16:creationId xmlns:a16="http://schemas.microsoft.com/office/drawing/2014/main" id="{B3C7CEE2-443F-4B20-90A2-B5BF17CFFAEC}"/>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FA441A26-AD33-41F1-BD09-E6342316CBA2}"/>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字段的数据类型和分析角色是两件不同的事。</a:t>
            </a:r>
          </a:p>
        </p:txBody>
      </p:sp>
    </p:spTree>
    <p:extLst>
      <p:ext uri="{BB962C8B-B14F-4D97-AF65-F5344CB8AC3E}">
        <p14:creationId xmlns:p14="http://schemas.microsoft.com/office/powerpoint/2010/main" val="1167989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DECE0B72-C9B0-4F12-AC01-F380A29A164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AE1339A5-4B55-438E-84AA-760082126BA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44B1B6AE-91EA-4CD0-B8C2-A0914DC7E470}"/>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0F1DA6E8-DC87-4E36-BEBE-1D00DD91DB4F}"/>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对象、属性与属性值必须分清</a:t>
            </a:r>
          </a:p>
        </p:txBody>
      </p:sp>
      <p:sp>
        <p:nvSpPr>
          <p:cNvPr id="5" name="矩形 4">
            <a:extLst>
              <a:ext uri="{FF2B5EF4-FFF2-40B4-BE49-F238E27FC236}">
                <a16:creationId xmlns:a16="http://schemas.microsoft.com/office/drawing/2014/main" id="{9B94CAD7-0E98-4276-88E9-D480EF166041}"/>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8/90</a:t>
            </a:r>
          </a:p>
        </p:txBody>
      </p:sp>
      <p:sp>
        <p:nvSpPr>
          <p:cNvPr id="6" name="矩形 5">
            <a:extLst>
              <a:ext uri="{FF2B5EF4-FFF2-40B4-BE49-F238E27FC236}">
                <a16:creationId xmlns:a16="http://schemas.microsoft.com/office/drawing/2014/main" id="{529A9BC1-11C1-43E0-A3FF-FBF45C486A5D}"/>
              </a:ext>
            </a:extLst>
          </p:cNvPr>
          <p:cNvSpPr>
            <a:spLocks noGrp="1"/>
          </p:cNvSpPr>
          <p:nvPr/>
        </p:nvSpPr>
        <p:spPr>
          <a:xfrm>
            <a:off x="819150" y="1162050"/>
            <a:ext cx="10382250" cy="990600"/>
          </a:xfrm>
          <a:prstGeom prst="rect">
            <a:avLst/>
          </a:prstGeom>
          <a:solidFill>
            <a:srgbClr val="F1F6FC"/>
          </a:solidFill>
          <a:ln w="9525">
            <a:solidFill>
              <a:srgbClr val="D3DAE4"/>
            </a:solidFill>
            <a:prstDash val="solid"/>
          </a:ln>
        </p:spPr>
        <p:txBody>
          <a:bodyPr/>
          <a:lstStyle/>
          <a:p>
            <a:endParaRPr lang="zh-CN" altLang="en-US"/>
          </a:p>
        </p:txBody>
      </p:sp>
      <p:sp>
        <p:nvSpPr>
          <p:cNvPr id="7" name="矩形 6">
            <a:extLst>
              <a:ext uri="{FF2B5EF4-FFF2-40B4-BE49-F238E27FC236}">
                <a16:creationId xmlns:a16="http://schemas.microsoft.com/office/drawing/2014/main" id="{D2B63A19-2251-439B-9421-C67DE419853F}"/>
              </a:ext>
            </a:extLst>
          </p:cNvPr>
          <p:cNvSpPr>
            <a:spLocks noGrp="1"/>
          </p:cNvSpPr>
          <p:nvPr/>
        </p:nvSpPr>
        <p:spPr>
          <a:xfrm>
            <a:off x="819150" y="116205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E7BB1E0C-F1C7-49D8-9BF4-6341CE12672E}"/>
              </a:ext>
            </a:extLst>
          </p:cNvPr>
          <p:cNvSpPr>
            <a:spLocks noGrp="1"/>
          </p:cNvSpPr>
          <p:nvPr/>
        </p:nvSpPr>
        <p:spPr>
          <a:xfrm>
            <a:off x="1104900" y="1504950"/>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01</a:t>
            </a:r>
          </a:p>
        </p:txBody>
      </p:sp>
      <p:sp>
        <p:nvSpPr>
          <p:cNvPr id="9" name="矩形 8">
            <a:extLst>
              <a:ext uri="{FF2B5EF4-FFF2-40B4-BE49-F238E27FC236}">
                <a16:creationId xmlns:a16="http://schemas.microsoft.com/office/drawing/2014/main" id="{553B6961-EDEF-4A46-8CB8-44C8572BF728}"/>
              </a:ext>
            </a:extLst>
          </p:cNvPr>
          <p:cNvSpPr>
            <a:spLocks noGrp="1"/>
          </p:cNvSpPr>
          <p:nvPr/>
        </p:nvSpPr>
        <p:spPr>
          <a:xfrm>
            <a:off x="1790700" y="1295400"/>
            <a:ext cx="2381250" cy="76200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数据对象</a:t>
            </a:r>
          </a:p>
        </p:txBody>
      </p:sp>
      <p:sp>
        <p:nvSpPr>
          <p:cNvPr id="10" name="矩形 9">
            <a:extLst>
              <a:ext uri="{FF2B5EF4-FFF2-40B4-BE49-F238E27FC236}">
                <a16:creationId xmlns:a16="http://schemas.microsoft.com/office/drawing/2014/main" id="{668D6B6E-398C-4B29-BCA9-203B71FFC3BF}"/>
              </a:ext>
            </a:extLst>
          </p:cNvPr>
          <p:cNvSpPr>
            <a:spLocks noGrp="1"/>
          </p:cNvSpPr>
          <p:nvPr/>
        </p:nvSpPr>
        <p:spPr>
          <a:xfrm>
            <a:off x="4305300" y="1295400"/>
            <a:ext cx="6572250" cy="76200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学生 </a:t>
            </a:r>
            <a:r>
              <a:rPr>
                <a:latin typeface="Times New Roman"/>
                <a:ea typeface="Times New Roman"/>
                <a:cs typeface="Times New Roman"/>
              </a:rPr>
              <a:t>S002 </a:t>
            </a:r>
            <a:r>
              <a:rPr>
                <a:latin typeface="黑体"/>
                <a:ea typeface="黑体"/>
                <a:cs typeface="黑体"/>
              </a:rPr>
              <a:t>在第 </a:t>
            </a:r>
            <a:r>
              <a:rPr>
                <a:latin typeface="Times New Roman"/>
                <a:ea typeface="Times New Roman"/>
                <a:cs typeface="Times New Roman"/>
              </a:rPr>
              <a:t>4 </a:t>
            </a:r>
            <a:r>
              <a:rPr>
                <a:latin typeface="黑体"/>
                <a:ea typeface="黑体"/>
                <a:cs typeface="黑体"/>
              </a:rPr>
              <a:t>周这一条记录</a:t>
            </a:r>
          </a:p>
        </p:txBody>
      </p:sp>
      <p:sp>
        <p:nvSpPr>
          <p:cNvPr id="11" name="矩形 10">
            <a:extLst>
              <a:ext uri="{FF2B5EF4-FFF2-40B4-BE49-F238E27FC236}">
                <a16:creationId xmlns:a16="http://schemas.microsoft.com/office/drawing/2014/main" id="{0C7FA8C4-9C75-4C8A-9550-781E06B4AD5B}"/>
              </a:ext>
            </a:extLst>
          </p:cNvPr>
          <p:cNvSpPr>
            <a:spLocks noGrp="1"/>
          </p:cNvSpPr>
          <p:nvPr/>
        </p:nvSpPr>
        <p:spPr>
          <a:xfrm>
            <a:off x="819150" y="2247900"/>
            <a:ext cx="10382250" cy="990600"/>
          </a:xfrm>
          <a:prstGeom prst="rect">
            <a:avLst/>
          </a:prstGeom>
          <a:solidFill>
            <a:srgbClr val="FFFFFF"/>
          </a:solidFill>
          <a:ln w="9525">
            <a:solidFill>
              <a:srgbClr val="D3DAE4"/>
            </a:solidFill>
            <a:prstDash val="solid"/>
          </a:ln>
        </p:spPr>
        <p:txBody>
          <a:bodyPr/>
          <a:lstStyle/>
          <a:p>
            <a:endParaRPr lang="zh-CN" altLang="en-US"/>
          </a:p>
        </p:txBody>
      </p:sp>
      <p:sp>
        <p:nvSpPr>
          <p:cNvPr id="12" name="矩形 11">
            <a:extLst>
              <a:ext uri="{FF2B5EF4-FFF2-40B4-BE49-F238E27FC236}">
                <a16:creationId xmlns:a16="http://schemas.microsoft.com/office/drawing/2014/main" id="{56CFB912-5C0E-4CC0-B1B8-5E7B1C89306B}"/>
              </a:ext>
            </a:extLst>
          </p:cNvPr>
          <p:cNvSpPr>
            <a:spLocks noGrp="1"/>
          </p:cNvSpPr>
          <p:nvPr/>
        </p:nvSpPr>
        <p:spPr>
          <a:xfrm>
            <a:off x="819150" y="2247900"/>
            <a:ext cx="95250" cy="9906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714A82F6-5E08-4715-887C-7985852FD639}"/>
              </a:ext>
            </a:extLst>
          </p:cNvPr>
          <p:cNvSpPr>
            <a:spLocks noGrp="1"/>
          </p:cNvSpPr>
          <p:nvPr/>
        </p:nvSpPr>
        <p:spPr>
          <a:xfrm>
            <a:off x="1104900" y="2590800"/>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02</a:t>
            </a:r>
          </a:p>
        </p:txBody>
      </p:sp>
      <p:sp>
        <p:nvSpPr>
          <p:cNvPr id="14" name="矩形 13">
            <a:extLst>
              <a:ext uri="{FF2B5EF4-FFF2-40B4-BE49-F238E27FC236}">
                <a16:creationId xmlns:a16="http://schemas.microsoft.com/office/drawing/2014/main" id="{72845380-C5B3-427C-929D-285CD4F255B1}"/>
              </a:ext>
            </a:extLst>
          </p:cNvPr>
          <p:cNvSpPr>
            <a:spLocks noGrp="1"/>
          </p:cNvSpPr>
          <p:nvPr/>
        </p:nvSpPr>
        <p:spPr>
          <a:xfrm>
            <a:off x="1790700" y="2381250"/>
            <a:ext cx="2381250" cy="76200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属性</a:t>
            </a:r>
          </a:p>
        </p:txBody>
      </p:sp>
      <p:sp>
        <p:nvSpPr>
          <p:cNvPr id="15" name="矩形 14">
            <a:extLst>
              <a:ext uri="{FF2B5EF4-FFF2-40B4-BE49-F238E27FC236}">
                <a16:creationId xmlns:a16="http://schemas.microsoft.com/office/drawing/2014/main" id="{4904DF21-65F9-4DAC-8C8F-9F196106BDA9}"/>
              </a:ext>
            </a:extLst>
          </p:cNvPr>
          <p:cNvSpPr>
            <a:spLocks noGrp="1"/>
          </p:cNvSpPr>
          <p:nvPr/>
        </p:nvSpPr>
        <p:spPr>
          <a:xfrm>
            <a:off x="4305300" y="2381250"/>
            <a:ext cx="6572250" cy="76200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Times New Roman"/>
                <a:ea typeface="Times New Roman"/>
                <a:cs typeface="Times New Roman"/>
              </a:rPr>
              <a:t>login_count、video_rate、quiz_score</a:t>
            </a:r>
          </a:p>
        </p:txBody>
      </p:sp>
      <p:sp>
        <p:nvSpPr>
          <p:cNvPr id="16" name="矩形 15">
            <a:extLst>
              <a:ext uri="{FF2B5EF4-FFF2-40B4-BE49-F238E27FC236}">
                <a16:creationId xmlns:a16="http://schemas.microsoft.com/office/drawing/2014/main" id="{378C2A92-8F20-4F47-B8E3-C3BA72AD94D9}"/>
              </a:ext>
            </a:extLst>
          </p:cNvPr>
          <p:cNvSpPr>
            <a:spLocks noGrp="1"/>
          </p:cNvSpPr>
          <p:nvPr/>
        </p:nvSpPr>
        <p:spPr>
          <a:xfrm>
            <a:off x="819150" y="3333750"/>
            <a:ext cx="10382250" cy="990600"/>
          </a:xfrm>
          <a:prstGeom prst="rect">
            <a:avLst/>
          </a:prstGeom>
          <a:solidFill>
            <a:srgbClr val="F1F6FC"/>
          </a:solidFill>
          <a:ln w="9525">
            <a:solidFill>
              <a:srgbClr val="D3DAE4"/>
            </a:solidFill>
            <a:prstDash val="solid"/>
          </a:ln>
        </p:spPr>
        <p:txBody>
          <a:bodyPr/>
          <a:lstStyle/>
          <a:p>
            <a:endParaRPr lang="zh-CN" altLang="en-US"/>
          </a:p>
        </p:txBody>
      </p:sp>
      <p:sp>
        <p:nvSpPr>
          <p:cNvPr id="17" name="矩形 16">
            <a:extLst>
              <a:ext uri="{FF2B5EF4-FFF2-40B4-BE49-F238E27FC236}">
                <a16:creationId xmlns:a16="http://schemas.microsoft.com/office/drawing/2014/main" id="{5CDDDA1A-081B-4DF5-9B68-0E14C25AE97A}"/>
              </a:ext>
            </a:extLst>
          </p:cNvPr>
          <p:cNvSpPr>
            <a:spLocks noGrp="1"/>
          </p:cNvSpPr>
          <p:nvPr/>
        </p:nvSpPr>
        <p:spPr>
          <a:xfrm>
            <a:off x="819150" y="333375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2CF25B41-CCFD-455E-B1D0-B2FE13997747}"/>
              </a:ext>
            </a:extLst>
          </p:cNvPr>
          <p:cNvSpPr>
            <a:spLocks noGrp="1"/>
          </p:cNvSpPr>
          <p:nvPr/>
        </p:nvSpPr>
        <p:spPr>
          <a:xfrm>
            <a:off x="1104900" y="3676650"/>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03</a:t>
            </a:r>
          </a:p>
        </p:txBody>
      </p:sp>
      <p:sp>
        <p:nvSpPr>
          <p:cNvPr id="19" name="矩形 18">
            <a:extLst>
              <a:ext uri="{FF2B5EF4-FFF2-40B4-BE49-F238E27FC236}">
                <a16:creationId xmlns:a16="http://schemas.microsoft.com/office/drawing/2014/main" id="{BF0C4E33-CCD6-4C86-8DE8-8168E2551C85}"/>
              </a:ext>
            </a:extLst>
          </p:cNvPr>
          <p:cNvSpPr>
            <a:spLocks noGrp="1"/>
          </p:cNvSpPr>
          <p:nvPr/>
        </p:nvSpPr>
        <p:spPr>
          <a:xfrm>
            <a:off x="1790700" y="3467100"/>
            <a:ext cx="2381250" cy="76200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属性值</a:t>
            </a:r>
          </a:p>
        </p:txBody>
      </p:sp>
      <p:sp>
        <p:nvSpPr>
          <p:cNvPr id="20" name="矩形 19">
            <a:extLst>
              <a:ext uri="{FF2B5EF4-FFF2-40B4-BE49-F238E27FC236}">
                <a16:creationId xmlns:a16="http://schemas.microsoft.com/office/drawing/2014/main" id="{562639E1-0A19-4EB4-9819-671890148A45}"/>
              </a:ext>
            </a:extLst>
          </p:cNvPr>
          <p:cNvSpPr>
            <a:spLocks noGrp="1"/>
          </p:cNvSpPr>
          <p:nvPr/>
        </p:nvSpPr>
        <p:spPr>
          <a:xfrm>
            <a:off x="4305300" y="3467100"/>
            <a:ext cx="6572250" cy="76200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Times New Roman"/>
                <a:ea typeface="Times New Roman"/>
                <a:cs typeface="Times New Roman"/>
              </a:rPr>
              <a:t>3、0.35、42</a:t>
            </a:r>
          </a:p>
        </p:txBody>
      </p:sp>
      <p:sp>
        <p:nvSpPr>
          <p:cNvPr id="21" name="矩形 20">
            <a:extLst>
              <a:ext uri="{FF2B5EF4-FFF2-40B4-BE49-F238E27FC236}">
                <a16:creationId xmlns:a16="http://schemas.microsoft.com/office/drawing/2014/main" id="{90ED8133-EF02-4698-83A8-2124EB79DD38}"/>
              </a:ext>
            </a:extLst>
          </p:cNvPr>
          <p:cNvSpPr>
            <a:spLocks noGrp="1"/>
          </p:cNvSpPr>
          <p:nvPr/>
        </p:nvSpPr>
        <p:spPr>
          <a:xfrm>
            <a:off x="819150" y="4419600"/>
            <a:ext cx="10382250" cy="990600"/>
          </a:xfrm>
          <a:prstGeom prst="rect">
            <a:avLst/>
          </a:prstGeom>
          <a:solidFill>
            <a:srgbClr val="FFFFFF"/>
          </a:solidFill>
          <a:ln w="9525">
            <a:solidFill>
              <a:srgbClr val="D3DAE4"/>
            </a:solidFill>
            <a:prstDash val="solid"/>
          </a:ln>
        </p:spPr>
        <p:txBody>
          <a:bodyPr/>
          <a:lstStyle/>
          <a:p>
            <a:endParaRPr lang="zh-CN" altLang="en-US"/>
          </a:p>
        </p:txBody>
      </p:sp>
      <p:sp>
        <p:nvSpPr>
          <p:cNvPr id="22" name="矩形 21">
            <a:extLst>
              <a:ext uri="{FF2B5EF4-FFF2-40B4-BE49-F238E27FC236}">
                <a16:creationId xmlns:a16="http://schemas.microsoft.com/office/drawing/2014/main" id="{C8992AF2-024D-487B-A50A-A6DE870734BF}"/>
              </a:ext>
            </a:extLst>
          </p:cNvPr>
          <p:cNvSpPr>
            <a:spLocks noGrp="1"/>
          </p:cNvSpPr>
          <p:nvPr/>
        </p:nvSpPr>
        <p:spPr>
          <a:xfrm>
            <a:off x="819150" y="441960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0B4C5C1D-EF60-45ED-9179-0CCBDFABAB03}"/>
              </a:ext>
            </a:extLst>
          </p:cNvPr>
          <p:cNvSpPr>
            <a:spLocks noGrp="1"/>
          </p:cNvSpPr>
          <p:nvPr/>
        </p:nvSpPr>
        <p:spPr>
          <a:xfrm>
            <a:off x="1104900" y="4762500"/>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04</a:t>
            </a:r>
          </a:p>
        </p:txBody>
      </p:sp>
      <p:sp>
        <p:nvSpPr>
          <p:cNvPr id="24" name="矩形 23">
            <a:extLst>
              <a:ext uri="{FF2B5EF4-FFF2-40B4-BE49-F238E27FC236}">
                <a16:creationId xmlns:a16="http://schemas.microsoft.com/office/drawing/2014/main" id="{1727AA06-C110-42B6-B295-CA268FA18452}"/>
              </a:ext>
            </a:extLst>
          </p:cNvPr>
          <p:cNvSpPr>
            <a:spLocks noGrp="1"/>
          </p:cNvSpPr>
          <p:nvPr/>
        </p:nvSpPr>
        <p:spPr>
          <a:xfrm>
            <a:off x="1790700" y="4552950"/>
            <a:ext cx="2381250" cy="76200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元数据</a:t>
            </a:r>
          </a:p>
        </p:txBody>
      </p:sp>
      <p:sp>
        <p:nvSpPr>
          <p:cNvPr id="25" name="矩形 24">
            <a:extLst>
              <a:ext uri="{FF2B5EF4-FFF2-40B4-BE49-F238E27FC236}">
                <a16:creationId xmlns:a16="http://schemas.microsoft.com/office/drawing/2014/main" id="{A698FBD9-1754-4EB1-BCA6-D9AAD2F0AE1D}"/>
              </a:ext>
            </a:extLst>
          </p:cNvPr>
          <p:cNvSpPr>
            <a:spLocks noGrp="1"/>
          </p:cNvSpPr>
          <p:nvPr/>
        </p:nvSpPr>
        <p:spPr>
          <a:xfrm>
            <a:off x="4305300" y="4552950"/>
            <a:ext cx="6572250" cy="76200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字段定义、单位、允许范围和采集时间</a:t>
            </a:r>
          </a:p>
        </p:txBody>
      </p:sp>
      <p:sp>
        <p:nvSpPr>
          <p:cNvPr id="26" name="矩形 25">
            <a:extLst>
              <a:ext uri="{FF2B5EF4-FFF2-40B4-BE49-F238E27FC236}">
                <a16:creationId xmlns:a16="http://schemas.microsoft.com/office/drawing/2014/main" id="{9E644C99-4B75-41BF-BC12-87B8866CA80B}"/>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7" name="矩形 26">
            <a:extLst>
              <a:ext uri="{FF2B5EF4-FFF2-40B4-BE49-F238E27FC236}">
                <a16:creationId xmlns:a16="http://schemas.microsoft.com/office/drawing/2014/main" id="{2A026D39-56E5-43D8-8AE1-111E41E1861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dirty="0" err="1">
                <a:latin typeface="黑体"/>
                <a:ea typeface="黑体"/>
                <a:cs typeface="黑体"/>
              </a:rPr>
              <a:t>没有字段定义的数据表，很容易产生看似精确的错误结论</a:t>
            </a:r>
            <a:r>
              <a:rPr dirty="0">
                <a:latin typeface="黑体"/>
                <a:ea typeface="黑体"/>
                <a:cs typeface="黑体"/>
              </a:rPr>
              <a:t>。</a:t>
            </a:r>
          </a:p>
        </p:txBody>
      </p:sp>
    </p:spTree>
    <p:extLst>
      <p:ext uri="{BB962C8B-B14F-4D97-AF65-F5344CB8AC3E}">
        <p14:creationId xmlns:p14="http://schemas.microsoft.com/office/powerpoint/2010/main" val="1429412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BC37AC4E-56EE-43EE-934A-E4F2FFABCAF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6F017690-0C39-4DD3-B6E2-FAB1A340D87A}"/>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359690E2-C85A-4598-AAE5-F41AAAAF30B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74DF0230-2BCE-49EF-B27A-048208066606}"/>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标识符不是普通特征</a:t>
            </a:r>
          </a:p>
        </p:txBody>
      </p:sp>
      <p:sp>
        <p:nvSpPr>
          <p:cNvPr id="5" name="矩形 4">
            <a:extLst>
              <a:ext uri="{FF2B5EF4-FFF2-40B4-BE49-F238E27FC236}">
                <a16:creationId xmlns:a16="http://schemas.microsoft.com/office/drawing/2014/main" id="{10A31684-4CF0-4B14-A927-61EE075A0FD1}"/>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9/90</a:t>
            </a:r>
          </a:p>
        </p:txBody>
      </p:sp>
      <p:sp>
        <p:nvSpPr>
          <p:cNvPr id="6" name="矩形 5">
            <a:extLst>
              <a:ext uri="{FF2B5EF4-FFF2-40B4-BE49-F238E27FC236}">
                <a16:creationId xmlns:a16="http://schemas.microsoft.com/office/drawing/2014/main" id="{8FD9D53F-EAE3-4E07-9B8A-FF58A14DBBDD}"/>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0B1F1128-752F-45C6-BCC9-D36C89E42A28}"/>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0FD5E197-9AE5-45A3-99D8-B4C1A8046CC7}"/>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标识符 </a:t>
            </a:r>
            <a:r>
              <a:rPr>
                <a:latin typeface="Times New Roman"/>
                <a:ea typeface="Times New Roman"/>
                <a:cs typeface="Times New Roman"/>
              </a:rPr>
              <a:t>Identifier</a:t>
            </a:r>
          </a:p>
        </p:txBody>
      </p:sp>
      <p:sp>
        <p:nvSpPr>
          <p:cNvPr id="9" name="矩形 8">
            <a:extLst>
              <a:ext uri="{FF2B5EF4-FFF2-40B4-BE49-F238E27FC236}">
                <a16:creationId xmlns:a16="http://schemas.microsoft.com/office/drawing/2014/main" id="{4105A481-4CC6-402B-868C-684F4DB3292C}"/>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AABA2020-238F-44E3-852F-B8C5EEA4BBD8}"/>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用于唯一定位对象</a:t>
            </a:r>
          </a:p>
        </p:txBody>
      </p:sp>
      <p:sp>
        <p:nvSpPr>
          <p:cNvPr id="11" name="矩形 10">
            <a:extLst>
              <a:ext uri="{FF2B5EF4-FFF2-40B4-BE49-F238E27FC236}">
                <a16:creationId xmlns:a16="http://schemas.microsoft.com/office/drawing/2014/main" id="{617C5EAE-3149-4DF2-AED5-6AFF2093CBC2}"/>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46223D9F-F4E0-483D-AB5D-00EC25430943}"/>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数值大小通常没有意义</a:t>
            </a:r>
          </a:p>
        </p:txBody>
      </p:sp>
      <p:sp>
        <p:nvSpPr>
          <p:cNvPr id="13" name="矩形 12">
            <a:extLst>
              <a:ext uri="{FF2B5EF4-FFF2-40B4-BE49-F238E27FC236}">
                <a16:creationId xmlns:a16="http://schemas.microsoft.com/office/drawing/2014/main" id="{402DB475-E7A1-4A0D-9B28-193924C5E530}"/>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A4CA0C10-34BE-4E50-A289-06CF4DA34412}"/>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Times New Roman"/>
                <a:ea typeface="Times New Roman"/>
                <a:cs typeface="Times New Roman"/>
              </a:rPr>
              <a:t>student_id = 1002 </a:t>
            </a:r>
            <a:r>
              <a:rPr>
                <a:latin typeface="黑体"/>
                <a:ea typeface="黑体"/>
                <a:cs typeface="黑体"/>
              </a:rPr>
              <a:t>不比 </a:t>
            </a:r>
            <a:r>
              <a:rPr>
                <a:latin typeface="Times New Roman"/>
                <a:ea typeface="Times New Roman"/>
                <a:cs typeface="Times New Roman"/>
              </a:rPr>
              <a:t>1001 </a:t>
            </a:r>
            <a:r>
              <a:rPr>
                <a:latin typeface="黑体"/>
                <a:ea typeface="黑体"/>
                <a:cs typeface="黑体"/>
              </a:rPr>
              <a:t>更大</a:t>
            </a:r>
          </a:p>
        </p:txBody>
      </p:sp>
      <p:sp>
        <p:nvSpPr>
          <p:cNvPr id="15" name="矩形 14">
            <a:extLst>
              <a:ext uri="{FF2B5EF4-FFF2-40B4-BE49-F238E27FC236}">
                <a16:creationId xmlns:a16="http://schemas.microsoft.com/office/drawing/2014/main" id="{03795886-49A9-4F53-A7FF-50FD144F2301}"/>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B773D2E2-1C33-4472-975B-64AC88914460}"/>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不应直接计算平均值或距离</a:t>
            </a:r>
          </a:p>
        </p:txBody>
      </p:sp>
      <p:sp>
        <p:nvSpPr>
          <p:cNvPr id="17" name="矩形 16">
            <a:extLst>
              <a:ext uri="{FF2B5EF4-FFF2-40B4-BE49-F238E27FC236}">
                <a16:creationId xmlns:a16="http://schemas.microsoft.com/office/drawing/2014/main" id="{C2D4FDC2-C4CD-4F4B-8745-524E0F565386}"/>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1B2100CA-CFEE-4936-BF28-44AFC108FE76}"/>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B78A3334-4934-42D6-A73E-7F608E6B1005}"/>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分析特征 </a:t>
            </a:r>
            <a:r>
              <a:rPr>
                <a:latin typeface="Times New Roman"/>
                <a:ea typeface="Times New Roman"/>
                <a:cs typeface="Times New Roman"/>
              </a:rPr>
              <a:t>Feature</a:t>
            </a:r>
          </a:p>
        </p:txBody>
      </p:sp>
      <p:sp>
        <p:nvSpPr>
          <p:cNvPr id="20" name="矩形 19">
            <a:extLst>
              <a:ext uri="{FF2B5EF4-FFF2-40B4-BE49-F238E27FC236}">
                <a16:creationId xmlns:a16="http://schemas.microsoft.com/office/drawing/2014/main" id="{46FD4EEA-F54C-4B27-A486-70791EDAC536}"/>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75463C90-E5E0-425D-985D-8773633EFF8E}"/>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描述对象的可比较性质</a:t>
            </a:r>
          </a:p>
        </p:txBody>
      </p:sp>
      <p:sp>
        <p:nvSpPr>
          <p:cNvPr id="22" name="矩形 21">
            <a:extLst>
              <a:ext uri="{FF2B5EF4-FFF2-40B4-BE49-F238E27FC236}">
                <a16:creationId xmlns:a16="http://schemas.microsoft.com/office/drawing/2014/main" id="{6D3E046C-276C-4635-93A7-597B4544F69C}"/>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50F93F6E-C88C-4873-A014-95AF003D7C96}"/>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取值变化具有业务含义</a:t>
            </a:r>
          </a:p>
        </p:txBody>
      </p:sp>
      <p:sp>
        <p:nvSpPr>
          <p:cNvPr id="24" name="矩形 23">
            <a:extLst>
              <a:ext uri="{FF2B5EF4-FFF2-40B4-BE49-F238E27FC236}">
                <a16:creationId xmlns:a16="http://schemas.microsoft.com/office/drawing/2014/main" id="{DF3E71B5-888A-4592-BDB6-9E4E83D12006}"/>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EB48F686-16A1-4419-A1B4-FE93DE08DECE}"/>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Times New Roman"/>
                <a:ea typeface="Times New Roman"/>
                <a:cs typeface="Times New Roman"/>
              </a:rPr>
              <a:t>login_count = 10 </a:t>
            </a:r>
            <a:r>
              <a:rPr>
                <a:latin typeface="黑体"/>
                <a:ea typeface="黑体"/>
                <a:cs typeface="黑体"/>
              </a:rPr>
              <a:t>高于 </a:t>
            </a:r>
            <a:r>
              <a:rPr>
                <a:latin typeface="Times New Roman"/>
                <a:ea typeface="Times New Roman"/>
                <a:cs typeface="Times New Roman"/>
              </a:rPr>
              <a:t>3</a:t>
            </a:r>
          </a:p>
        </p:txBody>
      </p:sp>
      <p:sp>
        <p:nvSpPr>
          <p:cNvPr id="26" name="矩形 25">
            <a:extLst>
              <a:ext uri="{FF2B5EF4-FFF2-40B4-BE49-F238E27FC236}">
                <a16:creationId xmlns:a16="http://schemas.microsoft.com/office/drawing/2014/main" id="{E4FDB576-41E7-457D-BD3F-CC018EB02C68}"/>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5498114C-8AA2-40D2-AF9D-52A28817D71F}"/>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可以进入统计、距离或模型</a:t>
            </a:r>
          </a:p>
        </p:txBody>
      </p:sp>
      <p:sp>
        <p:nvSpPr>
          <p:cNvPr id="28" name="矩形 27">
            <a:extLst>
              <a:ext uri="{FF2B5EF4-FFF2-40B4-BE49-F238E27FC236}">
                <a16:creationId xmlns:a16="http://schemas.microsoft.com/office/drawing/2014/main" id="{F1881ECB-F604-4DDC-BC27-2F7D0DC3246B}"/>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DF9C9A8D-9618-4962-9452-993BA16E12BB}"/>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数据库中的数字，不一定是可以做算术运算的数值属性。</a:t>
            </a:r>
          </a:p>
        </p:txBody>
      </p:sp>
    </p:spTree>
    <p:extLst>
      <p:ext uri="{BB962C8B-B14F-4D97-AF65-F5344CB8AC3E}">
        <p14:creationId xmlns:p14="http://schemas.microsoft.com/office/powerpoint/2010/main" val="107046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0A51EF50-FECB-4BB7-A810-7FAF30B9A427}"/>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4AC12612-AA12-400B-8B29-1645DEE95E1A}"/>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31A61543-6042-4A29-8600-FEF8E0FA3310}"/>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77DF5B22-F8E5-4C01-95BD-2870D83864C8}"/>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特征 </a:t>
            </a:r>
            <a:r>
              <a:rPr>
                <a:latin typeface="Times New Roman"/>
                <a:ea typeface="Times New Roman"/>
                <a:cs typeface="Times New Roman"/>
              </a:rPr>
              <a:t>X </a:t>
            </a:r>
            <a:r>
              <a:rPr>
                <a:latin typeface="黑体"/>
                <a:ea typeface="黑体"/>
                <a:cs typeface="黑体"/>
              </a:rPr>
              <a:t>与标签 </a:t>
            </a:r>
            <a:r>
              <a:rPr>
                <a:latin typeface="Times New Roman"/>
                <a:ea typeface="Times New Roman"/>
                <a:cs typeface="Times New Roman"/>
              </a:rPr>
              <a:t>y </a:t>
            </a:r>
            <a:r>
              <a:rPr>
                <a:latin typeface="黑体"/>
                <a:ea typeface="黑体"/>
                <a:cs typeface="黑体"/>
              </a:rPr>
              <a:t>来自不同时间窗口</a:t>
            </a:r>
          </a:p>
        </p:txBody>
      </p:sp>
      <p:sp>
        <p:nvSpPr>
          <p:cNvPr id="5" name="矩形 4">
            <a:extLst>
              <a:ext uri="{FF2B5EF4-FFF2-40B4-BE49-F238E27FC236}">
                <a16:creationId xmlns:a16="http://schemas.microsoft.com/office/drawing/2014/main" id="{EDB15581-F5F2-4E89-94C6-050DC234272D}"/>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10/90</a:t>
            </a:r>
          </a:p>
        </p:txBody>
      </p:sp>
      <p:sp>
        <p:nvSpPr>
          <p:cNvPr id="6" name="矩形 5">
            <a:extLst>
              <a:ext uri="{FF2B5EF4-FFF2-40B4-BE49-F238E27FC236}">
                <a16:creationId xmlns:a16="http://schemas.microsoft.com/office/drawing/2014/main" id="{F10D65D9-0B14-4C7B-8B28-C22033A30D6C}"/>
              </a:ext>
            </a:extLst>
          </p:cNvPr>
          <p:cNvSpPr>
            <a:spLocks noGrp="1"/>
          </p:cNvSpPr>
          <p:nvPr/>
        </p:nvSpPr>
        <p:spPr>
          <a:xfrm>
            <a:off x="838200" y="1162050"/>
            <a:ext cx="666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14DA1"/>
                </a:solidFill>
                <a:latin typeface="黑体"/>
                <a:ea typeface="黑体"/>
                <a:cs typeface="黑体"/>
              </a:defRPr>
            </a:pPr>
            <a:r>
              <a:rPr>
                <a:latin typeface="黑体"/>
                <a:ea typeface="黑体"/>
                <a:cs typeface="黑体"/>
              </a:rPr>
              <a:t>已知历史</a:t>
            </a:r>
          </a:p>
        </p:txBody>
      </p:sp>
      <p:sp>
        <p:nvSpPr>
          <p:cNvPr id="7" name="矩形 6">
            <a:extLst>
              <a:ext uri="{FF2B5EF4-FFF2-40B4-BE49-F238E27FC236}">
                <a16:creationId xmlns:a16="http://schemas.microsoft.com/office/drawing/2014/main" id="{DB35B0A3-8652-475B-A9C9-3639AE00F5F4}"/>
              </a:ext>
            </a:extLst>
          </p:cNvPr>
          <p:cNvSpPr>
            <a:spLocks noGrp="1"/>
          </p:cNvSpPr>
          <p:nvPr/>
        </p:nvSpPr>
        <p:spPr>
          <a:xfrm>
            <a:off x="6686550" y="116205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B4964B"/>
                </a:solidFill>
                <a:latin typeface="黑体"/>
                <a:ea typeface="黑体"/>
                <a:cs typeface="黑体"/>
              </a:defRPr>
            </a:pPr>
            <a:r>
              <a:rPr>
                <a:latin typeface="黑体"/>
                <a:ea typeface="黑体"/>
                <a:cs typeface="黑体"/>
              </a:rPr>
              <a:t>预测时点</a:t>
            </a:r>
          </a:p>
        </p:txBody>
      </p:sp>
      <p:sp>
        <p:nvSpPr>
          <p:cNvPr id="8" name="矩形 7">
            <a:extLst>
              <a:ext uri="{FF2B5EF4-FFF2-40B4-BE49-F238E27FC236}">
                <a16:creationId xmlns:a16="http://schemas.microsoft.com/office/drawing/2014/main" id="{7FB37B21-408A-4CC5-B249-F7A6DBAA92A6}"/>
              </a:ext>
            </a:extLst>
          </p:cNvPr>
          <p:cNvSpPr>
            <a:spLocks noGrp="1"/>
          </p:cNvSpPr>
          <p:nvPr/>
        </p:nvSpPr>
        <p:spPr>
          <a:xfrm>
            <a:off x="7905750" y="1162050"/>
            <a:ext cx="3333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A33A3A"/>
                </a:solidFill>
                <a:latin typeface="黑体"/>
                <a:ea typeface="黑体"/>
                <a:cs typeface="黑体"/>
              </a:defRPr>
            </a:pPr>
            <a:r>
              <a:rPr>
                <a:latin typeface="黑体"/>
                <a:ea typeface="黑体"/>
                <a:cs typeface="黑体"/>
              </a:rPr>
              <a:t>未来结果</a:t>
            </a:r>
          </a:p>
        </p:txBody>
      </p:sp>
      <p:sp>
        <p:nvSpPr>
          <p:cNvPr id="9" name="矩形 8">
            <a:extLst>
              <a:ext uri="{FF2B5EF4-FFF2-40B4-BE49-F238E27FC236}">
                <a16:creationId xmlns:a16="http://schemas.microsoft.com/office/drawing/2014/main" id="{538F81F3-F6E3-4EE7-BA2A-8BA639854AB9}"/>
              </a:ext>
            </a:extLst>
          </p:cNvPr>
          <p:cNvSpPr>
            <a:spLocks noGrp="1"/>
          </p:cNvSpPr>
          <p:nvPr/>
        </p:nvSpPr>
        <p:spPr>
          <a:xfrm>
            <a:off x="838200" y="1809750"/>
            <a:ext cx="6667500" cy="990600"/>
          </a:xfrm>
          <a:prstGeom prst="rect">
            <a:avLst/>
          </a:prstGeom>
          <a:solidFill>
            <a:srgbClr val="EAF2FF"/>
          </a:solidFill>
          <a:ln w="9525">
            <a:solidFill>
              <a:srgbClr val="8FAFD2"/>
            </a:solidFill>
            <a:prstDash val="solid"/>
          </a:ln>
        </p:spPr>
        <p:txBody>
          <a:bodyPr/>
          <a:lstStyle/>
          <a:p>
            <a:endParaRPr lang="zh-CN" altLang="en-US"/>
          </a:p>
        </p:txBody>
      </p:sp>
      <p:sp>
        <p:nvSpPr>
          <p:cNvPr id="10" name="矩形 9">
            <a:extLst>
              <a:ext uri="{FF2B5EF4-FFF2-40B4-BE49-F238E27FC236}">
                <a16:creationId xmlns:a16="http://schemas.microsoft.com/office/drawing/2014/main" id="{1FEE5FE6-8712-4879-8E11-1EB9F143A819}"/>
              </a:ext>
            </a:extLst>
          </p:cNvPr>
          <p:cNvSpPr>
            <a:spLocks noGrp="1"/>
          </p:cNvSpPr>
          <p:nvPr/>
        </p:nvSpPr>
        <p:spPr>
          <a:xfrm>
            <a:off x="7905750" y="1809750"/>
            <a:ext cx="3333750" cy="990600"/>
          </a:xfrm>
          <a:prstGeom prst="rect">
            <a:avLst/>
          </a:prstGeom>
          <a:solidFill>
            <a:srgbClr val="F8EAEA"/>
          </a:solidFill>
          <a:ln w="9525">
            <a:solidFill>
              <a:srgbClr val="D3A5A5"/>
            </a:solidFill>
            <a:prstDash val="solid"/>
          </a:ln>
        </p:spPr>
        <p:txBody>
          <a:bodyPr/>
          <a:lstStyle/>
          <a:p>
            <a:endParaRPr lang="zh-CN" altLang="en-US"/>
          </a:p>
        </p:txBody>
      </p:sp>
      <p:sp>
        <p:nvSpPr>
          <p:cNvPr id="11" name="矩形 10">
            <a:extLst>
              <a:ext uri="{FF2B5EF4-FFF2-40B4-BE49-F238E27FC236}">
                <a16:creationId xmlns:a16="http://schemas.microsoft.com/office/drawing/2014/main" id="{5B40E53F-7A51-46D0-A565-39F2C7B22C9A}"/>
              </a:ext>
            </a:extLst>
          </p:cNvPr>
          <p:cNvSpPr>
            <a:spLocks noGrp="1"/>
          </p:cNvSpPr>
          <p:nvPr/>
        </p:nvSpPr>
        <p:spPr>
          <a:xfrm>
            <a:off x="914400" y="1962150"/>
            <a:ext cx="1514475" cy="190500"/>
          </a:xfrm>
          <a:prstGeom prst="rect">
            <a:avLst/>
          </a:prstGeom>
          <a:solidFill>
            <a:srgbClr val="EAF2FF"/>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第 </a:t>
            </a:r>
            <a:r>
              <a:rPr>
                <a:latin typeface="Times New Roman"/>
                <a:ea typeface="Times New Roman"/>
                <a:cs typeface="Times New Roman"/>
              </a:rPr>
              <a:t>1 </a:t>
            </a:r>
            <a:r>
              <a:rPr>
                <a:latin typeface="黑体"/>
                <a:ea typeface="黑体"/>
                <a:cs typeface="黑体"/>
              </a:rPr>
              <a:t>周</a:t>
            </a:r>
          </a:p>
        </p:txBody>
      </p:sp>
      <p:sp>
        <p:nvSpPr>
          <p:cNvPr id="12" name="矩形 11">
            <a:extLst>
              <a:ext uri="{FF2B5EF4-FFF2-40B4-BE49-F238E27FC236}">
                <a16:creationId xmlns:a16="http://schemas.microsoft.com/office/drawing/2014/main" id="{1DB9016E-AD8A-43BC-8BAF-A1A347F32CB8}"/>
              </a:ext>
            </a:extLst>
          </p:cNvPr>
          <p:cNvSpPr>
            <a:spLocks noGrp="1"/>
          </p:cNvSpPr>
          <p:nvPr/>
        </p:nvSpPr>
        <p:spPr>
          <a:xfrm>
            <a:off x="914400" y="2286000"/>
            <a:ext cx="1514475" cy="285750"/>
          </a:xfrm>
          <a:prstGeom prst="rect">
            <a:avLst/>
          </a:prstGeom>
          <a:solidFill>
            <a:srgbClr val="EAF2FF"/>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登录次数</a:t>
            </a:r>
          </a:p>
        </p:txBody>
      </p:sp>
      <p:sp>
        <p:nvSpPr>
          <p:cNvPr id="13" name="矩形 12">
            <a:extLst>
              <a:ext uri="{FF2B5EF4-FFF2-40B4-BE49-F238E27FC236}">
                <a16:creationId xmlns:a16="http://schemas.microsoft.com/office/drawing/2014/main" id="{077D2109-C58B-40FA-9279-229787052569}"/>
              </a:ext>
            </a:extLst>
          </p:cNvPr>
          <p:cNvSpPr>
            <a:spLocks noGrp="1"/>
          </p:cNvSpPr>
          <p:nvPr/>
        </p:nvSpPr>
        <p:spPr>
          <a:xfrm>
            <a:off x="2505075" y="1809750"/>
            <a:ext cx="9525" cy="9906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0626AEC9-05E8-4D46-9079-B66B8DF34CB5}"/>
              </a:ext>
            </a:extLst>
          </p:cNvPr>
          <p:cNvSpPr>
            <a:spLocks noGrp="1"/>
          </p:cNvSpPr>
          <p:nvPr/>
        </p:nvSpPr>
        <p:spPr>
          <a:xfrm>
            <a:off x="2581275" y="1962150"/>
            <a:ext cx="1514475" cy="190500"/>
          </a:xfrm>
          <a:prstGeom prst="rect">
            <a:avLst/>
          </a:prstGeom>
          <a:solidFill>
            <a:srgbClr val="EAF2FF"/>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第 </a:t>
            </a:r>
            <a:r>
              <a:rPr>
                <a:latin typeface="Times New Roman"/>
                <a:ea typeface="Times New Roman"/>
                <a:cs typeface="Times New Roman"/>
              </a:rPr>
              <a:t>2 </a:t>
            </a:r>
            <a:r>
              <a:rPr>
                <a:latin typeface="黑体"/>
                <a:ea typeface="黑体"/>
                <a:cs typeface="黑体"/>
              </a:rPr>
              <a:t>周</a:t>
            </a:r>
          </a:p>
        </p:txBody>
      </p:sp>
      <p:sp>
        <p:nvSpPr>
          <p:cNvPr id="15" name="矩形 14">
            <a:extLst>
              <a:ext uri="{FF2B5EF4-FFF2-40B4-BE49-F238E27FC236}">
                <a16:creationId xmlns:a16="http://schemas.microsoft.com/office/drawing/2014/main" id="{BBEFDB84-31D7-44DA-8906-3E5F8EF11FD0}"/>
              </a:ext>
            </a:extLst>
          </p:cNvPr>
          <p:cNvSpPr>
            <a:spLocks noGrp="1"/>
          </p:cNvSpPr>
          <p:nvPr/>
        </p:nvSpPr>
        <p:spPr>
          <a:xfrm>
            <a:off x="2581275" y="2286000"/>
            <a:ext cx="1514475" cy="285750"/>
          </a:xfrm>
          <a:prstGeom prst="rect">
            <a:avLst/>
          </a:prstGeom>
          <a:solidFill>
            <a:srgbClr val="EAF2FF"/>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视频完成率</a:t>
            </a:r>
          </a:p>
        </p:txBody>
      </p:sp>
      <p:sp>
        <p:nvSpPr>
          <p:cNvPr id="16" name="矩形 15">
            <a:extLst>
              <a:ext uri="{FF2B5EF4-FFF2-40B4-BE49-F238E27FC236}">
                <a16:creationId xmlns:a16="http://schemas.microsoft.com/office/drawing/2014/main" id="{6CA5B8F0-067A-435B-B2C8-B02FDB60AE4C}"/>
              </a:ext>
            </a:extLst>
          </p:cNvPr>
          <p:cNvSpPr>
            <a:spLocks noGrp="1"/>
          </p:cNvSpPr>
          <p:nvPr/>
        </p:nvSpPr>
        <p:spPr>
          <a:xfrm>
            <a:off x="4171950" y="1809750"/>
            <a:ext cx="9525" cy="9906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4E9C2051-E58A-4623-9297-2218151CFF20}"/>
              </a:ext>
            </a:extLst>
          </p:cNvPr>
          <p:cNvSpPr>
            <a:spLocks noGrp="1"/>
          </p:cNvSpPr>
          <p:nvPr/>
        </p:nvSpPr>
        <p:spPr>
          <a:xfrm>
            <a:off x="4248150" y="1962150"/>
            <a:ext cx="1514475" cy="190500"/>
          </a:xfrm>
          <a:prstGeom prst="rect">
            <a:avLst/>
          </a:prstGeom>
          <a:solidFill>
            <a:srgbClr val="EAF2FF"/>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第 </a:t>
            </a:r>
            <a:r>
              <a:rPr>
                <a:latin typeface="Times New Roman"/>
                <a:ea typeface="Times New Roman"/>
                <a:cs typeface="Times New Roman"/>
              </a:rPr>
              <a:t>3 </a:t>
            </a:r>
            <a:r>
              <a:rPr>
                <a:latin typeface="黑体"/>
                <a:ea typeface="黑体"/>
                <a:cs typeface="黑体"/>
              </a:rPr>
              <a:t>周</a:t>
            </a:r>
          </a:p>
        </p:txBody>
      </p:sp>
      <p:sp>
        <p:nvSpPr>
          <p:cNvPr id="18" name="矩形 17">
            <a:extLst>
              <a:ext uri="{FF2B5EF4-FFF2-40B4-BE49-F238E27FC236}">
                <a16:creationId xmlns:a16="http://schemas.microsoft.com/office/drawing/2014/main" id="{79AFBCB3-9332-446D-AC3D-B839D1DE1C7A}"/>
              </a:ext>
            </a:extLst>
          </p:cNvPr>
          <p:cNvSpPr>
            <a:spLocks noGrp="1"/>
          </p:cNvSpPr>
          <p:nvPr/>
        </p:nvSpPr>
        <p:spPr>
          <a:xfrm>
            <a:off x="4248150" y="2286000"/>
            <a:ext cx="1514475" cy="285750"/>
          </a:xfrm>
          <a:prstGeom prst="rect">
            <a:avLst/>
          </a:prstGeom>
          <a:solidFill>
            <a:srgbClr val="EAF2FF"/>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测验变化</a:t>
            </a:r>
          </a:p>
        </p:txBody>
      </p:sp>
      <p:sp>
        <p:nvSpPr>
          <p:cNvPr id="19" name="矩形 18">
            <a:extLst>
              <a:ext uri="{FF2B5EF4-FFF2-40B4-BE49-F238E27FC236}">
                <a16:creationId xmlns:a16="http://schemas.microsoft.com/office/drawing/2014/main" id="{A79F3C0C-A7DC-4914-8DB0-982418591D43}"/>
              </a:ext>
            </a:extLst>
          </p:cNvPr>
          <p:cNvSpPr>
            <a:spLocks noGrp="1"/>
          </p:cNvSpPr>
          <p:nvPr/>
        </p:nvSpPr>
        <p:spPr>
          <a:xfrm>
            <a:off x="5838825" y="1809750"/>
            <a:ext cx="9525" cy="9906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BEC67F67-CFAB-48AE-89A0-F3EC68232348}"/>
              </a:ext>
            </a:extLst>
          </p:cNvPr>
          <p:cNvSpPr>
            <a:spLocks noGrp="1"/>
          </p:cNvSpPr>
          <p:nvPr/>
        </p:nvSpPr>
        <p:spPr>
          <a:xfrm>
            <a:off x="5915025" y="1962150"/>
            <a:ext cx="1514475" cy="190500"/>
          </a:xfrm>
          <a:prstGeom prst="rect">
            <a:avLst/>
          </a:prstGeom>
          <a:solidFill>
            <a:srgbClr val="EAF2FF"/>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第 </a:t>
            </a:r>
            <a:r>
              <a:rPr>
                <a:latin typeface="Times New Roman"/>
                <a:ea typeface="Times New Roman"/>
                <a:cs typeface="Times New Roman"/>
              </a:rPr>
              <a:t>4 </a:t>
            </a:r>
            <a:r>
              <a:rPr>
                <a:latin typeface="黑体"/>
                <a:ea typeface="黑体"/>
                <a:cs typeface="黑体"/>
              </a:rPr>
              <a:t>周</a:t>
            </a:r>
          </a:p>
        </p:txBody>
      </p:sp>
      <p:sp>
        <p:nvSpPr>
          <p:cNvPr id="21" name="矩形 20">
            <a:extLst>
              <a:ext uri="{FF2B5EF4-FFF2-40B4-BE49-F238E27FC236}">
                <a16:creationId xmlns:a16="http://schemas.microsoft.com/office/drawing/2014/main" id="{9C111DB1-B400-484E-BC65-E3D31F1BF0B9}"/>
              </a:ext>
            </a:extLst>
          </p:cNvPr>
          <p:cNvSpPr>
            <a:spLocks noGrp="1"/>
          </p:cNvSpPr>
          <p:nvPr/>
        </p:nvSpPr>
        <p:spPr>
          <a:xfrm>
            <a:off x="5915025" y="2286000"/>
            <a:ext cx="1514475" cy="285750"/>
          </a:xfrm>
          <a:prstGeom prst="rect">
            <a:avLst/>
          </a:prstGeom>
          <a:solidFill>
            <a:srgbClr val="EAF2FF"/>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迟交次数</a:t>
            </a:r>
          </a:p>
        </p:txBody>
      </p:sp>
      <p:sp>
        <p:nvSpPr>
          <p:cNvPr id="22" name="矩形 21">
            <a:extLst>
              <a:ext uri="{FF2B5EF4-FFF2-40B4-BE49-F238E27FC236}">
                <a16:creationId xmlns:a16="http://schemas.microsoft.com/office/drawing/2014/main" id="{30E3A32A-2ADF-41BF-874F-751419CFA6B0}"/>
              </a:ext>
            </a:extLst>
          </p:cNvPr>
          <p:cNvSpPr>
            <a:spLocks noGrp="1"/>
          </p:cNvSpPr>
          <p:nvPr/>
        </p:nvSpPr>
        <p:spPr>
          <a:xfrm>
            <a:off x="8134350" y="2171700"/>
            <a:ext cx="2876550" cy="342900"/>
          </a:xfrm>
          <a:prstGeom prst="rect">
            <a:avLst/>
          </a:prstGeom>
          <a:solidFill>
            <a:srgbClr val="F8EAEA"/>
          </a:solidFill>
          <a:ln w="0">
            <a:solidFill>
              <a:srgbClr val="000000">
                <a:alpha val="0"/>
              </a:srgbClr>
            </a:solidFill>
            <a:prstDash val="solid"/>
          </a:ln>
        </p:spPr>
        <p:txBody>
          <a:bodyPr lIns="0" tIns="0" rIns="0" bIns="0" anchor="t"/>
          <a:lstStyle/>
          <a:p>
            <a:pPr algn="ctr">
              <a:defRPr sz="1575" b="1">
                <a:solidFill>
                  <a:srgbClr val="8F2F2F"/>
                </a:solidFill>
                <a:latin typeface="黑体"/>
                <a:ea typeface="黑体"/>
                <a:cs typeface="黑体"/>
              </a:defRPr>
            </a:pPr>
            <a:r>
              <a:rPr>
                <a:latin typeface="黑体"/>
                <a:ea typeface="黑体"/>
                <a:cs typeface="黑体"/>
              </a:rPr>
              <a:t>未来 </a:t>
            </a:r>
            <a:r>
              <a:rPr>
                <a:latin typeface="Times New Roman"/>
                <a:ea typeface="Times New Roman"/>
                <a:cs typeface="Times New Roman"/>
              </a:rPr>
              <a:t>4 </a:t>
            </a:r>
            <a:r>
              <a:rPr>
                <a:latin typeface="黑体"/>
                <a:ea typeface="黑体"/>
                <a:cs typeface="黑体"/>
              </a:rPr>
              <a:t>周是否退课</a:t>
            </a:r>
          </a:p>
        </p:txBody>
      </p:sp>
      <p:sp>
        <p:nvSpPr>
          <p:cNvPr id="23" name="矩形 22">
            <a:extLst>
              <a:ext uri="{FF2B5EF4-FFF2-40B4-BE49-F238E27FC236}">
                <a16:creationId xmlns:a16="http://schemas.microsoft.com/office/drawing/2014/main" id="{1C8219E3-5E94-4B4A-A064-CF71E06482D7}"/>
              </a:ext>
            </a:extLst>
          </p:cNvPr>
          <p:cNvSpPr>
            <a:spLocks noGrp="1"/>
          </p:cNvSpPr>
          <p:nvPr/>
        </p:nvSpPr>
        <p:spPr>
          <a:xfrm>
            <a:off x="7667625" y="1466850"/>
            <a:ext cx="47625" cy="16764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F682FB6B-79DC-4DF5-B8DC-1BA397924580}"/>
              </a:ext>
            </a:extLst>
          </p:cNvPr>
          <p:cNvSpPr>
            <a:spLocks noGrp="1"/>
          </p:cNvSpPr>
          <p:nvPr/>
        </p:nvSpPr>
        <p:spPr>
          <a:xfrm>
            <a:off x="3524250" y="2952750"/>
            <a:ext cx="1143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550" b="1">
                <a:solidFill>
                  <a:srgbClr val="014DA1"/>
                </a:solidFill>
                <a:latin typeface="黑体"/>
                <a:ea typeface="黑体"/>
                <a:cs typeface="黑体"/>
              </a:defRPr>
            </a:pPr>
            <a:r>
              <a:rPr>
                <a:latin typeface="Times New Roman"/>
                <a:ea typeface="Times New Roman"/>
                <a:cs typeface="Times New Roman"/>
              </a:rPr>
              <a:t>X</a:t>
            </a:r>
          </a:p>
        </p:txBody>
      </p:sp>
      <p:sp>
        <p:nvSpPr>
          <p:cNvPr id="25" name="矩形 24">
            <a:extLst>
              <a:ext uri="{FF2B5EF4-FFF2-40B4-BE49-F238E27FC236}">
                <a16:creationId xmlns:a16="http://schemas.microsoft.com/office/drawing/2014/main" id="{CC7BCAC0-1AA5-4B34-9417-778E7398A776}"/>
              </a:ext>
            </a:extLst>
          </p:cNvPr>
          <p:cNvSpPr>
            <a:spLocks noGrp="1"/>
          </p:cNvSpPr>
          <p:nvPr/>
        </p:nvSpPr>
        <p:spPr>
          <a:xfrm>
            <a:off x="5410200" y="2952750"/>
            <a:ext cx="1143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B4964B"/>
                </a:solidFill>
                <a:latin typeface="黑体"/>
                <a:ea typeface="黑体"/>
                <a:cs typeface="黑体"/>
              </a:defRPr>
            </a:pPr>
            <a:r>
              <a:rPr>
                <a:latin typeface="Times New Roman"/>
                <a:ea typeface="Times New Roman"/>
                <a:cs typeface="Times New Roman"/>
              </a:rPr>
              <a:t>→</a:t>
            </a:r>
          </a:p>
        </p:txBody>
      </p:sp>
      <p:sp>
        <p:nvSpPr>
          <p:cNvPr id="26" name="矩形 25">
            <a:extLst>
              <a:ext uri="{FF2B5EF4-FFF2-40B4-BE49-F238E27FC236}">
                <a16:creationId xmlns:a16="http://schemas.microsoft.com/office/drawing/2014/main" id="{0F7EBECF-17EC-4C57-8C5E-8657C4F27D6C}"/>
              </a:ext>
            </a:extLst>
          </p:cNvPr>
          <p:cNvSpPr>
            <a:spLocks noGrp="1"/>
          </p:cNvSpPr>
          <p:nvPr/>
        </p:nvSpPr>
        <p:spPr>
          <a:xfrm>
            <a:off x="8953500" y="2952750"/>
            <a:ext cx="1143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550" b="1">
                <a:solidFill>
                  <a:srgbClr val="A33A3A"/>
                </a:solidFill>
                <a:latin typeface="黑体"/>
                <a:ea typeface="黑体"/>
                <a:cs typeface="黑体"/>
              </a:defRPr>
            </a:pPr>
            <a:r>
              <a:rPr>
                <a:latin typeface="Times New Roman"/>
                <a:ea typeface="Times New Roman"/>
                <a:cs typeface="Times New Roman"/>
              </a:rPr>
              <a:t>y</a:t>
            </a:r>
          </a:p>
        </p:txBody>
      </p:sp>
      <p:sp>
        <p:nvSpPr>
          <p:cNvPr id="27" name="矩形 26">
            <a:extLst>
              <a:ext uri="{FF2B5EF4-FFF2-40B4-BE49-F238E27FC236}">
                <a16:creationId xmlns:a16="http://schemas.microsoft.com/office/drawing/2014/main" id="{F5508044-B9B3-479B-B8E1-48DBEE2E589F}"/>
              </a:ext>
            </a:extLst>
          </p:cNvPr>
          <p:cNvSpPr>
            <a:spLocks noGrp="1"/>
          </p:cNvSpPr>
          <p:nvPr/>
        </p:nvSpPr>
        <p:spPr>
          <a:xfrm>
            <a:off x="838200" y="3543300"/>
            <a:ext cx="5048250" cy="1581150"/>
          </a:xfrm>
          <a:prstGeom prst="rect">
            <a:avLst/>
          </a:prstGeom>
          <a:solidFill>
            <a:srgbClr val="F3F8FE"/>
          </a:solidFill>
          <a:ln w="9525">
            <a:solidFill>
              <a:srgbClr val="B8C3D1"/>
            </a:solidFill>
            <a:prstDash val="solid"/>
          </a:ln>
        </p:spPr>
        <p:txBody>
          <a:bodyPr/>
          <a:lstStyle/>
          <a:p>
            <a:endParaRPr lang="zh-CN" altLang="en-US"/>
          </a:p>
        </p:txBody>
      </p:sp>
      <p:sp>
        <p:nvSpPr>
          <p:cNvPr id="28" name="矩形 27">
            <a:extLst>
              <a:ext uri="{FF2B5EF4-FFF2-40B4-BE49-F238E27FC236}">
                <a16:creationId xmlns:a16="http://schemas.microsoft.com/office/drawing/2014/main" id="{930979A4-5E0C-4B6D-BC81-71B449364E21}"/>
              </a:ext>
            </a:extLst>
          </p:cNvPr>
          <p:cNvSpPr>
            <a:spLocks noGrp="1"/>
          </p:cNvSpPr>
          <p:nvPr/>
        </p:nvSpPr>
        <p:spPr>
          <a:xfrm>
            <a:off x="838200" y="3543300"/>
            <a:ext cx="85725" cy="1581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9" name="矩形 28">
            <a:extLst>
              <a:ext uri="{FF2B5EF4-FFF2-40B4-BE49-F238E27FC236}">
                <a16:creationId xmlns:a16="http://schemas.microsoft.com/office/drawing/2014/main" id="{813010A9-84AB-494E-B4F4-A1FF60FC3181}"/>
              </a:ext>
            </a:extLst>
          </p:cNvPr>
          <p:cNvSpPr>
            <a:spLocks noGrp="1"/>
          </p:cNvSpPr>
          <p:nvPr/>
        </p:nvSpPr>
        <p:spPr>
          <a:xfrm>
            <a:off x="1123950" y="3733800"/>
            <a:ext cx="1428750" cy="285750"/>
          </a:xfrm>
          <a:prstGeom prst="rect">
            <a:avLst/>
          </a:prstGeom>
          <a:solidFill>
            <a:srgbClr val="F3F8FE"/>
          </a:solidFill>
          <a:ln w="0">
            <a:solidFill>
              <a:srgbClr val="000000">
                <a:alpha val="0"/>
              </a:srgbClr>
            </a:solidFill>
            <a:prstDash val="solid"/>
          </a:ln>
        </p:spPr>
        <p:txBody>
          <a:bodyPr lIns="0" tIns="0" rIns="0" bIns="0" anchor="t"/>
          <a:lstStyle/>
          <a:p>
            <a:pPr algn="l">
              <a:defRPr sz="1650" b="1">
                <a:solidFill>
                  <a:srgbClr val="014DA1"/>
                </a:solidFill>
                <a:latin typeface="黑体"/>
                <a:ea typeface="黑体"/>
                <a:cs typeface="黑体"/>
              </a:defRPr>
            </a:pPr>
            <a:r>
              <a:rPr>
                <a:latin typeface="黑体"/>
                <a:ea typeface="黑体"/>
                <a:cs typeface="黑体"/>
              </a:rPr>
              <a:t>训练阶段</a:t>
            </a:r>
          </a:p>
        </p:txBody>
      </p:sp>
      <p:sp>
        <p:nvSpPr>
          <p:cNvPr id="30" name="矩形 29">
            <a:extLst>
              <a:ext uri="{FF2B5EF4-FFF2-40B4-BE49-F238E27FC236}">
                <a16:creationId xmlns:a16="http://schemas.microsoft.com/office/drawing/2014/main" id="{92D753C9-B285-4472-A504-5FD1F3A2CDC3}"/>
              </a:ext>
            </a:extLst>
          </p:cNvPr>
          <p:cNvSpPr>
            <a:spLocks noGrp="1"/>
          </p:cNvSpPr>
          <p:nvPr/>
        </p:nvSpPr>
        <p:spPr>
          <a:xfrm>
            <a:off x="2628900" y="3714750"/>
            <a:ext cx="2971800" cy="476250"/>
          </a:xfrm>
          <a:prstGeom prst="rect">
            <a:avLst/>
          </a:prstGeom>
          <a:solidFill>
            <a:srgbClr val="F3F8FE"/>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历史样本中，特征 </a:t>
            </a:r>
            <a:r>
              <a:rPr>
                <a:latin typeface="Times New Roman"/>
                <a:ea typeface="Times New Roman"/>
                <a:cs typeface="Times New Roman"/>
              </a:rPr>
              <a:t>X </a:t>
            </a:r>
            <a:r>
              <a:rPr>
                <a:latin typeface="黑体"/>
                <a:ea typeface="黑体"/>
                <a:cs typeface="黑体"/>
              </a:rPr>
              <a:t>与真实标签 </a:t>
            </a:r>
            <a:r>
              <a:rPr>
                <a:latin typeface="Times New Roman"/>
                <a:ea typeface="Times New Roman"/>
                <a:cs typeface="Times New Roman"/>
              </a:rPr>
              <a:t>y </a:t>
            </a:r>
            <a:r>
              <a:rPr>
                <a:latin typeface="黑体"/>
                <a:ea typeface="黑体"/>
                <a:cs typeface="黑体"/>
              </a:rPr>
              <a:t>都已经观察到</a:t>
            </a:r>
          </a:p>
        </p:txBody>
      </p:sp>
      <p:sp>
        <p:nvSpPr>
          <p:cNvPr id="31" name="矩形 30">
            <a:extLst>
              <a:ext uri="{FF2B5EF4-FFF2-40B4-BE49-F238E27FC236}">
                <a16:creationId xmlns:a16="http://schemas.microsoft.com/office/drawing/2014/main" id="{E8508D75-0E1F-43A3-A764-9E6C886430CC}"/>
              </a:ext>
            </a:extLst>
          </p:cNvPr>
          <p:cNvSpPr>
            <a:spLocks noGrp="1"/>
          </p:cNvSpPr>
          <p:nvPr/>
        </p:nvSpPr>
        <p:spPr>
          <a:xfrm>
            <a:off x="1123950" y="4343400"/>
            <a:ext cx="4476750" cy="533400"/>
          </a:xfrm>
          <a:prstGeom prst="rect">
            <a:avLst/>
          </a:prstGeom>
          <a:solidFill>
            <a:srgbClr val="FFFFFF"/>
          </a:solidFill>
          <a:ln w="9525">
            <a:solidFill>
              <a:srgbClr val="D4DCE6"/>
            </a:solidFill>
            <a:prstDash val="solid"/>
          </a:ln>
        </p:spPr>
        <p:txBody>
          <a:bodyPr/>
          <a:lstStyle/>
          <a:p>
            <a:endParaRPr lang="zh-CN" altLang="en-US"/>
          </a:p>
        </p:txBody>
      </p:sp>
      <p:sp>
        <p:nvSpPr>
          <p:cNvPr id="32" name="矩形 31">
            <a:extLst>
              <a:ext uri="{FF2B5EF4-FFF2-40B4-BE49-F238E27FC236}">
                <a16:creationId xmlns:a16="http://schemas.microsoft.com/office/drawing/2014/main" id="{EAF2346B-DB04-4754-A751-D9DB0F2A7244}"/>
              </a:ext>
            </a:extLst>
          </p:cNvPr>
          <p:cNvSpPr>
            <a:spLocks noGrp="1"/>
          </p:cNvSpPr>
          <p:nvPr/>
        </p:nvSpPr>
        <p:spPr>
          <a:xfrm>
            <a:off x="1314450" y="4486275"/>
            <a:ext cx="4095750" cy="266700"/>
          </a:xfrm>
          <a:prstGeom prst="rect">
            <a:avLst/>
          </a:prstGeom>
          <a:solidFill>
            <a:srgbClr val="FFFFFF"/>
          </a:solidFill>
          <a:ln w="0">
            <a:solidFill>
              <a:srgbClr val="000000">
                <a:alpha val="0"/>
              </a:srgbClr>
            </a:solidFill>
            <a:prstDash val="solid"/>
          </a:ln>
        </p:spPr>
        <p:txBody>
          <a:bodyPr lIns="0" tIns="0" rIns="0" bIns="0" anchor="t"/>
          <a:lstStyle/>
          <a:p>
            <a:pPr algn="ctr">
              <a:defRPr sz="1650" b="1">
                <a:solidFill>
                  <a:srgbClr val="014DA1"/>
                </a:solidFill>
                <a:latin typeface="黑体"/>
                <a:ea typeface="黑体"/>
                <a:cs typeface="黑体"/>
              </a:defRPr>
            </a:pPr>
            <a:r>
              <a:rPr>
                <a:latin typeface="Times New Roman"/>
                <a:ea typeface="Times New Roman"/>
                <a:cs typeface="Times New Roman"/>
              </a:rPr>
              <a:t>X + y  →  </a:t>
            </a:r>
            <a:r>
              <a:rPr>
                <a:latin typeface="黑体"/>
                <a:ea typeface="黑体"/>
                <a:cs typeface="黑体"/>
              </a:rPr>
              <a:t>学习规律</a:t>
            </a:r>
          </a:p>
        </p:txBody>
      </p:sp>
      <p:sp>
        <p:nvSpPr>
          <p:cNvPr id="33" name="矩形 32">
            <a:extLst>
              <a:ext uri="{FF2B5EF4-FFF2-40B4-BE49-F238E27FC236}">
                <a16:creationId xmlns:a16="http://schemas.microsoft.com/office/drawing/2014/main" id="{2F3EE3F7-892D-4D7E-86E5-B80418C59CA3}"/>
              </a:ext>
            </a:extLst>
          </p:cNvPr>
          <p:cNvSpPr>
            <a:spLocks noGrp="1"/>
          </p:cNvSpPr>
          <p:nvPr/>
        </p:nvSpPr>
        <p:spPr>
          <a:xfrm>
            <a:off x="6191250" y="3543300"/>
            <a:ext cx="5048250" cy="1581150"/>
          </a:xfrm>
          <a:prstGeom prst="rect">
            <a:avLst/>
          </a:prstGeom>
          <a:solidFill>
            <a:srgbClr val="FFF8EC"/>
          </a:solidFill>
          <a:ln w="9525">
            <a:solidFill>
              <a:srgbClr val="B8C3D1"/>
            </a:solidFill>
            <a:prstDash val="solid"/>
          </a:ln>
        </p:spPr>
        <p:txBody>
          <a:bodyPr/>
          <a:lstStyle/>
          <a:p>
            <a:endParaRPr lang="zh-CN" altLang="en-US"/>
          </a:p>
        </p:txBody>
      </p:sp>
      <p:sp>
        <p:nvSpPr>
          <p:cNvPr id="34" name="矩形 33">
            <a:extLst>
              <a:ext uri="{FF2B5EF4-FFF2-40B4-BE49-F238E27FC236}">
                <a16:creationId xmlns:a16="http://schemas.microsoft.com/office/drawing/2014/main" id="{A47F8ACC-6E46-46EE-BA02-900E9BE312B0}"/>
              </a:ext>
            </a:extLst>
          </p:cNvPr>
          <p:cNvSpPr>
            <a:spLocks noGrp="1"/>
          </p:cNvSpPr>
          <p:nvPr/>
        </p:nvSpPr>
        <p:spPr>
          <a:xfrm>
            <a:off x="6191250" y="3543300"/>
            <a:ext cx="85725" cy="1581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5" name="矩形 34">
            <a:extLst>
              <a:ext uri="{FF2B5EF4-FFF2-40B4-BE49-F238E27FC236}">
                <a16:creationId xmlns:a16="http://schemas.microsoft.com/office/drawing/2014/main" id="{FC42E368-6866-474A-B061-C4768300E41C}"/>
              </a:ext>
            </a:extLst>
          </p:cNvPr>
          <p:cNvSpPr>
            <a:spLocks noGrp="1"/>
          </p:cNvSpPr>
          <p:nvPr/>
        </p:nvSpPr>
        <p:spPr>
          <a:xfrm>
            <a:off x="6477000" y="3733800"/>
            <a:ext cx="1428750" cy="285750"/>
          </a:xfrm>
          <a:prstGeom prst="rect">
            <a:avLst/>
          </a:prstGeom>
          <a:solidFill>
            <a:srgbClr val="FFF8EC"/>
          </a:solidFill>
          <a:ln w="0">
            <a:solidFill>
              <a:srgbClr val="000000">
                <a:alpha val="0"/>
              </a:srgbClr>
            </a:solidFill>
            <a:prstDash val="solid"/>
          </a:ln>
        </p:spPr>
        <p:txBody>
          <a:bodyPr lIns="0" tIns="0" rIns="0" bIns="0" anchor="t"/>
          <a:lstStyle/>
          <a:p>
            <a:pPr algn="l">
              <a:defRPr sz="1650" b="1">
                <a:solidFill>
                  <a:srgbClr val="B4964B"/>
                </a:solidFill>
                <a:latin typeface="黑体"/>
                <a:ea typeface="黑体"/>
                <a:cs typeface="黑体"/>
              </a:defRPr>
            </a:pPr>
            <a:r>
              <a:rPr>
                <a:latin typeface="黑体"/>
                <a:ea typeface="黑体"/>
                <a:cs typeface="黑体"/>
              </a:rPr>
              <a:t>实际预测</a:t>
            </a:r>
          </a:p>
        </p:txBody>
      </p:sp>
      <p:sp>
        <p:nvSpPr>
          <p:cNvPr id="36" name="矩形 35">
            <a:extLst>
              <a:ext uri="{FF2B5EF4-FFF2-40B4-BE49-F238E27FC236}">
                <a16:creationId xmlns:a16="http://schemas.microsoft.com/office/drawing/2014/main" id="{41D4C390-616F-42D3-B7C7-2D1BAE015A53}"/>
              </a:ext>
            </a:extLst>
          </p:cNvPr>
          <p:cNvSpPr>
            <a:spLocks noGrp="1"/>
          </p:cNvSpPr>
          <p:nvPr/>
        </p:nvSpPr>
        <p:spPr>
          <a:xfrm>
            <a:off x="7981950" y="3714750"/>
            <a:ext cx="2971800" cy="476250"/>
          </a:xfrm>
          <a:prstGeom prst="rect">
            <a:avLst/>
          </a:prstGeom>
          <a:solidFill>
            <a:srgbClr val="FFF8EC"/>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新学生只有当前特征 </a:t>
            </a:r>
            <a:r>
              <a:rPr>
                <a:latin typeface="Times New Roman"/>
                <a:ea typeface="Times New Roman"/>
                <a:cs typeface="Times New Roman"/>
              </a:rPr>
              <a:t>X，</a:t>
            </a:r>
            <a:r>
              <a:rPr>
                <a:latin typeface="黑体"/>
                <a:ea typeface="黑体"/>
                <a:cs typeface="黑体"/>
              </a:rPr>
              <a:t>未来标签 </a:t>
            </a:r>
            <a:r>
              <a:rPr>
                <a:latin typeface="Times New Roman"/>
                <a:ea typeface="Times New Roman"/>
                <a:cs typeface="Times New Roman"/>
              </a:rPr>
              <a:t>y </a:t>
            </a:r>
            <a:r>
              <a:rPr>
                <a:latin typeface="黑体"/>
                <a:ea typeface="黑体"/>
                <a:cs typeface="黑体"/>
              </a:rPr>
              <a:t>尚未发生</a:t>
            </a:r>
          </a:p>
        </p:txBody>
      </p:sp>
      <p:sp>
        <p:nvSpPr>
          <p:cNvPr id="37" name="矩形 36">
            <a:extLst>
              <a:ext uri="{FF2B5EF4-FFF2-40B4-BE49-F238E27FC236}">
                <a16:creationId xmlns:a16="http://schemas.microsoft.com/office/drawing/2014/main" id="{EE9D93BD-0A02-400D-BCC3-4837782AB845}"/>
              </a:ext>
            </a:extLst>
          </p:cNvPr>
          <p:cNvSpPr>
            <a:spLocks noGrp="1"/>
          </p:cNvSpPr>
          <p:nvPr/>
        </p:nvSpPr>
        <p:spPr>
          <a:xfrm>
            <a:off x="6477000" y="4343400"/>
            <a:ext cx="4476750" cy="533400"/>
          </a:xfrm>
          <a:prstGeom prst="rect">
            <a:avLst/>
          </a:prstGeom>
          <a:solidFill>
            <a:srgbClr val="FFFFFF"/>
          </a:solidFill>
          <a:ln w="9525">
            <a:solidFill>
              <a:srgbClr val="D4DCE6"/>
            </a:solidFill>
            <a:prstDash val="solid"/>
          </a:ln>
        </p:spPr>
        <p:txBody>
          <a:bodyPr/>
          <a:lstStyle/>
          <a:p>
            <a:endParaRPr lang="zh-CN" altLang="en-US"/>
          </a:p>
        </p:txBody>
      </p:sp>
      <p:sp>
        <p:nvSpPr>
          <p:cNvPr id="38" name="矩形 37">
            <a:extLst>
              <a:ext uri="{FF2B5EF4-FFF2-40B4-BE49-F238E27FC236}">
                <a16:creationId xmlns:a16="http://schemas.microsoft.com/office/drawing/2014/main" id="{E472AF1B-5A05-4776-BA8B-6BAF91BE7B8B}"/>
              </a:ext>
            </a:extLst>
          </p:cNvPr>
          <p:cNvSpPr>
            <a:spLocks noGrp="1"/>
          </p:cNvSpPr>
          <p:nvPr/>
        </p:nvSpPr>
        <p:spPr>
          <a:xfrm>
            <a:off x="6667500" y="4486275"/>
            <a:ext cx="4095750" cy="266700"/>
          </a:xfrm>
          <a:prstGeom prst="rect">
            <a:avLst/>
          </a:prstGeom>
          <a:solidFill>
            <a:srgbClr val="FFFFFF"/>
          </a:solidFill>
          <a:ln w="0">
            <a:solidFill>
              <a:srgbClr val="000000">
                <a:alpha val="0"/>
              </a:srgbClr>
            </a:solidFill>
            <a:prstDash val="solid"/>
          </a:ln>
        </p:spPr>
        <p:txBody>
          <a:bodyPr lIns="0" tIns="0" rIns="0" bIns="0" anchor="t"/>
          <a:lstStyle/>
          <a:p>
            <a:pPr algn="ctr">
              <a:defRPr sz="1650" b="1">
                <a:solidFill>
                  <a:srgbClr val="B4964B"/>
                </a:solidFill>
                <a:latin typeface="黑体"/>
                <a:ea typeface="黑体"/>
                <a:cs typeface="黑体"/>
              </a:defRPr>
            </a:pPr>
            <a:r>
              <a:rPr>
                <a:latin typeface="Times New Roman"/>
                <a:ea typeface="Times New Roman"/>
                <a:cs typeface="Times New Roman"/>
              </a:rPr>
              <a:t>X  →  ŷ</a:t>
            </a:r>
          </a:p>
        </p:txBody>
      </p:sp>
      <p:sp>
        <p:nvSpPr>
          <p:cNvPr id="39" name="矩形 38">
            <a:extLst>
              <a:ext uri="{FF2B5EF4-FFF2-40B4-BE49-F238E27FC236}">
                <a16:creationId xmlns:a16="http://schemas.microsoft.com/office/drawing/2014/main" id="{E7002A03-323D-4CE4-9C43-E407CEA8C84C}"/>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0" name="矩形 39">
            <a:extLst>
              <a:ext uri="{FF2B5EF4-FFF2-40B4-BE49-F238E27FC236}">
                <a16:creationId xmlns:a16="http://schemas.microsoft.com/office/drawing/2014/main" id="{91D0FCB8-A1B2-4DDD-995F-277A47EE960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特征描述过去，标签描述要预测的未知结果。</a:t>
            </a:r>
          </a:p>
        </p:txBody>
      </p:sp>
    </p:spTree>
    <p:extLst>
      <p:ext uri="{BB962C8B-B14F-4D97-AF65-F5344CB8AC3E}">
        <p14:creationId xmlns:p14="http://schemas.microsoft.com/office/powerpoint/2010/main" val="1531746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矩形 207">
            <a:extLst>
              <a:ext uri="{FF2B5EF4-FFF2-40B4-BE49-F238E27FC236}">
                <a16:creationId xmlns:a16="http://schemas.microsoft.com/office/drawing/2014/main" id="{34B07024-93A5-43B8-85B2-4ED6920CC1E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57132CF4-0CD2-48E8-ADF9-5393CF367DBE}"/>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611617E-7806-4B8D-B39A-983284FF78B1}"/>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C9750ADB-FC6C-4A91-9E29-3A0D59DB4141}"/>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稠密矩阵与稀疏矩阵的存储逻辑不同</a:t>
            </a:r>
          </a:p>
        </p:txBody>
      </p:sp>
      <p:sp>
        <p:nvSpPr>
          <p:cNvPr id="5" name="矩形 4">
            <a:extLst>
              <a:ext uri="{FF2B5EF4-FFF2-40B4-BE49-F238E27FC236}">
                <a16:creationId xmlns:a16="http://schemas.microsoft.com/office/drawing/2014/main" id="{6145D517-5CCE-4AFB-BF5D-DF57721AAE3D}"/>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11/90</a:t>
            </a:r>
          </a:p>
        </p:txBody>
      </p:sp>
      <p:sp>
        <p:nvSpPr>
          <p:cNvPr id="6" name="矩形 5">
            <a:extLst>
              <a:ext uri="{FF2B5EF4-FFF2-40B4-BE49-F238E27FC236}">
                <a16:creationId xmlns:a16="http://schemas.microsoft.com/office/drawing/2014/main" id="{2EB4572A-1193-476E-9E8A-695006AD2B32}"/>
              </a:ext>
            </a:extLst>
          </p:cNvPr>
          <p:cNvSpPr>
            <a:spLocks noGrp="1"/>
          </p:cNvSpPr>
          <p:nvPr/>
        </p:nvSpPr>
        <p:spPr>
          <a:xfrm>
            <a:off x="800100" y="1238250"/>
            <a:ext cx="5048250" cy="4000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CE5BE6D0-EFE6-4A84-BDAD-75C4371FD6AA}"/>
              </a:ext>
            </a:extLst>
          </p:cNvPr>
          <p:cNvSpPr>
            <a:spLocks noGrp="1"/>
          </p:cNvSpPr>
          <p:nvPr/>
        </p:nvSpPr>
        <p:spPr>
          <a:xfrm>
            <a:off x="1009650" y="1466850"/>
            <a:ext cx="46291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014DA1"/>
                </a:solidFill>
                <a:latin typeface="黑体"/>
                <a:ea typeface="黑体"/>
                <a:cs typeface="黑体"/>
              </a:defRPr>
            </a:pPr>
            <a:r>
              <a:rPr>
                <a:latin typeface="黑体"/>
                <a:ea typeface="黑体"/>
                <a:cs typeface="黑体"/>
              </a:rPr>
              <a:t>稠密矩阵</a:t>
            </a:r>
          </a:p>
        </p:txBody>
      </p:sp>
      <p:sp>
        <p:nvSpPr>
          <p:cNvPr id="8" name="矩形 7">
            <a:extLst>
              <a:ext uri="{FF2B5EF4-FFF2-40B4-BE49-F238E27FC236}">
                <a16:creationId xmlns:a16="http://schemas.microsoft.com/office/drawing/2014/main" id="{AAA3F454-68CA-40B2-B08E-1E18C64E6DFF}"/>
              </a:ext>
            </a:extLst>
          </p:cNvPr>
          <p:cNvSpPr>
            <a:spLocks noGrp="1"/>
          </p:cNvSpPr>
          <p:nvPr/>
        </p:nvSpPr>
        <p:spPr>
          <a:xfrm>
            <a:off x="1009650" y="1847850"/>
            <a:ext cx="4629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多数单元格都有非零值</a:t>
            </a:r>
          </a:p>
        </p:txBody>
      </p:sp>
      <p:sp>
        <p:nvSpPr>
          <p:cNvPr id="9" name="矩形 8">
            <a:extLst>
              <a:ext uri="{FF2B5EF4-FFF2-40B4-BE49-F238E27FC236}">
                <a16:creationId xmlns:a16="http://schemas.microsoft.com/office/drawing/2014/main" id="{162240FB-F3CE-4752-84B7-E8B8738DC24E}"/>
              </a:ext>
            </a:extLst>
          </p:cNvPr>
          <p:cNvSpPr>
            <a:spLocks noGrp="1"/>
          </p:cNvSpPr>
          <p:nvPr/>
        </p:nvSpPr>
        <p:spPr>
          <a:xfrm>
            <a:off x="6343650" y="1238250"/>
            <a:ext cx="5048250" cy="4000500"/>
          </a:xfrm>
          <a:prstGeom prst="rect">
            <a:avLst/>
          </a:prstGeom>
          <a:solidFill>
            <a:srgbClr val="FFFFFF"/>
          </a:solidFill>
          <a:ln w="9525">
            <a:solidFill>
              <a:srgbClr val="B8C3D1"/>
            </a:solidFill>
            <a:prstDash val="solid"/>
          </a:ln>
        </p:spPr>
        <p:txBody>
          <a:bodyPr/>
          <a:lstStyle/>
          <a:p>
            <a:endParaRPr lang="zh-CN" altLang="en-US"/>
          </a:p>
        </p:txBody>
      </p:sp>
      <p:sp>
        <p:nvSpPr>
          <p:cNvPr id="10" name="矩形 9">
            <a:extLst>
              <a:ext uri="{FF2B5EF4-FFF2-40B4-BE49-F238E27FC236}">
                <a16:creationId xmlns:a16="http://schemas.microsoft.com/office/drawing/2014/main" id="{F64D7F28-C1EF-4A90-B077-DC60268D780B}"/>
              </a:ext>
            </a:extLst>
          </p:cNvPr>
          <p:cNvSpPr>
            <a:spLocks noGrp="1"/>
          </p:cNvSpPr>
          <p:nvPr/>
        </p:nvSpPr>
        <p:spPr>
          <a:xfrm>
            <a:off x="6553200" y="1466850"/>
            <a:ext cx="46291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4964B"/>
                </a:solidFill>
                <a:latin typeface="黑体"/>
                <a:ea typeface="黑体"/>
                <a:cs typeface="黑体"/>
              </a:defRPr>
            </a:pPr>
            <a:r>
              <a:rPr>
                <a:latin typeface="黑体"/>
                <a:ea typeface="黑体"/>
                <a:cs typeface="黑体"/>
              </a:rPr>
              <a:t>稀疏矩阵</a:t>
            </a:r>
          </a:p>
        </p:txBody>
      </p:sp>
      <p:sp>
        <p:nvSpPr>
          <p:cNvPr id="11" name="矩形 10">
            <a:extLst>
              <a:ext uri="{FF2B5EF4-FFF2-40B4-BE49-F238E27FC236}">
                <a16:creationId xmlns:a16="http://schemas.microsoft.com/office/drawing/2014/main" id="{4E60B411-131A-45F6-82DB-B304DB6C226A}"/>
              </a:ext>
            </a:extLst>
          </p:cNvPr>
          <p:cNvSpPr>
            <a:spLocks noGrp="1"/>
          </p:cNvSpPr>
          <p:nvPr/>
        </p:nvSpPr>
        <p:spPr>
          <a:xfrm>
            <a:off x="6553200" y="1847850"/>
            <a:ext cx="4629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绝大多数单元格为 </a:t>
            </a:r>
            <a:r>
              <a:rPr>
                <a:latin typeface="Times New Roman"/>
                <a:ea typeface="Times New Roman"/>
                <a:cs typeface="Times New Roman"/>
              </a:rPr>
              <a:t>0</a:t>
            </a:r>
          </a:p>
        </p:txBody>
      </p:sp>
      <p:sp>
        <p:nvSpPr>
          <p:cNvPr id="12" name="矩形 11">
            <a:extLst>
              <a:ext uri="{FF2B5EF4-FFF2-40B4-BE49-F238E27FC236}">
                <a16:creationId xmlns:a16="http://schemas.microsoft.com/office/drawing/2014/main" id="{3F0E82A5-0AA3-4F45-ABF0-2E755132012A}"/>
              </a:ext>
            </a:extLst>
          </p:cNvPr>
          <p:cNvSpPr>
            <a:spLocks noGrp="1"/>
          </p:cNvSpPr>
          <p:nvPr/>
        </p:nvSpPr>
        <p:spPr>
          <a:xfrm>
            <a:off x="143827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 name="矩形 12">
            <a:extLst>
              <a:ext uri="{FF2B5EF4-FFF2-40B4-BE49-F238E27FC236}">
                <a16:creationId xmlns:a16="http://schemas.microsoft.com/office/drawing/2014/main" id="{D148499A-150B-4BC2-9F6C-611BDA19DFDF}"/>
              </a:ext>
            </a:extLst>
          </p:cNvPr>
          <p:cNvSpPr>
            <a:spLocks noGrp="1"/>
          </p:cNvSpPr>
          <p:nvPr/>
        </p:nvSpPr>
        <p:spPr>
          <a:xfrm>
            <a:off x="172402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4" name="矩形 13">
            <a:extLst>
              <a:ext uri="{FF2B5EF4-FFF2-40B4-BE49-F238E27FC236}">
                <a16:creationId xmlns:a16="http://schemas.microsoft.com/office/drawing/2014/main" id="{2FE46C8C-F764-4FF0-A4A6-7C79BBDB1AC6}"/>
              </a:ext>
            </a:extLst>
          </p:cNvPr>
          <p:cNvSpPr>
            <a:spLocks noGrp="1"/>
          </p:cNvSpPr>
          <p:nvPr/>
        </p:nvSpPr>
        <p:spPr>
          <a:xfrm>
            <a:off x="200977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5" name="矩形 14">
            <a:extLst>
              <a:ext uri="{FF2B5EF4-FFF2-40B4-BE49-F238E27FC236}">
                <a16:creationId xmlns:a16="http://schemas.microsoft.com/office/drawing/2014/main" id="{4BABE192-C1AD-4DE0-860D-2703625CA927}"/>
              </a:ext>
            </a:extLst>
          </p:cNvPr>
          <p:cNvSpPr>
            <a:spLocks noGrp="1"/>
          </p:cNvSpPr>
          <p:nvPr/>
        </p:nvSpPr>
        <p:spPr>
          <a:xfrm>
            <a:off x="229552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6" name="矩形 15">
            <a:extLst>
              <a:ext uri="{FF2B5EF4-FFF2-40B4-BE49-F238E27FC236}">
                <a16:creationId xmlns:a16="http://schemas.microsoft.com/office/drawing/2014/main" id="{6B053CF2-CA26-4292-950D-ECDF00B3681E}"/>
              </a:ext>
            </a:extLst>
          </p:cNvPr>
          <p:cNvSpPr>
            <a:spLocks noGrp="1"/>
          </p:cNvSpPr>
          <p:nvPr/>
        </p:nvSpPr>
        <p:spPr>
          <a:xfrm>
            <a:off x="258127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7" name="矩形 16">
            <a:extLst>
              <a:ext uri="{FF2B5EF4-FFF2-40B4-BE49-F238E27FC236}">
                <a16:creationId xmlns:a16="http://schemas.microsoft.com/office/drawing/2014/main" id="{8BFFA002-F8E7-423B-90AB-A82509043C16}"/>
              </a:ext>
            </a:extLst>
          </p:cNvPr>
          <p:cNvSpPr>
            <a:spLocks noGrp="1"/>
          </p:cNvSpPr>
          <p:nvPr/>
        </p:nvSpPr>
        <p:spPr>
          <a:xfrm>
            <a:off x="286702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8" name="矩形 17">
            <a:extLst>
              <a:ext uri="{FF2B5EF4-FFF2-40B4-BE49-F238E27FC236}">
                <a16:creationId xmlns:a16="http://schemas.microsoft.com/office/drawing/2014/main" id="{A50CCF31-888B-4508-82D8-658A8BFA6E0B}"/>
              </a:ext>
            </a:extLst>
          </p:cNvPr>
          <p:cNvSpPr>
            <a:spLocks noGrp="1"/>
          </p:cNvSpPr>
          <p:nvPr/>
        </p:nvSpPr>
        <p:spPr>
          <a:xfrm>
            <a:off x="315277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9" name="矩形 18">
            <a:extLst>
              <a:ext uri="{FF2B5EF4-FFF2-40B4-BE49-F238E27FC236}">
                <a16:creationId xmlns:a16="http://schemas.microsoft.com/office/drawing/2014/main" id="{5839D5B7-08AB-4C40-9BA7-A24E1AEA146F}"/>
              </a:ext>
            </a:extLst>
          </p:cNvPr>
          <p:cNvSpPr>
            <a:spLocks noGrp="1"/>
          </p:cNvSpPr>
          <p:nvPr/>
        </p:nvSpPr>
        <p:spPr>
          <a:xfrm>
            <a:off x="343852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20" name="矩形 19">
            <a:extLst>
              <a:ext uri="{FF2B5EF4-FFF2-40B4-BE49-F238E27FC236}">
                <a16:creationId xmlns:a16="http://schemas.microsoft.com/office/drawing/2014/main" id="{521D6E25-DEC6-449C-98FF-77A6DB202EAD}"/>
              </a:ext>
            </a:extLst>
          </p:cNvPr>
          <p:cNvSpPr>
            <a:spLocks noGrp="1"/>
          </p:cNvSpPr>
          <p:nvPr/>
        </p:nvSpPr>
        <p:spPr>
          <a:xfrm>
            <a:off x="372427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1" name="矩形 20">
            <a:extLst>
              <a:ext uri="{FF2B5EF4-FFF2-40B4-BE49-F238E27FC236}">
                <a16:creationId xmlns:a16="http://schemas.microsoft.com/office/drawing/2014/main" id="{5CC983DA-2DF9-4FEA-9013-507E76118B1E}"/>
              </a:ext>
            </a:extLst>
          </p:cNvPr>
          <p:cNvSpPr>
            <a:spLocks noGrp="1"/>
          </p:cNvSpPr>
          <p:nvPr/>
        </p:nvSpPr>
        <p:spPr>
          <a:xfrm>
            <a:off x="401002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2" name="矩形 21">
            <a:extLst>
              <a:ext uri="{FF2B5EF4-FFF2-40B4-BE49-F238E27FC236}">
                <a16:creationId xmlns:a16="http://schemas.microsoft.com/office/drawing/2014/main" id="{1A8D4FC5-BEBC-4DBF-89C5-21ADE3E610A4}"/>
              </a:ext>
            </a:extLst>
          </p:cNvPr>
          <p:cNvSpPr>
            <a:spLocks noGrp="1"/>
          </p:cNvSpPr>
          <p:nvPr/>
        </p:nvSpPr>
        <p:spPr>
          <a:xfrm>
            <a:off x="429577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3" name="矩形 22">
            <a:extLst>
              <a:ext uri="{FF2B5EF4-FFF2-40B4-BE49-F238E27FC236}">
                <a16:creationId xmlns:a16="http://schemas.microsoft.com/office/drawing/2014/main" id="{C54D54EA-DD1C-46D2-B5F1-E7788A668668}"/>
              </a:ext>
            </a:extLst>
          </p:cNvPr>
          <p:cNvSpPr>
            <a:spLocks noGrp="1"/>
          </p:cNvSpPr>
          <p:nvPr/>
        </p:nvSpPr>
        <p:spPr>
          <a:xfrm>
            <a:off x="4581525" y="2343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4" name="矩形 23">
            <a:extLst>
              <a:ext uri="{FF2B5EF4-FFF2-40B4-BE49-F238E27FC236}">
                <a16:creationId xmlns:a16="http://schemas.microsoft.com/office/drawing/2014/main" id="{B08A9D6C-68BE-4F54-A6A5-735E43F7D5E5}"/>
              </a:ext>
            </a:extLst>
          </p:cNvPr>
          <p:cNvSpPr>
            <a:spLocks noGrp="1"/>
          </p:cNvSpPr>
          <p:nvPr/>
        </p:nvSpPr>
        <p:spPr>
          <a:xfrm>
            <a:off x="143827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5" name="矩形 24">
            <a:extLst>
              <a:ext uri="{FF2B5EF4-FFF2-40B4-BE49-F238E27FC236}">
                <a16:creationId xmlns:a16="http://schemas.microsoft.com/office/drawing/2014/main" id="{4E0A0F56-F35E-4C9E-B2B9-07E173C6B501}"/>
              </a:ext>
            </a:extLst>
          </p:cNvPr>
          <p:cNvSpPr>
            <a:spLocks noGrp="1"/>
          </p:cNvSpPr>
          <p:nvPr/>
        </p:nvSpPr>
        <p:spPr>
          <a:xfrm>
            <a:off x="172402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6" name="矩形 25">
            <a:extLst>
              <a:ext uri="{FF2B5EF4-FFF2-40B4-BE49-F238E27FC236}">
                <a16:creationId xmlns:a16="http://schemas.microsoft.com/office/drawing/2014/main" id="{7F385CC6-91BA-406D-8A30-0C1C1898A467}"/>
              </a:ext>
            </a:extLst>
          </p:cNvPr>
          <p:cNvSpPr>
            <a:spLocks noGrp="1"/>
          </p:cNvSpPr>
          <p:nvPr/>
        </p:nvSpPr>
        <p:spPr>
          <a:xfrm>
            <a:off x="200977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7" name="矩形 26">
            <a:extLst>
              <a:ext uri="{FF2B5EF4-FFF2-40B4-BE49-F238E27FC236}">
                <a16:creationId xmlns:a16="http://schemas.microsoft.com/office/drawing/2014/main" id="{14B2A556-EDB5-4AF5-91A5-B01BE9B05636}"/>
              </a:ext>
            </a:extLst>
          </p:cNvPr>
          <p:cNvSpPr>
            <a:spLocks noGrp="1"/>
          </p:cNvSpPr>
          <p:nvPr/>
        </p:nvSpPr>
        <p:spPr>
          <a:xfrm>
            <a:off x="229552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8" name="矩形 27">
            <a:extLst>
              <a:ext uri="{FF2B5EF4-FFF2-40B4-BE49-F238E27FC236}">
                <a16:creationId xmlns:a16="http://schemas.microsoft.com/office/drawing/2014/main" id="{1DF704C5-208F-4A90-9036-ECD5936DC62B}"/>
              </a:ext>
            </a:extLst>
          </p:cNvPr>
          <p:cNvSpPr>
            <a:spLocks noGrp="1"/>
          </p:cNvSpPr>
          <p:nvPr/>
        </p:nvSpPr>
        <p:spPr>
          <a:xfrm>
            <a:off x="258127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29" name="矩形 28">
            <a:extLst>
              <a:ext uri="{FF2B5EF4-FFF2-40B4-BE49-F238E27FC236}">
                <a16:creationId xmlns:a16="http://schemas.microsoft.com/office/drawing/2014/main" id="{7F9EC722-5272-4426-BE4C-E108B1073CA8}"/>
              </a:ext>
            </a:extLst>
          </p:cNvPr>
          <p:cNvSpPr>
            <a:spLocks noGrp="1"/>
          </p:cNvSpPr>
          <p:nvPr/>
        </p:nvSpPr>
        <p:spPr>
          <a:xfrm>
            <a:off x="286702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0" name="矩形 29">
            <a:extLst>
              <a:ext uri="{FF2B5EF4-FFF2-40B4-BE49-F238E27FC236}">
                <a16:creationId xmlns:a16="http://schemas.microsoft.com/office/drawing/2014/main" id="{6ED974A6-41A8-4F84-8126-A8E2447A9803}"/>
              </a:ext>
            </a:extLst>
          </p:cNvPr>
          <p:cNvSpPr>
            <a:spLocks noGrp="1"/>
          </p:cNvSpPr>
          <p:nvPr/>
        </p:nvSpPr>
        <p:spPr>
          <a:xfrm>
            <a:off x="315277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31" name="矩形 30">
            <a:extLst>
              <a:ext uri="{FF2B5EF4-FFF2-40B4-BE49-F238E27FC236}">
                <a16:creationId xmlns:a16="http://schemas.microsoft.com/office/drawing/2014/main" id="{72854BD1-BAF7-4F08-B6DD-6C5A13D45221}"/>
              </a:ext>
            </a:extLst>
          </p:cNvPr>
          <p:cNvSpPr>
            <a:spLocks noGrp="1"/>
          </p:cNvSpPr>
          <p:nvPr/>
        </p:nvSpPr>
        <p:spPr>
          <a:xfrm>
            <a:off x="343852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2" name="矩形 31">
            <a:extLst>
              <a:ext uri="{FF2B5EF4-FFF2-40B4-BE49-F238E27FC236}">
                <a16:creationId xmlns:a16="http://schemas.microsoft.com/office/drawing/2014/main" id="{F0B939B8-50E2-4BBC-A255-939CCD564CF5}"/>
              </a:ext>
            </a:extLst>
          </p:cNvPr>
          <p:cNvSpPr>
            <a:spLocks noGrp="1"/>
          </p:cNvSpPr>
          <p:nvPr/>
        </p:nvSpPr>
        <p:spPr>
          <a:xfrm>
            <a:off x="372427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3" name="矩形 32">
            <a:extLst>
              <a:ext uri="{FF2B5EF4-FFF2-40B4-BE49-F238E27FC236}">
                <a16:creationId xmlns:a16="http://schemas.microsoft.com/office/drawing/2014/main" id="{8C144CA2-B4EC-4304-A4EE-7518BB70CF6F}"/>
              </a:ext>
            </a:extLst>
          </p:cNvPr>
          <p:cNvSpPr>
            <a:spLocks noGrp="1"/>
          </p:cNvSpPr>
          <p:nvPr/>
        </p:nvSpPr>
        <p:spPr>
          <a:xfrm>
            <a:off x="401002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4" name="矩形 33">
            <a:extLst>
              <a:ext uri="{FF2B5EF4-FFF2-40B4-BE49-F238E27FC236}">
                <a16:creationId xmlns:a16="http://schemas.microsoft.com/office/drawing/2014/main" id="{2062E174-9A12-4170-87BB-42060DD13028}"/>
              </a:ext>
            </a:extLst>
          </p:cNvPr>
          <p:cNvSpPr>
            <a:spLocks noGrp="1"/>
          </p:cNvSpPr>
          <p:nvPr/>
        </p:nvSpPr>
        <p:spPr>
          <a:xfrm>
            <a:off x="429577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5" name="矩形 34">
            <a:extLst>
              <a:ext uri="{FF2B5EF4-FFF2-40B4-BE49-F238E27FC236}">
                <a16:creationId xmlns:a16="http://schemas.microsoft.com/office/drawing/2014/main" id="{88B1BD46-B1C8-4AF0-8297-A68E7529C6E3}"/>
              </a:ext>
            </a:extLst>
          </p:cNvPr>
          <p:cNvSpPr>
            <a:spLocks noGrp="1"/>
          </p:cNvSpPr>
          <p:nvPr/>
        </p:nvSpPr>
        <p:spPr>
          <a:xfrm>
            <a:off x="4581525" y="2628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6" name="矩形 35">
            <a:extLst>
              <a:ext uri="{FF2B5EF4-FFF2-40B4-BE49-F238E27FC236}">
                <a16:creationId xmlns:a16="http://schemas.microsoft.com/office/drawing/2014/main" id="{D3FCB72F-F0A2-4474-B6C3-52BC1AACA920}"/>
              </a:ext>
            </a:extLst>
          </p:cNvPr>
          <p:cNvSpPr>
            <a:spLocks noGrp="1"/>
          </p:cNvSpPr>
          <p:nvPr/>
        </p:nvSpPr>
        <p:spPr>
          <a:xfrm>
            <a:off x="143827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7" name="矩形 36">
            <a:extLst>
              <a:ext uri="{FF2B5EF4-FFF2-40B4-BE49-F238E27FC236}">
                <a16:creationId xmlns:a16="http://schemas.microsoft.com/office/drawing/2014/main" id="{7724D70E-097F-4ED1-8181-E7E65658FA80}"/>
              </a:ext>
            </a:extLst>
          </p:cNvPr>
          <p:cNvSpPr>
            <a:spLocks noGrp="1"/>
          </p:cNvSpPr>
          <p:nvPr/>
        </p:nvSpPr>
        <p:spPr>
          <a:xfrm>
            <a:off x="172402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8" name="矩形 37">
            <a:extLst>
              <a:ext uri="{FF2B5EF4-FFF2-40B4-BE49-F238E27FC236}">
                <a16:creationId xmlns:a16="http://schemas.microsoft.com/office/drawing/2014/main" id="{36F03455-236B-4D0A-A0C3-5FE19B4CDD16}"/>
              </a:ext>
            </a:extLst>
          </p:cNvPr>
          <p:cNvSpPr>
            <a:spLocks noGrp="1"/>
          </p:cNvSpPr>
          <p:nvPr/>
        </p:nvSpPr>
        <p:spPr>
          <a:xfrm>
            <a:off x="200977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39" name="矩形 38">
            <a:extLst>
              <a:ext uri="{FF2B5EF4-FFF2-40B4-BE49-F238E27FC236}">
                <a16:creationId xmlns:a16="http://schemas.microsoft.com/office/drawing/2014/main" id="{6047C443-D7A9-4BDE-A267-03C8EFAD443C}"/>
              </a:ext>
            </a:extLst>
          </p:cNvPr>
          <p:cNvSpPr>
            <a:spLocks noGrp="1"/>
          </p:cNvSpPr>
          <p:nvPr/>
        </p:nvSpPr>
        <p:spPr>
          <a:xfrm>
            <a:off x="229552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0" name="矩形 39">
            <a:extLst>
              <a:ext uri="{FF2B5EF4-FFF2-40B4-BE49-F238E27FC236}">
                <a16:creationId xmlns:a16="http://schemas.microsoft.com/office/drawing/2014/main" id="{346B7A69-1F37-4A6B-9614-48EFB446DFD5}"/>
              </a:ext>
            </a:extLst>
          </p:cNvPr>
          <p:cNvSpPr>
            <a:spLocks noGrp="1"/>
          </p:cNvSpPr>
          <p:nvPr/>
        </p:nvSpPr>
        <p:spPr>
          <a:xfrm>
            <a:off x="258127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1" name="矩形 40">
            <a:extLst>
              <a:ext uri="{FF2B5EF4-FFF2-40B4-BE49-F238E27FC236}">
                <a16:creationId xmlns:a16="http://schemas.microsoft.com/office/drawing/2014/main" id="{053862FA-7BAE-4AB4-AD7F-E3219041A356}"/>
              </a:ext>
            </a:extLst>
          </p:cNvPr>
          <p:cNvSpPr>
            <a:spLocks noGrp="1"/>
          </p:cNvSpPr>
          <p:nvPr/>
        </p:nvSpPr>
        <p:spPr>
          <a:xfrm>
            <a:off x="286702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42" name="矩形 41">
            <a:extLst>
              <a:ext uri="{FF2B5EF4-FFF2-40B4-BE49-F238E27FC236}">
                <a16:creationId xmlns:a16="http://schemas.microsoft.com/office/drawing/2014/main" id="{A8D1620A-074E-49D4-A4E1-0E64B4557D7E}"/>
              </a:ext>
            </a:extLst>
          </p:cNvPr>
          <p:cNvSpPr>
            <a:spLocks noGrp="1"/>
          </p:cNvSpPr>
          <p:nvPr/>
        </p:nvSpPr>
        <p:spPr>
          <a:xfrm>
            <a:off x="315277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3" name="矩形 42">
            <a:extLst>
              <a:ext uri="{FF2B5EF4-FFF2-40B4-BE49-F238E27FC236}">
                <a16:creationId xmlns:a16="http://schemas.microsoft.com/office/drawing/2014/main" id="{73763D31-3456-4151-8C6E-FAB678399520}"/>
              </a:ext>
            </a:extLst>
          </p:cNvPr>
          <p:cNvSpPr>
            <a:spLocks noGrp="1"/>
          </p:cNvSpPr>
          <p:nvPr/>
        </p:nvSpPr>
        <p:spPr>
          <a:xfrm>
            <a:off x="343852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4" name="矩形 43">
            <a:extLst>
              <a:ext uri="{FF2B5EF4-FFF2-40B4-BE49-F238E27FC236}">
                <a16:creationId xmlns:a16="http://schemas.microsoft.com/office/drawing/2014/main" id="{E7D35859-259F-4BB7-9C7D-C95E67174BC4}"/>
              </a:ext>
            </a:extLst>
          </p:cNvPr>
          <p:cNvSpPr>
            <a:spLocks noGrp="1"/>
          </p:cNvSpPr>
          <p:nvPr/>
        </p:nvSpPr>
        <p:spPr>
          <a:xfrm>
            <a:off x="372427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5" name="矩形 44">
            <a:extLst>
              <a:ext uri="{FF2B5EF4-FFF2-40B4-BE49-F238E27FC236}">
                <a16:creationId xmlns:a16="http://schemas.microsoft.com/office/drawing/2014/main" id="{280C71E7-CFA8-4781-8BC9-B19D61FE8C6B}"/>
              </a:ext>
            </a:extLst>
          </p:cNvPr>
          <p:cNvSpPr>
            <a:spLocks noGrp="1"/>
          </p:cNvSpPr>
          <p:nvPr/>
        </p:nvSpPr>
        <p:spPr>
          <a:xfrm>
            <a:off x="401002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6" name="矩形 45">
            <a:extLst>
              <a:ext uri="{FF2B5EF4-FFF2-40B4-BE49-F238E27FC236}">
                <a16:creationId xmlns:a16="http://schemas.microsoft.com/office/drawing/2014/main" id="{DE086FDA-F38D-4546-BAB6-2A4B0E331FA7}"/>
              </a:ext>
            </a:extLst>
          </p:cNvPr>
          <p:cNvSpPr>
            <a:spLocks noGrp="1"/>
          </p:cNvSpPr>
          <p:nvPr/>
        </p:nvSpPr>
        <p:spPr>
          <a:xfrm>
            <a:off x="429577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7" name="矩形 46">
            <a:extLst>
              <a:ext uri="{FF2B5EF4-FFF2-40B4-BE49-F238E27FC236}">
                <a16:creationId xmlns:a16="http://schemas.microsoft.com/office/drawing/2014/main" id="{58E2634B-9DA8-4C45-A347-9D246FCCD240}"/>
              </a:ext>
            </a:extLst>
          </p:cNvPr>
          <p:cNvSpPr>
            <a:spLocks noGrp="1"/>
          </p:cNvSpPr>
          <p:nvPr/>
        </p:nvSpPr>
        <p:spPr>
          <a:xfrm>
            <a:off x="4581525" y="2914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8" name="矩形 47">
            <a:extLst>
              <a:ext uri="{FF2B5EF4-FFF2-40B4-BE49-F238E27FC236}">
                <a16:creationId xmlns:a16="http://schemas.microsoft.com/office/drawing/2014/main" id="{1AAB683B-1FF1-468F-A80E-6B1E513E2352}"/>
              </a:ext>
            </a:extLst>
          </p:cNvPr>
          <p:cNvSpPr>
            <a:spLocks noGrp="1"/>
          </p:cNvSpPr>
          <p:nvPr/>
        </p:nvSpPr>
        <p:spPr>
          <a:xfrm>
            <a:off x="143827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49" name="矩形 48">
            <a:extLst>
              <a:ext uri="{FF2B5EF4-FFF2-40B4-BE49-F238E27FC236}">
                <a16:creationId xmlns:a16="http://schemas.microsoft.com/office/drawing/2014/main" id="{2B3E6D40-850F-48E4-9ECF-45C0D4624CDE}"/>
              </a:ext>
            </a:extLst>
          </p:cNvPr>
          <p:cNvSpPr>
            <a:spLocks noGrp="1"/>
          </p:cNvSpPr>
          <p:nvPr/>
        </p:nvSpPr>
        <p:spPr>
          <a:xfrm>
            <a:off x="172402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0" name="矩形 49">
            <a:extLst>
              <a:ext uri="{FF2B5EF4-FFF2-40B4-BE49-F238E27FC236}">
                <a16:creationId xmlns:a16="http://schemas.microsoft.com/office/drawing/2014/main" id="{D182A101-F0EB-4117-9958-717FF7C66DFD}"/>
              </a:ext>
            </a:extLst>
          </p:cNvPr>
          <p:cNvSpPr>
            <a:spLocks noGrp="1"/>
          </p:cNvSpPr>
          <p:nvPr/>
        </p:nvSpPr>
        <p:spPr>
          <a:xfrm>
            <a:off x="200977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1" name="矩形 50">
            <a:extLst>
              <a:ext uri="{FF2B5EF4-FFF2-40B4-BE49-F238E27FC236}">
                <a16:creationId xmlns:a16="http://schemas.microsoft.com/office/drawing/2014/main" id="{67C48C9C-5AB6-44CB-8062-D5753856DA43}"/>
              </a:ext>
            </a:extLst>
          </p:cNvPr>
          <p:cNvSpPr>
            <a:spLocks noGrp="1"/>
          </p:cNvSpPr>
          <p:nvPr/>
        </p:nvSpPr>
        <p:spPr>
          <a:xfrm>
            <a:off x="229552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2" name="矩形 51">
            <a:extLst>
              <a:ext uri="{FF2B5EF4-FFF2-40B4-BE49-F238E27FC236}">
                <a16:creationId xmlns:a16="http://schemas.microsoft.com/office/drawing/2014/main" id="{7F06A8D2-4271-406A-93E3-4536554C097A}"/>
              </a:ext>
            </a:extLst>
          </p:cNvPr>
          <p:cNvSpPr>
            <a:spLocks noGrp="1"/>
          </p:cNvSpPr>
          <p:nvPr/>
        </p:nvSpPr>
        <p:spPr>
          <a:xfrm>
            <a:off x="258127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53" name="矩形 52">
            <a:extLst>
              <a:ext uri="{FF2B5EF4-FFF2-40B4-BE49-F238E27FC236}">
                <a16:creationId xmlns:a16="http://schemas.microsoft.com/office/drawing/2014/main" id="{86CD4122-AF38-4B9D-8000-6C78AD62AC75}"/>
              </a:ext>
            </a:extLst>
          </p:cNvPr>
          <p:cNvSpPr>
            <a:spLocks noGrp="1"/>
          </p:cNvSpPr>
          <p:nvPr/>
        </p:nvSpPr>
        <p:spPr>
          <a:xfrm>
            <a:off x="286702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4" name="矩形 53">
            <a:extLst>
              <a:ext uri="{FF2B5EF4-FFF2-40B4-BE49-F238E27FC236}">
                <a16:creationId xmlns:a16="http://schemas.microsoft.com/office/drawing/2014/main" id="{C9BD9CB8-87D6-406D-816C-070C8D21DC7C}"/>
              </a:ext>
            </a:extLst>
          </p:cNvPr>
          <p:cNvSpPr>
            <a:spLocks noGrp="1"/>
          </p:cNvSpPr>
          <p:nvPr/>
        </p:nvSpPr>
        <p:spPr>
          <a:xfrm>
            <a:off x="315277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5" name="矩形 54">
            <a:extLst>
              <a:ext uri="{FF2B5EF4-FFF2-40B4-BE49-F238E27FC236}">
                <a16:creationId xmlns:a16="http://schemas.microsoft.com/office/drawing/2014/main" id="{9F97AD7A-503A-424A-A756-A02908636D99}"/>
              </a:ext>
            </a:extLst>
          </p:cNvPr>
          <p:cNvSpPr>
            <a:spLocks noGrp="1"/>
          </p:cNvSpPr>
          <p:nvPr/>
        </p:nvSpPr>
        <p:spPr>
          <a:xfrm>
            <a:off x="343852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6" name="矩形 55">
            <a:extLst>
              <a:ext uri="{FF2B5EF4-FFF2-40B4-BE49-F238E27FC236}">
                <a16:creationId xmlns:a16="http://schemas.microsoft.com/office/drawing/2014/main" id="{12D37C95-56F5-4E5F-8E61-021BE60840CE}"/>
              </a:ext>
            </a:extLst>
          </p:cNvPr>
          <p:cNvSpPr>
            <a:spLocks noGrp="1"/>
          </p:cNvSpPr>
          <p:nvPr/>
        </p:nvSpPr>
        <p:spPr>
          <a:xfrm>
            <a:off x="372427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7" name="矩形 56">
            <a:extLst>
              <a:ext uri="{FF2B5EF4-FFF2-40B4-BE49-F238E27FC236}">
                <a16:creationId xmlns:a16="http://schemas.microsoft.com/office/drawing/2014/main" id="{FE468FA5-9003-4E03-BF9F-A16C3F4CA497}"/>
              </a:ext>
            </a:extLst>
          </p:cNvPr>
          <p:cNvSpPr>
            <a:spLocks noGrp="1"/>
          </p:cNvSpPr>
          <p:nvPr/>
        </p:nvSpPr>
        <p:spPr>
          <a:xfrm>
            <a:off x="401002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8" name="矩形 57">
            <a:extLst>
              <a:ext uri="{FF2B5EF4-FFF2-40B4-BE49-F238E27FC236}">
                <a16:creationId xmlns:a16="http://schemas.microsoft.com/office/drawing/2014/main" id="{605B3EF6-1DF6-415D-A33B-84274EAFAB1E}"/>
              </a:ext>
            </a:extLst>
          </p:cNvPr>
          <p:cNvSpPr>
            <a:spLocks noGrp="1"/>
          </p:cNvSpPr>
          <p:nvPr/>
        </p:nvSpPr>
        <p:spPr>
          <a:xfrm>
            <a:off x="4295775" y="3200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59" name="矩形 58">
            <a:extLst>
              <a:ext uri="{FF2B5EF4-FFF2-40B4-BE49-F238E27FC236}">
                <a16:creationId xmlns:a16="http://schemas.microsoft.com/office/drawing/2014/main" id="{CDE3FED5-28AC-4325-9EF7-FB1F9341367B}"/>
              </a:ext>
            </a:extLst>
          </p:cNvPr>
          <p:cNvSpPr>
            <a:spLocks noGrp="1"/>
          </p:cNvSpPr>
          <p:nvPr/>
        </p:nvSpPr>
        <p:spPr>
          <a:xfrm>
            <a:off x="458152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60" name="矩形 59">
            <a:extLst>
              <a:ext uri="{FF2B5EF4-FFF2-40B4-BE49-F238E27FC236}">
                <a16:creationId xmlns:a16="http://schemas.microsoft.com/office/drawing/2014/main" id="{DA939A69-C814-4E1C-B280-CC17A9498E89}"/>
              </a:ext>
            </a:extLst>
          </p:cNvPr>
          <p:cNvSpPr>
            <a:spLocks noGrp="1"/>
          </p:cNvSpPr>
          <p:nvPr/>
        </p:nvSpPr>
        <p:spPr>
          <a:xfrm>
            <a:off x="143827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61" name="矩形 60">
            <a:extLst>
              <a:ext uri="{FF2B5EF4-FFF2-40B4-BE49-F238E27FC236}">
                <a16:creationId xmlns:a16="http://schemas.microsoft.com/office/drawing/2014/main" id="{12644CCD-7ED4-4B13-B1B1-E889C4384C35}"/>
              </a:ext>
            </a:extLst>
          </p:cNvPr>
          <p:cNvSpPr>
            <a:spLocks noGrp="1"/>
          </p:cNvSpPr>
          <p:nvPr/>
        </p:nvSpPr>
        <p:spPr>
          <a:xfrm>
            <a:off x="172402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62" name="矩形 61">
            <a:extLst>
              <a:ext uri="{FF2B5EF4-FFF2-40B4-BE49-F238E27FC236}">
                <a16:creationId xmlns:a16="http://schemas.microsoft.com/office/drawing/2014/main" id="{5AA58294-7FC8-4E06-9706-8D534A036D46}"/>
              </a:ext>
            </a:extLst>
          </p:cNvPr>
          <p:cNvSpPr>
            <a:spLocks noGrp="1"/>
          </p:cNvSpPr>
          <p:nvPr/>
        </p:nvSpPr>
        <p:spPr>
          <a:xfrm>
            <a:off x="200977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63" name="矩形 62">
            <a:extLst>
              <a:ext uri="{FF2B5EF4-FFF2-40B4-BE49-F238E27FC236}">
                <a16:creationId xmlns:a16="http://schemas.microsoft.com/office/drawing/2014/main" id="{F5DDCC54-74D0-4F28-8A78-DBB6EDAF6B5B}"/>
              </a:ext>
            </a:extLst>
          </p:cNvPr>
          <p:cNvSpPr>
            <a:spLocks noGrp="1"/>
          </p:cNvSpPr>
          <p:nvPr/>
        </p:nvSpPr>
        <p:spPr>
          <a:xfrm>
            <a:off x="229552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64" name="矩形 63">
            <a:extLst>
              <a:ext uri="{FF2B5EF4-FFF2-40B4-BE49-F238E27FC236}">
                <a16:creationId xmlns:a16="http://schemas.microsoft.com/office/drawing/2014/main" id="{FC8F3E63-C7B4-4FBF-AC6F-A766964262BB}"/>
              </a:ext>
            </a:extLst>
          </p:cNvPr>
          <p:cNvSpPr>
            <a:spLocks noGrp="1"/>
          </p:cNvSpPr>
          <p:nvPr/>
        </p:nvSpPr>
        <p:spPr>
          <a:xfrm>
            <a:off x="258127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65" name="矩形 64">
            <a:extLst>
              <a:ext uri="{FF2B5EF4-FFF2-40B4-BE49-F238E27FC236}">
                <a16:creationId xmlns:a16="http://schemas.microsoft.com/office/drawing/2014/main" id="{CABCD554-2410-445E-839A-DCA29E49C9C8}"/>
              </a:ext>
            </a:extLst>
          </p:cNvPr>
          <p:cNvSpPr>
            <a:spLocks noGrp="1"/>
          </p:cNvSpPr>
          <p:nvPr/>
        </p:nvSpPr>
        <p:spPr>
          <a:xfrm>
            <a:off x="286702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66" name="矩形 65">
            <a:extLst>
              <a:ext uri="{FF2B5EF4-FFF2-40B4-BE49-F238E27FC236}">
                <a16:creationId xmlns:a16="http://schemas.microsoft.com/office/drawing/2014/main" id="{5EF5EE29-E06E-4748-A898-E1F941888BDC}"/>
              </a:ext>
            </a:extLst>
          </p:cNvPr>
          <p:cNvSpPr>
            <a:spLocks noGrp="1"/>
          </p:cNvSpPr>
          <p:nvPr/>
        </p:nvSpPr>
        <p:spPr>
          <a:xfrm>
            <a:off x="315277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67" name="矩形 66">
            <a:extLst>
              <a:ext uri="{FF2B5EF4-FFF2-40B4-BE49-F238E27FC236}">
                <a16:creationId xmlns:a16="http://schemas.microsoft.com/office/drawing/2014/main" id="{9C9F2212-750C-44A8-886B-6CCC61650811}"/>
              </a:ext>
            </a:extLst>
          </p:cNvPr>
          <p:cNvSpPr>
            <a:spLocks noGrp="1"/>
          </p:cNvSpPr>
          <p:nvPr/>
        </p:nvSpPr>
        <p:spPr>
          <a:xfrm>
            <a:off x="343852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68" name="矩形 67">
            <a:extLst>
              <a:ext uri="{FF2B5EF4-FFF2-40B4-BE49-F238E27FC236}">
                <a16:creationId xmlns:a16="http://schemas.microsoft.com/office/drawing/2014/main" id="{01F76279-1D76-4F08-BD24-B49B97F8677C}"/>
              </a:ext>
            </a:extLst>
          </p:cNvPr>
          <p:cNvSpPr>
            <a:spLocks noGrp="1"/>
          </p:cNvSpPr>
          <p:nvPr/>
        </p:nvSpPr>
        <p:spPr>
          <a:xfrm>
            <a:off x="372427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69" name="矩形 68">
            <a:extLst>
              <a:ext uri="{FF2B5EF4-FFF2-40B4-BE49-F238E27FC236}">
                <a16:creationId xmlns:a16="http://schemas.microsoft.com/office/drawing/2014/main" id="{906A43D8-ABA1-4C68-91D5-A0E4B9DE30CE}"/>
              </a:ext>
            </a:extLst>
          </p:cNvPr>
          <p:cNvSpPr>
            <a:spLocks noGrp="1"/>
          </p:cNvSpPr>
          <p:nvPr/>
        </p:nvSpPr>
        <p:spPr>
          <a:xfrm>
            <a:off x="401002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70" name="矩形 69">
            <a:extLst>
              <a:ext uri="{FF2B5EF4-FFF2-40B4-BE49-F238E27FC236}">
                <a16:creationId xmlns:a16="http://schemas.microsoft.com/office/drawing/2014/main" id="{52E9F5FB-902D-4A4D-B9D3-375CC8E5AD93}"/>
              </a:ext>
            </a:extLst>
          </p:cNvPr>
          <p:cNvSpPr>
            <a:spLocks noGrp="1"/>
          </p:cNvSpPr>
          <p:nvPr/>
        </p:nvSpPr>
        <p:spPr>
          <a:xfrm>
            <a:off x="429577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71" name="矩形 70">
            <a:extLst>
              <a:ext uri="{FF2B5EF4-FFF2-40B4-BE49-F238E27FC236}">
                <a16:creationId xmlns:a16="http://schemas.microsoft.com/office/drawing/2014/main" id="{C5521F34-0EF6-47C7-947E-DFC548697AB8}"/>
              </a:ext>
            </a:extLst>
          </p:cNvPr>
          <p:cNvSpPr>
            <a:spLocks noGrp="1"/>
          </p:cNvSpPr>
          <p:nvPr/>
        </p:nvSpPr>
        <p:spPr>
          <a:xfrm>
            <a:off x="4581525" y="34861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72" name="矩形 71">
            <a:extLst>
              <a:ext uri="{FF2B5EF4-FFF2-40B4-BE49-F238E27FC236}">
                <a16:creationId xmlns:a16="http://schemas.microsoft.com/office/drawing/2014/main" id="{935979CE-7694-4476-BA7C-9B0D5C0D4FE3}"/>
              </a:ext>
            </a:extLst>
          </p:cNvPr>
          <p:cNvSpPr>
            <a:spLocks noGrp="1"/>
          </p:cNvSpPr>
          <p:nvPr/>
        </p:nvSpPr>
        <p:spPr>
          <a:xfrm>
            <a:off x="143827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73" name="矩形 72">
            <a:extLst>
              <a:ext uri="{FF2B5EF4-FFF2-40B4-BE49-F238E27FC236}">
                <a16:creationId xmlns:a16="http://schemas.microsoft.com/office/drawing/2014/main" id="{36B0B027-6B68-48B5-AF19-615A0BCD03CF}"/>
              </a:ext>
            </a:extLst>
          </p:cNvPr>
          <p:cNvSpPr>
            <a:spLocks noGrp="1"/>
          </p:cNvSpPr>
          <p:nvPr/>
        </p:nvSpPr>
        <p:spPr>
          <a:xfrm>
            <a:off x="172402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74" name="矩形 73">
            <a:extLst>
              <a:ext uri="{FF2B5EF4-FFF2-40B4-BE49-F238E27FC236}">
                <a16:creationId xmlns:a16="http://schemas.microsoft.com/office/drawing/2014/main" id="{F79F16DD-4117-4516-BBFE-63292BFC3A8B}"/>
              </a:ext>
            </a:extLst>
          </p:cNvPr>
          <p:cNvSpPr>
            <a:spLocks noGrp="1"/>
          </p:cNvSpPr>
          <p:nvPr/>
        </p:nvSpPr>
        <p:spPr>
          <a:xfrm>
            <a:off x="200977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75" name="矩形 74">
            <a:extLst>
              <a:ext uri="{FF2B5EF4-FFF2-40B4-BE49-F238E27FC236}">
                <a16:creationId xmlns:a16="http://schemas.microsoft.com/office/drawing/2014/main" id="{83E78C79-C8D6-41CD-90F8-58C866EAA780}"/>
              </a:ext>
            </a:extLst>
          </p:cNvPr>
          <p:cNvSpPr>
            <a:spLocks noGrp="1"/>
          </p:cNvSpPr>
          <p:nvPr/>
        </p:nvSpPr>
        <p:spPr>
          <a:xfrm>
            <a:off x="229552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76" name="矩形 75">
            <a:extLst>
              <a:ext uri="{FF2B5EF4-FFF2-40B4-BE49-F238E27FC236}">
                <a16:creationId xmlns:a16="http://schemas.microsoft.com/office/drawing/2014/main" id="{B1741DE4-C059-4E60-ACCF-D7114CADB797}"/>
              </a:ext>
            </a:extLst>
          </p:cNvPr>
          <p:cNvSpPr>
            <a:spLocks noGrp="1"/>
          </p:cNvSpPr>
          <p:nvPr/>
        </p:nvSpPr>
        <p:spPr>
          <a:xfrm>
            <a:off x="258127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77" name="矩形 76">
            <a:extLst>
              <a:ext uri="{FF2B5EF4-FFF2-40B4-BE49-F238E27FC236}">
                <a16:creationId xmlns:a16="http://schemas.microsoft.com/office/drawing/2014/main" id="{09ACEFBD-2D5C-4D8F-A03D-39C170E7A58B}"/>
              </a:ext>
            </a:extLst>
          </p:cNvPr>
          <p:cNvSpPr>
            <a:spLocks noGrp="1"/>
          </p:cNvSpPr>
          <p:nvPr/>
        </p:nvSpPr>
        <p:spPr>
          <a:xfrm>
            <a:off x="286702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78" name="矩形 77">
            <a:extLst>
              <a:ext uri="{FF2B5EF4-FFF2-40B4-BE49-F238E27FC236}">
                <a16:creationId xmlns:a16="http://schemas.microsoft.com/office/drawing/2014/main" id="{9AA12C60-B3D0-4B82-A984-593754CDAA6F}"/>
              </a:ext>
            </a:extLst>
          </p:cNvPr>
          <p:cNvSpPr>
            <a:spLocks noGrp="1"/>
          </p:cNvSpPr>
          <p:nvPr/>
        </p:nvSpPr>
        <p:spPr>
          <a:xfrm>
            <a:off x="315277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79" name="矩形 78">
            <a:extLst>
              <a:ext uri="{FF2B5EF4-FFF2-40B4-BE49-F238E27FC236}">
                <a16:creationId xmlns:a16="http://schemas.microsoft.com/office/drawing/2014/main" id="{335AADEB-C180-46D9-8A90-5FFA4E5BFA08}"/>
              </a:ext>
            </a:extLst>
          </p:cNvPr>
          <p:cNvSpPr>
            <a:spLocks noGrp="1"/>
          </p:cNvSpPr>
          <p:nvPr/>
        </p:nvSpPr>
        <p:spPr>
          <a:xfrm>
            <a:off x="343852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80" name="矩形 79">
            <a:extLst>
              <a:ext uri="{FF2B5EF4-FFF2-40B4-BE49-F238E27FC236}">
                <a16:creationId xmlns:a16="http://schemas.microsoft.com/office/drawing/2014/main" id="{445AED25-175A-4628-AEC7-A028F906E136}"/>
              </a:ext>
            </a:extLst>
          </p:cNvPr>
          <p:cNvSpPr>
            <a:spLocks noGrp="1"/>
          </p:cNvSpPr>
          <p:nvPr/>
        </p:nvSpPr>
        <p:spPr>
          <a:xfrm>
            <a:off x="372427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81" name="矩形 80">
            <a:extLst>
              <a:ext uri="{FF2B5EF4-FFF2-40B4-BE49-F238E27FC236}">
                <a16:creationId xmlns:a16="http://schemas.microsoft.com/office/drawing/2014/main" id="{515B239B-4A0B-4F23-9BC8-95B451ED9B20}"/>
              </a:ext>
            </a:extLst>
          </p:cNvPr>
          <p:cNvSpPr>
            <a:spLocks noGrp="1"/>
          </p:cNvSpPr>
          <p:nvPr/>
        </p:nvSpPr>
        <p:spPr>
          <a:xfrm>
            <a:off x="401002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82" name="矩形 81">
            <a:extLst>
              <a:ext uri="{FF2B5EF4-FFF2-40B4-BE49-F238E27FC236}">
                <a16:creationId xmlns:a16="http://schemas.microsoft.com/office/drawing/2014/main" id="{0B5FDE78-1B43-464F-AA24-C57EE1C89E99}"/>
              </a:ext>
            </a:extLst>
          </p:cNvPr>
          <p:cNvSpPr>
            <a:spLocks noGrp="1"/>
          </p:cNvSpPr>
          <p:nvPr/>
        </p:nvSpPr>
        <p:spPr>
          <a:xfrm>
            <a:off x="429577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83" name="矩形 82">
            <a:extLst>
              <a:ext uri="{FF2B5EF4-FFF2-40B4-BE49-F238E27FC236}">
                <a16:creationId xmlns:a16="http://schemas.microsoft.com/office/drawing/2014/main" id="{9795CDD5-8E20-4D62-92AB-179AA4AD14B3}"/>
              </a:ext>
            </a:extLst>
          </p:cNvPr>
          <p:cNvSpPr>
            <a:spLocks noGrp="1"/>
          </p:cNvSpPr>
          <p:nvPr/>
        </p:nvSpPr>
        <p:spPr>
          <a:xfrm>
            <a:off x="4581525" y="37719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84" name="矩形 83">
            <a:extLst>
              <a:ext uri="{FF2B5EF4-FFF2-40B4-BE49-F238E27FC236}">
                <a16:creationId xmlns:a16="http://schemas.microsoft.com/office/drawing/2014/main" id="{DD3C026A-218D-4221-B3BE-4F81E325B2E2}"/>
              </a:ext>
            </a:extLst>
          </p:cNvPr>
          <p:cNvSpPr>
            <a:spLocks noGrp="1"/>
          </p:cNvSpPr>
          <p:nvPr/>
        </p:nvSpPr>
        <p:spPr>
          <a:xfrm>
            <a:off x="143827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85" name="矩形 84">
            <a:extLst>
              <a:ext uri="{FF2B5EF4-FFF2-40B4-BE49-F238E27FC236}">
                <a16:creationId xmlns:a16="http://schemas.microsoft.com/office/drawing/2014/main" id="{1362796E-AE89-4E78-8952-C297B1AB74A4}"/>
              </a:ext>
            </a:extLst>
          </p:cNvPr>
          <p:cNvSpPr>
            <a:spLocks noGrp="1"/>
          </p:cNvSpPr>
          <p:nvPr/>
        </p:nvSpPr>
        <p:spPr>
          <a:xfrm>
            <a:off x="172402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86" name="矩形 85">
            <a:extLst>
              <a:ext uri="{FF2B5EF4-FFF2-40B4-BE49-F238E27FC236}">
                <a16:creationId xmlns:a16="http://schemas.microsoft.com/office/drawing/2014/main" id="{F0AD9D9D-B41E-4986-A72F-9D6E72B030AC}"/>
              </a:ext>
            </a:extLst>
          </p:cNvPr>
          <p:cNvSpPr>
            <a:spLocks noGrp="1"/>
          </p:cNvSpPr>
          <p:nvPr/>
        </p:nvSpPr>
        <p:spPr>
          <a:xfrm>
            <a:off x="200977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87" name="矩形 86">
            <a:extLst>
              <a:ext uri="{FF2B5EF4-FFF2-40B4-BE49-F238E27FC236}">
                <a16:creationId xmlns:a16="http://schemas.microsoft.com/office/drawing/2014/main" id="{5A3530B9-5DF6-43CA-825B-F1CEEB11051A}"/>
              </a:ext>
            </a:extLst>
          </p:cNvPr>
          <p:cNvSpPr>
            <a:spLocks noGrp="1"/>
          </p:cNvSpPr>
          <p:nvPr/>
        </p:nvSpPr>
        <p:spPr>
          <a:xfrm>
            <a:off x="229552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88" name="矩形 87">
            <a:extLst>
              <a:ext uri="{FF2B5EF4-FFF2-40B4-BE49-F238E27FC236}">
                <a16:creationId xmlns:a16="http://schemas.microsoft.com/office/drawing/2014/main" id="{F9DBBF00-B45E-481E-9E4A-EEE0E95632AF}"/>
              </a:ext>
            </a:extLst>
          </p:cNvPr>
          <p:cNvSpPr>
            <a:spLocks noGrp="1"/>
          </p:cNvSpPr>
          <p:nvPr/>
        </p:nvSpPr>
        <p:spPr>
          <a:xfrm>
            <a:off x="258127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89" name="矩形 88">
            <a:extLst>
              <a:ext uri="{FF2B5EF4-FFF2-40B4-BE49-F238E27FC236}">
                <a16:creationId xmlns:a16="http://schemas.microsoft.com/office/drawing/2014/main" id="{19B4DFA8-B0AC-4852-B55F-20CC8B2D954C}"/>
              </a:ext>
            </a:extLst>
          </p:cNvPr>
          <p:cNvSpPr>
            <a:spLocks noGrp="1"/>
          </p:cNvSpPr>
          <p:nvPr/>
        </p:nvSpPr>
        <p:spPr>
          <a:xfrm>
            <a:off x="286702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90" name="矩形 89">
            <a:extLst>
              <a:ext uri="{FF2B5EF4-FFF2-40B4-BE49-F238E27FC236}">
                <a16:creationId xmlns:a16="http://schemas.microsoft.com/office/drawing/2014/main" id="{E4D84272-FEC9-41B3-99DD-0473ECA55A8A}"/>
              </a:ext>
            </a:extLst>
          </p:cNvPr>
          <p:cNvSpPr>
            <a:spLocks noGrp="1"/>
          </p:cNvSpPr>
          <p:nvPr/>
        </p:nvSpPr>
        <p:spPr>
          <a:xfrm>
            <a:off x="315277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91" name="矩形 90">
            <a:extLst>
              <a:ext uri="{FF2B5EF4-FFF2-40B4-BE49-F238E27FC236}">
                <a16:creationId xmlns:a16="http://schemas.microsoft.com/office/drawing/2014/main" id="{D10FD6DB-EB52-46AF-9E84-57AF46856085}"/>
              </a:ext>
            </a:extLst>
          </p:cNvPr>
          <p:cNvSpPr>
            <a:spLocks noGrp="1"/>
          </p:cNvSpPr>
          <p:nvPr/>
        </p:nvSpPr>
        <p:spPr>
          <a:xfrm>
            <a:off x="343852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92" name="矩形 91">
            <a:extLst>
              <a:ext uri="{FF2B5EF4-FFF2-40B4-BE49-F238E27FC236}">
                <a16:creationId xmlns:a16="http://schemas.microsoft.com/office/drawing/2014/main" id="{FD776E92-5720-4B50-9248-63BC209D7E39}"/>
              </a:ext>
            </a:extLst>
          </p:cNvPr>
          <p:cNvSpPr>
            <a:spLocks noGrp="1"/>
          </p:cNvSpPr>
          <p:nvPr/>
        </p:nvSpPr>
        <p:spPr>
          <a:xfrm>
            <a:off x="372427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93" name="矩形 92">
            <a:extLst>
              <a:ext uri="{FF2B5EF4-FFF2-40B4-BE49-F238E27FC236}">
                <a16:creationId xmlns:a16="http://schemas.microsoft.com/office/drawing/2014/main" id="{F0505654-7DC6-42C4-882A-4864D05FB676}"/>
              </a:ext>
            </a:extLst>
          </p:cNvPr>
          <p:cNvSpPr>
            <a:spLocks noGrp="1"/>
          </p:cNvSpPr>
          <p:nvPr/>
        </p:nvSpPr>
        <p:spPr>
          <a:xfrm>
            <a:off x="401002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94" name="矩形 93">
            <a:extLst>
              <a:ext uri="{FF2B5EF4-FFF2-40B4-BE49-F238E27FC236}">
                <a16:creationId xmlns:a16="http://schemas.microsoft.com/office/drawing/2014/main" id="{610FC796-550E-453A-9E86-25A0A3E5E3EB}"/>
              </a:ext>
            </a:extLst>
          </p:cNvPr>
          <p:cNvSpPr>
            <a:spLocks noGrp="1"/>
          </p:cNvSpPr>
          <p:nvPr/>
        </p:nvSpPr>
        <p:spPr>
          <a:xfrm>
            <a:off x="429577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95" name="矩形 94">
            <a:extLst>
              <a:ext uri="{FF2B5EF4-FFF2-40B4-BE49-F238E27FC236}">
                <a16:creationId xmlns:a16="http://schemas.microsoft.com/office/drawing/2014/main" id="{7E5DCC18-4352-4A8F-B47B-E98D173D1457}"/>
              </a:ext>
            </a:extLst>
          </p:cNvPr>
          <p:cNvSpPr>
            <a:spLocks noGrp="1"/>
          </p:cNvSpPr>
          <p:nvPr/>
        </p:nvSpPr>
        <p:spPr>
          <a:xfrm>
            <a:off x="4581525" y="405765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96" name="矩形 95">
            <a:extLst>
              <a:ext uri="{FF2B5EF4-FFF2-40B4-BE49-F238E27FC236}">
                <a16:creationId xmlns:a16="http://schemas.microsoft.com/office/drawing/2014/main" id="{4190DFF6-E344-4C6F-9AA5-50FC5249D131}"/>
              </a:ext>
            </a:extLst>
          </p:cNvPr>
          <p:cNvSpPr>
            <a:spLocks noGrp="1"/>
          </p:cNvSpPr>
          <p:nvPr/>
        </p:nvSpPr>
        <p:spPr>
          <a:xfrm>
            <a:off x="143827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97" name="矩形 96">
            <a:extLst>
              <a:ext uri="{FF2B5EF4-FFF2-40B4-BE49-F238E27FC236}">
                <a16:creationId xmlns:a16="http://schemas.microsoft.com/office/drawing/2014/main" id="{231DB4EB-3467-4659-96D0-E932F344D434}"/>
              </a:ext>
            </a:extLst>
          </p:cNvPr>
          <p:cNvSpPr>
            <a:spLocks noGrp="1"/>
          </p:cNvSpPr>
          <p:nvPr/>
        </p:nvSpPr>
        <p:spPr>
          <a:xfrm>
            <a:off x="172402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98" name="矩形 97">
            <a:extLst>
              <a:ext uri="{FF2B5EF4-FFF2-40B4-BE49-F238E27FC236}">
                <a16:creationId xmlns:a16="http://schemas.microsoft.com/office/drawing/2014/main" id="{7FD20119-F891-48A0-806C-313B57EDDF18}"/>
              </a:ext>
            </a:extLst>
          </p:cNvPr>
          <p:cNvSpPr>
            <a:spLocks noGrp="1"/>
          </p:cNvSpPr>
          <p:nvPr/>
        </p:nvSpPr>
        <p:spPr>
          <a:xfrm>
            <a:off x="200977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99" name="矩形 98">
            <a:extLst>
              <a:ext uri="{FF2B5EF4-FFF2-40B4-BE49-F238E27FC236}">
                <a16:creationId xmlns:a16="http://schemas.microsoft.com/office/drawing/2014/main" id="{F556380A-9B86-4F47-97F1-2C576491347A}"/>
              </a:ext>
            </a:extLst>
          </p:cNvPr>
          <p:cNvSpPr>
            <a:spLocks noGrp="1"/>
          </p:cNvSpPr>
          <p:nvPr/>
        </p:nvSpPr>
        <p:spPr>
          <a:xfrm>
            <a:off x="229552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00" name="矩形 99">
            <a:extLst>
              <a:ext uri="{FF2B5EF4-FFF2-40B4-BE49-F238E27FC236}">
                <a16:creationId xmlns:a16="http://schemas.microsoft.com/office/drawing/2014/main" id="{C93AFEB3-7591-48E2-A0FB-6070F6F14673}"/>
              </a:ext>
            </a:extLst>
          </p:cNvPr>
          <p:cNvSpPr>
            <a:spLocks noGrp="1"/>
          </p:cNvSpPr>
          <p:nvPr/>
        </p:nvSpPr>
        <p:spPr>
          <a:xfrm>
            <a:off x="258127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01" name="矩形 100">
            <a:extLst>
              <a:ext uri="{FF2B5EF4-FFF2-40B4-BE49-F238E27FC236}">
                <a16:creationId xmlns:a16="http://schemas.microsoft.com/office/drawing/2014/main" id="{BAC33F29-626A-4DA5-A18F-4F15891A087B}"/>
              </a:ext>
            </a:extLst>
          </p:cNvPr>
          <p:cNvSpPr>
            <a:spLocks noGrp="1"/>
          </p:cNvSpPr>
          <p:nvPr/>
        </p:nvSpPr>
        <p:spPr>
          <a:xfrm>
            <a:off x="286702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02" name="矩形 101">
            <a:extLst>
              <a:ext uri="{FF2B5EF4-FFF2-40B4-BE49-F238E27FC236}">
                <a16:creationId xmlns:a16="http://schemas.microsoft.com/office/drawing/2014/main" id="{4A566996-7665-485C-A532-FE2DB4F14BC9}"/>
              </a:ext>
            </a:extLst>
          </p:cNvPr>
          <p:cNvSpPr>
            <a:spLocks noGrp="1"/>
          </p:cNvSpPr>
          <p:nvPr/>
        </p:nvSpPr>
        <p:spPr>
          <a:xfrm>
            <a:off x="315277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03" name="矩形 102">
            <a:extLst>
              <a:ext uri="{FF2B5EF4-FFF2-40B4-BE49-F238E27FC236}">
                <a16:creationId xmlns:a16="http://schemas.microsoft.com/office/drawing/2014/main" id="{18FB0AD3-465B-4EB1-93AA-B30EDCF946F2}"/>
              </a:ext>
            </a:extLst>
          </p:cNvPr>
          <p:cNvSpPr>
            <a:spLocks noGrp="1"/>
          </p:cNvSpPr>
          <p:nvPr/>
        </p:nvSpPr>
        <p:spPr>
          <a:xfrm>
            <a:off x="343852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04" name="矩形 103">
            <a:extLst>
              <a:ext uri="{FF2B5EF4-FFF2-40B4-BE49-F238E27FC236}">
                <a16:creationId xmlns:a16="http://schemas.microsoft.com/office/drawing/2014/main" id="{6DECB160-15AE-4BDF-8D37-5F75590C6119}"/>
              </a:ext>
            </a:extLst>
          </p:cNvPr>
          <p:cNvSpPr>
            <a:spLocks noGrp="1"/>
          </p:cNvSpPr>
          <p:nvPr/>
        </p:nvSpPr>
        <p:spPr>
          <a:xfrm>
            <a:off x="372427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05" name="矩形 104">
            <a:extLst>
              <a:ext uri="{FF2B5EF4-FFF2-40B4-BE49-F238E27FC236}">
                <a16:creationId xmlns:a16="http://schemas.microsoft.com/office/drawing/2014/main" id="{32119C20-1B01-44AA-993E-4312E062A693}"/>
              </a:ext>
            </a:extLst>
          </p:cNvPr>
          <p:cNvSpPr>
            <a:spLocks noGrp="1"/>
          </p:cNvSpPr>
          <p:nvPr/>
        </p:nvSpPr>
        <p:spPr>
          <a:xfrm>
            <a:off x="401002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06" name="矩形 105">
            <a:extLst>
              <a:ext uri="{FF2B5EF4-FFF2-40B4-BE49-F238E27FC236}">
                <a16:creationId xmlns:a16="http://schemas.microsoft.com/office/drawing/2014/main" id="{6B26AD54-45B8-47DA-826E-43EB0623E53C}"/>
              </a:ext>
            </a:extLst>
          </p:cNvPr>
          <p:cNvSpPr>
            <a:spLocks noGrp="1"/>
          </p:cNvSpPr>
          <p:nvPr/>
        </p:nvSpPr>
        <p:spPr>
          <a:xfrm>
            <a:off x="429577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07" name="矩形 106">
            <a:extLst>
              <a:ext uri="{FF2B5EF4-FFF2-40B4-BE49-F238E27FC236}">
                <a16:creationId xmlns:a16="http://schemas.microsoft.com/office/drawing/2014/main" id="{EC9F831B-BD3F-4813-8986-CCD1CB3F37F8}"/>
              </a:ext>
            </a:extLst>
          </p:cNvPr>
          <p:cNvSpPr>
            <a:spLocks noGrp="1"/>
          </p:cNvSpPr>
          <p:nvPr/>
        </p:nvSpPr>
        <p:spPr>
          <a:xfrm>
            <a:off x="4581525" y="4343400"/>
            <a:ext cx="266700" cy="266700"/>
          </a:xfrm>
          <a:prstGeom prst="rect">
            <a:avLst/>
          </a:prstGeom>
          <a:solidFill>
            <a:srgbClr val="5B8CC0"/>
          </a:solidFill>
          <a:ln w="9525">
            <a:solidFill>
              <a:srgbClr val="CFD7E2"/>
            </a:solidFill>
            <a:prstDash val="solid"/>
          </a:ln>
        </p:spPr>
        <p:txBody>
          <a:bodyPr/>
          <a:lstStyle/>
          <a:p>
            <a:endParaRPr lang="zh-CN" altLang="en-US"/>
          </a:p>
        </p:txBody>
      </p:sp>
      <p:sp>
        <p:nvSpPr>
          <p:cNvPr id="108" name="矩形 107">
            <a:extLst>
              <a:ext uri="{FF2B5EF4-FFF2-40B4-BE49-F238E27FC236}">
                <a16:creationId xmlns:a16="http://schemas.microsoft.com/office/drawing/2014/main" id="{236B4752-D4EA-423B-8323-BA4501DA11D6}"/>
              </a:ext>
            </a:extLst>
          </p:cNvPr>
          <p:cNvSpPr>
            <a:spLocks noGrp="1"/>
          </p:cNvSpPr>
          <p:nvPr/>
        </p:nvSpPr>
        <p:spPr>
          <a:xfrm>
            <a:off x="698182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09" name="矩形 108">
            <a:extLst>
              <a:ext uri="{FF2B5EF4-FFF2-40B4-BE49-F238E27FC236}">
                <a16:creationId xmlns:a16="http://schemas.microsoft.com/office/drawing/2014/main" id="{A170D938-DE84-4741-946D-25FDF5DDA7F3}"/>
              </a:ext>
            </a:extLst>
          </p:cNvPr>
          <p:cNvSpPr>
            <a:spLocks noGrp="1"/>
          </p:cNvSpPr>
          <p:nvPr/>
        </p:nvSpPr>
        <p:spPr>
          <a:xfrm>
            <a:off x="7267575" y="234315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10" name="矩形 109">
            <a:extLst>
              <a:ext uri="{FF2B5EF4-FFF2-40B4-BE49-F238E27FC236}">
                <a16:creationId xmlns:a16="http://schemas.microsoft.com/office/drawing/2014/main" id="{4FEC585D-B5FF-42D8-9615-365014856452}"/>
              </a:ext>
            </a:extLst>
          </p:cNvPr>
          <p:cNvSpPr>
            <a:spLocks noGrp="1"/>
          </p:cNvSpPr>
          <p:nvPr/>
        </p:nvSpPr>
        <p:spPr>
          <a:xfrm>
            <a:off x="755332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11" name="矩形 110">
            <a:extLst>
              <a:ext uri="{FF2B5EF4-FFF2-40B4-BE49-F238E27FC236}">
                <a16:creationId xmlns:a16="http://schemas.microsoft.com/office/drawing/2014/main" id="{653852D7-946C-4A87-B588-58705FACD089}"/>
              </a:ext>
            </a:extLst>
          </p:cNvPr>
          <p:cNvSpPr>
            <a:spLocks noGrp="1"/>
          </p:cNvSpPr>
          <p:nvPr/>
        </p:nvSpPr>
        <p:spPr>
          <a:xfrm>
            <a:off x="783907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12" name="矩形 111">
            <a:extLst>
              <a:ext uri="{FF2B5EF4-FFF2-40B4-BE49-F238E27FC236}">
                <a16:creationId xmlns:a16="http://schemas.microsoft.com/office/drawing/2014/main" id="{91C5B94D-879A-4D1E-A18B-21E018C3B802}"/>
              </a:ext>
            </a:extLst>
          </p:cNvPr>
          <p:cNvSpPr>
            <a:spLocks noGrp="1"/>
          </p:cNvSpPr>
          <p:nvPr/>
        </p:nvSpPr>
        <p:spPr>
          <a:xfrm>
            <a:off x="812482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13" name="矩形 112">
            <a:extLst>
              <a:ext uri="{FF2B5EF4-FFF2-40B4-BE49-F238E27FC236}">
                <a16:creationId xmlns:a16="http://schemas.microsoft.com/office/drawing/2014/main" id="{937AD5D1-6120-4DCF-97CB-5855086B5863}"/>
              </a:ext>
            </a:extLst>
          </p:cNvPr>
          <p:cNvSpPr>
            <a:spLocks noGrp="1"/>
          </p:cNvSpPr>
          <p:nvPr/>
        </p:nvSpPr>
        <p:spPr>
          <a:xfrm>
            <a:off x="841057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14" name="矩形 113">
            <a:extLst>
              <a:ext uri="{FF2B5EF4-FFF2-40B4-BE49-F238E27FC236}">
                <a16:creationId xmlns:a16="http://schemas.microsoft.com/office/drawing/2014/main" id="{1DD0ECFC-9D74-4A02-A28F-9F3CBE9DDF56}"/>
              </a:ext>
            </a:extLst>
          </p:cNvPr>
          <p:cNvSpPr>
            <a:spLocks noGrp="1"/>
          </p:cNvSpPr>
          <p:nvPr/>
        </p:nvSpPr>
        <p:spPr>
          <a:xfrm>
            <a:off x="869632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15" name="矩形 114">
            <a:extLst>
              <a:ext uri="{FF2B5EF4-FFF2-40B4-BE49-F238E27FC236}">
                <a16:creationId xmlns:a16="http://schemas.microsoft.com/office/drawing/2014/main" id="{BA752584-17DC-4B75-A8AA-E197DA3D3B2F}"/>
              </a:ext>
            </a:extLst>
          </p:cNvPr>
          <p:cNvSpPr>
            <a:spLocks noGrp="1"/>
          </p:cNvSpPr>
          <p:nvPr/>
        </p:nvSpPr>
        <p:spPr>
          <a:xfrm>
            <a:off x="898207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16" name="矩形 115">
            <a:extLst>
              <a:ext uri="{FF2B5EF4-FFF2-40B4-BE49-F238E27FC236}">
                <a16:creationId xmlns:a16="http://schemas.microsoft.com/office/drawing/2014/main" id="{9282EB3E-CF6D-491B-ADEE-AFE4C7DB5B7D}"/>
              </a:ext>
            </a:extLst>
          </p:cNvPr>
          <p:cNvSpPr>
            <a:spLocks noGrp="1"/>
          </p:cNvSpPr>
          <p:nvPr/>
        </p:nvSpPr>
        <p:spPr>
          <a:xfrm>
            <a:off x="9267825" y="234315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17" name="矩形 116">
            <a:extLst>
              <a:ext uri="{FF2B5EF4-FFF2-40B4-BE49-F238E27FC236}">
                <a16:creationId xmlns:a16="http://schemas.microsoft.com/office/drawing/2014/main" id="{38E77992-C863-4655-8BA2-2596167E53FC}"/>
              </a:ext>
            </a:extLst>
          </p:cNvPr>
          <p:cNvSpPr>
            <a:spLocks noGrp="1"/>
          </p:cNvSpPr>
          <p:nvPr/>
        </p:nvSpPr>
        <p:spPr>
          <a:xfrm>
            <a:off x="955357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18" name="矩形 117">
            <a:extLst>
              <a:ext uri="{FF2B5EF4-FFF2-40B4-BE49-F238E27FC236}">
                <a16:creationId xmlns:a16="http://schemas.microsoft.com/office/drawing/2014/main" id="{9D8320C1-D31D-4A73-8D96-B899CA6B8152}"/>
              </a:ext>
            </a:extLst>
          </p:cNvPr>
          <p:cNvSpPr>
            <a:spLocks noGrp="1"/>
          </p:cNvSpPr>
          <p:nvPr/>
        </p:nvSpPr>
        <p:spPr>
          <a:xfrm>
            <a:off x="983932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19" name="矩形 118">
            <a:extLst>
              <a:ext uri="{FF2B5EF4-FFF2-40B4-BE49-F238E27FC236}">
                <a16:creationId xmlns:a16="http://schemas.microsoft.com/office/drawing/2014/main" id="{2AA59D08-46CB-4116-BFB3-670B57A9BB0E}"/>
              </a:ext>
            </a:extLst>
          </p:cNvPr>
          <p:cNvSpPr>
            <a:spLocks noGrp="1"/>
          </p:cNvSpPr>
          <p:nvPr/>
        </p:nvSpPr>
        <p:spPr>
          <a:xfrm>
            <a:off x="10125075" y="2343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0" name="矩形 119">
            <a:extLst>
              <a:ext uri="{FF2B5EF4-FFF2-40B4-BE49-F238E27FC236}">
                <a16:creationId xmlns:a16="http://schemas.microsoft.com/office/drawing/2014/main" id="{549F0EB7-9B2C-407D-822E-836420B339C0}"/>
              </a:ext>
            </a:extLst>
          </p:cNvPr>
          <p:cNvSpPr>
            <a:spLocks noGrp="1"/>
          </p:cNvSpPr>
          <p:nvPr/>
        </p:nvSpPr>
        <p:spPr>
          <a:xfrm>
            <a:off x="698182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1" name="矩形 120">
            <a:extLst>
              <a:ext uri="{FF2B5EF4-FFF2-40B4-BE49-F238E27FC236}">
                <a16:creationId xmlns:a16="http://schemas.microsoft.com/office/drawing/2014/main" id="{E1F97947-58DE-480A-87BB-B7B0DF59DED9}"/>
              </a:ext>
            </a:extLst>
          </p:cNvPr>
          <p:cNvSpPr>
            <a:spLocks noGrp="1"/>
          </p:cNvSpPr>
          <p:nvPr/>
        </p:nvSpPr>
        <p:spPr>
          <a:xfrm>
            <a:off x="726757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2" name="矩形 121">
            <a:extLst>
              <a:ext uri="{FF2B5EF4-FFF2-40B4-BE49-F238E27FC236}">
                <a16:creationId xmlns:a16="http://schemas.microsoft.com/office/drawing/2014/main" id="{317C5748-0EA1-4D64-A18C-7373AB02450F}"/>
              </a:ext>
            </a:extLst>
          </p:cNvPr>
          <p:cNvSpPr>
            <a:spLocks noGrp="1"/>
          </p:cNvSpPr>
          <p:nvPr/>
        </p:nvSpPr>
        <p:spPr>
          <a:xfrm>
            <a:off x="755332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3" name="矩形 122">
            <a:extLst>
              <a:ext uri="{FF2B5EF4-FFF2-40B4-BE49-F238E27FC236}">
                <a16:creationId xmlns:a16="http://schemas.microsoft.com/office/drawing/2014/main" id="{E2BF4BC1-3F9F-4CC2-B37F-9105A17143E6}"/>
              </a:ext>
            </a:extLst>
          </p:cNvPr>
          <p:cNvSpPr>
            <a:spLocks noGrp="1"/>
          </p:cNvSpPr>
          <p:nvPr/>
        </p:nvSpPr>
        <p:spPr>
          <a:xfrm>
            <a:off x="783907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4" name="矩形 123">
            <a:extLst>
              <a:ext uri="{FF2B5EF4-FFF2-40B4-BE49-F238E27FC236}">
                <a16:creationId xmlns:a16="http://schemas.microsoft.com/office/drawing/2014/main" id="{0E598D8C-3DDE-4E5B-AAA2-892F74668C98}"/>
              </a:ext>
            </a:extLst>
          </p:cNvPr>
          <p:cNvSpPr>
            <a:spLocks noGrp="1"/>
          </p:cNvSpPr>
          <p:nvPr/>
        </p:nvSpPr>
        <p:spPr>
          <a:xfrm>
            <a:off x="8124825" y="262890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25" name="矩形 124">
            <a:extLst>
              <a:ext uri="{FF2B5EF4-FFF2-40B4-BE49-F238E27FC236}">
                <a16:creationId xmlns:a16="http://schemas.microsoft.com/office/drawing/2014/main" id="{C8034AC9-F828-4D35-A509-89FD527FFA1D}"/>
              </a:ext>
            </a:extLst>
          </p:cNvPr>
          <p:cNvSpPr>
            <a:spLocks noGrp="1"/>
          </p:cNvSpPr>
          <p:nvPr/>
        </p:nvSpPr>
        <p:spPr>
          <a:xfrm>
            <a:off x="841057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6" name="矩形 125">
            <a:extLst>
              <a:ext uri="{FF2B5EF4-FFF2-40B4-BE49-F238E27FC236}">
                <a16:creationId xmlns:a16="http://schemas.microsoft.com/office/drawing/2014/main" id="{A1D2BA69-99F2-4DFA-9F71-65026554C348}"/>
              </a:ext>
            </a:extLst>
          </p:cNvPr>
          <p:cNvSpPr>
            <a:spLocks noGrp="1"/>
          </p:cNvSpPr>
          <p:nvPr/>
        </p:nvSpPr>
        <p:spPr>
          <a:xfrm>
            <a:off x="869632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7" name="矩形 126">
            <a:extLst>
              <a:ext uri="{FF2B5EF4-FFF2-40B4-BE49-F238E27FC236}">
                <a16:creationId xmlns:a16="http://schemas.microsoft.com/office/drawing/2014/main" id="{C13DBC04-FFE8-442E-90FC-3E542F6C0217}"/>
              </a:ext>
            </a:extLst>
          </p:cNvPr>
          <p:cNvSpPr>
            <a:spLocks noGrp="1"/>
          </p:cNvSpPr>
          <p:nvPr/>
        </p:nvSpPr>
        <p:spPr>
          <a:xfrm>
            <a:off x="898207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8" name="矩形 127">
            <a:extLst>
              <a:ext uri="{FF2B5EF4-FFF2-40B4-BE49-F238E27FC236}">
                <a16:creationId xmlns:a16="http://schemas.microsoft.com/office/drawing/2014/main" id="{B6F7862A-24CE-4107-BC0D-08C114873F09}"/>
              </a:ext>
            </a:extLst>
          </p:cNvPr>
          <p:cNvSpPr>
            <a:spLocks noGrp="1"/>
          </p:cNvSpPr>
          <p:nvPr/>
        </p:nvSpPr>
        <p:spPr>
          <a:xfrm>
            <a:off x="926782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29" name="矩形 128">
            <a:extLst>
              <a:ext uri="{FF2B5EF4-FFF2-40B4-BE49-F238E27FC236}">
                <a16:creationId xmlns:a16="http://schemas.microsoft.com/office/drawing/2014/main" id="{87667550-107D-4023-BC60-B21F7591DCEF}"/>
              </a:ext>
            </a:extLst>
          </p:cNvPr>
          <p:cNvSpPr>
            <a:spLocks noGrp="1"/>
          </p:cNvSpPr>
          <p:nvPr/>
        </p:nvSpPr>
        <p:spPr>
          <a:xfrm>
            <a:off x="955357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0" name="矩形 129">
            <a:extLst>
              <a:ext uri="{FF2B5EF4-FFF2-40B4-BE49-F238E27FC236}">
                <a16:creationId xmlns:a16="http://schemas.microsoft.com/office/drawing/2014/main" id="{1F47EF75-3824-4C45-9070-14AC45CE5AA8}"/>
              </a:ext>
            </a:extLst>
          </p:cNvPr>
          <p:cNvSpPr>
            <a:spLocks noGrp="1"/>
          </p:cNvSpPr>
          <p:nvPr/>
        </p:nvSpPr>
        <p:spPr>
          <a:xfrm>
            <a:off x="983932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1" name="矩形 130">
            <a:extLst>
              <a:ext uri="{FF2B5EF4-FFF2-40B4-BE49-F238E27FC236}">
                <a16:creationId xmlns:a16="http://schemas.microsoft.com/office/drawing/2014/main" id="{8952E4A4-D561-44B6-864E-3EEB385465B1}"/>
              </a:ext>
            </a:extLst>
          </p:cNvPr>
          <p:cNvSpPr>
            <a:spLocks noGrp="1"/>
          </p:cNvSpPr>
          <p:nvPr/>
        </p:nvSpPr>
        <p:spPr>
          <a:xfrm>
            <a:off x="10125075" y="2628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2" name="矩形 131">
            <a:extLst>
              <a:ext uri="{FF2B5EF4-FFF2-40B4-BE49-F238E27FC236}">
                <a16:creationId xmlns:a16="http://schemas.microsoft.com/office/drawing/2014/main" id="{241DE793-5EA4-48B5-A00F-2B8C4F58C1E7}"/>
              </a:ext>
            </a:extLst>
          </p:cNvPr>
          <p:cNvSpPr>
            <a:spLocks noGrp="1"/>
          </p:cNvSpPr>
          <p:nvPr/>
        </p:nvSpPr>
        <p:spPr>
          <a:xfrm>
            <a:off x="698182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3" name="矩形 132">
            <a:extLst>
              <a:ext uri="{FF2B5EF4-FFF2-40B4-BE49-F238E27FC236}">
                <a16:creationId xmlns:a16="http://schemas.microsoft.com/office/drawing/2014/main" id="{C306F796-9151-4616-A181-591127517C3D}"/>
              </a:ext>
            </a:extLst>
          </p:cNvPr>
          <p:cNvSpPr>
            <a:spLocks noGrp="1"/>
          </p:cNvSpPr>
          <p:nvPr/>
        </p:nvSpPr>
        <p:spPr>
          <a:xfrm>
            <a:off x="726757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4" name="矩形 133">
            <a:extLst>
              <a:ext uri="{FF2B5EF4-FFF2-40B4-BE49-F238E27FC236}">
                <a16:creationId xmlns:a16="http://schemas.microsoft.com/office/drawing/2014/main" id="{C4DB58E0-193E-421A-A1BF-61073CD24D65}"/>
              </a:ext>
            </a:extLst>
          </p:cNvPr>
          <p:cNvSpPr>
            <a:spLocks noGrp="1"/>
          </p:cNvSpPr>
          <p:nvPr/>
        </p:nvSpPr>
        <p:spPr>
          <a:xfrm>
            <a:off x="755332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5" name="矩形 134">
            <a:extLst>
              <a:ext uri="{FF2B5EF4-FFF2-40B4-BE49-F238E27FC236}">
                <a16:creationId xmlns:a16="http://schemas.microsoft.com/office/drawing/2014/main" id="{B9B8F1A7-7612-4B7A-9BFE-F0F2EA907545}"/>
              </a:ext>
            </a:extLst>
          </p:cNvPr>
          <p:cNvSpPr>
            <a:spLocks noGrp="1"/>
          </p:cNvSpPr>
          <p:nvPr/>
        </p:nvSpPr>
        <p:spPr>
          <a:xfrm>
            <a:off x="783907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6" name="矩形 135">
            <a:extLst>
              <a:ext uri="{FF2B5EF4-FFF2-40B4-BE49-F238E27FC236}">
                <a16:creationId xmlns:a16="http://schemas.microsoft.com/office/drawing/2014/main" id="{65DFFFA4-1C93-4BB9-A489-1AB2AA0F3221}"/>
              </a:ext>
            </a:extLst>
          </p:cNvPr>
          <p:cNvSpPr>
            <a:spLocks noGrp="1"/>
          </p:cNvSpPr>
          <p:nvPr/>
        </p:nvSpPr>
        <p:spPr>
          <a:xfrm>
            <a:off x="812482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7" name="矩形 136">
            <a:extLst>
              <a:ext uri="{FF2B5EF4-FFF2-40B4-BE49-F238E27FC236}">
                <a16:creationId xmlns:a16="http://schemas.microsoft.com/office/drawing/2014/main" id="{2D0D5CED-2305-48F1-86F7-43A22A59C84D}"/>
              </a:ext>
            </a:extLst>
          </p:cNvPr>
          <p:cNvSpPr>
            <a:spLocks noGrp="1"/>
          </p:cNvSpPr>
          <p:nvPr/>
        </p:nvSpPr>
        <p:spPr>
          <a:xfrm>
            <a:off x="841057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8" name="矩形 137">
            <a:extLst>
              <a:ext uri="{FF2B5EF4-FFF2-40B4-BE49-F238E27FC236}">
                <a16:creationId xmlns:a16="http://schemas.microsoft.com/office/drawing/2014/main" id="{903A0EBF-4AF1-4F12-9379-FBFB411FCC83}"/>
              </a:ext>
            </a:extLst>
          </p:cNvPr>
          <p:cNvSpPr>
            <a:spLocks noGrp="1"/>
          </p:cNvSpPr>
          <p:nvPr/>
        </p:nvSpPr>
        <p:spPr>
          <a:xfrm>
            <a:off x="869632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39" name="矩形 138">
            <a:extLst>
              <a:ext uri="{FF2B5EF4-FFF2-40B4-BE49-F238E27FC236}">
                <a16:creationId xmlns:a16="http://schemas.microsoft.com/office/drawing/2014/main" id="{C9F710CF-5C95-4462-845B-BEC476722DAC}"/>
              </a:ext>
            </a:extLst>
          </p:cNvPr>
          <p:cNvSpPr>
            <a:spLocks noGrp="1"/>
          </p:cNvSpPr>
          <p:nvPr/>
        </p:nvSpPr>
        <p:spPr>
          <a:xfrm>
            <a:off x="898207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40" name="矩形 139">
            <a:extLst>
              <a:ext uri="{FF2B5EF4-FFF2-40B4-BE49-F238E27FC236}">
                <a16:creationId xmlns:a16="http://schemas.microsoft.com/office/drawing/2014/main" id="{275735A3-600F-49B0-B489-80F05F265B6F}"/>
              </a:ext>
            </a:extLst>
          </p:cNvPr>
          <p:cNvSpPr>
            <a:spLocks noGrp="1"/>
          </p:cNvSpPr>
          <p:nvPr/>
        </p:nvSpPr>
        <p:spPr>
          <a:xfrm>
            <a:off x="926782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41" name="矩形 140">
            <a:extLst>
              <a:ext uri="{FF2B5EF4-FFF2-40B4-BE49-F238E27FC236}">
                <a16:creationId xmlns:a16="http://schemas.microsoft.com/office/drawing/2014/main" id="{51E58578-C7AB-4896-9206-BB474D08BCC9}"/>
              </a:ext>
            </a:extLst>
          </p:cNvPr>
          <p:cNvSpPr>
            <a:spLocks noGrp="1"/>
          </p:cNvSpPr>
          <p:nvPr/>
        </p:nvSpPr>
        <p:spPr>
          <a:xfrm>
            <a:off x="955357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42" name="矩形 141">
            <a:extLst>
              <a:ext uri="{FF2B5EF4-FFF2-40B4-BE49-F238E27FC236}">
                <a16:creationId xmlns:a16="http://schemas.microsoft.com/office/drawing/2014/main" id="{C9BB8E43-FC5B-48A7-AC9B-7149A12D282B}"/>
              </a:ext>
            </a:extLst>
          </p:cNvPr>
          <p:cNvSpPr>
            <a:spLocks noGrp="1"/>
          </p:cNvSpPr>
          <p:nvPr/>
        </p:nvSpPr>
        <p:spPr>
          <a:xfrm>
            <a:off x="9839325" y="291465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43" name="矩形 142">
            <a:extLst>
              <a:ext uri="{FF2B5EF4-FFF2-40B4-BE49-F238E27FC236}">
                <a16:creationId xmlns:a16="http://schemas.microsoft.com/office/drawing/2014/main" id="{3726370F-6D87-4A7F-81E5-98A956A2C4F9}"/>
              </a:ext>
            </a:extLst>
          </p:cNvPr>
          <p:cNvSpPr>
            <a:spLocks noGrp="1"/>
          </p:cNvSpPr>
          <p:nvPr/>
        </p:nvSpPr>
        <p:spPr>
          <a:xfrm>
            <a:off x="10125075" y="2914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44" name="矩形 143">
            <a:extLst>
              <a:ext uri="{FF2B5EF4-FFF2-40B4-BE49-F238E27FC236}">
                <a16:creationId xmlns:a16="http://schemas.microsoft.com/office/drawing/2014/main" id="{ECC33AE2-46EF-42DB-BDF0-6CB2B74C6B0E}"/>
              </a:ext>
            </a:extLst>
          </p:cNvPr>
          <p:cNvSpPr>
            <a:spLocks noGrp="1"/>
          </p:cNvSpPr>
          <p:nvPr/>
        </p:nvSpPr>
        <p:spPr>
          <a:xfrm>
            <a:off x="6981825" y="320040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45" name="矩形 144">
            <a:extLst>
              <a:ext uri="{FF2B5EF4-FFF2-40B4-BE49-F238E27FC236}">
                <a16:creationId xmlns:a16="http://schemas.microsoft.com/office/drawing/2014/main" id="{B5E7571B-BF51-4553-9622-94DDB4A06667}"/>
              </a:ext>
            </a:extLst>
          </p:cNvPr>
          <p:cNvSpPr>
            <a:spLocks noGrp="1"/>
          </p:cNvSpPr>
          <p:nvPr/>
        </p:nvSpPr>
        <p:spPr>
          <a:xfrm>
            <a:off x="726757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46" name="矩形 145">
            <a:extLst>
              <a:ext uri="{FF2B5EF4-FFF2-40B4-BE49-F238E27FC236}">
                <a16:creationId xmlns:a16="http://schemas.microsoft.com/office/drawing/2014/main" id="{C3764A10-37C2-46B0-81C5-1CCFB3BB99FC}"/>
              </a:ext>
            </a:extLst>
          </p:cNvPr>
          <p:cNvSpPr>
            <a:spLocks noGrp="1"/>
          </p:cNvSpPr>
          <p:nvPr/>
        </p:nvSpPr>
        <p:spPr>
          <a:xfrm>
            <a:off x="755332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47" name="矩形 146">
            <a:extLst>
              <a:ext uri="{FF2B5EF4-FFF2-40B4-BE49-F238E27FC236}">
                <a16:creationId xmlns:a16="http://schemas.microsoft.com/office/drawing/2014/main" id="{12BC4262-26A6-467D-95F2-7E9F9F36EE9F}"/>
              </a:ext>
            </a:extLst>
          </p:cNvPr>
          <p:cNvSpPr>
            <a:spLocks noGrp="1"/>
          </p:cNvSpPr>
          <p:nvPr/>
        </p:nvSpPr>
        <p:spPr>
          <a:xfrm>
            <a:off x="783907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48" name="矩形 147">
            <a:extLst>
              <a:ext uri="{FF2B5EF4-FFF2-40B4-BE49-F238E27FC236}">
                <a16:creationId xmlns:a16="http://schemas.microsoft.com/office/drawing/2014/main" id="{6B806BBD-1EAF-4586-A5C8-3871E730C5FE}"/>
              </a:ext>
            </a:extLst>
          </p:cNvPr>
          <p:cNvSpPr>
            <a:spLocks noGrp="1"/>
          </p:cNvSpPr>
          <p:nvPr/>
        </p:nvSpPr>
        <p:spPr>
          <a:xfrm>
            <a:off x="812482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49" name="矩形 148">
            <a:extLst>
              <a:ext uri="{FF2B5EF4-FFF2-40B4-BE49-F238E27FC236}">
                <a16:creationId xmlns:a16="http://schemas.microsoft.com/office/drawing/2014/main" id="{C02BA286-36FC-4A02-9B7B-CAECD5C9284B}"/>
              </a:ext>
            </a:extLst>
          </p:cNvPr>
          <p:cNvSpPr>
            <a:spLocks noGrp="1"/>
          </p:cNvSpPr>
          <p:nvPr/>
        </p:nvSpPr>
        <p:spPr>
          <a:xfrm>
            <a:off x="841057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0" name="矩形 149">
            <a:extLst>
              <a:ext uri="{FF2B5EF4-FFF2-40B4-BE49-F238E27FC236}">
                <a16:creationId xmlns:a16="http://schemas.microsoft.com/office/drawing/2014/main" id="{8ADEAF80-C8E3-45B9-8B38-B15740C8544A}"/>
              </a:ext>
            </a:extLst>
          </p:cNvPr>
          <p:cNvSpPr>
            <a:spLocks noGrp="1"/>
          </p:cNvSpPr>
          <p:nvPr/>
        </p:nvSpPr>
        <p:spPr>
          <a:xfrm>
            <a:off x="869632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1" name="矩形 150">
            <a:extLst>
              <a:ext uri="{FF2B5EF4-FFF2-40B4-BE49-F238E27FC236}">
                <a16:creationId xmlns:a16="http://schemas.microsoft.com/office/drawing/2014/main" id="{9E7E2820-630C-486B-95D2-3C599DD28FC8}"/>
              </a:ext>
            </a:extLst>
          </p:cNvPr>
          <p:cNvSpPr>
            <a:spLocks noGrp="1"/>
          </p:cNvSpPr>
          <p:nvPr/>
        </p:nvSpPr>
        <p:spPr>
          <a:xfrm>
            <a:off x="8982075" y="320040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52" name="矩形 151">
            <a:extLst>
              <a:ext uri="{FF2B5EF4-FFF2-40B4-BE49-F238E27FC236}">
                <a16:creationId xmlns:a16="http://schemas.microsoft.com/office/drawing/2014/main" id="{2FF2EC15-7A78-4553-98D7-116395D92C96}"/>
              </a:ext>
            </a:extLst>
          </p:cNvPr>
          <p:cNvSpPr>
            <a:spLocks noGrp="1"/>
          </p:cNvSpPr>
          <p:nvPr/>
        </p:nvSpPr>
        <p:spPr>
          <a:xfrm>
            <a:off x="926782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3" name="矩形 152">
            <a:extLst>
              <a:ext uri="{FF2B5EF4-FFF2-40B4-BE49-F238E27FC236}">
                <a16:creationId xmlns:a16="http://schemas.microsoft.com/office/drawing/2014/main" id="{47F8734E-8828-48D1-9521-5A90D2B2BD88}"/>
              </a:ext>
            </a:extLst>
          </p:cNvPr>
          <p:cNvSpPr>
            <a:spLocks noGrp="1"/>
          </p:cNvSpPr>
          <p:nvPr/>
        </p:nvSpPr>
        <p:spPr>
          <a:xfrm>
            <a:off x="955357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4" name="矩形 153">
            <a:extLst>
              <a:ext uri="{FF2B5EF4-FFF2-40B4-BE49-F238E27FC236}">
                <a16:creationId xmlns:a16="http://schemas.microsoft.com/office/drawing/2014/main" id="{A24991E5-7904-41C6-B784-44E12C9F5F8C}"/>
              </a:ext>
            </a:extLst>
          </p:cNvPr>
          <p:cNvSpPr>
            <a:spLocks noGrp="1"/>
          </p:cNvSpPr>
          <p:nvPr/>
        </p:nvSpPr>
        <p:spPr>
          <a:xfrm>
            <a:off x="983932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5" name="矩形 154">
            <a:extLst>
              <a:ext uri="{FF2B5EF4-FFF2-40B4-BE49-F238E27FC236}">
                <a16:creationId xmlns:a16="http://schemas.microsoft.com/office/drawing/2014/main" id="{37064580-E068-4754-81EA-233931D5D47A}"/>
              </a:ext>
            </a:extLst>
          </p:cNvPr>
          <p:cNvSpPr>
            <a:spLocks noGrp="1"/>
          </p:cNvSpPr>
          <p:nvPr/>
        </p:nvSpPr>
        <p:spPr>
          <a:xfrm>
            <a:off x="10125075" y="3200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6" name="矩形 155">
            <a:extLst>
              <a:ext uri="{FF2B5EF4-FFF2-40B4-BE49-F238E27FC236}">
                <a16:creationId xmlns:a16="http://schemas.microsoft.com/office/drawing/2014/main" id="{D5BD9203-0B78-47FD-A809-21C612F9AEA3}"/>
              </a:ext>
            </a:extLst>
          </p:cNvPr>
          <p:cNvSpPr>
            <a:spLocks noGrp="1"/>
          </p:cNvSpPr>
          <p:nvPr/>
        </p:nvSpPr>
        <p:spPr>
          <a:xfrm>
            <a:off x="698182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7" name="矩形 156">
            <a:extLst>
              <a:ext uri="{FF2B5EF4-FFF2-40B4-BE49-F238E27FC236}">
                <a16:creationId xmlns:a16="http://schemas.microsoft.com/office/drawing/2014/main" id="{A73ED6FB-D4BF-43AE-94E3-891077F2CADC}"/>
              </a:ext>
            </a:extLst>
          </p:cNvPr>
          <p:cNvSpPr>
            <a:spLocks noGrp="1"/>
          </p:cNvSpPr>
          <p:nvPr/>
        </p:nvSpPr>
        <p:spPr>
          <a:xfrm>
            <a:off x="726757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8" name="矩形 157">
            <a:extLst>
              <a:ext uri="{FF2B5EF4-FFF2-40B4-BE49-F238E27FC236}">
                <a16:creationId xmlns:a16="http://schemas.microsoft.com/office/drawing/2014/main" id="{F0832636-9BD6-4F93-B0E8-4980A23FC4C0}"/>
              </a:ext>
            </a:extLst>
          </p:cNvPr>
          <p:cNvSpPr>
            <a:spLocks noGrp="1"/>
          </p:cNvSpPr>
          <p:nvPr/>
        </p:nvSpPr>
        <p:spPr>
          <a:xfrm>
            <a:off x="755332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59" name="矩形 158">
            <a:extLst>
              <a:ext uri="{FF2B5EF4-FFF2-40B4-BE49-F238E27FC236}">
                <a16:creationId xmlns:a16="http://schemas.microsoft.com/office/drawing/2014/main" id="{132D88BC-8966-4CE3-A61A-67183EEFEBB9}"/>
              </a:ext>
            </a:extLst>
          </p:cNvPr>
          <p:cNvSpPr>
            <a:spLocks noGrp="1"/>
          </p:cNvSpPr>
          <p:nvPr/>
        </p:nvSpPr>
        <p:spPr>
          <a:xfrm>
            <a:off x="7839075" y="348615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60" name="矩形 159">
            <a:extLst>
              <a:ext uri="{FF2B5EF4-FFF2-40B4-BE49-F238E27FC236}">
                <a16:creationId xmlns:a16="http://schemas.microsoft.com/office/drawing/2014/main" id="{8C82A986-CAE4-47A5-8B8A-A177F3865EF3}"/>
              </a:ext>
            </a:extLst>
          </p:cNvPr>
          <p:cNvSpPr>
            <a:spLocks noGrp="1"/>
          </p:cNvSpPr>
          <p:nvPr/>
        </p:nvSpPr>
        <p:spPr>
          <a:xfrm>
            <a:off x="812482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1" name="矩形 160">
            <a:extLst>
              <a:ext uri="{FF2B5EF4-FFF2-40B4-BE49-F238E27FC236}">
                <a16:creationId xmlns:a16="http://schemas.microsoft.com/office/drawing/2014/main" id="{E2A1A6CD-4457-4A62-AF80-2FB18152558D}"/>
              </a:ext>
            </a:extLst>
          </p:cNvPr>
          <p:cNvSpPr>
            <a:spLocks noGrp="1"/>
          </p:cNvSpPr>
          <p:nvPr/>
        </p:nvSpPr>
        <p:spPr>
          <a:xfrm>
            <a:off x="841057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2" name="矩形 161">
            <a:extLst>
              <a:ext uri="{FF2B5EF4-FFF2-40B4-BE49-F238E27FC236}">
                <a16:creationId xmlns:a16="http://schemas.microsoft.com/office/drawing/2014/main" id="{3477A17B-7101-4658-8C53-39106EEFF8CB}"/>
              </a:ext>
            </a:extLst>
          </p:cNvPr>
          <p:cNvSpPr>
            <a:spLocks noGrp="1"/>
          </p:cNvSpPr>
          <p:nvPr/>
        </p:nvSpPr>
        <p:spPr>
          <a:xfrm>
            <a:off x="869632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3" name="矩形 162">
            <a:extLst>
              <a:ext uri="{FF2B5EF4-FFF2-40B4-BE49-F238E27FC236}">
                <a16:creationId xmlns:a16="http://schemas.microsoft.com/office/drawing/2014/main" id="{F64261E1-1840-4663-934E-D3A6A64C5401}"/>
              </a:ext>
            </a:extLst>
          </p:cNvPr>
          <p:cNvSpPr>
            <a:spLocks noGrp="1"/>
          </p:cNvSpPr>
          <p:nvPr/>
        </p:nvSpPr>
        <p:spPr>
          <a:xfrm>
            <a:off x="898207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4" name="矩形 163">
            <a:extLst>
              <a:ext uri="{FF2B5EF4-FFF2-40B4-BE49-F238E27FC236}">
                <a16:creationId xmlns:a16="http://schemas.microsoft.com/office/drawing/2014/main" id="{A03558D1-8CCF-4C47-BC3D-78841B97C6BC}"/>
              </a:ext>
            </a:extLst>
          </p:cNvPr>
          <p:cNvSpPr>
            <a:spLocks noGrp="1"/>
          </p:cNvSpPr>
          <p:nvPr/>
        </p:nvSpPr>
        <p:spPr>
          <a:xfrm>
            <a:off x="926782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5" name="矩形 164">
            <a:extLst>
              <a:ext uri="{FF2B5EF4-FFF2-40B4-BE49-F238E27FC236}">
                <a16:creationId xmlns:a16="http://schemas.microsoft.com/office/drawing/2014/main" id="{1A7443EE-267D-47B6-9EEE-8C3740A5CC7F}"/>
              </a:ext>
            </a:extLst>
          </p:cNvPr>
          <p:cNvSpPr>
            <a:spLocks noGrp="1"/>
          </p:cNvSpPr>
          <p:nvPr/>
        </p:nvSpPr>
        <p:spPr>
          <a:xfrm>
            <a:off x="955357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6" name="矩形 165">
            <a:extLst>
              <a:ext uri="{FF2B5EF4-FFF2-40B4-BE49-F238E27FC236}">
                <a16:creationId xmlns:a16="http://schemas.microsoft.com/office/drawing/2014/main" id="{9D7ABABB-24E5-4D89-A65D-197B483666A4}"/>
              </a:ext>
            </a:extLst>
          </p:cNvPr>
          <p:cNvSpPr>
            <a:spLocks noGrp="1"/>
          </p:cNvSpPr>
          <p:nvPr/>
        </p:nvSpPr>
        <p:spPr>
          <a:xfrm>
            <a:off x="983932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7" name="矩形 166">
            <a:extLst>
              <a:ext uri="{FF2B5EF4-FFF2-40B4-BE49-F238E27FC236}">
                <a16:creationId xmlns:a16="http://schemas.microsoft.com/office/drawing/2014/main" id="{B7CB3A49-4CD4-4A5F-8176-555F156478FA}"/>
              </a:ext>
            </a:extLst>
          </p:cNvPr>
          <p:cNvSpPr>
            <a:spLocks noGrp="1"/>
          </p:cNvSpPr>
          <p:nvPr/>
        </p:nvSpPr>
        <p:spPr>
          <a:xfrm>
            <a:off x="10125075" y="34861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8" name="矩形 167">
            <a:extLst>
              <a:ext uri="{FF2B5EF4-FFF2-40B4-BE49-F238E27FC236}">
                <a16:creationId xmlns:a16="http://schemas.microsoft.com/office/drawing/2014/main" id="{AB6A7547-1680-41EC-81D4-E0F99E12CFDA}"/>
              </a:ext>
            </a:extLst>
          </p:cNvPr>
          <p:cNvSpPr>
            <a:spLocks noGrp="1"/>
          </p:cNvSpPr>
          <p:nvPr/>
        </p:nvSpPr>
        <p:spPr>
          <a:xfrm>
            <a:off x="698182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69" name="矩形 168">
            <a:extLst>
              <a:ext uri="{FF2B5EF4-FFF2-40B4-BE49-F238E27FC236}">
                <a16:creationId xmlns:a16="http://schemas.microsoft.com/office/drawing/2014/main" id="{05C71B76-1F40-44FC-BBA4-EB1371ECCF1D}"/>
              </a:ext>
            </a:extLst>
          </p:cNvPr>
          <p:cNvSpPr>
            <a:spLocks noGrp="1"/>
          </p:cNvSpPr>
          <p:nvPr/>
        </p:nvSpPr>
        <p:spPr>
          <a:xfrm>
            <a:off x="726757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0" name="矩形 169">
            <a:extLst>
              <a:ext uri="{FF2B5EF4-FFF2-40B4-BE49-F238E27FC236}">
                <a16:creationId xmlns:a16="http://schemas.microsoft.com/office/drawing/2014/main" id="{32B5B3BC-F8EA-437F-BE89-2B4CE250017F}"/>
              </a:ext>
            </a:extLst>
          </p:cNvPr>
          <p:cNvSpPr>
            <a:spLocks noGrp="1"/>
          </p:cNvSpPr>
          <p:nvPr/>
        </p:nvSpPr>
        <p:spPr>
          <a:xfrm>
            <a:off x="755332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1" name="矩形 170">
            <a:extLst>
              <a:ext uri="{FF2B5EF4-FFF2-40B4-BE49-F238E27FC236}">
                <a16:creationId xmlns:a16="http://schemas.microsoft.com/office/drawing/2014/main" id="{397B4A1F-A070-426E-A53D-4E8E7A153A8A}"/>
              </a:ext>
            </a:extLst>
          </p:cNvPr>
          <p:cNvSpPr>
            <a:spLocks noGrp="1"/>
          </p:cNvSpPr>
          <p:nvPr/>
        </p:nvSpPr>
        <p:spPr>
          <a:xfrm>
            <a:off x="783907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2" name="矩形 171">
            <a:extLst>
              <a:ext uri="{FF2B5EF4-FFF2-40B4-BE49-F238E27FC236}">
                <a16:creationId xmlns:a16="http://schemas.microsoft.com/office/drawing/2014/main" id="{2FD428D9-E05C-44FE-981D-60DF34CEB194}"/>
              </a:ext>
            </a:extLst>
          </p:cNvPr>
          <p:cNvSpPr>
            <a:spLocks noGrp="1"/>
          </p:cNvSpPr>
          <p:nvPr/>
        </p:nvSpPr>
        <p:spPr>
          <a:xfrm>
            <a:off x="812482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3" name="矩形 172">
            <a:extLst>
              <a:ext uri="{FF2B5EF4-FFF2-40B4-BE49-F238E27FC236}">
                <a16:creationId xmlns:a16="http://schemas.microsoft.com/office/drawing/2014/main" id="{923CD80A-4143-4F90-BD82-F81F0F2D2252}"/>
              </a:ext>
            </a:extLst>
          </p:cNvPr>
          <p:cNvSpPr>
            <a:spLocks noGrp="1"/>
          </p:cNvSpPr>
          <p:nvPr/>
        </p:nvSpPr>
        <p:spPr>
          <a:xfrm>
            <a:off x="841057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4" name="矩形 173">
            <a:extLst>
              <a:ext uri="{FF2B5EF4-FFF2-40B4-BE49-F238E27FC236}">
                <a16:creationId xmlns:a16="http://schemas.microsoft.com/office/drawing/2014/main" id="{16F50033-E520-4AA2-84F1-12879EDBFDF3}"/>
              </a:ext>
            </a:extLst>
          </p:cNvPr>
          <p:cNvSpPr>
            <a:spLocks noGrp="1"/>
          </p:cNvSpPr>
          <p:nvPr/>
        </p:nvSpPr>
        <p:spPr>
          <a:xfrm>
            <a:off x="869632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5" name="矩形 174">
            <a:extLst>
              <a:ext uri="{FF2B5EF4-FFF2-40B4-BE49-F238E27FC236}">
                <a16:creationId xmlns:a16="http://schemas.microsoft.com/office/drawing/2014/main" id="{A56896AF-4BC6-4DF3-9FCA-CDC5EB0DBF52}"/>
              </a:ext>
            </a:extLst>
          </p:cNvPr>
          <p:cNvSpPr>
            <a:spLocks noGrp="1"/>
          </p:cNvSpPr>
          <p:nvPr/>
        </p:nvSpPr>
        <p:spPr>
          <a:xfrm>
            <a:off x="898207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6" name="矩形 175">
            <a:extLst>
              <a:ext uri="{FF2B5EF4-FFF2-40B4-BE49-F238E27FC236}">
                <a16:creationId xmlns:a16="http://schemas.microsoft.com/office/drawing/2014/main" id="{E9A287BC-A2C3-4395-88DE-10EB5E3F66B2}"/>
              </a:ext>
            </a:extLst>
          </p:cNvPr>
          <p:cNvSpPr>
            <a:spLocks noGrp="1"/>
          </p:cNvSpPr>
          <p:nvPr/>
        </p:nvSpPr>
        <p:spPr>
          <a:xfrm>
            <a:off x="926782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7" name="矩形 176">
            <a:extLst>
              <a:ext uri="{FF2B5EF4-FFF2-40B4-BE49-F238E27FC236}">
                <a16:creationId xmlns:a16="http://schemas.microsoft.com/office/drawing/2014/main" id="{7626E323-9134-4DE4-A035-EE2128FE5575}"/>
              </a:ext>
            </a:extLst>
          </p:cNvPr>
          <p:cNvSpPr>
            <a:spLocks noGrp="1"/>
          </p:cNvSpPr>
          <p:nvPr/>
        </p:nvSpPr>
        <p:spPr>
          <a:xfrm>
            <a:off x="955357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8" name="矩形 177">
            <a:extLst>
              <a:ext uri="{FF2B5EF4-FFF2-40B4-BE49-F238E27FC236}">
                <a16:creationId xmlns:a16="http://schemas.microsoft.com/office/drawing/2014/main" id="{2D076888-16FC-4472-A953-D3419526F251}"/>
              </a:ext>
            </a:extLst>
          </p:cNvPr>
          <p:cNvSpPr>
            <a:spLocks noGrp="1"/>
          </p:cNvSpPr>
          <p:nvPr/>
        </p:nvSpPr>
        <p:spPr>
          <a:xfrm>
            <a:off x="9839325" y="37719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79" name="矩形 178">
            <a:extLst>
              <a:ext uri="{FF2B5EF4-FFF2-40B4-BE49-F238E27FC236}">
                <a16:creationId xmlns:a16="http://schemas.microsoft.com/office/drawing/2014/main" id="{9638A2CD-7DDD-4D76-9033-85B7E9748953}"/>
              </a:ext>
            </a:extLst>
          </p:cNvPr>
          <p:cNvSpPr>
            <a:spLocks noGrp="1"/>
          </p:cNvSpPr>
          <p:nvPr/>
        </p:nvSpPr>
        <p:spPr>
          <a:xfrm>
            <a:off x="10125075" y="377190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80" name="矩形 179">
            <a:extLst>
              <a:ext uri="{FF2B5EF4-FFF2-40B4-BE49-F238E27FC236}">
                <a16:creationId xmlns:a16="http://schemas.microsoft.com/office/drawing/2014/main" id="{08DDD310-7A5D-4720-B04B-EFD93C052720}"/>
              </a:ext>
            </a:extLst>
          </p:cNvPr>
          <p:cNvSpPr>
            <a:spLocks noGrp="1"/>
          </p:cNvSpPr>
          <p:nvPr/>
        </p:nvSpPr>
        <p:spPr>
          <a:xfrm>
            <a:off x="698182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81" name="矩形 180">
            <a:extLst>
              <a:ext uri="{FF2B5EF4-FFF2-40B4-BE49-F238E27FC236}">
                <a16:creationId xmlns:a16="http://schemas.microsoft.com/office/drawing/2014/main" id="{1AF64CDE-1814-4A44-8138-6A9882858881}"/>
              </a:ext>
            </a:extLst>
          </p:cNvPr>
          <p:cNvSpPr>
            <a:spLocks noGrp="1"/>
          </p:cNvSpPr>
          <p:nvPr/>
        </p:nvSpPr>
        <p:spPr>
          <a:xfrm>
            <a:off x="726757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82" name="矩形 181">
            <a:extLst>
              <a:ext uri="{FF2B5EF4-FFF2-40B4-BE49-F238E27FC236}">
                <a16:creationId xmlns:a16="http://schemas.microsoft.com/office/drawing/2014/main" id="{DE7A3A80-F58E-49D5-A591-C5129F663AE2}"/>
              </a:ext>
            </a:extLst>
          </p:cNvPr>
          <p:cNvSpPr>
            <a:spLocks noGrp="1"/>
          </p:cNvSpPr>
          <p:nvPr/>
        </p:nvSpPr>
        <p:spPr>
          <a:xfrm>
            <a:off x="755332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83" name="矩形 182">
            <a:extLst>
              <a:ext uri="{FF2B5EF4-FFF2-40B4-BE49-F238E27FC236}">
                <a16:creationId xmlns:a16="http://schemas.microsoft.com/office/drawing/2014/main" id="{5E17FE5D-1D1D-4C74-B612-6BF99D36C0FA}"/>
              </a:ext>
            </a:extLst>
          </p:cNvPr>
          <p:cNvSpPr>
            <a:spLocks noGrp="1"/>
          </p:cNvSpPr>
          <p:nvPr/>
        </p:nvSpPr>
        <p:spPr>
          <a:xfrm>
            <a:off x="783907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84" name="矩形 183">
            <a:extLst>
              <a:ext uri="{FF2B5EF4-FFF2-40B4-BE49-F238E27FC236}">
                <a16:creationId xmlns:a16="http://schemas.microsoft.com/office/drawing/2014/main" id="{D51D4F95-5BD4-40CF-9DDE-12D387E17F70}"/>
              </a:ext>
            </a:extLst>
          </p:cNvPr>
          <p:cNvSpPr>
            <a:spLocks noGrp="1"/>
          </p:cNvSpPr>
          <p:nvPr/>
        </p:nvSpPr>
        <p:spPr>
          <a:xfrm>
            <a:off x="812482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85" name="矩形 184">
            <a:extLst>
              <a:ext uri="{FF2B5EF4-FFF2-40B4-BE49-F238E27FC236}">
                <a16:creationId xmlns:a16="http://schemas.microsoft.com/office/drawing/2014/main" id="{81AD0A60-D2E7-4000-9DF9-5A25B33788BC}"/>
              </a:ext>
            </a:extLst>
          </p:cNvPr>
          <p:cNvSpPr>
            <a:spLocks noGrp="1"/>
          </p:cNvSpPr>
          <p:nvPr/>
        </p:nvSpPr>
        <p:spPr>
          <a:xfrm>
            <a:off x="8410575" y="405765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86" name="矩形 185">
            <a:extLst>
              <a:ext uri="{FF2B5EF4-FFF2-40B4-BE49-F238E27FC236}">
                <a16:creationId xmlns:a16="http://schemas.microsoft.com/office/drawing/2014/main" id="{CCD4EE61-2FD5-4223-9AFA-44DC85377BB2}"/>
              </a:ext>
            </a:extLst>
          </p:cNvPr>
          <p:cNvSpPr>
            <a:spLocks noGrp="1"/>
          </p:cNvSpPr>
          <p:nvPr/>
        </p:nvSpPr>
        <p:spPr>
          <a:xfrm>
            <a:off x="869632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87" name="矩形 186">
            <a:extLst>
              <a:ext uri="{FF2B5EF4-FFF2-40B4-BE49-F238E27FC236}">
                <a16:creationId xmlns:a16="http://schemas.microsoft.com/office/drawing/2014/main" id="{50684FB3-42B8-4A8C-82DA-E12B3543FE0E}"/>
              </a:ext>
            </a:extLst>
          </p:cNvPr>
          <p:cNvSpPr>
            <a:spLocks noGrp="1"/>
          </p:cNvSpPr>
          <p:nvPr/>
        </p:nvSpPr>
        <p:spPr>
          <a:xfrm>
            <a:off x="898207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88" name="矩形 187">
            <a:extLst>
              <a:ext uri="{FF2B5EF4-FFF2-40B4-BE49-F238E27FC236}">
                <a16:creationId xmlns:a16="http://schemas.microsoft.com/office/drawing/2014/main" id="{EBB12A2C-F41C-4466-8789-EE1B20137143}"/>
              </a:ext>
            </a:extLst>
          </p:cNvPr>
          <p:cNvSpPr>
            <a:spLocks noGrp="1"/>
          </p:cNvSpPr>
          <p:nvPr/>
        </p:nvSpPr>
        <p:spPr>
          <a:xfrm>
            <a:off x="926782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89" name="矩形 188">
            <a:extLst>
              <a:ext uri="{FF2B5EF4-FFF2-40B4-BE49-F238E27FC236}">
                <a16:creationId xmlns:a16="http://schemas.microsoft.com/office/drawing/2014/main" id="{937E2168-0681-4501-8EFD-0657969FEC65}"/>
              </a:ext>
            </a:extLst>
          </p:cNvPr>
          <p:cNvSpPr>
            <a:spLocks noGrp="1"/>
          </p:cNvSpPr>
          <p:nvPr/>
        </p:nvSpPr>
        <p:spPr>
          <a:xfrm>
            <a:off x="955357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0" name="矩形 189">
            <a:extLst>
              <a:ext uri="{FF2B5EF4-FFF2-40B4-BE49-F238E27FC236}">
                <a16:creationId xmlns:a16="http://schemas.microsoft.com/office/drawing/2014/main" id="{930910A6-49D0-470D-9658-8D33ABB9A93E}"/>
              </a:ext>
            </a:extLst>
          </p:cNvPr>
          <p:cNvSpPr>
            <a:spLocks noGrp="1"/>
          </p:cNvSpPr>
          <p:nvPr/>
        </p:nvSpPr>
        <p:spPr>
          <a:xfrm>
            <a:off x="983932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1" name="矩形 190">
            <a:extLst>
              <a:ext uri="{FF2B5EF4-FFF2-40B4-BE49-F238E27FC236}">
                <a16:creationId xmlns:a16="http://schemas.microsoft.com/office/drawing/2014/main" id="{28ECDC0B-7F2E-4CA1-A6D2-268E92565E62}"/>
              </a:ext>
            </a:extLst>
          </p:cNvPr>
          <p:cNvSpPr>
            <a:spLocks noGrp="1"/>
          </p:cNvSpPr>
          <p:nvPr/>
        </p:nvSpPr>
        <p:spPr>
          <a:xfrm>
            <a:off x="10125075" y="405765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2" name="矩形 191">
            <a:extLst>
              <a:ext uri="{FF2B5EF4-FFF2-40B4-BE49-F238E27FC236}">
                <a16:creationId xmlns:a16="http://schemas.microsoft.com/office/drawing/2014/main" id="{8A3C72B9-7DB3-44A4-AB48-2161BD1D8452}"/>
              </a:ext>
            </a:extLst>
          </p:cNvPr>
          <p:cNvSpPr>
            <a:spLocks noGrp="1"/>
          </p:cNvSpPr>
          <p:nvPr/>
        </p:nvSpPr>
        <p:spPr>
          <a:xfrm>
            <a:off x="698182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3" name="矩形 192">
            <a:extLst>
              <a:ext uri="{FF2B5EF4-FFF2-40B4-BE49-F238E27FC236}">
                <a16:creationId xmlns:a16="http://schemas.microsoft.com/office/drawing/2014/main" id="{B2A96911-AEBC-4796-B7BC-38B9651619E2}"/>
              </a:ext>
            </a:extLst>
          </p:cNvPr>
          <p:cNvSpPr>
            <a:spLocks noGrp="1"/>
          </p:cNvSpPr>
          <p:nvPr/>
        </p:nvSpPr>
        <p:spPr>
          <a:xfrm>
            <a:off x="726757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4" name="矩形 193">
            <a:extLst>
              <a:ext uri="{FF2B5EF4-FFF2-40B4-BE49-F238E27FC236}">
                <a16:creationId xmlns:a16="http://schemas.microsoft.com/office/drawing/2014/main" id="{F2129516-931B-4943-A4C1-72FA3BBC4D3D}"/>
              </a:ext>
            </a:extLst>
          </p:cNvPr>
          <p:cNvSpPr>
            <a:spLocks noGrp="1"/>
          </p:cNvSpPr>
          <p:nvPr/>
        </p:nvSpPr>
        <p:spPr>
          <a:xfrm>
            <a:off x="7553325" y="434340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195" name="矩形 194">
            <a:extLst>
              <a:ext uri="{FF2B5EF4-FFF2-40B4-BE49-F238E27FC236}">
                <a16:creationId xmlns:a16="http://schemas.microsoft.com/office/drawing/2014/main" id="{47B26508-8246-457C-8306-32D102035419}"/>
              </a:ext>
            </a:extLst>
          </p:cNvPr>
          <p:cNvSpPr>
            <a:spLocks noGrp="1"/>
          </p:cNvSpPr>
          <p:nvPr/>
        </p:nvSpPr>
        <p:spPr>
          <a:xfrm>
            <a:off x="783907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6" name="矩形 195">
            <a:extLst>
              <a:ext uri="{FF2B5EF4-FFF2-40B4-BE49-F238E27FC236}">
                <a16:creationId xmlns:a16="http://schemas.microsoft.com/office/drawing/2014/main" id="{889D6265-05CF-4700-80DA-862D4612FCD7}"/>
              </a:ext>
            </a:extLst>
          </p:cNvPr>
          <p:cNvSpPr>
            <a:spLocks noGrp="1"/>
          </p:cNvSpPr>
          <p:nvPr/>
        </p:nvSpPr>
        <p:spPr>
          <a:xfrm>
            <a:off x="812482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7" name="矩形 196">
            <a:extLst>
              <a:ext uri="{FF2B5EF4-FFF2-40B4-BE49-F238E27FC236}">
                <a16:creationId xmlns:a16="http://schemas.microsoft.com/office/drawing/2014/main" id="{643F9735-44C0-4F54-B271-0923C4FB5055}"/>
              </a:ext>
            </a:extLst>
          </p:cNvPr>
          <p:cNvSpPr>
            <a:spLocks noGrp="1"/>
          </p:cNvSpPr>
          <p:nvPr/>
        </p:nvSpPr>
        <p:spPr>
          <a:xfrm>
            <a:off x="841057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8" name="矩形 197">
            <a:extLst>
              <a:ext uri="{FF2B5EF4-FFF2-40B4-BE49-F238E27FC236}">
                <a16:creationId xmlns:a16="http://schemas.microsoft.com/office/drawing/2014/main" id="{FAC67D30-FCD2-4C5C-AA4E-186959C7DE48}"/>
              </a:ext>
            </a:extLst>
          </p:cNvPr>
          <p:cNvSpPr>
            <a:spLocks noGrp="1"/>
          </p:cNvSpPr>
          <p:nvPr/>
        </p:nvSpPr>
        <p:spPr>
          <a:xfrm>
            <a:off x="869632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199" name="矩形 198">
            <a:extLst>
              <a:ext uri="{FF2B5EF4-FFF2-40B4-BE49-F238E27FC236}">
                <a16:creationId xmlns:a16="http://schemas.microsoft.com/office/drawing/2014/main" id="{93A6D704-4817-4B44-A8E9-4915383EEB8B}"/>
              </a:ext>
            </a:extLst>
          </p:cNvPr>
          <p:cNvSpPr>
            <a:spLocks noGrp="1"/>
          </p:cNvSpPr>
          <p:nvPr/>
        </p:nvSpPr>
        <p:spPr>
          <a:xfrm>
            <a:off x="898207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200" name="矩形 199">
            <a:extLst>
              <a:ext uri="{FF2B5EF4-FFF2-40B4-BE49-F238E27FC236}">
                <a16:creationId xmlns:a16="http://schemas.microsoft.com/office/drawing/2014/main" id="{14D53DC1-A4E4-49AC-AD3E-7030E567B223}"/>
              </a:ext>
            </a:extLst>
          </p:cNvPr>
          <p:cNvSpPr>
            <a:spLocks noGrp="1"/>
          </p:cNvSpPr>
          <p:nvPr/>
        </p:nvSpPr>
        <p:spPr>
          <a:xfrm>
            <a:off x="926782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201" name="矩形 200">
            <a:extLst>
              <a:ext uri="{FF2B5EF4-FFF2-40B4-BE49-F238E27FC236}">
                <a16:creationId xmlns:a16="http://schemas.microsoft.com/office/drawing/2014/main" id="{FECF0D21-21B6-423C-9F1E-BE266416B2D3}"/>
              </a:ext>
            </a:extLst>
          </p:cNvPr>
          <p:cNvSpPr>
            <a:spLocks noGrp="1"/>
          </p:cNvSpPr>
          <p:nvPr/>
        </p:nvSpPr>
        <p:spPr>
          <a:xfrm>
            <a:off x="9553575" y="4343400"/>
            <a:ext cx="266700" cy="266700"/>
          </a:xfrm>
          <a:prstGeom prst="rect">
            <a:avLst/>
          </a:prstGeom>
          <a:solidFill>
            <a:srgbClr val="B4964B"/>
          </a:solidFill>
          <a:ln w="9525">
            <a:solidFill>
              <a:srgbClr val="CFD7E2"/>
            </a:solidFill>
            <a:prstDash val="solid"/>
          </a:ln>
        </p:spPr>
        <p:txBody>
          <a:bodyPr/>
          <a:lstStyle/>
          <a:p>
            <a:endParaRPr lang="zh-CN" altLang="en-US"/>
          </a:p>
        </p:txBody>
      </p:sp>
      <p:sp>
        <p:nvSpPr>
          <p:cNvPr id="202" name="矩形 201">
            <a:extLst>
              <a:ext uri="{FF2B5EF4-FFF2-40B4-BE49-F238E27FC236}">
                <a16:creationId xmlns:a16="http://schemas.microsoft.com/office/drawing/2014/main" id="{C806177C-7026-4013-8841-DADC35593EE8}"/>
              </a:ext>
            </a:extLst>
          </p:cNvPr>
          <p:cNvSpPr>
            <a:spLocks noGrp="1"/>
          </p:cNvSpPr>
          <p:nvPr/>
        </p:nvSpPr>
        <p:spPr>
          <a:xfrm>
            <a:off x="983932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203" name="矩形 202">
            <a:extLst>
              <a:ext uri="{FF2B5EF4-FFF2-40B4-BE49-F238E27FC236}">
                <a16:creationId xmlns:a16="http://schemas.microsoft.com/office/drawing/2014/main" id="{F5E58A84-DD3A-42EA-863D-A15C38360833}"/>
              </a:ext>
            </a:extLst>
          </p:cNvPr>
          <p:cNvSpPr>
            <a:spLocks noGrp="1"/>
          </p:cNvSpPr>
          <p:nvPr/>
        </p:nvSpPr>
        <p:spPr>
          <a:xfrm>
            <a:off x="10125075" y="4343400"/>
            <a:ext cx="266700" cy="266700"/>
          </a:xfrm>
          <a:prstGeom prst="rect">
            <a:avLst/>
          </a:prstGeom>
          <a:solidFill>
            <a:srgbClr val="FFFFFF"/>
          </a:solidFill>
          <a:ln w="9525">
            <a:solidFill>
              <a:srgbClr val="CFD7E2"/>
            </a:solidFill>
            <a:prstDash val="solid"/>
          </a:ln>
        </p:spPr>
        <p:txBody>
          <a:bodyPr/>
          <a:lstStyle/>
          <a:p>
            <a:endParaRPr lang="zh-CN" altLang="en-US"/>
          </a:p>
        </p:txBody>
      </p:sp>
      <p:sp>
        <p:nvSpPr>
          <p:cNvPr id="204" name="矩形 203">
            <a:extLst>
              <a:ext uri="{FF2B5EF4-FFF2-40B4-BE49-F238E27FC236}">
                <a16:creationId xmlns:a16="http://schemas.microsoft.com/office/drawing/2014/main" id="{15B259E7-8C46-4849-B7D2-2D20A0DE5156}"/>
              </a:ext>
            </a:extLst>
          </p:cNvPr>
          <p:cNvSpPr>
            <a:spLocks noGrp="1"/>
          </p:cNvSpPr>
          <p:nvPr/>
        </p:nvSpPr>
        <p:spPr>
          <a:xfrm>
            <a:off x="1657350" y="4762500"/>
            <a:ext cx="2990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学生 </a:t>
            </a:r>
            <a:r>
              <a:rPr>
                <a:latin typeface="Times New Roman"/>
                <a:ea typeface="Times New Roman"/>
                <a:cs typeface="Times New Roman"/>
              </a:rPr>
              <a:t>× </a:t>
            </a:r>
            <a:r>
              <a:rPr>
                <a:latin typeface="黑体"/>
                <a:ea typeface="黑体"/>
                <a:cs typeface="黑体"/>
              </a:rPr>
              <a:t>行为指标</a:t>
            </a:r>
          </a:p>
        </p:txBody>
      </p:sp>
      <p:sp>
        <p:nvSpPr>
          <p:cNvPr id="205" name="矩形 204">
            <a:extLst>
              <a:ext uri="{FF2B5EF4-FFF2-40B4-BE49-F238E27FC236}">
                <a16:creationId xmlns:a16="http://schemas.microsoft.com/office/drawing/2014/main" id="{DAD0D6CF-E1BF-4DF6-8965-ABAE51492A4F}"/>
              </a:ext>
            </a:extLst>
          </p:cNvPr>
          <p:cNvSpPr>
            <a:spLocks noGrp="1"/>
          </p:cNvSpPr>
          <p:nvPr/>
        </p:nvSpPr>
        <p:spPr>
          <a:xfrm>
            <a:off x="6972300" y="4762500"/>
            <a:ext cx="34480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文档 </a:t>
            </a:r>
            <a:r>
              <a:rPr>
                <a:latin typeface="Times New Roman"/>
                <a:ea typeface="Times New Roman"/>
                <a:cs typeface="Times New Roman"/>
              </a:rPr>
              <a:t>× </a:t>
            </a:r>
            <a:r>
              <a:rPr>
                <a:latin typeface="黑体"/>
                <a:ea typeface="黑体"/>
                <a:cs typeface="黑体"/>
              </a:rPr>
              <a:t>词项 </a:t>
            </a:r>
            <a:r>
              <a:rPr>
                <a:latin typeface="Times New Roman"/>
                <a:ea typeface="Times New Roman"/>
                <a:cs typeface="Times New Roman"/>
              </a:rPr>
              <a:t>/ </a:t>
            </a:r>
            <a:r>
              <a:rPr>
                <a:latin typeface="黑体"/>
                <a:ea typeface="黑体"/>
                <a:cs typeface="黑体"/>
              </a:rPr>
              <a:t>用户 </a:t>
            </a:r>
            <a:r>
              <a:rPr>
                <a:latin typeface="Times New Roman"/>
                <a:ea typeface="Times New Roman"/>
                <a:cs typeface="Times New Roman"/>
              </a:rPr>
              <a:t>× </a:t>
            </a:r>
            <a:r>
              <a:rPr>
                <a:latin typeface="黑体"/>
                <a:ea typeface="黑体"/>
                <a:cs typeface="黑体"/>
              </a:rPr>
              <a:t>物品</a:t>
            </a:r>
          </a:p>
        </p:txBody>
      </p:sp>
      <p:sp>
        <p:nvSpPr>
          <p:cNvPr id="206" name="矩形 205">
            <a:extLst>
              <a:ext uri="{FF2B5EF4-FFF2-40B4-BE49-F238E27FC236}">
                <a16:creationId xmlns:a16="http://schemas.microsoft.com/office/drawing/2014/main" id="{6FB724A5-6659-4FC2-AFA4-9EADF0FCEE06}"/>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07" name="矩形 206">
            <a:extLst>
              <a:ext uri="{FF2B5EF4-FFF2-40B4-BE49-F238E27FC236}">
                <a16:creationId xmlns:a16="http://schemas.microsoft.com/office/drawing/2014/main" id="{F164E0D1-A3C0-41C6-BC68-AC7764517ED4}"/>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数据很稀疏时，存储方式和相似度选择都要改变。</a:t>
            </a:r>
          </a:p>
        </p:txBody>
      </p:sp>
    </p:spTree>
    <p:extLst>
      <p:ext uri="{BB962C8B-B14F-4D97-AF65-F5344CB8AC3E}">
        <p14:creationId xmlns:p14="http://schemas.microsoft.com/office/powerpoint/2010/main" val="1254955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32F56467-9AED-42D3-B37C-1DFA4FAE2DB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B28AFF3-1571-4C34-8577-BC7AAFD96A48}"/>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FD44CF3A-6B7F-4B70-977E-428BCCC667E0}"/>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4FC2DDD1-1AC9-445D-9BF3-95CF4823FE5D}"/>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常见数据集不只有普通表格</a:t>
            </a:r>
          </a:p>
        </p:txBody>
      </p:sp>
      <p:sp>
        <p:nvSpPr>
          <p:cNvPr id="5" name="矩形 4">
            <a:extLst>
              <a:ext uri="{FF2B5EF4-FFF2-40B4-BE49-F238E27FC236}">
                <a16:creationId xmlns:a16="http://schemas.microsoft.com/office/drawing/2014/main" id="{B1223F15-D73B-47EC-B95E-5C53AD6966F6}"/>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12/90</a:t>
            </a:r>
          </a:p>
        </p:txBody>
      </p:sp>
      <p:sp>
        <p:nvSpPr>
          <p:cNvPr id="6" name="矩形 5">
            <a:extLst>
              <a:ext uri="{FF2B5EF4-FFF2-40B4-BE49-F238E27FC236}">
                <a16:creationId xmlns:a16="http://schemas.microsoft.com/office/drawing/2014/main" id="{80E19DAF-73A3-44C6-B88D-4815003B955E}"/>
              </a:ext>
            </a:extLst>
          </p:cNvPr>
          <p:cNvSpPr>
            <a:spLocks noGrp="1"/>
          </p:cNvSpPr>
          <p:nvPr/>
        </p:nvSpPr>
        <p:spPr>
          <a:xfrm>
            <a:off x="552450" y="1200150"/>
            <a:ext cx="2638425" cy="2038350"/>
          </a:xfrm>
          <a:prstGeom prst="rect">
            <a:avLst/>
          </a:prstGeom>
          <a:solidFill>
            <a:srgbClr val="FFFFFF"/>
          </a:solidFill>
          <a:ln w="9525">
            <a:solidFill>
              <a:srgbClr val="C7D0DC"/>
            </a:solidFill>
            <a:prstDash val="solid"/>
          </a:ln>
        </p:spPr>
        <p:txBody>
          <a:bodyPr/>
          <a:lstStyle/>
          <a:p>
            <a:endParaRPr lang="zh-CN" altLang="en-US"/>
          </a:p>
        </p:txBody>
      </p:sp>
      <p:pic>
        <p:nvPicPr>
          <p:cNvPr id="34" name="图片 33"/>
          <p:cNvPicPr>
            <a:picLocks noChangeAspect="1"/>
          </p:cNvPicPr>
          <p:nvPr/>
        </p:nvPicPr>
        <p:blipFill>
          <a:blip r:embed="rId3"/>
          <a:srcRect l="6932" r="6932"/>
          <a:stretch>
            <a:fillRect/>
          </a:stretch>
        </p:blipFill>
        <p:spPr>
          <a:xfrm>
            <a:off x="552450" y="1200150"/>
            <a:ext cx="2638425" cy="2038350"/>
          </a:xfrm>
          <a:prstGeom prst="rect">
            <a:avLst/>
          </a:prstGeom>
        </p:spPr>
      </p:pic>
      <p:sp>
        <p:nvSpPr>
          <p:cNvPr id="8" name="矩形 7">
            <a:extLst>
              <a:ext uri="{FF2B5EF4-FFF2-40B4-BE49-F238E27FC236}">
                <a16:creationId xmlns:a16="http://schemas.microsoft.com/office/drawing/2014/main" id="{8F74AD18-7EBF-4854-84D9-0EDE662A4E5A}"/>
              </a:ext>
            </a:extLst>
          </p:cNvPr>
          <p:cNvSpPr>
            <a:spLocks noGrp="1"/>
          </p:cNvSpPr>
          <p:nvPr/>
        </p:nvSpPr>
        <p:spPr>
          <a:xfrm>
            <a:off x="552450" y="3238500"/>
            <a:ext cx="2638425" cy="1847850"/>
          </a:xfrm>
          <a:prstGeom prst="rect">
            <a:avLst/>
          </a:prstGeom>
          <a:solidFill>
            <a:srgbClr val="F2F7FD"/>
          </a:solidFill>
          <a:ln w="9525">
            <a:solidFill>
              <a:srgbClr val="C5CFDB"/>
            </a:solidFill>
            <a:prstDash val="solid"/>
          </a:ln>
        </p:spPr>
        <p:txBody>
          <a:bodyPr/>
          <a:lstStyle/>
          <a:p>
            <a:endParaRPr lang="zh-CN" altLang="en-US"/>
          </a:p>
        </p:txBody>
      </p:sp>
      <p:sp>
        <p:nvSpPr>
          <p:cNvPr id="9" name="矩形 8">
            <a:extLst>
              <a:ext uri="{FF2B5EF4-FFF2-40B4-BE49-F238E27FC236}">
                <a16:creationId xmlns:a16="http://schemas.microsoft.com/office/drawing/2014/main" id="{37690CA1-2BAF-43ED-BF8E-91332F716D1A}"/>
              </a:ext>
            </a:extLst>
          </p:cNvPr>
          <p:cNvSpPr>
            <a:spLocks noGrp="1"/>
          </p:cNvSpPr>
          <p:nvPr/>
        </p:nvSpPr>
        <p:spPr>
          <a:xfrm>
            <a:off x="723900" y="3486150"/>
            <a:ext cx="22955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记录数据</a:t>
            </a:r>
          </a:p>
        </p:txBody>
      </p:sp>
      <p:sp>
        <p:nvSpPr>
          <p:cNvPr id="10" name="矩形 9">
            <a:extLst>
              <a:ext uri="{FF2B5EF4-FFF2-40B4-BE49-F238E27FC236}">
                <a16:creationId xmlns:a16="http://schemas.microsoft.com/office/drawing/2014/main" id="{FBF96439-C66E-4437-868F-FC85AE68F452}"/>
              </a:ext>
            </a:extLst>
          </p:cNvPr>
          <p:cNvSpPr>
            <a:spLocks noGrp="1"/>
          </p:cNvSpPr>
          <p:nvPr/>
        </p:nvSpPr>
        <p:spPr>
          <a:xfrm>
            <a:off x="723900" y="4000500"/>
            <a:ext cx="2295525"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固定属性描述每个对象</a:t>
            </a:r>
          </a:p>
        </p:txBody>
      </p:sp>
      <p:sp>
        <p:nvSpPr>
          <p:cNvPr id="11" name="矩形 10">
            <a:extLst>
              <a:ext uri="{FF2B5EF4-FFF2-40B4-BE49-F238E27FC236}">
                <a16:creationId xmlns:a16="http://schemas.microsoft.com/office/drawing/2014/main" id="{0F018337-CDDC-4465-8C8A-EDC1C6FCA7FD}"/>
              </a:ext>
            </a:extLst>
          </p:cNvPr>
          <p:cNvSpPr>
            <a:spLocks noGrp="1"/>
          </p:cNvSpPr>
          <p:nvPr/>
        </p:nvSpPr>
        <p:spPr>
          <a:xfrm>
            <a:off x="3362325" y="1200150"/>
            <a:ext cx="2638425" cy="2038350"/>
          </a:xfrm>
          <a:prstGeom prst="rect">
            <a:avLst/>
          </a:prstGeom>
          <a:solidFill>
            <a:srgbClr val="FFFFFF"/>
          </a:solidFill>
          <a:ln w="9525">
            <a:solidFill>
              <a:srgbClr val="C7D0DC"/>
            </a:solidFill>
            <a:prstDash val="solid"/>
          </a:ln>
        </p:spPr>
        <p:txBody>
          <a:bodyPr/>
          <a:lstStyle/>
          <a:p>
            <a:endParaRPr lang="zh-CN" altLang="en-US"/>
          </a:p>
        </p:txBody>
      </p:sp>
      <p:pic>
        <p:nvPicPr>
          <p:cNvPr id="39" name="图片 38"/>
          <p:cNvPicPr>
            <a:picLocks noChangeAspect="1"/>
          </p:cNvPicPr>
          <p:nvPr/>
        </p:nvPicPr>
        <p:blipFill>
          <a:blip r:embed="rId4"/>
          <a:srcRect l="27021" r="27021"/>
          <a:stretch>
            <a:fillRect/>
          </a:stretch>
        </p:blipFill>
        <p:spPr>
          <a:xfrm>
            <a:off x="3362325" y="1200150"/>
            <a:ext cx="2638425" cy="2038350"/>
          </a:xfrm>
          <a:prstGeom prst="rect">
            <a:avLst/>
          </a:prstGeom>
        </p:spPr>
      </p:pic>
      <p:sp>
        <p:nvSpPr>
          <p:cNvPr id="13" name="矩形 12">
            <a:extLst>
              <a:ext uri="{FF2B5EF4-FFF2-40B4-BE49-F238E27FC236}">
                <a16:creationId xmlns:a16="http://schemas.microsoft.com/office/drawing/2014/main" id="{F75F7F70-48B0-4591-95C0-63224BF34604}"/>
              </a:ext>
            </a:extLst>
          </p:cNvPr>
          <p:cNvSpPr>
            <a:spLocks noGrp="1"/>
          </p:cNvSpPr>
          <p:nvPr/>
        </p:nvSpPr>
        <p:spPr>
          <a:xfrm>
            <a:off x="3362325" y="3238500"/>
            <a:ext cx="2638425" cy="1847850"/>
          </a:xfrm>
          <a:prstGeom prst="rect">
            <a:avLst/>
          </a:prstGeom>
          <a:solidFill>
            <a:srgbClr val="FFFFFF"/>
          </a:solidFill>
          <a:ln w="9525">
            <a:solidFill>
              <a:srgbClr val="C5CFDB"/>
            </a:solidFill>
            <a:prstDash val="solid"/>
          </a:ln>
        </p:spPr>
        <p:txBody>
          <a:bodyPr/>
          <a:lstStyle/>
          <a:p>
            <a:endParaRPr lang="zh-CN" altLang="en-US"/>
          </a:p>
        </p:txBody>
      </p:sp>
      <p:sp>
        <p:nvSpPr>
          <p:cNvPr id="14" name="矩形 13">
            <a:extLst>
              <a:ext uri="{FF2B5EF4-FFF2-40B4-BE49-F238E27FC236}">
                <a16:creationId xmlns:a16="http://schemas.microsoft.com/office/drawing/2014/main" id="{00FC8773-F399-47A5-B2C7-482A41B00DB0}"/>
              </a:ext>
            </a:extLst>
          </p:cNvPr>
          <p:cNvSpPr>
            <a:spLocks noGrp="1"/>
          </p:cNvSpPr>
          <p:nvPr/>
        </p:nvSpPr>
        <p:spPr>
          <a:xfrm>
            <a:off x="3533775" y="3486150"/>
            <a:ext cx="22955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事务数据</a:t>
            </a:r>
          </a:p>
        </p:txBody>
      </p:sp>
      <p:sp>
        <p:nvSpPr>
          <p:cNvPr id="15" name="矩形 14">
            <a:extLst>
              <a:ext uri="{FF2B5EF4-FFF2-40B4-BE49-F238E27FC236}">
                <a16:creationId xmlns:a16="http://schemas.microsoft.com/office/drawing/2014/main" id="{DFBB4368-9359-4067-B7D5-CE967B9FDC50}"/>
              </a:ext>
            </a:extLst>
          </p:cNvPr>
          <p:cNvSpPr>
            <a:spLocks noGrp="1"/>
          </p:cNvSpPr>
          <p:nvPr/>
        </p:nvSpPr>
        <p:spPr>
          <a:xfrm>
            <a:off x="3533775" y="4000500"/>
            <a:ext cx="2295525"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每条记录是一组同时出现的项目</a:t>
            </a:r>
          </a:p>
        </p:txBody>
      </p:sp>
      <p:sp>
        <p:nvSpPr>
          <p:cNvPr id="16" name="矩形 15">
            <a:extLst>
              <a:ext uri="{FF2B5EF4-FFF2-40B4-BE49-F238E27FC236}">
                <a16:creationId xmlns:a16="http://schemas.microsoft.com/office/drawing/2014/main" id="{DAE41F15-878B-47A9-BB34-69590288D444}"/>
              </a:ext>
            </a:extLst>
          </p:cNvPr>
          <p:cNvSpPr>
            <a:spLocks noGrp="1"/>
          </p:cNvSpPr>
          <p:nvPr/>
        </p:nvSpPr>
        <p:spPr>
          <a:xfrm>
            <a:off x="6172200" y="1200150"/>
            <a:ext cx="2638425" cy="2038350"/>
          </a:xfrm>
          <a:prstGeom prst="rect">
            <a:avLst/>
          </a:prstGeom>
          <a:solidFill>
            <a:srgbClr val="FFFFFF"/>
          </a:solidFill>
          <a:ln w="9525">
            <a:solidFill>
              <a:srgbClr val="C7D0DC"/>
            </a:solidFill>
            <a:prstDash val="solid"/>
          </a:ln>
        </p:spPr>
        <p:txBody>
          <a:bodyPr/>
          <a:lstStyle/>
          <a:p>
            <a:endParaRPr lang="zh-CN" altLang="en-US"/>
          </a:p>
        </p:txBody>
      </p:sp>
      <p:pic>
        <p:nvPicPr>
          <p:cNvPr id="44" name="图片 43"/>
          <p:cNvPicPr>
            <a:picLocks noChangeAspect="1"/>
          </p:cNvPicPr>
          <p:nvPr/>
        </p:nvPicPr>
        <p:blipFill>
          <a:blip r:embed="rId5"/>
          <a:srcRect l="17640" r="17640"/>
          <a:stretch>
            <a:fillRect/>
          </a:stretch>
        </p:blipFill>
        <p:spPr>
          <a:xfrm>
            <a:off x="6172200" y="1200150"/>
            <a:ext cx="2638425" cy="2038350"/>
          </a:xfrm>
          <a:prstGeom prst="rect">
            <a:avLst/>
          </a:prstGeom>
        </p:spPr>
      </p:pic>
      <p:sp>
        <p:nvSpPr>
          <p:cNvPr id="18" name="矩形 17">
            <a:extLst>
              <a:ext uri="{FF2B5EF4-FFF2-40B4-BE49-F238E27FC236}">
                <a16:creationId xmlns:a16="http://schemas.microsoft.com/office/drawing/2014/main" id="{96CBC0E7-5B76-4667-8B98-1C7682E7D055}"/>
              </a:ext>
            </a:extLst>
          </p:cNvPr>
          <p:cNvSpPr>
            <a:spLocks noGrp="1"/>
          </p:cNvSpPr>
          <p:nvPr/>
        </p:nvSpPr>
        <p:spPr>
          <a:xfrm>
            <a:off x="6172200" y="3238500"/>
            <a:ext cx="2638425" cy="1847850"/>
          </a:xfrm>
          <a:prstGeom prst="rect">
            <a:avLst/>
          </a:prstGeom>
          <a:solidFill>
            <a:srgbClr val="F2F7FD"/>
          </a:solidFill>
          <a:ln w="9525">
            <a:solidFill>
              <a:srgbClr val="C5CFDB"/>
            </a:solidFill>
            <a:prstDash val="solid"/>
          </a:ln>
        </p:spPr>
        <p:txBody>
          <a:bodyPr/>
          <a:lstStyle/>
          <a:p>
            <a:endParaRPr lang="zh-CN" altLang="en-US"/>
          </a:p>
        </p:txBody>
      </p:sp>
      <p:sp>
        <p:nvSpPr>
          <p:cNvPr id="19" name="矩形 18">
            <a:extLst>
              <a:ext uri="{FF2B5EF4-FFF2-40B4-BE49-F238E27FC236}">
                <a16:creationId xmlns:a16="http://schemas.microsoft.com/office/drawing/2014/main" id="{0B9967FB-747D-4D49-85D8-A686C79B7C5B}"/>
              </a:ext>
            </a:extLst>
          </p:cNvPr>
          <p:cNvSpPr>
            <a:spLocks noGrp="1"/>
          </p:cNvSpPr>
          <p:nvPr/>
        </p:nvSpPr>
        <p:spPr>
          <a:xfrm>
            <a:off x="6343650" y="3486150"/>
            <a:ext cx="22955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图数据</a:t>
            </a:r>
          </a:p>
        </p:txBody>
      </p:sp>
      <p:sp>
        <p:nvSpPr>
          <p:cNvPr id="20" name="矩形 19">
            <a:extLst>
              <a:ext uri="{FF2B5EF4-FFF2-40B4-BE49-F238E27FC236}">
                <a16:creationId xmlns:a16="http://schemas.microsoft.com/office/drawing/2014/main" id="{D189BBAC-6282-4B8D-8953-368CFEA04C76}"/>
              </a:ext>
            </a:extLst>
          </p:cNvPr>
          <p:cNvSpPr>
            <a:spLocks noGrp="1"/>
          </p:cNvSpPr>
          <p:nvPr/>
        </p:nvSpPr>
        <p:spPr>
          <a:xfrm>
            <a:off x="6343650" y="4000500"/>
            <a:ext cx="2295525"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节点和边表达对象之间的关系</a:t>
            </a:r>
          </a:p>
        </p:txBody>
      </p:sp>
      <p:sp>
        <p:nvSpPr>
          <p:cNvPr id="21" name="矩形 20">
            <a:extLst>
              <a:ext uri="{FF2B5EF4-FFF2-40B4-BE49-F238E27FC236}">
                <a16:creationId xmlns:a16="http://schemas.microsoft.com/office/drawing/2014/main" id="{8CF96DF0-374A-4F55-B80A-E8D09DD0ECC2}"/>
              </a:ext>
            </a:extLst>
          </p:cNvPr>
          <p:cNvSpPr>
            <a:spLocks noGrp="1"/>
          </p:cNvSpPr>
          <p:nvPr/>
        </p:nvSpPr>
        <p:spPr>
          <a:xfrm>
            <a:off x="8982075" y="1200150"/>
            <a:ext cx="2638425" cy="2038350"/>
          </a:xfrm>
          <a:prstGeom prst="rect">
            <a:avLst/>
          </a:prstGeom>
          <a:solidFill>
            <a:srgbClr val="FFFFFF"/>
          </a:solidFill>
          <a:ln w="9525">
            <a:solidFill>
              <a:srgbClr val="C7D0DC"/>
            </a:solidFill>
            <a:prstDash val="solid"/>
          </a:ln>
        </p:spPr>
        <p:txBody>
          <a:bodyPr/>
          <a:lstStyle/>
          <a:p>
            <a:endParaRPr lang="zh-CN" altLang="en-US"/>
          </a:p>
        </p:txBody>
      </p:sp>
      <p:pic>
        <p:nvPicPr>
          <p:cNvPr id="49" name="图片 48"/>
          <p:cNvPicPr>
            <a:picLocks noChangeAspect="1"/>
          </p:cNvPicPr>
          <p:nvPr/>
        </p:nvPicPr>
        <p:blipFill>
          <a:blip r:embed="rId6"/>
          <a:srcRect t="2331" b="2331"/>
          <a:stretch>
            <a:fillRect/>
          </a:stretch>
        </p:blipFill>
        <p:spPr>
          <a:xfrm>
            <a:off x="8982075" y="1200150"/>
            <a:ext cx="2638425" cy="2038350"/>
          </a:xfrm>
          <a:prstGeom prst="rect">
            <a:avLst/>
          </a:prstGeom>
        </p:spPr>
      </p:pic>
      <p:sp>
        <p:nvSpPr>
          <p:cNvPr id="23" name="矩形 22">
            <a:extLst>
              <a:ext uri="{FF2B5EF4-FFF2-40B4-BE49-F238E27FC236}">
                <a16:creationId xmlns:a16="http://schemas.microsoft.com/office/drawing/2014/main" id="{C5ECE856-1515-4950-9A88-BBFA98854396}"/>
              </a:ext>
            </a:extLst>
          </p:cNvPr>
          <p:cNvSpPr>
            <a:spLocks noGrp="1"/>
          </p:cNvSpPr>
          <p:nvPr/>
        </p:nvSpPr>
        <p:spPr>
          <a:xfrm>
            <a:off x="8982075" y="3238500"/>
            <a:ext cx="2638425" cy="1847850"/>
          </a:xfrm>
          <a:prstGeom prst="rect">
            <a:avLst/>
          </a:prstGeom>
          <a:solidFill>
            <a:srgbClr val="FFFFFF"/>
          </a:solidFill>
          <a:ln w="9525">
            <a:solidFill>
              <a:srgbClr val="C5CFDB"/>
            </a:solidFill>
            <a:prstDash val="solid"/>
          </a:ln>
        </p:spPr>
        <p:txBody>
          <a:bodyPr/>
          <a:lstStyle/>
          <a:p>
            <a:endParaRPr lang="zh-CN" altLang="en-US"/>
          </a:p>
        </p:txBody>
      </p:sp>
      <p:sp>
        <p:nvSpPr>
          <p:cNvPr id="24" name="矩形 23">
            <a:extLst>
              <a:ext uri="{FF2B5EF4-FFF2-40B4-BE49-F238E27FC236}">
                <a16:creationId xmlns:a16="http://schemas.microsoft.com/office/drawing/2014/main" id="{DEF7C748-38A8-40CA-9920-2413FE34A1D6}"/>
              </a:ext>
            </a:extLst>
          </p:cNvPr>
          <p:cNvSpPr>
            <a:spLocks noGrp="1"/>
          </p:cNvSpPr>
          <p:nvPr/>
        </p:nvSpPr>
        <p:spPr>
          <a:xfrm>
            <a:off x="9153525" y="3486150"/>
            <a:ext cx="22955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有序数据</a:t>
            </a:r>
          </a:p>
        </p:txBody>
      </p:sp>
      <p:sp>
        <p:nvSpPr>
          <p:cNvPr id="25" name="矩形 24">
            <a:extLst>
              <a:ext uri="{FF2B5EF4-FFF2-40B4-BE49-F238E27FC236}">
                <a16:creationId xmlns:a16="http://schemas.microsoft.com/office/drawing/2014/main" id="{D852CA7D-4A2A-47FE-B914-359188FFEB70}"/>
              </a:ext>
            </a:extLst>
          </p:cNvPr>
          <p:cNvSpPr>
            <a:spLocks noGrp="1"/>
          </p:cNvSpPr>
          <p:nvPr/>
        </p:nvSpPr>
        <p:spPr>
          <a:xfrm>
            <a:off x="9153525" y="4000500"/>
            <a:ext cx="2295525"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顺序与时间间隔本身包含信息</a:t>
            </a:r>
          </a:p>
        </p:txBody>
      </p:sp>
      <p:sp>
        <p:nvSpPr>
          <p:cNvPr id="26" name="矩形 25">
            <a:extLst>
              <a:ext uri="{FF2B5EF4-FFF2-40B4-BE49-F238E27FC236}">
                <a16:creationId xmlns:a16="http://schemas.microsoft.com/office/drawing/2014/main" id="{DE485883-6F4B-4DB2-BF9A-553D9BEF9B8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7" name="矩形 26">
            <a:extLst>
              <a:ext uri="{FF2B5EF4-FFF2-40B4-BE49-F238E27FC236}">
                <a16:creationId xmlns:a16="http://schemas.microsoft.com/office/drawing/2014/main" id="{C109367B-45AD-41C4-B6D5-CAD75BA88B81}"/>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数据形态决定自然表示，也决定后续可用方法。</a:t>
            </a:r>
          </a:p>
        </p:txBody>
      </p:sp>
    </p:spTree>
    <p:extLst>
      <p:ext uri="{BB962C8B-B14F-4D97-AF65-F5344CB8AC3E}">
        <p14:creationId xmlns:p14="http://schemas.microsoft.com/office/powerpoint/2010/main" val="41064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77310F70-E13B-463C-B4EA-BA966AD9AE4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35C727C5-14AD-4CAB-ADBA-CDB1BE58DF99}"/>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BF6BB675-27FD-4F5A-87A7-B66A6BDCE1F0}"/>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FB21C5F0-BF64-4445-B338-355461007E7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记录数据与事务数据回答不同问题</a:t>
            </a:r>
          </a:p>
        </p:txBody>
      </p:sp>
      <p:sp>
        <p:nvSpPr>
          <p:cNvPr id="5" name="矩形 4">
            <a:extLst>
              <a:ext uri="{FF2B5EF4-FFF2-40B4-BE49-F238E27FC236}">
                <a16:creationId xmlns:a16="http://schemas.microsoft.com/office/drawing/2014/main" id="{F512EC6B-31A4-4415-BE4D-DBC15E070A83}"/>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13/90</a:t>
            </a:r>
          </a:p>
        </p:txBody>
      </p:sp>
      <p:sp>
        <p:nvSpPr>
          <p:cNvPr id="6" name="矩形 5">
            <a:extLst>
              <a:ext uri="{FF2B5EF4-FFF2-40B4-BE49-F238E27FC236}">
                <a16:creationId xmlns:a16="http://schemas.microsoft.com/office/drawing/2014/main" id="{7AED2CCC-7B97-479C-8231-1A4DC442D8BB}"/>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133E62F2-C478-4620-9F72-26D476551EA0}"/>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ECA21DA6-B149-467B-80BC-4961A7824022}"/>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记录数据 </a:t>
            </a:r>
            <a:r>
              <a:rPr>
                <a:latin typeface="Times New Roman"/>
                <a:ea typeface="Times New Roman"/>
                <a:cs typeface="Times New Roman"/>
              </a:rPr>
              <a:t>Record data</a:t>
            </a:r>
          </a:p>
        </p:txBody>
      </p:sp>
      <p:sp>
        <p:nvSpPr>
          <p:cNvPr id="9" name="矩形 8">
            <a:extLst>
              <a:ext uri="{FF2B5EF4-FFF2-40B4-BE49-F238E27FC236}">
                <a16:creationId xmlns:a16="http://schemas.microsoft.com/office/drawing/2014/main" id="{569B94F9-AE04-442A-ACF3-0C90FCB1B6D2}"/>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0C0CC1C4-CB38-45E5-AF39-3D68C513CF6F}"/>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每行对象拥有固定列</a:t>
            </a:r>
          </a:p>
        </p:txBody>
      </p:sp>
      <p:sp>
        <p:nvSpPr>
          <p:cNvPr id="11" name="矩形 10">
            <a:extLst>
              <a:ext uri="{FF2B5EF4-FFF2-40B4-BE49-F238E27FC236}">
                <a16:creationId xmlns:a16="http://schemas.microsoft.com/office/drawing/2014/main" id="{F5AE3133-A268-4834-B6E1-DEB831EBDC25}"/>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2BA54D93-0A9B-44A6-977C-C927C7327D06}"/>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适合分类、回归和聚类</a:t>
            </a:r>
          </a:p>
        </p:txBody>
      </p:sp>
      <p:sp>
        <p:nvSpPr>
          <p:cNvPr id="13" name="矩形 12">
            <a:extLst>
              <a:ext uri="{FF2B5EF4-FFF2-40B4-BE49-F238E27FC236}">
                <a16:creationId xmlns:a16="http://schemas.microsoft.com/office/drawing/2014/main" id="{852DC1AF-19BA-43DB-84BC-31C4D77A3E32}"/>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379AD6DB-0388-4E8D-8301-55EB01154C41}"/>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例：每名学生的登录次数与成绩</a:t>
            </a:r>
          </a:p>
        </p:txBody>
      </p:sp>
      <p:sp>
        <p:nvSpPr>
          <p:cNvPr id="15" name="矩形 14">
            <a:extLst>
              <a:ext uri="{FF2B5EF4-FFF2-40B4-BE49-F238E27FC236}">
                <a16:creationId xmlns:a16="http://schemas.microsoft.com/office/drawing/2014/main" id="{BF847012-7AC5-4799-B6B2-81CDA3BCF736}"/>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891819A4-6D84-4896-8518-6770CDA69589}"/>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缺失表示某个属性没有值</a:t>
            </a:r>
          </a:p>
        </p:txBody>
      </p:sp>
      <p:sp>
        <p:nvSpPr>
          <p:cNvPr id="17" name="矩形 16">
            <a:extLst>
              <a:ext uri="{FF2B5EF4-FFF2-40B4-BE49-F238E27FC236}">
                <a16:creationId xmlns:a16="http://schemas.microsoft.com/office/drawing/2014/main" id="{0DC7F275-E27B-469D-BA8E-BECFC66CFF79}"/>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DEE0E70F-CE89-4199-8B1E-86B767690FB0}"/>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A52F24D2-56AE-4CA6-801D-22D9FCC84011}"/>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事务数据 </a:t>
            </a:r>
            <a:r>
              <a:rPr>
                <a:latin typeface="Times New Roman"/>
                <a:ea typeface="Times New Roman"/>
                <a:cs typeface="Times New Roman"/>
              </a:rPr>
              <a:t>Transaction data</a:t>
            </a:r>
          </a:p>
        </p:txBody>
      </p:sp>
      <p:sp>
        <p:nvSpPr>
          <p:cNvPr id="20" name="矩形 19">
            <a:extLst>
              <a:ext uri="{FF2B5EF4-FFF2-40B4-BE49-F238E27FC236}">
                <a16:creationId xmlns:a16="http://schemas.microsoft.com/office/drawing/2014/main" id="{A4775DD1-E99C-4233-8571-B4D2D047C722}"/>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B0CD2EA6-E7D9-490B-B8F8-4C998A8D5E32}"/>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每行是一组项目集合</a:t>
            </a:r>
          </a:p>
        </p:txBody>
      </p:sp>
      <p:sp>
        <p:nvSpPr>
          <p:cNvPr id="22" name="矩形 21">
            <a:extLst>
              <a:ext uri="{FF2B5EF4-FFF2-40B4-BE49-F238E27FC236}">
                <a16:creationId xmlns:a16="http://schemas.microsoft.com/office/drawing/2014/main" id="{F416A5D1-7207-441D-BDDA-427B80F38355}"/>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202272C0-182B-4D28-B52B-BC10AD21D937}"/>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列不必固定出现</a:t>
            </a:r>
          </a:p>
        </p:txBody>
      </p:sp>
      <p:sp>
        <p:nvSpPr>
          <p:cNvPr id="24" name="矩形 23">
            <a:extLst>
              <a:ext uri="{FF2B5EF4-FFF2-40B4-BE49-F238E27FC236}">
                <a16:creationId xmlns:a16="http://schemas.microsoft.com/office/drawing/2014/main" id="{D922B841-7FC9-4196-A5A9-770A7ABED5DA}"/>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403C363C-F384-48E0-BFCA-482227BE68A0}"/>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例：一次学习会话访问了哪些资源</a:t>
            </a:r>
          </a:p>
        </p:txBody>
      </p:sp>
      <p:sp>
        <p:nvSpPr>
          <p:cNvPr id="26" name="矩形 25">
            <a:extLst>
              <a:ext uri="{FF2B5EF4-FFF2-40B4-BE49-F238E27FC236}">
                <a16:creationId xmlns:a16="http://schemas.microsoft.com/office/drawing/2014/main" id="{27FB415F-D406-4870-9899-63BFBEA47254}"/>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0FAE28CE-CBDB-4F83-A6C2-7FB037DF2BF3}"/>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缺失与“没有出现”通常等价</a:t>
            </a:r>
          </a:p>
        </p:txBody>
      </p:sp>
      <p:sp>
        <p:nvSpPr>
          <p:cNvPr id="28" name="矩形 27">
            <a:extLst>
              <a:ext uri="{FF2B5EF4-FFF2-40B4-BE49-F238E27FC236}">
                <a16:creationId xmlns:a16="http://schemas.microsoft.com/office/drawing/2014/main" id="{7D30CBF3-110C-43F7-8A6F-93DAEAC9D71B}"/>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7926CE39-D498-4A5C-BA6A-5588BBCA658A}"/>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不要为了使用某个算法，强行把数据改造成不自然的形态。</a:t>
            </a:r>
          </a:p>
        </p:txBody>
      </p:sp>
    </p:spTree>
    <p:extLst>
      <p:ext uri="{BB962C8B-B14F-4D97-AF65-F5344CB8AC3E}">
        <p14:creationId xmlns:p14="http://schemas.microsoft.com/office/powerpoint/2010/main" val="1354563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E4415F6A-FEFF-42F8-9671-AF8F71019A1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26B8826C-10C4-4FBD-8BC4-A1D5AD858C38}"/>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F2E3DFF5-E6FC-4A33-B0E0-78C37884D4DD}"/>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76A2B3D-8B57-43B9-BFBC-2F8C1C356E5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图、序列和空间数据保留了结构</a:t>
            </a:r>
          </a:p>
        </p:txBody>
      </p:sp>
      <p:sp>
        <p:nvSpPr>
          <p:cNvPr id="5" name="矩形 4">
            <a:extLst>
              <a:ext uri="{FF2B5EF4-FFF2-40B4-BE49-F238E27FC236}">
                <a16:creationId xmlns:a16="http://schemas.microsoft.com/office/drawing/2014/main" id="{21003B52-6441-4E1F-B4BC-6B3E1F1DBB02}"/>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14/90</a:t>
            </a:r>
          </a:p>
        </p:txBody>
      </p:sp>
      <p:sp>
        <p:nvSpPr>
          <p:cNvPr id="6" name="矩形 5">
            <a:extLst>
              <a:ext uri="{FF2B5EF4-FFF2-40B4-BE49-F238E27FC236}">
                <a16:creationId xmlns:a16="http://schemas.microsoft.com/office/drawing/2014/main" id="{6D43CAD5-1DFD-4BA2-A3E7-D5385204B95E}"/>
              </a:ext>
            </a:extLst>
          </p:cNvPr>
          <p:cNvSpPr>
            <a:spLocks noGrp="1"/>
          </p:cNvSpPr>
          <p:nvPr/>
        </p:nvSpPr>
        <p:spPr>
          <a:xfrm>
            <a:off x="628650" y="1200150"/>
            <a:ext cx="2857500" cy="3962400"/>
          </a:xfrm>
          <a:prstGeom prst="rect">
            <a:avLst/>
          </a:prstGeom>
          <a:solidFill>
            <a:srgbClr val="FFFFFF"/>
          </a:solidFill>
          <a:ln w="9525">
            <a:solidFill>
              <a:srgbClr val="C7D0DC"/>
            </a:solidFill>
            <a:prstDash val="solid"/>
          </a:ln>
        </p:spPr>
        <p:txBody>
          <a:bodyPr/>
          <a:lstStyle/>
          <a:p>
            <a:endParaRPr lang="zh-CN" altLang="en-US"/>
          </a:p>
        </p:txBody>
      </p:sp>
      <p:pic>
        <p:nvPicPr>
          <p:cNvPr id="33" name="图片 32"/>
          <p:cNvPicPr>
            <a:picLocks noChangeAspect="1"/>
          </p:cNvPicPr>
          <p:nvPr/>
        </p:nvPicPr>
        <p:blipFill>
          <a:blip r:embed="rId3"/>
          <a:srcRect l="30366" r="30366"/>
          <a:stretch>
            <a:fillRect/>
          </a:stretch>
        </p:blipFill>
        <p:spPr>
          <a:xfrm>
            <a:off x="628650" y="1200150"/>
            <a:ext cx="2857500" cy="3638550"/>
          </a:xfrm>
          <a:prstGeom prst="rect">
            <a:avLst/>
          </a:prstGeom>
        </p:spPr>
      </p:pic>
      <p:sp>
        <p:nvSpPr>
          <p:cNvPr id="8" name="矩形 7">
            <a:extLst>
              <a:ext uri="{FF2B5EF4-FFF2-40B4-BE49-F238E27FC236}">
                <a16:creationId xmlns:a16="http://schemas.microsoft.com/office/drawing/2014/main" id="{B995CCCA-4CD8-4795-B818-88CCA075DE21}"/>
              </a:ext>
            </a:extLst>
          </p:cNvPr>
          <p:cNvSpPr>
            <a:spLocks noGrp="1"/>
          </p:cNvSpPr>
          <p:nvPr/>
        </p:nvSpPr>
        <p:spPr>
          <a:xfrm>
            <a:off x="628650" y="4838700"/>
            <a:ext cx="285750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9" name="矩形 8">
            <a:extLst>
              <a:ext uri="{FF2B5EF4-FFF2-40B4-BE49-F238E27FC236}">
                <a16:creationId xmlns:a16="http://schemas.microsoft.com/office/drawing/2014/main" id="{B1455675-E108-4322-8BB4-E0CDC47A356A}"/>
              </a:ext>
            </a:extLst>
          </p:cNvPr>
          <p:cNvSpPr>
            <a:spLocks noGrp="1"/>
          </p:cNvSpPr>
          <p:nvPr/>
        </p:nvSpPr>
        <p:spPr>
          <a:xfrm>
            <a:off x="723900" y="4905375"/>
            <a:ext cx="266700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节点与边构成图数据</a:t>
            </a:r>
          </a:p>
        </p:txBody>
      </p:sp>
      <p:sp>
        <p:nvSpPr>
          <p:cNvPr id="10" name="矩形 9">
            <a:extLst>
              <a:ext uri="{FF2B5EF4-FFF2-40B4-BE49-F238E27FC236}">
                <a16:creationId xmlns:a16="http://schemas.microsoft.com/office/drawing/2014/main" id="{E4E127C7-564A-408A-95DF-6C8EB25E49FB}"/>
              </a:ext>
            </a:extLst>
          </p:cNvPr>
          <p:cNvSpPr>
            <a:spLocks noGrp="1"/>
          </p:cNvSpPr>
          <p:nvPr/>
        </p:nvSpPr>
        <p:spPr>
          <a:xfrm>
            <a:off x="3638550" y="1200150"/>
            <a:ext cx="2857500" cy="3962400"/>
          </a:xfrm>
          <a:prstGeom prst="rect">
            <a:avLst/>
          </a:prstGeom>
          <a:solidFill>
            <a:srgbClr val="FFFFFF"/>
          </a:solidFill>
          <a:ln w="9525">
            <a:solidFill>
              <a:srgbClr val="C7D0DC"/>
            </a:solidFill>
            <a:prstDash val="solid"/>
          </a:ln>
        </p:spPr>
        <p:txBody>
          <a:bodyPr/>
          <a:lstStyle/>
          <a:p>
            <a:endParaRPr lang="zh-CN" altLang="en-US"/>
          </a:p>
        </p:txBody>
      </p:sp>
      <p:pic>
        <p:nvPicPr>
          <p:cNvPr id="37" name="图片 36"/>
          <p:cNvPicPr>
            <a:picLocks noChangeAspect="1"/>
          </p:cNvPicPr>
          <p:nvPr/>
        </p:nvPicPr>
        <p:blipFill>
          <a:blip r:embed="rId4"/>
          <a:srcRect l="18180" r="18180"/>
          <a:stretch>
            <a:fillRect/>
          </a:stretch>
        </p:blipFill>
        <p:spPr>
          <a:xfrm>
            <a:off x="3638550" y="1200150"/>
            <a:ext cx="2857500" cy="3638550"/>
          </a:xfrm>
          <a:prstGeom prst="rect">
            <a:avLst/>
          </a:prstGeom>
        </p:spPr>
      </p:pic>
      <p:sp>
        <p:nvSpPr>
          <p:cNvPr id="12" name="矩形 11">
            <a:extLst>
              <a:ext uri="{FF2B5EF4-FFF2-40B4-BE49-F238E27FC236}">
                <a16:creationId xmlns:a16="http://schemas.microsoft.com/office/drawing/2014/main" id="{A72666A9-C3DF-4532-B93C-C3E3A9AFD7CF}"/>
              </a:ext>
            </a:extLst>
          </p:cNvPr>
          <p:cNvSpPr>
            <a:spLocks noGrp="1"/>
          </p:cNvSpPr>
          <p:nvPr/>
        </p:nvSpPr>
        <p:spPr>
          <a:xfrm>
            <a:off x="3638550" y="4838700"/>
            <a:ext cx="285750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C3137C93-B70D-4E60-8CED-8E4456F71FD0}"/>
              </a:ext>
            </a:extLst>
          </p:cNvPr>
          <p:cNvSpPr>
            <a:spLocks noGrp="1"/>
          </p:cNvSpPr>
          <p:nvPr/>
        </p:nvSpPr>
        <p:spPr>
          <a:xfrm>
            <a:off x="3733800" y="4905375"/>
            <a:ext cx="266700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位置和时间形成时空数据</a:t>
            </a:r>
          </a:p>
        </p:txBody>
      </p:sp>
      <p:sp>
        <p:nvSpPr>
          <p:cNvPr id="14" name="矩形 13">
            <a:extLst>
              <a:ext uri="{FF2B5EF4-FFF2-40B4-BE49-F238E27FC236}">
                <a16:creationId xmlns:a16="http://schemas.microsoft.com/office/drawing/2014/main" id="{55900093-52E8-4175-A277-CEFD91B26C3C}"/>
              </a:ext>
            </a:extLst>
          </p:cNvPr>
          <p:cNvSpPr>
            <a:spLocks noGrp="1"/>
          </p:cNvSpPr>
          <p:nvPr/>
        </p:nvSpPr>
        <p:spPr>
          <a:xfrm>
            <a:off x="6858000" y="1238250"/>
            <a:ext cx="4133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0204A"/>
                </a:solidFill>
                <a:latin typeface="黑体"/>
                <a:ea typeface="黑体"/>
                <a:cs typeface="黑体"/>
              </a:defRPr>
            </a:pPr>
            <a:r>
              <a:rPr>
                <a:latin typeface="黑体"/>
                <a:ea typeface="黑体"/>
                <a:cs typeface="黑体"/>
              </a:rPr>
              <a:t>图数据</a:t>
            </a:r>
          </a:p>
        </p:txBody>
      </p:sp>
      <p:sp>
        <p:nvSpPr>
          <p:cNvPr id="15" name="矩形 14">
            <a:extLst>
              <a:ext uri="{FF2B5EF4-FFF2-40B4-BE49-F238E27FC236}">
                <a16:creationId xmlns:a16="http://schemas.microsoft.com/office/drawing/2014/main" id="{DFAD76A8-5EA4-4077-B2E6-6832D2DB8DE0}"/>
              </a:ext>
            </a:extLst>
          </p:cNvPr>
          <p:cNvSpPr>
            <a:spLocks noGrp="1"/>
          </p:cNvSpPr>
          <p:nvPr/>
        </p:nvSpPr>
        <p:spPr>
          <a:xfrm>
            <a:off x="6858000" y="1581150"/>
            <a:ext cx="4133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关系由边表达，节点属性只是信息的一部分</a:t>
            </a:r>
          </a:p>
        </p:txBody>
      </p:sp>
      <p:sp>
        <p:nvSpPr>
          <p:cNvPr id="16" name="矩形 15">
            <a:extLst>
              <a:ext uri="{FF2B5EF4-FFF2-40B4-BE49-F238E27FC236}">
                <a16:creationId xmlns:a16="http://schemas.microsoft.com/office/drawing/2014/main" id="{545E6AC5-5047-411A-AE63-71CC087672A4}"/>
              </a:ext>
            </a:extLst>
          </p:cNvPr>
          <p:cNvSpPr>
            <a:spLocks noGrp="1"/>
          </p:cNvSpPr>
          <p:nvPr/>
        </p:nvSpPr>
        <p:spPr>
          <a:xfrm>
            <a:off x="6858000" y="2095500"/>
            <a:ext cx="41338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D43CEED7-7834-4AAC-B295-B2C63881AD7D}"/>
              </a:ext>
            </a:extLst>
          </p:cNvPr>
          <p:cNvSpPr>
            <a:spLocks noGrp="1"/>
          </p:cNvSpPr>
          <p:nvPr/>
        </p:nvSpPr>
        <p:spPr>
          <a:xfrm>
            <a:off x="6858000" y="2209800"/>
            <a:ext cx="4133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0204A"/>
                </a:solidFill>
                <a:latin typeface="黑体"/>
                <a:ea typeface="黑体"/>
                <a:cs typeface="黑体"/>
              </a:defRPr>
            </a:pPr>
            <a:r>
              <a:rPr>
                <a:latin typeface="黑体"/>
                <a:ea typeface="黑体"/>
                <a:cs typeface="黑体"/>
              </a:rPr>
              <a:t>序列数据</a:t>
            </a:r>
          </a:p>
        </p:txBody>
      </p:sp>
      <p:sp>
        <p:nvSpPr>
          <p:cNvPr id="18" name="矩形 17">
            <a:extLst>
              <a:ext uri="{FF2B5EF4-FFF2-40B4-BE49-F238E27FC236}">
                <a16:creationId xmlns:a16="http://schemas.microsoft.com/office/drawing/2014/main" id="{CB55F0ED-F5FD-463B-8479-02E942A3135E}"/>
              </a:ext>
            </a:extLst>
          </p:cNvPr>
          <p:cNvSpPr>
            <a:spLocks noGrp="1"/>
          </p:cNvSpPr>
          <p:nvPr/>
        </p:nvSpPr>
        <p:spPr>
          <a:xfrm>
            <a:off x="6858000" y="2552700"/>
            <a:ext cx="4133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先后顺序、间隔和重复模式都可能重要</a:t>
            </a:r>
          </a:p>
        </p:txBody>
      </p:sp>
      <p:sp>
        <p:nvSpPr>
          <p:cNvPr id="19" name="矩形 18">
            <a:extLst>
              <a:ext uri="{FF2B5EF4-FFF2-40B4-BE49-F238E27FC236}">
                <a16:creationId xmlns:a16="http://schemas.microsoft.com/office/drawing/2014/main" id="{BA957E0C-5402-4A50-82FC-17A68E488ABE}"/>
              </a:ext>
            </a:extLst>
          </p:cNvPr>
          <p:cNvSpPr>
            <a:spLocks noGrp="1"/>
          </p:cNvSpPr>
          <p:nvPr/>
        </p:nvSpPr>
        <p:spPr>
          <a:xfrm>
            <a:off x="6858000" y="3067050"/>
            <a:ext cx="41338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C7704257-50CD-4AB0-AEA8-2A1A04C67D27}"/>
              </a:ext>
            </a:extLst>
          </p:cNvPr>
          <p:cNvSpPr>
            <a:spLocks noGrp="1"/>
          </p:cNvSpPr>
          <p:nvPr/>
        </p:nvSpPr>
        <p:spPr>
          <a:xfrm>
            <a:off x="6858000" y="3181350"/>
            <a:ext cx="4133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0204A"/>
                </a:solidFill>
                <a:latin typeface="黑体"/>
                <a:ea typeface="黑体"/>
                <a:cs typeface="黑体"/>
              </a:defRPr>
            </a:pPr>
            <a:r>
              <a:rPr>
                <a:latin typeface="黑体"/>
                <a:ea typeface="黑体"/>
                <a:cs typeface="黑体"/>
              </a:rPr>
              <a:t>空间数据</a:t>
            </a:r>
          </a:p>
        </p:txBody>
      </p:sp>
      <p:sp>
        <p:nvSpPr>
          <p:cNvPr id="21" name="矩形 20">
            <a:extLst>
              <a:ext uri="{FF2B5EF4-FFF2-40B4-BE49-F238E27FC236}">
                <a16:creationId xmlns:a16="http://schemas.microsoft.com/office/drawing/2014/main" id="{66ADD69D-BD2B-4181-8A29-49717432B3F4}"/>
              </a:ext>
            </a:extLst>
          </p:cNvPr>
          <p:cNvSpPr>
            <a:spLocks noGrp="1"/>
          </p:cNvSpPr>
          <p:nvPr/>
        </p:nvSpPr>
        <p:spPr>
          <a:xfrm>
            <a:off x="6858000" y="3524250"/>
            <a:ext cx="4133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邻近关系和坐标系统影响分析</a:t>
            </a:r>
          </a:p>
        </p:txBody>
      </p:sp>
      <p:sp>
        <p:nvSpPr>
          <p:cNvPr id="22" name="矩形 21">
            <a:extLst>
              <a:ext uri="{FF2B5EF4-FFF2-40B4-BE49-F238E27FC236}">
                <a16:creationId xmlns:a16="http://schemas.microsoft.com/office/drawing/2014/main" id="{0D5BB751-3A83-4B44-9511-3D483338E3C3}"/>
              </a:ext>
            </a:extLst>
          </p:cNvPr>
          <p:cNvSpPr>
            <a:spLocks noGrp="1"/>
          </p:cNvSpPr>
          <p:nvPr/>
        </p:nvSpPr>
        <p:spPr>
          <a:xfrm>
            <a:off x="6858000" y="4038600"/>
            <a:ext cx="41338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C96FD078-67C8-40D3-AE38-A84EBB3C6949}"/>
              </a:ext>
            </a:extLst>
          </p:cNvPr>
          <p:cNvSpPr>
            <a:spLocks noGrp="1"/>
          </p:cNvSpPr>
          <p:nvPr/>
        </p:nvSpPr>
        <p:spPr>
          <a:xfrm>
            <a:off x="6858000" y="4152900"/>
            <a:ext cx="4133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B4964B"/>
                </a:solidFill>
                <a:latin typeface="黑体"/>
                <a:ea typeface="黑体"/>
                <a:cs typeface="黑体"/>
              </a:defRPr>
            </a:pPr>
            <a:r>
              <a:rPr>
                <a:latin typeface="黑体"/>
                <a:ea typeface="黑体"/>
                <a:cs typeface="黑体"/>
              </a:rPr>
              <a:t>普通矩阵</a:t>
            </a:r>
          </a:p>
        </p:txBody>
      </p:sp>
      <p:sp>
        <p:nvSpPr>
          <p:cNvPr id="24" name="矩形 23">
            <a:extLst>
              <a:ext uri="{FF2B5EF4-FFF2-40B4-BE49-F238E27FC236}">
                <a16:creationId xmlns:a16="http://schemas.microsoft.com/office/drawing/2014/main" id="{B0C24830-E46C-47CA-8A46-B23053D49670}"/>
              </a:ext>
            </a:extLst>
          </p:cNvPr>
          <p:cNvSpPr>
            <a:spLocks noGrp="1"/>
          </p:cNvSpPr>
          <p:nvPr/>
        </p:nvSpPr>
        <p:spPr>
          <a:xfrm>
            <a:off x="6858000" y="4495800"/>
            <a:ext cx="41338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若忽略结构，可能丢失最关键的信息</a:t>
            </a:r>
          </a:p>
        </p:txBody>
      </p:sp>
      <p:sp>
        <p:nvSpPr>
          <p:cNvPr id="25" name="矩形 24">
            <a:extLst>
              <a:ext uri="{FF2B5EF4-FFF2-40B4-BE49-F238E27FC236}">
                <a16:creationId xmlns:a16="http://schemas.microsoft.com/office/drawing/2014/main" id="{F43839F9-2B6D-4773-AC70-8C797FA1DE3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6" name="矩形 25">
            <a:extLst>
              <a:ext uri="{FF2B5EF4-FFF2-40B4-BE49-F238E27FC236}">
                <a16:creationId xmlns:a16="http://schemas.microsoft.com/office/drawing/2014/main" id="{A5687A8B-14B0-4323-AB94-F4D12BEF3246}"/>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结构不是装饰，而是数据的一部分。</a:t>
            </a:r>
          </a:p>
        </p:txBody>
      </p:sp>
    </p:spTree>
    <p:extLst>
      <p:ext uri="{BB962C8B-B14F-4D97-AF65-F5344CB8AC3E}">
        <p14:creationId xmlns:p14="http://schemas.microsoft.com/office/powerpoint/2010/main" val="1635191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A9240F03-306E-4561-AA34-030855DBFB24}"/>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4177BEA6-4036-44B1-BE4F-5A79FFBD71C9}"/>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B403316-203B-4F9E-BCA2-2A900D881379}"/>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C0EA4A4-AB48-4026-AC4E-AE1FB4B16082}"/>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数据形态决定自然的分析单位</a:t>
            </a:r>
          </a:p>
        </p:txBody>
      </p:sp>
      <p:sp>
        <p:nvSpPr>
          <p:cNvPr id="5" name="矩形 4">
            <a:extLst>
              <a:ext uri="{FF2B5EF4-FFF2-40B4-BE49-F238E27FC236}">
                <a16:creationId xmlns:a16="http://schemas.microsoft.com/office/drawing/2014/main" id="{7A5E809B-E1D8-4911-8A3E-EB3D1C45D421}"/>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15/90</a:t>
            </a:r>
          </a:p>
        </p:txBody>
      </p:sp>
      <p:sp>
        <p:nvSpPr>
          <p:cNvPr id="6" name="矩形 5">
            <a:extLst>
              <a:ext uri="{FF2B5EF4-FFF2-40B4-BE49-F238E27FC236}">
                <a16:creationId xmlns:a16="http://schemas.microsoft.com/office/drawing/2014/main" id="{AD2AB57A-DD27-4155-BBCB-18728218DB10}"/>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D20970F1-A738-4CB0-8E89-A1C285B46E5F}"/>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数据形态</a:t>
            </a:r>
          </a:p>
        </p:txBody>
      </p:sp>
      <p:sp>
        <p:nvSpPr>
          <p:cNvPr id="8" name="矩形 7">
            <a:extLst>
              <a:ext uri="{FF2B5EF4-FFF2-40B4-BE49-F238E27FC236}">
                <a16:creationId xmlns:a16="http://schemas.microsoft.com/office/drawing/2014/main" id="{C1692B8E-3B5B-40E3-AAE4-886B3D665F0E}"/>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A3F5A238-EF47-4450-BBF8-AFE3769A6E42}"/>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自然分析单位</a:t>
            </a:r>
          </a:p>
        </p:txBody>
      </p:sp>
      <p:sp>
        <p:nvSpPr>
          <p:cNvPr id="10" name="矩形 9">
            <a:extLst>
              <a:ext uri="{FF2B5EF4-FFF2-40B4-BE49-F238E27FC236}">
                <a16:creationId xmlns:a16="http://schemas.microsoft.com/office/drawing/2014/main" id="{19BAC7B0-659E-4C1D-8143-4D271D24474C}"/>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D1B0EAEE-3D17-420E-9BE1-8C5A92605375}"/>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典型问题</a:t>
            </a:r>
          </a:p>
        </p:txBody>
      </p:sp>
      <p:sp>
        <p:nvSpPr>
          <p:cNvPr id="12" name="矩形 11">
            <a:extLst>
              <a:ext uri="{FF2B5EF4-FFF2-40B4-BE49-F238E27FC236}">
                <a16:creationId xmlns:a16="http://schemas.microsoft.com/office/drawing/2014/main" id="{FC38C2B1-D690-473F-9F45-1A1BF653888F}"/>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293F0BDB-7C94-414A-A04B-3762371028B3}"/>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记录数据</a:t>
            </a:r>
          </a:p>
        </p:txBody>
      </p:sp>
      <p:sp>
        <p:nvSpPr>
          <p:cNvPr id="14" name="矩形 13">
            <a:extLst>
              <a:ext uri="{FF2B5EF4-FFF2-40B4-BE49-F238E27FC236}">
                <a16:creationId xmlns:a16="http://schemas.microsoft.com/office/drawing/2014/main" id="{D1BCA5F4-1AB3-4EB6-A810-882118CA85DF}"/>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A220813D-18FF-4075-A28A-70533F48B411}"/>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学生或 </a:t>
            </a:r>
            <a:r>
              <a:rPr>
                <a:latin typeface="Times New Roman"/>
                <a:ea typeface="Times New Roman"/>
                <a:cs typeface="Times New Roman"/>
              </a:rPr>
              <a:t>student-week</a:t>
            </a:r>
          </a:p>
        </p:txBody>
      </p:sp>
      <p:sp>
        <p:nvSpPr>
          <p:cNvPr id="16" name="矩形 15">
            <a:extLst>
              <a:ext uri="{FF2B5EF4-FFF2-40B4-BE49-F238E27FC236}">
                <a16:creationId xmlns:a16="http://schemas.microsoft.com/office/drawing/2014/main" id="{115F72DC-9BAF-4D57-8ECB-9548A98B27FF}"/>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C474632B-8AE2-49AB-A04A-E0E630B8EAFD}"/>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分类、回归、聚类</a:t>
            </a:r>
          </a:p>
        </p:txBody>
      </p:sp>
      <p:sp>
        <p:nvSpPr>
          <p:cNvPr id="18" name="矩形 17">
            <a:extLst>
              <a:ext uri="{FF2B5EF4-FFF2-40B4-BE49-F238E27FC236}">
                <a16:creationId xmlns:a16="http://schemas.microsoft.com/office/drawing/2014/main" id="{C6614117-1D45-450F-A8DF-FB23EA15786F}"/>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3DABAC7B-1070-4A31-94CD-B115502B0F33}"/>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事务数据</a:t>
            </a:r>
          </a:p>
        </p:txBody>
      </p:sp>
      <p:sp>
        <p:nvSpPr>
          <p:cNvPr id="20" name="矩形 19">
            <a:extLst>
              <a:ext uri="{FF2B5EF4-FFF2-40B4-BE49-F238E27FC236}">
                <a16:creationId xmlns:a16="http://schemas.microsoft.com/office/drawing/2014/main" id="{4AE25B0D-6E73-4BC6-AEE9-EB533C5AF071}"/>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A81D4C2A-705E-4EC1-9914-D00A53E0EFFA}"/>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一次会话或一个购物篮</a:t>
            </a:r>
          </a:p>
        </p:txBody>
      </p:sp>
      <p:sp>
        <p:nvSpPr>
          <p:cNvPr id="22" name="矩形 21">
            <a:extLst>
              <a:ext uri="{FF2B5EF4-FFF2-40B4-BE49-F238E27FC236}">
                <a16:creationId xmlns:a16="http://schemas.microsoft.com/office/drawing/2014/main" id="{37263803-364A-4489-AD5B-3B957970A6E6}"/>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F30345D5-C789-41CB-A1A3-9402F59A0949}"/>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共现项目与关联规则</a:t>
            </a:r>
          </a:p>
        </p:txBody>
      </p:sp>
      <p:sp>
        <p:nvSpPr>
          <p:cNvPr id="24" name="矩形 23">
            <a:extLst>
              <a:ext uri="{FF2B5EF4-FFF2-40B4-BE49-F238E27FC236}">
                <a16:creationId xmlns:a16="http://schemas.microsoft.com/office/drawing/2014/main" id="{9811B3ED-6708-44F2-91AF-6ED417B4E5ED}"/>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DE583E0D-5F38-4043-BF0C-A2A9217835C0}"/>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文档数据</a:t>
            </a:r>
          </a:p>
        </p:txBody>
      </p:sp>
      <p:sp>
        <p:nvSpPr>
          <p:cNvPr id="26" name="矩形 25">
            <a:extLst>
              <a:ext uri="{FF2B5EF4-FFF2-40B4-BE49-F238E27FC236}">
                <a16:creationId xmlns:a16="http://schemas.microsoft.com/office/drawing/2014/main" id="{A5B38468-C318-40CF-95FC-112EB9DFEDF6}"/>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0860DD3C-EF4B-4D78-BD22-FAD91B53861B}"/>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文档及其词向量</a:t>
            </a:r>
          </a:p>
        </p:txBody>
      </p:sp>
      <p:sp>
        <p:nvSpPr>
          <p:cNvPr id="28" name="矩形 27">
            <a:extLst>
              <a:ext uri="{FF2B5EF4-FFF2-40B4-BE49-F238E27FC236}">
                <a16:creationId xmlns:a16="http://schemas.microsoft.com/office/drawing/2014/main" id="{57803184-DA8F-4092-97FE-EA7B47C8EC38}"/>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304BFD19-30DA-4CF6-BCF9-44ADB1799BD3}"/>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文本分类与相似检索</a:t>
            </a:r>
          </a:p>
        </p:txBody>
      </p:sp>
      <p:sp>
        <p:nvSpPr>
          <p:cNvPr id="30" name="矩形 29">
            <a:extLst>
              <a:ext uri="{FF2B5EF4-FFF2-40B4-BE49-F238E27FC236}">
                <a16:creationId xmlns:a16="http://schemas.microsoft.com/office/drawing/2014/main" id="{0F656354-906C-4F2C-ADDC-09A087145051}"/>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98D9BF0D-9D5F-4FF8-A109-785FF60DD059}"/>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图数据</a:t>
            </a:r>
          </a:p>
        </p:txBody>
      </p:sp>
      <p:sp>
        <p:nvSpPr>
          <p:cNvPr id="32" name="矩形 31">
            <a:extLst>
              <a:ext uri="{FF2B5EF4-FFF2-40B4-BE49-F238E27FC236}">
                <a16:creationId xmlns:a16="http://schemas.microsoft.com/office/drawing/2014/main" id="{3F44F065-3570-4CDD-8E8D-C4E827C2931F}"/>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9BA279BA-445B-428F-A413-E395BB3B0ECB}"/>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节点、边或子图</a:t>
            </a:r>
          </a:p>
        </p:txBody>
      </p:sp>
      <p:sp>
        <p:nvSpPr>
          <p:cNvPr id="34" name="矩形 33">
            <a:extLst>
              <a:ext uri="{FF2B5EF4-FFF2-40B4-BE49-F238E27FC236}">
                <a16:creationId xmlns:a16="http://schemas.microsoft.com/office/drawing/2014/main" id="{96533082-3F3E-4B73-B451-3AD4D9F1396A}"/>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5281202F-580B-454A-A90A-3D6C2112A158}"/>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影响力、社区与链接预测</a:t>
            </a:r>
          </a:p>
        </p:txBody>
      </p:sp>
      <p:sp>
        <p:nvSpPr>
          <p:cNvPr id="36" name="矩形 35">
            <a:extLst>
              <a:ext uri="{FF2B5EF4-FFF2-40B4-BE49-F238E27FC236}">
                <a16:creationId xmlns:a16="http://schemas.microsoft.com/office/drawing/2014/main" id="{D14197E6-150B-4716-90E4-9F33EF5E2DEF}"/>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F33831AC-782E-4548-921A-0574D7B18762}"/>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序列数据</a:t>
            </a:r>
          </a:p>
        </p:txBody>
      </p:sp>
      <p:sp>
        <p:nvSpPr>
          <p:cNvPr id="38" name="矩形 37">
            <a:extLst>
              <a:ext uri="{FF2B5EF4-FFF2-40B4-BE49-F238E27FC236}">
                <a16:creationId xmlns:a16="http://schemas.microsoft.com/office/drawing/2014/main" id="{B14CE752-8A09-4649-B16F-3456D8BA8096}"/>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A91175E2-F84A-4F2C-858B-A67488B078CC}"/>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有序事件或时间窗口</a:t>
            </a:r>
          </a:p>
        </p:txBody>
      </p:sp>
      <p:sp>
        <p:nvSpPr>
          <p:cNvPr id="40" name="矩形 39">
            <a:extLst>
              <a:ext uri="{FF2B5EF4-FFF2-40B4-BE49-F238E27FC236}">
                <a16:creationId xmlns:a16="http://schemas.microsoft.com/office/drawing/2014/main" id="{AB1D1566-4755-4B1F-8B9C-2D53C1544130}"/>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2A298333-A405-4FF2-AC86-33DF4B239DCB}"/>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趋势、模式与预测</a:t>
            </a:r>
          </a:p>
        </p:txBody>
      </p:sp>
      <p:sp>
        <p:nvSpPr>
          <p:cNvPr id="42" name="矩形 41">
            <a:extLst>
              <a:ext uri="{FF2B5EF4-FFF2-40B4-BE49-F238E27FC236}">
                <a16:creationId xmlns:a16="http://schemas.microsoft.com/office/drawing/2014/main" id="{0C8ED5F0-2432-4791-B2B3-8C03461FCAD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0BDD9BAE-50C6-46B1-AAF3-B7FD4FA83292}"/>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先识别数据形态，再决定表示和算法。</a:t>
            </a:r>
          </a:p>
        </p:txBody>
      </p:sp>
    </p:spTree>
    <p:extLst>
      <p:ext uri="{BB962C8B-B14F-4D97-AF65-F5344CB8AC3E}">
        <p14:creationId xmlns:p14="http://schemas.microsoft.com/office/powerpoint/2010/main" val="1921251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矩形 95">
            <a:extLst>
              <a:ext uri="{FF2B5EF4-FFF2-40B4-BE49-F238E27FC236}">
                <a16:creationId xmlns:a16="http://schemas.microsoft.com/office/drawing/2014/main" id="{741A400B-2FEF-4054-B2BD-7B6108E5DC6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C8D56144-48B2-478B-BFF2-4DE6834008B7}"/>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204CE161-F1B0-4E95-BFAB-71D292F17EB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46532CD9-54A5-4EA4-80CC-EE9151E94756}"/>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同一 </a:t>
            </a:r>
            <a:r>
              <a:rPr>
                <a:latin typeface="Times New Roman"/>
                <a:ea typeface="Times New Roman"/>
                <a:cs typeface="Times New Roman"/>
              </a:rPr>
              <a:t>LMS </a:t>
            </a:r>
            <a:r>
              <a:rPr>
                <a:latin typeface="黑体"/>
                <a:ea typeface="黑体"/>
                <a:cs typeface="黑体"/>
              </a:rPr>
              <a:t>日志可以形成三种数据集</a:t>
            </a:r>
          </a:p>
        </p:txBody>
      </p:sp>
      <p:sp>
        <p:nvSpPr>
          <p:cNvPr id="5" name="矩形 4">
            <a:extLst>
              <a:ext uri="{FF2B5EF4-FFF2-40B4-BE49-F238E27FC236}">
                <a16:creationId xmlns:a16="http://schemas.microsoft.com/office/drawing/2014/main" id="{CA295F6C-D66B-4407-91C5-CDF67FBBB073}"/>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16/90</a:t>
            </a:r>
          </a:p>
        </p:txBody>
      </p:sp>
      <p:sp>
        <p:nvSpPr>
          <p:cNvPr id="6" name="矩形 5">
            <a:extLst>
              <a:ext uri="{FF2B5EF4-FFF2-40B4-BE49-F238E27FC236}">
                <a16:creationId xmlns:a16="http://schemas.microsoft.com/office/drawing/2014/main" id="{3670F54E-E9F0-4277-A58F-92D87720B4CA}"/>
              </a:ext>
            </a:extLst>
          </p:cNvPr>
          <p:cNvSpPr>
            <a:spLocks noGrp="1"/>
          </p:cNvSpPr>
          <p:nvPr/>
        </p:nvSpPr>
        <p:spPr>
          <a:xfrm>
            <a:off x="685800" y="1257300"/>
            <a:ext cx="3448050" cy="401955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E95CDAA5-84D0-43A9-8A6B-2E66B6C47A75}"/>
              </a:ext>
            </a:extLst>
          </p:cNvPr>
          <p:cNvSpPr>
            <a:spLocks noGrp="1"/>
          </p:cNvSpPr>
          <p:nvPr/>
        </p:nvSpPr>
        <p:spPr>
          <a:xfrm>
            <a:off x="685800" y="1257300"/>
            <a:ext cx="344805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734B332B-CDAD-42CD-96D9-EDB241DB3809}"/>
              </a:ext>
            </a:extLst>
          </p:cNvPr>
          <p:cNvSpPr>
            <a:spLocks noGrp="1"/>
          </p:cNvSpPr>
          <p:nvPr/>
        </p:nvSpPr>
        <p:spPr>
          <a:xfrm>
            <a:off x="914400" y="1485900"/>
            <a:ext cx="2990850" cy="342900"/>
          </a:xfrm>
          <a:prstGeom prst="rect">
            <a:avLst/>
          </a:prstGeom>
          <a:solidFill>
            <a:srgbClr val="FFFFFF"/>
          </a:solidFill>
          <a:ln w="0">
            <a:solidFill>
              <a:srgbClr val="000000">
                <a:alpha val="0"/>
              </a:srgbClr>
            </a:solidFill>
            <a:prstDash val="solid"/>
          </a:ln>
        </p:spPr>
        <p:txBody>
          <a:bodyPr lIns="0" tIns="0" rIns="0" bIns="0" anchor="t"/>
          <a:lstStyle/>
          <a:p>
            <a:pPr algn="ctr">
              <a:defRPr sz="1950" b="1">
                <a:solidFill>
                  <a:srgbClr val="00204A"/>
                </a:solidFill>
                <a:latin typeface="黑体"/>
                <a:ea typeface="黑体"/>
                <a:cs typeface="黑体"/>
              </a:defRPr>
            </a:pPr>
            <a:r>
              <a:rPr>
                <a:latin typeface="黑体"/>
                <a:ea typeface="黑体"/>
                <a:cs typeface="黑体"/>
              </a:rPr>
              <a:t>学生级</a:t>
            </a:r>
          </a:p>
        </p:txBody>
      </p:sp>
      <p:sp>
        <p:nvSpPr>
          <p:cNvPr id="9" name="矩形 8">
            <a:extLst>
              <a:ext uri="{FF2B5EF4-FFF2-40B4-BE49-F238E27FC236}">
                <a16:creationId xmlns:a16="http://schemas.microsoft.com/office/drawing/2014/main" id="{06CFF3D6-BA3A-4FBE-959F-C9B338016BAC}"/>
              </a:ext>
            </a:extLst>
          </p:cNvPr>
          <p:cNvSpPr>
            <a:spLocks noGrp="1"/>
          </p:cNvSpPr>
          <p:nvPr/>
        </p:nvSpPr>
        <p:spPr>
          <a:xfrm>
            <a:off x="914400" y="1885950"/>
            <a:ext cx="2990850" cy="247650"/>
          </a:xfrm>
          <a:prstGeom prst="rect">
            <a:avLst/>
          </a:prstGeom>
          <a:solidFill>
            <a:srgbClr val="FFFFFF"/>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一名学生一行</a:t>
            </a:r>
          </a:p>
        </p:txBody>
      </p:sp>
      <p:sp>
        <p:nvSpPr>
          <p:cNvPr id="10" name="矩形 9">
            <a:extLst>
              <a:ext uri="{FF2B5EF4-FFF2-40B4-BE49-F238E27FC236}">
                <a16:creationId xmlns:a16="http://schemas.microsoft.com/office/drawing/2014/main" id="{2EE6A1F6-1532-4FD4-A898-A8C7F29C0636}"/>
              </a:ext>
            </a:extLst>
          </p:cNvPr>
          <p:cNvSpPr>
            <a:spLocks noGrp="1"/>
          </p:cNvSpPr>
          <p:nvPr/>
        </p:nvSpPr>
        <p:spPr>
          <a:xfrm>
            <a:off x="1257300" y="2438400"/>
            <a:ext cx="2305050" cy="247650"/>
          </a:xfrm>
          <a:prstGeom prst="rect">
            <a:avLst/>
          </a:prstGeom>
          <a:solidFill>
            <a:srgbClr val="DDEBFA"/>
          </a:solidFill>
          <a:ln w="9525">
            <a:solidFill>
              <a:srgbClr val="B4C1D0"/>
            </a:solidFill>
            <a:prstDash val="solid"/>
          </a:ln>
        </p:spPr>
        <p:txBody>
          <a:bodyPr/>
          <a:lstStyle/>
          <a:p>
            <a:endParaRPr lang="zh-CN" altLang="en-US"/>
          </a:p>
        </p:txBody>
      </p:sp>
      <p:sp>
        <p:nvSpPr>
          <p:cNvPr id="11" name="矩形 10">
            <a:extLst>
              <a:ext uri="{FF2B5EF4-FFF2-40B4-BE49-F238E27FC236}">
                <a16:creationId xmlns:a16="http://schemas.microsoft.com/office/drawing/2014/main" id="{CF71D4F9-960A-4CB0-B4A0-CD3FD0B79C47}"/>
              </a:ext>
            </a:extLst>
          </p:cNvPr>
          <p:cNvSpPr>
            <a:spLocks noGrp="1"/>
          </p:cNvSpPr>
          <p:nvPr/>
        </p:nvSpPr>
        <p:spPr>
          <a:xfrm>
            <a:off x="1833563"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24E00CEA-8A71-4246-8542-143887131C63}"/>
              </a:ext>
            </a:extLst>
          </p:cNvPr>
          <p:cNvSpPr>
            <a:spLocks noGrp="1"/>
          </p:cNvSpPr>
          <p:nvPr/>
        </p:nvSpPr>
        <p:spPr>
          <a:xfrm>
            <a:off x="2409825"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FA56509B-0721-469C-BD00-57B06032CAD2}"/>
              </a:ext>
            </a:extLst>
          </p:cNvPr>
          <p:cNvSpPr>
            <a:spLocks noGrp="1"/>
          </p:cNvSpPr>
          <p:nvPr/>
        </p:nvSpPr>
        <p:spPr>
          <a:xfrm>
            <a:off x="2986088"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455F9486-0B0B-4EA1-B686-5EEEA22BE5FE}"/>
              </a:ext>
            </a:extLst>
          </p:cNvPr>
          <p:cNvSpPr>
            <a:spLocks noGrp="1"/>
          </p:cNvSpPr>
          <p:nvPr/>
        </p:nvSpPr>
        <p:spPr>
          <a:xfrm>
            <a:off x="1009650" y="4381500"/>
            <a:ext cx="2800350" cy="628650"/>
          </a:xfrm>
          <a:prstGeom prst="rect">
            <a:avLst/>
          </a:prstGeom>
          <a:solidFill>
            <a:srgbClr val="FFFFFF"/>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黑体"/>
                <a:ea typeface="黑体"/>
                <a:cs typeface="黑体"/>
              </a:rPr>
              <a:t>预测最终结果</a:t>
            </a:r>
          </a:p>
        </p:txBody>
      </p:sp>
      <p:sp>
        <p:nvSpPr>
          <p:cNvPr id="15" name="矩形 14">
            <a:extLst>
              <a:ext uri="{FF2B5EF4-FFF2-40B4-BE49-F238E27FC236}">
                <a16:creationId xmlns:a16="http://schemas.microsoft.com/office/drawing/2014/main" id="{9F9B0359-7855-4E50-901E-CDDE761EE264}"/>
              </a:ext>
            </a:extLst>
          </p:cNvPr>
          <p:cNvSpPr>
            <a:spLocks noGrp="1"/>
          </p:cNvSpPr>
          <p:nvPr/>
        </p:nvSpPr>
        <p:spPr>
          <a:xfrm>
            <a:off x="4362450" y="1257300"/>
            <a:ext cx="3448050" cy="4019550"/>
          </a:xfrm>
          <a:prstGeom prst="rect">
            <a:avLst/>
          </a:prstGeom>
          <a:solidFill>
            <a:srgbClr val="F7FBFF"/>
          </a:solidFill>
          <a:ln w="9525">
            <a:solidFill>
              <a:srgbClr val="B8C3D1"/>
            </a:solidFill>
            <a:prstDash val="solid"/>
          </a:ln>
        </p:spPr>
        <p:txBody>
          <a:bodyPr/>
          <a:lstStyle/>
          <a:p>
            <a:endParaRPr lang="zh-CN" altLang="en-US"/>
          </a:p>
        </p:txBody>
      </p:sp>
      <p:sp>
        <p:nvSpPr>
          <p:cNvPr id="16" name="矩形 15">
            <a:extLst>
              <a:ext uri="{FF2B5EF4-FFF2-40B4-BE49-F238E27FC236}">
                <a16:creationId xmlns:a16="http://schemas.microsoft.com/office/drawing/2014/main" id="{B7B6F2E7-EB38-4E44-B7E5-68D86529951B}"/>
              </a:ext>
            </a:extLst>
          </p:cNvPr>
          <p:cNvSpPr>
            <a:spLocks noGrp="1"/>
          </p:cNvSpPr>
          <p:nvPr/>
        </p:nvSpPr>
        <p:spPr>
          <a:xfrm>
            <a:off x="4362450" y="1257300"/>
            <a:ext cx="3448050" cy="762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D3C524FE-9987-4A99-8308-08F3B75350DD}"/>
              </a:ext>
            </a:extLst>
          </p:cNvPr>
          <p:cNvSpPr>
            <a:spLocks noGrp="1"/>
          </p:cNvSpPr>
          <p:nvPr/>
        </p:nvSpPr>
        <p:spPr>
          <a:xfrm>
            <a:off x="4591050" y="1485900"/>
            <a:ext cx="2990850" cy="342900"/>
          </a:xfrm>
          <a:prstGeom prst="rect">
            <a:avLst/>
          </a:prstGeom>
          <a:solidFill>
            <a:srgbClr val="F7FBFF"/>
          </a:solidFill>
          <a:ln w="0">
            <a:solidFill>
              <a:srgbClr val="000000">
                <a:alpha val="0"/>
              </a:srgbClr>
            </a:solidFill>
            <a:prstDash val="solid"/>
          </a:ln>
        </p:spPr>
        <p:txBody>
          <a:bodyPr lIns="0" tIns="0" rIns="0" bIns="0" anchor="t"/>
          <a:lstStyle/>
          <a:p>
            <a:pPr algn="ctr">
              <a:defRPr sz="1950" b="1">
                <a:solidFill>
                  <a:srgbClr val="00204A"/>
                </a:solidFill>
                <a:latin typeface="黑体"/>
                <a:ea typeface="黑体"/>
                <a:cs typeface="黑体"/>
              </a:defRPr>
            </a:pPr>
            <a:r>
              <a:rPr>
                <a:latin typeface="Times New Roman"/>
                <a:ea typeface="Times New Roman"/>
                <a:cs typeface="Times New Roman"/>
              </a:rPr>
              <a:t>student-week</a:t>
            </a:r>
          </a:p>
        </p:txBody>
      </p:sp>
      <p:sp>
        <p:nvSpPr>
          <p:cNvPr id="18" name="矩形 17">
            <a:extLst>
              <a:ext uri="{FF2B5EF4-FFF2-40B4-BE49-F238E27FC236}">
                <a16:creationId xmlns:a16="http://schemas.microsoft.com/office/drawing/2014/main" id="{4179790D-FADA-4B18-86C9-091920FCA93E}"/>
              </a:ext>
            </a:extLst>
          </p:cNvPr>
          <p:cNvSpPr>
            <a:spLocks noGrp="1"/>
          </p:cNvSpPr>
          <p:nvPr/>
        </p:nvSpPr>
        <p:spPr>
          <a:xfrm>
            <a:off x="4591050" y="1885950"/>
            <a:ext cx="2990850" cy="247650"/>
          </a:xfrm>
          <a:prstGeom prst="rect">
            <a:avLst/>
          </a:prstGeom>
          <a:solidFill>
            <a:srgbClr val="F7FBFF"/>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一名学生每周一行</a:t>
            </a:r>
          </a:p>
        </p:txBody>
      </p:sp>
      <p:sp>
        <p:nvSpPr>
          <p:cNvPr id="19" name="矩形 18">
            <a:extLst>
              <a:ext uri="{FF2B5EF4-FFF2-40B4-BE49-F238E27FC236}">
                <a16:creationId xmlns:a16="http://schemas.microsoft.com/office/drawing/2014/main" id="{1F0EC658-864E-40B4-B61D-B1411B23C351}"/>
              </a:ext>
            </a:extLst>
          </p:cNvPr>
          <p:cNvSpPr>
            <a:spLocks noGrp="1"/>
          </p:cNvSpPr>
          <p:nvPr/>
        </p:nvSpPr>
        <p:spPr>
          <a:xfrm>
            <a:off x="4933950" y="2438400"/>
            <a:ext cx="2305050" cy="247650"/>
          </a:xfrm>
          <a:prstGeom prst="rect">
            <a:avLst/>
          </a:prstGeom>
          <a:solidFill>
            <a:srgbClr val="DDEBFA"/>
          </a:solidFill>
          <a:ln w="9525">
            <a:solidFill>
              <a:srgbClr val="B4C1D0"/>
            </a:solidFill>
            <a:prstDash val="solid"/>
          </a:ln>
        </p:spPr>
        <p:txBody>
          <a:bodyPr/>
          <a:lstStyle/>
          <a:p>
            <a:endParaRPr lang="zh-CN" altLang="en-US"/>
          </a:p>
        </p:txBody>
      </p:sp>
      <p:sp>
        <p:nvSpPr>
          <p:cNvPr id="20" name="矩形 19">
            <a:extLst>
              <a:ext uri="{FF2B5EF4-FFF2-40B4-BE49-F238E27FC236}">
                <a16:creationId xmlns:a16="http://schemas.microsoft.com/office/drawing/2014/main" id="{CE1AF85B-FE04-40E6-96FE-7ADF80C48CE8}"/>
              </a:ext>
            </a:extLst>
          </p:cNvPr>
          <p:cNvSpPr>
            <a:spLocks noGrp="1"/>
          </p:cNvSpPr>
          <p:nvPr/>
        </p:nvSpPr>
        <p:spPr>
          <a:xfrm>
            <a:off x="5394960"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EFCEA824-7D39-4EEF-8699-DD87D8B426DA}"/>
              </a:ext>
            </a:extLst>
          </p:cNvPr>
          <p:cNvSpPr>
            <a:spLocks noGrp="1"/>
          </p:cNvSpPr>
          <p:nvPr/>
        </p:nvSpPr>
        <p:spPr>
          <a:xfrm>
            <a:off x="5855970"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E728C9F8-E3DA-4E87-A600-35ED3D3B717A}"/>
              </a:ext>
            </a:extLst>
          </p:cNvPr>
          <p:cNvSpPr>
            <a:spLocks noGrp="1"/>
          </p:cNvSpPr>
          <p:nvPr/>
        </p:nvSpPr>
        <p:spPr>
          <a:xfrm>
            <a:off x="6316980"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D29C764F-2B6D-4BBB-9902-E094441D056D}"/>
              </a:ext>
            </a:extLst>
          </p:cNvPr>
          <p:cNvSpPr>
            <a:spLocks noGrp="1"/>
          </p:cNvSpPr>
          <p:nvPr/>
        </p:nvSpPr>
        <p:spPr>
          <a:xfrm>
            <a:off x="6777990" y="24384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6AF7DC1F-7C03-416E-9A8E-19582058E6FC}"/>
              </a:ext>
            </a:extLst>
          </p:cNvPr>
          <p:cNvSpPr>
            <a:spLocks noGrp="1"/>
          </p:cNvSpPr>
          <p:nvPr/>
        </p:nvSpPr>
        <p:spPr>
          <a:xfrm>
            <a:off x="4933950" y="2800350"/>
            <a:ext cx="2305050" cy="247650"/>
          </a:xfrm>
          <a:prstGeom prst="rect">
            <a:avLst/>
          </a:prstGeom>
          <a:solidFill>
            <a:srgbClr val="F4EBC2"/>
          </a:solidFill>
          <a:ln w="9525">
            <a:solidFill>
              <a:srgbClr val="B4C1D0"/>
            </a:solidFill>
            <a:prstDash val="solid"/>
          </a:ln>
        </p:spPr>
        <p:txBody>
          <a:bodyPr/>
          <a:lstStyle/>
          <a:p>
            <a:endParaRPr lang="zh-CN" altLang="en-US"/>
          </a:p>
        </p:txBody>
      </p:sp>
      <p:sp>
        <p:nvSpPr>
          <p:cNvPr id="25" name="矩形 24">
            <a:extLst>
              <a:ext uri="{FF2B5EF4-FFF2-40B4-BE49-F238E27FC236}">
                <a16:creationId xmlns:a16="http://schemas.microsoft.com/office/drawing/2014/main" id="{D39DC5DC-A39D-43AB-AF63-BB9F59E81C0C}"/>
              </a:ext>
            </a:extLst>
          </p:cNvPr>
          <p:cNvSpPr>
            <a:spLocks noGrp="1"/>
          </p:cNvSpPr>
          <p:nvPr/>
        </p:nvSpPr>
        <p:spPr>
          <a:xfrm>
            <a:off x="5394960" y="28003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6" name="矩形 25">
            <a:extLst>
              <a:ext uri="{FF2B5EF4-FFF2-40B4-BE49-F238E27FC236}">
                <a16:creationId xmlns:a16="http://schemas.microsoft.com/office/drawing/2014/main" id="{4CB6D7B9-2477-46BA-94B3-90558CCF3E15}"/>
              </a:ext>
            </a:extLst>
          </p:cNvPr>
          <p:cNvSpPr>
            <a:spLocks noGrp="1"/>
          </p:cNvSpPr>
          <p:nvPr/>
        </p:nvSpPr>
        <p:spPr>
          <a:xfrm>
            <a:off x="5855970" y="28003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7" name="矩形 26">
            <a:extLst>
              <a:ext uri="{FF2B5EF4-FFF2-40B4-BE49-F238E27FC236}">
                <a16:creationId xmlns:a16="http://schemas.microsoft.com/office/drawing/2014/main" id="{8D3A1AD6-565F-4A30-BB0C-2A42E9D41024}"/>
              </a:ext>
            </a:extLst>
          </p:cNvPr>
          <p:cNvSpPr>
            <a:spLocks noGrp="1"/>
          </p:cNvSpPr>
          <p:nvPr/>
        </p:nvSpPr>
        <p:spPr>
          <a:xfrm>
            <a:off x="6316980" y="28003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8" name="矩形 27">
            <a:extLst>
              <a:ext uri="{FF2B5EF4-FFF2-40B4-BE49-F238E27FC236}">
                <a16:creationId xmlns:a16="http://schemas.microsoft.com/office/drawing/2014/main" id="{31D80B68-8D13-421E-8CBA-4E2C882DCC29}"/>
              </a:ext>
            </a:extLst>
          </p:cNvPr>
          <p:cNvSpPr>
            <a:spLocks noGrp="1"/>
          </p:cNvSpPr>
          <p:nvPr/>
        </p:nvSpPr>
        <p:spPr>
          <a:xfrm>
            <a:off x="6777990" y="28003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9" name="矩形 28">
            <a:extLst>
              <a:ext uri="{FF2B5EF4-FFF2-40B4-BE49-F238E27FC236}">
                <a16:creationId xmlns:a16="http://schemas.microsoft.com/office/drawing/2014/main" id="{1F854433-8B21-4418-B6EF-922938D71B14}"/>
              </a:ext>
            </a:extLst>
          </p:cNvPr>
          <p:cNvSpPr>
            <a:spLocks noGrp="1"/>
          </p:cNvSpPr>
          <p:nvPr/>
        </p:nvSpPr>
        <p:spPr>
          <a:xfrm>
            <a:off x="4933950" y="3162300"/>
            <a:ext cx="2305050" cy="247650"/>
          </a:xfrm>
          <a:prstGeom prst="rect">
            <a:avLst/>
          </a:prstGeom>
          <a:solidFill>
            <a:srgbClr val="DDEBFA"/>
          </a:solidFill>
          <a:ln w="9525">
            <a:solidFill>
              <a:srgbClr val="B4C1D0"/>
            </a:solidFill>
            <a:prstDash val="solid"/>
          </a:ln>
        </p:spPr>
        <p:txBody>
          <a:bodyPr/>
          <a:lstStyle/>
          <a:p>
            <a:endParaRPr lang="zh-CN" altLang="en-US"/>
          </a:p>
        </p:txBody>
      </p:sp>
      <p:sp>
        <p:nvSpPr>
          <p:cNvPr id="30" name="矩形 29">
            <a:extLst>
              <a:ext uri="{FF2B5EF4-FFF2-40B4-BE49-F238E27FC236}">
                <a16:creationId xmlns:a16="http://schemas.microsoft.com/office/drawing/2014/main" id="{AC9D33FD-45BF-4E73-B81E-58B35B73F196}"/>
              </a:ext>
            </a:extLst>
          </p:cNvPr>
          <p:cNvSpPr>
            <a:spLocks noGrp="1"/>
          </p:cNvSpPr>
          <p:nvPr/>
        </p:nvSpPr>
        <p:spPr>
          <a:xfrm>
            <a:off x="5394960" y="31623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BF881491-5F37-4E0A-BA63-9BCCB629FA30}"/>
              </a:ext>
            </a:extLst>
          </p:cNvPr>
          <p:cNvSpPr>
            <a:spLocks noGrp="1"/>
          </p:cNvSpPr>
          <p:nvPr/>
        </p:nvSpPr>
        <p:spPr>
          <a:xfrm>
            <a:off x="5855970" y="31623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F354F183-0E5A-4870-9B10-F9C7D4011CBE}"/>
              </a:ext>
            </a:extLst>
          </p:cNvPr>
          <p:cNvSpPr>
            <a:spLocks noGrp="1"/>
          </p:cNvSpPr>
          <p:nvPr/>
        </p:nvSpPr>
        <p:spPr>
          <a:xfrm>
            <a:off x="6316980" y="31623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BEC3CD17-45D3-4CC6-813F-15F75AC75EC0}"/>
              </a:ext>
            </a:extLst>
          </p:cNvPr>
          <p:cNvSpPr>
            <a:spLocks noGrp="1"/>
          </p:cNvSpPr>
          <p:nvPr/>
        </p:nvSpPr>
        <p:spPr>
          <a:xfrm>
            <a:off x="6777990" y="316230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AF040D79-8F9E-467E-B5E7-A3280BC236EA}"/>
              </a:ext>
            </a:extLst>
          </p:cNvPr>
          <p:cNvSpPr>
            <a:spLocks noGrp="1"/>
          </p:cNvSpPr>
          <p:nvPr/>
        </p:nvSpPr>
        <p:spPr>
          <a:xfrm>
            <a:off x="4933950" y="3524250"/>
            <a:ext cx="2305050" cy="247650"/>
          </a:xfrm>
          <a:prstGeom prst="rect">
            <a:avLst/>
          </a:prstGeom>
          <a:solidFill>
            <a:srgbClr val="F4EBC2"/>
          </a:solidFill>
          <a:ln w="9525">
            <a:solidFill>
              <a:srgbClr val="B4C1D0"/>
            </a:solidFill>
            <a:prstDash val="solid"/>
          </a:ln>
        </p:spPr>
        <p:txBody>
          <a:bodyPr/>
          <a:lstStyle/>
          <a:p>
            <a:endParaRPr lang="zh-CN" altLang="en-US"/>
          </a:p>
        </p:txBody>
      </p:sp>
      <p:sp>
        <p:nvSpPr>
          <p:cNvPr id="35" name="矩形 34">
            <a:extLst>
              <a:ext uri="{FF2B5EF4-FFF2-40B4-BE49-F238E27FC236}">
                <a16:creationId xmlns:a16="http://schemas.microsoft.com/office/drawing/2014/main" id="{CFB620DD-2750-4FF1-90B2-94D22D3575A9}"/>
              </a:ext>
            </a:extLst>
          </p:cNvPr>
          <p:cNvSpPr>
            <a:spLocks noGrp="1"/>
          </p:cNvSpPr>
          <p:nvPr/>
        </p:nvSpPr>
        <p:spPr>
          <a:xfrm>
            <a:off x="5394960" y="35242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6AD5214E-2067-4D2F-AEB1-CF56AAA9B2A6}"/>
              </a:ext>
            </a:extLst>
          </p:cNvPr>
          <p:cNvSpPr>
            <a:spLocks noGrp="1"/>
          </p:cNvSpPr>
          <p:nvPr/>
        </p:nvSpPr>
        <p:spPr>
          <a:xfrm>
            <a:off x="5855970" y="35242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7" name="矩形 36">
            <a:extLst>
              <a:ext uri="{FF2B5EF4-FFF2-40B4-BE49-F238E27FC236}">
                <a16:creationId xmlns:a16="http://schemas.microsoft.com/office/drawing/2014/main" id="{338732B8-5199-43AD-8141-5CCFEA798C13}"/>
              </a:ext>
            </a:extLst>
          </p:cNvPr>
          <p:cNvSpPr>
            <a:spLocks noGrp="1"/>
          </p:cNvSpPr>
          <p:nvPr/>
        </p:nvSpPr>
        <p:spPr>
          <a:xfrm>
            <a:off x="6316980" y="35242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8" name="矩形 37">
            <a:extLst>
              <a:ext uri="{FF2B5EF4-FFF2-40B4-BE49-F238E27FC236}">
                <a16:creationId xmlns:a16="http://schemas.microsoft.com/office/drawing/2014/main" id="{4B863937-921D-4DA3-A26C-1E1FE32C1243}"/>
              </a:ext>
            </a:extLst>
          </p:cNvPr>
          <p:cNvSpPr>
            <a:spLocks noGrp="1"/>
          </p:cNvSpPr>
          <p:nvPr/>
        </p:nvSpPr>
        <p:spPr>
          <a:xfrm>
            <a:off x="6777990" y="3524250"/>
            <a:ext cx="9525" cy="24765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39" name="矩形 38">
            <a:extLst>
              <a:ext uri="{FF2B5EF4-FFF2-40B4-BE49-F238E27FC236}">
                <a16:creationId xmlns:a16="http://schemas.microsoft.com/office/drawing/2014/main" id="{FA18A989-6A79-4A6C-BE40-7184436059DC}"/>
              </a:ext>
            </a:extLst>
          </p:cNvPr>
          <p:cNvSpPr>
            <a:spLocks noGrp="1"/>
          </p:cNvSpPr>
          <p:nvPr/>
        </p:nvSpPr>
        <p:spPr>
          <a:xfrm>
            <a:off x="4686300" y="4381500"/>
            <a:ext cx="2800350" cy="628650"/>
          </a:xfrm>
          <a:prstGeom prst="rect">
            <a:avLst/>
          </a:prstGeom>
          <a:solidFill>
            <a:srgbClr val="F7FBFF"/>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黑体"/>
                <a:ea typeface="黑体"/>
                <a:cs typeface="黑体"/>
              </a:rPr>
              <a:t>预测近期风险</a:t>
            </a:r>
          </a:p>
        </p:txBody>
      </p:sp>
      <p:sp>
        <p:nvSpPr>
          <p:cNvPr id="40" name="矩形 39">
            <a:extLst>
              <a:ext uri="{FF2B5EF4-FFF2-40B4-BE49-F238E27FC236}">
                <a16:creationId xmlns:a16="http://schemas.microsoft.com/office/drawing/2014/main" id="{0A20D096-150A-4FB7-8DF0-F5CF43C3D6C8}"/>
              </a:ext>
            </a:extLst>
          </p:cNvPr>
          <p:cNvSpPr>
            <a:spLocks noGrp="1"/>
          </p:cNvSpPr>
          <p:nvPr/>
        </p:nvSpPr>
        <p:spPr>
          <a:xfrm>
            <a:off x="8039100" y="1257300"/>
            <a:ext cx="3448050" cy="4019550"/>
          </a:xfrm>
          <a:prstGeom prst="rect">
            <a:avLst/>
          </a:prstGeom>
          <a:solidFill>
            <a:srgbClr val="FFFFFF"/>
          </a:solidFill>
          <a:ln w="9525">
            <a:solidFill>
              <a:srgbClr val="B8C3D1"/>
            </a:solidFill>
            <a:prstDash val="solid"/>
          </a:ln>
        </p:spPr>
        <p:txBody>
          <a:bodyPr/>
          <a:lstStyle/>
          <a:p>
            <a:endParaRPr lang="zh-CN" altLang="en-US"/>
          </a:p>
        </p:txBody>
      </p:sp>
      <p:sp>
        <p:nvSpPr>
          <p:cNvPr id="41" name="矩形 40">
            <a:extLst>
              <a:ext uri="{FF2B5EF4-FFF2-40B4-BE49-F238E27FC236}">
                <a16:creationId xmlns:a16="http://schemas.microsoft.com/office/drawing/2014/main" id="{0D42D06E-C14D-4EC5-9660-236D0E77731D}"/>
              </a:ext>
            </a:extLst>
          </p:cNvPr>
          <p:cNvSpPr>
            <a:spLocks noGrp="1"/>
          </p:cNvSpPr>
          <p:nvPr/>
        </p:nvSpPr>
        <p:spPr>
          <a:xfrm>
            <a:off x="8039100" y="1257300"/>
            <a:ext cx="344805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466F511D-9E8D-4173-B7C5-934B850995FD}"/>
              </a:ext>
            </a:extLst>
          </p:cNvPr>
          <p:cNvSpPr>
            <a:spLocks noGrp="1"/>
          </p:cNvSpPr>
          <p:nvPr/>
        </p:nvSpPr>
        <p:spPr>
          <a:xfrm>
            <a:off x="8267700" y="1485900"/>
            <a:ext cx="2990850" cy="342900"/>
          </a:xfrm>
          <a:prstGeom prst="rect">
            <a:avLst/>
          </a:prstGeom>
          <a:solidFill>
            <a:srgbClr val="FFFFFF"/>
          </a:solidFill>
          <a:ln w="0">
            <a:solidFill>
              <a:srgbClr val="000000">
                <a:alpha val="0"/>
              </a:srgbClr>
            </a:solidFill>
            <a:prstDash val="solid"/>
          </a:ln>
        </p:spPr>
        <p:txBody>
          <a:bodyPr lIns="0" tIns="0" rIns="0" bIns="0" anchor="t"/>
          <a:lstStyle/>
          <a:p>
            <a:pPr algn="ctr">
              <a:defRPr sz="1950" b="1">
                <a:solidFill>
                  <a:srgbClr val="00204A"/>
                </a:solidFill>
                <a:latin typeface="黑体"/>
                <a:ea typeface="黑体"/>
                <a:cs typeface="黑体"/>
              </a:defRPr>
            </a:pPr>
            <a:r>
              <a:rPr>
                <a:latin typeface="黑体"/>
                <a:ea typeface="黑体"/>
                <a:cs typeface="黑体"/>
              </a:rPr>
              <a:t>会话级</a:t>
            </a:r>
          </a:p>
        </p:txBody>
      </p:sp>
      <p:sp>
        <p:nvSpPr>
          <p:cNvPr id="43" name="矩形 42">
            <a:extLst>
              <a:ext uri="{FF2B5EF4-FFF2-40B4-BE49-F238E27FC236}">
                <a16:creationId xmlns:a16="http://schemas.microsoft.com/office/drawing/2014/main" id="{EED86BAB-C04F-4728-8D36-30C7CEDBCB37}"/>
              </a:ext>
            </a:extLst>
          </p:cNvPr>
          <p:cNvSpPr>
            <a:spLocks noGrp="1"/>
          </p:cNvSpPr>
          <p:nvPr/>
        </p:nvSpPr>
        <p:spPr>
          <a:xfrm>
            <a:off x="8267700" y="1885950"/>
            <a:ext cx="2990850" cy="247650"/>
          </a:xfrm>
          <a:prstGeom prst="rect">
            <a:avLst/>
          </a:prstGeom>
          <a:solidFill>
            <a:srgbClr val="FFFFFF"/>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一次登录会话一行</a:t>
            </a:r>
          </a:p>
        </p:txBody>
      </p:sp>
      <p:sp>
        <p:nvSpPr>
          <p:cNvPr id="44" name="矩形 43">
            <a:extLst>
              <a:ext uri="{FF2B5EF4-FFF2-40B4-BE49-F238E27FC236}">
                <a16:creationId xmlns:a16="http://schemas.microsoft.com/office/drawing/2014/main" id="{DB0B5F2A-54E8-42AF-8C94-9D7C387F3B54}"/>
              </a:ext>
            </a:extLst>
          </p:cNvPr>
          <p:cNvSpPr>
            <a:spLocks noGrp="1"/>
          </p:cNvSpPr>
          <p:nvPr/>
        </p:nvSpPr>
        <p:spPr>
          <a:xfrm>
            <a:off x="8610600" y="2438400"/>
            <a:ext cx="2305050" cy="161925"/>
          </a:xfrm>
          <a:prstGeom prst="rect">
            <a:avLst/>
          </a:prstGeom>
          <a:solidFill>
            <a:srgbClr val="DDEBFA"/>
          </a:solidFill>
          <a:ln w="9525">
            <a:solidFill>
              <a:srgbClr val="B4C1D0"/>
            </a:solidFill>
            <a:prstDash val="solid"/>
          </a:ln>
        </p:spPr>
        <p:txBody>
          <a:bodyPr/>
          <a:lstStyle/>
          <a:p>
            <a:endParaRPr lang="zh-CN" altLang="en-US"/>
          </a:p>
        </p:txBody>
      </p:sp>
      <p:sp>
        <p:nvSpPr>
          <p:cNvPr id="45" name="矩形 44">
            <a:extLst>
              <a:ext uri="{FF2B5EF4-FFF2-40B4-BE49-F238E27FC236}">
                <a16:creationId xmlns:a16="http://schemas.microsoft.com/office/drawing/2014/main" id="{6BD089C2-8DF2-4642-9926-54A2F41887B2}"/>
              </a:ext>
            </a:extLst>
          </p:cNvPr>
          <p:cNvSpPr>
            <a:spLocks noGrp="1"/>
          </p:cNvSpPr>
          <p:nvPr/>
        </p:nvSpPr>
        <p:spPr>
          <a:xfrm>
            <a:off x="8939893"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46" name="矩形 45">
            <a:extLst>
              <a:ext uri="{FF2B5EF4-FFF2-40B4-BE49-F238E27FC236}">
                <a16:creationId xmlns:a16="http://schemas.microsoft.com/office/drawing/2014/main" id="{48DF5628-0E97-4754-800C-D23DAA17380E}"/>
              </a:ext>
            </a:extLst>
          </p:cNvPr>
          <p:cNvSpPr>
            <a:spLocks noGrp="1"/>
          </p:cNvSpPr>
          <p:nvPr/>
        </p:nvSpPr>
        <p:spPr>
          <a:xfrm>
            <a:off x="9269186"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47" name="矩形 46">
            <a:extLst>
              <a:ext uri="{FF2B5EF4-FFF2-40B4-BE49-F238E27FC236}">
                <a16:creationId xmlns:a16="http://schemas.microsoft.com/office/drawing/2014/main" id="{4EBB14DE-2BB0-4719-BECD-8EA01CB64CB4}"/>
              </a:ext>
            </a:extLst>
          </p:cNvPr>
          <p:cNvSpPr>
            <a:spLocks noGrp="1"/>
          </p:cNvSpPr>
          <p:nvPr/>
        </p:nvSpPr>
        <p:spPr>
          <a:xfrm>
            <a:off x="9598479"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48" name="矩形 47">
            <a:extLst>
              <a:ext uri="{FF2B5EF4-FFF2-40B4-BE49-F238E27FC236}">
                <a16:creationId xmlns:a16="http://schemas.microsoft.com/office/drawing/2014/main" id="{3702EFAF-3321-43D4-B22D-E135838BB7C3}"/>
              </a:ext>
            </a:extLst>
          </p:cNvPr>
          <p:cNvSpPr>
            <a:spLocks noGrp="1"/>
          </p:cNvSpPr>
          <p:nvPr/>
        </p:nvSpPr>
        <p:spPr>
          <a:xfrm>
            <a:off x="9927771"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49" name="矩形 48">
            <a:extLst>
              <a:ext uri="{FF2B5EF4-FFF2-40B4-BE49-F238E27FC236}">
                <a16:creationId xmlns:a16="http://schemas.microsoft.com/office/drawing/2014/main" id="{8803BB79-CD4F-4E3A-99F7-AC4D96185207}"/>
              </a:ext>
            </a:extLst>
          </p:cNvPr>
          <p:cNvSpPr>
            <a:spLocks noGrp="1"/>
          </p:cNvSpPr>
          <p:nvPr/>
        </p:nvSpPr>
        <p:spPr>
          <a:xfrm>
            <a:off x="10257064"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C556E4A8-98D6-4F5E-B348-22A67C224BD7}"/>
              </a:ext>
            </a:extLst>
          </p:cNvPr>
          <p:cNvSpPr>
            <a:spLocks noGrp="1"/>
          </p:cNvSpPr>
          <p:nvPr/>
        </p:nvSpPr>
        <p:spPr>
          <a:xfrm>
            <a:off x="10586357" y="24384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1" name="矩形 50">
            <a:extLst>
              <a:ext uri="{FF2B5EF4-FFF2-40B4-BE49-F238E27FC236}">
                <a16:creationId xmlns:a16="http://schemas.microsoft.com/office/drawing/2014/main" id="{384B5A69-9747-4B6E-B5AE-D373C29E5C2B}"/>
              </a:ext>
            </a:extLst>
          </p:cNvPr>
          <p:cNvSpPr>
            <a:spLocks noGrp="1"/>
          </p:cNvSpPr>
          <p:nvPr/>
        </p:nvSpPr>
        <p:spPr>
          <a:xfrm>
            <a:off x="8610600" y="2676525"/>
            <a:ext cx="2305050" cy="161925"/>
          </a:xfrm>
          <a:prstGeom prst="rect">
            <a:avLst/>
          </a:prstGeom>
          <a:solidFill>
            <a:srgbClr val="F4EBC2"/>
          </a:solidFill>
          <a:ln w="9525">
            <a:solidFill>
              <a:srgbClr val="B4C1D0"/>
            </a:solidFill>
            <a:prstDash val="solid"/>
          </a:ln>
        </p:spPr>
        <p:txBody>
          <a:bodyPr/>
          <a:lstStyle/>
          <a:p>
            <a:endParaRPr lang="zh-CN" altLang="en-US"/>
          </a:p>
        </p:txBody>
      </p:sp>
      <p:sp>
        <p:nvSpPr>
          <p:cNvPr id="52" name="矩形 51">
            <a:extLst>
              <a:ext uri="{FF2B5EF4-FFF2-40B4-BE49-F238E27FC236}">
                <a16:creationId xmlns:a16="http://schemas.microsoft.com/office/drawing/2014/main" id="{8D1EA8F2-ABA7-4C73-AF9C-65F77D59DD94}"/>
              </a:ext>
            </a:extLst>
          </p:cNvPr>
          <p:cNvSpPr>
            <a:spLocks noGrp="1"/>
          </p:cNvSpPr>
          <p:nvPr/>
        </p:nvSpPr>
        <p:spPr>
          <a:xfrm>
            <a:off x="8939893"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3" name="矩形 52">
            <a:extLst>
              <a:ext uri="{FF2B5EF4-FFF2-40B4-BE49-F238E27FC236}">
                <a16:creationId xmlns:a16="http://schemas.microsoft.com/office/drawing/2014/main" id="{85C51B15-FD6C-4B76-BD50-6C621769FEDA}"/>
              </a:ext>
            </a:extLst>
          </p:cNvPr>
          <p:cNvSpPr>
            <a:spLocks noGrp="1"/>
          </p:cNvSpPr>
          <p:nvPr/>
        </p:nvSpPr>
        <p:spPr>
          <a:xfrm>
            <a:off x="9269186"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4" name="矩形 53">
            <a:extLst>
              <a:ext uri="{FF2B5EF4-FFF2-40B4-BE49-F238E27FC236}">
                <a16:creationId xmlns:a16="http://schemas.microsoft.com/office/drawing/2014/main" id="{7534DEB2-D3B4-4BD8-95DD-CF5CD22946D1}"/>
              </a:ext>
            </a:extLst>
          </p:cNvPr>
          <p:cNvSpPr>
            <a:spLocks noGrp="1"/>
          </p:cNvSpPr>
          <p:nvPr/>
        </p:nvSpPr>
        <p:spPr>
          <a:xfrm>
            <a:off x="9598479"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5" name="矩形 54">
            <a:extLst>
              <a:ext uri="{FF2B5EF4-FFF2-40B4-BE49-F238E27FC236}">
                <a16:creationId xmlns:a16="http://schemas.microsoft.com/office/drawing/2014/main" id="{2A72854A-72E1-490B-BA5B-AD5022C56FC2}"/>
              </a:ext>
            </a:extLst>
          </p:cNvPr>
          <p:cNvSpPr>
            <a:spLocks noGrp="1"/>
          </p:cNvSpPr>
          <p:nvPr/>
        </p:nvSpPr>
        <p:spPr>
          <a:xfrm>
            <a:off x="9927771"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6" name="矩形 55">
            <a:extLst>
              <a:ext uri="{FF2B5EF4-FFF2-40B4-BE49-F238E27FC236}">
                <a16:creationId xmlns:a16="http://schemas.microsoft.com/office/drawing/2014/main" id="{D4C461AC-F877-4D0E-BF29-C1DEDB8ED6B6}"/>
              </a:ext>
            </a:extLst>
          </p:cNvPr>
          <p:cNvSpPr>
            <a:spLocks noGrp="1"/>
          </p:cNvSpPr>
          <p:nvPr/>
        </p:nvSpPr>
        <p:spPr>
          <a:xfrm>
            <a:off x="10257064"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7" name="矩形 56">
            <a:extLst>
              <a:ext uri="{FF2B5EF4-FFF2-40B4-BE49-F238E27FC236}">
                <a16:creationId xmlns:a16="http://schemas.microsoft.com/office/drawing/2014/main" id="{638B4A4B-1B7C-4DD9-A772-963C146A7C9A}"/>
              </a:ext>
            </a:extLst>
          </p:cNvPr>
          <p:cNvSpPr>
            <a:spLocks noGrp="1"/>
          </p:cNvSpPr>
          <p:nvPr/>
        </p:nvSpPr>
        <p:spPr>
          <a:xfrm>
            <a:off x="10586357" y="26765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58" name="矩形 57">
            <a:extLst>
              <a:ext uri="{FF2B5EF4-FFF2-40B4-BE49-F238E27FC236}">
                <a16:creationId xmlns:a16="http://schemas.microsoft.com/office/drawing/2014/main" id="{D7E179A1-F9CC-4FEA-ADCD-3F313DEAC381}"/>
              </a:ext>
            </a:extLst>
          </p:cNvPr>
          <p:cNvSpPr>
            <a:spLocks noGrp="1"/>
          </p:cNvSpPr>
          <p:nvPr/>
        </p:nvSpPr>
        <p:spPr>
          <a:xfrm>
            <a:off x="8610600" y="2914650"/>
            <a:ext cx="2305050" cy="161925"/>
          </a:xfrm>
          <a:prstGeom prst="rect">
            <a:avLst/>
          </a:prstGeom>
          <a:solidFill>
            <a:srgbClr val="DDEBFA"/>
          </a:solidFill>
          <a:ln w="9525">
            <a:solidFill>
              <a:srgbClr val="B4C1D0"/>
            </a:solidFill>
            <a:prstDash val="solid"/>
          </a:ln>
        </p:spPr>
        <p:txBody>
          <a:bodyPr/>
          <a:lstStyle/>
          <a:p>
            <a:endParaRPr lang="zh-CN" altLang="en-US"/>
          </a:p>
        </p:txBody>
      </p:sp>
      <p:sp>
        <p:nvSpPr>
          <p:cNvPr id="59" name="矩形 58">
            <a:extLst>
              <a:ext uri="{FF2B5EF4-FFF2-40B4-BE49-F238E27FC236}">
                <a16:creationId xmlns:a16="http://schemas.microsoft.com/office/drawing/2014/main" id="{05C75A9B-E3F2-41D1-8B26-D071DF75464F}"/>
              </a:ext>
            </a:extLst>
          </p:cNvPr>
          <p:cNvSpPr>
            <a:spLocks noGrp="1"/>
          </p:cNvSpPr>
          <p:nvPr/>
        </p:nvSpPr>
        <p:spPr>
          <a:xfrm>
            <a:off x="8939893"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0" name="矩形 59">
            <a:extLst>
              <a:ext uri="{FF2B5EF4-FFF2-40B4-BE49-F238E27FC236}">
                <a16:creationId xmlns:a16="http://schemas.microsoft.com/office/drawing/2014/main" id="{2D60DED9-4E80-4A34-9F8C-67F53D1FE35A}"/>
              </a:ext>
            </a:extLst>
          </p:cNvPr>
          <p:cNvSpPr>
            <a:spLocks noGrp="1"/>
          </p:cNvSpPr>
          <p:nvPr/>
        </p:nvSpPr>
        <p:spPr>
          <a:xfrm>
            <a:off x="9269186"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1" name="矩形 60">
            <a:extLst>
              <a:ext uri="{FF2B5EF4-FFF2-40B4-BE49-F238E27FC236}">
                <a16:creationId xmlns:a16="http://schemas.microsoft.com/office/drawing/2014/main" id="{91A10FC1-60E2-4988-9F25-90FDEB0B403C}"/>
              </a:ext>
            </a:extLst>
          </p:cNvPr>
          <p:cNvSpPr>
            <a:spLocks noGrp="1"/>
          </p:cNvSpPr>
          <p:nvPr/>
        </p:nvSpPr>
        <p:spPr>
          <a:xfrm>
            <a:off x="9598479"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2" name="矩形 61">
            <a:extLst>
              <a:ext uri="{FF2B5EF4-FFF2-40B4-BE49-F238E27FC236}">
                <a16:creationId xmlns:a16="http://schemas.microsoft.com/office/drawing/2014/main" id="{8CF7044A-4F4A-48D4-B458-2DBF7D65D411}"/>
              </a:ext>
            </a:extLst>
          </p:cNvPr>
          <p:cNvSpPr>
            <a:spLocks noGrp="1"/>
          </p:cNvSpPr>
          <p:nvPr/>
        </p:nvSpPr>
        <p:spPr>
          <a:xfrm>
            <a:off x="9927771"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3" name="矩形 62">
            <a:extLst>
              <a:ext uri="{FF2B5EF4-FFF2-40B4-BE49-F238E27FC236}">
                <a16:creationId xmlns:a16="http://schemas.microsoft.com/office/drawing/2014/main" id="{F877CD70-00AE-4DEC-90ED-F08D34F9E217}"/>
              </a:ext>
            </a:extLst>
          </p:cNvPr>
          <p:cNvSpPr>
            <a:spLocks noGrp="1"/>
          </p:cNvSpPr>
          <p:nvPr/>
        </p:nvSpPr>
        <p:spPr>
          <a:xfrm>
            <a:off x="10257064"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4" name="矩形 63">
            <a:extLst>
              <a:ext uri="{FF2B5EF4-FFF2-40B4-BE49-F238E27FC236}">
                <a16:creationId xmlns:a16="http://schemas.microsoft.com/office/drawing/2014/main" id="{51C6FCCD-421D-4151-B2AE-E7347D2B6F21}"/>
              </a:ext>
            </a:extLst>
          </p:cNvPr>
          <p:cNvSpPr>
            <a:spLocks noGrp="1"/>
          </p:cNvSpPr>
          <p:nvPr/>
        </p:nvSpPr>
        <p:spPr>
          <a:xfrm>
            <a:off x="10586357" y="29146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5" name="矩形 64">
            <a:extLst>
              <a:ext uri="{FF2B5EF4-FFF2-40B4-BE49-F238E27FC236}">
                <a16:creationId xmlns:a16="http://schemas.microsoft.com/office/drawing/2014/main" id="{D030BEEE-AB66-43DF-841B-77E61670EFA6}"/>
              </a:ext>
            </a:extLst>
          </p:cNvPr>
          <p:cNvSpPr>
            <a:spLocks noGrp="1"/>
          </p:cNvSpPr>
          <p:nvPr/>
        </p:nvSpPr>
        <p:spPr>
          <a:xfrm>
            <a:off x="8610600" y="3152775"/>
            <a:ext cx="2305050" cy="161925"/>
          </a:xfrm>
          <a:prstGeom prst="rect">
            <a:avLst/>
          </a:prstGeom>
          <a:solidFill>
            <a:srgbClr val="F4EBC2"/>
          </a:solidFill>
          <a:ln w="9525">
            <a:solidFill>
              <a:srgbClr val="B4C1D0"/>
            </a:solidFill>
            <a:prstDash val="solid"/>
          </a:ln>
        </p:spPr>
        <p:txBody>
          <a:bodyPr/>
          <a:lstStyle/>
          <a:p>
            <a:endParaRPr lang="zh-CN" altLang="en-US"/>
          </a:p>
        </p:txBody>
      </p:sp>
      <p:sp>
        <p:nvSpPr>
          <p:cNvPr id="66" name="矩形 65">
            <a:extLst>
              <a:ext uri="{FF2B5EF4-FFF2-40B4-BE49-F238E27FC236}">
                <a16:creationId xmlns:a16="http://schemas.microsoft.com/office/drawing/2014/main" id="{0594C5DF-0F9A-4C79-B6F9-FCC0E7D1DBB9}"/>
              </a:ext>
            </a:extLst>
          </p:cNvPr>
          <p:cNvSpPr>
            <a:spLocks noGrp="1"/>
          </p:cNvSpPr>
          <p:nvPr/>
        </p:nvSpPr>
        <p:spPr>
          <a:xfrm>
            <a:off x="8939893"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7" name="矩形 66">
            <a:extLst>
              <a:ext uri="{FF2B5EF4-FFF2-40B4-BE49-F238E27FC236}">
                <a16:creationId xmlns:a16="http://schemas.microsoft.com/office/drawing/2014/main" id="{E8480213-B407-4FA1-8979-AD3DBC6D823A}"/>
              </a:ext>
            </a:extLst>
          </p:cNvPr>
          <p:cNvSpPr>
            <a:spLocks noGrp="1"/>
          </p:cNvSpPr>
          <p:nvPr/>
        </p:nvSpPr>
        <p:spPr>
          <a:xfrm>
            <a:off x="9269186"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8" name="矩形 67">
            <a:extLst>
              <a:ext uri="{FF2B5EF4-FFF2-40B4-BE49-F238E27FC236}">
                <a16:creationId xmlns:a16="http://schemas.microsoft.com/office/drawing/2014/main" id="{4DB17C22-E7AD-47AA-98A4-CF52DA0EFA2F}"/>
              </a:ext>
            </a:extLst>
          </p:cNvPr>
          <p:cNvSpPr>
            <a:spLocks noGrp="1"/>
          </p:cNvSpPr>
          <p:nvPr/>
        </p:nvSpPr>
        <p:spPr>
          <a:xfrm>
            <a:off x="9598479"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69" name="矩形 68">
            <a:extLst>
              <a:ext uri="{FF2B5EF4-FFF2-40B4-BE49-F238E27FC236}">
                <a16:creationId xmlns:a16="http://schemas.microsoft.com/office/drawing/2014/main" id="{10595F46-5D3D-4303-8E2B-799E880D6066}"/>
              </a:ext>
            </a:extLst>
          </p:cNvPr>
          <p:cNvSpPr>
            <a:spLocks noGrp="1"/>
          </p:cNvSpPr>
          <p:nvPr/>
        </p:nvSpPr>
        <p:spPr>
          <a:xfrm>
            <a:off x="9927771"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0" name="矩形 69">
            <a:extLst>
              <a:ext uri="{FF2B5EF4-FFF2-40B4-BE49-F238E27FC236}">
                <a16:creationId xmlns:a16="http://schemas.microsoft.com/office/drawing/2014/main" id="{07BF975C-AD95-48DF-A3D8-4AE31CF776AB}"/>
              </a:ext>
            </a:extLst>
          </p:cNvPr>
          <p:cNvSpPr>
            <a:spLocks noGrp="1"/>
          </p:cNvSpPr>
          <p:nvPr/>
        </p:nvSpPr>
        <p:spPr>
          <a:xfrm>
            <a:off x="10257064"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1" name="矩形 70">
            <a:extLst>
              <a:ext uri="{FF2B5EF4-FFF2-40B4-BE49-F238E27FC236}">
                <a16:creationId xmlns:a16="http://schemas.microsoft.com/office/drawing/2014/main" id="{BDA45CDE-5C99-4D99-8E5C-04B65D9297BB}"/>
              </a:ext>
            </a:extLst>
          </p:cNvPr>
          <p:cNvSpPr>
            <a:spLocks noGrp="1"/>
          </p:cNvSpPr>
          <p:nvPr/>
        </p:nvSpPr>
        <p:spPr>
          <a:xfrm>
            <a:off x="10586357" y="315277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2" name="矩形 71">
            <a:extLst>
              <a:ext uri="{FF2B5EF4-FFF2-40B4-BE49-F238E27FC236}">
                <a16:creationId xmlns:a16="http://schemas.microsoft.com/office/drawing/2014/main" id="{F396AB01-63C8-45A8-96B6-ED50A68C6317}"/>
              </a:ext>
            </a:extLst>
          </p:cNvPr>
          <p:cNvSpPr>
            <a:spLocks noGrp="1"/>
          </p:cNvSpPr>
          <p:nvPr/>
        </p:nvSpPr>
        <p:spPr>
          <a:xfrm>
            <a:off x="8610600" y="3390900"/>
            <a:ext cx="2305050" cy="161925"/>
          </a:xfrm>
          <a:prstGeom prst="rect">
            <a:avLst/>
          </a:prstGeom>
          <a:solidFill>
            <a:srgbClr val="DDEBFA"/>
          </a:solidFill>
          <a:ln w="9525">
            <a:solidFill>
              <a:srgbClr val="B4C1D0"/>
            </a:solidFill>
            <a:prstDash val="solid"/>
          </a:ln>
        </p:spPr>
        <p:txBody>
          <a:bodyPr/>
          <a:lstStyle/>
          <a:p>
            <a:endParaRPr lang="zh-CN" altLang="en-US"/>
          </a:p>
        </p:txBody>
      </p:sp>
      <p:sp>
        <p:nvSpPr>
          <p:cNvPr id="73" name="矩形 72">
            <a:extLst>
              <a:ext uri="{FF2B5EF4-FFF2-40B4-BE49-F238E27FC236}">
                <a16:creationId xmlns:a16="http://schemas.microsoft.com/office/drawing/2014/main" id="{B7BEAB0E-D89D-4E02-97AA-1D80A019162C}"/>
              </a:ext>
            </a:extLst>
          </p:cNvPr>
          <p:cNvSpPr>
            <a:spLocks noGrp="1"/>
          </p:cNvSpPr>
          <p:nvPr/>
        </p:nvSpPr>
        <p:spPr>
          <a:xfrm>
            <a:off x="8939893"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4" name="矩形 73">
            <a:extLst>
              <a:ext uri="{FF2B5EF4-FFF2-40B4-BE49-F238E27FC236}">
                <a16:creationId xmlns:a16="http://schemas.microsoft.com/office/drawing/2014/main" id="{F9AE1269-569B-48A1-B1FF-5094E69CF754}"/>
              </a:ext>
            </a:extLst>
          </p:cNvPr>
          <p:cNvSpPr>
            <a:spLocks noGrp="1"/>
          </p:cNvSpPr>
          <p:nvPr/>
        </p:nvSpPr>
        <p:spPr>
          <a:xfrm>
            <a:off x="9269186"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5" name="矩形 74">
            <a:extLst>
              <a:ext uri="{FF2B5EF4-FFF2-40B4-BE49-F238E27FC236}">
                <a16:creationId xmlns:a16="http://schemas.microsoft.com/office/drawing/2014/main" id="{62F6F1C2-CE61-4A58-8730-EB2D4F969F83}"/>
              </a:ext>
            </a:extLst>
          </p:cNvPr>
          <p:cNvSpPr>
            <a:spLocks noGrp="1"/>
          </p:cNvSpPr>
          <p:nvPr/>
        </p:nvSpPr>
        <p:spPr>
          <a:xfrm>
            <a:off x="9598479"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6" name="矩形 75">
            <a:extLst>
              <a:ext uri="{FF2B5EF4-FFF2-40B4-BE49-F238E27FC236}">
                <a16:creationId xmlns:a16="http://schemas.microsoft.com/office/drawing/2014/main" id="{D4B27986-1F0D-44E1-B242-27509A34C3E6}"/>
              </a:ext>
            </a:extLst>
          </p:cNvPr>
          <p:cNvSpPr>
            <a:spLocks noGrp="1"/>
          </p:cNvSpPr>
          <p:nvPr/>
        </p:nvSpPr>
        <p:spPr>
          <a:xfrm>
            <a:off x="9927771"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7" name="矩形 76">
            <a:extLst>
              <a:ext uri="{FF2B5EF4-FFF2-40B4-BE49-F238E27FC236}">
                <a16:creationId xmlns:a16="http://schemas.microsoft.com/office/drawing/2014/main" id="{9ACF5BEB-E405-413D-BC56-EDA030DB314F}"/>
              </a:ext>
            </a:extLst>
          </p:cNvPr>
          <p:cNvSpPr>
            <a:spLocks noGrp="1"/>
          </p:cNvSpPr>
          <p:nvPr/>
        </p:nvSpPr>
        <p:spPr>
          <a:xfrm>
            <a:off x="10257064"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8" name="矩形 77">
            <a:extLst>
              <a:ext uri="{FF2B5EF4-FFF2-40B4-BE49-F238E27FC236}">
                <a16:creationId xmlns:a16="http://schemas.microsoft.com/office/drawing/2014/main" id="{0CDCCAAD-1C98-4419-A017-46F253A97B87}"/>
              </a:ext>
            </a:extLst>
          </p:cNvPr>
          <p:cNvSpPr>
            <a:spLocks noGrp="1"/>
          </p:cNvSpPr>
          <p:nvPr/>
        </p:nvSpPr>
        <p:spPr>
          <a:xfrm>
            <a:off x="10586357" y="339090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79" name="矩形 78">
            <a:extLst>
              <a:ext uri="{FF2B5EF4-FFF2-40B4-BE49-F238E27FC236}">
                <a16:creationId xmlns:a16="http://schemas.microsoft.com/office/drawing/2014/main" id="{AD104385-604D-41E5-8ED4-90111BF1FA43}"/>
              </a:ext>
            </a:extLst>
          </p:cNvPr>
          <p:cNvSpPr>
            <a:spLocks noGrp="1"/>
          </p:cNvSpPr>
          <p:nvPr/>
        </p:nvSpPr>
        <p:spPr>
          <a:xfrm>
            <a:off x="8610600" y="3629025"/>
            <a:ext cx="2305050" cy="161925"/>
          </a:xfrm>
          <a:prstGeom prst="rect">
            <a:avLst/>
          </a:prstGeom>
          <a:solidFill>
            <a:srgbClr val="F4EBC2"/>
          </a:solidFill>
          <a:ln w="9525">
            <a:solidFill>
              <a:srgbClr val="B4C1D0"/>
            </a:solidFill>
            <a:prstDash val="solid"/>
          </a:ln>
        </p:spPr>
        <p:txBody>
          <a:bodyPr/>
          <a:lstStyle/>
          <a:p>
            <a:endParaRPr lang="zh-CN" altLang="en-US"/>
          </a:p>
        </p:txBody>
      </p:sp>
      <p:sp>
        <p:nvSpPr>
          <p:cNvPr id="80" name="矩形 79">
            <a:extLst>
              <a:ext uri="{FF2B5EF4-FFF2-40B4-BE49-F238E27FC236}">
                <a16:creationId xmlns:a16="http://schemas.microsoft.com/office/drawing/2014/main" id="{4B8A3850-58E7-46FD-BB5C-F1BC5140FBA8}"/>
              </a:ext>
            </a:extLst>
          </p:cNvPr>
          <p:cNvSpPr>
            <a:spLocks noGrp="1"/>
          </p:cNvSpPr>
          <p:nvPr/>
        </p:nvSpPr>
        <p:spPr>
          <a:xfrm>
            <a:off x="8939893"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1" name="矩形 80">
            <a:extLst>
              <a:ext uri="{FF2B5EF4-FFF2-40B4-BE49-F238E27FC236}">
                <a16:creationId xmlns:a16="http://schemas.microsoft.com/office/drawing/2014/main" id="{E7647111-85C1-4750-B7EA-2161D42561E9}"/>
              </a:ext>
            </a:extLst>
          </p:cNvPr>
          <p:cNvSpPr>
            <a:spLocks noGrp="1"/>
          </p:cNvSpPr>
          <p:nvPr/>
        </p:nvSpPr>
        <p:spPr>
          <a:xfrm>
            <a:off x="9269186"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2" name="矩形 81">
            <a:extLst>
              <a:ext uri="{FF2B5EF4-FFF2-40B4-BE49-F238E27FC236}">
                <a16:creationId xmlns:a16="http://schemas.microsoft.com/office/drawing/2014/main" id="{4BC15D6A-8221-425F-B229-B4C7E3757267}"/>
              </a:ext>
            </a:extLst>
          </p:cNvPr>
          <p:cNvSpPr>
            <a:spLocks noGrp="1"/>
          </p:cNvSpPr>
          <p:nvPr/>
        </p:nvSpPr>
        <p:spPr>
          <a:xfrm>
            <a:off x="9598479"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3" name="矩形 82">
            <a:extLst>
              <a:ext uri="{FF2B5EF4-FFF2-40B4-BE49-F238E27FC236}">
                <a16:creationId xmlns:a16="http://schemas.microsoft.com/office/drawing/2014/main" id="{D1DF8777-F04D-4C8C-9116-B0D49A14B7A3}"/>
              </a:ext>
            </a:extLst>
          </p:cNvPr>
          <p:cNvSpPr>
            <a:spLocks noGrp="1"/>
          </p:cNvSpPr>
          <p:nvPr/>
        </p:nvSpPr>
        <p:spPr>
          <a:xfrm>
            <a:off x="9927771"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4" name="矩形 83">
            <a:extLst>
              <a:ext uri="{FF2B5EF4-FFF2-40B4-BE49-F238E27FC236}">
                <a16:creationId xmlns:a16="http://schemas.microsoft.com/office/drawing/2014/main" id="{1ECD5FE1-2BE6-42E4-B8C2-A7D85EF3B468}"/>
              </a:ext>
            </a:extLst>
          </p:cNvPr>
          <p:cNvSpPr>
            <a:spLocks noGrp="1"/>
          </p:cNvSpPr>
          <p:nvPr/>
        </p:nvSpPr>
        <p:spPr>
          <a:xfrm>
            <a:off x="10257064"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5" name="矩形 84">
            <a:extLst>
              <a:ext uri="{FF2B5EF4-FFF2-40B4-BE49-F238E27FC236}">
                <a16:creationId xmlns:a16="http://schemas.microsoft.com/office/drawing/2014/main" id="{44157353-ECE6-442B-9D3C-77833673844F}"/>
              </a:ext>
            </a:extLst>
          </p:cNvPr>
          <p:cNvSpPr>
            <a:spLocks noGrp="1"/>
          </p:cNvSpPr>
          <p:nvPr/>
        </p:nvSpPr>
        <p:spPr>
          <a:xfrm>
            <a:off x="10586357" y="3629025"/>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6" name="矩形 85">
            <a:extLst>
              <a:ext uri="{FF2B5EF4-FFF2-40B4-BE49-F238E27FC236}">
                <a16:creationId xmlns:a16="http://schemas.microsoft.com/office/drawing/2014/main" id="{183E7A59-A8EC-4249-95CC-1F8A1D694393}"/>
              </a:ext>
            </a:extLst>
          </p:cNvPr>
          <p:cNvSpPr>
            <a:spLocks noGrp="1"/>
          </p:cNvSpPr>
          <p:nvPr/>
        </p:nvSpPr>
        <p:spPr>
          <a:xfrm>
            <a:off x="8610600" y="3867150"/>
            <a:ext cx="2305050" cy="161925"/>
          </a:xfrm>
          <a:prstGeom prst="rect">
            <a:avLst/>
          </a:prstGeom>
          <a:solidFill>
            <a:srgbClr val="DDEBFA"/>
          </a:solidFill>
          <a:ln w="9525">
            <a:solidFill>
              <a:srgbClr val="B4C1D0"/>
            </a:solidFill>
            <a:prstDash val="solid"/>
          </a:ln>
        </p:spPr>
        <p:txBody>
          <a:bodyPr/>
          <a:lstStyle/>
          <a:p>
            <a:endParaRPr lang="zh-CN" altLang="en-US"/>
          </a:p>
        </p:txBody>
      </p:sp>
      <p:sp>
        <p:nvSpPr>
          <p:cNvPr id="87" name="矩形 86">
            <a:extLst>
              <a:ext uri="{FF2B5EF4-FFF2-40B4-BE49-F238E27FC236}">
                <a16:creationId xmlns:a16="http://schemas.microsoft.com/office/drawing/2014/main" id="{0D226FF7-2393-4600-A135-39F0912A1BF0}"/>
              </a:ext>
            </a:extLst>
          </p:cNvPr>
          <p:cNvSpPr>
            <a:spLocks noGrp="1"/>
          </p:cNvSpPr>
          <p:nvPr/>
        </p:nvSpPr>
        <p:spPr>
          <a:xfrm>
            <a:off x="8939893"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8" name="矩形 87">
            <a:extLst>
              <a:ext uri="{FF2B5EF4-FFF2-40B4-BE49-F238E27FC236}">
                <a16:creationId xmlns:a16="http://schemas.microsoft.com/office/drawing/2014/main" id="{EAF98D1E-1056-4257-AD36-8F78FE8CDF35}"/>
              </a:ext>
            </a:extLst>
          </p:cNvPr>
          <p:cNvSpPr>
            <a:spLocks noGrp="1"/>
          </p:cNvSpPr>
          <p:nvPr/>
        </p:nvSpPr>
        <p:spPr>
          <a:xfrm>
            <a:off x="9269186"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89" name="矩形 88">
            <a:extLst>
              <a:ext uri="{FF2B5EF4-FFF2-40B4-BE49-F238E27FC236}">
                <a16:creationId xmlns:a16="http://schemas.microsoft.com/office/drawing/2014/main" id="{44AA3224-2A40-410F-9945-92C92EE1DCC1}"/>
              </a:ext>
            </a:extLst>
          </p:cNvPr>
          <p:cNvSpPr>
            <a:spLocks noGrp="1"/>
          </p:cNvSpPr>
          <p:nvPr/>
        </p:nvSpPr>
        <p:spPr>
          <a:xfrm>
            <a:off x="9598479"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90" name="矩形 89">
            <a:extLst>
              <a:ext uri="{FF2B5EF4-FFF2-40B4-BE49-F238E27FC236}">
                <a16:creationId xmlns:a16="http://schemas.microsoft.com/office/drawing/2014/main" id="{3735C8B1-343E-42CD-BFD8-A5C46A6FBB97}"/>
              </a:ext>
            </a:extLst>
          </p:cNvPr>
          <p:cNvSpPr>
            <a:spLocks noGrp="1"/>
          </p:cNvSpPr>
          <p:nvPr/>
        </p:nvSpPr>
        <p:spPr>
          <a:xfrm>
            <a:off x="9927771"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91" name="矩形 90">
            <a:extLst>
              <a:ext uri="{FF2B5EF4-FFF2-40B4-BE49-F238E27FC236}">
                <a16:creationId xmlns:a16="http://schemas.microsoft.com/office/drawing/2014/main" id="{7826F7CC-530D-496E-B79A-7A4ACB7447B1}"/>
              </a:ext>
            </a:extLst>
          </p:cNvPr>
          <p:cNvSpPr>
            <a:spLocks noGrp="1"/>
          </p:cNvSpPr>
          <p:nvPr/>
        </p:nvSpPr>
        <p:spPr>
          <a:xfrm>
            <a:off x="10257064"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92" name="矩形 91">
            <a:extLst>
              <a:ext uri="{FF2B5EF4-FFF2-40B4-BE49-F238E27FC236}">
                <a16:creationId xmlns:a16="http://schemas.microsoft.com/office/drawing/2014/main" id="{39F9CEA7-9816-4E9D-8B7F-B0C4ECFFAE16}"/>
              </a:ext>
            </a:extLst>
          </p:cNvPr>
          <p:cNvSpPr>
            <a:spLocks noGrp="1"/>
          </p:cNvSpPr>
          <p:nvPr/>
        </p:nvSpPr>
        <p:spPr>
          <a:xfrm>
            <a:off x="10586357" y="3867150"/>
            <a:ext cx="9525" cy="161925"/>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93" name="矩形 92">
            <a:extLst>
              <a:ext uri="{FF2B5EF4-FFF2-40B4-BE49-F238E27FC236}">
                <a16:creationId xmlns:a16="http://schemas.microsoft.com/office/drawing/2014/main" id="{D1C05766-6421-4C75-90C3-7D11F17C3950}"/>
              </a:ext>
            </a:extLst>
          </p:cNvPr>
          <p:cNvSpPr>
            <a:spLocks noGrp="1"/>
          </p:cNvSpPr>
          <p:nvPr/>
        </p:nvSpPr>
        <p:spPr>
          <a:xfrm>
            <a:off x="8362950" y="4381500"/>
            <a:ext cx="2800350" cy="628650"/>
          </a:xfrm>
          <a:prstGeom prst="rect">
            <a:avLst/>
          </a:prstGeom>
          <a:solidFill>
            <a:srgbClr val="FFFFFF"/>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黑体"/>
                <a:ea typeface="黑体"/>
                <a:cs typeface="黑体"/>
              </a:rPr>
              <a:t>分析学习路径</a:t>
            </a:r>
          </a:p>
        </p:txBody>
      </p:sp>
      <p:sp>
        <p:nvSpPr>
          <p:cNvPr id="94" name="矩形 93">
            <a:extLst>
              <a:ext uri="{FF2B5EF4-FFF2-40B4-BE49-F238E27FC236}">
                <a16:creationId xmlns:a16="http://schemas.microsoft.com/office/drawing/2014/main" id="{ED05E79A-D77E-4882-A249-9CAAC30B14B9}"/>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95" name="矩形 94">
            <a:extLst>
              <a:ext uri="{FF2B5EF4-FFF2-40B4-BE49-F238E27FC236}">
                <a16:creationId xmlns:a16="http://schemas.microsoft.com/office/drawing/2014/main" id="{37B4E154-0DDB-4202-AC41-D9DCA06DC2CD}"/>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汇总方式改变数据，也改变可以回答的问题。</a:t>
            </a:r>
          </a:p>
        </p:txBody>
      </p:sp>
    </p:spTree>
    <p:extLst>
      <p:ext uri="{BB962C8B-B14F-4D97-AF65-F5344CB8AC3E}">
        <p14:creationId xmlns:p14="http://schemas.microsoft.com/office/powerpoint/2010/main" val="1907117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9A22F5D9-A7EF-48BA-8906-AF0ADCB4B47F}"/>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09B02E7C-3F8A-4BB4-AA5A-F90F30A9B260}"/>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DBB708CC-A343-45EB-8286-3C4229457BF9}"/>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C9AEBC42-E559-4D16-89FB-2F8A893B94D0}"/>
              </a:ext>
            </a:extLst>
          </p:cNvPr>
          <p:cNvSpPr>
            <a:spLocks noGrp="1"/>
          </p:cNvSpPr>
          <p:nvPr/>
        </p:nvSpPr>
        <p:spPr>
          <a:xfrm>
            <a:off x="685800" y="1752600"/>
            <a:ext cx="45720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00204A"/>
                </a:solidFill>
                <a:latin typeface="黑体"/>
                <a:ea typeface="黑体"/>
                <a:cs typeface="黑体"/>
              </a:defRPr>
            </a:pPr>
            <a:r>
              <a:rPr>
                <a:latin typeface="Times New Roman"/>
                <a:ea typeface="Times New Roman"/>
                <a:cs typeface="Times New Roman"/>
              </a:rPr>
              <a:t>Part 2 · </a:t>
            </a:r>
            <a:r>
              <a:rPr>
                <a:latin typeface="黑体"/>
                <a:ea typeface="黑体"/>
                <a:cs typeface="黑体"/>
              </a:rPr>
              <a:t>属性类型与测量尺度</a:t>
            </a:r>
          </a:p>
        </p:txBody>
      </p:sp>
      <p:sp>
        <p:nvSpPr>
          <p:cNvPr id="5" name="矩形 4">
            <a:extLst>
              <a:ext uri="{FF2B5EF4-FFF2-40B4-BE49-F238E27FC236}">
                <a16:creationId xmlns:a16="http://schemas.microsoft.com/office/drawing/2014/main" id="{E2615D44-D328-4CCE-967C-5503C44E3271}"/>
              </a:ext>
            </a:extLst>
          </p:cNvPr>
          <p:cNvSpPr>
            <a:spLocks noGrp="1"/>
          </p:cNvSpPr>
          <p:nvPr/>
        </p:nvSpPr>
        <p:spPr>
          <a:xfrm>
            <a:off x="685800" y="3009900"/>
            <a:ext cx="42862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14DA1"/>
                </a:solidFill>
                <a:latin typeface="黑体"/>
                <a:ea typeface="黑体"/>
                <a:cs typeface="黑体"/>
              </a:defRPr>
            </a:pPr>
            <a:r>
              <a:rPr>
                <a:latin typeface="黑体"/>
                <a:ea typeface="黑体"/>
                <a:cs typeface="黑体"/>
              </a:rPr>
              <a:t>能否排序、能否相减、比值是否有意义</a:t>
            </a:r>
          </a:p>
        </p:txBody>
      </p:sp>
      <p:sp>
        <p:nvSpPr>
          <p:cNvPr id="6" name="矩形 5">
            <a:extLst>
              <a:ext uri="{FF2B5EF4-FFF2-40B4-BE49-F238E27FC236}">
                <a16:creationId xmlns:a16="http://schemas.microsoft.com/office/drawing/2014/main" id="{5DC24792-5C73-4CD5-84C2-D37E117FA890}"/>
              </a:ext>
            </a:extLst>
          </p:cNvPr>
          <p:cNvSpPr>
            <a:spLocks noGrp="1"/>
          </p:cNvSpPr>
          <p:nvPr/>
        </p:nvSpPr>
        <p:spPr>
          <a:xfrm>
            <a:off x="685800" y="4038600"/>
            <a:ext cx="3905250"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B775CE9D-B72F-4569-B057-27EA4B9FD791}"/>
              </a:ext>
            </a:extLst>
          </p:cNvPr>
          <p:cNvSpPr>
            <a:spLocks noGrp="1"/>
          </p:cNvSpPr>
          <p:nvPr/>
        </p:nvSpPr>
        <p:spPr>
          <a:xfrm>
            <a:off x="54292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26" name="图片 25"/>
          <p:cNvPicPr>
            <a:picLocks noChangeAspect="1"/>
          </p:cNvPicPr>
          <p:nvPr/>
        </p:nvPicPr>
        <p:blipFill>
          <a:blip r:embed="rId3"/>
          <a:srcRect l="31226" r="31226"/>
          <a:stretch>
            <a:fillRect/>
          </a:stretch>
        </p:blipFill>
        <p:spPr>
          <a:xfrm>
            <a:off x="5429250" y="1257300"/>
            <a:ext cx="1924050" cy="3409950"/>
          </a:xfrm>
          <a:prstGeom prst="rect">
            <a:avLst/>
          </a:prstGeom>
        </p:spPr>
      </p:pic>
      <p:sp>
        <p:nvSpPr>
          <p:cNvPr id="9" name="矩形 8">
            <a:extLst>
              <a:ext uri="{FF2B5EF4-FFF2-40B4-BE49-F238E27FC236}">
                <a16:creationId xmlns:a16="http://schemas.microsoft.com/office/drawing/2014/main" id="{488315B0-E379-4941-8041-1CF0E8A7439F}"/>
              </a:ext>
            </a:extLst>
          </p:cNvPr>
          <p:cNvSpPr>
            <a:spLocks noGrp="1"/>
          </p:cNvSpPr>
          <p:nvPr/>
        </p:nvSpPr>
        <p:spPr>
          <a:xfrm>
            <a:off x="54292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06329C3D-1A86-4346-9328-7D27C02B40F4}"/>
              </a:ext>
            </a:extLst>
          </p:cNvPr>
          <p:cNvSpPr>
            <a:spLocks noGrp="1"/>
          </p:cNvSpPr>
          <p:nvPr/>
        </p:nvSpPr>
        <p:spPr>
          <a:xfrm>
            <a:off x="55245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类别</a:t>
            </a:r>
          </a:p>
        </p:txBody>
      </p:sp>
      <p:sp>
        <p:nvSpPr>
          <p:cNvPr id="11" name="矩形 10">
            <a:extLst>
              <a:ext uri="{FF2B5EF4-FFF2-40B4-BE49-F238E27FC236}">
                <a16:creationId xmlns:a16="http://schemas.microsoft.com/office/drawing/2014/main" id="{7EC8C657-AEE5-482E-B2E2-F7AA75BE8FEB}"/>
              </a:ext>
            </a:extLst>
          </p:cNvPr>
          <p:cNvSpPr>
            <a:spLocks noGrp="1"/>
          </p:cNvSpPr>
          <p:nvPr/>
        </p:nvSpPr>
        <p:spPr>
          <a:xfrm>
            <a:off x="750570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0" name="图片 29"/>
          <p:cNvPicPr>
            <a:picLocks noChangeAspect="1"/>
          </p:cNvPicPr>
          <p:nvPr/>
        </p:nvPicPr>
        <p:blipFill>
          <a:blip r:embed="rId4"/>
          <a:srcRect l="34317" r="34317"/>
          <a:stretch>
            <a:fillRect/>
          </a:stretch>
        </p:blipFill>
        <p:spPr>
          <a:xfrm>
            <a:off x="7505700" y="1257300"/>
            <a:ext cx="1924050" cy="3409950"/>
          </a:xfrm>
          <a:prstGeom prst="rect">
            <a:avLst/>
          </a:prstGeom>
        </p:spPr>
      </p:pic>
      <p:sp>
        <p:nvSpPr>
          <p:cNvPr id="13" name="矩形 12">
            <a:extLst>
              <a:ext uri="{FF2B5EF4-FFF2-40B4-BE49-F238E27FC236}">
                <a16:creationId xmlns:a16="http://schemas.microsoft.com/office/drawing/2014/main" id="{3604818A-BC6E-43DD-A7C7-9523761669C9}"/>
              </a:ext>
            </a:extLst>
          </p:cNvPr>
          <p:cNvSpPr>
            <a:spLocks noGrp="1"/>
          </p:cNvSpPr>
          <p:nvPr/>
        </p:nvSpPr>
        <p:spPr>
          <a:xfrm>
            <a:off x="750570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B20E86D8-995B-4AFA-8CE1-CB25F1B68612}"/>
              </a:ext>
            </a:extLst>
          </p:cNvPr>
          <p:cNvSpPr>
            <a:spLocks noGrp="1"/>
          </p:cNvSpPr>
          <p:nvPr/>
        </p:nvSpPr>
        <p:spPr>
          <a:xfrm>
            <a:off x="760095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连续数值</a:t>
            </a:r>
          </a:p>
        </p:txBody>
      </p:sp>
      <p:sp>
        <p:nvSpPr>
          <p:cNvPr id="15" name="矩形 14">
            <a:extLst>
              <a:ext uri="{FF2B5EF4-FFF2-40B4-BE49-F238E27FC236}">
                <a16:creationId xmlns:a16="http://schemas.microsoft.com/office/drawing/2014/main" id="{FE9404AA-E5C2-4C90-810C-567407A3BB2F}"/>
              </a:ext>
            </a:extLst>
          </p:cNvPr>
          <p:cNvSpPr>
            <a:spLocks noGrp="1"/>
          </p:cNvSpPr>
          <p:nvPr/>
        </p:nvSpPr>
        <p:spPr>
          <a:xfrm>
            <a:off x="95821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4" name="图片 33"/>
          <p:cNvPicPr>
            <a:picLocks noChangeAspect="1"/>
          </p:cNvPicPr>
          <p:nvPr/>
        </p:nvPicPr>
        <p:blipFill>
          <a:blip r:embed="rId5"/>
          <a:srcRect l="20110" r="20110"/>
          <a:stretch>
            <a:fillRect/>
          </a:stretch>
        </p:blipFill>
        <p:spPr>
          <a:xfrm>
            <a:off x="9582150" y="1257300"/>
            <a:ext cx="1924050" cy="3409950"/>
          </a:xfrm>
          <a:prstGeom prst="rect">
            <a:avLst/>
          </a:prstGeom>
        </p:spPr>
      </p:pic>
      <p:sp>
        <p:nvSpPr>
          <p:cNvPr id="17" name="矩形 16">
            <a:extLst>
              <a:ext uri="{FF2B5EF4-FFF2-40B4-BE49-F238E27FC236}">
                <a16:creationId xmlns:a16="http://schemas.microsoft.com/office/drawing/2014/main" id="{3D6F931A-5A25-4961-A22D-28D9CD4964ED}"/>
              </a:ext>
            </a:extLst>
          </p:cNvPr>
          <p:cNvSpPr>
            <a:spLocks noGrp="1"/>
          </p:cNvSpPr>
          <p:nvPr/>
        </p:nvSpPr>
        <p:spPr>
          <a:xfrm>
            <a:off x="95821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317D8207-4F19-432D-B4FA-A996FAA060C0}"/>
              </a:ext>
            </a:extLst>
          </p:cNvPr>
          <p:cNvSpPr>
            <a:spLocks noGrp="1"/>
          </p:cNvSpPr>
          <p:nvPr/>
        </p:nvSpPr>
        <p:spPr>
          <a:xfrm>
            <a:off x="96774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高维属性</a:t>
            </a:r>
          </a:p>
        </p:txBody>
      </p:sp>
    </p:spTree>
    <p:extLst>
      <p:ext uri="{BB962C8B-B14F-4D97-AF65-F5344CB8AC3E}">
        <p14:creationId xmlns:p14="http://schemas.microsoft.com/office/powerpoint/2010/main" val="614451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648842C1-1098-4688-BAC1-50D06FCDC14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CCA48EB7-6A21-4CFF-9644-0A60BFA8988A}"/>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46F90C4D-8EAA-445B-9AAA-815ED462382D}"/>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145564E-0BCE-4C13-B153-2E4A90FF89AD}"/>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属性类型由允许的比较和运算决定</a:t>
            </a:r>
          </a:p>
        </p:txBody>
      </p:sp>
      <p:sp>
        <p:nvSpPr>
          <p:cNvPr id="5" name="矩形 4">
            <a:extLst>
              <a:ext uri="{FF2B5EF4-FFF2-40B4-BE49-F238E27FC236}">
                <a16:creationId xmlns:a16="http://schemas.microsoft.com/office/drawing/2014/main" id="{5D406A7B-EFCE-4206-8F88-CFAC734895B6}"/>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18/90</a:t>
            </a:r>
          </a:p>
        </p:txBody>
      </p:sp>
      <p:sp>
        <p:nvSpPr>
          <p:cNvPr id="6" name="矩形 5">
            <a:extLst>
              <a:ext uri="{FF2B5EF4-FFF2-40B4-BE49-F238E27FC236}">
                <a16:creationId xmlns:a16="http://schemas.microsoft.com/office/drawing/2014/main" id="{AB4FBEE0-CF9F-44EC-A589-58F11B6BD5D0}"/>
              </a:ext>
            </a:extLst>
          </p:cNvPr>
          <p:cNvSpPr>
            <a:spLocks noGrp="1"/>
          </p:cNvSpPr>
          <p:nvPr/>
        </p:nvSpPr>
        <p:spPr>
          <a:xfrm>
            <a:off x="4857750" y="1181100"/>
            <a:ext cx="2476500" cy="590550"/>
          </a:xfrm>
          <a:prstGeom prst="rect">
            <a:avLst/>
          </a:prstGeom>
          <a:solidFill>
            <a:srgbClr val="00204A"/>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934E157B-CC5C-4A77-B1EF-6E9AF1331A72}"/>
              </a:ext>
            </a:extLst>
          </p:cNvPr>
          <p:cNvSpPr>
            <a:spLocks noGrp="1"/>
          </p:cNvSpPr>
          <p:nvPr/>
        </p:nvSpPr>
        <p:spPr>
          <a:xfrm>
            <a:off x="5048250" y="1352550"/>
            <a:ext cx="2095500" cy="266700"/>
          </a:xfrm>
          <a:prstGeom prst="rect">
            <a:avLst/>
          </a:prstGeom>
          <a:solidFill>
            <a:srgbClr val="00204A"/>
          </a:solidFill>
          <a:ln w="0">
            <a:solidFill>
              <a:srgbClr val="000000">
                <a:alpha val="0"/>
              </a:srgbClr>
            </a:solidFill>
            <a:prstDash val="solid"/>
          </a:ln>
        </p:spPr>
        <p:txBody>
          <a:bodyPr lIns="0" tIns="0" rIns="0" bIns="0" anchor="t"/>
          <a:lstStyle/>
          <a:p>
            <a:pPr algn="ctr">
              <a:defRPr sz="1875" b="1">
                <a:solidFill>
                  <a:srgbClr val="FFFFFF"/>
                </a:solidFill>
                <a:latin typeface="黑体"/>
                <a:ea typeface="黑体"/>
                <a:cs typeface="黑体"/>
              </a:defRPr>
            </a:pPr>
            <a:r>
              <a:rPr>
                <a:latin typeface="黑体"/>
                <a:ea typeface="黑体"/>
                <a:cs typeface="黑体"/>
              </a:rPr>
              <a:t>属性类型</a:t>
            </a:r>
          </a:p>
        </p:txBody>
      </p:sp>
      <p:sp>
        <p:nvSpPr>
          <p:cNvPr id="8" name="矩形 7">
            <a:extLst>
              <a:ext uri="{FF2B5EF4-FFF2-40B4-BE49-F238E27FC236}">
                <a16:creationId xmlns:a16="http://schemas.microsoft.com/office/drawing/2014/main" id="{752282A4-1290-47A9-8612-26F132DE10F1}"/>
              </a:ext>
            </a:extLst>
          </p:cNvPr>
          <p:cNvSpPr>
            <a:spLocks noGrp="1"/>
          </p:cNvSpPr>
          <p:nvPr/>
        </p:nvSpPr>
        <p:spPr>
          <a:xfrm>
            <a:off x="2571750" y="2152650"/>
            <a:ext cx="2476500" cy="552450"/>
          </a:xfrm>
          <a:prstGeom prst="rect">
            <a:avLst/>
          </a:prstGeom>
          <a:solidFill>
            <a:srgbClr val="EAF2FF"/>
          </a:solidFill>
          <a:ln w="9525">
            <a:solidFill>
              <a:srgbClr val="9FB0C4"/>
            </a:solidFill>
            <a:prstDash val="solid"/>
          </a:ln>
        </p:spPr>
        <p:txBody>
          <a:bodyPr/>
          <a:lstStyle/>
          <a:p>
            <a:endParaRPr lang="zh-CN" altLang="en-US"/>
          </a:p>
        </p:txBody>
      </p:sp>
      <p:sp>
        <p:nvSpPr>
          <p:cNvPr id="9" name="矩形 8">
            <a:extLst>
              <a:ext uri="{FF2B5EF4-FFF2-40B4-BE49-F238E27FC236}">
                <a16:creationId xmlns:a16="http://schemas.microsoft.com/office/drawing/2014/main" id="{451E536D-BA6D-44C8-A0AF-AC5E9CE9C47D}"/>
              </a:ext>
            </a:extLst>
          </p:cNvPr>
          <p:cNvSpPr>
            <a:spLocks noGrp="1"/>
          </p:cNvSpPr>
          <p:nvPr/>
        </p:nvSpPr>
        <p:spPr>
          <a:xfrm>
            <a:off x="2781300" y="2314575"/>
            <a:ext cx="2057400" cy="247650"/>
          </a:xfrm>
          <a:prstGeom prst="rect">
            <a:avLst/>
          </a:prstGeom>
          <a:solidFill>
            <a:srgbClr val="EAF2FF"/>
          </a:solidFill>
          <a:ln w="0">
            <a:solidFill>
              <a:srgbClr val="000000">
                <a:alpha val="0"/>
              </a:srgbClr>
            </a:solidFill>
            <a:prstDash val="solid"/>
          </a:ln>
        </p:spPr>
        <p:txBody>
          <a:bodyPr lIns="0" tIns="0" rIns="0" bIns="0" anchor="t"/>
          <a:lstStyle/>
          <a:p>
            <a:pPr algn="ctr">
              <a:defRPr sz="1725" b="1">
                <a:solidFill>
                  <a:srgbClr val="00204A"/>
                </a:solidFill>
                <a:latin typeface="黑体"/>
                <a:ea typeface="黑体"/>
                <a:cs typeface="黑体"/>
              </a:defRPr>
            </a:pPr>
            <a:r>
              <a:rPr>
                <a:latin typeface="黑体"/>
                <a:ea typeface="黑体"/>
                <a:cs typeface="黑体"/>
              </a:rPr>
              <a:t>类别属性</a:t>
            </a:r>
          </a:p>
        </p:txBody>
      </p:sp>
      <p:sp>
        <p:nvSpPr>
          <p:cNvPr id="10" name="矩形 9">
            <a:extLst>
              <a:ext uri="{FF2B5EF4-FFF2-40B4-BE49-F238E27FC236}">
                <a16:creationId xmlns:a16="http://schemas.microsoft.com/office/drawing/2014/main" id="{A2B46897-4227-46E4-B70D-55F67A527C15}"/>
              </a:ext>
            </a:extLst>
          </p:cNvPr>
          <p:cNvSpPr>
            <a:spLocks noGrp="1"/>
          </p:cNvSpPr>
          <p:nvPr/>
        </p:nvSpPr>
        <p:spPr>
          <a:xfrm>
            <a:off x="4152900" y="1733550"/>
            <a:ext cx="8001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700" b="1">
                <a:solidFill>
                  <a:srgbClr val="B4964B"/>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36BFDBEA-F9BE-47AE-B76B-FE29DB9F1C37}"/>
              </a:ext>
            </a:extLst>
          </p:cNvPr>
          <p:cNvSpPr>
            <a:spLocks noGrp="1"/>
          </p:cNvSpPr>
          <p:nvPr/>
        </p:nvSpPr>
        <p:spPr>
          <a:xfrm>
            <a:off x="1428750" y="3200400"/>
            <a:ext cx="1485900" cy="1428750"/>
          </a:xfrm>
          <a:prstGeom prst="rect">
            <a:avLst/>
          </a:prstGeom>
          <a:solidFill>
            <a:srgbClr val="FFFFFF"/>
          </a:solidFill>
          <a:ln w="9525">
            <a:solidFill>
              <a:srgbClr val="B8C3D1"/>
            </a:solidFill>
            <a:prstDash val="solid"/>
          </a:ln>
        </p:spPr>
        <p:txBody>
          <a:bodyPr/>
          <a:lstStyle/>
          <a:p>
            <a:endParaRPr lang="zh-CN" altLang="en-US"/>
          </a:p>
        </p:txBody>
      </p:sp>
      <p:sp>
        <p:nvSpPr>
          <p:cNvPr id="12" name="矩形 11">
            <a:extLst>
              <a:ext uri="{FF2B5EF4-FFF2-40B4-BE49-F238E27FC236}">
                <a16:creationId xmlns:a16="http://schemas.microsoft.com/office/drawing/2014/main" id="{D310E47F-8080-4428-A68A-3A364E9F3B32}"/>
              </a:ext>
            </a:extLst>
          </p:cNvPr>
          <p:cNvSpPr>
            <a:spLocks noGrp="1"/>
          </p:cNvSpPr>
          <p:nvPr/>
        </p:nvSpPr>
        <p:spPr>
          <a:xfrm>
            <a:off x="1543050" y="3448050"/>
            <a:ext cx="1257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黑体"/>
                <a:ea typeface="黑体"/>
                <a:cs typeface="黑体"/>
              </a:rPr>
              <a:t>标称</a:t>
            </a:r>
          </a:p>
        </p:txBody>
      </p:sp>
      <p:sp>
        <p:nvSpPr>
          <p:cNvPr id="13" name="矩形 12">
            <a:extLst>
              <a:ext uri="{FF2B5EF4-FFF2-40B4-BE49-F238E27FC236}">
                <a16:creationId xmlns:a16="http://schemas.microsoft.com/office/drawing/2014/main" id="{0534A4B1-92B0-4ED8-B5F4-498713A1058B}"/>
              </a:ext>
            </a:extLst>
          </p:cNvPr>
          <p:cNvSpPr>
            <a:spLocks noGrp="1"/>
          </p:cNvSpPr>
          <p:nvPr/>
        </p:nvSpPr>
        <p:spPr>
          <a:xfrm>
            <a:off x="1543050" y="3905250"/>
            <a:ext cx="12573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只判断相同</a:t>
            </a:r>
          </a:p>
        </p:txBody>
      </p:sp>
      <p:sp>
        <p:nvSpPr>
          <p:cNvPr id="14" name="矩形 13">
            <a:extLst>
              <a:ext uri="{FF2B5EF4-FFF2-40B4-BE49-F238E27FC236}">
                <a16:creationId xmlns:a16="http://schemas.microsoft.com/office/drawing/2014/main" id="{22862C5A-A0F6-4883-8A57-4A64BE0D8619}"/>
              </a:ext>
            </a:extLst>
          </p:cNvPr>
          <p:cNvSpPr>
            <a:spLocks noGrp="1"/>
          </p:cNvSpPr>
          <p:nvPr/>
        </p:nvSpPr>
        <p:spPr>
          <a:xfrm>
            <a:off x="3048000" y="3200400"/>
            <a:ext cx="1485900" cy="1428750"/>
          </a:xfrm>
          <a:prstGeom prst="rect">
            <a:avLst/>
          </a:prstGeom>
          <a:solidFill>
            <a:srgbClr val="FFFFFF"/>
          </a:solidFill>
          <a:ln w="9525">
            <a:solidFill>
              <a:srgbClr val="B8C3D1"/>
            </a:solidFill>
            <a:prstDash val="solid"/>
          </a:ln>
        </p:spPr>
        <p:txBody>
          <a:bodyPr/>
          <a:lstStyle/>
          <a:p>
            <a:endParaRPr lang="zh-CN" altLang="en-US"/>
          </a:p>
        </p:txBody>
      </p:sp>
      <p:sp>
        <p:nvSpPr>
          <p:cNvPr id="15" name="矩形 14">
            <a:extLst>
              <a:ext uri="{FF2B5EF4-FFF2-40B4-BE49-F238E27FC236}">
                <a16:creationId xmlns:a16="http://schemas.microsoft.com/office/drawing/2014/main" id="{A3DDD3C2-3438-4A1C-95A0-B7A4E2708AD3}"/>
              </a:ext>
            </a:extLst>
          </p:cNvPr>
          <p:cNvSpPr>
            <a:spLocks noGrp="1"/>
          </p:cNvSpPr>
          <p:nvPr/>
        </p:nvSpPr>
        <p:spPr>
          <a:xfrm>
            <a:off x="3162300" y="3448050"/>
            <a:ext cx="1257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黑体"/>
                <a:ea typeface="黑体"/>
                <a:cs typeface="黑体"/>
              </a:rPr>
              <a:t>有序</a:t>
            </a:r>
          </a:p>
        </p:txBody>
      </p:sp>
      <p:sp>
        <p:nvSpPr>
          <p:cNvPr id="16" name="矩形 15">
            <a:extLst>
              <a:ext uri="{FF2B5EF4-FFF2-40B4-BE49-F238E27FC236}">
                <a16:creationId xmlns:a16="http://schemas.microsoft.com/office/drawing/2014/main" id="{413B2405-76EA-48EA-984B-444A4C755A0E}"/>
              </a:ext>
            </a:extLst>
          </p:cNvPr>
          <p:cNvSpPr>
            <a:spLocks noGrp="1"/>
          </p:cNvSpPr>
          <p:nvPr/>
        </p:nvSpPr>
        <p:spPr>
          <a:xfrm>
            <a:off x="3162300" y="3905250"/>
            <a:ext cx="12573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可以排序</a:t>
            </a:r>
          </a:p>
        </p:txBody>
      </p:sp>
      <p:sp>
        <p:nvSpPr>
          <p:cNvPr id="17" name="矩形 16">
            <a:extLst>
              <a:ext uri="{FF2B5EF4-FFF2-40B4-BE49-F238E27FC236}">
                <a16:creationId xmlns:a16="http://schemas.microsoft.com/office/drawing/2014/main" id="{8A5B71B6-64E6-49C8-ACD2-1CA24186DA91}"/>
              </a:ext>
            </a:extLst>
          </p:cNvPr>
          <p:cNvSpPr>
            <a:spLocks noGrp="1"/>
          </p:cNvSpPr>
          <p:nvPr/>
        </p:nvSpPr>
        <p:spPr>
          <a:xfrm>
            <a:off x="4667250" y="3200400"/>
            <a:ext cx="1485900" cy="1428750"/>
          </a:xfrm>
          <a:prstGeom prst="rect">
            <a:avLst/>
          </a:prstGeom>
          <a:solidFill>
            <a:srgbClr val="FFFFFF"/>
          </a:solidFill>
          <a:ln w="9525">
            <a:solidFill>
              <a:srgbClr val="B8C3D1"/>
            </a:solidFill>
            <a:prstDash val="solid"/>
          </a:ln>
        </p:spPr>
        <p:txBody>
          <a:bodyPr/>
          <a:lstStyle/>
          <a:p>
            <a:endParaRPr lang="zh-CN" altLang="en-US"/>
          </a:p>
        </p:txBody>
      </p:sp>
      <p:sp>
        <p:nvSpPr>
          <p:cNvPr id="18" name="矩形 17">
            <a:extLst>
              <a:ext uri="{FF2B5EF4-FFF2-40B4-BE49-F238E27FC236}">
                <a16:creationId xmlns:a16="http://schemas.microsoft.com/office/drawing/2014/main" id="{6B15F24C-B5AE-4258-853E-9D1AF4B81A48}"/>
              </a:ext>
            </a:extLst>
          </p:cNvPr>
          <p:cNvSpPr>
            <a:spLocks noGrp="1"/>
          </p:cNvSpPr>
          <p:nvPr/>
        </p:nvSpPr>
        <p:spPr>
          <a:xfrm>
            <a:off x="4781550" y="3448050"/>
            <a:ext cx="1257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黑体"/>
                <a:ea typeface="黑体"/>
                <a:cs typeface="黑体"/>
              </a:rPr>
              <a:t>二元</a:t>
            </a:r>
          </a:p>
        </p:txBody>
      </p:sp>
      <p:sp>
        <p:nvSpPr>
          <p:cNvPr id="19" name="矩形 18">
            <a:extLst>
              <a:ext uri="{FF2B5EF4-FFF2-40B4-BE49-F238E27FC236}">
                <a16:creationId xmlns:a16="http://schemas.microsoft.com/office/drawing/2014/main" id="{68D8203B-4BAE-4F2F-AFFB-46047162722D}"/>
              </a:ext>
            </a:extLst>
          </p:cNvPr>
          <p:cNvSpPr>
            <a:spLocks noGrp="1"/>
          </p:cNvSpPr>
          <p:nvPr/>
        </p:nvSpPr>
        <p:spPr>
          <a:xfrm>
            <a:off x="4781550" y="3905250"/>
            <a:ext cx="12573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仅有两个状态</a:t>
            </a:r>
          </a:p>
        </p:txBody>
      </p:sp>
      <p:sp>
        <p:nvSpPr>
          <p:cNvPr id="20" name="矩形 19">
            <a:extLst>
              <a:ext uri="{FF2B5EF4-FFF2-40B4-BE49-F238E27FC236}">
                <a16:creationId xmlns:a16="http://schemas.microsoft.com/office/drawing/2014/main" id="{D0543461-8BFB-4FA7-B04F-9B52E0F5AE47}"/>
              </a:ext>
            </a:extLst>
          </p:cNvPr>
          <p:cNvSpPr>
            <a:spLocks noGrp="1"/>
          </p:cNvSpPr>
          <p:nvPr/>
        </p:nvSpPr>
        <p:spPr>
          <a:xfrm>
            <a:off x="7524750" y="2152650"/>
            <a:ext cx="2476500" cy="552450"/>
          </a:xfrm>
          <a:prstGeom prst="rect">
            <a:avLst/>
          </a:prstGeom>
          <a:solidFill>
            <a:srgbClr val="FFF8E6"/>
          </a:solidFill>
          <a:ln w="9525">
            <a:solidFill>
              <a:srgbClr val="9FB0C4"/>
            </a:solidFill>
            <a:prstDash val="solid"/>
          </a:ln>
        </p:spPr>
        <p:txBody>
          <a:bodyPr/>
          <a:lstStyle/>
          <a:p>
            <a:endParaRPr lang="zh-CN" altLang="en-US"/>
          </a:p>
        </p:txBody>
      </p:sp>
      <p:sp>
        <p:nvSpPr>
          <p:cNvPr id="21" name="矩形 20">
            <a:extLst>
              <a:ext uri="{FF2B5EF4-FFF2-40B4-BE49-F238E27FC236}">
                <a16:creationId xmlns:a16="http://schemas.microsoft.com/office/drawing/2014/main" id="{114A14EE-BE9B-4BAA-8B85-031598F0BE67}"/>
              </a:ext>
            </a:extLst>
          </p:cNvPr>
          <p:cNvSpPr>
            <a:spLocks noGrp="1"/>
          </p:cNvSpPr>
          <p:nvPr/>
        </p:nvSpPr>
        <p:spPr>
          <a:xfrm>
            <a:off x="7734300" y="2314575"/>
            <a:ext cx="2057400" cy="247650"/>
          </a:xfrm>
          <a:prstGeom prst="rect">
            <a:avLst/>
          </a:prstGeom>
          <a:solidFill>
            <a:srgbClr val="FFF8E6"/>
          </a:solidFill>
          <a:ln w="0">
            <a:solidFill>
              <a:srgbClr val="000000">
                <a:alpha val="0"/>
              </a:srgbClr>
            </a:solidFill>
            <a:prstDash val="solid"/>
          </a:ln>
        </p:spPr>
        <p:txBody>
          <a:bodyPr lIns="0" tIns="0" rIns="0" bIns="0" anchor="t"/>
          <a:lstStyle/>
          <a:p>
            <a:pPr algn="ctr">
              <a:defRPr sz="1725" b="1">
                <a:solidFill>
                  <a:srgbClr val="00204A"/>
                </a:solidFill>
                <a:latin typeface="黑体"/>
                <a:ea typeface="黑体"/>
                <a:cs typeface="黑体"/>
              </a:defRPr>
            </a:pPr>
            <a:r>
              <a:rPr>
                <a:latin typeface="黑体"/>
                <a:ea typeface="黑体"/>
                <a:cs typeface="黑体"/>
              </a:rPr>
              <a:t>数值属性</a:t>
            </a:r>
          </a:p>
        </p:txBody>
      </p:sp>
      <p:sp>
        <p:nvSpPr>
          <p:cNvPr id="22" name="矩形 21">
            <a:extLst>
              <a:ext uri="{FF2B5EF4-FFF2-40B4-BE49-F238E27FC236}">
                <a16:creationId xmlns:a16="http://schemas.microsoft.com/office/drawing/2014/main" id="{2050FC67-C408-4CA6-BB32-DFA2493B3D21}"/>
              </a:ext>
            </a:extLst>
          </p:cNvPr>
          <p:cNvSpPr>
            <a:spLocks noGrp="1"/>
          </p:cNvSpPr>
          <p:nvPr/>
        </p:nvSpPr>
        <p:spPr>
          <a:xfrm>
            <a:off x="7524750" y="1733550"/>
            <a:ext cx="8001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700" b="1">
                <a:solidFill>
                  <a:srgbClr val="B4964B"/>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79E19C23-90B7-4F81-AB50-90CC034F5321}"/>
              </a:ext>
            </a:extLst>
          </p:cNvPr>
          <p:cNvSpPr>
            <a:spLocks noGrp="1"/>
          </p:cNvSpPr>
          <p:nvPr/>
        </p:nvSpPr>
        <p:spPr>
          <a:xfrm>
            <a:off x="6381750" y="3200400"/>
            <a:ext cx="1485900" cy="1428750"/>
          </a:xfrm>
          <a:prstGeom prst="rect">
            <a:avLst/>
          </a:prstGeom>
          <a:solidFill>
            <a:srgbClr val="FFFFFF"/>
          </a:solidFill>
          <a:ln w="9525">
            <a:solidFill>
              <a:srgbClr val="B8C3D1"/>
            </a:solidFill>
            <a:prstDash val="solid"/>
          </a:ln>
        </p:spPr>
        <p:txBody>
          <a:bodyPr/>
          <a:lstStyle/>
          <a:p>
            <a:endParaRPr lang="zh-CN" altLang="en-US"/>
          </a:p>
        </p:txBody>
      </p:sp>
      <p:sp>
        <p:nvSpPr>
          <p:cNvPr id="24" name="矩形 23">
            <a:extLst>
              <a:ext uri="{FF2B5EF4-FFF2-40B4-BE49-F238E27FC236}">
                <a16:creationId xmlns:a16="http://schemas.microsoft.com/office/drawing/2014/main" id="{4B439280-23C5-4D1B-9B7F-A7333FD868BF}"/>
              </a:ext>
            </a:extLst>
          </p:cNvPr>
          <p:cNvSpPr>
            <a:spLocks noGrp="1"/>
          </p:cNvSpPr>
          <p:nvPr/>
        </p:nvSpPr>
        <p:spPr>
          <a:xfrm>
            <a:off x="6496050" y="3448050"/>
            <a:ext cx="1257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B4964B"/>
                </a:solidFill>
                <a:latin typeface="黑体"/>
                <a:ea typeface="黑体"/>
                <a:cs typeface="黑体"/>
              </a:defRPr>
            </a:pPr>
            <a:r>
              <a:rPr>
                <a:latin typeface="黑体"/>
                <a:ea typeface="黑体"/>
                <a:cs typeface="黑体"/>
              </a:rPr>
              <a:t>区间</a:t>
            </a:r>
          </a:p>
        </p:txBody>
      </p:sp>
      <p:sp>
        <p:nvSpPr>
          <p:cNvPr id="25" name="矩形 24">
            <a:extLst>
              <a:ext uri="{FF2B5EF4-FFF2-40B4-BE49-F238E27FC236}">
                <a16:creationId xmlns:a16="http://schemas.microsoft.com/office/drawing/2014/main" id="{EED9B4B4-9BF4-41E5-A85C-C249120951F8}"/>
              </a:ext>
            </a:extLst>
          </p:cNvPr>
          <p:cNvSpPr>
            <a:spLocks noGrp="1"/>
          </p:cNvSpPr>
          <p:nvPr/>
        </p:nvSpPr>
        <p:spPr>
          <a:xfrm>
            <a:off x="6496050" y="3905250"/>
            <a:ext cx="12573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差值有意义</a:t>
            </a:r>
          </a:p>
        </p:txBody>
      </p:sp>
      <p:sp>
        <p:nvSpPr>
          <p:cNvPr id="26" name="矩形 25">
            <a:extLst>
              <a:ext uri="{FF2B5EF4-FFF2-40B4-BE49-F238E27FC236}">
                <a16:creationId xmlns:a16="http://schemas.microsoft.com/office/drawing/2014/main" id="{69DE62F2-2C34-4132-9446-0228AFF1EF00}"/>
              </a:ext>
            </a:extLst>
          </p:cNvPr>
          <p:cNvSpPr>
            <a:spLocks noGrp="1"/>
          </p:cNvSpPr>
          <p:nvPr/>
        </p:nvSpPr>
        <p:spPr>
          <a:xfrm>
            <a:off x="8001000" y="3200400"/>
            <a:ext cx="1485900" cy="1428750"/>
          </a:xfrm>
          <a:prstGeom prst="rect">
            <a:avLst/>
          </a:prstGeom>
          <a:solidFill>
            <a:srgbClr val="FFFFFF"/>
          </a:solidFill>
          <a:ln w="9525">
            <a:solidFill>
              <a:srgbClr val="B8C3D1"/>
            </a:solidFill>
            <a:prstDash val="solid"/>
          </a:ln>
        </p:spPr>
        <p:txBody>
          <a:bodyPr/>
          <a:lstStyle/>
          <a:p>
            <a:endParaRPr lang="zh-CN" altLang="en-US"/>
          </a:p>
        </p:txBody>
      </p:sp>
      <p:sp>
        <p:nvSpPr>
          <p:cNvPr id="27" name="矩形 26">
            <a:extLst>
              <a:ext uri="{FF2B5EF4-FFF2-40B4-BE49-F238E27FC236}">
                <a16:creationId xmlns:a16="http://schemas.microsoft.com/office/drawing/2014/main" id="{47C2DA85-BABA-46AF-B4D6-1B2DE96B2BA1}"/>
              </a:ext>
            </a:extLst>
          </p:cNvPr>
          <p:cNvSpPr>
            <a:spLocks noGrp="1"/>
          </p:cNvSpPr>
          <p:nvPr/>
        </p:nvSpPr>
        <p:spPr>
          <a:xfrm>
            <a:off x="8115300" y="3448050"/>
            <a:ext cx="1257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B4964B"/>
                </a:solidFill>
                <a:latin typeface="黑体"/>
                <a:ea typeface="黑体"/>
                <a:cs typeface="黑体"/>
              </a:defRPr>
            </a:pPr>
            <a:r>
              <a:rPr>
                <a:latin typeface="黑体"/>
                <a:ea typeface="黑体"/>
                <a:cs typeface="黑体"/>
              </a:rPr>
              <a:t>比率</a:t>
            </a:r>
          </a:p>
        </p:txBody>
      </p:sp>
      <p:sp>
        <p:nvSpPr>
          <p:cNvPr id="28" name="矩形 27">
            <a:extLst>
              <a:ext uri="{FF2B5EF4-FFF2-40B4-BE49-F238E27FC236}">
                <a16:creationId xmlns:a16="http://schemas.microsoft.com/office/drawing/2014/main" id="{284AA849-17FF-4C25-84BE-84CEB69E61B5}"/>
              </a:ext>
            </a:extLst>
          </p:cNvPr>
          <p:cNvSpPr>
            <a:spLocks noGrp="1"/>
          </p:cNvSpPr>
          <p:nvPr/>
        </p:nvSpPr>
        <p:spPr>
          <a:xfrm>
            <a:off x="8115300" y="3905250"/>
            <a:ext cx="12573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真实零点</a:t>
            </a:r>
          </a:p>
        </p:txBody>
      </p:sp>
      <p:sp>
        <p:nvSpPr>
          <p:cNvPr id="29" name="矩形 28">
            <a:extLst>
              <a:ext uri="{FF2B5EF4-FFF2-40B4-BE49-F238E27FC236}">
                <a16:creationId xmlns:a16="http://schemas.microsoft.com/office/drawing/2014/main" id="{82A74B07-AF38-4B10-BABF-3399C86568C9}"/>
              </a:ext>
            </a:extLst>
          </p:cNvPr>
          <p:cNvSpPr>
            <a:spLocks noGrp="1"/>
          </p:cNvSpPr>
          <p:nvPr/>
        </p:nvSpPr>
        <p:spPr>
          <a:xfrm>
            <a:off x="9620250" y="3200400"/>
            <a:ext cx="1485900" cy="1428750"/>
          </a:xfrm>
          <a:prstGeom prst="rect">
            <a:avLst/>
          </a:prstGeom>
          <a:solidFill>
            <a:srgbClr val="FFFFFF"/>
          </a:solidFill>
          <a:ln w="9525">
            <a:solidFill>
              <a:srgbClr val="B8C3D1"/>
            </a:solidFill>
            <a:prstDash val="solid"/>
          </a:ln>
        </p:spPr>
        <p:txBody>
          <a:bodyPr/>
          <a:lstStyle/>
          <a:p>
            <a:endParaRPr lang="zh-CN" altLang="en-US"/>
          </a:p>
        </p:txBody>
      </p:sp>
      <p:sp>
        <p:nvSpPr>
          <p:cNvPr id="30" name="矩形 29">
            <a:extLst>
              <a:ext uri="{FF2B5EF4-FFF2-40B4-BE49-F238E27FC236}">
                <a16:creationId xmlns:a16="http://schemas.microsoft.com/office/drawing/2014/main" id="{3FACD533-5D9E-40DF-B2B2-456BCC64C91C}"/>
              </a:ext>
            </a:extLst>
          </p:cNvPr>
          <p:cNvSpPr>
            <a:spLocks noGrp="1"/>
          </p:cNvSpPr>
          <p:nvPr/>
        </p:nvSpPr>
        <p:spPr>
          <a:xfrm>
            <a:off x="9734550" y="3448050"/>
            <a:ext cx="1257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B4964B"/>
                </a:solidFill>
                <a:latin typeface="黑体"/>
                <a:ea typeface="黑体"/>
                <a:cs typeface="黑体"/>
              </a:defRPr>
            </a:pPr>
            <a:r>
              <a:rPr>
                <a:latin typeface="黑体"/>
                <a:ea typeface="黑体"/>
                <a:cs typeface="黑体"/>
              </a:rPr>
              <a:t>离散 </a:t>
            </a:r>
            <a:r>
              <a:rPr>
                <a:latin typeface="Times New Roman"/>
                <a:ea typeface="Times New Roman"/>
                <a:cs typeface="Times New Roman"/>
              </a:rPr>
              <a:t>/ </a:t>
            </a:r>
            <a:r>
              <a:rPr>
                <a:latin typeface="黑体"/>
                <a:ea typeface="黑体"/>
                <a:cs typeface="黑体"/>
              </a:rPr>
              <a:t>连续</a:t>
            </a:r>
          </a:p>
        </p:txBody>
      </p:sp>
      <p:sp>
        <p:nvSpPr>
          <p:cNvPr id="31" name="矩形 30">
            <a:extLst>
              <a:ext uri="{FF2B5EF4-FFF2-40B4-BE49-F238E27FC236}">
                <a16:creationId xmlns:a16="http://schemas.microsoft.com/office/drawing/2014/main" id="{C81CC905-B2B5-4DE5-BA3B-5E5FAB2BEDD2}"/>
              </a:ext>
            </a:extLst>
          </p:cNvPr>
          <p:cNvSpPr>
            <a:spLocks noGrp="1"/>
          </p:cNvSpPr>
          <p:nvPr/>
        </p:nvSpPr>
        <p:spPr>
          <a:xfrm>
            <a:off x="9734550" y="3905250"/>
            <a:ext cx="12573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1F2933"/>
                </a:solidFill>
                <a:latin typeface="黑体"/>
                <a:ea typeface="黑体"/>
                <a:cs typeface="黑体"/>
              </a:defRPr>
            </a:pPr>
            <a:r>
              <a:rPr>
                <a:latin typeface="黑体"/>
                <a:ea typeface="黑体"/>
                <a:cs typeface="黑体"/>
              </a:rPr>
              <a:t>取值方式</a:t>
            </a:r>
          </a:p>
        </p:txBody>
      </p:sp>
      <p:sp>
        <p:nvSpPr>
          <p:cNvPr id="32" name="矩形 31">
            <a:extLst>
              <a:ext uri="{FF2B5EF4-FFF2-40B4-BE49-F238E27FC236}">
                <a16:creationId xmlns:a16="http://schemas.microsoft.com/office/drawing/2014/main" id="{20683ACB-FCB9-444E-AAB2-727DE0BEEBCE}"/>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3" name="矩形 32">
            <a:extLst>
              <a:ext uri="{FF2B5EF4-FFF2-40B4-BE49-F238E27FC236}">
                <a16:creationId xmlns:a16="http://schemas.microsoft.com/office/drawing/2014/main" id="{64CEA0BE-D3B2-4307-868E-D0687780A7A9}"/>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属性类型决定什么计算有意义，而不是由存储格式决定。</a:t>
            </a:r>
          </a:p>
        </p:txBody>
      </p:sp>
    </p:spTree>
    <p:extLst>
      <p:ext uri="{BB962C8B-B14F-4D97-AF65-F5344CB8AC3E}">
        <p14:creationId xmlns:p14="http://schemas.microsoft.com/office/powerpoint/2010/main" val="762509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D4EFE102-0942-4526-9A9A-6A54741CDEF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ECE4A204-5514-4194-A1BB-D8541523D00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B826A7A-17E6-4C10-9AC6-61F35F808B8D}"/>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524BFD6D-4101-4FAF-9409-225C3B8028EA}"/>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标称属性只表达类别是否相同</a:t>
            </a:r>
          </a:p>
        </p:txBody>
      </p:sp>
      <p:sp>
        <p:nvSpPr>
          <p:cNvPr id="5" name="矩形 4">
            <a:extLst>
              <a:ext uri="{FF2B5EF4-FFF2-40B4-BE49-F238E27FC236}">
                <a16:creationId xmlns:a16="http://schemas.microsoft.com/office/drawing/2014/main" id="{B5D095D7-8155-452A-9687-939298BC2159}"/>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19/90</a:t>
            </a:r>
          </a:p>
        </p:txBody>
      </p:sp>
      <p:sp>
        <p:nvSpPr>
          <p:cNvPr id="6" name="矩形 5">
            <a:extLst>
              <a:ext uri="{FF2B5EF4-FFF2-40B4-BE49-F238E27FC236}">
                <a16:creationId xmlns:a16="http://schemas.microsoft.com/office/drawing/2014/main" id="{C32848F8-65FD-4BBB-AE0B-84B37E5F35FC}"/>
              </a:ext>
            </a:extLst>
          </p:cNvPr>
          <p:cNvSpPr>
            <a:spLocks noGrp="1"/>
          </p:cNvSpPr>
          <p:nvPr/>
        </p:nvSpPr>
        <p:spPr>
          <a:xfrm>
            <a:off x="723900" y="1257300"/>
            <a:ext cx="3390900" cy="3905250"/>
          </a:xfrm>
          <a:prstGeom prst="rect">
            <a:avLst/>
          </a:prstGeom>
          <a:solidFill>
            <a:srgbClr val="00204A"/>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6688B23E-7FF3-423E-AA6B-EA99732957E0}"/>
              </a:ext>
            </a:extLst>
          </p:cNvPr>
          <p:cNvSpPr>
            <a:spLocks noGrp="1"/>
          </p:cNvSpPr>
          <p:nvPr/>
        </p:nvSpPr>
        <p:spPr>
          <a:xfrm>
            <a:off x="1066800" y="1771650"/>
            <a:ext cx="2724150" cy="704850"/>
          </a:xfrm>
          <a:prstGeom prst="rect">
            <a:avLst/>
          </a:prstGeom>
          <a:solidFill>
            <a:srgbClr val="00204A"/>
          </a:solidFill>
          <a:ln w="0">
            <a:solidFill>
              <a:srgbClr val="000000">
                <a:alpha val="0"/>
              </a:srgbClr>
            </a:solidFill>
            <a:prstDash val="solid"/>
          </a:ln>
        </p:spPr>
        <p:txBody>
          <a:bodyPr lIns="0" tIns="0" rIns="0" bIns="0" anchor="t"/>
          <a:lstStyle/>
          <a:p>
            <a:pPr algn="l">
              <a:defRPr sz="2550" b="1">
                <a:solidFill>
                  <a:srgbClr val="FFFFFF"/>
                </a:solidFill>
                <a:latin typeface="黑体"/>
                <a:ea typeface="黑体"/>
                <a:cs typeface="黑体"/>
              </a:defRPr>
            </a:pPr>
            <a:r>
              <a:rPr>
                <a:latin typeface="黑体"/>
                <a:ea typeface="黑体"/>
                <a:cs typeface="黑体"/>
              </a:rPr>
              <a:t>没有自然顺序</a:t>
            </a:r>
          </a:p>
        </p:txBody>
      </p:sp>
      <p:sp>
        <p:nvSpPr>
          <p:cNvPr id="8" name="矩形 7">
            <a:extLst>
              <a:ext uri="{FF2B5EF4-FFF2-40B4-BE49-F238E27FC236}">
                <a16:creationId xmlns:a16="http://schemas.microsoft.com/office/drawing/2014/main" id="{6BB7F800-9F4B-45F5-9DA4-05BA36BBD301}"/>
              </a:ext>
            </a:extLst>
          </p:cNvPr>
          <p:cNvSpPr>
            <a:spLocks noGrp="1"/>
          </p:cNvSpPr>
          <p:nvPr/>
        </p:nvSpPr>
        <p:spPr>
          <a:xfrm>
            <a:off x="1066800" y="2781300"/>
            <a:ext cx="2724150" cy="1428750"/>
          </a:xfrm>
          <a:prstGeom prst="rect">
            <a:avLst/>
          </a:prstGeom>
          <a:solidFill>
            <a:srgbClr val="00204A"/>
          </a:solidFill>
          <a:ln w="0">
            <a:solidFill>
              <a:srgbClr val="000000">
                <a:alpha val="0"/>
              </a:srgbClr>
            </a:solidFill>
            <a:prstDash val="solid"/>
          </a:ln>
        </p:spPr>
        <p:txBody>
          <a:bodyPr lIns="0" tIns="0" rIns="0" bIns="0" anchor="t"/>
          <a:lstStyle/>
          <a:p>
            <a:pPr algn="l">
              <a:defRPr sz="1500" b="0">
                <a:solidFill>
                  <a:srgbClr val="DCE8F7"/>
                </a:solidFill>
                <a:latin typeface="黑体"/>
                <a:ea typeface="黑体"/>
                <a:cs typeface="黑体"/>
              </a:defRPr>
            </a:pPr>
            <a:r>
              <a:rPr>
                <a:latin typeface="黑体"/>
                <a:ea typeface="黑体"/>
                <a:cs typeface="黑体"/>
              </a:rPr>
              <a:t>课程类别、地区、专业</a:t>
            </a:r>
          </a:p>
        </p:txBody>
      </p:sp>
      <p:sp>
        <p:nvSpPr>
          <p:cNvPr id="9" name="矩形 8">
            <a:extLst>
              <a:ext uri="{FF2B5EF4-FFF2-40B4-BE49-F238E27FC236}">
                <a16:creationId xmlns:a16="http://schemas.microsoft.com/office/drawing/2014/main" id="{203A2A2F-4015-4CB7-AD37-C7C007F008B5}"/>
              </a:ext>
            </a:extLst>
          </p:cNvPr>
          <p:cNvSpPr>
            <a:spLocks noGrp="1"/>
          </p:cNvSpPr>
          <p:nvPr/>
        </p:nvSpPr>
        <p:spPr>
          <a:xfrm>
            <a:off x="4552950" y="13335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02</a:t>
            </a:r>
          </a:p>
        </p:txBody>
      </p:sp>
      <p:sp>
        <p:nvSpPr>
          <p:cNvPr id="10" name="矩形 9">
            <a:extLst>
              <a:ext uri="{FF2B5EF4-FFF2-40B4-BE49-F238E27FC236}">
                <a16:creationId xmlns:a16="http://schemas.microsoft.com/office/drawing/2014/main" id="{26505F53-177F-4A21-A9BC-1A967C4943A2}"/>
              </a:ext>
            </a:extLst>
          </p:cNvPr>
          <p:cNvSpPr>
            <a:spLocks noGrp="1"/>
          </p:cNvSpPr>
          <p:nvPr/>
        </p:nvSpPr>
        <p:spPr>
          <a:xfrm>
            <a:off x="5200650" y="1257300"/>
            <a:ext cx="2381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允许比较相等与不相等</a:t>
            </a:r>
          </a:p>
        </p:txBody>
      </p:sp>
      <p:sp>
        <p:nvSpPr>
          <p:cNvPr id="11" name="矩形 10">
            <a:extLst>
              <a:ext uri="{FF2B5EF4-FFF2-40B4-BE49-F238E27FC236}">
                <a16:creationId xmlns:a16="http://schemas.microsoft.com/office/drawing/2014/main" id="{4F24C0BB-6A68-4308-BA12-2D7C9759D17A}"/>
              </a:ext>
            </a:extLst>
          </p:cNvPr>
          <p:cNvSpPr>
            <a:spLocks noGrp="1"/>
          </p:cNvSpPr>
          <p:nvPr/>
        </p:nvSpPr>
        <p:spPr>
          <a:xfrm>
            <a:off x="7639050" y="1276350"/>
            <a:ext cx="34480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Times New Roman"/>
                <a:ea typeface="Times New Roman"/>
                <a:cs typeface="Times New Roman"/>
              </a:rPr>
              <a:t>A </a:t>
            </a:r>
            <a:r>
              <a:rPr>
                <a:latin typeface="黑体"/>
                <a:ea typeface="黑体"/>
                <a:cs typeface="黑体"/>
              </a:rPr>
              <a:t>是否等于 </a:t>
            </a:r>
            <a:r>
              <a:rPr>
                <a:latin typeface="Times New Roman"/>
                <a:ea typeface="Times New Roman"/>
                <a:cs typeface="Times New Roman"/>
              </a:rPr>
              <a:t>B</a:t>
            </a:r>
          </a:p>
        </p:txBody>
      </p:sp>
      <p:sp>
        <p:nvSpPr>
          <p:cNvPr id="12" name="矩形 11">
            <a:extLst>
              <a:ext uri="{FF2B5EF4-FFF2-40B4-BE49-F238E27FC236}">
                <a16:creationId xmlns:a16="http://schemas.microsoft.com/office/drawing/2014/main" id="{20C92965-7B69-4130-A22C-14FB77E42253}"/>
              </a:ext>
            </a:extLst>
          </p:cNvPr>
          <p:cNvSpPr>
            <a:spLocks noGrp="1"/>
          </p:cNvSpPr>
          <p:nvPr/>
        </p:nvSpPr>
        <p:spPr>
          <a:xfrm>
            <a:off x="4552950" y="1943100"/>
            <a:ext cx="65341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ECE9CA3E-DF7C-4165-B74A-03B96FF0C8EF}"/>
              </a:ext>
            </a:extLst>
          </p:cNvPr>
          <p:cNvSpPr>
            <a:spLocks noGrp="1"/>
          </p:cNvSpPr>
          <p:nvPr/>
        </p:nvSpPr>
        <p:spPr>
          <a:xfrm>
            <a:off x="4552950" y="2286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03</a:t>
            </a:r>
          </a:p>
        </p:txBody>
      </p:sp>
      <p:sp>
        <p:nvSpPr>
          <p:cNvPr id="14" name="矩形 13">
            <a:extLst>
              <a:ext uri="{FF2B5EF4-FFF2-40B4-BE49-F238E27FC236}">
                <a16:creationId xmlns:a16="http://schemas.microsoft.com/office/drawing/2014/main" id="{42C01462-B138-4E0E-9DF3-08BF1A3C90C9}"/>
              </a:ext>
            </a:extLst>
          </p:cNvPr>
          <p:cNvSpPr>
            <a:spLocks noGrp="1"/>
          </p:cNvSpPr>
          <p:nvPr/>
        </p:nvSpPr>
        <p:spPr>
          <a:xfrm>
            <a:off x="5200650" y="2209800"/>
            <a:ext cx="2381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适合频数和众数</a:t>
            </a:r>
          </a:p>
        </p:txBody>
      </p:sp>
      <p:sp>
        <p:nvSpPr>
          <p:cNvPr id="15" name="矩形 14">
            <a:extLst>
              <a:ext uri="{FF2B5EF4-FFF2-40B4-BE49-F238E27FC236}">
                <a16:creationId xmlns:a16="http://schemas.microsoft.com/office/drawing/2014/main" id="{584A57EE-6361-4C49-AD4C-25340793A9D2}"/>
              </a:ext>
            </a:extLst>
          </p:cNvPr>
          <p:cNvSpPr>
            <a:spLocks noGrp="1"/>
          </p:cNvSpPr>
          <p:nvPr/>
        </p:nvSpPr>
        <p:spPr>
          <a:xfrm>
            <a:off x="7639050" y="2228850"/>
            <a:ext cx="34480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不能计算类别的平均值</a:t>
            </a:r>
          </a:p>
        </p:txBody>
      </p:sp>
      <p:sp>
        <p:nvSpPr>
          <p:cNvPr id="16" name="矩形 15">
            <a:extLst>
              <a:ext uri="{FF2B5EF4-FFF2-40B4-BE49-F238E27FC236}">
                <a16:creationId xmlns:a16="http://schemas.microsoft.com/office/drawing/2014/main" id="{CD2FE0D2-A91A-4BE3-A884-BFC4C654B16C}"/>
              </a:ext>
            </a:extLst>
          </p:cNvPr>
          <p:cNvSpPr>
            <a:spLocks noGrp="1"/>
          </p:cNvSpPr>
          <p:nvPr/>
        </p:nvSpPr>
        <p:spPr>
          <a:xfrm>
            <a:off x="4552950" y="2895600"/>
            <a:ext cx="65341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3FB92B4B-1ACB-4401-8801-6B373530909E}"/>
              </a:ext>
            </a:extLst>
          </p:cNvPr>
          <p:cNvSpPr>
            <a:spLocks noGrp="1"/>
          </p:cNvSpPr>
          <p:nvPr/>
        </p:nvSpPr>
        <p:spPr>
          <a:xfrm>
            <a:off x="4552950" y="32385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04</a:t>
            </a:r>
          </a:p>
        </p:txBody>
      </p:sp>
      <p:sp>
        <p:nvSpPr>
          <p:cNvPr id="18" name="矩形 17">
            <a:extLst>
              <a:ext uri="{FF2B5EF4-FFF2-40B4-BE49-F238E27FC236}">
                <a16:creationId xmlns:a16="http://schemas.microsoft.com/office/drawing/2014/main" id="{288B5C35-1BB1-491B-B014-CFE55C3F553D}"/>
              </a:ext>
            </a:extLst>
          </p:cNvPr>
          <p:cNvSpPr>
            <a:spLocks noGrp="1"/>
          </p:cNvSpPr>
          <p:nvPr/>
        </p:nvSpPr>
        <p:spPr>
          <a:xfrm>
            <a:off x="5200650" y="3162300"/>
            <a:ext cx="2381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编码数字不产生大小关系</a:t>
            </a:r>
          </a:p>
        </p:txBody>
      </p:sp>
      <p:sp>
        <p:nvSpPr>
          <p:cNvPr id="19" name="矩形 18">
            <a:extLst>
              <a:ext uri="{FF2B5EF4-FFF2-40B4-BE49-F238E27FC236}">
                <a16:creationId xmlns:a16="http://schemas.microsoft.com/office/drawing/2014/main" id="{805C9C56-4A08-42FD-A54C-3E5935F66AB5}"/>
              </a:ext>
            </a:extLst>
          </p:cNvPr>
          <p:cNvSpPr>
            <a:spLocks noGrp="1"/>
          </p:cNvSpPr>
          <p:nvPr/>
        </p:nvSpPr>
        <p:spPr>
          <a:xfrm>
            <a:off x="7639050" y="3181350"/>
            <a:ext cx="34480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3"/>
                </a:solidFill>
                <a:latin typeface="黑体"/>
                <a:ea typeface="黑体"/>
                <a:cs typeface="黑体"/>
              </a:defRPr>
            </a:pPr>
            <a:r>
              <a:rPr>
                <a:latin typeface="黑体"/>
                <a:ea typeface="黑体"/>
                <a:cs typeface="黑体"/>
              </a:rPr>
              <a:t>专业 </a:t>
            </a:r>
            <a:r>
              <a:rPr>
                <a:latin typeface="Times New Roman"/>
                <a:ea typeface="Times New Roman"/>
                <a:cs typeface="Times New Roman"/>
              </a:rPr>
              <a:t>3 </a:t>
            </a:r>
            <a:r>
              <a:rPr>
                <a:latin typeface="黑体"/>
                <a:ea typeface="黑体"/>
                <a:cs typeface="黑体"/>
              </a:rPr>
              <a:t>不高于专业 </a:t>
            </a:r>
            <a:r>
              <a:rPr>
                <a:latin typeface="Times New Roman"/>
                <a:ea typeface="Times New Roman"/>
                <a:cs typeface="Times New Roman"/>
              </a:rPr>
              <a:t>2</a:t>
            </a:r>
          </a:p>
        </p:txBody>
      </p:sp>
      <p:sp>
        <p:nvSpPr>
          <p:cNvPr id="20" name="矩形 19">
            <a:extLst>
              <a:ext uri="{FF2B5EF4-FFF2-40B4-BE49-F238E27FC236}">
                <a16:creationId xmlns:a16="http://schemas.microsoft.com/office/drawing/2014/main" id="{B87337CE-538C-4E41-B340-8391B1F84913}"/>
              </a:ext>
            </a:extLst>
          </p:cNvPr>
          <p:cNvSpPr>
            <a:spLocks noGrp="1"/>
          </p:cNvSpPr>
          <p:nvPr/>
        </p:nvSpPr>
        <p:spPr>
          <a:xfrm>
            <a:off x="4552950" y="3848100"/>
            <a:ext cx="653415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C3A985C7-A46E-43FC-BBEB-BE8FA7A49F34}"/>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2" name="矩形 21">
            <a:extLst>
              <a:ext uri="{FF2B5EF4-FFF2-40B4-BE49-F238E27FC236}">
                <a16:creationId xmlns:a16="http://schemas.microsoft.com/office/drawing/2014/main" id="{5DBC5FA2-A36D-48A0-B82C-4DF192807A66}"/>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给类别编号，不会把它变成数值属性。</a:t>
            </a:r>
          </a:p>
        </p:txBody>
      </p:sp>
    </p:spTree>
    <p:extLst>
      <p:ext uri="{BB962C8B-B14F-4D97-AF65-F5344CB8AC3E}">
        <p14:creationId xmlns:p14="http://schemas.microsoft.com/office/powerpoint/2010/main" val="69850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BB6A916C-6538-42BE-BCC4-47CE6284CE8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14D698D-21AF-41CC-8F2F-DD2540621139}"/>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23CCA2C2-446D-4FD2-A112-4262C465BF32}"/>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83E5A656-C8AA-40D5-81A3-DE23D84D4734}"/>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二元属性要区分对称与非对称</a:t>
            </a:r>
          </a:p>
        </p:txBody>
      </p:sp>
      <p:sp>
        <p:nvSpPr>
          <p:cNvPr id="5" name="矩形 4">
            <a:extLst>
              <a:ext uri="{FF2B5EF4-FFF2-40B4-BE49-F238E27FC236}">
                <a16:creationId xmlns:a16="http://schemas.microsoft.com/office/drawing/2014/main" id="{8E062669-9208-49AA-A3E4-B72BC491E06F}"/>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20/90</a:t>
            </a:r>
          </a:p>
        </p:txBody>
      </p:sp>
      <p:sp>
        <p:nvSpPr>
          <p:cNvPr id="6" name="矩形 5">
            <a:extLst>
              <a:ext uri="{FF2B5EF4-FFF2-40B4-BE49-F238E27FC236}">
                <a16:creationId xmlns:a16="http://schemas.microsoft.com/office/drawing/2014/main" id="{80101001-C5A2-44C6-BCC5-CE80A58FA27F}"/>
              </a:ext>
            </a:extLst>
          </p:cNvPr>
          <p:cNvSpPr>
            <a:spLocks noGrp="1"/>
          </p:cNvSpPr>
          <p:nvPr/>
        </p:nvSpPr>
        <p:spPr>
          <a:xfrm>
            <a:off x="781050" y="1257300"/>
            <a:ext cx="5086350" cy="3981450"/>
          </a:xfrm>
          <a:prstGeom prst="rect">
            <a:avLst/>
          </a:prstGeom>
          <a:solidFill>
            <a:srgbClr val="F5F9FE"/>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76E9A7B2-545B-4C62-BF59-BC1B107E0670}"/>
              </a:ext>
            </a:extLst>
          </p:cNvPr>
          <p:cNvSpPr>
            <a:spLocks noGrp="1"/>
          </p:cNvSpPr>
          <p:nvPr/>
        </p:nvSpPr>
        <p:spPr>
          <a:xfrm>
            <a:off x="1047750" y="1485900"/>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014DA1"/>
                </a:solidFill>
                <a:latin typeface="黑体"/>
                <a:ea typeface="黑体"/>
                <a:cs typeface="黑体"/>
              </a:defRPr>
            </a:pPr>
            <a:r>
              <a:rPr>
                <a:latin typeface="黑体"/>
                <a:ea typeface="黑体"/>
                <a:cs typeface="黑体"/>
              </a:rPr>
              <a:t>对称二元</a:t>
            </a:r>
          </a:p>
        </p:txBody>
      </p:sp>
      <p:sp>
        <p:nvSpPr>
          <p:cNvPr id="8" name="矩形 7">
            <a:extLst>
              <a:ext uri="{FF2B5EF4-FFF2-40B4-BE49-F238E27FC236}">
                <a16:creationId xmlns:a16="http://schemas.microsoft.com/office/drawing/2014/main" id="{75E10022-CE17-4AA7-8895-E9DB62BE588F}"/>
              </a:ext>
            </a:extLst>
          </p:cNvPr>
          <p:cNvSpPr>
            <a:spLocks noGrp="1"/>
          </p:cNvSpPr>
          <p:nvPr/>
        </p:nvSpPr>
        <p:spPr>
          <a:xfrm>
            <a:off x="1047750" y="1885950"/>
            <a:ext cx="4552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4B5563"/>
                </a:solidFill>
                <a:latin typeface="黑体"/>
                <a:ea typeface="黑体"/>
                <a:cs typeface="黑体"/>
              </a:defRPr>
            </a:pPr>
            <a:r>
              <a:rPr>
                <a:latin typeface="Times New Roman"/>
                <a:ea typeface="Times New Roman"/>
                <a:cs typeface="Times New Roman"/>
              </a:rPr>
              <a:t>0 </a:t>
            </a:r>
            <a:r>
              <a:rPr>
                <a:latin typeface="黑体"/>
                <a:ea typeface="黑体"/>
                <a:cs typeface="黑体"/>
              </a:rPr>
              <a:t>与 </a:t>
            </a:r>
            <a:r>
              <a:rPr>
                <a:latin typeface="Times New Roman"/>
                <a:ea typeface="Times New Roman"/>
                <a:cs typeface="Times New Roman"/>
              </a:rPr>
              <a:t>1 </a:t>
            </a:r>
            <a:r>
              <a:rPr>
                <a:latin typeface="黑体"/>
                <a:ea typeface="黑体"/>
                <a:cs typeface="黑体"/>
              </a:rPr>
              <a:t>同样重要</a:t>
            </a:r>
          </a:p>
        </p:txBody>
      </p:sp>
      <p:sp>
        <p:nvSpPr>
          <p:cNvPr id="9" name="矩形 8">
            <a:extLst>
              <a:ext uri="{FF2B5EF4-FFF2-40B4-BE49-F238E27FC236}">
                <a16:creationId xmlns:a16="http://schemas.microsoft.com/office/drawing/2014/main" id="{CC7287B8-CDE7-4E50-A658-8FEECA09252E}"/>
              </a:ext>
            </a:extLst>
          </p:cNvPr>
          <p:cNvSpPr>
            <a:spLocks noGrp="1"/>
          </p:cNvSpPr>
          <p:nvPr/>
        </p:nvSpPr>
        <p:spPr>
          <a:xfrm>
            <a:off x="1123950" y="2476500"/>
            <a:ext cx="1314450" cy="1104900"/>
          </a:xfrm>
          <a:prstGeom prst="rect">
            <a:avLst/>
          </a:prstGeom>
          <a:solidFill>
            <a:srgbClr val="FFFFFF"/>
          </a:solidFill>
          <a:ln w="9525">
            <a:solidFill>
              <a:srgbClr val="B4C0CE"/>
            </a:solidFill>
            <a:prstDash val="solid"/>
          </a:ln>
        </p:spPr>
        <p:txBody>
          <a:bodyPr/>
          <a:lstStyle/>
          <a:p>
            <a:endParaRPr lang="zh-CN" altLang="en-US"/>
          </a:p>
        </p:txBody>
      </p:sp>
      <p:sp>
        <p:nvSpPr>
          <p:cNvPr id="10" name="矩形 9">
            <a:extLst>
              <a:ext uri="{FF2B5EF4-FFF2-40B4-BE49-F238E27FC236}">
                <a16:creationId xmlns:a16="http://schemas.microsoft.com/office/drawing/2014/main" id="{24AA7E67-317C-4968-A6D2-120FD90832A2}"/>
              </a:ext>
            </a:extLst>
          </p:cNvPr>
          <p:cNvSpPr>
            <a:spLocks noGrp="1"/>
          </p:cNvSpPr>
          <p:nvPr/>
        </p:nvSpPr>
        <p:spPr>
          <a:xfrm>
            <a:off x="1238250" y="2667000"/>
            <a:ext cx="1085850" cy="266700"/>
          </a:xfrm>
          <a:prstGeom prst="rect">
            <a:avLst/>
          </a:prstGeom>
          <a:solidFill>
            <a:srgbClr val="FFFFFF"/>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0–0</a:t>
            </a:r>
          </a:p>
        </p:txBody>
      </p:sp>
      <p:sp>
        <p:nvSpPr>
          <p:cNvPr id="11" name="矩形 10">
            <a:extLst>
              <a:ext uri="{FF2B5EF4-FFF2-40B4-BE49-F238E27FC236}">
                <a16:creationId xmlns:a16="http://schemas.microsoft.com/office/drawing/2014/main" id="{BBCC6F5B-D0BF-4F83-8BFD-FE70DF658772}"/>
              </a:ext>
            </a:extLst>
          </p:cNvPr>
          <p:cNvSpPr>
            <a:spLocks noGrp="1"/>
          </p:cNvSpPr>
          <p:nvPr/>
        </p:nvSpPr>
        <p:spPr>
          <a:xfrm>
            <a:off x="1238250" y="3105150"/>
            <a:ext cx="1085850" cy="209550"/>
          </a:xfrm>
          <a:prstGeom prst="rect">
            <a:avLst/>
          </a:prstGeom>
          <a:solidFill>
            <a:srgbClr val="FFFFFF"/>
          </a:solidFill>
          <a:ln w="0">
            <a:solidFill>
              <a:srgbClr val="000000">
                <a:alpha val="0"/>
              </a:srgbClr>
            </a:solidFill>
            <a:prstDash val="solid"/>
          </a:ln>
        </p:spPr>
        <p:txBody>
          <a:bodyPr lIns="0" tIns="0" rIns="0" bIns="0" anchor="t"/>
          <a:lstStyle/>
          <a:p>
            <a:pPr algn="ctr">
              <a:defRPr sz="1200" b="1">
                <a:solidFill>
                  <a:srgbClr val="1F2933"/>
                </a:solidFill>
                <a:latin typeface="黑体"/>
                <a:ea typeface="黑体"/>
                <a:cs typeface="黑体"/>
              </a:defRPr>
            </a:pPr>
            <a:r>
              <a:rPr>
                <a:latin typeface="黑体"/>
                <a:ea typeface="黑体"/>
                <a:cs typeface="黑体"/>
              </a:rPr>
              <a:t>相似</a:t>
            </a:r>
          </a:p>
        </p:txBody>
      </p:sp>
      <p:sp>
        <p:nvSpPr>
          <p:cNvPr id="12" name="矩形 11">
            <a:extLst>
              <a:ext uri="{FF2B5EF4-FFF2-40B4-BE49-F238E27FC236}">
                <a16:creationId xmlns:a16="http://schemas.microsoft.com/office/drawing/2014/main" id="{8C32D24E-DDC3-4A54-A9A7-A9B05A102728}"/>
              </a:ext>
            </a:extLst>
          </p:cNvPr>
          <p:cNvSpPr>
            <a:spLocks noGrp="1"/>
          </p:cNvSpPr>
          <p:nvPr/>
        </p:nvSpPr>
        <p:spPr>
          <a:xfrm>
            <a:off x="2590800" y="2476500"/>
            <a:ext cx="1314450" cy="1104900"/>
          </a:xfrm>
          <a:prstGeom prst="rect">
            <a:avLst/>
          </a:prstGeom>
          <a:solidFill>
            <a:srgbClr val="00204A"/>
          </a:solidFill>
          <a:ln w="9525">
            <a:solidFill>
              <a:srgbClr val="B4C0CE"/>
            </a:solidFill>
            <a:prstDash val="solid"/>
          </a:ln>
        </p:spPr>
        <p:txBody>
          <a:bodyPr/>
          <a:lstStyle/>
          <a:p>
            <a:endParaRPr lang="zh-CN" altLang="en-US"/>
          </a:p>
        </p:txBody>
      </p:sp>
      <p:sp>
        <p:nvSpPr>
          <p:cNvPr id="13" name="矩形 12">
            <a:extLst>
              <a:ext uri="{FF2B5EF4-FFF2-40B4-BE49-F238E27FC236}">
                <a16:creationId xmlns:a16="http://schemas.microsoft.com/office/drawing/2014/main" id="{E5921C73-AE57-46E6-8448-03E4DEEEA8DC}"/>
              </a:ext>
            </a:extLst>
          </p:cNvPr>
          <p:cNvSpPr>
            <a:spLocks noGrp="1"/>
          </p:cNvSpPr>
          <p:nvPr/>
        </p:nvSpPr>
        <p:spPr>
          <a:xfrm>
            <a:off x="2705100" y="2667000"/>
            <a:ext cx="1085850" cy="266700"/>
          </a:xfrm>
          <a:prstGeom prst="rect">
            <a:avLst/>
          </a:prstGeom>
          <a:solidFill>
            <a:srgbClr val="00204A"/>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1–1</a:t>
            </a:r>
          </a:p>
        </p:txBody>
      </p:sp>
      <p:sp>
        <p:nvSpPr>
          <p:cNvPr id="14" name="矩形 13">
            <a:extLst>
              <a:ext uri="{FF2B5EF4-FFF2-40B4-BE49-F238E27FC236}">
                <a16:creationId xmlns:a16="http://schemas.microsoft.com/office/drawing/2014/main" id="{9AC1D7B6-4931-48E7-8B96-D0B85E04A1A8}"/>
              </a:ext>
            </a:extLst>
          </p:cNvPr>
          <p:cNvSpPr>
            <a:spLocks noGrp="1"/>
          </p:cNvSpPr>
          <p:nvPr/>
        </p:nvSpPr>
        <p:spPr>
          <a:xfrm>
            <a:off x="2705100" y="3105150"/>
            <a:ext cx="1085850" cy="209550"/>
          </a:xfrm>
          <a:prstGeom prst="rect">
            <a:avLst/>
          </a:prstGeom>
          <a:solidFill>
            <a:srgbClr val="00204A"/>
          </a:solidFill>
          <a:ln w="0">
            <a:solidFill>
              <a:srgbClr val="000000">
                <a:alpha val="0"/>
              </a:srgbClr>
            </a:solidFill>
            <a:prstDash val="solid"/>
          </a:ln>
        </p:spPr>
        <p:txBody>
          <a:bodyPr lIns="0" tIns="0" rIns="0" bIns="0" anchor="t"/>
          <a:lstStyle/>
          <a:p>
            <a:pPr algn="ctr">
              <a:defRPr sz="1200" b="1">
                <a:solidFill>
                  <a:srgbClr val="F4EBC2"/>
                </a:solidFill>
                <a:latin typeface="黑体"/>
                <a:ea typeface="黑体"/>
                <a:cs typeface="黑体"/>
              </a:defRPr>
            </a:pPr>
            <a:r>
              <a:rPr>
                <a:latin typeface="黑体"/>
                <a:ea typeface="黑体"/>
                <a:cs typeface="黑体"/>
              </a:rPr>
              <a:t>相似</a:t>
            </a:r>
          </a:p>
        </p:txBody>
      </p:sp>
      <p:sp>
        <p:nvSpPr>
          <p:cNvPr id="15" name="矩形 14">
            <a:extLst>
              <a:ext uri="{FF2B5EF4-FFF2-40B4-BE49-F238E27FC236}">
                <a16:creationId xmlns:a16="http://schemas.microsoft.com/office/drawing/2014/main" id="{86FE2DEC-E44F-4CCE-B079-32F939DCEEA3}"/>
              </a:ext>
            </a:extLst>
          </p:cNvPr>
          <p:cNvSpPr>
            <a:spLocks noGrp="1"/>
          </p:cNvSpPr>
          <p:nvPr/>
        </p:nvSpPr>
        <p:spPr>
          <a:xfrm>
            <a:off x="4057650" y="2476500"/>
            <a:ext cx="1314450" cy="1104900"/>
          </a:xfrm>
          <a:prstGeom prst="rect">
            <a:avLst/>
          </a:prstGeom>
          <a:solidFill>
            <a:srgbClr val="FFFFFF"/>
          </a:solidFill>
          <a:ln w="9525">
            <a:solidFill>
              <a:srgbClr val="B4C0CE"/>
            </a:solidFill>
            <a:prstDash val="solid"/>
          </a:ln>
        </p:spPr>
        <p:txBody>
          <a:bodyPr/>
          <a:lstStyle/>
          <a:p>
            <a:endParaRPr lang="zh-CN" altLang="en-US"/>
          </a:p>
        </p:txBody>
      </p:sp>
      <p:sp>
        <p:nvSpPr>
          <p:cNvPr id="16" name="矩形 15">
            <a:extLst>
              <a:ext uri="{FF2B5EF4-FFF2-40B4-BE49-F238E27FC236}">
                <a16:creationId xmlns:a16="http://schemas.microsoft.com/office/drawing/2014/main" id="{B9E8A530-E66F-4F63-A571-2671B218D032}"/>
              </a:ext>
            </a:extLst>
          </p:cNvPr>
          <p:cNvSpPr>
            <a:spLocks noGrp="1"/>
          </p:cNvSpPr>
          <p:nvPr/>
        </p:nvSpPr>
        <p:spPr>
          <a:xfrm>
            <a:off x="4171950" y="2667000"/>
            <a:ext cx="1085850" cy="266700"/>
          </a:xfrm>
          <a:prstGeom prst="rect">
            <a:avLst/>
          </a:prstGeom>
          <a:solidFill>
            <a:srgbClr val="FFFFFF"/>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0–1</a:t>
            </a:r>
          </a:p>
        </p:txBody>
      </p:sp>
      <p:sp>
        <p:nvSpPr>
          <p:cNvPr id="17" name="矩形 16">
            <a:extLst>
              <a:ext uri="{FF2B5EF4-FFF2-40B4-BE49-F238E27FC236}">
                <a16:creationId xmlns:a16="http://schemas.microsoft.com/office/drawing/2014/main" id="{3A6CE223-4359-48D9-96D5-20B5E6327F0C}"/>
              </a:ext>
            </a:extLst>
          </p:cNvPr>
          <p:cNvSpPr>
            <a:spLocks noGrp="1"/>
          </p:cNvSpPr>
          <p:nvPr/>
        </p:nvSpPr>
        <p:spPr>
          <a:xfrm>
            <a:off x="4171950" y="3105150"/>
            <a:ext cx="1085850" cy="209550"/>
          </a:xfrm>
          <a:prstGeom prst="rect">
            <a:avLst/>
          </a:prstGeom>
          <a:solidFill>
            <a:srgbClr val="FFFFFF"/>
          </a:solidFill>
          <a:ln w="0">
            <a:solidFill>
              <a:srgbClr val="000000">
                <a:alpha val="0"/>
              </a:srgbClr>
            </a:solidFill>
            <a:prstDash val="solid"/>
          </a:ln>
        </p:spPr>
        <p:txBody>
          <a:bodyPr lIns="0" tIns="0" rIns="0" bIns="0" anchor="t"/>
          <a:lstStyle/>
          <a:p>
            <a:pPr algn="ctr">
              <a:defRPr sz="1200" b="1">
                <a:solidFill>
                  <a:srgbClr val="1F2933"/>
                </a:solidFill>
                <a:latin typeface="黑体"/>
                <a:ea typeface="黑体"/>
                <a:cs typeface="黑体"/>
              </a:defRPr>
            </a:pPr>
            <a:r>
              <a:rPr>
                <a:latin typeface="黑体"/>
                <a:ea typeface="黑体"/>
                <a:cs typeface="黑体"/>
              </a:rPr>
              <a:t>不同</a:t>
            </a:r>
          </a:p>
        </p:txBody>
      </p:sp>
      <p:sp>
        <p:nvSpPr>
          <p:cNvPr id="18" name="矩形 17">
            <a:extLst>
              <a:ext uri="{FF2B5EF4-FFF2-40B4-BE49-F238E27FC236}">
                <a16:creationId xmlns:a16="http://schemas.microsoft.com/office/drawing/2014/main" id="{1F5F51A6-077E-41B6-8B38-3F1C232AB715}"/>
              </a:ext>
            </a:extLst>
          </p:cNvPr>
          <p:cNvSpPr>
            <a:spLocks noGrp="1"/>
          </p:cNvSpPr>
          <p:nvPr/>
        </p:nvSpPr>
        <p:spPr>
          <a:xfrm>
            <a:off x="1123950" y="4038600"/>
            <a:ext cx="4400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黑体"/>
                <a:ea typeface="黑体"/>
                <a:cs typeface="黑体"/>
              </a:rPr>
              <a:t>是否住校 </a:t>
            </a:r>
            <a:r>
              <a:rPr>
                <a:latin typeface="Times New Roman"/>
                <a:ea typeface="Times New Roman"/>
                <a:cs typeface="Times New Roman"/>
              </a:rPr>
              <a:t>· </a:t>
            </a:r>
            <a:r>
              <a:rPr>
                <a:latin typeface="黑体"/>
                <a:ea typeface="黑体"/>
                <a:cs typeface="黑体"/>
              </a:rPr>
              <a:t>是否选修</a:t>
            </a:r>
          </a:p>
        </p:txBody>
      </p:sp>
      <p:sp>
        <p:nvSpPr>
          <p:cNvPr id="19" name="矩形 18">
            <a:extLst>
              <a:ext uri="{FF2B5EF4-FFF2-40B4-BE49-F238E27FC236}">
                <a16:creationId xmlns:a16="http://schemas.microsoft.com/office/drawing/2014/main" id="{A6A514DD-2FBB-4BB0-B786-4F781759D298}"/>
              </a:ext>
            </a:extLst>
          </p:cNvPr>
          <p:cNvSpPr>
            <a:spLocks noGrp="1"/>
          </p:cNvSpPr>
          <p:nvPr/>
        </p:nvSpPr>
        <p:spPr>
          <a:xfrm>
            <a:off x="6324600" y="1257300"/>
            <a:ext cx="5086350" cy="3981450"/>
          </a:xfrm>
          <a:prstGeom prst="rect">
            <a:avLst/>
          </a:prstGeom>
          <a:solidFill>
            <a:srgbClr val="FFF9EF"/>
          </a:solidFill>
          <a:ln w="9525">
            <a:solidFill>
              <a:srgbClr val="B8C3D1"/>
            </a:solidFill>
            <a:prstDash val="solid"/>
          </a:ln>
        </p:spPr>
        <p:txBody>
          <a:bodyPr/>
          <a:lstStyle/>
          <a:p>
            <a:endParaRPr lang="zh-CN" altLang="en-US"/>
          </a:p>
        </p:txBody>
      </p:sp>
      <p:sp>
        <p:nvSpPr>
          <p:cNvPr id="20" name="矩形 19">
            <a:extLst>
              <a:ext uri="{FF2B5EF4-FFF2-40B4-BE49-F238E27FC236}">
                <a16:creationId xmlns:a16="http://schemas.microsoft.com/office/drawing/2014/main" id="{0AF8B9B8-B20F-45A0-95A3-76B1D9DE55F7}"/>
              </a:ext>
            </a:extLst>
          </p:cNvPr>
          <p:cNvSpPr>
            <a:spLocks noGrp="1"/>
          </p:cNvSpPr>
          <p:nvPr/>
        </p:nvSpPr>
        <p:spPr>
          <a:xfrm>
            <a:off x="6591300" y="1485900"/>
            <a:ext cx="4552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B4964B"/>
                </a:solidFill>
                <a:latin typeface="黑体"/>
                <a:ea typeface="黑体"/>
                <a:cs typeface="黑体"/>
              </a:defRPr>
            </a:pPr>
            <a:r>
              <a:rPr>
                <a:latin typeface="黑体"/>
                <a:ea typeface="黑体"/>
                <a:cs typeface="黑体"/>
              </a:rPr>
              <a:t>非对称二元</a:t>
            </a:r>
          </a:p>
        </p:txBody>
      </p:sp>
      <p:sp>
        <p:nvSpPr>
          <p:cNvPr id="21" name="矩形 20">
            <a:extLst>
              <a:ext uri="{FF2B5EF4-FFF2-40B4-BE49-F238E27FC236}">
                <a16:creationId xmlns:a16="http://schemas.microsoft.com/office/drawing/2014/main" id="{92F03F98-0139-4A6C-92E1-0180CDF2ACB7}"/>
              </a:ext>
            </a:extLst>
          </p:cNvPr>
          <p:cNvSpPr>
            <a:spLocks noGrp="1"/>
          </p:cNvSpPr>
          <p:nvPr/>
        </p:nvSpPr>
        <p:spPr>
          <a:xfrm>
            <a:off x="6591300" y="1885950"/>
            <a:ext cx="4552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4B5563"/>
                </a:solidFill>
                <a:latin typeface="黑体"/>
                <a:ea typeface="黑体"/>
                <a:cs typeface="黑体"/>
              </a:defRPr>
            </a:pPr>
            <a:r>
              <a:rPr>
                <a:latin typeface="Times New Roman"/>
                <a:ea typeface="Times New Roman"/>
                <a:cs typeface="Times New Roman"/>
              </a:rPr>
              <a:t>1 </a:t>
            </a:r>
            <a:r>
              <a:rPr>
                <a:latin typeface="黑体"/>
                <a:ea typeface="黑体"/>
                <a:cs typeface="黑体"/>
              </a:rPr>
              <a:t>稀少且更重要</a:t>
            </a:r>
          </a:p>
        </p:txBody>
      </p:sp>
      <p:sp>
        <p:nvSpPr>
          <p:cNvPr id="22" name="矩形 21">
            <a:extLst>
              <a:ext uri="{FF2B5EF4-FFF2-40B4-BE49-F238E27FC236}">
                <a16:creationId xmlns:a16="http://schemas.microsoft.com/office/drawing/2014/main" id="{C1373C18-3F0C-48A0-A91D-36BD0984E212}"/>
              </a:ext>
            </a:extLst>
          </p:cNvPr>
          <p:cNvSpPr>
            <a:spLocks noGrp="1"/>
          </p:cNvSpPr>
          <p:nvPr/>
        </p:nvSpPr>
        <p:spPr>
          <a:xfrm>
            <a:off x="6667500" y="2476500"/>
            <a:ext cx="1314450" cy="1104900"/>
          </a:xfrm>
          <a:prstGeom prst="rect">
            <a:avLst/>
          </a:prstGeom>
          <a:solidFill>
            <a:srgbClr val="FFFFFF"/>
          </a:solidFill>
          <a:ln w="9525">
            <a:solidFill>
              <a:srgbClr val="B4C0CE"/>
            </a:solidFill>
            <a:prstDash val="solid"/>
          </a:ln>
        </p:spPr>
        <p:txBody>
          <a:bodyPr/>
          <a:lstStyle/>
          <a:p>
            <a:endParaRPr lang="zh-CN" altLang="en-US"/>
          </a:p>
        </p:txBody>
      </p:sp>
      <p:sp>
        <p:nvSpPr>
          <p:cNvPr id="23" name="矩形 22">
            <a:extLst>
              <a:ext uri="{FF2B5EF4-FFF2-40B4-BE49-F238E27FC236}">
                <a16:creationId xmlns:a16="http://schemas.microsoft.com/office/drawing/2014/main" id="{A0D47C69-53DF-4D97-80D6-4BEE970A16A9}"/>
              </a:ext>
            </a:extLst>
          </p:cNvPr>
          <p:cNvSpPr>
            <a:spLocks noGrp="1"/>
          </p:cNvSpPr>
          <p:nvPr/>
        </p:nvSpPr>
        <p:spPr>
          <a:xfrm>
            <a:off x="6781800" y="2667000"/>
            <a:ext cx="1085850" cy="266700"/>
          </a:xfrm>
          <a:prstGeom prst="rect">
            <a:avLst/>
          </a:prstGeom>
          <a:solidFill>
            <a:srgbClr val="FFFFFF"/>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0–0</a:t>
            </a:r>
          </a:p>
        </p:txBody>
      </p:sp>
      <p:sp>
        <p:nvSpPr>
          <p:cNvPr id="24" name="矩形 23">
            <a:extLst>
              <a:ext uri="{FF2B5EF4-FFF2-40B4-BE49-F238E27FC236}">
                <a16:creationId xmlns:a16="http://schemas.microsoft.com/office/drawing/2014/main" id="{67CA4146-0207-4C02-9347-AF0581E61A5B}"/>
              </a:ext>
            </a:extLst>
          </p:cNvPr>
          <p:cNvSpPr>
            <a:spLocks noGrp="1"/>
          </p:cNvSpPr>
          <p:nvPr/>
        </p:nvSpPr>
        <p:spPr>
          <a:xfrm>
            <a:off x="6781800" y="3105150"/>
            <a:ext cx="1085850" cy="209550"/>
          </a:xfrm>
          <a:prstGeom prst="rect">
            <a:avLst/>
          </a:prstGeom>
          <a:solidFill>
            <a:srgbClr val="FFFFFF"/>
          </a:solidFill>
          <a:ln w="0">
            <a:solidFill>
              <a:srgbClr val="000000">
                <a:alpha val="0"/>
              </a:srgbClr>
            </a:solidFill>
            <a:prstDash val="solid"/>
          </a:ln>
        </p:spPr>
        <p:txBody>
          <a:bodyPr lIns="0" tIns="0" rIns="0" bIns="0" anchor="t"/>
          <a:lstStyle/>
          <a:p>
            <a:pPr algn="ctr">
              <a:defRPr sz="1200" b="1">
                <a:solidFill>
                  <a:srgbClr val="1F2933"/>
                </a:solidFill>
                <a:latin typeface="黑体"/>
                <a:ea typeface="黑体"/>
                <a:cs typeface="黑体"/>
              </a:defRPr>
            </a:pPr>
            <a:r>
              <a:rPr>
                <a:latin typeface="黑体"/>
                <a:ea typeface="黑体"/>
                <a:cs typeface="黑体"/>
              </a:rPr>
              <a:t>忽略</a:t>
            </a:r>
          </a:p>
        </p:txBody>
      </p:sp>
      <p:sp>
        <p:nvSpPr>
          <p:cNvPr id="25" name="矩形 24">
            <a:extLst>
              <a:ext uri="{FF2B5EF4-FFF2-40B4-BE49-F238E27FC236}">
                <a16:creationId xmlns:a16="http://schemas.microsoft.com/office/drawing/2014/main" id="{090680D8-0C24-4E68-A7F6-4ACC01F584AA}"/>
              </a:ext>
            </a:extLst>
          </p:cNvPr>
          <p:cNvSpPr>
            <a:spLocks noGrp="1"/>
          </p:cNvSpPr>
          <p:nvPr/>
        </p:nvSpPr>
        <p:spPr>
          <a:xfrm>
            <a:off x="8134350" y="2476500"/>
            <a:ext cx="1314450" cy="1104900"/>
          </a:xfrm>
          <a:prstGeom prst="rect">
            <a:avLst/>
          </a:prstGeom>
          <a:solidFill>
            <a:srgbClr val="00204A"/>
          </a:solidFill>
          <a:ln w="9525">
            <a:solidFill>
              <a:srgbClr val="B4C0CE"/>
            </a:solidFill>
            <a:prstDash val="solid"/>
          </a:ln>
        </p:spPr>
        <p:txBody>
          <a:bodyPr/>
          <a:lstStyle/>
          <a:p>
            <a:endParaRPr lang="zh-CN" altLang="en-US"/>
          </a:p>
        </p:txBody>
      </p:sp>
      <p:sp>
        <p:nvSpPr>
          <p:cNvPr id="26" name="矩形 25">
            <a:extLst>
              <a:ext uri="{FF2B5EF4-FFF2-40B4-BE49-F238E27FC236}">
                <a16:creationId xmlns:a16="http://schemas.microsoft.com/office/drawing/2014/main" id="{0531CF33-2F73-4B91-BCEF-118B05EA5ECA}"/>
              </a:ext>
            </a:extLst>
          </p:cNvPr>
          <p:cNvSpPr>
            <a:spLocks noGrp="1"/>
          </p:cNvSpPr>
          <p:nvPr/>
        </p:nvSpPr>
        <p:spPr>
          <a:xfrm>
            <a:off x="8248650" y="2667000"/>
            <a:ext cx="1085850" cy="266700"/>
          </a:xfrm>
          <a:prstGeom prst="rect">
            <a:avLst/>
          </a:prstGeom>
          <a:solidFill>
            <a:srgbClr val="00204A"/>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1–1</a:t>
            </a:r>
          </a:p>
        </p:txBody>
      </p:sp>
      <p:sp>
        <p:nvSpPr>
          <p:cNvPr id="27" name="矩形 26">
            <a:extLst>
              <a:ext uri="{FF2B5EF4-FFF2-40B4-BE49-F238E27FC236}">
                <a16:creationId xmlns:a16="http://schemas.microsoft.com/office/drawing/2014/main" id="{2A337723-0D4A-47A7-A164-AB0A310110EE}"/>
              </a:ext>
            </a:extLst>
          </p:cNvPr>
          <p:cNvSpPr>
            <a:spLocks noGrp="1"/>
          </p:cNvSpPr>
          <p:nvPr/>
        </p:nvSpPr>
        <p:spPr>
          <a:xfrm>
            <a:off x="8248650" y="3105150"/>
            <a:ext cx="1085850" cy="209550"/>
          </a:xfrm>
          <a:prstGeom prst="rect">
            <a:avLst/>
          </a:prstGeom>
          <a:solidFill>
            <a:srgbClr val="00204A"/>
          </a:solidFill>
          <a:ln w="0">
            <a:solidFill>
              <a:srgbClr val="000000">
                <a:alpha val="0"/>
              </a:srgbClr>
            </a:solidFill>
            <a:prstDash val="solid"/>
          </a:ln>
        </p:spPr>
        <p:txBody>
          <a:bodyPr lIns="0" tIns="0" rIns="0" bIns="0" anchor="t"/>
          <a:lstStyle/>
          <a:p>
            <a:pPr algn="ctr">
              <a:defRPr sz="1200" b="1">
                <a:solidFill>
                  <a:srgbClr val="F4EBC2"/>
                </a:solidFill>
                <a:latin typeface="黑体"/>
                <a:ea typeface="黑体"/>
                <a:cs typeface="黑体"/>
              </a:defRPr>
            </a:pPr>
            <a:r>
              <a:rPr>
                <a:latin typeface="黑体"/>
                <a:ea typeface="黑体"/>
                <a:cs typeface="黑体"/>
              </a:rPr>
              <a:t>相似</a:t>
            </a:r>
          </a:p>
        </p:txBody>
      </p:sp>
      <p:sp>
        <p:nvSpPr>
          <p:cNvPr id="28" name="矩形 27">
            <a:extLst>
              <a:ext uri="{FF2B5EF4-FFF2-40B4-BE49-F238E27FC236}">
                <a16:creationId xmlns:a16="http://schemas.microsoft.com/office/drawing/2014/main" id="{282F7391-E226-4796-BFB7-D2352102A540}"/>
              </a:ext>
            </a:extLst>
          </p:cNvPr>
          <p:cNvSpPr>
            <a:spLocks noGrp="1"/>
          </p:cNvSpPr>
          <p:nvPr/>
        </p:nvSpPr>
        <p:spPr>
          <a:xfrm>
            <a:off x="9601200" y="2476500"/>
            <a:ext cx="1314450" cy="1104900"/>
          </a:xfrm>
          <a:prstGeom prst="rect">
            <a:avLst/>
          </a:prstGeom>
          <a:solidFill>
            <a:srgbClr val="FFFFFF"/>
          </a:solidFill>
          <a:ln w="9525">
            <a:solidFill>
              <a:srgbClr val="B4C0CE"/>
            </a:solidFill>
            <a:prstDash val="solid"/>
          </a:ln>
        </p:spPr>
        <p:txBody>
          <a:bodyPr/>
          <a:lstStyle/>
          <a:p>
            <a:endParaRPr lang="zh-CN" altLang="en-US"/>
          </a:p>
        </p:txBody>
      </p:sp>
      <p:sp>
        <p:nvSpPr>
          <p:cNvPr id="29" name="矩形 28">
            <a:extLst>
              <a:ext uri="{FF2B5EF4-FFF2-40B4-BE49-F238E27FC236}">
                <a16:creationId xmlns:a16="http://schemas.microsoft.com/office/drawing/2014/main" id="{9EF59282-F15B-4227-A38F-9ECA7CAC709C}"/>
              </a:ext>
            </a:extLst>
          </p:cNvPr>
          <p:cNvSpPr>
            <a:spLocks noGrp="1"/>
          </p:cNvSpPr>
          <p:nvPr/>
        </p:nvSpPr>
        <p:spPr>
          <a:xfrm>
            <a:off x="9715500" y="2667000"/>
            <a:ext cx="1085850" cy="266700"/>
          </a:xfrm>
          <a:prstGeom prst="rect">
            <a:avLst/>
          </a:prstGeom>
          <a:solidFill>
            <a:srgbClr val="FFFFFF"/>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0–1</a:t>
            </a:r>
          </a:p>
        </p:txBody>
      </p:sp>
      <p:sp>
        <p:nvSpPr>
          <p:cNvPr id="30" name="矩形 29">
            <a:extLst>
              <a:ext uri="{FF2B5EF4-FFF2-40B4-BE49-F238E27FC236}">
                <a16:creationId xmlns:a16="http://schemas.microsoft.com/office/drawing/2014/main" id="{9F8CF324-9084-4089-805B-B740E0312DB1}"/>
              </a:ext>
            </a:extLst>
          </p:cNvPr>
          <p:cNvSpPr>
            <a:spLocks noGrp="1"/>
          </p:cNvSpPr>
          <p:nvPr/>
        </p:nvSpPr>
        <p:spPr>
          <a:xfrm>
            <a:off x="9715500" y="3105150"/>
            <a:ext cx="1085850" cy="209550"/>
          </a:xfrm>
          <a:prstGeom prst="rect">
            <a:avLst/>
          </a:prstGeom>
          <a:solidFill>
            <a:srgbClr val="FFFFFF"/>
          </a:solidFill>
          <a:ln w="0">
            <a:solidFill>
              <a:srgbClr val="000000">
                <a:alpha val="0"/>
              </a:srgbClr>
            </a:solidFill>
            <a:prstDash val="solid"/>
          </a:ln>
        </p:spPr>
        <p:txBody>
          <a:bodyPr lIns="0" tIns="0" rIns="0" bIns="0" anchor="t"/>
          <a:lstStyle/>
          <a:p>
            <a:pPr algn="ctr">
              <a:defRPr sz="1200" b="1">
                <a:solidFill>
                  <a:srgbClr val="1F2933"/>
                </a:solidFill>
                <a:latin typeface="黑体"/>
                <a:ea typeface="黑体"/>
                <a:cs typeface="黑体"/>
              </a:defRPr>
            </a:pPr>
            <a:r>
              <a:rPr>
                <a:latin typeface="黑体"/>
                <a:ea typeface="黑体"/>
                <a:cs typeface="黑体"/>
              </a:rPr>
              <a:t>不同</a:t>
            </a:r>
          </a:p>
        </p:txBody>
      </p:sp>
      <p:sp>
        <p:nvSpPr>
          <p:cNvPr id="31" name="矩形 30">
            <a:extLst>
              <a:ext uri="{FF2B5EF4-FFF2-40B4-BE49-F238E27FC236}">
                <a16:creationId xmlns:a16="http://schemas.microsoft.com/office/drawing/2014/main" id="{EDC9C328-8A1D-4F05-9FDC-4BDF9AB2A333}"/>
              </a:ext>
            </a:extLst>
          </p:cNvPr>
          <p:cNvSpPr>
            <a:spLocks noGrp="1"/>
          </p:cNvSpPr>
          <p:nvPr/>
        </p:nvSpPr>
        <p:spPr>
          <a:xfrm>
            <a:off x="6667500" y="4038600"/>
            <a:ext cx="4400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黑体"/>
                <a:ea typeface="黑体"/>
                <a:cs typeface="黑体"/>
              </a:rPr>
              <a:t>是否退课 </a:t>
            </a:r>
            <a:r>
              <a:rPr>
                <a:latin typeface="Times New Roman"/>
                <a:ea typeface="Times New Roman"/>
                <a:cs typeface="Times New Roman"/>
              </a:rPr>
              <a:t>· </a:t>
            </a:r>
            <a:r>
              <a:rPr>
                <a:latin typeface="黑体"/>
                <a:ea typeface="黑体"/>
                <a:cs typeface="黑体"/>
              </a:rPr>
              <a:t>是否患病</a:t>
            </a:r>
          </a:p>
        </p:txBody>
      </p:sp>
      <p:sp>
        <p:nvSpPr>
          <p:cNvPr id="32" name="矩形 31">
            <a:extLst>
              <a:ext uri="{FF2B5EF4-FFF2-40B4-BE49-F238E27FC236}">
                <a16:creationId xmlns:a16="http://schemas.microsoft.com/office/drawing/2014/main" id="{5A5F59B5-A462-467D-8D42-FFBD0ABE7E0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3" name="矩形 32">
            <a:extLst>
              <a:ext uri="{FF2B5EF4-FFF2-40B4-BE49-F238E27FC236}">
                <a16:creationId xmlns:a16="http://schemas.microsoft.com/office/drawing/2014/main" id="{7028E0F0-4C39-4E70-BDBD-0DD326FD20DA}"/>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对稀有事件，两个对象都为 </a:t>
            </a:r>
            <a:r>
              <a:rPr>
                <a:latin typeface="Times New Roman"/>
                <a:ea typeface="Times New Roman"/>
                <a:cs typeface="Times New Roman"/>
              </a:rPr>
              <a:t>0 </a:t>
            </a:r>
            <a:r>
              <a:rPr>
                <a:latin typeface="黑体"/>
                <a:ea typeface="黑体"/>
                <a:cs typeface="黑体"/>
              </a:rPr>
              <a:t>通常不应被当作强相似证据。</a:t>
            </a:r>
          </a:p>
        </p:txBody>
      </p:sp>
    </p:spTree>
    <p:extLst>
      <p:ext uri="{BB962C8B-B14F-4D97-AF65-F5344CB8AC3E}">
        <p14:creationId xmlns:p14="http://schemas.microsoft.com/office/powerpoint/2010/main" val="1514367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26394E6B-0F4B-4EE8-B5A5-A6533699BDD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7CCF9CA1-CEF6-4084-A630-72746BFA6289}"/>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CC214440-D205-43E3-B9C7-55536A008916}"/>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0DAF88D-6A2F-4938-BB07-0BF5BDDD7DAD}"/>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有序属性能排序，但间隔未必相等</a:t>
            </a:r>
          </a:p>
        </p:txBody>
      </p:sp>
      <p:sp>
        <p:nvSpPr>
          <p:cNvPr id="5" name="矩形 4">
            <a:extLst>
              <a:ext uri="{FF2B5EF4-FFF2-40B4-BE49-F238E27FC236}">
                <a16:creationId xmlns:a16="http://schemas.microsoft.com/office/drawing/2014/main" id="{40F3F4F8-C4C5-4393-90B8-6FD4AC296098}"/>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21/90</a:t>
            </a:r>
          </a:p>
        </p:txBody>
      </p:sp>
      <p:sp>
        <p:nvSpPr>
          <p:cNvPr id="6" name="矩形 5">
            <a:extLst>
              <a:ext uri="{FF2B5EF4-FFF2-40B4-BE49-F238E27FC236}">
                <a16:creationId xmlns:a16="http://schemas.microsoft.com/office/drawing/2014/main" id="{8645374A-3CCE-405C-B836-5291141A9D7C}"/>
              </a:ext>
            </a:extLst>
          </p:cNvPr>
          <p:cNvSpPr>
            <a:spLocks noGrp="1"/>
          </p:cNvSpPr>
          <p:nvPr/>
        </p:nvSpPr>
        <p:spPr>
          <a:xfrm>
            <a:off x="819150" y="1162050"/>
            <a:ext cx="10382250" cy="990600"/>
          </a:xfrm>
          <a:prstGeom prst="rect">
            <a:avLst/>
          </a:prstGeom>
          <a:solidFill>
            <a:srgbClr val="F1F6FC"/>
          </a:solidFill>
          <a:ln w="9525">
            <a:solidFill>
              <a:srgbClr val="D3DAE4"/>
            </a:solidFill>
            <a:prstDash val="solid"/>
          </a:ln>
        </p:spPr>
        <p:txBody>
          <a:bodyPr/>
          <a:lstStyle/>
          <a:p>
            <a:endParaRPr lang="zh-CN" altLang="en-US"/>
          </a:p>
        </p:txBody>
      </p:sp>
      <p:sp>
        <p:nvSpPr>
          <p:cNvPr id="7" name="矩形 6">
            <a:extLst>
              <a:ext uri="{FF2B5EF4-FFF2-40B4-BE49-F238E27FC236}">
                <a16:creationId xmlns:a16="http://schemas.microsoft.com/office/drawing/2014/main" id="{5016E6EF-6CE8-40C1-B5C1-6CBE3D143536}"/>
              </a:ext>
            </a:extLst>
          </p:cNvPr>
          <p:cNvSpPr>
            <a:spLocks noGrp="1"/>
          </p:cNvSpPr>
          <p:nvPr/>
        </p:nvSpPr>
        <p:spPr>
          <a:xfrm>
            <a:off x="819150" y="116205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2DAA8249-E11D-47C1-8AF9-D8F54E59FD2B}"/>
              </a:ext>
            </a:extLst>
          </p:cNvPr>
          <p:cNvSpPr>
            <a:spLocks noGrp="1"/>
          </p:cNvSpPr>
          <p:nvPr/>
        </p:nvSpPr>
        <p:spPr>
          <a:xfrm>
            <a:off x="1104900" y="1504950"/>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01</a:t>
            </a:r>
          </a:p>
        </p:txBody>
      </p:sp>
      <p:sp>
        <p:nvSpPr>
          <p:cNvPr id="9" name="矩形 8">
            <a:extLst>
              <a:ext uri="{FF2B5EF4-FFF2-40B4-BE49-F238E27FC236}">
                <a16:creationId xmlns:a16="http://schemas.microsoft.com/office/drawing/2014/main" id="{76C16C63-D905-4E40-B492-85DBED3D0A0A}"/>
              </a:ext>
            </a:extLst>
          </p:cNvPr>
          <p:cNvSpPr>
            <a:spLocks noGrp="1"/>
          </p:cNvSpPr>
          <p:nvPr/>
        </p:nvSpPr>
        <p:spPr>
          <a:xfrm>
            <a:off x="1790700" y="1295400"/>
            <a:ext cx="2381250" cy="76200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存在自然顺序</a:t>
            </a:r>
          </a:p>
        </p:txBody>
      </p:sp>
      <p:sp>
        <p:nvSpPr>
          <p:cNvPr id="10" name="矩形 9">
            <a:extLst>
              <a:ext uri="{FF2B5EF4-FFF2-40B4-BE49-F238E27FC236}">
                <a16:creationId xmlns:a16="http://schemas.microsoft.com/office/drawing/2014/main" id="{68D2D566-3112-4312-B1FB-C5EBA33227B1}"/>
              </a:ext>
            </a:extLst>
          </p:cNvPr>
          <p:cNvSpPr>
            <a:spLocks noGrp="1"/>
          </p:cNvSpPr>
          <p:nvPr/>
        </p:nvSpPr>
        <p:spPr>
          <a:xfrm>
            <a:off x="4305300" y="1295400"/>
            <a:ext cx="6572250" cy="76200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低、中、高</a:t>
            </a:r>
          </a:p>
        </p:txBody>
      </p:sp>
      <p:sp>
        <p:nvSpPr>
          <p:cNvPr id="11" name="矩形 10">
            <a:extLst>
              <a:ext uri="{FF2B5EF4-FFF2-40B4-BE49-F238E27FC236}">
                <a16:creationId xmlns:a16="http://schemas.microsoft.com/office/drawing/2014/main" id="{2F1A5A0F-2E72-4A1E-A5B7-2D806EDA0B53}"/>
              </a:ext>
            </a:extLst>
          </p:cNvPr>
          <p:cNvSpPr>
            <a:spLocks noGrp="1"/>
          </p:cNvSpPr>
          <p:nvPr/>
        </p:nvSpPr>
        <p:spPr>
          <a:xfrm>
            <a:off x="819150" y="2247900"/>
            <a:ext cx="10382250" cy="990600"/>
          </a:xfrm>
          <a:prstGeom prst="rect">
            <a:avLst/>
          </a:prstGeom>
          <a:solidFill>
            <a:srgbClr val="FFFFFF"/>
          </a:solidFill>
          <a:ln w="9525">
            <a:solidFill>
              <a:srgbClr val="D3DAE4"/>
            </a:solidFill>
            <a:prstDash val="solid"/>
          </a:ln>
        </p:spPr>
        <p:txBody>
          <a:bodyPr/>
          <a:lstStyle/>
          <a:p>
            <a:endParaRPr lang="zh-CN" altLang="en-US"/>
          </a:p>
        </p:txBody>
      </p:sp>
      <p:sp>
        <p:nvSpPr>
          <p:cNvPr id="12" name="矩形 11">
            <a:extLst>
              <a:ext uri="{FF2B5EF4-FFF2-40B4-BE49-F238E27FC236}">
                <a16:creationId xmlns:a16="http://schemas.microsoft.com/office/drawing/2014/main" id="{945410CA-BEC6-46BF-A033-D4442BC45863}"/>
              </a:ext>
            </a:extLst>
          </p:cNvPr>
          <p:cNvSpPr>
            <a:spLocks noGrp="1"/>
          </p:cNvSpPr>
          <p:nvPr/>
        </p:nvSpPr>
        <p:spPr>
          <a:xfrm>
            <a:off x="819150" y="2247900"/>
            <a:ext cx="95250" cy="9906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B3B11CCA-2E29-462C-A9AC-680DA8C97B45}"/>
              </a:ext>
            </a:extLst>
          </p:cNvPr>
          <p:cNvSpPr>
            <a:spLocks noGrp="1"/>
          </p:cNvSpPr>
          <p:nvPr/>
        </p:nvSpPr>
        <p:spPr>
          <a:xfrm>
            <a:off x="1104900" y="2590800"/>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02</a:t>
            </a:r>
          </a:p>
        </p:txBody>
      </p:sp>
      <p:sp>
        <p:nvSpPr>
          <p:cNvPr id="14" name="矩形 13">
            <a:extLst>
              <a:ext uri="{FF2B5EF4-FFF2-40B4-BE49-F238E27FC236}">
                <a16:creationId xmlns:a16="http://schemas.microsoft.com/office/drawing/2014/main" id="{8AC5A73C-6FDB-4022-9C37-A2A9108D408E}"/>
              </a:ext>
            </a:extLst>
          </p:cNvPr>
          <p:cNvSpPr>
            <a:spLocks noGrp="1"/>
          </p:cNvSpPr>
          <p:nvPr/>
        </p:nvSpPr>
        <p:spPr>
          <a:xfrm>
            <a:off x="1790700" y="2381250"/>
            <a:ext cx="2381250" cy="76200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等级差不一定相等</a:t>
            </a:r>
          </a:p>
        </p:txBody>
      </p:sp>
      <p:sp>
        <p:nvSpPr>
          <p:cNvPr id="15" name="矩形 14">
            <a:extLst>
              <a:ext uri="{FF2B5EF4-FFF2-40B4-BE49-F238E27FC236}">
                <a16:creationId xmlns:a16="http://schemas.microsoft.com/office/drawing/2014/main" id="{077267AE-895D-4299-AC7D-5D1B36862278}"/>
              </a:ext>
            </a:extLst>
          </p:cNvPr>
          <p:cNvSpPr>
            <a:spLocks noGrp="1"/>
          </p:cNvSpPr>
          <p:nvPr/>
        </p:nvSpPr>
        <p:spPr>
          <a:xfrm>
            <a:off x="4305300" y="2381250"/>
            <a:ext cx="6572250" cy="76200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高与中不一定等于中与低</a:t>
            </a:r>
          </a:p>
        </p:txBody>
      </p:sp>
      <p:sp>
        <p:nvSpPr>
          <p:cNvPr id="16" name="矩形 15">
            <a:extLst>
              <a:ext uri="{FF2B5EF4-FFF2-40B4-BE49-F238E27FC236}">
                <a16:creationId xmlns:a16="http://schemas.microsoft.com/office/drawing/2014/main" id="{4EFECF41-C830-4DE2-9E91-5594DBF42EAD}"/>
              </a:ext>
            </a:extLst>
          </p:cNvPr>
          <p:cNvSpPr>
            <a:spLocks noGrp="1"/>
          </p:cNvSpPr>
          <p:nvPr/>
        </p:nvSpPr>
        <p:spPr>
          <a:xfrm>
            <a:off x="819150" y="3333750"/>
            <a:ext cx="10382250" cy="990600"/>
          </a:xfrm>
          <a:prstGeom prst="rect">
            <a:avLst/>
          </a:prstGeom>
          <a:solidFill>
            <a:srgbClr val="F1F6FC"/>
          </a:solidFill>
          <a:ln w="9525">
            <a:solidFill>
              <a:srgbClr val="D3DAE4"/>
            </a:solidFill>
            <a:prstDash val="solid"/>
          </a:ln>
        </p:spPr>
        <p:txBody>
          <a:bodyPr/>
          <a:lstStyle/>
          <a:p>
            <a:endParaRPr lang="zh-CN" altLang="en-US"/>
          </a:p>
        </p:txBody>
      </p:sp>
      <p:sp>
        <p:nvSpPr>
          <p:cNvPr id="17" name="矩形 16">
            <a:extLst>
              <a:ext uri="{FF2B5EF4-FFF2-40B4-BE49-F238E27FC236}">
                <a16:creationId xmlns:a16="http://schemas.microsoft.com/office/drawing/2014/main" id="{4C4B7495-4175-4EAF-A0CD-24208A4F924F}"/>
              </a:ext>
            </a:extLst>
          </p:cNvPr>
          <p:cNvSpPr>
            <a:spLocks noGrp="1"/>
          </p:cNvSpPr>
          <p:nvPr/>
        </p:nvSpPr>
        <p:spPr>
          <a:xfrm>
            <a:off x="819150" y="333375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5178277C-95D3-472D-B70E-7B4E7DB54C98}"/>
              </a:ext>
            </a:extLst>
          </p:cNvPr>
          <p:cNvSpPr>
            <a:spLocks noGrp="1"/>
          </p:cNvSpPr>
          <p:nvPr/>
        </p:nvSpPr>
        <p:spPr>
          <a:xfrm>
            <a:off x="1104900" y="3676650"/>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03</a:t>
            </a:r>
          </a:p>
        </p:txBody>
      </p:sp>
      <p:sp>
        <p:nvSpPr>
          <p:cNvPr id="19" name="矩形 18">
            <a:extLst>
              <a:ext uri="{FF2B5EF4-FFF2-40B4-BE49-F238E27FC236}">
                <a16:creationId xmlns:a16="http://schemas.microsoft.com/office/drawing/2014/main" id="{E4A27230-A577-4E51-B03A-17E04A4662CC}"/>
              </a:ext>
            </a:extLst>
          </p:cNvPr>
          <p:cNvSpPr>
            <a:spLocks noGrp="1"/>
          </p:cNvSpPr>
          <p:nvPr/>
        </p:nvSpPr>
        <p:spPr>
          <a:xfrm>
            <a:off x="1790700" y="3467100"/>
            <a:ext cx="2381250" cy="76200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适合中位数和百分位数</a:t>
            </a:r>
          </a:p>
        </p:txBody>
      </p:sp>
      <p:sp>
        <p:nvSpPr>
          <p:cNvPr id="20" name="矩形 19">
            <a:extLst>
              <a:ext uri="{FF2B5EF4-FFF2-40B4-BE49-F238E27FC236}">
                <a16:creationId xmlns:a16="http://schemas.microsoft.com/office/drawing/2014/main" id="{75A72145-59C5-4098-ABF5-0A2F6C4D658C}"/>
              </a:ext>
            </a:extLst>
          </p:cNvPr>
          <p:cNvSpPr>
            <a:spLocks noGrp="1"/>
          </p:cNvSpPr>
          <p:nvPr/>
        </p:nvSpPr>
        <p:spPr>
          <a:xfrm>
            <a:off x="4305300" y="3467100"/>
            <a:ext cx="6572250" cy="76200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平均值需要谨慎解释</a:t>
            </a:r>
          </a:p>
        </p:txBody>
      </p:sp>
      <p:sp>
        <p:nvSpPr>
          <p:cNvPr id="21" name="矩形 20">
            <a:extLst>
              <a:ext uri="{FF2B5EF4-FFF2-40B4-BE49-F238E27FC236}">
                <a16:creationId xmlns:a16="http://schemas.microsoft.com/office/drawing/2014/main" id="{0BCC1E21-E2B6-4F2E-9595-2BAA6334A332}"/>
              </a:ext>
            </a:extLst>
          </p:cNvPr>
          <p:cNvSpPr>
            <a:spLocks noGrp="1"/>
          </p:cNvSpPr>
          <p:nvPr/>
        </p:nvSpPr>
        <p:spPr>
          <a:xfrm>
            <a:off x="819150" y="4419600"/>
            <a:ext cx="10382250" cy="990600"/>
          </a:xfrm>
          <a:prstGeom prst="rect">
            <a:avLst/>
          </a:prstGeom>
          <a:solidFill>
            <a:srgbClr val="FFFFFF"/>
          </a:solidFill>
          <a:ln w="9525">
            <a:solidFill>
              <a:srgbClr val="D3DAE4"/>
            </a:solidFill>
            <a:prstDash val="solid"/>
          </a:ln>
        </p:spPr>
        <p:txBody>
          <a:bodyPr/>
          <a:lstStyle/>
          <a:p>
            <a:endParaRPr lang="zh-CN" altLang="en-US"/>
          </a:p>
        </p:txBody>
      </p:sp>
      <p:sp>
        <p:nvSpPr>
          <p:cNvPr id="22" name="矩形 21">
            <a:extLst>
              <a:ext uri="{FF2B5EF4-FFF2-40B4-BE49-F238E27FC236}">
                <a16:creationId xmlns:a16="http://schemas.microsoft.com/office/drawing/2014/main" id="{FBCC98E9-8FE5-4C83-83AD-94338DA4942D}"/>
              </a:ext>
            </a:extLst>
          </p:cNvPr>
          <p:cNvSpPr>
            <a:spLocks noGrp="1"/>
          </p:cNvSpPr>
          <p:nvPr/>
        </p:nvSpPr>
        <p:spPr>
          <a:xfrm>
            <a:off x="819150" y="441960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F5A9422D-E102-4EAF-8F13-622E5D3A9047}"/>
              </a:ext>
            </a:extLst>
          </p:cNvPr>
          <p:cNvSpPr>
            <a:spLocks noGrp="1"/>
          </p:cNvSpPr>
          <p:nvPr/>
        </p:nvSpPr>
        <p:spPr>
          <a:xfrm>
            <a:off x="1104900" y="4762500"/>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04</a:t>
            </a:r>
          </a:p>
        </p:txBody>
      </p:sp>
      <p:sp>
        <p:nvSpPr>
          <p:cNvPr id="24" name="矩形 23">
            <a:extLst>
              <a:ext uri="{FF2B5EF4-FFF2-40B4-BE49-F238E27FC236}">
                <a16:creationId xmlns:a16="http://schemas.microsoft.com/office/drawing/2014/main" id="{4741258A-1B67-41A0-BC6A-450FA606A0C7}"/>
              </a:ext>
            </a:extLst>
          </p:cNvPr>
          <p:cNvSpPr>
            <a:spLocks noGrp="1"/>
          </p:cNvSpPr>
          <p:nvPr/>
        </p:nvSpPr>
        <p:spPr>
          <a:xfrm>
            <a:off x="1790700" y="4552950"/>
            <a:ext cx="2381250" cy="76200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编码要保留顺序</a:t>
            </a:r>
          </a:p>
        </p:txBody>
      </p:sp>
      <p:sp>
        <p:nvSpPr>
          <p:cNvPr id="25" name="矩形 24">
            <a:extLst>
              <a:ext uri="{FF2B5EF4-FFF2-40B4-BE49-F238E27FC236}">
                <a16:creationId xmlns:a16="http://schemas.microsoft.com/office/drawing/2014/main" id="{8BFBA6F6-9FB6-4964-B4B4-B413D97F7D50}"/>
              </a:ext>
            </a:extLst>
          </p:cNvPr>
          <p:cNvSpPr>
            <a:spLocks noGrp="1"/>
          </p:cNvSpPr>
          <p:nvPr/>
        </p:nvSpPr>
        <p:spPr>
          <a:xfrm>
            <a:off x="4305300" y="4552950"/>
            <a:ext cx="6572250" cy="76200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但不能假设线性距离</a:t>
            </a:r>
          </a:p>
        </p:txBody>
      </p:sp>
      <p:sp>
        <p:nvSpPr>
          <p:cNvPr id="26" name="矩形 25">
            <a:extLst>
              <a:ext uri="{FF2B5EF4-FFF2-40B4-BE49-F238E27FC236}">
                <a16:creationId xmlns:a16="http://schemas.microsoft.com/office/drawing/2014/main" id="{2E357670-B091-4C7F-989F-5647E0F6023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7" name="矩形 26">
            <a:extLst>
              <a:ext uri="{FF2B5EF4-FFF2-40B4-BE49-F238E27FC236}">
                <a16:creationId xmlns:a16="http://schemas.microsoft.com/office/drawing/2014/main" id="{231819E2-81FC-42FA-990C-24784A5AC32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有顺序不等于有等距。</a:t>
            </a:r>
          </a:p>
        </p:txBody>
      </p:sp>
    </p:spTree>
    <p:extLst>
      <p:ext uri="{BB962C8B-B14F-4D97-AF65-F5344CB8AC3E}">
        <p14:creationId xmlns:p14="http://schemas.microsoft.com/office/powerpoint/2010/main" val="1079792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B00706B6-38F5-41DE-B7D3-B431E3801A8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B4F685B2-381A-4FBE-8610-BE0A38C36EFC}"/>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47302376-F506-47EB-A2EB-AD7539E91E30}"/>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52AC300-5313-47DA-9CC4-467D5C5511B9}"/>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区间尺度与比率尺度的零点不同</a:t>
            </a:r>
          </a:p>
        </p:txBody>
      </p:sp>
      <p:sp>
        <p:nvSpPr>
          <p:cNvPr id="5" name="矩形 4">
            <a:extLst>
              <a:ext uri="{FF2B5EF4-FFF2-40B4-BE49-F238E27FC236}">
                <a16:creationId xmlns:a16="http://schemas.microsoft.com/office/drawing/2014/main" id="{F922C449-1DEC-42B4-BC77-9E895168B701}"/>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22/90</a:t>
            </a:r>
          </a:p>
        </p:txBody>
      </p:sp>
      <p:sp>
        <p:nvSpPr>
          <p:cNvPr id="6" name="矩形 5">
            <a:extLst>
              <a:ext uri="{FF2B5EF4-FFF2-40B4-BE49-F238E27FC236}">
                <a16:creationId xmlns:a16="http://schemas.microsoft.com/office/drawing/2014/main" id="{8F02CB16-6E9F-462A-8B40-D124418D17A7}"/>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A8B42365-4EE1-4F5E-955D-E8DF731ED42E}"/>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D5CBE75B-118A-4656-93C0-36B8B6C4280D}"/>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区间尺度 </a:t>
            </a:r>
            <a:r>
              <a:rPr>
                <a:latin typeface="Times New Roman"/>
                <a:ea typeface="Times New Roman"/>
                <a:cs typeface="Times New Roman"/>
              </a:rPr>
              <a:t>Interval</a:t>
            </a:r>
          </a:p>
        </p:txBody>
      </p:sp>
      <p:sp>
        <p:nvSpPr>
          <p:cNvPr id="9" name="矩形 8">
            <a:extLst>
              <a:ext uri="{FF2B5EF4-FFF2-40B4-BE49-F238E27FC236}">
                <a16:creationId xmlns:a16="http://schemas.microsoft.com/office/drawing/2014/main" id="{E234E0F5-D540-4724-A215-ACE8056D42CD}"/>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0D5AF80E-DD6B-477A-A493-2F39FD389C7A}"/>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差值有意义</a:t>
            </a:r>
          </a:p>
        </p:txBody>
      </p:sp>
      <p:sp>
        <p:nvSpPr>
          <p:cNvPr id="11" name="矩形 10">
            <a:extLst>
              <a:ext uri="{FF2B5EF4-FFF2-40B4-BE49-F238E27FC236}">
                <a16:creationId xmlns:a16="http://schemas.microsoft.com/office/drawing/2014/main" id="{7BFEB5FD-55AD-4255-AE91-1BE0D77D0824}"/>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D8066039-A0ED-46E7-90D9-BE871C0FB196}"/>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零点是人为参照</a:t>
            </a:r>
          </a:p>
        </p:txBody>
      </p:sp>
      <p:sp>
        <p:nvSpPr>
          <p:cNvPr id="13" name="矩形 12">
            <a:extLst>
              <a:ext uri="{FF2B5EF4-FFF2-40B4-BE49-F238E27FC236}">
                <a16:creationId xmlns:a16="http://schemas.microsoft.com/office/drawing/2014/main" id="{0300094C-BC6A-4C44-8D2C-2CA0BD2872E6}"/>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0C224041-9980-4B38-8D4E-D0F29D695235}"/>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摄氏 </a:t>
            </a:r>
            <a:r>
              <a:rPr>
                <a:latin typeface="Times New Roman"/>
                <a:ea typeface="Times New Roman"/>
                <a:cs typeface="Times New Roman"/>
              </a:rPr>
              <a:t>20°C </a:t>
            </a:r>
            <a:r>
              <a:rPr>
                <a:latin typeface="黑体"/>
                <a:ea typeface="黑体"/>
                <a:cs typeface="黑体"/>
              </a:rPr>
              <a:t>比 </a:t>
            </a:r>
            <a:r>
              <a:rPr>
                <a:latin typeface="Times New Roman"/>
                <a:ea typeface="Times New Roman"/>
                <a:cs typeface="Times New Roman"/>
              </a:rPr>
              <a:t>10°C </a:t>
            </a:r>
            <a:r>
              <a:rPr>
                <a:latin typeface="黑体"/>
                <a:ea typeface="黑体"/>
                <a:cs typeface="黑体"/>
              </a:rPr>
              <a:t>高 </a:t>
            </a:r>
            <a:r>
              <a:rPr>
                <a:latin typeface="Times New Roman"/>
                <a:ea typeface="Times New Roman"/>
                <a:cs typeface="Times New Roman"/>
              </a:rPr>
              <a:t>10°C</a:t>
            </a:r>
          </a:p>
        </p:txBody>
      </p:sp>
      <p:sp>
        <p:nvSpPr>
          <p:cNvPr id="15" name="矩形 14">
            <a:extLst>
              <a:ext uri="{FF2B5EF4-FFF2-40B4-BE49-F238E27FC236}">
                <a16:creationId xmlns:a16="http://schemas.microsoft.com/office/drawing/2014/main" id="{BA58CD50-6076-41E4-A168-A13DF828826B}"/>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69EB76CE-62A7-4EFA-B61D-2A420FEC6DF8}"/>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但不能说温度是两倍</a:t>
            </a:r>
          </a:p>
        </p:txBody>
      </p:sp>
      <p:sp>
        <p:nvSpPr>
          <p:cNvPr id="17" name="矩形 16">
            <a:extLst>
              <a:ext uri="{FF2B5EF4-FFF2-40B4-BE49-F238E27FC236}">
                <a16:creationId xmlns:a16="http://schemas.microsoft.com/office/drawing/2014/main" id="{68249CDC-C8F4-42BC-9654-2372A4D4DCD7}"/>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B65C17E1-93B6-4D3E-B4CB-2E1FF963062B}"/>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58280A93-BB82-45E7-B73B-4F4EE4C50277}"/>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比率尺度 </a:t>
            </a:r>
            <a:r>
              <a:rPr>
                <a:latin typeface="Times New Roman"/>
                <a:ea typeface="Times New Roman"/>
                <a:cs typeface="Times New Roman"/>
              </a:rPr>
              <a:t>Ratio</a:t>
            </a:r>
          </a:p>
        </p:txBody>
      </p:sp>
      <p:sp>
        <p:nvSpPr>
          <p:cNvPr id="20" name="矩形 19">
            <a:extLst>
              <a:ext uri="{FF2B5EF4-FFF2-40B4-BE49-F238E27FC236}">
                <a16:creationId xmlns:a16="http://schemas.microsoft.com/office/drawing/2014/main" id="{D5734C7B-32BD-4514-A11A-C24B11A030F4}"/>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C9C682B7-971C-486D-BE17-7ABCF40B1C25}"/>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差值和比值都有意义</a:t>
            </a:r>
          </a:p>
        </p:txBody>
      </p:sp>
      <p:sp>
        <p:nvSpPr>
          <p:cNvPr id="22" name="矩形 21">
            <a:extLst>
              <a:ext uri="{FF2B5EF4-FFF2-40B4-BE49-F238E27FC236}">
                <a16:creationId xmlns:a16="http://schemas.microsoft.com/office/drawing/2014/main" id="{08BEB3DD-7ED6-4032-8600-87432AC79900}"/>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38316BE0-7DD3-433D-A2AD-FECE63496CDF}"/>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零点表示数量不存在</a:t>
            </a:r>
          </a:p>
        </p:txBody>
      </p:sp>
      <p:sp>
        <p:nvSpPr>
          <p:cNvPr id="24" name="矩形 23">
            <a:extLst>
              <a:ext uri="{FF2B5EF4-FFF2-40B4-BE49-F238E27FC236}">
                <a16:creationId xmlns:a16="http://schemas.microsoft.com/office/drawing/2014/main" id="{962CA62B-3C60-46EE-BB30-88150D2C7439}"/>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F2291142-67D8-4156-BCD7-ADDF7A723600}"/>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学习时长 </a:t>
            </a:r>
            <a:r>
              <a:rPr>
                <a:latin typeface="Times New Roman"/>
                <a:ea typeface="Times New Roman"/>
                <a:cs typeface="Times New Roman"/>
              </a:rPr>
              <a:t>20 </a:t>
            </a:r>
            <a:r>
              <a:rPr>
                <a:latin typeface="黑体"/>
                <a:ea typeface="黑体"/>
                <a:cs typeface="黑体"/>
              </a:rPr>
              <a:t>分钟是 </a:t>
            </a:r>
            <a:r>
              <a:rPr>
                <a:latin typeface="Times New Roman"/>
                <a:ea typeface="Times New Roman"/>
                <a:cs typeface="Times New Roman"/>
              </a:rPr>
              <a:t>10 </a:t>
            </a:r>
            <a:r>
              <a:rPr>
                <a:latin typeface="黑体"/>
                <a:ea typeface="黑体"/>
                <a:cs typeface="黑体"/>
              </a:rPr>
              <a:t>分钟的两倍</a:t>
            </a:r>
          </a:p>
        </p:txBody>
      </p:sp>
      <p:sp>
        <p:nvSpPr>
          <p:cNvPr id="26" name="矩形 25">
            <a:extLst>
              <a:ext uri="{FF2B5EF4-FFF2-40B4-BE49-F238E27FC236}">
                <a16:creationId xmlns:a16="http://schemas.microsoft.com/office/drawing/2014/main" id="{A1056816-8A18-4531-8BF7-8C49B4149EAB}"/>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4BB9891A-BE51-4E9B-96BF-CE623B8EA3C3}"/>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登录次数 </a:t>
            </a:r>
            <a:r>
              <a:rPr>
                <a:latin typeface="Times New Roman"/>
                <a:ea typeface="Times New Roman"/>
                <a:cs typeface="Times New Roman"/>
              </a:rPr>
              <a:t>0 </a:t>
            </a:r>
            <a:r>
              <a:rPr>
                <a:latin typeface="黑体"/>
                <a:ea typeface="黑体"/>
                <a:cs typeface="黑体"/>
              </a:rPr>
              <a:t>表示没有登录</a:t>
            </a:r>
          </a:p>
        </p:txBody>
      </p:sp>
      <p:sp>
        <p:nvSpPr>
          <p:cNvPr id="28" name="矩形 27">
            <a:extLst>
              <a:ext uri="{FF2B5EF4-FFF2-40B4-BE49-F238E27FC236}">
                <a16:creationId xmlns:a16="http://schemas.microsoft.com/office/drawing/2014/main" id="{9B8E9659-FF90-443C-A0FB-9AC319D8F16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85CFC427-FCC6-4D2C-99E0-BFB86F05F3D6}"/>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能否解释“几倍”，取决于零点是否具有真实含义。</a:t>
            </a:r>
          </a:p>
        </p:txBody>
      </p:sp>
    </p:spTree>
    <p:extLst>
      <p:ext uri="{BB962C8B-B14F-4D97-AF65-F5344CB8AC3E}">
        <p14:creationId xmlns:p14="http://schemas.microsoft.com/office/powerpoint/2010/main" val="546017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2945AFAA-52E3-4724-9957-0B67072C54A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2564424E-D2D7-4B11-89DC-04FD1B01126C}"/>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ECDC0CD3-2437-464E-A172-FA952F62A23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BFD0DB4-57D6-48C9-AE9D-F862271A7DBA}"/>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离散与连续描述取值方式</a:t>
            </a:r>
          </a:p>
        </p:txBody>
      </p:sp>
      <p:sp>
        <p:nvSpPr>
          <p:cNvPr id="5" name="矩形 4">
            <a:extLst>
              <a:ext uri="{FF2B5EF4-FFF2-40B4-BE49-F238E27FC236}">
                <a16:creationId xmlns:a16="http://schemas.microsoft.com/office/drawing/2014/main" id="{058180E3-6366-4168-87F9-B3D53AAD49D9}"/>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23/90</a:t>
            </a:r>
          </a:p>
        </p:txBody>
      </p:sp>
      <p:sp>
        <p:nvSpPr>
          <p:cNvPr id="6" name="矩形 5">
            <a:extLst>
              <a:ext uri="{FF2B5EF4-FFF2-40B4-BE49-F238E27FC236}">
                <a16:creationId xmlns:a16="http://schemas.microsoft.com/office/drawing/2014/main" id="{DD1765D7-DBBD-43A9-97CF-C6E49F9303BD}"/>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4886E86A-E8A7-46EF-BA11-B83ABC4B2D20}"/>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3B9B3E30-FC73-4195-8460-C50163FDE4E1}"/>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离散属性 </a:t>
            </a:r>
            <a:r>
              <a:rPr>
                <a:latin typeface="Times New Roman"/>
                <a:ea typeface="Times New Roman"/>
                <a:cs typeface="Times New Roman"/>
              </a:rPr>
              <a:t>Discrete</a:t>
            </a:r>
          </a:p>
        </p:txBody>
      </p:sp>
      <p:sp>
        <p:nvSpPr>
          <p:cNvPr id="9" name="矩形 8">
            <a:extLst>
              <a:ext uri="{FF2B5EF4-FFF2-40B4-BE49-F238E27FC236}">
                <a16:creationId xmlns:a16="http://schemas.microsoft.com/office/drawing/2014/main" id="{FCB1CCA2-66F2-4A6C-890A-89EBA0EB5C5D}"/>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17721999-B849-4B7A-ABA8-4AB165C7000C}"/>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取值可以逐个计数</a:t>
            </a:r>
          </a:p>
        </p:txBody>
      </p:sp>
      <p:sp>
        <p:nvSpPr>
          <p:cNvPr id="11" name="矩形 10">
            <a:extLst>
              <a:ext uri="{FF2B5EF4-FFF2-40B4-BE49-F238E27FC236}">
                <a16:creationId xmlns:a16="http://schemas.microsoft.com/office/drawing/2014/main" id="{AD7EF570-838F-41C6-B931-F72C39AB3D2D}"/>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529630BB-6324-4B4F-A392-8B595C5612CC}"/>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登录次数：</a:t>
            </a:r>
            <a:r>
              <a:rPr>
                <a:latin typeface="Times New Roman"/>
                <a:ea typeface="Times New Roman"/>
                <a:cs typeface="Times New Roman"/>
              </a:rPr>
              <a:t>0、1、2、3…</a:t>
            </a:r>
          </a:p>
        </p:txBody>
      </p:sp>
      <p:sp>
        <p:nvSpPr>
          <p:cNvPr id="13" name="矩形 12">
            <a:extLst>
              <a:ext uri="{FF2B5EF4-FFF2-40B4-BE49-F238E27FC236}">
                <a16:creationId xmlns:a16="http://schemas.microsoft.com/office/drawing/2014/main" id="{61B6A39E-E065-49A1-B6B5-BF8414B7EEC4}"/>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2F52C53B-0A45-47CC-9380-3E1FE98CFC74}"/>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通常来自计数或有限类别</a:t>
            </a:r>
          </a:p>
        </p:txBody>
      </p:sp>
      <p:sp>
        <p:nvSpPr>
          <p:cNvPr id="15" name="矩形 14">
            <a:extLst>
              <a:ext uri="{FF2B5EF4-FFF2-40B4-BE49-F238E27FC236}">
                <a16:creationId xmlns:a16="http://schemas.microsoft.com/office/drawing/2014/main" id="{13E11A5A-FD21-470E-BFD0-1534147BE752}"/>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55ABE8A1-CEC4-4740-9AB4-6BBB808A89F9}"/>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相邻值之间没有其他可能值</a:t>
            </a:r>
          </a:p>
        </p:txBody>
      </p:sp>
      <p:sp>
        <p:nvSpPr>
          <p:cNvPr id="17" name="矩形 16">
            <a:extLst>
              <a:ext uri="{FF2B5EF4-FFF2-40B4-BE49-F238E27FC236}">
                <a16:creationId xmlns:a16="http://schemas.microsoft.com/office/drawing/2014/main" id="{ADE7A209-B1BE-4D0B-8BA2-FFA764CBDE98}"/>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8867211C-A60D-44A7-A1DE-C0BA2A94E177}"/>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C663461E-C670-452C-A1E5-5BFE29B168DF}"/>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连续属性 </a:t>
            </a:r>
            <a:r>
              <a:rPr>
                <a:latin typeface="Times New Roman"/>
                <a:ea typeface="Times New Roman"/>
                <a:cs typeface="Times New Roman"/>
              </a:rPr>
              <a:t>Continuous</a:t>
            </a:r>
          </a:p>
        </p:txBody>
      </p:sp>
      <p:sp>
        <p:nvSpPr>
          <p:cNvPr id="20" name="矩形 19">
            <a:extLst>
              <a:ext uri="{FF2B5EF4-FFF2-40B4-BE49-F238E27FC236}">
                <a16:creationId xmlns:a16="http://schemas.microsoft.com/office/drawing/2014/main" id="{039B3172-8EF2-4E53-A39D-BC9ABE784BA4}"/>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BEC48144-A7CD-433A-871E-69969231F573}"/>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理论上可以在区间内任意取值</a:t>
            </a:r>
          </a:p>
        </p:txBody>
      </p:sp>
      <p:sp>
        <p:nvSpPr>
          <p:cNvPr id="22" name="矩形 21">
            <a:extLst>
              <a:ext uri="{FF2B5EF4-FFF2-40B4-BE49-F238E27FC236}">
                <a16:creationId xmlns:a16="http://schemas.microsoft.com/office/drawing/2014/main" id="{9D955211-D7F0-4BDE-8143-FE7C87274E49}"/>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CC2B4F55-0008-415E-BE04-B70FA42D958E}"/>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学习时长：</a:t>
            </a:r>
            <a:r>
              <a:rPr>
                <a:latin typeface="Times New Roman"/>
                <a:ea typeface="Times New Roman"/>
                <a:cs typeface="Times New Roman"/>
              </a:rPr>
              <a:t>23.4 </a:t>
            </a:r>
            <a:r>
              <a:rPr>
                <a:latin typeface="黑体"/>
                <a:ea typeface="黑体"/>
                <a:cs typeface="黑体"/>
              </a:rPr>
              <a:t>分钟</a:t>
            </a:r>
          </a:p>
        </p:txBody>
      </p:sp>
      <p:sp>
        <p:nvSpPr>
          <p:cNvPr id="24" name="矩形 23">
            <a:extLst>
              <a:ext uri="{FF2B5EF4-FFF2-40B4-BE49-F238E27FC236}">
                <a16:creationId xmlns:a16="http://schemas.microsoft.com/office/drawing/2014/main" id="{D17AAD1F-1E6E-402A-B324-EECD2EA1607F}"/>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DAEACD32-9D60-4C22-8768-355CC36783C8}"/>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通常来自测量</a:t>
            </a:r>
          </a:p>
        </p:txBody>
      </p:sp>
      <p:sp>
        <p:nvSpPr>
          <p:cNvPr id="26" name="矩形 25">
            <a:extLst>
              <a:ext uri="{FF2B5EF4-FFF2-40B4-BE49-F238E27FC236}">
                <a16:creationId xmlns:a16="http://schemas.microsoft.com/office/drawing/2014/main" id="{6D1E8E0D-D524-47D7-AD00-D185ACFDB89E}"/>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58872459-AC23-4DDF-944B-D2AB1A7A7801}"/>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存储时会因精度而离散化</a:t>
            </a:r>
          </a:p>
        </p:txBody>
      </p:sp>
      <p:sp>
        <p:nvSpPr>
          <p:cNvPr id="28" name="矩形 27">
            <a:extLst>
              <a:ext uri="{FF2B5EF4-FFF2-40B4-BE49-F238E27FC236}">
                <a16:creationId xmlns:a16="http://schemas.microsoft.com/office/drawing/2014/main" id="{5E34E3E5-A1CB-41DB-8776-73C5054C2EE8}"/>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E4A4C446-C272-4338-8B71-BD96D900FBF4}"/>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存成整数不一定代表概念上是离散变量。</a:t>
            </a:r>
          </a:p>
        </p:txBody>
      </p:sp>
    </p:spTree>
    <p:extLst>
      <p:ext uri="{BB962C8B-B14F-4D97-AF65-F5344CB8AC3E}">
        <p14:creationId xmlns:p14="http://schemas.microsoft.com/office/powerpoint/2010/main" val="137881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15314E09-8E06-4BB2-8C66-D4A3F2360FFD}"/>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A78CB1DB-EC45-43A9-A29D-B8D9114DA350}"/>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188B54B7-9878-492C-A628-E563F004AC32}"/>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922981F5-087F-454E-A6E8-F628332CFC6E}"/>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测量尺度决定允许的运算</a:t>
            </a:r>
          </a:p>
        </p:txBody>
      </p:sp>
      <p:sp>
        <p:nvSpPr>
          <p:cNvPr id="5" name="矩形 4">
            <a:extLst>
              <a:ext uri="{FF2B5EF4-FFF2-40B4-BE49-F238E27FC236}">
                <a16:creationId xmlns:a16="http://schemas.microsoft.com/office/drawing/2014/main" id="{C4C39484-A155-41AC-A4E4-213CE73BBCCE}"/>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24/90</a:t>
            </a:r>
          </a:p>
        </p:txBody>
      </p:sp>
      <p:sp>
        <p:nvSpPr>
          <p:cNvPr id="6" name="矩形 5">
            <a:extLst>
              <a:ext uri="{FF2B5EF4-FFF2-40B4-BE49-F238E27FC236}">
                <a16:creationId xmlns:a16="http://schemas.microsoft.com/office/drawing/2014/main" id="{3FB19A68-DEE7-4291-8A70-8B8BBC5F6BE9}"/>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DED8A204-2DFF-4F67-B139-4BF314C4D020}"/>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尺度</a:t>
            </a:r>
          </a:p>
        </p:txBody>
      </p:sp>
      <p:sp>
        <p:nvSpPr>
          <p:cNvPr id="8" name="矩形 7">
            <a:extLst>
              <a:ext uri="{FF2B5EF4-FFF2-40B4-BE49-F238E27FC236}">
                <a16:creationId xmlns:a16="http://schemas.microsoft.com/office/drawing/2014/main" id="{9F2ADD30-5288-40ED-B2D8-8B707113D57F}"/>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E7DC2A11-5445-4A2B-81E5-6C22302E51F5}"/>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允许的比较</a:t>
            </a:r>
          </a:p>
        </p:txBody>
      </p:sp>
      <p:sp>
        <p:nvSpPr>
          <p:cNvPr id="10" name="矩形 9">
            <a:extLst>
              <a:ext uri="{FF2B5EF4-FFF2-40B4-BE49-F238E27FC236}">
                <a16:creationId xmlns:a16="http://schemas.microsoft.com/office/drawing/2014/main" id="{376382CA-7B1E-438A-BA5C-9A283B4D59E8}"/>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B8F86C72-1C56-467E-A3CF-93FAE109DFE6}"/>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适合的统计量</a:t>
            </a:r>
          </a:p>
        </p:txBody>
      </p:sp>
      <p:sp>
        <p:nvSpPr>
          <p:cNvPr id="12" name="矩形 11">
            <a:extLst>
              <a:ext uri="{FF2B5EF4-FFF2-40B4-BE49-F238E27FC236}">
                <a16:creationId xmlns:a16="http://schemas.microsoft.com/office/drawing/2014/main" id="{23F3BEA7-4173-4BF9-9CE5-3EE51D35F607}"/>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C86378F9-5420-4337-A879-5AFFE60B7B1C}"/>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标称</a:t>
            </a:r>
          </a:p>
        </p:txBody>
      </p:sp>
      <p:sp>
        <p:nvSpPr>
          <p:cNvPr id="14" name="矩形 13">
            <a:extLst>
              <a:ext uri="{FF2B5EF4-FFF2-40B4-BE49-F238E27FC236}">
                <a16:creationId xmlns:a16="http://schemas.microsoft.com/office/drawing/2014/main" id="{71C79CB3-E10C-415F-92DB-3DF62C463C73}"/>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9D002F91-CF91-4C63-90A7-5CBE5EF9C5AD}"/>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a:t>
            </a:r>
          </a:p>
        </p:txBody>
      </p:sp>
      <p:sp>
        <p:nvSpPr>
          <p:cNvPr id="16" name="矩形 15">
            <a:extLst>
              <a:ext uri="{FF2B5EF4-FFF2-40B4-BE49-F238E27FC236}">
                <a16:creationId xmlns:a16="http://schemas.microsoft.com/office/drawing/2014/main" id="{57BC993C-E2DD-4D65-A667-C46EED407F9F}"/>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E49464B0-8D17-4548-ADD9-BAF17EBF25AE}"/>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频数、比例、众数</a:t>
            </a:r>
          </a:p>
        </p:txBody>
      </p:sp>
      <p:sp>
        <p:nvSpPr>
          <p:cNvPr id="18" name="矩形 17">
            <a:extLst>
              <a:ext uri="{FF2B5EF4-FFF2-40B4-BE49-F238E27FC236}">
                <a16:creationId xmlns:a16="http://schemas.microsoft.com/office/drawing/2014/main" id="{9C848816-3AE0-49FC-884D-32E08CC476E3}"/>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7892D9FB-8757-4D64-97A0-A938D2E87734}"/>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有序</a:t>
            </a:r>
          </a:p>
        </p:txBody>
      </p:sp>
      <p:sp>
        <p:nvSpPr>
          <p:cNvPr id="20" name="矩形 19">
            <a:extLst>
              <a:ext uri="{FF2B5EF4-FFF2-40B4-BE49-F238E27FC236}">
                <a16:creationId xmlns:a16="http://schemas.microsoft.com/office/drawing/2014/main" id="{3CA8DC61-CF0C-4B82-B3D8-9044C264950F}"/>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02AD18D7-FAEB-4737-9535-1EBA39B17537}"/>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=、≠、&lt;、&gt;</a:t>
            </a:r>
          </a:p>
        </p:txBody>
      </p:sp>
      <p:sp>
        <p:nvSpPr>
          <p:cNvPr id="22" name="矩形 21">
            <a:extLst>
              <a:ext uri="{FF2B5EF4-FFF2-40B4-BE49-F238E27FC236}">
                <a16:creationId xmlns:a16="http://schemas.microsoft.com/office/drawing/2014/main" id="{6D351473-BC5C-4BD2-9352-C5F0B29A18C8}"/>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9771D717-BB44-454D-AC69-4DDB1D230A39}"/>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中位数、百分位数、秩</a:t>
            </a:r>
          </a:p>
        </p:txBody>
      </p:sp>
      <p:sp>
        <p:nvSpPr>
          <p:cNvPr id="24" name="矩形 23">
            <a:extLst>
              <a:ext uri="{FF2B5EF4-FFF2-40B4-BE49-F238E27FC236}">
                <a16:creationId xmlns:a16="http://schemas.microsoft.com/office/drawing/2014/main" id="{4B5925D3-E9E0-4C8E-B656-F0C81A7CA4B1}"/>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F6256742-8141-4E10-B54E-AF88D778E92E}"/>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区间</a:t>
            </a:r>
          </a:p>
        </p:txBody>
      </p:sp>
      <p:sp>
        <p:nvSpPr>
          <p:cNvPr id="26" name="矩形 25">
            <a:extLst>
              <a:ext uri="{FF2B5EF4-FFF2-40B4-BE49-F238E27FC236}">
                <a16:creationId xmlns:a16="http://schemas.microsoft.com/office/drawing/2014/main" id="{0C148862-0383-426C-A7EA-EEFF83BA7645}"/>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0BF53AFF-EE84-45AB-BE7F-321CB72C9730}"/>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顺序与差值</a:t>
            </a:r>
          </a:p>
        </p:txBody>
      </p:sp>
      <p:sp>
        <p:nvSpPr>
          <p:cNvPr id="28" name="矩形 27">
            <a:extLst>
              <a:ext uri="{FF2B5EF4-FFF2-40B4-BE49-F238E27FC236}">
                <a16:creationId xmlns:a16="http://schemas.microsoft.com/office/drawing/2014/main" id="{705A9458-F493-4364-9F8D-FEB44DC2EE85}"/>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60E3B1DC-9A2F-4643-8F74-0FB1E0B45BD1}"/>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均值、标准差、相关</a:t>
            </a:r>
          </a:p>
        </p:txBody>
      </p:sp>
      <p:sp>
        <p:nvSpPr>
          <p:cNvPr id="30" name="矩形 29">
            <a:extLst>
              <a:ext uri="{FF2B5EF4-FFF2-40B4-BE49-F238E27FC236}">
                <a16:creationId xmlns:a16="http://schemas.microsoft.com/office/drawing/2014/main" id="{3CBBB0C7-EC26-4DCE-8F93-C9FDBB4F6133}"/>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6E8E48FE-16AA-43C4-8B9C-6B0F1715DDCE}"/>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比率</a:t>
            </a:r>
          </a:p>
        </p:txBody>
      </p:sp>
      <p:sp>
        <p:nvSpPr>
          <p:cNvPr id="32" name="矩形 31">
            <a:extLst>
              <a:ext uri="{FF2B5EF4-FFF2-40B4-BE49-F238E27FC236}">
                <a16:creationId xmlns:a16="http://schemas.microsoft.com/office/drawing/2014/main" id="{4DA75F3B-18E7-426B-9E8B-6BB3ECE17D96}"/>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C8E9D29B-03DC-4DC9-AB67-0F127A58CED4}"/>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顺序、差值与比值</a:t>
            </a:r>
          </a:p>
        </p:txBody>
      </p:sp>
      <p:sp>
        <p:nvSpPr>
          <p:cNvPr id="34" name="矩形 33">
            <a:extLst>
              <a:ext uri="{FF2B5EF4-FFF2-40B4-BE49-F238E27FC236}">
                <a16:creationId xmlns:a16="http://schemas.microsoft.com/office/drawing/2014/main" id="{757B692F-E8BA-4966-AEC4-D8F8C2634AA3}"/>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011DD546-1F0A-4A87-BB56-AB4EA6F4A17B}"/>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均值、变异系数、几何平均</a:t>
            </a:r>
          </a:p>
        </p:txBody>
      </p:sp>
      <p:sp>
        <p:nvSpPr>
          <p:cNvPr id="36" name="矩形 35">
            <a:extLst>
              <a:ext uri="{FF2B5EF4-FFF2-40B4-BE49-F238E27FC236}">
                <a16:creationId xmlns:a16="http://schemas.microsoft.com/office/drawing/2014/main" id="{96B4E77F-8CCC-4E7B-AD49-D3872FDE8F3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7" name="矩形 36">
            <a:extLst>
              <a:ext uri="{FF2B5EF4-FFF2-40B4-BE49-F238E27FC236}">
                <a16:creationId xmlns:a16="http://schemas.microsoft.com/office/drawing/2014/main" id="{2314B914-7D57-483D-98E1-E5677CA2CB0D}"/>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统计方法必须与测量尺度匹配。</a:t>
            </a:r>
          </a:p>
        </p:txBody>
      </p:sp>
    </p:spTree>
    <p:extLst>
      <p:ext uri="{BB962C8B-B14F-4D97-AF65-F5344CB8AC3E}">
        <p14:creationId xmlns:p14="http://schemas.microsoft.com/office/powerpoint/2010/main" val="1715818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4784AD1D-880C-40CE-9F0C-98F8BD40F807}"/>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7ABFB9B-D6A4-410F-9756-3F8B20FA026E}"/>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FEBB91E1-434B-496B-A988-3414E98F6BD2}"/>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9E781985-FEAC-4047-9193-EFCCFAE17BBD}"/>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同一个数值，可能承担完全不同的含义</a:t>
            </a:r>
          </a:p>
        </p:txBody>
      </p:sp>
      <p:sp>
        <p:nvSpPr>
          <p:cNvPr id="5" name="矩形 4">
            <a:extLst>
              <a:ext uri="{FF2B5EF4-FFF2-40B4-BE49-F238E27FC236}">
                <a16:creationId xmlns:a16="http://schemas.microsoft.com/office/drawing/2014/main" id="{6AD566D1-31FE-4ABD-AACA-CCF5B87B412C}"/>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25/90</a:t>
            </a:r>
          </a:p>
        </p:txBody>
      </p:sp>
      <p:sp>
        <p:nvSpPr>
          <p:cNvPr id="6" name="矩形 5">
            <a:extLst>
              <a:ext uri="{FF2B5EF4-FFF2-40B4-BE49-F238E27FC236}">
                <a16:creationId xmlns:a16="http://schemas.microsoft.com/office/drawing/2014/main" id="{D27B095F-B6CC-43E4-9918-D91C2E9F921F}"/>
              </a:ext>
            </a:extLst>
          </p:cNvPr>
          <p:cNvSpPr>
            <a:spLocks noGrp="1"/>
          </p:cNvSpPr>
          <p:nvPr/>
        </p:nvSpPr>
        <p:spPr>
          <a:xfrm>
            <a:off x="685800" y="1600200"/>
            <a:ext cx="2571750" cy="314325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4488FD1A-49BC-4C96-BAA2-A1BC0669AA8C}"/>
              </a:ext>
            </a:extLst>
          </p:cNvPr>
          <p:cNvSpPr>
            <a:spLocks noGrp="1"/>
          </p:cNvSpPr>
          <p:nvPr/>
        </p:nvSpPr>
        <p:spPr>
          <a:xfrm>
            <a:off x="685800" y="1600200"/>
            <a:ext cx="2571750" cy="704850"/>
          </a:xfrm>
          <a:prstGeom prst="rect">
            <a:avLst/>
          </a:prstGeom>
          <a:solidFill>
            <a:srgbClr val="EAF2FF"/>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22F2B1F1-EC86-46AC-A3E4-B2EE658BAD5D}"/>
              </a:ext>
            </a:extLst>
          </p:cNvPr>
          <p:cNvSpPr>
            <a:spLocks noGrp="1"/>
          </p:cNvSpPr>
          <p:nvPr/>
        </p:nvSpPr>
        <p:spPr>
          <a:xfrm>
            <a:off x="838200" y="1762125"/>
            <a:ext cx="2266950" cy="361950"/>
          </a:xfrm>
          <a:prstGeom prst="rect">
            <a:avLst/>
          </a:prstGeom>
          <a:solidFill>
            <a:srgbClr val="EAF2FF"/>
          </a:solidFill>
          <a:ln w="0">
            <a:solidFill>
              <a:srgbClr val="000000">
                <a:alpha val="0"/>
              </a:srgbClr>
            </a:solidFill>
            <a:prstDash val="solid"/>
          </a:ln>
        </p:spPr>
        <p:txBody>
          <a:bodyPr lIns="0" tIns="0" rIns="0" bIns="0" anchor="t"/>
          <a:lstStyle/>
          <a:p>
            <a:pPr algn="ctr">
              <a:defRPr sz="2100" b="1">
                <a:solidFill>
                  <a:srgbClr val="00204A"/>
                </a:solidFill>
                <a:latin typeface="黑体"/>
                <a:ea typeface="黑体"/>
                <a:cs typeface="黑体"/>
              </a:defRPr>
            </a:pPr>
            <a:r>
              <a:rPr>
                <a:latin typeface="Times New Roman"/>
                <a:ea typeface="Times New Roman"/>
                <a:cs typeface="Times New Roman"/>
              </a:rPr>
              <a:t>1002</a:t>
            </a:r>
          </a:p>
        </p:txBody>
      </p:sp>
      <p:sp>
        <p:nvSpPr>
          <p:cNvPr id="9" name="矩形 8">
            <a:extLst>
              <a:ext uri="{FF2B5EF4-FFF2-40B4-BE49-F238E27FC236}">
                <a16:creationId xmlns:a16="http://schemas.microsoft.com/office/drawing/2014/main" id="{90C15E8F-17B1-4838-BEB4-4E4863209292}"/>
              </a:ext>
            </a:extLst>
          </p:cNvPr>
          <p:cNvSpPr>
            <a:spLocks noGrp="1"/>
          </p:cNvSpPr>
          <p:nvPr/>
        </p:nvSpPr>
        <p:spPr>
          <a:xfrm>
            <a:off x="857250" y="2705100"/>
            <a:ext cx="22288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Times New Roman"/>
                <a:ea typeface="Times New Roman"/>
                <a:cs typeface="Times New Roman"/>
              </a:rPr>
              <a:t>student_id</a:t>
            </a:r>
          </a:p>
        </p:txBody>
      </p:sp>
      <p:sp>
        <p:nvSpPr>
          <p:cNvPr id="10" name="矩形 9">
            <a:extLst>
              <a:ext uri="{FF2B5EF4-FFF2-40B4-BE49-F238E27FC236}">
                <a16:creationId xmlns:a16="http://schemas.microsoft.com/office/drawing/2014/main" id="{FBFB0BB6-28A1-4721-9B32-A1304DF19DA8}"/>
              </a:ext>
            </a:extLst>
          </p:cNvPr>
          <p:cNvSpPr>
            <a:spLocks noGrp="1"/>
          </p:cNvSpPr>
          <p:nvPr/>
        </p:nvSpPr>
        <p:spPr>
          <a:xfrm>
            <a:off x="914400" y="3429000"/>
            <a:ext cx="21145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1F2933"/>
                </a:solidFill>
                <a:latin typeface="黑体"/>
                <a:ea typeface="黑体"/>
                <a:cs typeface="黑体"/>
              </a:defRPr>
            </a:pPr>
            <a:r>
              <a:rPr>
                <a:latin typeface="黑体"/>
                <a:ea typeface="黑体"/>
                <a:cs typeface="黑体"/>
              </a:rPr>
              <a:t>标识符</a:t>
            </a:r>
          </a:p>
        </p:txBody>
      </p:sp>
      <p:sp>
        <p:nvSpPr>
          <p:cNvPr id="11" name="矩形 10">
            <a:extLst>
              <a:ext uri="{FF2B5EF4-FFF2-40B4-BE49-F238E27FC236}">
                <a16:creationId xmlns:a16="http://schemas.microsoft.com/office/drawing/2014/main" id="{21B93ED0-35D1-45C2-8742-8A4780748A5D}"/>
              </a:ext>
            </a:extLst>
          </p:cNvPr>
          <p:cNvSpPr>
            <a:spLocks noGrp="1"/>
          </p:cNvSpPr>
          <p:nvPr/>
        </p:nvSpPr>
        <p:spPr>
          <a:xfrm>
            <a:off x="3429000" y="1600200"/>
            <a:ext cx="2571750" cy="3143250"/>
          </a:xfrm>
          <a:prstGeom prst="rect">
            <a:avLst/>
          </a:prstGeom>
          <a:solidFill>
            <a:srgbClr val="FFFFFF"/>
          </a:solidFill>
          <a:ln w="9525">
            <a:solidFill>
              <a:srgbClr val="B8C3D1"/>
            </a:solidFill>
            <a:prstDash val="solid"/>
          </a:ln>
        </p:spPr>
        <p:txBody>
          <a:bodyPr/>
          <a:lstStyle/>
          <a:p>
            <a:endParaRPr lang="zh-CN" altLang="en-US"/>
          </a:p>
        </p:txBody>
      </p:sp>
      <p:sp>
        <p:nvSpPr>
          <p:cNvPr id="12" name="矩形 11">
            <a:extLst>
              <a:ext uri="{FF2B5EF4-FFF2-40B4-BE49-F238E27FC236}">
                <a16:creationId xmlns:a16="http://schemas.microsoft.com/office/drawing/2014/main" id="{993BE56D-398A-4B90-BBFF-75F5E23174DC}"/>
              </a:ext>
            </a:extLst>
          </p:cNvPr>
          <p:cNvSpPr>
            <a:spLocks noGrp="1"/>
          </p:cNvSpPr>
          <p:nvPr/>
        </p:nvSpPr>
        <p:spPr>
          <a:xfrm>
            <a:off x="3429000" y="1600200"/>
            <a:ext cx="2571750" cy="704850"/>
          </a:xfrm>
          <a:prstGeom prst="rect">
            <a:avLst/>
          </a:prstGeom>
          <a:solidFill>
            <a:srgbClr val="00204A"/>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B9B3D195-7D58-4AFE-B582-D5FE5968F8DA}"/>
              </a:ext>
            </a:extLst>
          </p:cNvPr>
          <p:cNvSpPr>
            <a:spLocks noGrp="1"/>
          </p:cNvSpPr>
          <p:nvPr/>
        </p:nvSpPr>
        <p:spPr>
          <a:xfrm>
            <a:off x="3581400" y="1762125"/>
            <a:ext cx="2266950" cy="361950"/>
          </a:xfrm>
          <a:prstGeom prst="rect">
            <a:avLst/>
          </a:prstGeom>
          <a:solidFill>
            <a:srgbClr val="00204A"/>
          </a:solidFill>
          <a:ln w="0">
            <a:solidFill>
              <a:srgbClr val="000000">
                <a:alpha val="0"/>
              </a:srgbClr>
            </a:solidFill>
            <a:prstDash val="solid"/>
          </a:ln>
        </p:spPr>
        <p:txBody>
          <a:bodyPr lIns="0" tIns="0" rIns="0" bIns="0" anchor="t"/>
          <a:lstStyle/>
          <a:p>
            <a:pPr algn="ctr">
              <a:defRPr sz="2100" b="1">
                <a:solidFill>
                  <a:srgbClr val="FFFFFF"/>
                </a:solidFill>
                <a:latin typeface="黑体"/>
                <a:ea typeface="黑体"/>
                <a:cs typeface="黑体"/>
              </a:defRPr>
            </a:pPr>
            <a:r>
              <a:rPr>
                <a:latin typeface="Times New Roman"/>
                <a:ea typeface="Times New Roman"/>
                <a:cs typeface="Times New Roman"/>
              </a:rPr>
              <a:t>4</a:t>
            </a:r>
          </a:p>
        </p:txBody>
      </p:sp>
      <p:sp>
        <p:nvSpPr>
          <p:cNvPr id="14" name="矩形 13">
            <a:extLst>
              <a:ext uri="{FF2B5EF4-FFF2-40B4-BE49-F238E27FC236}">
                <a16:creationId xmlns:a16="http://schemas.microsoft.com/office/drawing/2014/main" id="{808F2B25-199A-4262-B1FA-5C5ACC2651DB}"/>
              </a:ext>
            </a:extLst>
          </p:cNvPr>
          <p:cNvSpPr>
            <a:spLocks noGrp="1"/>
          </p:cNvSpPr>
          <p:nvPr/>
        </p:nvSpPr>
        <p:spPr>
          <a:xfrm>
            <a:off x="3600450" y="2705100"/>
            <a:ext cx="22288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Times New Roman"/>
                <a:ea typeface="Times New Roman"/>
                <a:cs typeface="Times New Roman"/>
              </a:rPr>
              <a:t>week</a:t>
            </a:r>
          </a:p>
        </p:txBody>
      </p:sp>
      <p:sp>
        <p:nvSpPr>
          <p:cNvPr id="15" name="矩形 14">
            <a:extLst>
              <a:ext uri="{FF2B5EF4-FFF2-40B4-BE49-F238E27FC236}">
                <a16:creationId xmlns:a16="http://schemas.microsoft.com/office/drawing/2014/main" id="{7E612FAB-EEEA-47F0-825D-DCE9362F0623}"/>
              </a:ext>
            </a:extLst>
          </p:cNvPr>
          <p:cNvSpPr>
            <a:spLocks noGrp="1"/>
          </p:cNvSpPr>
          <p:nvPr/>
        </p:nvSpPr>
        <p:spPr>
          <a:xfrm>
            <a:off x="3657600" y="3429000"/>
            <a:ext cx="21145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1F2933"/>
                </a:solidFill>
                <a:latin typeface="黑体"/>
                <a:ea typeface="黑体"/>
                <a:cs typeface="黑体"/>
              </a:defRPr>
            </a:pPr>
            <a:r>
              <a:rPr>
                <a:latin typeface="黑体"/>
                <a:ea typeface="黑体"/>
                <a:cs typeface="黑体"/>
              </a:rPr>
              <a:t>有序时间索引</a:t>
            </a:r>
          </a:p>
        </p:txBody>
      </p:sp>
      <p:sp>
        <p:nvSpPr>
          <p:cNvPr id="16" name="矩形 15">
            <a:extLst>
              <a:ext uri="{FF2B5EF4-FFF2-40B4-BE49-F238E27FC236}">
                <a16:creationId xmlns:a16="http://schemas.microsoft.com/office/drawing/2014/main" id="{E39A3836-82F8-4FF0-9A15-FF3B48CC17B3}"/>
              </a:ext>
            </a:extLst>
          </p:cNvPr>
          <p:cNvSpPr>
            <a:spLocks noGrp="1"/>
          </p:cNvSpPr>
          <p:nvPr/>
        </p:nvSpPr>
        <p:spPr>
          <a:xfrm>
            <a:off x="6172200" y="1600200"/>
            <a:ext cx="2571750" cy="3143250"/>
          </a:xfrm>
          <a:prstGeom prst="rect">
            <a:avLst/>
          </a:prstGeom>
          <a:solidFill>
            <a:srgbClr val="FFFFFF"/>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99912396-F13F-4CDB-A73B-615CB79BA573}"/>
              </a:ext>
            </a:extLst>
          </p:cNvPr>
          <p:cNvSpPr>
            <a:spLocks noGrp="1"/>
          </p:cNvSpPr>
          <p:nvPr/>
        </p:nvSpPr>
        <p:spPr>
          <a:xfrm>
            <a:off x="6172200" y="1600200"/>
            <a:ext cx="2571750" cy="704850"/>
          </a:xfrm>
          <a:prstGeom prst="rect">
            <a:avLst/>
          </a:prstGeom>
          <a:solidFill>
            <a:srgbClr val="00204A"/>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9AA834B0-AB0F-4C0D-ACC1-057832FD8DC3}"/>
              </a:ext>
            </a:extLst>
          </p:cNvPr>
          <p:cNvSpPr>
            <a:spLocks noGrp="1"/>
          </p:cNvSpPr>
          <p:nvPr/>
        </p:nvSpPr>
        <p:spPr>
          <a:xfrm>
            <a:off x="6324600" y="1762125"/>
            <a:ext cx="2266950" cy="361950"/>
          </a:xfrm>
          <a:prstGeom prst="rect">
            <a:avLst/>
          </a:prstGeom>
          <a:solidFill>
            <a:srgbClr val="00204A"/>
          </a:solidFill>
          <a:ln w="0">
            <a:solidFill>
              <a:srgbClr val="000000">
                <a:alpha val="0"/>
              </a:srgbClr>
            </a:solidFill>
            <a:prstDash val="solid"/>
          </a:ln>
        </p:spPr>
        <p:txBody>
          <a:bodyPr lIns="0" tIns="0" rIns="0" bIns="0" anchor="t"/>
          <a:lstStyle/>
          <a:p>
            <a:pPr algn="ctr">
              <a:defRPr sz="2100" b="1">
                <a:solidFill>
                  <a:srgbClr val="FFFFFF"/>
                </a:solidFill>
                <a:latin typeface="黑体"/>
                <a:ea typeface="黑体"/>
                <a:cs typeface="黑体"/>
              </a:defRPr>
            </a:pPr>
            <a:r>
              <a:rPr>
                <a:latin typeface="Times New Roman"/>
                <a:ea typeface="Times New Roman"/>
                <a:cs typeface="Times New Roman"/>
              </a:rPr>
              <a:t>78</a:t>
            </a:r>
          </a:p>
        </p:txBody>
      </p:sp>
      <p:sp>
        <p:nvSpPr>
          <p:cNvPr id="19" name="矩形 18">
            <a:extLst>
              <a:ext uri="{FF2B5EF4-FFF2-40B4-BE49-F238E27FC236}">
                <a16:creationId xmlns:a16="http://schemas.microsoft.com/office/drawing/2014/main" id="{D28AF704-5A88-480E-9F03-B03BEDCDA2F5}"/>
              </a:ext>
            </a:extLst>
          </p:cNvPr>
          <p:cNvSpPr>
            <a:spLocks noGrp="1"/>
          </p:cNvSpPr>
          <p:nvPr/>
        </p:nvSpPr>
        <p:spPr>
          <a:xfrm>
            <a:off x="6343650" y="2705100"/>
            <a:ext cx="22288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Times New Roman"/>
                <a:ea typeface="Times New Roman"/>
                <a:cs typeface="Times New Roman"/>
              </a:rPr>
              <a:t>quiz_score</a:t>
            </a:r>
          </a:p>
        </p:txBody>
      </p:sp>
      <p:sp>
        <p:nvSpPr>
          <p:cNvPr id="20" name="矩形 19">
            <a:extLst>
              <a:ext uri="{FF2B5EF4-FFF2-40B4-BE49-F238E27FC236}">
                <a16:creationId xmlns:a16="http://schemas.microsoft.com/office/drawing/2014/main" id="{36E28EC1-4E48-44DD-B726-3704250CAB5B}"/>
              </a:ext>
            </a:extLst>
          </p:cNvPr>
          <p:cNvSpPr>
            <a:spLocks noGrp="1"/>
          </p:cNvSpPr>
          <p:nvPr/>
        </p:nvSpPr>
        <p:spPr>
          <a:xfrm>
            <a:off x="6400800" y="3429000"/>
            <a:ext cx="21145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1F2933"/>
                </a:solidFill>
                <a:latin typeface="黑体"/>
                <a:ea typeface="黑体"/>
                <a:cs typeface="黑体"/>
              </a:defRPr>
            </a:pPr>
            <a:r>
              <a:rPr>
                <a:latin typeface="黑体"/>
                <a:ea typeface="黑体"/>
                <a:cs typeface="黑体"/>
              </a:rPr>
              <a:t>比率近似数值</a:t>
            </a:r>
          </a:p>
        </p:txBody>
      </p:sp>
      <p:sp>
        <p:nvSpPr>
          <p:cNvPr id="21" name="矩形 20">
            <a:extLst>
              <a:ext uri="{FF2B5EF4-FFF2-40B4-BE49-F238E27FC236}">
                <a16:creationId xmlns:a16="http://schemas.microsoft.com/office/drawing/2014/main" id="{997FC666-2743-4583-8C69-67F65C1FDB84}"/>
              </a:ext>
            </a:extLst>
          </p:cNvPr>
          <p:cNvSpPr>
            <a:spLocks noGrp="1"/>
          </p:cNvSpPr>
          <p:nvPr/>
        </p:nvSpPr>
        <p:spPr>
          <a:xfrm>
            <a:off x="8915400" y="1600200"/>
            <a:ext cx="2571750" cy="3143250"/>
          </a:xfrm>
          <a:prstGeom prst="rect">
            <a:avLst/>
          </a:prstGeom>
          <a:solidFill>
            <a:srgbClr val="FFFFFF"/>
          </a:solidFill>
          <a:ln w="9525">
            <a:solidFill>
              <a:srgbClr val="B8C3D1"/>
            </a:solidFill>
            <a:prstDash val="solid"/>
          </a:ln>
        </p:spPr>
        <p:txBody>
          <a:bodyPr/>
          <a:lstStyle/>
          <a:p>
            <a:endParaRPr lang="zh-CN" altLang="en-US"/>
          </a:p>
        </p:txBody>
      </p:sp>
      <p:sp>
        <p:nvSpPr>
          <p:cNvPr id="22" name="矩形 21">
            <a:extLst>
              <a:ext uri="{FF2B5EF4-FFF2-40B4-BE49-F238E27FC236}">
                <a16:creationId xmlns:a16="http://schemas.microsoft.com/office/drawing/2014/main" id="{8759F732-3182-4EB6-A786-5181A53171E8}"/>
              </a:ext>
            </a:extLst>
          </p:cNvPr>
          <p:cNvSpPr>
            <a:spLocks noGrp="1"/>
          </p:cNvSpPr>
          <p:nvPr/>
        </p:nvSpPr>
        <p:spPr>
          <a:xfrm>
            <a:off x="8915400" y="1600200"/>
            <a:ext cx="2571750" cy="704850"/>
          </a:xfrm>
          <a:prstGeom prst="rect">
            <a:avLst/>
          </a:prstGeom>
          <a:solidFill>
            <a:srgbClr val="F4EBC2"/>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F1504BFF-3D20-4303-9240-751541017539}"/>
              </a:ext>
            </a:extLst>
          </p:cNvPr>
          <p:cNvSpPr>
            <a:spLocks noGrp="1"/>
          </p:cNvSpPr>
          <p:nvPr/>
        </p:nvSpPr>
        <p:spPr>
          <a:xfrm>
            <a:off x="9067800" y="1762125"/>
            <a:ext cx="2266950" cy="361950"/>
          </a:xfrm>
          <a:prstGeom prst="rect">
            <a:avLst/>
          </a:prstGeom>
          <a:solidFill>
            <a:srgbClr val="F4EBC2"/>
          </a:solidFill>
          <a:ln w="0">
            <a:solidFill>
              <a:srgbClr val="000000">
                <a:alpha val="0"/>
              </a:srgbClr>
            </a:solidFill>
            <a:prstDash val="solid"/>
          </a:ln>
        </p:spPr>
        <p:txBody>
          <a:bodyPr lIns="0" tIns="0" rIns="0" bIns="0" anchor="t"/>
          <a:lstStyle/>
          <a:p>
            <a:pPr algn="ctr">
              <a:defRPr sz="2100" b="1">
                <a:solidFill>
                  <a:srgbClr val="00204A"/>
                </a:solidFill>
                <a:latin typeface="黑体"/>
                <a:ea typeface="黑体"/>
                <a:cs typeface="黑体"/>
              </a:defRPr>
            </a:pPr>
            <a:r>
              <a:rPr>
                <a:latin typeface="Times New Roman"/>
                <a:ea typeface="Times New Roman"/>
                <a:cs typeface="Times New Roman"/>
              </a:rPr>
              <a:t>1</a:t>
            </a:r>
          </a:p>
        </p:txBody>
      </p:sp>
      <p:sp>
        <p:nvSpPr>
          <p:cNvPr id="24" name="矩形 23">
            <a:extLst>
              <a:ext uri="{FF2B5EF4-FFF2-40B4-BE49-F238E27FC236}">
                <a16:creationId xmlns:a16="http://schemas.microsoft.com/office/drawing/2014/main" id="{61447522-9563-4D03-8F48-B554FDF1C6B8}"/>
              </a:ext>
            </a:extLst>
          </p:cNvPr>
          <p:cNvSpPr>
            <a:spLocks noGrp="1"/>
          </p:cNvSpPr>
          <p:nvPr/>
        </p:nvSpPr>
        <p:spPr>
          <a:xfrm>
            <a:off x="9086850" y="2705100"/>
            <a:ext cx="22288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Times New Roman"/>
                <a:ea typeface="Times New Roman"/>
                <a:cs typeface="Times New Roman"/>
              </a:rPr>
              <a:t>dropout</a:t>
            </a:r>
          </a:p>
        </p:txBody>
      </p:sp>
      <p:sp>
        <p:nvSpPr>
          <p:cNvPr id="25" name="矩形 24">
            <a:extLst>
              <a:ext uri="{FF2B5EF4-FFF2-40B4-BE49-F238E27FC236}">
                <a16:creationId xmlns:a16="http://schemas.microsoft.com/office/drawing/2014/main" id="{1A6CCA2F-1595-42A2-A576-D095A6C9F886}"/>
              </a:ext>
            </a:extLst>
          </p:cNvPr>
          <p:cNvSpPr>
            <a:spLocks noGrp="1"/>
          </p:cNvSpPr>
          <p:nvPr/>
        </p:nvSpPr>
        <p:spPr>
          <a:xfrm>
            <a:off x="9144000" y="3429000"/>
            <a:ext cx="21145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1F2933"/>
                </a:solidFill>
                <a:latin typeface="黑体"/>
                <a:ea typeface="黑体"/>
                <a:cs typeface="黑体"/>
              </a:defRPr>
            </a:pPr>
            <a:r>
              <a:rPr>
                <a:latin typeface="黑体"/>
                <a:ea typeface="黑体"/>
                <a:cs typeface="黑体"/>
              </a:rPr>
              <a:t>非对称二元</a:t>
            </a:r>
          </a:p>
        </p:txBody>
      </p:sp>
      <p:sp>
        <p:nvSpPr>
          <p:cNvPr id="26" name="矩形 25">
            <a:extLst>
              <a:ext uri="{FF2B5EF4-FFF2-40B4-BE49-F238E27FC236}">
                <a16:creationId xmlns:a16="http://schemas.microsoft.com/office/drawing/2014/main" id="{21AFA6F1-9680-47AB-B9DF-9EDCFAF2225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7" name="矩形 26">
            <a:extLst>
              <a:ext uri="{FF2B5EF4-FFF2-40B4-BE49-F238E27FC236}">
                <a16:creationId xmlns:a16="http://schemas.microsoft.com/office/drawing/2014/main" id="{C89F6849-3E3B-47F6-8EAA-1BB2AD1E4AEC}"/>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判断属性类型时，要问这个数值允许怎样解释。</a:t>
            </a:r>
          </a:p>
        </p:txBody>
      </p:sp>
    </p:spTree>
    <p:extLst>
      <p:ext uri="{BB962C8B-B14F-4D97-AF65-F5344CB8AC3E}">
        <p14:creationId xmlns:p14="http://schemas.microsoft.com/office/powerpoint/2010/main" val="308666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4D104B77-2147-45A1-AD17-13295715E3C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A3C66402-C4AA-4029-870D-1AA3691C7029}"/>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DB93C638-6225-4505-B621-9695F3189F1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6738E86A-5FFB-4776-BDA5-3CC0E93439FB}"/>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属性类型判断中最常见的错误</a:t>
            </a:r>
          </a:p>
        </p:txBody>
      </p:sp>
      <p:sp>
        <p:nvSpPr>
          <p:cNvPr id="5" name="矩形 4">
            <a:extLst>
              <a:ext uri="{FF2B5EF4-FFF2-40B4-BE49-F238E27FC236}">
                <a16:creationId xmlns:a16="http://schemas.microsoft.com/office/drawing/2014/main" id="{3BA6DD90-5CB7-4E0E-8EFB-9EC96EF68307}"/>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26/90</a:t>
            </a:r>
          </a:p>
        </p:txBody>
      </p:sp>
      <p:sp>
        <p:nvSpPr>
          <p:cNvPr id="6" name="矩形 5">
            <a:extLst>
              <a:ext uri="{FF2B5EF4-FFF2-40B4-BE49-F238E27FC236}">
                <a16:creationId xmlns:a16="http://schemas.microsoft.com/office/drawing/2014/main" id="{E6BB278F-EA2A-4521-A071-C836AC053052}"/>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5422D74F-7923-4003-8591-68A3A36EA168}"/>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错误做法</a:t>
            </a:r>
          </a:p>
        </p:txBody>
      </p:sp>
      <p:sp>
        <p:nvSpPr>
          <p:cNvPr id="8" name="矩形 7">
            <a:extLst>
              <a:ext uri="{FF2B5EF4-FFF2-40B4-BE49-F238E27FC236}">
                <a16:creationId xmlns:a16="http://schemas.microsoft.com/office/drawing/2014/main" id="{5C632725-57DB-41E3-82FB-2A41C6746CDE}"/>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A920F431-E38C-4D40-B983-6B06A794CE51}"/>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为什么错</a:t>
            </a:r>
          </a:p>
        </p:txBody>
      </p:sp>
      <p:sp>
        <p:nvSpPr>
          <p:cNvPr id="10" name="矩形 9">
            <a:extLst>
              <a:ext uri="{FF2B5EF4-FFF2-40B4-BE49-F238E27FC236}">
                <a16:creationId xmlns:a16="http://schemas.microsoft.com/office/drawing/2014/main" id="{388DB279-D073-4EF5-8632-16B8A4A83419}"/>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43C00D31-8199-441C-8BE1-CB5FD4888438}"/>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正确处理</a:t>
            </a:r>
          </a:p>
        </p:txBody>
      </p:sp>
      <p:sp>
        <p:nvSpPr>
          <p:cNvPr id="12" name="矩形 11">
            <a:extLst>
              <a:ext uri="{FF2B5EF4-FFF2-40B4-BE49-F238E27FC236}">
                <a16:creationId xmlns:a16="http://schemas.microsoft.com/office/drawing/2014/main" id="{977FE960-2E9E-484A-AC0E-CF551B7F690F}"/>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29856D2D-48D6-4601-B001-6B07F5A02120}"/>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对 </a:t>
            </a:r>
            <a:r>
              <a:rPr>
                <a:latin typeface="Times New Roman"/>
                <a:ea typeface="Times New Roman"/>
                <a:cs typeface="Times New Roman"/>
              </a:rPr>
              <a:t>student_id </a:t>
            </a:r>
            <a:r>
              <a:rPr>
                <a:latin typeface="黑体"/>
                <a:ea typeface="黑体"/>
                <a:cs typeface="黑体"/>
              </a:rPr>
              <a:t>求平均</a:t>
            </a:r>
          </a:p>
        </p:txBody>
      </p:sp>
      <p:sp>
        <p:nvSpPr>
          <p:cNvPr id="14" name="矩形 13">
            <a:extLst>
              <a:ext uri="{FF2B5EF4-FFF2-40B4-BE49-F238E27FC236}">
                <a16:creationId xmlns:a16="http://schemas.microsoft.com/office/drawing/2014/main" id="{84914933-7B13-42E2-B810-F9537AA57B29}"/>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B658C585-6A5A-439F-93FE-881063A70F1B}"/>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编号没有数量意义</a:t>
            </a:r>
          </a:p>
        </p:txBody>
      </p:sp>
      <p:sp>
        <p:nvSpPr>
          <p:cNvPr id="16" name="矩形 15">
            <a:extLst>
              <a:ext uri="{FF2B5EF4-FFF2-40B4-BE49-F238E27FC236}">
                <a16:creationId xmlns:a16="http://schemas.microsoft.com/office/drawing/2014/main" id="{1432ADFF-C223-49C9-BF7E-10961F840C9B}"/>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F345DEE0-F403-43C6-BF95-22530728295C}"/>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作为键保留，不进入统计</a:t>
            </a:r>
          </a:p>
        </p:txBody>
      </p:sp>
      <p:sp>
        <p:nvSpPr>
          <p:cNvPr id="18" name="矩形 17">
            <a:extLst>
              <a:ext uri="{FF2B5EF4-FFF2-40B4-BE49-F238E27FC236}">
                <a16:creationId xmlns:a16="http://schemas.microsoft.com/office/drawing/2014/main" id="{610432BE-AC33-4C6D-9F27-332C43624B32}"/>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69E5FF2A-BDAC-44DD-BD21-FED33E899D8D}"/>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把 </a:t>
            </a:r>
            <a:r>
              <a:rPr>
                <a:latin typeface="Times New Roman"/>
                <a:ea typeface="Times New Roman"/>
                <a:cs typeface="Times New Roman"/>
              </a:rPr>
              <a:t>1–5 </a:t>
            </a:r>
            <a:r>
              <a:rPr>
                <a:latin typeface="黑体"/>
                <a:ea typeface="黑体"/>
                <a:cs typeface="黑体"/>
              </a:rPr>
              <a:t>满意度当连续值</a:t>
            </a:r>
          </a:p>
        </p:txBody>
      </p:sp>
      <p:sp>
        <p:nvSpPr>
          <p:cNvPr id="20" name="矩形 19">
            <a:extLst>
              <a:ext uri="{FF2B5EF4-FFF2-40B4-BE49-F238E27FC236}">
                <a16:creationId xmlns:a16="http://schemas.microsoft.com/office/drawing/2014/main" id="{756F8342-086F-49AC-A48A-A3E01E6F9471}"/>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F730BEEC-0270-48FE-8A77-F7A6956E8588}"/>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等级间距未必相等</a:t>
            </a:r>
          </a:p>
        </p:txBody>
      </p:sp>
      <p:sp>
        <p:nvSpPr>
          <p:cNvPr id="22" name="矩形 21">
            <a:extLst>
              <a:ext uri="{FF2B5EF4-FFF2-40B4-BE49-F238E27FC236}">
                <a16:creationId xmlns:a16="http://schemas.microsoft.com/office/drawing/2014/main" id="{0926CDF5-D9DD-4A85-BD2B-907E7B5E235F}"/>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BFA650AD-E2C9-43D7-8F33-7CDB5BD4BA95}"/>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报告分布、中位数或秩</a:t>
            </a:r>
          </a:p>
        </p:txBody>
      </p:sp>
      <p:sp>
        <p:nvSpPr>
          <p:cNvPr id="24" name="矩形 23">
            <a:extLst>
              <a:ext uri="{FF2B5EF4-FFF2-40B4-BE49-F238E27FC236}">
                <a16:creationId xmlns:a16="http://schemas.microsoft.com/office/drawing/2014/main" id="{83444A79-0F9F-4EC8-8728-CA9E5058BE68}"/>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8171219F-2440-4C96-8856-0C720BBD50D7}"/>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把缺失编码为 </a:t>
            </a:r>
            <a:r>
              <a:rPr>
                <a:latin typeface="Times New Roman"/>
                <a:ea typeface="Times New Roman"/>
                <a:cs typeface="Times New Roman"/>
              </a:rPr>
              <a:t>0</a:t>
            </a:r>
          </a:p>
        </p:txBody>
      </p:sp>
      <p:sp>
        <p:nvSpPr>
          <p:cNvPr id="26" name="矩形 25">
            <a:extLst>
              <a:ext uri="{FF2B5EF4-FFF2-40B4-BE49-F238E27FC236}">
                <a16:creationId xmlns:a16="http://schemas.microsoft.com/office/drawing/2014/main" id="{85C1A5AB-ADB3-46E4-B477-5085690CFDAC}"/>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AF32643E-C2C1-4A75-85F0-6C25C91A7FB0}"/>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0 </a:t>
            </a:r>
            <a:r>
              <a:rPr>
                <a:latin typeface="黑体"/>
                <a:ea typeface="黑体"/>
                <a:cs typeface="黑体"/>
              </a:rPr>
              <a:t>可能是合法取值</a:t>
            </a:r>
          </a:p>
        </p:txBody>
      </p:sp>
      <p:sp>
        <p:nvSpPr>
          <p:cNvPr id="28" name="矩形 27">
            <a:extLst>
              <a:ext uri="{FF2B5EF4-FFF2-40B4-BE49-F238E27FC236}">
                <a16:creationId xmlns:a16="http://schemas.microsoft.com/office/drawing/2014/main" id="{5DCEA5F4-0CE5-4A69-8FF1-8ABB71A1CCAA}"/>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30880D71-4224-49B3-9A35-9EFD6459DB1C}"/>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保留 </a:t>
            </a:r>
            <a:r>
              <a:rPr>
                <a:latin typeface="Times New Roman"/>
                <a:ea typeface="Times New Roman"/>
                <a:cs typeface="Times New Roman"/>
              </a:rPr>
              <a:t>NA </a:t>
            </a:r>
            <a:r>
              <a:rPr>
                <a:latin typeface="黑体"/>
                <a:ea typeface="黑体"/>
                <a:cs typeface="黑体"/>
              </a:rPr>
              <a:t>或增加缺失指示</a:t>
            </a:r>
          </a:p>
        </p:txBody>
      </p:sp>
      <p:sp>
        <p:nvSpPr>
          <p:cNvPr id="30" name="矩形 29">
            <a:extLst>
              <a:ext uri="{FF2B5EF4-FFF2-40B4-BE49-F238E27FC236}">
                <a16:creationId xmlns:a16="http://schemas.microsoft.com/office/drawing/2014/main" id="{21F65646-41B8-4E32-885E-FFFB993951C5}"/>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80B83C20-B5C8-48B9-B050-0EC84202703E}"/>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把 </a:t>
            </a:r>
            <a:r>
              <a:rPr>
                <a:latin typeface="Times New Roman"/>
                <a:ea typeface="Times New Roman"/>
                <a:cs typeface="Times New Roman"/>
              </a:rPr>
              <a:t>postcode </a:t>
            </a:r>
            <a:r>
              <a:rPr>
                <a:latin typeface="黑体"/>
                <a:ea typeface="黑体"/>
                <a:cs typeface="黑体"/>
              </a:rPr>
              <a:t>当数值</a:t>
            </a:r>
          </a:p>
        </p:txBody>
      </p:sp>
      <p:sp>
        <p:nvSpPr>
          <p:cNvPr id="32" name="矩形 31">
            <a:extLst>
              <a:ext uri="{FF2B5EF4-FFF2-40B4-BE49-F238E27FC236}">
                <a16:creationId xmlns:a16="http://schemas.microsoft.com/office/drawing/2014/main" id="{4339E161-1E82-4E79-B773-4726F3C2E74D}"/>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9EC2BCEB-F7B6-4855-8282-CEC16FBE39CE}"/>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大小和差值没有意义</a:t>
            </a:r>
          </a:p>
        </p:txBody>
      </p:sp>
      <p:sp>
        <p:nvSpPr>
          <p:cNvPr id="34" name="矩形 33">
            <a:extLst>
              <a:ext uri="{FF2B5EF4-FFF2-40B4-BE49-F238E27FC236}">
                <a16:creationId xmlns:a16="http://schemas.microsoft.com/office/drawing/2014/main" id="{509039CE-2789-411A-82FC-5A7D2AF18650}"/>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193549F5-5881-46C4-AF3E-ED3C3FB1D20E}"/>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按标称类别或空间位置处理</a:t>
            </a:r>
          </a:p>
        </p:txBody>
      </p:sp>
      <p:sp>
        <p:nvSpPr>
          <p:cNvPr id="36" name="矩形 35">
            <a:extLst>
              <a:ext uri="{FF2B5EF4-FFF2-40B4-BE49-F238E27FC236}">
                <a16:creationId xmlns:a16="http://schemas.microsoft.com/office/drawing/2014/main" id="{17E2BC32-D60C-4A6F-868A-12CB10C00B02}"/>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88BAE68D-9E62-4CD5-A21C-6BA6CB21A211}"/>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把时间戳直接当类别</a:t>
            </a:r>
          </a:p>
        </p:txBody>
      </p:sp>
      <p:sp>
        <p:nvSpPr>
          <p:cNvPr id="38" name="矩形 37">
            <a:extLst>
              <a:ext uri="{FF2B5EF4-FFF2-40B4-BE49-F238E27FC236}">
                <a16:creationId xmlns:a16="http://schemas.microsoft.com/office/drawing/2014/main" id="{567978CF-E305-4708-9AB2-7FC36C2D58DD}"/>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D03B15D5-BC9D-4BE6-9118-869D4C854EEC}"/>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丢失顺序和间隔</a:t>
            </a:r>
          </a:p>
        </p:txBody>
      </p:sp>
      <p:sp>
        <p:nvSpPr>
          <p:cNvPr id="40" name="矩形 39">
            <a:extLst>
              <a:ext uri="{FF2B5EF4-FFF2-40B4-BE49-F238E27FC236}">
                <a16:creationId xmlns:a16="http://schemas.microsoft.com/office/drawing/2014/main" id="{AB6FC843-23F4-45F1-90A7-960534F69C37}"/>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AB5013B5-A5C4-4CD4-8BA6-F40A9DC3FF11}"/>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提取时间差、周期和窗口</a:t>
            </a:r>
          </a:p>
        </p:txBody>
      </p:sp>
      <p:sp>
        <p:nvSpPr>
          <p:cNvPr id="42" name="矩形 41">
            <a:extLst>
              <a:ext uri="{FF2B5EF4-FFF2-40B4-BE49-F238E27FC236}">
                <a16:creationId xmlns:a16="http://schemas.microsoft.com/office/drawing/2014/main" id="{C897C647-1EFD-4AF6-8FBE-83F70FC09EBE}"/>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22EA083B-961D-4F1C-AD4E-D13431BBB18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先修正字段语义，再讨论模型。</a:t>
            </a:r>
          </a:p>
        </p:txBody>
      </p:sp>
    </p:spTree>
    <p:extLst>
      <p:ext uri="{BB962C8B-B14F-4D97-AF65-F5344CB8AC3E}">
        <p14:creationId xmlns:p14="http://schemas.microsoft.com/office/powerpoint/2010/main" val="20170913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a:extLst>
              <a:ext uri="{FF2B5EF4-FFF2-40B4-BE49-F238E27FC236}">
                <a16:creationId xmlns:a16="http://schemas.microsoft.com/office/drawing/2014/main" id="{BF9B5B3F-5292-4C9D-B0CE-1EF20203F81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44E4C2E-0E85-4089-829C-677873A15585}"/>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1A4AB89-A9A5-4A9B-A743-DA5D12C0A6D6}"/>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78176C98-A296-4A40-B1E2-4E617DC983EC}"/>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student-week </a:t>
            </a:r>
            <a:r>
              <a:rPr>
                <a:latin typeface="黑体"/>
                <a:ea typeface="黑体"/>
                <a:cs typeface="黑体"/>
              </a:rPr>
              <a:t>变量的属性类型</a:t>
            </a:r>
          </a:p>
        </p:txBody>
      </p:sp>
      <p:sp>
        <p:nvSpPr>
          <p:cNvPr id="5" name="矩形 4">
            <a:extLst>
              <a:ext uri="{FF2B5EF4-FFF2-40B4-BE49-F238E27FC236}">
                <a16:creationId xmlns:a16="http://schemas.microsoft.com/office/drawing/2014/main" id="{3324308F-B792-4CA8-813D-6186ED33EB5D}"/>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27/90</a:t>
            </a:r>
          </a:p>
        </p:txBody>
      </p:sp>
      <p:sp>
        <p:nvSpPr>
          <p:cNvPr id="6" name="矩形 5">
            <a:extLst>
              <a:ext uri="{FF2B5EF4-FFF2-40B4-BE49-F238E27FC236}">
                <a16:creationId xmlns:a16="http://schemas.microsoft.com/office/drawing/2014/main" id="{3613B634-5698-46F0-9271-AFE3D968FACC}"/>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AA32FD3B-0387-4A05-A712-F128DBF3A06D}"/>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变量</a:t>
            </a:r>
          </a:p>
        </p:txBody>
      </p:sp>
      <p:sp>
        <p:nvSpPr>
          <p:cNvPr id="8" name="矩形 7">
            <a:extLst>
              <a:ext uri="{FF2B5EF4-FFF2-40B4-BE49-F238E27FC236}">
                <a16:creationId xmlns:a16="http://schemas.microsoft.com/office/drawing/2014/main" id="{E9ED7943-614A-438E-8491-E2FFD783461F}"/>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41110889-C214-486B-8C65-3A16ED78A98D}"/>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属性类型</a:t>
            </a:r>
          </a:p>
        </p:txBody>
      </p:sp>
      <p:sp>
        <p:nvSpPr>
          <p:cNvPr id="10" name="矩形 9">
            <a:extLst>
              <a:ext uri="{FF2B5EF4-FFF2-40B4-BE49-F238E27FC236}">
                <a16:creationId xmlns:a16="http://schemas.microsoft.com/office/drawing/2014/main" id="{320CF25D-CA72-405A-A979-1223D91491B9}"/>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EC7D54BA-775A-4D52-98E8-C27FAC83D835}"/>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可用处理</a:t>
            </a:r>
          </a:p>
        </p:txBody>
      </p:sp>
      <p:sp>
        <p:nvSpPr>
          <p:cNvPr id="12" name="矩形 11">
            <a:extLst>
              <a:ext uri="{FF2B5EF4-FFF2-40B4-BE49-F238E27FC236}">
                <a16:creationId xmlns:a16="http://schemas.microsoft.com/office/drawing/2014/main" id="{D11DC2C9-23DE-42DC-9B2E-B9E2E230607B}"/>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842B6A29-021B-4590-B072-DFCF0E742AE8}"/>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program</a:t>
            </a:r>
          </a:p>
        </p:txBody>
      </p:sp>
      <p:sp>
        <p:nvSpPr>
          <p:cNvPr id="14" name="矩形 13">
            <a:extLst>
              <a:ext uri="{FF2B5EF4-FFF2-40B4-BE49-F238E27FC236}">
                <a16:creationId xmlns:a16="http://schemas.microsoft.com/office/drawing/2014/main" id="{FC6749F6-F5DE-40C5-9B5A-FF5AF939E301}"/>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C1EF445E-FDE6-4C55-A5E9-A2845AC13B2E}"/>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标称</a:t>
            </a:r>
          </a:p>
        </p:txBody>
      </p:sp>
      <p:sp>
        <p:nvSpPr>
          <p:cNvPr id="16" name="矩形 15">
            <a:extLst>
              <a:ext uri="{FF2B5EF4-FFF2-40B4-BE49-F238E27FC236}">
                <a16:creationId xmlns:a16="http://schemas.microsoft.com/office/drawing/2014/main" id="{FE7E6189-D0C3-4E09-9223-A997484153B7}"/>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124335BF-0085-476B-893F-2089AB020903}"/>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频数、</a:t>
            </a:r>
            <a:r>
              <a:rPr>
                <a:latin typeface="Times New Roman"/>
                <a:ea typeface="Times New Roman"/>
                <a:cs typeface="Times New Roman"/>
              </a:rPr>
              <a:t>one-hot encoding</a:t>
            </a:r>
          </a:p>
        </p:txBody>
      </p:sp>
      <p:sp>
        <p:nvSpPr>
          <p:cNvPr id="18" name="矩形 17">
            <a:extLst>
              <a:ext uri="{FF2B5EF4-FFF2-40B4-BE49-F238E27FC236}">
                <a16:creationId xmlns:a16="http://schemas.microsoft.com/office/drawing/2014/main" id="{0AE6C755-583A-4751-9D92-3B19C103B224}"/>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179C4D0E-866D-42FE-9676-CBDF32F7E6B0}"/>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engagement_level</a:t>
            </a:r>
          </a:p>
        </p:txBody>
      </p:sp>
      <p:sp>
        <p:nvSpPr>
          <p:cNvPr id="20" name="矩形 19">
            <a:extLst>
              <a:ext uri="{FF2B5EF4-FFF2-40B4-BE49-F238E27FC236}">
                <a16:creationId xmlns:a16="http://schemas.microsoft.com/office/drawing/2014/main" id="{8F1BF0FF-D9C3-4F08-AADE-57EFF3151EE1}"/>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C17F569D-73C4-4B2A-95C2-81889633314F}"/>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有序</a:t>
            </a:r>
          </a:p>
        </p:txBody>
      </p:sp>
      <p:sp>
        <p:nvSpPr>
          <p:cNvPr id="22" name="矩形 21">
            <a:extLst>
              <a:ext uri="{FF2B5EF4-FFF2-40B4-BE49-F238E27FC236}">
                <a16:creationId xmlns:a16="http://schemas.microsoft.com/office/drawing/2014/main" id="{B8E2D119-F59B-40BF-922A-6207BBAC9DEA}"/>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0FE4D80A-2C1E-4C5B-87B9-01BC8BA6F27F}"/>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秩、中位数、有序编码</a:t>
            </a:r>
          </a:p>
        </p:txBody>
      </p:sp>
      <p:sp>
        <p:nvSpPr>
          <p:cNvPr id="24" name="矩形 23">
            <a:extLst>
              <a:ext uri="{FF2B5EF4-FFF2-40B4-BE49-F238E27FC236}">
                <a16:creationId xmlns:a16="http://schemas.microsoft.com/office/drawing/2014/main" id="{826A6E3C-6C72-4A2C-A6AE-0FCBB4ACE769}"/>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3A16D5D0-179C-4D2D-BB79-2CAF2D9E2590}"/>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login_count</a:t>
            </a:r>
          </a:p>
        </p:txBody>
      </p:sp>
      <p:sp>
        <p:nvSpPr>
          <p:cNvPr id="26" name="矩形 25">
            <a:extLst>
              <a:ext uri="{FF2B5EF4-FFF2-40B4-BE49-F238E27FC236}">
                <a16:creationId xmlns:a16="http://schemas.microsoft.com/office/drawing/2014/main" id="{B9336879-5F4B-403B-A130-EB9C5350C770}"/>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4C0E77EA-A510-40E4-832E-A6C205346C3C}"/>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离散比率</a:t>
            </a:r>
          </a:p>
        </p:txBody>
      </p:sp>
      <p:sp>
        <p:nvSpPr>
          <p:cNvPr id="28" name="矩形 27">
            <a:extLst>
              <a:ext uri="{FF2B5EF4-FFF2-40B4-BE49-F238E27FC236}">
                <a16:creationId xmlns:a16="http://schemas.microsoft.com/office/drawing/2014/main" id="{86D97C05-52C2-4440-A962-AA9B973634AA}"/>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33018701-218F-4046-B09E-40BA2EE57358}"/>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均值、标准化、距离</a:t>
            </a:r>
          </a:p>
        </p:txBody>
      </p:sp>
      <p:sp>
        <p:nvSpPr>
          <p:cNvPr id="30" name="矩形 29">
            <a:extLst>
              <a:ext uri="{FF2B5EF4-FFF2-40B4-BE49-F238E27FC236}">
                <a16:creationId xmlns:a16="http://schemas.microsoft.com/office/drawing/2014/main" id="{2DB7BB34-9BFC-434A-ABD9-FC33C61C81B8}"/>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D5A1CA64-8361-42CA-AA89-362CE232F7A3}"/>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video_rate</a:t>
            </a:r>
          </a:p>
        </p:txBody>
      </p:sp>
      <p:sp>
        <p:nvSpPr>
          <p:cNvPr id="32" name="矩形 31">
            <a:extLst>
              <a:ext uri="{FF2B5EF4-FFF2-40B4-BE49-F238E27FC236}">
                <a16:creationId xmlns:a16="http://schemas.microsoft.com/office/drawing/2014/main" id="{ACA1C89B-514A-4806-B4B2-CA8E216F2382}"/>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928D97D9-7733-4DD2-8EA1-55670F2BFD32}"/>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连续比率</a:t>
            </a:r>
          </a:p>
        </p:txBody>
      </p:sp>
      <p:sp>
        <p:nvSpPr>
          <p:cNvPr id="34" name="矩形 33">
            <a:extLst>
              <a:ext uri="{FF2B5EF4-FFF2-40B4-BE49-F238E27FC236}">
                <a16:creationId xmlns:a16="http://schemas.microsoft.com/office/drawing/2014/main" id="{3A7461B0-642B-4A89-A48E-7E653701E597}"/>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37CF43F5-38DE-446F-A65E-B3F7E7EC715A}"/>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均值、分位数、归一化</a:t>
            </a:r>
          </a:p>
        </p:txBody>
      </p:sp>
      <p:sp>
        <p:nvSpPr>
          <p:cNvPr id="36" name="矩形 35">
            <a:extLst>
              <a:ext uri="{FF2B5EF4-FFF2-40B4-BE49-F238E27FC236}">
                <a16:creationId xmlns:a16="http://schemas.microsoft.com/office/drawing/2014/main" id="{B2C48AD4-445C-4B2D-ABB2-349B0461D827}"/>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CA543E09-8690-4FE9-99DE-5BA5616FC062}"/>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quiz_score</a:t>
            </a:r>
          </a:p>
        </p:txBody>
      </p:sp>
      <p:sp>
        <p:nvSpPr>
          <p:cNvPr id="38" name="矩形 37">
            <a:extLst>
              <a:ext uri="{FF2B5EF4-FFF2-40B4-BE49-F238E27FC236}">
                <a16:creationId xmlns:a16="http://schemas.microsoft.com/office/drawing/2014/main" id="{6FF2D6BA-6FFB-4BEC-8C6F-54F9C81CAA47}"/>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8AEB4BF0-A430-4525-B6C3-E8C252616B5A}"/>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连续近似区间</a:t>
            </a:r>
          </a:p>
        </p:txBody>
      </p:sp>
      <p:sp>
        <p:nvSpPr>
          <p:cNvPr id="40" name="矩形 39">
            <a:extLst>
              <a:ext uri="{FF2B5EF4-FFF2-40B4-BE49-F238E27FC236}">
                <a16:creationId xmlns:a16="http://schemas.microsoft.com/office/drawing/2014/main" id="{919EE436-21BC-4767-80A7-E691213019C2}"/>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72E83E81-0B87-4902-9B52-550BC1B644B1}"/>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均值、标准差、相关</a:t>
            </a:r>
          </a:p>
        </p:txBody>
      </p:sp>
      <p:sp>
        <p:nvSpPr>
          <p:cNvPr id="42" name="矩形 41">
            <a:extLst>
              <a:ext uri="{FF2B5EF4-FFF2-40B4-BE49-F238E27FC236}">
                <a16:creationId xmlns:a16="http://schemas.microsoft.com/office/drawing/2014/main" id="{C53ECA7A-BFBA-4B6D-9EE0-6424C4398B61}"/>
              </a:ext>
            </a:extLst>
          </p:cNvPr>
          <p:cNvSpPr>
            <a:spLocks noGrp="1"/>
          </p:cNvSpPr>
          <p:nvPr/>
        </p:nvSpPr>
        <p:spPr>
          <a:xfrm>
            <a:off x="666750" y="49339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43" name="矩形 42">
            <a:extLst>
              <a:ext uri="{FF2B5EF4-FFF2-40B4-BE49-F238E27FC236}">
                <a16:creationId xmlns:a16="http://schemas.microsoft.com/office/drawing/2014/main" id="{B2412FC7-604C-4F69-AA9B-8F4B6B805EB3}"/>
              </a:ext>
            </a:extLst>
          </p:cNvPr>
          <p:cNvSpPr>
            <a:spLocks noGrp="1"/>
          </p:cNvSpPr>
          <p:nvPr/>
        </p:nvSpPr>
        <p:spPr>
          <a:xfrm>
            <a:off x="819150" y="50673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dropout_next4w</a:t>
            </a:r>
          </a:p>
        </p:txBody>
      </p:sp>
      <p:sp>
        <p:nvSpPr>
          <p:cNvPr id="44" name="矩形 43">
            <a:extLst>
              <a:ext uri="{FF2B5EF4-FFF2-40B4-BE49-F238E27FC236}">
                <a16:creationId xmlns:a16="http://schemas.microsoft.com/office/drawing/2014/main" id="{D27607EE-6418-48D1-8631-C3FDEB57450B}"/>
              </a:ext>
            </a:extLst>
          </p:cNvPr>
          <p:cNvSpPr>
            <a:spLocks noGrp="1"/>
          </p:cNvSpPr>
          <p:nvPr/>
        </p:nvSpPr>
        <p:spPr>
          <a:xfrm>
            <a:off x="3048000" y="49339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5" name="矩形 44">
            <a:extLst>
              <a:ext uri="{FF2B5EF4-FFF2-40B4-BE49-F238E27FC236}">
                <a16:creationId xmlns:a16="http://schemas.microsoft.com/office/drawing/2014/main" id="{49FA6562-B48E-45A0-8E50-BFABE0413983}"/>
              </a:ext>
            </a:extLst>
          </p:cNvPr>
          <p:cNvSpPr>
            <a:spLocks noGrp="1"/>
          </p:cNvSpPr>
          <p:nvPr/>
        </p:nvSpPr>
        <p:spPr>
          <a:xfrm>
            <a:off x="3200400" y="50673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非对称二元</a:t>
            </a:r>
          </a:p>
        </p:txBody>
      </p:sp>
      <p:sp>
        <p:nvSpPr>
          <p:cNvPr id="46" name="矩形 45">
            <a:extLst>
              <a:ext uri="{FF2B5EF4-FFF2-40B4-BE49-F238E27FC236}">
                <a16:creationId xmlns:a16="http://schemas.microsoft.com/office/drawing/2014/main" id="{299830E8-F010-479A-978B-2CA3C9E2C7F8}"/>
              </a:ext>
            </a:extLst>
          </p:cNvPr>
          <p:cNvSpPr>
            <a:spLocks noGrp="1"/>
          </p:cNvSpPr>
          <p:nvPr/>
        </p:nvSpPr>
        <p:spPr>
          <a:xfrm>
            <a:off x="5619750" y="49339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7" name="矩形 46">
            <a:extLst>
              <a:ext uri="{FF2B5EF4-FFF2-40B4-BE49-F238E27FC236}">
                <a16:creationId xmlns:a16="http://schemas.microsoft.com/office/drawing/2014/main" id="{FBBF1633-6596-499F-B343-7904C66123C9}"/>
              </a:ext>
            </a:extLst>
          </p:cNvPr>
          <p:cNvSpPr>
            <a:spLocks noGrp="1"/>
          </p:cNvSpPr>
          <p:nvPr/>
        </p:nvSpPr>
        <p:spPr>
          <a:xfrm>
            <a:off x="5772150" y="50673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比例、分类标签</a:t>
            </a:r>
          </a:p>
        </p:txBody>
      </p:sp>
      <p:sp>
        <p:nvSpPr>
          <p:cNvPr id="48" name="矩形 47">
            <a:extLst>
              <a:ext uri="{FF2B5EF4-FFF2-40B4-BE49-F238E27FC236}">
                <a16:creationId xmlns:a16="http://schemas.microsoft.com/office/drawing/2014/main" id="{5CE9329C-05E5-4D49-B7A2-6702CA7D0305}"/>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9" name="矩形 48">
            <a:extLst>
              <a:ext uri="{FF2B5EF4-FFF2-40B4-BE49-F238E27FC236}">
                <a16:creationId xmlns:a16="http://schemas.microsoft.com/office/drawing/2014/main" id="{DA734252-3514-49B8-8720-9A88CC8BB2DD}"/>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变量字典应同时写数据类型、语义和允许操作。</a:t>
            </a:r>
          </a:p>
        </p:txBody>
      </p:sp>
    </p:spTree>
    <p:extLst>
      <p:ext uri="{BB962C8B-B14F-4D97-AF65-F5344CB8AC3E}">
        <p14:creationId xmlns:p14="http://schemas.microsoft.com/office/powerpoint/2010/main" val="876237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DAF979C3-3703-47B7-BF5A-ABB6EAD6C47F}"/>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0413AA7E-F5FD-4D6C-9373-B648E8DD1ED2}"/>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E417BC0A-AC90-4450-AB14-1070B118F822}"/>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54AB77DF-C485-4F95-B834-C38A79838671}"/>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判断属性类型时依次问四个问题</a:t>
            </a:r>
          </a:p>
        </p:txBody>
      </p:sp>
      <p:sp>
        <p:nvSpPr>
          <p:cNvPr id="5" name="矩形 4">
            <a:extLst>
              <a:ext uri="{FF2B5EF4-FFF2-40B4-BE49-F238E27FC236}">
                <a16:creationId xmlns:a16="http://schemas.microsoft.com/office/drawing/2014/main" id="{11142CFF-6D6B-44EF-AB54-51E0821A0777}"/>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28/90</a:t>
            </a:r>
          </a:p>
        </p:txBody>
      </p:sp>
      <p:sp>
        <p:nvSpPr>
          <p:cNvPr id="6" name="矩形 5">
            <a:extLst>
              <a:ext uri="{FF2B5EF4-FFF2-40B4-BE49-F238E27FC236}">
                <a16:creationId xmlns:a16="http://schemas.microsoft.com/office/drawing/2014/main" id="{346CAE10-536F-4210-AB6B-FC5F0D8BAF84}"/>
              </a:ext>
            </a:extLst>
          </p:cNvPr>
          <p:cNvSpPr>
            <a:spLocks noGrp="1"/>
          </p:cNvSpPr>
          <p:nvPr/>
        </p:nvSpPr>
        <p:spPr>
          <a:xfrm>
            <a:off x="647700" y="1847850"/>
            <a:ext cx="2543175" cy="1714500"/>
          </a:xfrm>
          <a:prstGeom prst="rect">
            <a:avLst/>
          </a:prstGeom>
          <a:solidFill>
            <a:srgbClr val="F3F7FC"/>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243805F3-81E6-4E06-BB70-4DE29C4F0F0B}"/>
              </a:ext>
            </a:extLst>
          </p:cNvPr>
          <p:cNvSpPr>
            <a:spLocks noGrp="1"/>
          </p:cNvSpPr>
          <p:nvPr/>
        </p:nvSpPr>
        <p:spPr>
          <a:xfrm>
            <a:off x="838200" y="2133600"/>
            <a:ext cx="2162175"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只是不同名称？</a:t>
            </a:r>
          </a:p>
        </p:txBody>
      </p:sp>
      <p:sp>
        <p:nvSpPr>
          <p:cNvPr id="8" name="矩形 7">
            <a:extLst>
              <a:ext uri="{FF2B5EF4-FFF2-40B4-BE49-F238E27FC236}">
                <a16:creationId xmlns:a16="http://schemas.microsoft.com/office/drawing/2014/main" id="{CE30B710-7451-4C45-BBD1-F71AEA09628F}"/>
              </a:ext>
            </a:extLst>
          </p:cNvPr>
          <p:cNvSpPr>
            <a:spLocks noGrp="1"/>
          </p:cNvSpPr>
          <p:nvPr/>
        </p:nvSpPr>
        <p:spPr>
          <a:xfrm>
            <a:off x="1171575" y="2857500"/>
            <a:ext cx="1495425" cy="457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9" name="矩形 8">
            <a:extLst>
              <a:ext uri="{FF2B5EF4-FFF2-40B4-BE49-F238E27FC236}">
                <a16:creationId xmlns:a16="http://schemas.microsoft.com/office/drawing/2014/main" id="{BA56F58F-0635-4DB8-A8D9-D1D42CE8E2E4}"/>
              </a:ext>
            </a:extLst>
          </p:cNvPr>
          <p:cNvSpPr>
            <a:spLocks noGrp="1"/>
          </p:cNvSpPr>
          <p:nvPr/>
        </p:nvSpPr>
        <p:spPr>
          <a:xfrm>
            <a:off x="1266825" y="2971800"/>
            <a:ext cx="1304925" cy="228600"/>
          </a:xfrm>
          <a:prstGeom prst="rect">
            <a:avLst/>
          </a:prstGeom>
          <a:solidFill>
            <a:srgbClr val="014DA1"/>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黑体"/>
                <a:ea typeface="黑体"/>
                <a:cs typeface="黑体"/>
              </a:rPr>
              <a:t>标称</a:t>
            </a:r>
          </a:p>
        </p:txBody>
      </p:sp>
      <p:sp>
        <p:nvSpPr>
          <p:cNvPr id="10" name="矩形 9">
            <a:extLst>
              <a:ext uri="{FF2B5EF4-FFF2-40B4-BE49-F238E27FC236}">
                <a16:creationId xmlns:a16="http://schemas.microsoft.com/office/drawing/2014/main" id="{71854833-80A3-4076-BD94-C8634E4EB8F4}"/>
              </a:ext>
            </a:extLst>
          </p:cNvPr>
          <p:cNvSpPr>
            <a:spLocks noGrp="1"/>
          </p:cNvSpPr>
          <p:nvPr/>
        </p:nvSpPr>
        <p:spPr>
          <a:xfrm>
            <a:off x="3190875" y="2476500"/>
            <a:ext cx="209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B4964B"/>
                </a:solidFill>
                <a:latin typeface="黑体"/>
                <a:ea typeface="黑体"/>
                <a:cs typeface="黑体"/>
              </a:defRPr>
            </a:pPr>
            <a:r>
              <a:rPr>
                <a:latin typeface="Times New Roman"/>
                <a:ea typeface="Times New Roman"/>
                <a:cs typeface="Times New Roman"/>
              </a:rPr>
              <a:t>→</a:t>
            </a:r>
          </a:p>
        </p:txBody>
      </p:sp>
      <p:sp>
        <p:nvSpPr>
          <p:cNvPr id="11" name="矩形 10">
            <a:extLst>
              <a:ext uri="{FF2B5EF4-FFF2-40B4-BE49-F238E27FC236}">
                <a16:creationId xmlns:a16="http://schemas.microsoft.com/office/drawing/2014/main" id="{3BA8180F-770E-4933-8181-28B69395B92B}"/>
              </a:ext>
            </a:extLst>
          </p:cNvPr>
          <p:cNvSpPr>
            <a:spLocks noGrp="1"/>
          </p:cNvSpPr>
          <p:nvPr/>
        </p:nvSpPr>
        <p:spPr>
          <a:xfrm>
            <a:off x="3400425" y="1847850"/>
            <a:ext cx="2543175" cy="1714500"/>
          </a:xfrm>
          <a:prstGeom prst="rect">
            <a:avLst/>
          </a:prstGeom>
          <a:solidFill>
            <a:srgbClr val="FFF9ED"/>
          </a:solidFill>
          <a:ln w="9525">
            <a:solidFill>
              <a:srgbClr val="B8C3D1"/>
            </a:solidFill>
            <a:prstDash val="solid"/>
          </a:ln>
        </p:spPr>
        <p:txBody>
          <a:bodyPr/>
          <a:lstStyle/>
          <a:p>
            <a:endParaRPr lang="zh-CN" altLang="en-US"/>
          </a:p>
        </p:txBody>
      </p:sp>
      <p:sp>
        <p:nvSpPr>
          <p:cNvPr id="12" name="矩形 11">
            <a:extLst>
              <a:ext uri="{FF2B5EF4-FFF2-40B4-BE49-F238E27FC236}">
                <a16:creationId xmlns:a16="http://schemas.microsoft.com/office/drawing/2014/main" id="{E84F0A25-9250-440B-88CE-56F8D21B9B5F}"/>
              </a:ext>
            </a:extLst>
          </p:cNvPr>
          <p:cNvSpPr>
            <a:spLocks noGrp="1"/>
          </p:cNvSpPr>
          <p:nvPr/>
        </p:nvSpPr>
        <p:spPr>
          <a:xfrm>
            <a:off x="3590925" y="2133600"/>
            <a:ext cx="2162175"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能形成自然顺序？</a:t>
            </a:r>
          </a:p>
        </p:txBody>
      </p:sp>
      <p:sp>
        <p:nvSpPr>
          <p:cNvPr id="13" name="矩形 12">
            <a:extLst>
              <a:ext uri="{FF2B5EF4-FFF2-40B4-BE49-F238E27FC236}">
                <a16:creationId xmlns:a16="http://schemas.microsoft.com/office/drawing/2014/main" id="{D2E70A80-F94B-4A9D-9914-2F42180912CA}"/>
              </a:ext>
            </a:extLst>
          </p:cNvPr>
          <p:cNvSpPr>
            <a:spLocks noGrp="1"/>
          </p:cNvSpPr>
          <p:nvPr/>
        </p:nvSpPr>
        <p:spPr>
          <a:xfrm>
            <a:off x="3924300" y="2857500"/>
            <a:ext cx="1495425" cy="4572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34E6CA21-94C4-4CC3-A31B-7C841F238C98}"/>
              </a:ext>
            </a:extLst>
          </p:cNvPr>
          <p:cNvSpPr>
            <a:spLocks noGrp="1"/>
          </p:cNvSpPr>
          <p:nvPr/>
        </p:nvSpPr>
        <p:spPr>
          <a:xfrm>
            <a:off x="4019550" y="2971800"/>
            <a:ext cx="1304925" cy="228600"/>
          </a:xfrm>
          <a:prstGeom prst="rect">
            <a:avLst/>
          </a:prstGeom>
          <a:solidFill>
            <a:srgbClr val="B4964B"/>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黑体"/>
                <a:ea typeface="黑体"/>
                <a:cs typeface="黑体"/>
              </a:rPr>
              <a:t>有序</a:t>
            </a:r>
          </a:p>
        </p:txBody>
      </p:sp>
      <p:sp>
        <p:nvSpPr>
          <p:cNvPr id="15" name="矩形 14">
            <a:extLst>
              <a:ext uri="{FF2B5EF4-FFF2-40B4-BE49-F238E27FC236}">
                <a16:creationId xmlns:a16="http://schemas.microsoft.com/office/drawing/2014/main" id="{7409258D-4A6B-4D16-B315-1545AF559B1E}"/>
              </a:ext>
            </a:extLst>
          </p:cNvPr>
          <p:cNvSpPr>
            <a:spLocks noGrp="1"/>
          </p:cNvSpPr>
          <p:nvPr/>
        </p:nvSpPr>
        <p:spPr>
          <a:xfrm>
            <a:off x="5943600" y="2476500"/>
            <a:ext cx="209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B4964B"/>
                </a:solidFill>
                <a:latin typeface="黑体"/>
                <a:ea typeface="黑体"/>
                <a:cs typeface="黑体"/>
              </a:defRPr>
            </a:pPr>
            <a:r>
              <a:rPr>
                <a:latin typeface="Times New Roman"/>
                <a:ea typeface="Times New Roman"/>
                <a:cs typeface="Times New Roman"/>
              </a:rPr>
              <a:t>→</a:t>
            </a:r>
          </a:p>
        </p:txBody>
      </p:sp>
      <p:sp>
        <p:nvSpPr>
          <p:cNvPr id="16" name="矩形 15">
            <a:extLst>
              <a:ext uri="{FF2B5EF4-FFF2-40B4-BE49-F238E27FC236}">
                <a16:creationId xmlns:a16="http://schemas.microsoft.com/office/drawing/2014/main" id="{8FF20786-06B6-4DC1-A526-1F66D272629B}"/>
              </a:ext>
            </a:extLst>
          </p:cNvPr>
          <p:cNvSpPr>
            <a:spLocks noGrp="1"/>
          </p:cNvSpPr>
          <p:nvPr/>
        </p:nvSpPr>
        <p:spPr>
          <a:xfrm>
            <a:off x="6153150" y="1847850"/>
            <a:ext cx="2543175" cy="1714500"/>
          </a:xfrm>
          <a:prstGeom prst="rect">
            <a:avLst/>
          </a:prstGeom>
          <a:solidFill>
            <a:srgbClr val="F3F7FC"/>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C942ABED-0259-4022-85F3-218C465522DC}"/>
              </a:ext>
            </a:extLst>
          </p:cNvPr>
          <p:cNvSpPr>
            <a:spLocks noGrp="1"/>
          </p:cNvSpPr>
          <p:nvPr/>
        </p:nvSpPr>
        <p:spPr>
          <a:xfrm>
            <a:off x="6343650" y="2133600"/>
            <a:ext cx="2162175"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相邻差值可比较？</a:t>
            </a:r>
          </a:p>
        </p:txBody>
      </p:sp>
      <p:sp>
        <p:nvSpPr>
          <p:cNvPr id="18" name="矩形 17">
            <a:extLst>
              <a:ext uri="{FF2B5EF4-FFF2-40B4-BE49-F238E27FC236}">
                <a16:creationId xmlns:a16="http://schemas.microsoft.com/office/drawing/2014/main" id="{D06C9257-A6B6-45EE-83F7-E0468E8F9591}"/>
              </a:ext>
            </a:extLst>
          </p:cNvPr>
          <p:cNvSpPr>
            <a:spLocks noGrp="1"/>
          </p:cNvSpPr>
          <p:nvPr/>
        </p:nvSpPr>
        <p:spPr>
          <a:xfrm>
            <a:off x="6677025" y="2857500"/>
            <a:ext cx="1495425" cy="457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A8319455-E1FD-441B-A06B-F7C87712D00D}"/>
              </a:ext>
            </a:extLst>
          </p:cNvPr>
          <p:cNvSpPr>
            <a:spLocks noGrp="1"/>
          </p:cNvSpPr>
          <p:nvPr/>
        </p:nvSpPr>
        <p:spPr>
          <a:xfrm>
            <a:off x="6772275" y="2971800"/>
            <a:ext cx="1304925" cy="228600"/>
          </a:xfrm>
          <a:prstGeom prst="rect">
            <a:avLst/>
          </a:prstGeom>
          <a:solidFill>
            <a:srgbClr val="014DA1"/>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黑体"/>
                <a:ea typeface="黑体"/>
                <a:cs typeface="黑体"/>
              </a:rPr>
              <a:t>区间</a:t>
            </a:r>
          </a:p>
        </p:txBody>
      </p:sp>
      <p:sp>
        <p:nvSpPr>
          <p:cNvPr id="20" name="矩形 19">
            <a:extLst>
              <a:ext uri="{FF2B5EF4-FFF2-40B4-BE49-F238E27FC236}">
                <a16:creationId xmlns:a16="http://schemas.microsoft.com/office/drawing/2014/main" id="{65023B35-2977-4D0D-929B-C7698BA63307}"/>
              </a:ext>
            </a:extLst>
          </p:cNvPr>
          <p:cNvSpPr>
            <a:spLocks noGrp="1"/>
          </p:cNvSpPr>
          <p:nvPr/>
        </p:nvSpPr>
        <p:spPr>
          <a:xfrm>
            <a:off x="8696325" y="2476500"/>
            <a:ext cx="2095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B4964B"/>
                </a:solidFill>
                <a:latin typeface="黑体"/>
                <a:ea typeface="黑体"/>
                <a:cs typeface="黑体"/>
              </a:defRPr>
            </a:pPr>
            <a:r>
              <a:rPr>
                <a:latin typeface="Times New Roman"/>
                <a:ea typeface="Times New Roman"/>
                <a:cs typeface="Times New Roman"/>
              </a:rPr>
              <a:t>→</a:t>
            </a:r>
          </a:p>
        </p:txBody>
      </p:sp>
      <p:sp>
        <p:nvSpPr>
          <p:cNvPr id="21" name="矩形 20">
            <a:extLst>
              <a:ext uri="{FF2B5EF4-FFF2-40B4-BE49-F238E27FC236}">
                <a16:creationId xmlns:a16="http://schemas.microsoft.com/office/drawing/2014/main" id="{42050E5A-81BE-4B0E-81A6-D2E84BFD0703}"/>
              </a:ext>
            </a:extLst>
          </p:cNvPr>
          <p:cNvSpPr>
            <a:spLocks noGrp="1"/>
          </p:cNvSpPr>
          <p:nvPr/>
        </p:nvSpPr>
        <p:spPr>
          <a:xfrm>
            <a:off x="8905875" y="1847850"/>
            <a:ext cx="2543175" cy="1714500"/>
          </a:xfrm>
          <a:prstGeom prst="rect">
            <a:avLst/>
          </a:prstGeom>
          <a:solidFill>
            <a:srgbClr val="FFF9ED"/>
          </a:solidFill>
          <a:ln w="9525">
            <a:solidFill>
              <a:srgbClr val="B8C3D1"/>
            </a:solidFill>
            <a:prstDash val="solid"/>
          </a:ln>
        </p:spPr>
        <p:txBody>
          <a:bodyPr/>
          <a:lstStyle/>
          <a:p>
            <a:endParaRPr lang="zh-CN" altLang="en-US"/>
          </a:p>
        </p:txBody>
      </p:sp>
      <p:sp>
        <p:nvSpPr>
          <p:cNvPr id="22" name="矩形 21">
            <a:extLst>
              <a:ext uri="{FF2B5EF4-FFF2-40B4-BE49-F238E27FC236}">
                <a16:creationId xmlns:a16="http://schemas.microsoft.com/office/drawing/2014/main" id="{6D854AE3-FBAF-48BC-BD50-0CD6AD826F50}"/>
              </a:ext>
            </a:extLst>
          </p:cNvPr>
          <p:cNvSpPr>
            <a:spLocks noGrp="1"/>
          </p:cNvSpPr>
          <p:nvPr/>
        </p:nvSpPr>
        <p:spPr>
          <a:xfrm>
            <a:off x="9096375" y="2133600"/>
            <a:ext cx="2162175"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零点表示不存在？</a:t>
            </a:r>
          </a:p>
        </p:txBody>
      </p:sp>
      <p:sp>
        <p:nvSpPr>
          <p:cNvPr id="23" name="矩形 22">
            <a:extLst>
              <a:ext uri="{FF2B5EF4-FFF2-40B4-BE49-F238E27FC236}">
                <a16:creationId xmlns:a16="http://schemas.microsoft.com/office/drawing/2014/main" id="{18B26988-FFAA-42EF-AB5A-873A189345AF}"/>
              </a:ext>
            </a:extLst>
          </p:cNvPr>
          <p:cNvSpPr>
            <a:spLocks noGrp="1"/>
          </p:cNvSpPr>
          <p:nvPr/>
        </p:nvSpPr>
        <p:spPr>
          <a:xfrm>
            <a:off x="9429750" y="2857500"/>
            <a:ext cx="1495425" cy="4572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32644A12-A358-495A-BD84-610EF0DB82AC}"/>
              </a:ext>
            </a:extLst>
          </p:cNvPr>
          <p:cNvSpPr>
            <a:spLocks noGrp="1"/>
          </p:cNvSpPr>
          <p:nvPr/>
        </p:nvSpPr>
        <p:spPr>
          <a:xfrm>
            <a:off x="9525000" y="2971800"/>
            <a:ext cx="1304925" cy="228600"/>
          </a:xfrm>
          <a:prstGeom prst="rect">
            <a:avLst/>
          </a:prstGeom>
          <a:solidFill>
            <a:srgbClr val="B4964B"/>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黑体"/>
                <a:ea typeface="黑体"/>
                <a:cs typeface="黑体"/>
              </a:rPr>
              <a:t>比率</a:t>
            </a:r>
          </a:p>
        </p:txBody>
      </p:sp>
      <p:sp>
        <p:nvSpPr>
          <p:cNvPr id="25" name="矩形 24">
            <a:extLst>
              <a:ext uri="{FF2B5EF4-FFF2-40B4-BE49-F238E27FC236}">
                <a16:creationId xmlns:a16="http://schemas.microsoft.com/office/drawing/2014/main" id="{2A23B4C5-E35C-4CD0-8B47-164615AF648C}"/>
              </a:ext>
            </a:extLst>
          </p:cNvPr>
          <p:cNvSpPr>
            <a:spLocks noGrp="1"/>
          </p:cNvSpPr>
          <p:nvPr/>
        </p:nvSpPr>
        <p:spPr>
          <a:xfrm>
            <a:off x="1838325" y="3752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4B5563"/>
                </a:solidFill>
                <a:latin typeface="黑体"/>
                <a:ea typeface="黑体"/>
                <a:cs typeface="黑体"/>
              </a:defRPr>
            </a:pPr>
            <a:r>
              <a:rPr>
                <a:latin typeface="黑体"/>
                <a:ea typeface="黑体"/>
                <a:cs typeface="黑体"/>
              </a:rPr>
              <a:t>否</a:t>
            </a:r>
          </a:p>
        </p:txBody>
      </p:sp>
      <p:sp>
        <p:nvSpPr>
          <p:cNvPr id="26" name="矩形 25">
            <a:extLst>
              <a:ext uri="{FF2B5EF4-FFF2-40B4-BE49-F238E27FC236}">
                <a16:creationId xmlns:a16="http://schemas.microsoft.com/office/drawing/2014/main" id="{22FB5F60-E3F0-452B-9E71-82A5F2E6C9F3}"/>
              </a:ext>
            </a:extLst>
          </p:cNvPr>
          <p:cNvSpPr>
            <a:spLocks noGrp="1"/>
          </p:cNvSpPr>
          <p:nvPr/>
        </p:nvSpPr>
        <p:spPr>
          <a:xfrm>
            <a:off x="4591050" y="3752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4B5563"/>
                </a:solidFill>
                <a:latin typeface="黑体"/>
                <a:ea typeface="黑体"/>
                <a:cs typeface="黑体"/>
              </a:defRPr>
            </a:pPr>
            <a:r>
              <a:rPr>
                <a:latin typeface="黑体"/>
                <a:ea typeface="黑体"/>
                <a:cs typeface="黑体"/>
              </a:rPr>
              <a:t>否</a:t>
            </a:r>
          </a:p>
        </p:txBody>
      </p:sp>
      <p:sp>
        <p:nvSpPr>
          <p:cNvPr id="27" name="矩形 26">
            <a:extLst>
              <a:ext uri="{FF2B5EF4-FFF2-40B4-BE49-F238E27FC236}">
                <a16:creationId xmlns:a16="http://schemas.microsoft.com/office/drawing/2014/main" id="{11B34D9B-D088-47C6-BDA6-365770A1886C}"/>
              </a:ext>
            </a:extLst>
          </p:cNvPr>
          <p:cNvSpPr>
            <a:spLocks noGrp="1"/>
          </p:cNvSpPr>
          <p:nvPr/>
        </p:nvSpPr>
        <p:spPr>
          <a:xfrm>
            <a:off x="7343775" y="3752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4B5563"/>
                </a:solidFill>
                <a:latin typeface="黑体"/>
                <a:ea typeface="黑体"/>
                <a:cs typeface="黑体"/>
              </a:defRPr>
            </a:pPr>
            <a:r>
              <a:rPr>
                <a:latin typeface="黑体"/>
                <a:ea typeface="黑体"/>
                <a:cs typeface="黑体"/>
              </a:rPr>
              <a:t>否</a:t>
            </a:r>
          </a:p>
        </p:txBody>
      </p:sp>
      <p:sp>
        <p:nvSpPr>
          <p:cNvPr id="28" name="矩形 27">
            <a:extLst>
              <a:ext uri="{FF2B5EF4-FFF2-40B4-BE49-F238E27FC236}">
                <a16:creationId xmlns:a16="http://schemas.microsoft.com/office/drawing/2014/main" id="{B18B9733-8A86-4958-9616-28951C2A650F}"/>
              </a:ext>
            </a:extLst>
          </p:cNvPr>
          <p:cNvSpPr>
            <a:spLocks noGrp="1"/>
          </p:cNvSpPr>
          <p:nvPr/>
        </p:nvSpPr>
        <p:spPr>
          <a:xfrm>
            <a:off x="3257550" y="4324350"/>
            <a:ext cx="56769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是 </a:t>
            </a:r>
            <a:r>
              <a:rPr>
                <a:latin typeface="Times New Roman"/>
                <a:ea typeface="Times New Roman"/>
                <a:cs typeface="Times New Roman"/>
              </a:rPr>
              <a:t>→ </a:t>
            </a:r>
            <a:r>
              <a:rPr>
                <a:latin typeface="黑体"/>
                <a:ea typeface="黑体"/>
                <a:cs typeface="黑体"/>
              </a:rPr>
              <a:t>得到当前类型；否 </a:t>
            </a:r>
            <a:r>
              <a:rPr>
                <a:latin typeface="Times New Roman"/>
                <a:ea typeface="Times New Roman"/>
                <a:cs typeface="Times New Roman"/>
              </a:rPr>
              <a:t>→ </a:t>
            </a:r>
            <a:r>
              <a:rPr>
                <a:latin typeface="黑体"/>
                <a:ea typeface="黑体"/>
                <a:cs typeface="黑体"/>
              </a:rPr>
              <a:t>继续向右判断</a:t>
            </a:r>
          </a:p>
        </p:txBody>
      </p:sp>
      <p:sp>
        <p:nvSpPr>
          <p:cNvPr id="29" name="矩形 28">
            <a:extLst>
              <a:ext uri="{FF2B5EF4-FFF2-40B4-BE49-F238E27FC236}">
                <a16:creationId xmlns:a16="http://schemas.microsoft.com/office/drawing/2014/main" id="{F0EBF21E-615B-4DEF-AD50-6DFB5FF7DBE1}"/>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0" name="矩形 29">
            <a:extLst>
              <a:ext uri="{FF2B5EF4-FFF2-40B4-BE49-F238E27FC236}">
                <a16:creationId xmlns:a16="http://schemas.microsoft.com/office/drawing/2014/main" id="{94323CED-4A95-4D3F-919A-C65F08FDAB0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属性类型可以通过允许的比较和运算推导出来。</a:t>
            </a:r>
          </a:p>
        </p:txBody>
      </p:sp>
    </p:spTree>
    <p:extLst>
      <p:ext uri="{BB962C8B-B14F-4D97-AF65-F5344CB8AC3E}">
        <p14:creationId xmlns:p14="http://schemas.microsoft.com/office/powerpoint/2010/main" val="1035102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BBC38E25-BF5D-45F8-A333-97036D4DEF2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6923A97-73EF-473C-9A4F-92C6FBB34B82}"/>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162AE207-2686-4B02-8510-6219D96173C0}"/>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B5080E93-9338-4B0A-9BFC-2DA067E6DB57}"/>
              </a:ext>
            </a:extLst>
          </p:cNvPr>
          <p:cNvSpPr>
            <a:spLocks noGrp="1"/>
          </p:cNvSpPr>
          <p:nvPr/>
        </p:nvSpPr>
        <p:spPr>
          <a:xfrm>
            <a:off x="685800" y="1752600"/>
            <a:ext cx="45720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00204A"/>
                </a:solidFill>
                <a:latin typeface="黑体"/>
                <a:ea typeface="黑体"/>
                <a:cs typeface="黑体"/>
              </a:defRPr>
            </a:pPr>
            <a:r>
              <a:rPr>
                <a:latin typeface="Times New Roman"/>
                <a:ea typeface="Times New Roman"/>
                <a:cs typeface="Times New Roman"/>
              </a:rPr>
              <a:t>Part 3 · </a:t>
            </a:r>
            <a:r>
              <a:rPr>
                <a:latin typeface="黑体"/>
                <a:ea typeface="黑体"/>
                <a:cs typeface="黑体"/>
              </a:rPr>
              <a:t>数据质量</a:t>
            </a:r>
          </a:p>
        </p:txBody>
      </p:sp>
      <p:sp>
        <p:nvSpPr>
          <p:cNvPr id="5" name="矩形 4">
            <a:extLst>
              <a:ext uri="{FF2B5EF4-FFF2-40B4-BE49-F238E27FC236}">
                <a16:creationId xmlns:a16="http://schemas.microsoft.com/office/drawing/2014/main" id="{DF0B70DB-7A15-4FEA-B475-EF0ED8B802ED}"/>
              </a:ext>
            </a:extLst>
          </p:cNvPr>
          <p:cNvSpPr>
            <a:spLocks noGrp="1"/>
          </p:cNvSpPr>
          <p:nvPr/>
        </p:nvSpPr>
        <p:spPr>
          <a:xfrm>
            <a:off x="685800" y="3009900"/>
            <a:ext cx="42862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14DA1"/>
                </a:solidFill>
                <a:latin typeface="黑体"/>
                <a:ea typeface="黑体"/>
                <a:cs typeface="黑体"/>
              </a:defRPr>
            </a:pPr>
            <a:r>
              <a:rPr>
                <a:latin typeface="黑体"/>
                <a:ea typeface="黑体"/>
                <a:cs typeface="黑体"/>
              </a:rPr>
              <a:t>识别缺失、噪声、异常、重复与标签错误</a:t>
            </a:r>
          </a:p>
        </p:txBody>
      </p:sp>
      <p:sp>
        <p:nvSpPr>
          <p:cNvPr id="6" name="矩形 5">
            <a:extLst>
              <a:ext uri="{FF2B5EF4-FFF2-40B4-BE49-F238E27FC236}">
                <a16:creationId xmlns:a16="http://schemas.microsoft.com/office/drawing/2014/main" id="{CC1332C5-1DB3-4A40-BFBC-DB31C6100CE7}"/>
              </a:ext>
            </a:extLst>
          </p:cNvPr>
          <p:cNvSpPr>
            <a:spLocks noGrp="1"/>
          </p:cNvSpPr>
          <p:nvPr/>
        </p:nvSpPr>
        <p:spPr>
          <a:xfrm>
            <a:off x="685800" y="4038600"/>
            <a:ext cx="3905250"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EA9E0AC4-4669-491D-A35D-D6F8E767FEFB}"/>
              </a:ext>
            </a:extLst>
          </p:cNvPr>
          <p:cNvSpPr>
            <a:spLocks noGrp="1"/>
          </p:cNvSpPr>
          <p:nvPr/>
        </p:nvSpPr>
        <p:spPr>
          <a:xfrm>
            <a:off x="54292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26" name="图片 25"/>
          <p:cNvPicPr>
            <a:picLocks noChangeAspect="1"/>
          </p:cNvPicPr>
          <p:nvPr/>
        </p:nvPicPr>
        <p:blipFill>
          <a:blip r:embed="rId3"/>
          <a:srcRect l="25247" r="25247"/>
          <a:stretch>
            <a:fillRect/>
          </a:stretch>
        </p:blipFill>
        <p:spPr>
          <a:xfrm>
            <a:off x="5429250" y="1257300"/>
            <a:ext cx="1924050" cy="3409950"/>
          </a:xfrm>
          <a:prstGeom prst="rect">
            <a:avLst/>
          </a:prstGeom>
        </p:spPr>
      </p:pic>
      <p:sp>
        <p:nvSpPr>
          <p:cNvPr id="9" name="矩形 8">
            <a:extLst>
              <a:ext uri="{FF2B5EF4-FFF2-40B4-BE49-F238E27FC236}">
                <a16:creationId xmlns:a16="http://schemas.microsoft.com/office/drawing/2014/main" id="{101734C8-4C54-456E-8EC8-E5DA30D23866}"/>
              </a:ext>
            </a:extLst>
          </p:cNvPr>
          <p:cNvSpPr>
            <a:spLocks noGrp="1"/>
          </p:cNvSpPr>
          <p:nvPr/>
        </p:nvSpPr>
        <p:spPr>
          <a:xfrm>
            <a:off x="54292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A077CF78-3A95-47FF-8344-CBFBD2E3FC7A}"/>
              </a:ext>
            </a:extLst>
          </p:cNvPr>
          <p:cNvSpPr>
            <a:spLocks noGrp="1"/>
          </p:cNvSpPr>
          <p:nvPr/>
        </p:nvSpPr>
        <p:spPr>
          <a:xfrm>
            <a:off x="55245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采集误差</a:t>
            </a:r>
          </a:p>
        </p:txBody>
      </p:sp>
      <p:sp>
        <p:nvSpPr>
          <p:cNvPr id="11" name="矩形 10">
            <a:extLst>
              <a:ext uri="{FF2B5EF4-FFF2-40B4-BE49-F238E27FC236}">
                <a16:creationId xmlns:a16="http://schemas.microsoft.com/office/drawing/2014/main" id="{351C7B9F-83BC-40B6-809D-D490FCE2FD13}"/>
              </a:ext>
            </a:extLst>
          </p:cNvPr>
          <p:cNvSpPr>
            <a:spLocks noGrp="1"/>
          </p:cNvSpPr>
          <p:nvPr/>
        </p:nvSpPr>
        <p:spPr>
          <a:xfrm>
            <a:off x="750570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0" name="图片 29"/>
          <p:cNvPicPr>
            <a:picLocks noChangeAspect="1"/>
          </p:cNvPicPr>
          <p:nvPr/>
        </p:nvPicPr>
        <p:blipFill>
          <a:blip r:embed="rId4"/>
          <a:srcRect l="27138" r="27138"/>
          <a:stretch>
            <a:fillRect/>
          </a:stretch>
        </p:blipFill>
        <p:spPr>
          <a:xfrm>
            <a:off x="7505700" y="1257300"/>
            <a:ext cx="1924050" cy="3409950"/>
          </a:xfrm>
          <a:prstGeom prst="rect">
            <a:avLst/>
          </a:prstGeom>
        </p:spPr>
      </p:pic>
      <p:sp>
        <p:nvSpPr>
          <p:cNvPr id="13" name="矩形 12">
            <a:extLst>
              <a:ext uri="{FF2B5EF4-FFF2-40B4-BE49-F238E27FC236}">
                <a16:creationId xmlns:a16="http://schemas.microsoft.com/office/drawing/2014/main" id="{E86932F8-7B38-4FA7-8086-55274ED2AE16}"/>
              </a:ext>
            </a:extLst>
          </p:cNvPr>
          <p:cNvSpPr>
            <a:spLocks noGrp="1"/>
          </p:cNvSpPr>
          <p:nvPr/>
        </p:nvSpPr>
        <p:spPr>
          <a:xfrm>
            <a:off x="750570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3AA86DFC-C976-4102-8352-0A5BB497CBA8}"/>
              </a:ext>
            </a:extLst>
          </p:cNvPr>
          <p:cNvSpPr>
            <a:spLocks noGrp="1"/>
          </p:cNvSpPr>
          <p:nvPr/>
        </p:nvSpPr>
        <p:spPr>
          <a:xfrm>
            <a:off x="760095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动态数据</a:t>
            </a:r>
          </a:p>
        </p:txBody>
      </p:sp>
      <p:sp>
        <p:nvSpPr>
          <p:cNvPr id="15" name="矩形 14">
            <a:extLst>
              <a:ext uri="{FF2B5EF4-FFF2-40B4-BE49-F238E27FC236}">
                <a16:creationId xmlns:a16="http://schemas.microsoft.com/office/drawing/2014/main" id="{3085F27D-139E-44BC-B956-A3DB63375B2E}"/>
              </a:ext>
            </a:extLst>
          </p:cNvPr>
          <p:cNvSpPr>
            <a:spLocks noGrp="1"/>
          </p:cNvSpPr>
          <p:nvPr/>
        </p:nvSpPr>
        <p:spPr>
          <a:xfrm>
            <a:off x="95821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4" name="图片 33"/>
          <p:cNvPicPr>
            <a:picLocks noChangeAspect="1"/>
          </p:cNvPicPr>
          <p:nvPr/>
        </p:nvPicPr>
        <p:blipFill>
          <a:blip r:embed="rId5"/>
          <a:srcRect l="24423" r="24423"/>
          <a:stretch>
            <a:fillRect/>
          </a:stretch>
        </p:blipFill>
        <p:spPr>
          <a:xfrm>
            <a:off x="9582150" y="1257300"/>
            <a:ext cx="1924050" cy="3409950"/>
          </a:xfrm>
          <a:prstGeom prst="rect">
            <a:avLst/>
          </a:prstGeom>
        </p:spPr>
      </p:pic>
      <p:sp>
        <p:nvSpPr>
          <p:cNvPr id="17" name="矩形 16">
            <a:extLst>
              <a:ext uri="{FF2B5EF4-FFF2-40B4-BE49-F238E27FC236}">
                <a16:creationId xmlns:a16="http://schemas.microsoft.com/office/drawing/2014/main" id="{2D005953-BA9E-46C7-8A18-63799E72FEE3}"/>
              </a:ext>
            </a:extLst>
          </p:cNvPr>
          <p:cNvSpPr>
            <a:spLocks noGrp="1"/>
          </p:cNvSpPr>
          <p:nvPr/>
        </p:nvSpPr>
        <p:spPr>
          <a:xfrm>
            <a:off x="95821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27E2A2E2-670E-4FBA-B22D-B491DBBA8E56}"/>
              </a:ext>
            </a:extLst>
          </p:cNvPr>
          <p:cNvSpPr>
            <a:spLocks noGrp="1"/>
          </p:cNvSpPr>
          <p:nvPr/>
        </p:nvSpPr>
        <p:spPr>
          <a:xfrm>
            <a:off x="96774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异常模式</a:t>
            </a:r>
          </a:p>
        </p:txBody>
      </p:sp>
    </p:spTree>
    <p:extLst>
      <p:ext uri="{BB962C8B-B14F-4D97-AF65-F5344CB8AC3E}">
        <p14:creationId xmlns:p14="http://schemas.microsoft.com/office/powerpoint/2010/main" val="893505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48DE9DA5-B105-4BFA-8B20-FF4E50EE4C6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922E447C-4519-411A-B35B-2130BAD8C132}"/>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6AA59BAE-87C7-4155-A12D-0C42DB4F841F}"/>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6EC3AF29-256A-4441-BB1B-364B178B821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数据质量取决于用途</a:t>
            </a:r>
          </a:p>
        </p:txBody>
      </p:sp>
      <p:sp>
        <p:nvSpPr>
          <p:cNvPr id="5" name="矩形 4">
            <a:extLst>
              <a:ext uri="{FF2B5EF4-FFF2-40B4-BE49-F238E27FC236}">
                <a16:creationId xmlns:a16="http://schemas.microsoft.com/office/drawing/2014/main" id="{54F84CBD-B05B-408C-8452-68C89E95C298}"/>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30/90</a:t>
            </a:r>
          </a:p>
        </p:txBody>
      </p:sp>
      <p:sp>
        <p:nvSpPr>
          <p:cNvPr id="6" name="矩形 5">
            <a:extLst>
              <a:ext uri="{FF2B5EF4-FFF2-40B4-BE49-F238E27FC236}">
                <a16:creationId xmlns:a16="http://schemas.microsoft.com/office/drawing/2014/main" id="{C84B72B6-B650-4677-99ED-79F6A2376AFE}"/>
              </a:ext>
            </a:extLst>
          </p:cNvPr>
          <p:cNvSpPr>
            <a:spLocks noGrp="1"/>
          </p:cNvSpPr>
          <p:nvPr/>
        </p:nvSpPr>
        <p:spPr>
          <a:xfrm>
            <a:off x="819150" y="1162050"/>
            <a:ext cx="10382250" cy="628650"/>
          </a:xfrm>
          <a:prstGeom prst="rect">
            <a:avLst/>
          </a:prstGeom>
          <a:solidFill>
            <a:srgbClr val="F1F6FC"/>
          </a:solidFill>
          <a:ln w="9525">
            <a:solidFill>
              <a:srgbClr val="D3DAE4"/>
            </a:solidFill>
            <a:prstDash val="solid"/>
          </a:ln>
        </p:spPr>
        <p:txBody>
          <a:bodyPr/>
          <a:lstStyle/>
          <a:p>
            <a:endParaRPr lang="zh-CN" altLang="en-US"/>
          </a:p>
        </p:txBody>
      </p:sp>
      <p:sp>
        <p:nvSpPr>
          <p:cNvPr id="7" name="矩形 6">
            <a:extLst>
              <a:ext uri="{FF2B5EF4-FFF2-40B4-BE49-F238E27FC236}">
                <a16:creationId xmlns:a16="http://schemas.microsoft.com/office/drawing/2014/main" id="{39F1A920-A291-48B5-B426-130C6F5847E0}"/>
              </a:ext>
            </a:extLst>
          </p:cNvPr>
          <p:cNvSpPr>
            <a:spLocks noGrp="1"/>
          </p:cNvSpPr>
          <p:nvPr/>
        </p:nvSpPr>
        <p:spPr>
          <a:xfrm>
            <a:off x="819150" y="1162050"/>
            <a:ext cx="95250" cy="6286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D82095B2-DD10-4E7B-A799-A6B6B6D244DA}"/>
              </a:ext>
            </a:extLst>
          </p:cNvPr>
          <p:cNvSpPr>
            <a:spLocks noGrp="1"/>
          </p:cNvSpPr>
          <p:nvPr/>
        </p:nvSpPr>
        <p:spPr>
          <a:xfrm>
            <a:off x="1104900" y="1323975"/>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01</a:t>
            </a:r>
          </a:p>
        </p:txBody>
      </p:sp>
      <p:sp>
        <p:nvSpPr>
          <p:cNvPr id="9" name="矩形 8">
            <a:extLst>
              <a:ext uri="{FF2B5EF4-FFF2-40B4-BE49-F238E27FC236}">
                <a16:creationId xmlns:a16="http://schemas.microsoft.com/office/drawing/2014/main" id="{30AAAEEA-4772-423C-B702-70446B10459A}"/>
              </a:ext>
            </a:extLst>
          </p:cNvPr>
          <p:cNvSpPr>
            <a:spLocks noGrp="1"/>
          </p:cNvSpPr>
          <p:nvPr/>
        </p:nvSpPr>
        <p:spPr>
          <a:xfrm>
            <a:off x="1790700" y="1295400"/>
            <a:ext cx="2381250" cy="40005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准确性</a:t>
            </a:r>
          </a:p>
        </p:txBody>
      </p:sp>
      <p:sp>
        <p:nvSpPr>
          <p:cNvPr id="10" name="矩形 9">
            <a:extLst>
              <a:ext uri="{FF2B5EF4-FFF2-40B4-BE49-F238E27FC236}">
                <a16:creationId xmlns:a16="http://schemas.microsoft.com/office/drawing/2014/main" id="{F4054002-46DD-454D-BDBA-C9F11931A46A}"/>
              </a:ext>
            </a:extLst>
          </p:cNvPr>
          <p:cNvSpPr>
            <a:spLocks noGrp="1"/>
          </p:cNvSpPr>
          <p:nvPr/>
        </p:nvSpPr>
        <p:spPr>
          <a:xfrm>
            <a:off x="4305300" y="1295400"/>
            <a:ext cx="6572250" cy="40005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记录是否接近真实状态</a:t>
            </a:r>
          </a:p>
        </p:txBody>
      </p:sp>
      <p:sp>
        <p:nvSpPr>
          <p:cNvPr id="11" name="矩形 10">
            <a:extLst>
              <a:ext uri="{FF2B5EF4-FFF2-40B4-BE49-F238E27FC236}">
                <a16:creationId xmlns:a16="http://schemas.microsoft.com/office/drawing/2014/main" id="{E9D126AC-A476-45B1-9710-D724BCE8FA63}"/>
              </a:ext>
            </a:extLst>
          </p:cNvPr>
          <p:cNvSpPr>
            <a:spLocks noGrp="1"/>
          </p:cNvSpPr>
          <p:nvPr/>
        </p:nvSpPr>
        <p:spPr>
          <a:xfrm>
            <a:off x="819150" y="1885950"/>
            <a:ext cx="10382250" cy="628650"/>
          </a:xfrm>
          <a:prstGeom prst="rect">
            <a:avLst/>
          </a:prstGeom>
          <a:solidFill>
            <a:srgbClr val="FFFFFF"/>
          </a:solidFill>
          <a:ln w="9525">
            <a:solidFill>
              <a:srgbClr val="D3DAE4"/>
            </a:solidFill>
            <a:prstDash val="solid"/>
          </a:ln>
        </p:spPr>
        <p:txBody>
          <a:bodyPr/>
          <a:lstStyle/>
          <a:p>
            <a:endParaRPr lang="zh-CN" altLang="en-US"/>
          </a:p>
        </p:txBody>
      </p:sp>
      <p:sp>
        <p:nvSpPr>
          <p:cNvPr id="12" name="矩形 11">
            <a:extLst>
              <a:ext uri="{FF2B5EF4-FFF2-40B4-BE49-F238E27FC236}">
                <a16:creationId xmlns:a16="http://schemas.microsoft.com/office/drawing/2014/main" id="{FD6C441C-C564-428A-969B-778CE7308E21}"/>
              </a:ext>
            </a:extLst>
          </p:cNvPr>
          <p:cNvSpPr>
            <a:spLocks noGrp="1"/>
          </p:cNvSpPr>
          <p:nvPr/>
        </p:nvSpPr>
        <p:spPr>
          <a:xfrm>
            <a:off x="819150" y="1885950"/>
            <a:ext cx="95250" cy="6286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636F1A74-1F90-4E0B-8BCF-4CCC3BAF9EDA}"/>
              </a:ext>
            </a:extLst>
          </p:cNvPr>
          <p:cNvSpPr>
            <a:spLocks noGrp="1"/>
          </p:cNvSpPr>
          <p:nvPr/>
        </p:nvSpPr>
        <p:spPr>
          <a:xfrm>
            <a:off x="1104900" y="2047875"/>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02</a:t>
            </a:r>
          </a:p>
        </p:txBody>
      </p:sp>
      <p:sp>
        <p:nvSpPr>
          <p:cNvPr id="14" name="矩形 13">
            <a:extLst>
              <a:ext uri="{FF2B5EF4-FFF2-40B4-BE49-F238E27FC236}">
                <a16:creationId xmlns:a16="http://schemas.microsoft.com/office/drawing/2014/main" id="{02682DA7-C7B8-421C-8A55-9E247F7A6764}"/>
              </a:ext>
            </a:extLst>
          </p:cNvPr>
          <p:cNvSpPr>
            <a:spLocks noGrp="1"/>
          </p:cNvSpPr>
          <p:nvPr/>
        </p:nvSpPr>
        <p:spPr>
          <a:xfrm>
            <a:off x="1790700" y="2019300"/>
            <a:ext cx="2381250" cy="40005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完整性</a:t>
            </a:r>
          </a:p>
        </p:txBody>
      </p:sp>
      <p:sp>
        <p:nvSpPr>
          <p:cNvPr id="15" name="矩形 14">
            <a:extLst>
              <a:ext uri="{FF2B5EF4-FFF2-40B4-BE49-F238E27FC236}">
                <a16:creationId xmlns:a16="http://schemas.microsoft.com/office/drawing/2014/main" id="{51B8C29F-EB4B-43B5-90C3-098B42938482}"/>
              </a:ext>
            </a:extLst>
          </p:cNvPr>
          <p:cNvSpPr>
            <a:spLocks noGrp="1"/>
          </p:cNvSpPr>
          <p:nvPr/>
        </p:nvSpPr>
        <p:spPr>
          <a:xfrm>
            <a:off x="4305300" y="2019300"/>
            <a:ext cx="6572250" cy="40005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关键对象和字段是否缺失</a:t>
            </a:r>
          </a:p>
        </p:txBody>
      </p:sp>
      <p:sp>
        <p:nvSpPr>
          <p:cNvPr id="16" name="矩形 15">
            <a:extLst>
              <a:ext uri="{FF2B5EF4-FFF2-40B4-BE49-F238E27FC236}">
                <a16:creationId xmlns:a16="http://schemas.microsoft.com/office/drawing/2014/main" id="{2F0E8DBC-9313-4E62-B330-814274D978D9}"/>
              </a:ext>
            </a:extLst>
          </p:cNvPr>
          <p:cNvSpPr>
            <a:spLocks noGrp="1"/>
          </p:cNvSpPr>
          <p:nvPr/>
        </p:nvSpPr>
        <p:spPr>
          <a:xfrm>
            <a:off x="819150" y="2609850"/>
            <a:ext cx="10382250" cy="628650"/>
          </a:xfrm>
          <a:prstGeom prst="rect">
            <a:avLst/>
          </a:prstGeom>
          <a:solidFill>
            <a:srgbClr val="F1F6FC"/>
          </a:solidFill>
          <a:ln w="9525">
            <a:solidFill>
              <a:srgbClr val="D3DAE4"/>
            </a:solidFill>
            <a:prstDash val="solid"/>
          </a:ln>
        </p:spPr>
        <p:txBody>
          <a:bodyPr/>
          <a:lstStyle/>
          <a:p>
            <a:endParaRPr lang="zh-CN" altLang="en-US"/>
          </a:p>
        </p:txBody>
      </p:sp>
      <p:sp>
        <p:nvSpPr>
          <p:cNvPr id="17" name="矩形 16">
            <a:extLst>
              <a:ext uri="{FF2B5EF4-FFF2-40B4-BE49-F238E27FC236}">
                <a16:creationId xmlns:a16="http://schemas.microsoft.com/office/drawing/2014/main" id="{537E987C-6E04-413F-BAF1-F2DD059C52CC}"/>
              </a:ext>
            </a:extLst>
          </p:cNvPr>
          <p:cNvSpPr>
            <a:spLocks noGrp="1"/>
          </p:cNvSpPr>
          <p:nvPr/>
        </p:nvSpPr>
        <p:spPr>
          <a:xfrm>
            <a:off x="819150" y="2609850"/>
            <a:ext cx="95250" cy="6286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32A29CF8-7371-4C79-A442-8AA2DE8A5D3D}"/>
              </a:ext>
            </a:extLst>
          </p:cNvPr>
          <p:cNvSpPr>
            <a:spLocks noGrp="1"/>
          </p:cNvSpPr>
          <p:nvPr/>
        </p:nvSpPr>
        <p:spPr>
          <a:xfrm>
            <a:off x="1104900" y="2771775"/>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03</a:t>
            </a:r>
          </a:p>
        </p:txBody>
      </p:sp>
      <p:sp>
        <p:nvSpPr>
          <p:cNvPr id="19" name="矩形 18">
            <a:extLst>
              <a:ext uri="{FF2B5EF4-FFF2-40B4-BE49-F238E27FC236}">
                <a16:creationId xmlns:a16="http://schemas.microsoft.com/office/drawing/2014/main" id="{713994C0-9E8A-4354-B78E-C9A970AC090C}"/>
              </a:ext>
            </a:extLst>
          </p:cNvPr>
          <p:cNvSpPr>
            <a:spLocks noGrp="1"/>
          </p:cNvSpPr>
          <p:nvPr/>
        </p:nvSpPr>
        <p:spPr>
          <a:xfrm>
            <a:off x="1790700" y="2743200"/>
            <a:ext cx="2381250" cy="40005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一致性</a:t>
            </a:r>
          </a:p>
        </p:txBody>
      </p:sp>
      <p:sp>
        <p:nvSpPr>
          <p:cNvPr id="20" name="矩形 19">
            <a:extLst>
              <a:ext uri="{FF2B5EF4-FFF2-40B4-BE49-F238E27FC236}">
                <a16:creationId xmlns:a16="http://schemas.microsoft.com/office/drawing/2014/main" id="{047587BB-2F6D-4920-97F6-B103192AEF55}"/>
              </a:ext>
            </a:extLst>
          </p:cNvPr>
          <p:cNvSpPr>
            <a:spLocks noGrp="1"/>
          </p:cNvSpPr>
          <p:nvPr/>
        </p:nvSpPr>
        <p:spPr>
          <a:xfrm>
            <a:off x="4305300" y="2743200"/>
            <a:ext cx="6572250" cy="40005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同一概念是否使用相同定义与编码</a:t>
            </a:r>
          </a:p>
        </p:txBody>
      </p:sp>
      <p:sp>
        <p:nvSpPr>
          <p:cNvPr id="21" name="矩形 20">
            <a:extLst>
              <a:ext uri="{FF2B5EF4-FFF2-40B4-BE49-F238E27FC236}">
                <a16:creationId xmlns:a16="http://schemas.microsoft.com/office/drawing/2014/main" id="{633C3C9C-897E-417F-A33B-48914A438DCA}"/>
              </a:ext>
            </a:extLst>
          </p:cNvPr>
          <p:cNvSpPr>
            <a:spLocks noGrp="1"/>
          </p:cNvSpPr>
          <p:nvPr/>
        </p:nvSpPr>
        <p:spPr>
          <a:xfrm>
            <a:off x="819150" y="3333750"/>
            <a:ext cx="10382250" cy="628650"/>
          </a:xfrm>
          <a:prstGeom prst="rect">
            <a:avLst/>
          </a:prstGeom>
          <a:solidFill>
            <a:srgbClr val="FFFFFF"/>
          </a:solidFill>
          <a:ln w="9525">
            <a:solidFill>
              <a:srgbClr val="D3DAE4"/>
            </a:solidFill>
            <a:prstDash val="solid"/>
          </a:ln>
        </p:spPr>
        <p:txBody>
          <a:bodyPr/>
          <a:lstStyle/>
          <a:p>
            <a:endParaRPr lang="zh-CN" altLang="en-US"/>
          </a:p>
        </p:txBody>
      </p:sp>
      <p:sp>
        <p:nvSpPr>
          <p:cNvPr id="22" name="矩形 21">
            <a:extLst>
              <a:ext uri="{FF2B5EF4-FFF2-40B4-BE49-F238E27FC236}">
                <a16:creationId xmlns:a16="http://schemas.microsoft.com/office/drawing/2014/main" id="{36D77C18-0FF4-4F97-B9F0-B66C364F5B17}"/>
              </a:ext>
            </a:extLst>
          </p:cNvPr>
          <p:cNvSpPr>
            <a:spLocks noGrp="1"/>
          </p:cNvSpPr>
          <p:nvPr/>
        </p:nvSpPr>
        <p:spPr>
          <a:xfrm>
            <a:off x="819150" y="3333750"/>
            <a:ext cx="95250" cy="6286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9BBE5214-1702-4C84-A572-F48F0EADE8A9}"/>
              </a:ext>
            </a:extLst>
          </p:cNvPr>
          <p:cNvSpPr>
            <a:spLocks noGrp="1"/>
          </p:cNvSpPr>
          <p:nvPr/>
        </p:nvSpPr>
        <p:spPr>
          <a:xfrm>
            <a:off x="1104900" y="3495675"/>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04</a:t>
            </a:r>
          </a:p>
        </p:txBody>
      </p:sp>
      <p:sp>
        <p:nvSpPr>
          <p:cNvPr id="24" name="矩形 23">
            <a:extLst>
              <a:ext uri="{FF2B5EF4-FFF2-40B4-BE49-F238E27FC236}">
                <a16:creationId xmlns:a16="http://schemas.microsoft.com/office/drawing/2014/main" id="{C223DEBB-1F46-42EF-B82B-39A0583B9B41}"/>
              </a:ext>
            </a:extLst>
          </p:cNvPr>
          <p:cNvSpPr>
            <a:spLocks noGrp="1"/>
          </p:cNvSpPr>
          <p:nvPr/>
        </p:nvSpPr>
        <p:spPr>
          <a:xfrm>
            <a:off x="1790700" y="3467100"/>
            <a:ext cx="2381250" cy="40005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及时性</a:t>
            </a:r>
          </a:p>
        </p:txBody>
      </p:sp>
      <p:sp>
        <p:nvSpPr>
          <p:cNvPr id="25" name="矩形 24">
            <a:extLst>
              <a:ext uri="{FF2B5EF4-FFF2-40B4-BE49-F238E27FC236}">
                <a16:creationId xmlns:a16="http://schemas.microsoft.com/office/drawing/2014/main" id="{F1730F06-8146-4A0F-BA0D-485F35353EB0}"/>
              </a:ext>
            </a:extLst>
          </p:cNvPr>
          <p:cNvSpPr>
            <a:spLocks noGrp="1"/>
          </p:cNvSpPr>
          <p:nvPr/>
        </p:nvSpPr>
        <p:spPr>
          <a:xfrm>
            <a:off x="4305300" y="3467100"/>
            <a:ext cx="6572250" cy="40005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数据是否覆盖正确的预测时点</a:t>
            </a:r>
          </a:p>
        </p:txBody>
      </p:sp>
      <p:sp>
        <p:nvSpPr>
          <p:cNvPr id="26" name="矩形 25">
            <a:extLst>
              <a:ext uri="{FF2B5EF4-FFF2-40B4-BE49-F238E27FC236}">
                <a16:creationId xmlns:a16="http://schemas.microsoft.com/office/drawing/2014/main" id="{90F271A4-F3E3-410B-B6D8-B4D666E77C2D}"/>
              </a:ext>
            </a:extLst>
          </p:cNvPr>
          <p:cNvSpPr>
            <a:spLocks noGrp="1"/>
          </p:cNvSpPr>
          <p:nvPr/>
        </p:nvSpPr>
        <p:spPr>
          <a:xfrm>
            <a:off x="819150" y="4057650"/>
            <a:ext cx="10382250" cy="628650"/>
          </a:xfrm>
          <a:prstGeom prst="rect">
            <a:avLst/>
          </a:prstGeom>
          <a:solidFill>
            <a:srgbClr val="F1F6FC"/>
          </a:solidFill>
          <a:ln w="9525">
            <a:solidFill>
              <a:srgbClr val="D3DAE4"/>
            </a:solidFill>
            <a:prstDash val="solid"/>
          </a:ln>
        </p:spPr>
        <p:txBody>
          <a:bodyPr/>
          <a:lstStyle/>
          <a:p>
            <a:endParaRPr lang="zh-CN" altLang="en-US"/>
          </a:p>
        </p:txBody>
      </p:sp>
      <p:sp>
        <p:nvSpPr>
          <p:cNvPr id="27" name="矩形 26">
            <a:extLst>
              <a:ext uri="{FF2B5EF4-FFF2-40B4-BE49-F238E27FC236}">
                <a16:creationId xmlns:a16="http://schemas.microsoft.com/office/drawing/2014/main" id="{291BE303-694C-4C14-97A5-A94DB2E6CC1E}"/>
              </a:ext>
            </a:extLst>
          </p:cNvPr>
          <p:cNvSpPr>
            <a:spLocks noGrp="1"/>
          </p:cNvSpPr>
          <p:nvPr/>
        </p:nvSpPr>
        <p:spPr>
          <a:xfrm>
            <a:off x="819150" y="4057650"/>
            <a:ext cx="95250" cy="6286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28" name="矩形 27">
            <a:extLst>
              <a:ext uri="{FF2B5EF4-FFF2-40B4-BE49-F238E27FC236}">
                <a16:creationId xmlns:a16="http://schemas.microsoft.com/office/drawing/2014/main" id="{28E7DA3A-8841-4355-B103-7207996A2796}"/>
              </a:ext>
            </a:extLst>
          </p:cNvPr>
          <p:cNvSpPr>
            <a:spLocks noGrp="1"/>
          </p:cNvSpPr>
          <p:nvPr/>
        </p:nvSpPr>
        <p:spPr>
          <a:xfrm>
            <a:off x="1104900" y="4219575"/>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05</a:t>
            </a:r>
          </a:p>
        </p:txBody>
      </p:sp>
      <p:sp>
        <p:nvSpPr>
          <p:cNvPr id="29" name="矩形 28">
            <a:extLst>
              <a:ext uri="{FF2B5EF4-FFF2-40B4-BE49-F238E27FC236}">
                <a16:creationId xmlns:a16="http://schemas.microsoft.com/office/drawing/2014/main" id="{9F24AD45-AF01-40B2-8312-4AE188B16F4E}"/>
              </a:ext>
            </a:extLst>
          </p:cNvPr>
          <p:cNvSpPr>
            <a:spLocks noGrp="1"/>
          </p:cNvSpPr>
          <p:nvPr/>
        </p:nvSpPr>
        <p:spPr>
          <a:xfrm>
            <a:off x="1790700" y="4191000"/>
            <a:ext cx="2381250" cy="40005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可信性</a:t>
            </a:r>
          </a:p>
        </p:txBody>
      </p:sp>
      <p:sp>
        <p:nvSpPr>
          <p:cNvPr id="30" name="矩形 29">
            <a:extLst>
              <a:ext uri="{FF2B5EF4-FFF2-40B4-BE49-F238E27FC236}">
                <a16:creationId xmlns:a16="http://schemas.microsoft.com/office/drawing/2014/main" id="{4A5A4410-1643-4DE3-B2CF-DC21A1CF6D6C}"/>
              </a:ext>
            </a:extLst>
          </p:cNvPr>
          <p:cNvSpPr>
            <a:spLocks noGrp="1"/>
          </p:cNvSpPr>
          <p:nvPr/>
        </p:nvSpPr>
        <p:spPr>
          <a:xfrm>
            <a:off x="4305300" y="4191000"/>
            <a:ext cx="6572250" cy="40005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来源、采集过程和修改记录是否可追溯</a:t>
            </a:r>
          </a:p>
        </p:txBody>
      </p:sp>
      <p:sp>
        <p:nvSpPr>
          <p:cNvPr id="31" name="矩形 30">
            <a:extLst>
              <a:ext uri="{FF2B5EF4-FFF2-40B4-BE49-F238E27FC236}">
                <a16:creationId xmlns:a16="http://schemas.microsoft.com/office/drawing/2014/main" id="{EB5B6B90-7214-4788-8BDD-D4E7F4C745A5}"/>
              </a:ext>
            </a:extLst>
          </p:cNvPr>
          <p:cNvSpPr>
            <a:spLocks noGrp="1"/>
          </p:cNvSpPr>
          <p:nvPr/>
        </p:nvSpPr>
        <p:spPr>
          <a:xfrm>
            <a:off x="819150" y="4781550"/>
            <a:ext cx="10382250" cy="628650"/>
          </a:xfrm>
          <a:prstGeom prst="rect">
            <a:avLst/>
          </a:prstGeom>
          <a:solidFill>
            <a:srgbClr val="FFFFFF"/>
          </a:solidFill>
          <a:ln w="9525">
            <a:solidFill>
              <a:srgbClr val="D3DAE4"/>
            </a:solidFill>
            <a:prstDash val="solid"/>
          </a:ln>
        </p:spPr>
        <p:txBody>
          <a:bodyPr/>
          <a:lstStyle/>
          <a:p>
            <a:endParaRPr lang="zh-CN" altLang="en-US"/>
          </a:p>
        </p:txBody>
      </p:sp>
      <p:sp>
        <p:nvSpPr>
          <p:cNvPr id="32" name="矩形 31">
            <a:extLst>
              <a:ext uri="{FF2B5EF4-FFF2-40B4-BE49-F238E27FC236}">
                <a16:creationId xmlns:a16="http://schemas.microsoft.com/office/drawing/2014/main" id="{2D203CA2-7983-4DCA-A7D1-6E8E5554BE4B}"/>
              </a:ext>
            </a:extLst>
          </p:cNvPr>
          <p:cNvSpPr>
            <a:spLocks noGrp="1"/>
          </p:cNvSpPr>
          <p:nvPr/>
        </p:nvSpPr>
        <p:spPr>
          <a:xfrm>
            <a:off x="819150" y="4781550"/>
            <a:ext cx="95250" cy="6286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22197417-E87B-4B73-8DA7-E1E71136E371}"/>
              </a:ext>
            </a:extLst>
          </p:cNvPr>
          <p:cNvSpPr>
            <a:spLocks noGrp="1"/>
          </p:cNvSpPr>
          <p:nvPr/>
        </p:nvSpPr>
        <p:spPr>
          <a:xfrm>
            <a:off x="1104900" y="4943475"/>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06</a:t>
            </a:r>
          </a:p>
        </p:txBody>
      </p:sp>
      <p:sp>
        <p:nvSpPr>
          <p:cNvPr id="34" name="矩形 33">
            <a:extLst>
              <a:ext uri="{FF2B5EF4-FFF2-40B4-BE49-F238E27FC236}">
                <a16:creationId xmlns:a16="http://schemas.microsoft.com/office/drawing/2014/main" id="{4BC2BCA6-1F42-42BE-A0BD-E36E4E513D41}"/>
              </a:ext>
            </a:extLst>
          </p:cNvPr>
          <p:cNvSpPr>
            <a:spLocks noGrp="1"/>
          </p:cNvSpPr>
          <p:nvPr/>
        </p:nvSpPr>
        <p:spPr>
          <a:xfrm>
            <a:off x="1790700" y="4914900"/>
            <a:ext cx="2381250" cy="40005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可解释性</a:t>
            </a:r>
          </a:p>
        </p:txBody>
      </p:sp>
      <p:sp>
        <p:nvSpPr>
          <p:cNvPr id="35" name="矩形 34">
            <a:extLst>
              <a:ext uri="{FF2B5EF4-FFF2-40B4-BE49-F238E27FC236}">
                <a16:creationId xmlns:a16="http://schemas.microsoft.com/office/drawing/2014/main" id="{D6456203-A59D-4AB8-8B4F-CADC24811FC4}"/>
              </a:ext>
            </a:extLst>
          </p:cNvPr>
          <p:cNvSpPr>
            <a:spLocks noGrp="1"/>
          </p:cNvSpPr>
          <p:nvPr/>
        </p:nvSpPr>
        <p:spPr>
          <a:xfrm>
            <a:off x="4305300" y="4914900"/>
            <a:ext cx="6572250" cy="40005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黑体"/>
                <a:ea typeface="黑体"/>
                <a:cs typeface="黑体"/>
              </a:rPr>
              <a:t>字段名称、单位和取值是否清楚</a:t>
            </a:r>
          </a:p>
        </p:txBody>
      </p:sp>
      <p:sp>
        <p:nvSpPr>
          <p:cNvPr id="36" name="矩形 35">
            <a:extLst>
              <a:ext uri="{FF2B5EF4-FFF2-40B4-BE49-F238E27FC236}">
                <a16:creationId xmlns:a16="http://schemas.microsoft.com/office/drawing/2014/main" id="{F19092B8-0F9A-4454-A0A2-7ADE03E63A80}"/>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7" name="矩形 36">
            <a:extLst>
              <a:ext uri="{FF2B5EF4-FFF2-40B4-BE49-F238E27FC236}">
                <a16:creationId xmlns:a16="http://schemas.microsoft.com/office/drawing/2014/main" id="{24ECD57F-31FB-4AC7-BFD6-0CEE20CAA918}"/>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高质量数据不是“没有错误”，而是足以支持当前决策。</a:t>
            </a:r>
          </a:p>
        </p:txBody>
      </p:sp>
    </p:spTree>
    <p:extLst>
      <p:ext uri="{BB962C8B-B14F-4D97-AF65-F5344CB8AC3E}">
        <p14:creationId xmlns:p14="http://schemas.microsoft.com/office/powerpoint/2010/main" val="1954185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a:extLst>
              <a:ext uri="{FF2B5EF4-FFF2-40B4-BE49-F238E27FC236}">
                <a16:creationId xmlns:a16="http://schemas.microsoft.com/office/drawing/2014/main" id="{95AC6ABC-2E7C-4577-8FA7-5A6BB09F53EF}"/>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B8CD2D20-C8E7-4520-944E-9DDB5C599D8F}"/>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D6D33ED1-8652-4E01-A259-81C8FD8BF99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50F7DA8F-7BA6-4C7C-A698-2C818EE4F17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缺失值首先是一种信息</a:t>
            </a:r>
          </a:p>
        </p:txBody>
      </p:sp>
      <p:sp>
        <p:nvSpPr>
          <p:cNvPr id="5" name="矩形 4">
            <a:extLst>
              <a:ext uri="{FF2B5EF4-FFF2-40B4-BE49-F238E27FC236}">
                <a16:creationId xmlns:a16="http://schemas.microsoft.com/office/drawing/2014/main" id="{A5A83632-70C8-4227-9ACF-45D4F5A5EC0D}"/>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31/90</a:t>
            </a:r>
          </a:p>
        </p:txBody>
      </p:sp>
      <p:sp>
        <p:nvSpPr>
          <p:cNvPr id="6" name="矩形 5">
            <a:extLst>
              <a:ext uri="{FF2B5EF4-FFF2-40B4-BE49-F238E27FC236}">
                <a16:creationId xmlns:a16="http://schemas.microsoft.com/office/drawing/2014/main" id="{AA881A60-E958-45B3-87C8-C6F89935CAA6}"/>
              </a:ext>
            </a:extLst>
          </p:cNvPr>
          <p:cNvSpPr>
            <a:spLocks noGrp="1"/>
          </p:cNvSpPr>
          <p:nvPr/>
        </p:nvSpPr>
        <p:spPr>
          <a:xfrm>
            <a:off x="685800" y="1371600"/>
            <a:ext cx="1200150" cy="514350"/>
          </a:xfrm>
          <a:prstGeom prst="rect">
            <a:avLst/>
          </a:prstGeom>
          <a:solidFill>
            <a:srgbClr val="00204A"/>
          </a:solidFill>
          <a:ln w="9525">
            <a:solidFill>
              <a:srgbClr val="FFFFFF"/>
            </a:solidFill>
            <a:prstDash val="solid"/>
          </a:ln>
        </p:spPr>
        <p:txBody>
          <a:bodyPr/>
          <a:lstStyle/>
          <a:p>
            <a:endParaRPr lang="zh-CN" altLang="en-US"/>
          </a:p>
        </p:txBody>
      </p:sp>
      <p:sp>
        <p:nvSpPr>
          <p:cNvPr id="7" name="矩形 6">
            <a:extLst>
              <a:ext uri="{FF2B5EF4-FFF2-40B4-BE49-F238E27FC236}">
                <a16:creationId xmlns:a16="http://schemas.microsoft.com/office/drawing/2014/main" id="{0BC67791-21EC-4C66-9FB3-ED22DFDF03D3}"/>
              </a:ext>
            </a:extLst>
          </p:cNvPr>
          <p:cNvSpPr>
            <a:spLocks noGrp="1"/>
          </p:cNvSpPr>
          <p:nvPr/>
        </p:nvSpPr>
        <p:spPr>
          <a:xfrm>
            <a:off x="762000" y="1524000"/>
            <a:ext cx="1047750" cy="209550"/>
          </a:xfrm>
          <a:prstGeom prst="rect">
            <a:avLst/>
          </a:prstGeom>
          <a:solidFill>
            <a:srgbClr val="00204A"/>
          </a:solidFill>
          <a:ln w="0">
            <a:solidFill>
              <a:srgbClr val="000000">
                <a:alpha val="0"/>
              </a:srgbClr>
            </a:solidFill>
            <a:prstDash val="solid"/>
          </a:ln>
        </p:spPr>
        <p:txBody>
          <a:bodyPr lIns="0" tIns="0" rIns="0" bIns="0" anchor="t"/>
          <a:lstStyle/>
          <a:p>
            <a:pPr algn="ctr">
              <a:defRPr sz="1125" b="1">
                <a:solidFill>
                  <a:srgbClr val="FFFFFF"/>
                </a:solidFill>
                <a:latin typeface="黑体"/>
                <a:ea typeface="黑体"/>
                <a:cs typeface="黑体"/>
              </a:defRPr>
            </a:pPr>
            <a:r>
              <a:rPr>
                <a:latin typeface="Times New Roman"/>
                <a:ea typeface="Times New Roman"/>
                <a:cs typeface="Times New Roman"/>
              </a:rPr>
              <a:t>student_id</a:t>
            </a:r>
          </a:p>
        </p:txBody>
      </p:sp>
      <p:sp>
        <p:nvSpPr>
          <p:cNvPr id="8" name="矩形 7">
            <a:extLst>
              <a:ext uri="{FF2B5EF4-FFF2-40B4-BE49-F238E27FC236}">
                <a16:creationId xmlns:a16="http://schemas.microsoft.com/office/drawing/2014/main" id="{0136BF3F-F049-4B98-9AD1-C45EFE01DACF}"/>
              </a:ext>
            </a:extLst>
          </p:cNvPr>
          <p:cNvSpPr>
            <a:spLocks noGrp="1"/>
          </p:cNvSpPr>
          <p:nvPr/>
        </p:nvSpPr>
        <p:spPr>
          <a:xfrm>
            <a:off x="1885950" y="1371600"/>
            <a:ext cx="1352550" cy="514350"/>
          </a:xfrm>
          <a:prstGeom prst="rect">
            <a:avLst/>
          </a:prstGeom>
          <a:solidFill>
            <a:srgbClr val="00204A"/>
          </a:solidFill>
          <a:ln w="9525">
            <a:solidFill>
              <a:srgbClr val="FFFFFF"/>
            </a:solidFill>
            <a:prstDash val="solid"/>
          </a:ln>
        </p:spPr>
        <p:txBody>
          <a:bodyPr/>
          <a:lstStyle/>
          <a:p>
            <a:endParaRPr lang="zh-CN" altLang="en-US"/>
          </a:p>
        </p:txBody>
      </p:sp>
      <p:sp>
        <p:nvSpPr>
          <p:cNvPr id="9" name="矩形 8">
            <a:extLst>
              <a:ext uri="{FF2B5EF4-FFF2-40B4-BE49-F238E27FC236}">
                <a16:creationId xmlns:a16="http://schemas.microsoft.com/office/drawing/2014/main" id="{F5405DF5-B47B-43FF-9207-AF791AC84293}"/>
              </a:ext>
            </a:extLst>
          </p:cNvPr>
          <p:cNvSpPr>
            <a:spLocks noGrp="1"/>
          </p:cNvSpPr>
          <p:nvPr/>
        </p:nvSpPr>
        <p:spPr>
          <a:xfrm>
            <a:off x="1962150" y="1524000"/>
            <a:ext cx="1200150" cy="209550"/>
          </a:xfrm>
          <a:prstGeom prst="rect">
            <a:avLst/>
          </a:prstGeom>
          <a:solidFill>
            <a:srgbClr val="00204A"/>
          </a:solidFill>
          <a:ln w="0">
            <a:solidFill>
              <a:srgbClr val="000000">
                <a:alpha val="0"/>
              </a:srgbClr>
            </a:solidFill>
            <a:prstDash val="solid"/>
          </a:ln>
        </p:spPr>
        <p:txBody>
          <a:bodyPr lIns="0" tIns="0" rIns="0" bIns="0" anchor="t"/>
          <a:lstStyle/>
          <a:p>
            <a:pPr algn="ctr">
              <a:defRPr sz="1125" b="1">
                <a:solidFill>
                  <a:srgbClr val="FFFFFF"/>
                </a:solidFill>
                <a:latin typeface="黑体"/>
                <a:ea typeface="黑体"/>
                <a:cs typeface="黑体"/>
              </a:defRPr>
            </a:pPr>
            <a:r>
              <a:rPr>
                <a:latin typeface="Times New Roman"/>
                <a:ea typeface="Times New Roman"/>
                <a:cs typeface="Times New Roman"/>
              </a:rPr>
              <a:t>login</a:t>
            </a:r>
          </a:p>
        </p:txBody>
      </p:sp>
      <p:sp>
        <p:nvSpPr>
          <p:cNvPr id="10" name="矩形 9">
            <a:extLst>
              <a:ext uri="{FF2B5EF4-FFF2-40B4-BE49-F238E27FC236}">
                <a16:creationId xmlns:a16="http://schemas.microsoft.com/office/drawing/2014/main" id="{A4D2EC08-1B49-4DF9-9A45-F9FAE63D8B09}"/>
              </a:ext>
            </a:extLst>
          </p:cNvPr>
          <p:cNvSpPr>
            <a:spLocks noGrp="1"/>
          </p:cNvSpPr>
          <p:nvPr/>
        </p:nvSpPr>
        <p:spPr>
          <a:xfrm>
            <a:off x="3238500" y="1371600"/>
            <a:ext cx="1352550" cy="514350"/>
          </a:xfrm>
          <a:prstGeom prst="rect">
            <a:avLst/>
          </a:prstGeom>
          <a:solidFill>
            <a:srgbClr val="00204A"/>
          </a:solidFill>
          <a:ln w="9525">
            <a:solidFill>
              <a:srgbClr val="FFFFFF"/>
            </a:solidFill>
            <a:prstDash val="solid"/>
          </a:ln>
        </p:spPr>
        <p:txBody>
          <a:bodyPr/>
          <a:lstStyle/>
          <a:p>
            <a:endParaRPr lang="zh-CN" altLang="en-US"/>
          </a:p>
        </p:txBody>
      </p:sp>
      <p:sp>
        <p:nvSpPr>
          <p:cNvPr id="11" name="矩形 10">
            <a:extLst>
              <a:ext uri="{FF2B5EF4-FFF2-40B4-BE49-F238E27FC236}">
                <a16:creationId xmlns:a16="http://schemas.microsoft.com/office/drawing/2014/main" id="{C6984E5F-09E3-4EF6-9E21-A5BFADC98544}"/>
              </a:ext>
            </a:extLst>
          </p:cNvPr>
          <p:cNvSpPr>
            <a:spLocks noGrp="1"/>
          </p:cNvSpPr>
          <p:nvPr/>
        </p:nvSpPr>
        <p:spPr>
          <a:xfrm>
            <a:off x="3314700" y="1524000"/>
            <a:ext cx="1200150" cy="209550"/>
          </a:xfrm>
          <a:prstGeom prst="rect">
            <a:avLst/>
          </a:prstGeom>
          <a:solidFill>
            <a:srgbClr val="00204A"/>
          </a:solidFill>
          <a:ln w="0">
            <a:solidFill>
              <a:srgbClr val="000000">
                <a:alpha val="0"/>
              </a:srgbClr>
            </a:solidFill>
            <a:prstDash val="solid"/>
          </a:ln>
        </p:spPr>
        <p:txBody>
          <a:bodyPr lIns="0" tIns="0" rIns="0" bIns="0" anchor="t"/>
          <a:lstStyle/>
          <a:p>
            <a:pPr algn="ctr">
              <a:defRPr sz="1125" b="1">
                <a:solidFill>
                  <a:srgbClr val="FFFFFF"/>
                </a:solidFill>
                <a:latin typeface="黑体"/>
                <a:ea typeface="黑体"/>
                <a:cs typeface="黑体"/>
              </a:defRPr>
            </a:pPr>
            <a:r>
              <a:rPr>
                <a:latin typeface="Times New Roman"/>
                <a:ea typeface="Times New Roman"/>
                <a:cs typeface="Times New Roman"/>
              </a:rPr>
              <a:t>quiz</a:t>
            </a:r>
          </a:p>
        </p:txBody>
      </p:sp>
      <p:sp>
        <p:nvSpPr>
          <p:cNvPr id="12" name="矩形 11">
            <a:extLst>
              <a:ext uri="{FF2B5EF4-FFF2-40B4-BE49-F238E27FC236}">
                <a16:creationId xmlns:a16="http://schemas.microsoft.com/office/drawing/2014/main" id="{AED9457C-1D7B-4346-BB28-578A45843BB6}"/>
              </a:ext>
            </a:extLst>
          </p:cNvPr>
          <p:cNvSpPr>
            <a:spLocks noGrp="1"/>
          </p:cNvSpPr>
          <p:nvPr/>
        </p:nvSpPr>
        <p:spPr>
          <a:xfrm>
            <a:off x="4591050" y="1371600"/>
            <a:ext cx="2819400" cy="514350"/>
          </a:xfrm>
          <a:prstGeom prst="rect">
            <a:avLst/>
          </a:prstGeom>
          <a:solidFill>
            <a:srgbClr val="00204A"/>
          </a:solidFill>
          <a:ln w="9525">
            <a:solidFill>
              <a:srgbClr val="FFFFFF"/>
            </a:solidFill>
            <a:prstDash val="solid"/>
          </a:ln>
        </p:spPr>
        <p:txBody>
          <a:bodyPr/>
          <a:lstStyle/>
          <a:p>
            <a:endParaRPr lang="zh-CN" altLang="en-US"/>
          </a:p>
        </p:txBody>
      </p:sp>
      <p:sp>
        <p:nvSpPr>
          <p:cNvPr id="13" name="矩形 12">
            <a:extLst>
              <a:ext uri="{FF2B5EF4-FFF2-40B4-BE49-F238E27FC236}">
                <a16:creationId xmlns:a16="http://schemas.microsoft.com/office/drawing/2014/main" id="{6B4EDB45-1D10-450D-B82C-BE7D8304BF82}"/>
              </a:ext>
            </a:extLst>
          </p:cNvPr>
          <p:cNvSpPr>
            <a:spLocks noGrp="1"/>
          </p:cNvSpPr>
          <p:nvPr/>
        </p:nvSpPr>
        <p:spPr>
          <a:xfrm>
            <a:off x="4667250" y="1524000"/>
            <a:ext cx="2667000" cy="209550"/>
          </a:xfrm>
          <a:prstGeom prst="rect">
            <a:avLst/>
          </a:prstGeom>
          <a:solidFill>
            <a:srgbClr val="00204A"/>
          </a:solidFill>
          <a:ln w="0">
            <a:solidFill>
              <a:srgbClr val="000000">
                <a:alpha val="0"/>
              </a:srgbClr>
            </a:solidFill>
            <a:prstDash val="solid"/>
          </a:ln>
        </p:spPr>
        <p:txBody>
          <a:bodyPr lIns="0" tIns="0" rIns="0" bIns="0" anchor="t"/>
          <a:lstStyle/>
          <a:p>
            <a:pPr algn="ctr">
              <a:defRPr sz="1125" b="1">
                <a:solidFill>
                  <a:srgbClr val="FFFFFF"/>
                </a:solidFill>
                <a:latin typeface="黑体"/>
                <a:ea typeface="黑体"/>
                <a:cs typeface="黑体"/>
              </a:defRPr>
            </a:pPr>
            <a:r>
              <a:rPr>
                <a:latin typeface="黑体"/>
                <a:ea typeface="黑体"/>
                <a:cs typeface="黑体"/>
              </a:rPr>
              <a:t>状态</a:t>
            </a:r>
          </a:p>
        </p:txBody>
      </p:sp>
      <p:sp>
        <p:nvSpPr>
          <p:cNvPr id="14" name="矩形 13">
            <a:extLst>
              <a:ext uri="{FF2B5EF4-FFF2-40B4-BE49-F238E27FC236}">
                <a16:creationId xmlns:a16="http://schemas.microsoft.com/office/drawing/2014/main" id="{8CA3D178-90D5-4BD5-BF55-C23AD23E89EA}"/>
              </a:ext>
            </a:extLst>
          </p:cNvPr>
          <p:cNvSpPr>
            <a:spLocks noGrp="1"/>
          </p:cNvSpPr>
          <p:nvPr/>
        </p:nvSpPr>
        <p:spPr>
          <a:xfrm>
            <a:off x="685800" y="1885950"/>
            <a:ext cx="1200150" cy="590550"/>
          </a:xfrm>
          <a:prstGeom prst="rect">
            <a:avLst/>
          </a:prstGeom>
          <a:solidFill>
            <a:srgbClr val="F6F9FD"/>
          </a:solidFill>
          <a:ln w="9525">
            <a:solidFill>
              <a:srgbClr val="B8C3D1"/>
            </a:solidFill>
            <a:prstDash val="solid"/>
          </a:ln>
        </p:spPr>
        <p:txBody>
          <a:bodyPr/>
          <a:lstStyle/>
          <a:p>
            <a:endParaRPr lang="zh-CN" altLang="en-US"/>
          </a:p>
        </p:txBody>
      </p:sp>
      <p:sp>
        <p:nvSpPr>
          <p:cNvPr id="15" name="矩形 14">
            <a:extLst>
              <a:ext uri="{FF2B5EF4-FFF2-40B4-BE49-F238E27FC236}">
                <a16:creationId xmlns:a16="http://schemas.microsoft.com/office/drawing/2014/main" id="{5E4F1902-3F7E-4EA0-8E06-9614804DD7FD}"/>
              </a:ext>
            </a:extLst>
          </p:cNvPr>
          <p:cNvSpPr>
            <a:spLocks noGrp="1"/>
          </p:cNvSpPr>
          <p:nvPr/>
        </p:nvSpPr>
        <p:spPr>
          <a:xfrm>
            <a:off x="781050" y="2057400"/>
            <a:ext cx="1009650" cy="247650"/>
          </a:xfrm>
          <a:prstGeom prst="rect">
            <a:avLst/>
          </a:prstGeom>
          <a:solidFill>
            <a:srgbClr val="F6F9FD"/>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S001</a:t>
            </a:r>
          </a:p>
        </p:txBody>
      </p:sp>
      <p:sp>
        <p:nvSpPr>
          <p:cNvPr id="16" name="矩形 15">
            <a:extLst>
              <a:ext uri="{FF2B5EF4-FFF2-40B4-BE49-F238E27FC236}">
                <a16:creationId xmlns:a16="http://schemas.microsoft.com/office/drawing/2014/main" id="{1E45F535-1ED2-45E3-BC84-AADFA869F3C2}"/>
              </a:ext>
            </a:extLst>
          </p:cNvPr>
          <p:cNvSpPr>
            <a:spLocks noGrp="1"/>
          </p:cNvSpPr>
          <p:nvPr/>
        </p:nvSpPr>
        <p:spPr>
          <a:xfrm>
            <a:off x="1885950" y="1885950"/>
            <a:ext cx="1352550" cy="590550"/>
          </a:xfrm>
          <a:prstGeom prst="rect">
            <a:avLst/>
          </a:prstGeom>
          <a:solidFill>
            <a:srgbClr val="F6F9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ADE86E1E-1741-443F-B492-FFA93D3EAF85}"/>
              </a:ext>
            </a:extLst>
          </p:cNvPr>
          <p:cNvSpPr>
            <a:spLocks noGrp="1"/>
          </p:cNvSpPr>
          <p:nvPr/>
        </p:nvSpPr>
        <p:spPr>
          <a:xfrm>
            <a:off x="1981200" y="2057400"/>
            <a:ext cx="1162050" cy="247650"/>
          </a:xfrm>
          <a:prstGeom prst="rect">
            <a:avLst/>
          </a:prstGeom>
          <a:solidFill>
            <a:srgbClr val="F6F9FD"/>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12</a:t>
            </a:r>
          </a:p>
        </p:txBody>
      </p:sp>
      <p:sp>
        <p:nvSpPr>
          <p:cNvPr id="18" name="矩形 17">
            <a:extLst>
              <a:ext uri="{FF2B5EF4-FFF2-40B4-BE49-F238E27FC236}">
                <a16:creationId xmlns:a16="http://schemas.microsoft.com/office/drawing/2014/main" id="{53982938-20D0-489C-9290-2118A45E9DC1}"/>
              </a:ext>
            </a:extLst>
          </p:cNvPr>
          <p:cNvSpPr>
            <a:spLocks noGrp="1"/>
          </p:cNvSpPr>
          <p:nvPr/>
        </p:nvSpPr>
        <p:spPr>
          <a:xfrm>
            <a:off x="3238500" y="1885950"/>
            <a:ext cx="1352550" cy="590550"/>
          </a:xfrm>
          <a:prstGeom prst="rect">
            <a:avLst/>
          </a:prstGeom>
          <a:solidFill>
            <a:srgbClr val="F6F9FD"/>
          </a:solidFill>
          <a:ln w="9525">
            <a:solidFill>
              <a:srgbClr val="B8C3D1"/>
            </a:solidFill>
            <a:prstDash val="solid"/>
          </a:ln>
        </p:spPr>
        <p:txBody>
          <a:bodyPr/>
          <a:lstStyle/>
          <a:p>
            <a:endParaRPr lang="zh-CN" altLang="en-US"/>
          </a:p>
        </p:txBody>
      </p:sp>
      <p:sp>
        <p:nvSpPr>
          <p:cNvPr id="19" name="矩形 18">
            <a:extLst>
              <a:ext uri="{FF2B5EF4-FFF2-40B4-BE49-F238E27FC236}">
                <a16:creationId xmlns:a16="http://schemas.microsoft.com/office/drawing/2014/main" id="{3254B272-194A-46BE-8C75-213B385D8464}"/>
              </a:ext>
            </a:extLst>
          </p:cNvPr>
          <p:cNvSpPr>
            <a:spLocks noGrp="1"/>
          </p:cNvSpPr>
          <p:nvPr/>
        </p:nvSpPr>
        <p:spPr>
          <a:xfrm>
            <a:off x="3333750" y="2057400"/>
            <a:ext cx="1162050" cy="247650"/>
          </a:xfrm>
          <a:prstGeom prst="rect">
            <a:avLst/>
          </a:prstGeom>
          <a:solidFill>
            <a:srgbClr val="F6F9FD"/>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78</a:t>
            </a:r>
          </a:p>
        </p:txBody>
      </p:sp>
      <p:sp>
        <p:nvSpPr>
          <p:cNvPr id="20" name="矩形 19">
            <a:extLst>
              <a:ext uri="{FF2B5EF4-FFF2-40B4-BE49-F238E27FC236}">
                <a16:creationId xmlns:a16="http://schemas.microsoft.com/office/drawing/2014/main" id="{2551819C-166B-41AB-BEC9-FF0F658E66D3}"/>
              </a:ext>
            </a:extLst>
          </p:cNvPr>
          <p:cNvSpPr>
            <a:spLocks noGrp="1"/>
          </p:cNvSpPr>
          <p:nvPr/>
        </p:nvSpPr>
        <p:spPr>
          <a:xfrm>
            <a:off x="4591050" y="1885950"/>
            <a:ext cx="2819400" cy="590550"/>
          </a:xfrm>
          <a:prstGeom prst="rect">
            <a:avLst/>
          </a:prstGeom>
          <a:solidFill>
            <a:srgbClr val="F6F9FD"/>
          </a:solidFill>
          <a:ln w="9525">
            <a:solidFill>
              <a:srgbClr val="B8C3D1"/>
            </a:solidFill>
            <a:prstDash val="solid"/>
          </a:ln>
        </p:spPr>
        <p:txBody>
          <a:bodyPr/>
          <a:lstStyle/>
          <a:p>
            <a:endParaRPr lang="zh-CN" altLang="en-US"/>
          </a:p>
        </p:txBody>
      </p:sp>
      <p:sp>
        <p:nvSpPr>
          <p:cNvPr id="21" name="矩形 20">
            <a:extLst>
              <a:ext uri="{FF2B5EF4-FFF2-40B4-BE49-F238E27FC236}">
                <a16:creationId xmlns:a16="http://schemas.microsoft.com/office/drawing/2014/main" id="{4564493D-1214-4B98-A198-823C316AC0F1}"/>
              </a:ext>
            </a:extLst>
          </p:cNvPr>
          <p:cNvSpPr>
            <a:spLocks noGrp="1"/>
          </p:cNvSpPr>
          <p:nvPr/>
        </p:nvSpPr>
        <p:spPr>
          <a:xfrm>
            <a:off x="4686300" y="2057400"/>
            <a:ext cx="2628900" cy="247650"/>
          </a:xfrm>
          <a:prstGeom prst="rect">
            <a:avLst/>
          </a:prstGeom>
          <a:solidFill>
            <a:srgbClr val="F6F9FD"/>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正常记录</a:t>
            </a:r>
          </a:p>
        </p:txBody>
      </p:sp>
      <p:sp>
        <p:nvSpPr>
          <p:cNvPr id="22" name="矩形 21">
            <a:extLst>
              <a:ext uri="{FF2B5EF4-FFF2-40B4-BE49-F238E27FC236}">
                <a16:creationId xmlns:a16="http://schemas.microsoft.com/office/drawing/2014/main" id="{66FE1B8C-E24A-4FD4-846C-75B76E523317}"/>
              </a:ext>
            </a:extLst>
          </p:cNvPr>
          <p:cNvSpPr>
            <a:spLocks noGrp="1"/>
          </p:cNvSpPr>
          <p:nvPr/>
        </p:nvSpPr>
        <p:spPr>
          <a:xfrm>
            <a:off x="685800" y="2514600"/>
            <a:ext cx="1200150" cy="590550"/>
          </a:xfrm>
          <a:prstGeom prst="rect">
            <a:avLst/>
          </a:prstGeom>
          <a:solidFill>
            <a:srgbClr val="FFFFFF"/>
          </a:solidFill>
          <a:ln w="9525">
            <a:solidFill>
              <a:srgbClr val="B8C3D1"/>
            </a:solidFill>
            <a:prstDash val="solid"/>
          </a:ln>
        </p:spPr>
        <p:txBody>
          <a:bodyPr/>
          <a:lstStyle/>
          <a:p>
            <a:endParaRPr lang="zh-CN" altLang="en-US"/>
          </a:p>
        </p:txBody>
      </p:sp>
      <p:sp>
        <p:nvSpPr>
          <p:cNvPr id="23" name="矩形 22">
            <a:extLst>
              <a:ext uri="{FF2B5EF4-FFF2-40B4-BE49-F238E27FC236}">
                <a16:creationId xmlns:a16="http://schemas.microsoft.com/office/drawing/2014/main" id="{A4E69411-8C28-442C-B8E6-15AC0FEBABD5}"/>
              </a:ext>
            </a:extLst>
          </p:cNvPr>
          <p:cNvSpPr>
            <a:spLocks noGrp="1"/>
          </p:cNvSpPr>
          <p:nvPr/>
        </p:nvSpPr>
        <p:spPr>
          <a:xfrm>
            <a:off x="781050" y="2686050"/>
            <a:ext cx="10096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S002</a:t>
            </a:r>
          </a:p>
        </p:txBody>
      </p:sp>
      <p:sp>
        <p:nvSpPr>
          <p:cNvPr id="24" name="矩形 23">
            <a:extLst>
              <a:ext uri="{FF2B5EF4-FFF2-40B4-BE49-F238E27FC236}">
                <a16:creationId xmlns:a16="http://schemas.microsoft.com/office/drawing/2014/main" id="{A5A2861C-3359-4030-AB9E-721370C51637}"/>
              </a:ext>
            </a:extLst>
          </p:cNvPr>
          <p:cNvSpPr>
            <a:spLocks noGrp="1"/>
          </p:cNvSpPr>
          <p:nvPr/>
        </p:nvSpPr>
        <p:spPr>
          <a:xfrm>
            <a:off x="1885950" y="2514600"/>
            <a:ext cx="1352550" cy="590550"/>
          </a:xfrm>
          <a:prstGeom prst="rect">
            <a:avLst/>
          </a:prstGeom>
          <a:solidFill>
            <a:srgbClr val="FFFFFF"/>
          </a:solidFill>
          <a:ln w="9525">
            <a:solidFill>
              <a:srgbClr val="B8C3D1"/>
            </a:solidFill>
            <a:prstDash val="solid"/>
          </a:ln>
        </p:spPr>
        <p:txBody>
          <a:bodyPr/>
          <a:lstStyle/>
          <a:p>
            <a:endParaRPr lang="zh-CN" altLang="en-US"/>
          </a:p>
        </p:txBody>
      </p:sp>
      <p:sp>
        <p:nvSpPr>
          <p:cNvPr id="25" name="矩形 24">
            <a:extLst>
              <a:ext uri="{FF2B5EF4-FFF2-40B4-BE49-F238E27FC236}">
                <a16:creationId xmlns:a16="http://schemas.microsoft.com/office/drawing/2014/main" id="{60EFAB63-847E-4274-A8FD-8A1B56C8BFB6}"/>
              </a:ext>
            </a:extLst>
          </p:cNvPr>
          <p:cNvSpPr>
            <a:spLocks noGrp="1"/>
          </p:cNvSpPr>
          <p:nvPr/>
        </p:nvSpPr>
        <p:spPr>
          <a:xfrm>
            <a:off x="1981200" y="2686050"/>
            <a:ext cx="1162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3</a:t>
            </a:r>
          </a:p>
        </p:txBody>
      </p:sp>
      <p:sp>
        <p:nvSpPr>
          <p:cNvPr id="26" name="矩形 25">
            <a:extLst>
              <a:ext uri="{FF2B5EF4-FFF2-40B4-BE49-F238E27FC236}">
                <a16:creationId xmlns:a16="http://schemas.microsoft.com/office/drawing/2014/main" id="{316048B5-EB0D-473A-8C1E-0D002586E9C4}"/>
              </a:ext>
            </a:extLst>
          </p:cNvPr>
          <p:cNvSpPr>
            <a:spLocks noGrp="1"/>
          </p:cNvSpPr>
          <p:nvPr/>
        </p:nvSpPr>
        <p:spPr>
          <a:xfrm>
            <a:off x="3238500" y="2514600"/>
            <a:ext cx="1352550" cy="590550"/>
          </a:xfrm>
          <a:prstGeom prst="rect">
            <a:avLst/>
          </a:prstGeom>
          <a:solidFill>
            <a:srgbClr val="FFFFFF"/>
          </a:solidFill>
          <a:ln w="9525">
            <a:solidFill>
              <a:srgbClr val="B8C3D1"/>
            </a:solidFill>
            <a:prstDash val="solid"/>
          </a:ln>
        </p:spPr>
        <p:txBody>
          <a:bodyPr/>
          <a:lstStyle/>
          <a:p>
            <a:endParaRPr lang="zh-CN" altLang="en-US"/>
          </a:p>
        </p:txBody>
      </p:sp>
      <p:sp>
        <p:nvSpPr>
          <p:cNvPr id="27" name="矩形 26">
            <a:extLst>
              <a:ext uri="{FF2B5EF4-FFF2-40B4-BE49-F238E27FC236}">
                <a16:creationId xmlns:a16="http://schemas.microsoft.com/office/drawing/2014/main" id="{9260E80E-27B0-41E2-9329-3FCD2C828974}"/>
              </a:ext>
            </a:extLst>
          </p:cNvPr>
          <p:cNvSpPr>
            <a:spLocks noGrp="1"/>
          </p:cNvSpPr>
          <p:nvPr/>
        </p:nvSpPr>
        <p:spPr>
          <a:xfrm>
            <a:off x="3333750" y="2686050"/>
            <a:ext cx="1162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42</a:t>
            </a:r>
          </a:p>
        </p:txBody>
      </p:sp>
      <p:sp>
        <p:nvSpPr>
          <p:cNvPr id="28" name="矩形 27">
            <a:extLst>
              <a:ext uri="{FF2B5EF4-FFF2-40B4-BE49-F238E27FC236}">
                <a16:creationId xmlns:a16="http://schemas.microsoft.com/office/drawing/2014/main" id="{62417933-50DD-4551-AD6A-EB0D4597B1D4}"/>
              </a:ext>
            </a:extLst>
          </p:cNvPr>
          <p:cNvSpPr>
            <a:spLocks noGrp="1"/>
          </p:cNvSpPr>
          <p:nvPr/>
        </p:nvSpPr>
        <p:spPr>
          <a:xfrm>
            <a:off x="4591050" y="2514600"/>
            <a:ext cx="2819400" cy="590550"/>
          </a:xfrm>
          <a:prstGeom prst="rect">
            <a:avLst/>
          </a:prstGeom>
          <a:solidFill>
            <a:srgbClr val="FFFFFF"/>
          </a:solidFill>
          <a:ln w="9525">
            <a:solidFill>
              <a:srgbClr val="B8C3D1"/>
            </a:solidFill>
            <a:prstDash val="solid"/>
          </a:ln>
        </p:spPr>
        <p:txBody>
          <a:bodyPr/>
          <a:lstStyle/>
          <a:p>
            <a:endParaRPr lang="zh-CN" altLang="en-US"/>
          </a:p>
        </p:txBody>
      </p:sp>
      <p:sp>
        <p:nvSpPr>
          <p:cNvPr id="29" name="矩形 28">
            <a:extLst>
              <a:ext uri="{FF2B5EF4-FFF2-40B4-BE49-F238E27FC236}">
                <a16:creationId xmlns:a16="http://schemas.microsoft.com/office/drawing/2014/main" id="{390DD3B4-4717-4F85-A152-D9EBC99BEAD6}"/>
              </a:ext>
            </a:extLst>
          </p:cNvPr>
          <p:cNvSpPr>
            <a:spLocks noGrp="1"/>
          </p:cNvSpPr>
          <p:nvPr/>
        </p:nvSpPr>
        <p:spPr>
          <a:xfrm>
            <a:off x="4686300" y="2686050"/>
            <a:ext cx="2628900" cy="247650"/>
          </a:xfrm>
          <a:prstGeom prst="rect">
            <a:avLst/>
          </a:prstGeom>
          <a:solidFill>
            <a:srgbClr val="FFFFFF"/>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正常记录</a:t>
            </a:r>
          </a:p>
        </p:txBody>
      </p:sp>
      <p:sp>
        <p:nvSpPr>
          <p:cNvPr id="30" name="矩形 29">
            <a:extLst>
              <a:ext uri="{FF2B5EF4-FFF2-40B4-BE49-F238E27FC236}">
                <a16:creationId xmlns:a16="http://schemas.microsoft.com/office/drawing/2014/main" id="{972EB0EA-77B5-4972-9A80-A2C5F03F8A63}"/>
              </a:ext>
            </a:extLst>
          </p:cNvPr>
          <p:cNvSpPr>
            <a:spLocks noGrp="1"/>
          </p:cNvSpPr>
          <p:nvPr/>
        </p:nvSpPr>
        <p:spPr>
          <a:xfrm>
            <a:off x="685800" y="3143250"/>
            <a:ext cx="1200150" cy="590550"/>
          </a:xfrm>
          <a:prstGeom prst="rect">
            <a:avLst/>
          </a:prstGeom>
          <a:solidFill>
            <a:srgbClr val="F6F9FD"/>
          </a:solidFill>
          <a:ln w="9525">
            <a:solidFill>
              <a:srgbClr val="B8C3D1"/>
            </a:solidFill>
            <a:prstDash val="solid"/>
          </a:ln>
        </p:spPr>
        <p:txBody>
          <a:bodyPr/>
          <a:lstStyle/>
          <a:p>
            <a:endParaRPr lang="zh-CN" altLang="en-US"/>
          </a:p>
        </p:txBody>
      </p:sp>
      <p:sp>
        <p:nvSpPr>
          <p:cNvPr id="31" name="矩形 30">
            <a:extLst>
              <a:ext uri="{FF2B5EF4-FFF2-40B4-BE49-F238E27FC236}">
                <a16:creationId xmlns:a16="http://schemas.microsoft.com/office/drawing/2014/main" id="{A7089D92-B84F-488E-8D3B-510E12F3FAFD}"/>
              </a:ext>
            </a:extLst>
          </p:cNvPr>
          <p:cNvSpPr>
            <a:spLocks noGrp="1"/>
          </p:cNvSpPr>
          <p:nvPr/>
        </p:nvSpPr>
        <p:spPr>
          <a:xfrm>
            <a:off x="781050" y="3314700"/>
            <a:ext cx="1009650" cy="247650"/>
          </a:xfrm>
          <a:prstGeom prst="rect">
            <a:avLst/>
          </a:prstGeom>
          <a:solidFill>
            <a:srgbClr val="F6F9FD"/>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S003</a:t>
            </a:r>
          </a:p>
        </p:txBody>
      </p:sp>
      <p:sp>
        <p:nvSpPr>
          <p:cNvPr id="32" name="矩形 31">
            <a:extLst>
              <a:ext uri="{FF2B5EF4-FFF2-40B4-BE49-F238E27FC236}">
                <a16:creationId xmlns:a16="http://schemas.microsoft.com/office/drawing/2014/main" id="{3E5C5F17-2FB5-46EC-93B7-BCD188075B57}"/>
              </a:ext>
            </a:extLst>
          </p:cNvPr>
          <p:cNvSpPr>
            <a:spLocks noGrp="1"/>
          </p:cNvSpPr>
          <p:nvPr/>
        </p:nvSpPr>
        <p:spPr>
          <a:xfrm>
            <a:off x="1885950" y="3143250"/>
            <a:ext cx="1352550" cy="590550"/>
          </a:xfrm>
          <a:prstGeom prst="rect">
            <a:avLst/>
          </a:prstGeom>
          <a:solidFill>
            <a:srgbClr val="F6F9FD"/>
          </a:solidFill>
          <a:ln w="9525">
            <a:solidFill>
              <a:srgbClr val="B8C3D1"/>
            </a:solidFill>
            <a:prstDash val="solid"/>
          </a:ln>
        </p:spPr>
        <p:txBody>
          <a:bodyPr/>
          <a:lstStyle/>
          <a:p>
            <a:endParaRPr lang="zh-CN" altLang="en-US"/>
          </a:p>
        </p:txBody>
      </p:sp>
      <p:sp>
        <p:nvSpPr>
          <p:cNvPr id="33" name="矩形 32">
            <a:extLst>
              <a:ext uri="{FF2B5EF4-FFF2-40B4-BE49-F238E27FC236}">
                <a16:creationId xmlns:a16="http://schemas.microsoft.com/office/drawing/2014/main" id="{3AD1D66D-953A-44B3-AB29-C1AA5DCA5987}"/>
              </a:ext>
            </a:extLst>
          </p:cNvPr>
          <p:cNvSpPr>
            <a:spLocks noGrp="1"/>
          </p:cNvSpPr>
          <p:nvPr/>
        </p:nvSpPr>
        <p:spPr>
          <a:xfrm>
            <a:off x="1981200" y="3314700"/>
            <a:ext cx="1162050" cy="247650"/>
          </a:xfrm>
          <a:prstGeom prst="rect">
            <a:avLst/>
          </a:prstGeom>
          <a:solidFill>
            <a:srgbClr val="F6F9FD"/>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8</a:t>
            </a:r>
          </a:p>
        </p:txBody>
      </p:sp>
      <p:sp>
        <p:nvSpPr>
          <p:cNvPr id="34" name="矩形 33">
            <a:extLst>
              <a:ext uri="{FF2B5EF4-FFF2-40B4-BE49-F238E27FC236}">
                <a16:creationId xmlns:a16="http://schemas.microsoft.com/office/drawing/2014/main" id="{86F10B10-5039-4E92-B20A-BEA797BAECA6}"/>
              </a:ext>
            </a:extLst>
          </p:cNvPr>
          <p:cNvSpPr>
            <a:spLocks noGrp="1"/>
          </p:cNvSpPr>
          <p:nvPr/>
        </p:nvSpPr>
        <p:spPr>
          <a:xfrm>
            <a:off x="3238500" y="3143250"/>
            <a:ext cx="1352550" cy="590550"/>
          </a:xfrm>
          <a:prstGeom prst="rect">
            <a:avLst/>
          </a:prstGeom>
          <a:solidFill>
            <a:srgbClr val="F8E4E4"/>
          </a:solidFill>
          <a:ln w="9525">
            <a:solidFill>
              <a:srgbClr val="B8C3D1"/>
            </a:solidFill>
            <a:prstDash val="solid"/>
          </a:ln>
        </p:spPr>
        <p:txBody>
          <a:bodyPr/>
          <a:lstStyle/>
          <a:p>
            <a:endParaRPr lang="zh-CN" altLang="en-US"/>
          </a:p>
        </p:txBody>
      </p:sp>
      <p:sp>
        <p:nvSpPr>
          <p:cNvPr id="35" name="矩形 34">
            <a:extLst>
              <a:ext uri="{FF2B5EF4-FFF2-40B4-BE49-F238E27FC236}">
                <a16:creationId xmlns:a16="http://schemas.microsoft.com/office/drawing/2014/main" id="{61C7098D-E999-4DE9-8335-E3A5D3D97D68}"/>
              </a:ext>
            </a:extLst>
          </p:cNvPr>
          <p:cNvSpPr>
            <a:spLocks noGrp="1"/>
          </p:cNvSpPr>
          <p:nvPr/>
        </p:nvSpPr>
        <p:spPr>
          <a:xfrm>
            <a:off x="3333750" y="3314700"/>
            <a:ext cx="1162050" cy="247650"/>
          </a:xfrm>
          <a:prstGeom prst="rect">
            <a:avLst/>
          </a:prstGeom>
          <a:solidFill>
            <a:srgbClr val="F8E4E4"/>
          </a:solidFill>
          <a:ln w="0">
            <a:solidFill>
              <a:srgbClr val="000000">
                <a:alpha val="0"/>
              </a:srgbClr>
            </a:solidFill>
            <a:prstDash val="solid"/>
          </a:ln>
        </p:spPr>
        <p:txBody>
          <a:bodyPr lIns="0" tIns="0" rIns="0" bIns="0" anchor="t"/>
          <a:lstStyle/>
          <a:p>
            <a:pPr algn="ctr">
              <a:defRPr sz="1350" b="1">
                <a:solidFill>
                  <a:srgbClr val="A33A3A"/>
                </a:solidFill>
                <a:latin typeface="黑体"/>
                <a:ea typeface="黑体"/>
                <a:cs typeface="黑体"/>
              </a:defRPr>
            </a:pPr>
            <a:r>
              <a:rPr>
                <a:latin typeface="Times New Roman"/>
                <a:ea typeface="Times New Roman"/>
                <a:cs typeface="Times New Roman"/>
              </a:rPr>
              <a:t>—</a:t>
            </a:r>
          </a:p>
        </p:txBody>
      </p:sp>
      <p:sp>
        <p:nvSpPr>
          <p:cNvPr id="36" name="矩形 35">
            <a:extLst>
              <a:ext uri="{FF2B5EF4-FFF2-40B4-BE49-F238E27FC236}">
                <a16:creationId xmlns:a16="http://schemas.microsoft.com/office/drawing/2014/main" id="{9D27FA1E-B4B8-4240-8270-D8ED69E814ED}"/>
              </a:ext>
            </a:extLst>
          </p:cNvPr>
          <p:cNvSpPr>
            <a:spLocks noGrp="1"/>
          </p:cNvSpPr>
          <p:nvPr/>
        </p:nvSpPr>
        <p:spPr>
          <a:xfrm>
            <a:off x="4591050" y="3143250"/>
            <a:ext cx="2819400" cy="590550"/>
          </a:xfrm>
          <a:prstGeom prst="rect">
            <a:avLst/>
          </a:prstGeom>
          <a:solidFill>
            <a:srgbClr val="F6F9FD"/>
          </a:solidFill>
          <a:ln w="9525">
            <a:solidFill>
              <a:srgbClr val="B8C3D1"/>
            </a:solidFill>
            <a:prstDash val="solid"/>
          </a:ln>
        </p:spPr>
        <p:txBody>
          <a:bodyPr/>
          <a:lstStyle/>
          <a:p>
            <a:endParaRPr lang="zh-CN" altLang="en-US"/>
          </a:p>
        </p:txBody>
      </p:sp>
      <p:sp>
        <p:nvSpPr>
          <p:cNvPr id="37" name="矩形 36">
            <a:extLst>
              <a:ext uri="{FF2B5EF4-FFF2-40B4-BE49-F238E27FC236}">
                <a16:creationId xmlns:a16="http://schemas.microsoft.com/office/drawing/2014/main" id="{704374AF-032A-4345-8580-1A0A4049B16D}"/>
              </a:ext>
            </a:extLst>
          </p:cNvPr>
          <p:cNvSpPr>
            <a:spLocks noGrp="1"/>
          </p:cNvSpPr>
          <p:nvPr/>
        </p:nvSpPr>
        <p:spPr>
          <a:xfrm>
            <a:off x="4686300" y="3314700"/>
            <a:ext cx="2628900" cy="247650"/>
          </a:xfrm>
          <a:prstGeom prst="rect">
            <a:avLst/>
          </a:prstGeom>
          <a:solidFill>
            <a:srgbClr val="F6F9FD"/>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为何缺失？</a:t>
            </a:r>
          </a:p>
        </p:txBody>
      </p:sp>
      <p:sp>
        <p:nvSpPr>
          <p:cNvPr id="38" name="矩形 37">
            <a:extLst>
              <a:ext uri="{FF2B5EF4-FFF2-40B4-BE49-F238E27FC236}">
                <a16:creationId xmlns:a16="http://schemas.microsoft.com/office/drawing/2014/main" id="{0417492F-CE61-48BC-B110-425C6F79F88C}"/>
              </a:ext>
            </a:extLst>
          </p:cNvPr>
          <p:cNvSpPr>
            <a:spLocks noGrp="1"/>
          </p:cNvSpPr>
          <p:nvPr/>
        </p:nvSpPr>
        <p:spPr>
          <a:xfrm>
            <a:off x="685800" y="3771900"/>
            <a:ext cx="1200150" cy="590550"/>
          </a:xfrm>
          <a:prstGeom prst="rect">
            <a:avLst/>
          </a:prstGeom>
          <a:solidFill>
            <a:srgbClr val="FFFFFF"/>
          </a:solidFill>
          <a:ln w="9525">
            <a:solidFill>
              <a:srgbClr val="B8C3D1"/>
            </a:solidFill>
            <a:prstDash val="solid"/>
          </a:ln>
        </p:spPr>
        <p:txBody>
          <a:bodyPr/>
          <a:lstStyle/>
          <a:p>
            <a:endParaRPr lang="zh-CN" altLang="en-US"/>
          </a:p>
        </p:txBody>
      </p:sp>
      <p:sp>
        <p:nvSpPr>
          <p:cNvPr id="39" name="矩形 38">
            <a:extLst>
              <a:ext uri="{FF2B5EF4-FFF2-40B4-BE49-F238E27FC236}">
                <a16:creationId xmlns:a16="http://schemas.microsoft.com/office/drawing/2014/main" id="{7EA07D3D-09E8-420F-BECE-F486DE630C6D}"/>
              </a:ext>
            </a:extLst>
          </p:cNvPr>
          <p:cNvSpPr>
            <a:spLocks noGrp="1"/>
          </p:cNvSpPr>
          <p:nvPr/>
        </p:nvSpPr>
        <p:spPr>
          <a:xfrm>
            <a:off x="781050" y="3943350"/>
            <a:ext cx="10096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1">
                <a:solidFill>
                  <a:srgbClr val="1F2933"/>
                </a:solidFill>
                <a:latin typeface="黑体"/>
                <a:ea typeface="黑体"/>
                <a:cs typeface="黑体"/>
              </a:defRPr>
            </a:pPr>
            <a:r>
              <a:rPr>
                <a:latin typeface="Times New Roman"/>
                <a:ea typeface="Times New Roman"/>
                <a:cs typeface="Times New Roman"/>
              </a:rPr>
              <a:t>S004</a:t>
            </a:r>
          </a:p>
        </p:txBody>
      </p:sp>
      <p:sp>
        <p:nvSpPr>
          <p:cNvPr id="40" name="矩形 39">
            <a:extLst>
              <a:ext uri="{FF2B5EF4-FFF2-40B4-BE49-F238E27FC236}">
                <a16:creationId xmlns:a16="http://schemas.microsoft.com/office/drawing/2014/main" id="{B6DB6F80-8B5B-44D9-BCAD-8FEB4547C9D9}"/>
              </a:ext>
            </a:extLst>
          </p:cNvPr>
          <p:cNvSpPr>
            <a:spLocks noGrp="1"/>
          </p:cNvSpPr>
          <p:nvPr/>
        </p:nvSpPr>
        <p:spPr>
          <a:xfrm>
            <a:off x="1885950" y="3771900"/>
            <a:ext cx="1352550" cy="590550"/>
          </a:xfrm>
          <a:prstGeom prst="rect">
            <a:avLst/>
          </a:prstGeom>
          <a:solidFill>
            <a:srgbClr val="FFFFFF"/>
          </a:solidFill>
          <a:ln w="9525">
            <a:solidFill>
              <a:srgbClr val="B8C3D1"/>
            </a:solidFill>
            <a:prstDash val="solid"/>
          </a:ln>
        </p:spPr>
        <p:txBody>
          <a:bodyPr/>
          <a:lstStyle/>
          <a:p>
            <a:endParaRPr lang="zh-CN" altLang="en-US"/>
          </a:p>
        </p:txBody>
      </p:sp>
      <p:sp>
        <p:nvSpPr>
          <p:cNvPr id="41" name="矩形 40">
            <a:extLst>
              <a:ext uri="{FF2B5EF4-FFF2-40B4-BE49-F238E27FC236}">
                <a16:creationId xmlns:a16="http://schemas.microsoft.com/office/drawing/2014/main" id="{C9EA8DFD-F709-4250-BEBD-A00E57C6D883}"/>
              </a:ext>
            </a:extLst>
          </p:cNvPr>
          <p:cNvSpPr>
            <a:spLocks noGrp="1"/>
          </p:cNvSpPr>
          <p:nvPr/>
        </p:nvSpPr>
        <p:spPr>
          <a:xfrm>
            <a:off x="1981200" y="3943350"/>
            <a:ext cx="1162050" cy="247650"/>
          </a:xfrm>
          <a:prstGeom prst="rect">
            <a:avLst/>
          </a:prstGeom>
          <a:solidFill>
            <a:srgbClr val="FFFFFF"/>
          </a:solidFill>
          <a:ln w="0">
            <a:solidFill>
              <a:srgbClr val="000000">
                <a:alpha val="0"/>
              </a:srgbClr>
            </a:solidFill>
            <a:prstDash val="solid"/>
          </a:ln>
        </p:spPr>
        <p:txBody>
          <a:bodyPr lIns="0" tIns="0" rIns="0" bIns="0" anchor="t"/>
          <a:lstStyle/>
          <a:p>
            <a:pPr algn="ctr">
              <a:defRPr sz="1350" b="0">
                <a:solidFill>
                  <a:srgbClr val="1F2933"/>
                </a:solidFill>
                <a:latin typeface="黑体"/>
                <a:ea typeface="黑体"/>
                <a:cs typeface="黑体"/>
              </a:defRPr>
            </a:pPr>
            <a:r>
              <a:rPr>
                <a:latin typeface="Times New Roman"/>
                <a:ea typeface="Times New Roman"/>
                <a:cs typeface="Times New Roman"/>
              </a:rPr>
              <a:t>0</a:t>
            </a:r>
          </a:p>
        </p:txBody>
      </p:sp>
      <p:sp>
        <p:nvSpPr>
          <p:cNvPr id="42" name="矩形 41">
            <a:extLst>
              <a:ext uri="{FF2B5EF4-FFF2-40B4-BE49-F238E27FC236}">
                <a16:creationId xmlns:a16="http://schemas.microsoft.com/office/drawing/2014/main" id="{418E0AA6-1B8C-4823-A81F-E6D6EE899B91}"/>
              </a:ext>
            </a:extLst>
          </p:cNvPr>
          <p:cNvSpPr>
            <a:spLocks noGrp="1"/>
          </p:cNvSpPr>
          <p:nvPr/>
        </p:nvSpPr>
        <p:spPr>
          <a:xfrm>
            <a:off x="3238500" y="3771900"/>
            <a:ext cx="1352550" cy="590550"/>
          </a:xfrm>
          <a:prstGeom prst="rect">
            <a:avLst/>
          </a:prstGeom>
          <a:solidFill>
            <a:srgbClr val="F8E4E4"/>
          </a:solidFill>
          <a:ln w="9525">
            <a:solidFill>
              <a:srgbClr val="B8C3D1"/>
            </a:solidFill>
            <a:prstDash val="solid"/>
          </a:ln>
        </p:spPr>
        <p:txBody>
          <a:bodyPr/>
          <a:lstStyle/>
          <a:p>
            <a:endParaRPr lang="zh-CN" altLang="en-US"/>
          </a:p>
        </p:txBody>
      </p:sp>
      <p:sp>
        <p:nvSpPr>
          <p:cNvPr id="43" name="矩形 42">
            <a:extLst>
              <a:ext uri="{FF2B5EF4-FFF2-40B4-BE49-F238E27FC236}">
                <a16:creationId xmlns:a16="http://schemas.microsoft.com/office/drawing/2014/main" id="{E5EDF2A9-2020-452D-988B-7BBE94AE7919}"/>
              </a:ext>
            </a:extLst>
          </p:cNvPr>
          <p:cNvSpPr>
            <a:spLocks noGrp="1"/>
          </p:cNvSpPr>
          <p:nvPr/>
        </p:nvSpPr>
        <p:spPr>
          <a:xfrm>
            <a:off x="3333750" y="3943350"/>
            <a:ext cx="1162050" cy="247650"/>
          </a:xfrm>
          <a:prstGeom prst="rect">
            <a:avLst/>
          </a:prstGeom>
          <a:solidFill>
            <a:srgbClr val="F8E4E4"/>
          </a:solidFill>
          <a:ln w="0">
            <a:solidFill>
              <a:srgbClr val="000000">
                <a:alpha val="0"/>
              </a:srgbClr>
            </a:solidFill>
            <a:prstDash val="solid"/>
          </a:ln>
        </p:spPr>
        <p:txBody>
          <a:bodyPr lIns="0" tIns="0" rIns="0" bIns="0" anchor="t"/>
          <a:lstStyle/>
          <a:p>
            <a:pPr algn="ctr">
              <a:defRPr sz="1350" b="1">
                <a:solidFill>
                  <a:srgbClr val="A33A3A"/>
                </a:solidFill>
                <a:latin typeface="黑体"/>
                <a:ea typeface="黑体"/>
                <a:cs typeface="黑体"/>
              </a:defRPr>
            </a:pPr>
            <a:r>
              <a:rPr>
                <a:latin typeface="Times New Roman"/>
                <a:ea typeface="Times New Roman"/>
                <a:cs typeface="Times New Roman"/>
              </a:rPr>
              <a:t>—</a:t>
            </a:r>
          </a:p>
        </p:txBody>
      </p:sp>
      <p:sp>
        <p:nvSpPr>
          <p:cNvPr id="44" name="矩形 43">
            <a:extLst>
              <a:ext uri="{FF2B5EF4-FFF2-40B4-BE49-F238E27FC236}">
                <a16:creationId xmlns:a16="http://schemas.microsoft.com/office/drawing/2014/main" id="{6C75D28C-F182-44BD-8B45-BEEF2465A621}"/>
              </a:ext>
            </a:extLst>
          </p:cNvPr>
          <p:cNvSpPr>
            <a:spLocks noGrp="1"/>
          </p:cNvSpPr>
          <p:nvPr/>
        </p:nvSpPr>
        <p:spPr>
          <a:xfrm>
            <a:off x="4591050" y="3771900"/>
            <a:ext cx="2819400" cy="590550"/>
          </a:xfrm>
          <a:prstGeom prst="rect">
            <a:avLst/>
          </a:prstGeom>
          <a:solidFill>
            <a:srgbClr val="FFFFFF"/>
          </a:solidFill>
          <a:ln w="9525">
            <a:solidFill>
              <a:srgbClr val="B8C3D1"/>
            </a:solidFill>
            <a:prstDash val="solid"/>
          </a:ln>
        </p:spPr>
        <p:txBody>
          <a:bodyPr/>
          <a:lstStyle/>
          <a:p>
            <a:endParaRPr lang="zh-CN" altLang="en-US"/>
          </a:p>
        </p:txBody>
      </p:sp>
      <p:sp>
        <p:nvSpPr>
          <p:cNvPr id="45" name="矩形 44">
            <a:extLst>
              <a:ext uri="{FF2B5EF4-FFF2-40B4-BE49-F238E27FC236}">
                <a16:creationId xmlns:a16="http://schemas.microsoft.com/office/drawing/2014/main" id="{DB13FA92-26BB-4497-89E1-8D7D140C1A47}"/>
              </a:ext>
            </a:extLst>
          </p:cNvPr>
          <p:cNvSpPr>
            <a:spLocks noGrp="1"/>
          </p:cNvSpPr>
          <p:nvPr/>
        </p:nvSpPr>
        <p:spPr>
          <a:xfrm>
            <a:off x="4686300" y="3943350"/>
            <a:ext cx="2628900" cy="247650"/>
          </a:xfrm>
          <a:prstGeom prst="rect">
            <a:avLst/>
          </a:prstGeom>
          <a:solidFill>
            <a:srgbClr val="FFFFFF"/>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行为性缺失？</a:t>
            </a:r>
          </a:p>
        </p:txBody>
      </p:sp>
      <p:sp>
        <p:nvSpPr>
          <p:cNvPr id="46" name="矩形 45">
            <a:extLst>
              <a:ext uri="{FF2B5EF4-FFF2-40B4-BE49-F238E27FC236}">
                <a16:creationId xmlns:a16="http://schemas.microsoft.com/office/drawing/2014/main" id="{E19A7152-E1A9-4C37-9311-414FDE9C8EA2}"/>
              </a:ext>
            </a:extLst>
          </p:cNvPr>
          <p:cNvSpPr>
            <a:spLocks noGrp="1"/>
          </p:cNvSpPr>
          <p:nvPr/>
        </p:nvSpPr>
        <p:spPr>
          <a:xfrm>
            <a:off x="7886700" y="1409700"/>
            <a:ext cx="35433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725" b="1">
                <a:solidFill>
                  <a:srgbClr val="00204A"/>
                </a:solidFill>
                <a:latin typeface="黑体"/>
                <a:ea typeface="黑体"/>
                <a:cs typeface="黑体"/>
              </a:defRPr>
            </a:pPr>
            <a:r>
              <a:rPr>
                <a:latin typeface="黑体"/>
                <a:ea typeface="黑体"/>
                <a:cs typeface="黑体"/>
              </a:rPr>
              <a:t>同一个空白，可能来自不同过程</a:t>
            </a:r>
          </a:p>
        </p:txBody>
      </p:sp>
      <p:sp>
        <p:nvSpPr>
          <p:cNvPr id="47" name="矩形 46">
            <a:extLst>
              <a:ext uri="{FF2B5EF4-FFF2-40B4-BE49-F238E27FC236}">
                <a16:creationId xmlns:a16="http://schemas.microsoft.com/office/drawing/2014/main" id="{B3A27ECD-8487-4012-ACEF-43DC4774AFE3}"/>
              </a:ext>
            </a:extLst>
          </p:cNvPr>
          <p:cNvSpPr>
            <a:spLocks noGrp="1"/>
          </p:cNvSpPr>
          <p:nvPr/>
        </p:nvSpPr>
        <p:spPr>
          <a:xfrm>
            <a:off x="7810500" y="1981200"/>
            <a:ext cx="3619500" cy="800100"/>
          </a:xfrm>
          <a:prstGeom prst="rect">
            <a:avLst/>
          </a:prstGeom>
          <a:solidFill>
            <a:srgbClr val="F8EAEA"/>
          </a:solidFill>
          <a:ln w="9525">
            <a:solidFill>
              <a:srgbClr val="B8C3D1"/>
            </a:solidFill>
            <a:prstDash val="solid"/>
          </a:ln>
        </p:spPr>
        <p:txBody>
          <a:bodyPr/>
          <a:lstStyle/>
          <a:p>
            <a:endParaRPr lang="zh-CN" altLang="en-US"/>
          </a:p>
        </p:txBody>
      </p:sp>
      <p:sp>
        <p:nvSpPr>
          <p:cNvPr id="48" name="矩形 47">
            <a:extLst>
              <a:ext uri="{FF2B5EF4-FFF2-40B4-BE49-F238E27FC236}">
                <a16:creationId xmlns:a16="http://schemas.microsoft.com/office/drawing/2014/main" id="{2C7C68A6-8AF7-4606-A293-118A4F954C05}"/>
              </a:ext>
            </a:extLst>
          </p:cNvPr>
          <p:cNvSpPr>
            <a:spLocks noGrp="1"/>
          </p:cNvSpPr>
          <p:nvPr/>
        </p:nvSpPr>
        <p:spPr>
          <a:xfrm>
            <a:off x="8001000" y="2124075"/>
            <a:ext cx="1104900" cy="228600"/>
          </a:xfrm>
          <a:prstGeom prst="rect">
            <a:avLst/>
          </a:prstGeom>
          <a:solidFill>
            <a:srgbClr val="F8EAEA"/>
          </a:solidFill>
          <a:ln w="0">
            <a:solidFill>
              <a:srgbClr val="000000">
                <a:alpha val="0"/>
              </a:srgbClr>
            </a:solidFill>
            <a:prstDash val="solid"/>
          </a:ln>
        </p:spPr>
        <p:txBody>
          <a:bodyPr lIns="0" tIns="0" rIns="0" bIns="0" anchor="t"/>
          <a:lstStyle/>
          <a:p>
            <a:pPr algn="l">
              <a:defRPr sz="1350" b="1">
                <a:solidFill>
                  <a:srgbClr val="A33A3A"/>
                </a:solidFill>
                <a:latin typeface="黑体"/>
                <a:ea typeface="黑体"/>
                <a:cs typeface="黑体"/>
              </a:defRPr>
            </a:pPr>
            <a:r>
              <a:rPr>
                <a:latin typeface="黑体"/>
                <a:ea typeface="黑体"/>
                <a:cs typeface="黑体"/>
              </a:rPr>
              <a:t>没有参加</a:t>
            </a:r>
          </a:p>
        </p:txBody>
      </p:sp>
      <p:sp>
        <p:nvSpPr>
          <p:cNvPr id="49" name="矩形 48">
            <a:extLst>
              <a:ext uri="{FF2B5EF4-FFF2-40B4-BE49-F238E27FC236}">
                <a16:creationId xmlns:a16="http://schemas.microsoft.com/office/drawing/2014/main" id="{A72BABC1-2F63-454E-8547-6D743D167D47}"/>
              </a:ext>
            </a:extLst>
          </p:cNvPr>
          <p:cNvSpPr>
            <a:spLocks noGrp="1"/>
          </p:cNvSpPr>
          <p:nvPr/>
        </p:nvSpPr>
        <p:spPr>
          <a:xfrm>
            <a:off x="9239250" y="2105025"/>
            <a:ext cx="2000250" cy="476250"/>
          </a:xfrm>
          <a:prstGeom prst="rect">
            <a:avLst/>
          </a:prstGeom>
          <a:solidFill>
            <a:srgbClr val="F8EAEA"/>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行为本身可能与风险有关</a:t>
            </a:r>
          </a:p>
        </p:txBody>
      </p:sp>
      <p:sp>
        <p:nvSpPr>
          <p:cNvPr id="50" name="矩形 49">
            <a:extLst>
              <a:ext uri="{FF2B5EF4-FFF2-40B4-BE49-F238E27FC236}">
                <a16:creationId xmlns:a16="http://schemas.microsoft.com/office/drawing/2014/main" id="{07EFFDEC-3EF9-43EB-8723-04E44FA25DB9}"/>
              </a:ext>
            </a:extLst>
          </p:cNvPr>
          <p:cNvSpPr>
            <a:spLocks noGrp="1"/>
          </p:cNvSpPr>
          <p:nvPr/>
        </p:nvSpPr>
        <p:spPr>
          <a:xfrm>
            <a:off x="7810500" y="2971800"/>
            <a:ext cx="3619500" cy="800100"/>
          </a:xfrm>
          <a:prstGeom prst="rect">
            <a:avLst/>
          </a:prstGeom>
          <a:solidFill>
            <a:srgbClr val="EAF2FF"/>
          </a:solidFill>
          <a:ln w="9525">
            <a:solidFill>
              <a:srgbClr val="B8C3D1"/>
            </a:solidFill>
            <a:prstDash val="solid"/>
          </a:ln>
        </p:spPr>
        <p:txBody>
          <a:bodyPr/>
          <a:lstStyle/>
          <a:p>
            <a:endParaRPr lang="zh-CN" altLang="en-US"/>
          </a:p>
        </p:txBody>
      </p:sp>
      <p:sp>
        <p:nvSpPr>
          <p:cNvPr id="51" name="矩形 50">
            <a:extLst>
              <a:ext uri="{FF2B5EF4-FFF2-40B4-BE49-F238E27FC236}">
                <a16:creationId xmlns:a16="http://schemas.microsoft.com/office/drawing/2014/main" id="{816374E9-DC6F-402B-83B2-E2F8850472C7}"/>
              </a:ext>
            </a:extLst>
          </p:cNvPr>
          <p:cNvSpPr>
            <a:spLocks noGrp="1"/>
          </p:cNvSpPr>
          <p:nvPr/>
        </p:nvSpPr>
        <p:spPr>
          <a:xfrm>
            <a:off x="8001000" y="3114675"/>
            <a:ext cx="1104900" cy="228600"/>
          </a:xfrm>
          <a:prstGeom prst="rect">
            <a:avLst/>
          </a:prstGeom>
          <a:solidFill>
            <a:srgbClr val="EAF2FF"/>
          </a:solidFill>
          <a:ln w="0">
            <a:solidFill>
              <a:srgbClr val="000000">
                <a:alpha val="0"/>
              </a:srgbClr>
            </a:solidFill>
            <a:prstDash val="solid"/>
          </a:ln>
        </p:spPr>
        <p:txBody>
          <a:bodyPr lIns="0" tIns="0" rIns="0" bIns="0" anchor="t"/>
          <a:lstStyle/>
          <a:p>
            <a:pPr algn="l">
              <a:defRPr sz="1350" b="1">
                <a:solidFill>
                  <a:srgbClr val="014DA1"/>
                </a:solidFill>
                <a:latin typeface="黑体"/>
                <a:ea typeface="黑体"/>
                <a:cs typeface="黑体"/>
              </a:defRPr>
            </a:pPr>
            <a:r>
              <a:rPr>
                <a:latin typeface="黑体"/>
                <a:ea typeface="黑体"/>
                <a:cs typeface="黑体"/>
              </a:rPr>
              <a:t>系统未同步</a:t>
            </a:r>
          </a:p>
        </p:txBody>
      </p:sp>
      <p:sp>
        <p:nvSpPr>
          <p:cNvPr id="52" name="矩形 51">
            <a:extLst>
              <a:ext uri="{FF2B5EF4-FFF2-40B4-BE49-F238E27FC236}">
                <a16:creationId xmlns:a16="http://schemas.microsoft.com/office/drawing/2014/main" id="{B0F9C6CC-4C19-4DB3-9694-16D63105899C}"/>
              </a:ext>
            </a:extLst>
          </p:cNvPr>
          <p:cNvSpPr>
            <a:spLocks noGrp="1"/>
          </p:cNvSpPr>
          <p:nvPr/>
        </p:nvSpPr>
        <p:spPr>
          <a:xfrm>
            <a:off x="9239250" y="3095625"/>
            <a:ext cx="2000250" cy="476250"/>
          </a:xfrm>
          <a:prstGeom prst="rect">
            <a:avLst/>
          </a:prstGeom>
          <a:solidFill>
            <a:srgbClr val="EAF2FF"/>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采集或传输造成的技术缺失</a:t>
            </a:r>
          </a:p>
        </p:txBody>
      </p:sp>
      <p:sp>
        <p:nvSpPr>
          <p:cNvPr id="53" name="矩形 52">
            <a:extLst>
              <a:ext uri="{FF2B5EF4-FFF2-40B4-BE49-F238E27FC236}">
                <a16:creationId xmlns:a16="http://schemas.microsoft.com/office/drawing/2014/main" id="{07554A68-0734-4173-851D-2CBA53E25E65}"/>
              </a:ext>
            </a:extLst>
          </p:cNvPr>
          <p:cNvSpPr>
            <a:spLocks noGrp="1"/>
          </p:cNvSpPr>
          <p:nvPr/>
        </p:nvSpPr>
        <p:spPr>
          <a:xfrm>
            <a:off x="7810500" y="3962400"/>
            <a:ext cx="3619500" cy="800100"/>
          </a:xfrm>
          <a:prstGeom prst="rect">
            <a:avLst/>
          </a:prstGeom>
          <a:solidFill>
            <a:srgbClr val="FFF8E6"/>
          </a:solidFill>
          <a:ln w="9525">
            <a:solidFill>
              <a:srgbClr val="B8C3D1"/>
            </a:solidFill>
            <a:prstDash val="solid"/>
          </a:ln>
        </p:spPr>
        <p:txBody>
          <a:bodyPr/>
          <a:lstStyle/>
          <a:p>
            <a:endParaRPr lang="zh-CN" altLang="en-US"/>
          </a:p>
        </p:txBody>
      </p:sp>
      <p:sp>
        <p:nvSpPr>
          <p:cNvPr id="54" name="矩形 53">
            <a:extLst>
              <a:ext uri="{FF2B5EF4-FFF2-40B4-BE49-F238E27FC236}">
                <a16:creationId xmlns:a16="http://schemas.microsoft.com/office/drawing/2014/main" id="{6243B9B2-3614-49A8-8889-CE7996DAC477}"/>
              </a:ext>
            </a:extLst>
          </p:cNvPr>
          <p:cNvSpPr>
            <a:spLocks noGrp="1"/>
          </p:cNvSpPr>
          <p:nvPr/>
        </p:nvSpPr>
        <p:spPr>
          <a:xfrm>
            <a:off x="8001000" y="4105275"/>
            <a:ext cx="1104900" cy="228600"/>
          </a:xfrm>
          <a:prstGeom prst="rect">
            <a:avLst/>
          </a:prstGeom>
          <a:solidFill>
            <a:srgbClr val="FFF8E6"/>
          </a:solidFill>
          <a:ln w="0">
            <a:solidFill>
              <a:srgbClr val="000000">
                <a:alpha val="0"/>
              </a:srgbClr>
            </a:solidFill>
            <a:prstDash val="solid"/>
          </a:ln>
        </p:spPr>
        <p:txBody>
          <a:bodyPr lIns="0" tIns="0" rIns="0" bIns="0" anchor="t"/>
          <a:lstStyle/>
          <a:p>
            <a:pPr algn="l">
              <a:defRPr sz="1350" b="1">
                <a:solidFill>
                  <a:srgbClr val="014DA1"/>
                </a:solidFill>
                <a:latin typeface="黑体"/>
                <a:ea typeface="黑体"/>
                <a:cs typeface="黑体"/>
              </a:defRPr>
            </a:pPr>
            <a:r>
              <a:rPr>
                <a:latin typeface="黑体"/>
                <a:ea typeface="黑体"/>
                <a:cs typeface="黑体"/>
              </a:rPr>
              <a:t>本周无测验</a:t>
            </a:r>
          </a:p>
        </p:txBody>
      </p:sp>
      <p:sp>
        <p:nvSpPr>
          <p:cNvPr id="55" name="矩形 54">
            <a:extLst>
              <a:ext uri="{FF2B5EF4-FFF2-40B4-BE49-F238E27FC236}">
                <a16:creationId xmlns:a16="http://schemas.microsoft.com/office/drawing/2014/main" id="{49E0EAAF-2D0D-43C8-BC3E-5A7E28CC3D09}"/>
              </a:ext>
            </a:extLst>
          </p:cNvPr>
          <p:cNvSpPr>
            <a:spLocks noGrp="1"/>
          </p:cNvSpPr>
          <p:nvPr/>
        </p:nvSpPr>
        <p:spPr>
          <a:xfrm>
            <a:off x="9239250" y="4086225"/>
            <a:ext cx="2000250" cy="476250"/>
          </a:xfrm>
          <a:prstGeom prst="rect">
            <a:avLst/>
          </a:prstGeom>
          <a:solidFill>
            <a:srgbClr val="FFF8E6"/>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该字段在此时不适用</a:t>
            </a:r>
          </a:p>
        </p:txBody>
      </p:sp>
      <p:sp>
        <p:nvSpPr>
          <p:cNvPr id="56" name="矩形 55">
            <a:extLst>
              <a:ext uri="{FF2B5EF4-FFF2-40B4-BE49-F238E27FC236}">
                <a16:creationId xmlns:a16="http://schemas.microsoft.com/office/drawing/2014/main" id="{A6B766A0-3B35-41D4-9C0C-9068677116C0}"/>
              </a:ext>
            </a:extLst>
          </p:cNvPr>
          <p:cNvSpPr>
            <a:spLocks noGrp="1"/>
          </p:cNvSpPr>
          <p:nvPr/>
        </p:nvSpPr>
        <p:spPr>
          <a:xfrm>
            <a:off x="7772400" y="5010150"/>
            <a:ext cx="3714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黑体"/>
                <a:ea typeface="黑体"/>
                <a:cs typeface="黑体"/>
              </a:rPr>
              <a:t>先问原因，再决定删除、填补或保留缺失标记。</a:t>
            </a:r>
          </a:p>
        </p:txBody>
      </p:sp>
      <p:sp>
        <p:nvSpPr>
          <p:cNvPr id="57" name="矩形 56">
            <a:extLst>
              <a:ext uri="{FF2B5EF4-FFF2-40B4-BE49-F238E27FC236}">
                <a16:creationId xmlns:a16="http://schemas.microsoft.com/office/drawing/2014/main" id="{9EA81889-3115-4A36-8B8D-897C003E4666}"/>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58" name="矩形 57">
            <a:extLst>
              <a:ext uri="{FF2B5EF4-FFF2-40B4-BE49-F238E27FC236}">
                <a16:creationId xmlns:a16="http://schemas.microsoft.com/office/drawing/2014/main" id="{2EB65EAF-7D60-426F-9328-B3A2217B075F}"/>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处理缺失值之前，必须先解释缺失是怎样产生的。</a:t>
            </a:r>
          </a:p>
        </p:txBody>
      </p:sp>
    </p:spTree>
    <p:extLst>
      <p:ext uri="{BB962C8B-B14F-4D97-AF65-F5344CB8AC3E}">
        <p14:creationId xmlns:p14="http://schemas.microsoft.com/office/powerpoint/2010/main" val="1219251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3D007BF3-FB34-41D7-A191-2976CB5DF154}"/>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E87A582A-B95D-4660-88F6-43A4638F870E}"/>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4FD5D701-7932-460D-87E4-D23EB9442101}"/>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F0F5A2C-F205-486A-8202-A8773EDF1019}"/>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三类缺失机制</a:t>
            </a:r>
          </a:p>
        </p:txBody>
      </p:sp>
      <p:sp>
        <p:nvSpPr>
          <p:cNvPr id="5" name="矩形 4">
            <a:extLst>
              <a:ext uri="{FF2B5EF4-FFF2-40B4-BE49-F238E27FC236}">
                <a16:creationId xmlns:a16="http://schemas.microsoft.com/office/drawing/2014/main" id="{BF1D89CF-1734-4A52-A13C-B8C37C5F48ED}"/>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32/90</a:t>
            </a:r>
          </a:p>
        </p:txBody>
      </p:sp>
      <p:sp>
        <p:nvSpPr>
          <p:cNvPr id="6" name="矩形 5">
            <a:extLst>
              <a:ext uri="{FF2B5EF4-FFF2-40B4-BE49-F238E27FC236}">
                <a16:creationId xmlns:a16="http://schemas.microsoft.com/office/drawing/2014/main" id="{5902B260-A460-48DE-B21F-AA35FFF9748D}"/>
              </a:ext>
            </a:extLst>
          </p:cNvPr>
          <p:cNvSpPr>
            <a:spLocks noGrp="1"/>
          </p:cNvSpPr>
          <p:nvPr/>
        </p:nvSpPr>
        <p:spPr>
          <a:xfrm>
            <a:off x="666750" y="1428750"/>
            <a:ext cx="2381250" cy="95250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8455B740-66C9-440B-A36B-288931057D00}"/>
              </a:ext>
            </a:extLst>
          </p:cNvPr>
          <p:cNvSpPr>
            <a:spLocks noGrp="1"/>
          </p:cNvSpPr>
          <p:nvPr/>
        </p:nvSpPr>
        <p:spPr>
          <a:xfrm>
            <a:off x="819150" y="1562100"/>
            <a:ext cx="2076450" cy="74295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机制</a:t>
            </a:r>
          </a:p>
        </p:txBody>
      </p:sp>
      <p:sp>
        <p:nvSpPr>
          <p:cNvPr id="8" name="矩形 7">
            <a:extLst>
              <a:ext uri="{FF2B5EF4-FFF2-40B4-BE49-F238E27FC236}">
                <a16:creationId xmlns:a16="http://schemas.microsoft.com/office/drawing/2014/main" id="{D3C5073F-C67B-4E39-AB22-767FE5424E3F}"/>
              </a:ext>
            </a:extLst>
          </p:cNvPr>
          <p:cNvSpPr>
            <a:spLocks noGrp="1"/>
          </p:cNvSpPr>
          <p:nvPr/>
        </p:nvSpPr>
        <p:spPr>
          <a:xfrm>
            <a:off x="3048000" y="1428750"/>
            <a:ext cx="257175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B4B226E1-04FB-4B82-956E-2E21FE2581CC}"/>
              </a:ext>
            </a:extLst>
          </p:cNvPr>
          <p:cNvSpPr>
            <a:spLocks noGrp="1"/>
          </p:cNvSpPr>
          <p:nvPr/>
        </p:nvSpPr>
        <p:spPr>
          <a:xfrm>
            <a:off x="3200400" y="1562100"/>
            <a:ext cx="226695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含义</a:t>
            </a:r>
          </a:p>
        </p:txBody>
      </p:sp>
      <p:sp>
        <p:nvSpPr>
          <p:cNvPr id="10" name="矩形 9">
            <a:extLst>
              <a:ext uri="{FF2B5EF4-FFF2-40B4-BE49-F238E27FC236}">
                <a16:creationId xmlns:a16="http://schemas.microsoft.com/office/drawing/2014/main" id="{349C6190-F69A-43AF-BD2E-98CD88BE75DC}"/>
              </a:ext>
            </a:extLst>
          </p:cNvPr>
          <p:cNvSpPr>
            <a:spLocks noGrp="1"/>
          </p:cNvSpPr>
          <p:nvPr/>
        </p:nvSpPr>
        <p:spPr>
          <a:xfrm>
            <a:off x="5619750" y="1428750"/>
            <a:ext cx="571500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EC43038A-E10F-4F4B-95E6-5AED3D789E0B}"/>
              </a:ext>
            </a:extLst>
          </p:cNvPr>
          <p:cNvSpPr>
            <a:spLocks noGrp="1"/>
          </p:cNvSpPr>
          <p:nvPr/>
        </p:nvSpPr>
        <p:spPr>
          <a:xfrm>
            <a:off x="5772150" y="1562100"/>
            <a:ext cx="541020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Times New Roman"/>
                <a:ea typeface="Times New Roman"/>
                <a:cs typeface="Times New Roman"/>
              </a:rPr>
              <a:t>student-week </a:t>
            </a:r>
            <a:r>
              <a:rPr>
                <a:latin typeface="黑体"/>
                <a:ea typeface="黑体"/>
                <a:cs typeface="黑体"/>
              </a:rPr>
              <a:t>示例</a:t>
            </a:r>
          </a:p>
        </p:txBody>
      </p:sp>
      <p:sp>
        <p:nvSpPr>
          <p:cNvPr id="12" name="矩形 11">
            <a:extLst>
              <a:ext uri="{FF2B5EF4-FFF2-40B4-BE49-F238E27FC236}">
                <a16:creationId xmlns:a16="http://schemas.microsoft.com/office/drawing/2014/main" id="{164B8504-AD2F-4AEE-B590-C77887C875A2}"/>
              </a:ext>
            </a:extLst>
          </p:cNvPr>
          <p:cNvSpPr>
            <a:spLocks noGrp="1"/>
          </p:cNvSpPr>
          <p:nvPr/>
        </p:nvSpPr>
        <p:spPr>
          <a:xfrm>
            <a:off x="666750" y="2419350"/>
            <a:ext cx="2381250" cy="95250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0199CE91-ACF1-46DC-8E94-02FF3C9DE83F}"/>
              </a:ext>
            </a:extLst>
          </p:cNvPr>
          <p:cNvSpPr>
            <a:spLocks noGrp="1"/>
          </p:cNvSpPr>
          <p:nvPr/>
        </p:nvSpPr>
        <p:spPr>
          <a:xfrm>
            <a:off x="819150" y="2552700"/>
            <a:ext cx="2076450" cy="74295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Times New Roman"/>
                <a:ea typeface="Times New Roman"/>
                <a:cs typeface="Times New Roman"/>
              </a:rPr>
              <a:t>MCAR</a:t>
            </a:r>
          </a:p>
        </p:txBody>
      </p:sp>
      <p:sp>
        <p:nvSpPr>
          <p:cNvPr id="14" name="矩形 13">
            <a:extLst>
              <a:ext uri="{FF2B5EF4-FFF2-40B4-BE49-F238E27FC236}">
                <a16:creationId xmlns:a16="http://schemas.microsoft.com/office/drawing/2014/main" id="{6280DB64-83E9-4A98-8CDE-350DCB0EC6D5}"/>
              </a:ext>
            </a:extLst>
          </p:cNvPr>
          <p:cNvSpPr>
            <a:spLocks noGrp="1"/>
          </p:cNvSpPr>
          <p:nvPr/>
        </p:nvSpPr>
        <p:spPr>
          <a:xfrm>
            <a:off x="3048000" y="2419350"/>
            <a:ext cx="257175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E6638E03-DF37-42F3-806D-E3593B3BAAB4}"/>
              </a:ext>
            </a:extLst>
          </p:cNvPr>
          <p:cNvSpPr>
            <a:spLocks noGrp="1"/>
          </p:cNvSpPr>
          <p:nvPr/>
        </p:nvSpPr>
        <p:spPr>
          <a:xfrm>
            <a:off x="3200400" y="2552700"/>
            <a:ext cx="226695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缺失与任何已观测或未观测变量都无关</a:t>
            </a:r>
          </a:p>
        </p:txBody>
      </p:sp>
      <p:sp>
        <p:nvSpPr>
          <p:cNvPr id="16" name="矩形 15">
            <a:extLst>
              <a:ext uri="{FF2B5EF4-FFF2-40B4-BE49-F238E27FC236}">
                <a16:creationId xmlns:a16="http://schemas.microsoft.com/office/drawing/2014/main" id="{2ABB28C0-A372-437E-87AF-4F39962A4C14}"/>
              </a:ext>
            </a:extLst>
          </p:cNvPr>
          <p:cNvSpPr>
            <a:spLocks noGrp="1"/>
          </p:cNvSpPr>
          <p:nvPr/>
        </p:nvSpPr>
        <p:spPr>
          <a:xfrm>
            <a:off x="5619750" y="2419350"/>
            <a:ext cx="571500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263EAD4C-660D-4017-9F17-3854F23D048A}"/>
              </a:ext>
            </a:extLst>
          </p:cNvPr>
          <p:cNvSpPr>
            <a:spLocks noGrp="1"/>
          </p:cNvSpPr>
          <p:nvPr/>
        </p:nvSpPr>
        <p:spPr>
          <a:xfrm>
            <a:off x="5772150" y="2552700"/>
            <a:ext cx="541020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同步服务随机中断，少量 </a:t>
            </a:r>
            <a:r>
              <a:rPr>
                <a:latin typeface="Times New Roman"/>
                <a:ea typeface="Times New Roman"/>
                <a:cs typeface="Times New Roman"/>
              </a:rPr>
              <a:t>quiz </a:t>
            </a:r>
            <a:r>
              <a:rPr>
                <a:latin typeface="黑体"/>
                <a:ea typeface="黑体"/>
                <a:cs typeface="黑体"/>
              </a:rPr>
              <a:t>丢失</a:t>
            </a:r>
          </a:p>
        </p:txBody>
      </p:sp>
      <p:sp>
        <p:nvSpPr>
          <p:cNvPr id="18" name="矩形 17">
            <a:extLst>
              <a:ext uri="{FF2B5EF4-FFF2-40B4-BE49-F238E27FC236}">
                <a16:creationId xmlns:a16="http://schemas.microsoft.com/office/drawing/2014/main" id="{725EBC3F-A729-4503-9CD2-D3D44671922F}"/>
              </a:ext>
            </a:extLst>
          </p:cNvPr>
          <p:cNvSpPr>
            <a:spLocks noGrp="1"/>
          </p:cNvSpPr>
          <p:nvPr/>
        </p:nvSpPr>
        <p:spPr>
          <a:xfrm>
            <a:off x="666750" y="3409950"/>
            <a:ext cx="2381250" cy="95250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7E8FE746-79FF-47F7-B3FB-7BCD66313160}"/>
              </a:ext>
            </a:extLst>
          </p:cNvPr>
          <p:cNvSpPr>
            <a:spLocks noGrp="1"/>
          </p:cNvSpPr>
          <p:nvPr/>
        </p:nvSpPr>
        <p:spPr>
          <a:xfrm>
            <a:off x="819150" y="3543300"/>
            <a:ext cx="2076450" cy="74295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Times New Roman"/>
                <a:ea typeface="Times New Roman"/>
                <a:cs typeface="Times New Roman"/>
              </a:rPr>
              <a:t>MAR</a:t>
            </a:r>
          </a:p>
        </p:txBody>
      </p:sp>
      <p:sp>
        <p:nvSpPr>
          <p:cNvPr id="20" name="矩形 19">
            <a:extLst>
              <a:ext uri="{FF2B5EF4-FFF2-40B4-BE49-F238E27FC236}">
                <a16:creationId xmlns:a16="http://schemas.microsoft.com/office/drawing/2014/main" id="{02F55330-9511-4481-987E-EA4217CB58A4}"/>
              </a:ext>
            </a:extLst>
          </p:cNvPr>
          <p:cNvSpPr>
            <a:spLocks noGrp="1"/>
          </p:cNvSpPr>
          <p:nvPr/>
        </p:nvSpPr>
        <p:spPr>
          <a:xfrm>
            <a:off x="3048000" y="3409950"/>
            <a:ext cx="257175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CD1645BB-B8D3-41C5-852E-9994B332ADC8}"/>
              </a:ext>
            </a:extLst>
          </p:cNvPr>
          <p:cNvSpPr>
            <a:spLocks noGrp="1"/>
          </p:cNvSpPr>
          <p:nvPr/>
        </p:nvSpPr>
        <p:spPr>
          <a:xfrm>
            <a:off x="3200400" y="3543300"/>
            <a:ext cx="226695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缺失可由已观测变量解释</a:t>
            </a:r>
          </a:p>
        </p:txBody>
      </p:sp>
      <p:sp>
        <p:nvSpPr>
          <p:cNvPr id="22" name="矩形 21">
            <a:extLst>
              <a:ext uri="{FF2B5EF4-FFF2-40B4-BE49-F238E27FC236}">
                <a16:creationId xmlns:a16="http://schemas.microsoft.com/office/drawing/2014/main" id="{1244E09D-C5B4-4002-A383-5B31180FE93C}"/>
              </a:ext>
            </a:extLst>
          </p:cNvPr>
          <p:cNvSpPr>
            <a:spLocks noGrp="1"/>
          </p:cNvSpPr>
          <p:nvPr/>
        </p:nvSpPr>
        <p:spPr>
          <a:xfrm>
            <a:off x="5619750" y="3409950"/>
            <a:ext cx="571500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F61F44C8-6754-4B1D-962E-A70A53378AEE}"/>
              </a:ext>
            </a:extLst>
          </p:cNvPr>
          <p:cNvSpPr>
            <a:spLocks noGrp="1"/>
          </p:cNvSpPr>
          <p:nvPr/>
        </p:nvSpPr>
        <p:spPr>
          <a:xfrm>
            <a:off x="5772150" y="3543300"/>
            <a:ext cx="541020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低登录学生更常缺少 </a:t>
            </a:r>
            <a:r>
              <a:rPr>
                <a:latin typeface="Times New Roman"/>
                <a:ea typeface="Times New Roman"/>
                <a:cs typeface="Times New Roman"/>
              </a:rPr>
              <a:t>quiz</a:t>
            </a:r>
          </a:p>
        </p:txBody>
      </p:sp>
      <p:sp>
        <p:nvSpPr>
          <p:cNvPr id="24" name="矩形 23">
            <a:extLst>
              <a:ext uri="{FF2B5EF4-FFF2-40B4-BE49-F238E27FC236}">
                <a16:creationId xmlns:a16="http://schemas.microsoft.com/office/drawing/2014/main" id="{11EFA89E-6BFF-4177-A880-B6D86EA94C2A}"/>
              </a:ext>
            </a:extLst>
          </p:cNvPr>
          <p:cNvSpPr>
            <a:spLocks noGrp="1"/>
          </p:cNvSpPr>
          <p:nvPr/>
        </p:nvSpPr>
        <p:spPr>
          <a:xfrm>
            <a:off x="666750" y="4400550"/>
            <a:ext cx="2381250" cy="95250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AAB452B5-2B54-468D-8823-CDF98C995526}"/>
              </a:ext>
            </a:extLst>
          </p:cNvPr>
          <p:cNvSpPr>
            <a:spLocks noGrp="1"/>
          </p:cNvSpPr>
          <p:nvPr/>
        </p:nvSpPr>
        <p:spPr>
          <a:xfrm>
            <a:off x="819150" y="4533900"/>
            <a:ext cx="2076450" cy="74295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Times New Roman"/>
                <a:ea typeface="Times New Roman"/>
                <a:cs typeface="Times New Roman"/>
              </a:rPr>
              <a:t>MNAR</a:t>
            </a:r>
          </a:p>
        </p:txBody>
      </p:sp>
      <p:sp>
        <p:nvSpPr>
          <p:cNvPr id="26" name="矩形 25">
            <a:extLst>
              <a:ext uri="{FF2B5EF4-FFF2-40B4-BE49-F238E27FC236}">
                <a16:creationId xmlns:a16="http://schemas.microsoft.com/office/drawing/2014/main" id="{9A1A0850-6F5C-4C53-A8DF-DD3F0E2F50BB}"/>
              </a:ext>
            </a:extLst>
          </p:cNvPr>
          <p:cNvSpPr>
            <a:spLocks noGrp="1"/>
          </p:cNvSpPr>
          <p:nvPr/>
        </p:nvSpPr>
        <p:spPr>
          <a:xfrm>
            <a:off x="3048000" y="4400550"/>
            <a:ext cx="257175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21D954E5-F8D1-432C-B753-ED30A82B169F}"/>
              </a:ext>
            </a:extLst>
          </p:cNvPr>
          <p:cNvSpPr>
            <a:spLocks noGrp="1"/>
          </p:cNvSpPr>
          <p:nvPr/>
        </p:nvSpPr>
        <p:spPr>
          <a:xfrm>
            <a:off x="3200400" y="4533900"/>
            <a:ext cx="226695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缺失与该变量未观测值本身有关</a:t>
            </a:r>
          </a:p>
        </p:txBody>
      </p:sp>
      <p:sp>
        <p:nvSpPr>
          <p:cNvPr id="28" name="矩形 27">
            <a:extLst>
              <a:ext uri="{FF2B5EF4-FFF2-40B4-BE49-F238E27FC236}">
                <a16:creationId xmlns:a16="http://schemas.microsoft.com/office/drawing/2014/main" id="{DB348C92-E643-4011-940E-527506DE7284}"/>
              </a:ext>
            </a:extLst>
          </p:cNvPr>
          <p:cNvSpPr>
            <a:spLocks noGrp="1"/>
          </p:cNvSpPr>
          <p:nvPr/>
        </p:nvSpPr>
        <p:spPr>
          <a:xfrm>
            <a:off x="5619750" y="4400550"/>
            <a:ext cx="571500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7568DF78-B7DF-46C9-B5BC-9003DC2A8419}"/>
              </a:ext>
            </a:extLst>
          </p:cNvPr>
          <p:cNvSpPr>
            <a:spLocks noGrp="1"/>
          </p:cNvSpPr>
          <p:nvPr/>
        </p:nvSpPr>
        <p:spPr>
          <a:xfrm>
            <a:off x="5772150" y="4533900"/>
            <a:ext cx="541020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成绩很差的学生选择不提交</a:t>
            </a:r>
          </a:p>
        </p:txBody>
      </p:sp>
      <p:sp>
        <p:nvSpPr>
          <p:cNvPr id="30" name="矩形 29">
            <a:extLst>
              <a:ext uri="{FF2B5EF4-FFF2-40B4-BE49-F238E27FC236}">
                <a16:creationId xmlns:a16="http://schemas.microsoft.com/office/drawing/2014/main" id="{7E016790-C4D1-46A6-A632-1E48CEFBC1A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1" name="矩形 30">
            <a:extLst>
              <a:ext uri="{FF2B5EF4-FFF2-40B4-BE49-F238E27FC236}">
                <a16:creationId xmlns:a16="http://schemas.microsoft.com/office/drawing/2014/main" id="{B8AA6B0F-6E7A-4768-B183-B70E66A27F6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缺失机制决定填补是否会引入系统性偏差。</a:t>
            </a:r>
          </a:p>
        </p:txBody>
      </p:sp>
    </p:spTree>
    <p:extLst>
      <p:ext uri="{BB962C8B-B14F-4D97-AF65-F5344CB8AC3E}">
        <p14:creationId xmlns:p14="http://schemas.microsoft.com/office/powerpoint/2010/main" val="1717661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a:extLst>
              <a:ext uri="{FF2B5EF4-FFF2-40B4-BE49-F238E27FC236}">
                <a16:creationId xmlns:a16="http://schemas.microsoft.com/office/drawing/2014/main" id="{BDA557CB-337C-4EE0-8BBD-308DDC1CC7BD}"/>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CEDECD9D-2481-4591-B511-51C307929225}"/>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B5818017-E483-4E75-AD9B-9CAC65086864}"/>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5553032-CFE9-46DD-919C-FE6865E80F2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缺失值的处理方法</a:t>
            </a:r>
          </a:p>
        </p:txBody>
      </p:sp>
      <p:sp>
        <p:nvSpPr>
          <p:cNvPr id="5" name="矩形 4">
            <a:extLst>
              <a:ext uri="{FF2B5EF4-FFF2-40B4-BE49-F238E27FC236}">
                <a16:creationId xmlns:a16="http://schemas.microsoft.com/office/drawing/2014/main" id="{1D94F6EB-1620-4E0E-80DF-191EE2C85B87}"/>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33/90</a:t>
            </a:r>
          </a:p>
        </p:txBody>
      </p:sp>
      <p:sp>
        <p:nvSpPr>
          <p:cNvPr id="6" name="矩形 5">
            <a:extLst>
              <a:ext uri="{FF2B5EF4-FFF2-40B4-BE49-F238E27FC236}">
                <a16:creationId xmlns:a16="http://schemas.microsoft.com/office/drawing/2014/main" id="{A0CAA7AE-B5A9-40BA-8AB6-3319843CF321}"/>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971A34C5-5ACC-4AC7-9580-D7C4F361C45A}"/>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方法</a:t>
            </a:r>
          </a:p>
        </p:txBody>
      </p:sp>
      <p:sp>
        <p:nvSpPr>
          <p:cNvPr id="8" name="矩形 7">
            <a:extLst>
              <a:ext uri="{FF2B5EF4-FFF2-40B4-BE49-F238E27FC236}">
                <a16:creationId xmlns:a16="http://schemas.microsoft.com/office/drawing/2014/main" id="{16A57DEF-6F3D-4F53-87F5-7AF0B461129C}"/>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E9BD3741-2986-4236-96EE-52FD42B07127}"/>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适用情况</a:t>
            </a:r>
          </a:p>
        </p:txBody>
      </p:sp>
      <p:sp>
        <p:nvSpPr>
          <p:cNvPr id="10" name="矩形 9">
            <a:extLst>
              <a:ext uri="{FF2B5EF4-FFF2-40B4-BE49-F238E27FC236}">
                <a16:creationId xmlns:a16="http://schemas.microsoft.com/office/drawing/2014/main" id="{F455CABA-65BF-4B19-986A-886F6E20315D}"/>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F24EBDB2-0999-43CF-AFEB-922DEA1BE4FC}"/>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主要风险</a:t>
            </a:r>
          </a:p>
        </p:txBody>
      </p:sp>
      <p:sp>
        <p:nvSpPr>
          <p:cNvPr id="12" name="矩形 11">
            <a:extLst>
              <a:ext uri="{FF2B5EF4-FFF2-40B4-BE49-F238E27FC236}">
                <a16:creationId xmlns:a16="http://schemas.microsoft.com/office/drawing/2014/main" id="{E8C614F5-7D88-4A46-B8B6-4DD80C165E18}"/>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E7A9767D-8CB5-4164-B046-04FE6AE923AD}"/>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删除记录</a:t>
            </a:r>
          </a:p>
        </p:txBody>
      </p:sp>
      <p:sp>
        <p:nvSpPr>
          <p:cNvPr id="14" name="矩形 13">
            <a:extLst>
              <a:ext uri="{FF2B5EF4-FFF2-40B4-BE49-F238E27FC236}">
                <a16:creationId xmlns:a16="http://schemas.microsoft.com/office/drawing/2014/main" id="{EB7FDD17-6AA9-4F53-83D2-9B39C8C8ABBC}"/>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2F47CA65-0B5B-4767-9974-586608343B48}"/>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缺失很少且近似随机</a:t>
            </a:r>
          </a:p>
        </p:txBody>
      </p:sp>
      <p:sp>
        <p:nvSpPr>
          <p:cNvPr id="16" name="矩形 15">
            <a:extLst>
              <a:ext uri="{FF2B5EF4-FFF2-40B4-BE49-F238E27FC236}">
                <a16:creationId xmlns:a16="http://schemas.microsoft.com/office/drawing/2014/main" id="{E2913DFB-505A-443A-B67F-76DAEA29C495}"/>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72A9BB6D-9543-4E68-B7AC-CE06D8149991}"/>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样本量下降，可能改变群体比例</a:t>
            </a:r>
          </a:p>
        </p:txBody>
      </p:sp>
      <p:sp>
        <p:nvSpPr>
          <p:cNvPr id="18" name="矩形 17">
            <a:extLst>
              <a:ext uri="{FF2B5EF4-FFF2-40B4-BE49-F238E27FC236}">
                <a16:creationId xmlns:a16="http://schemas.microsoft.com/office/drawing/2014/main" id="{CBA1AC7E-65D4-4BFC-94E9-FC425A72EBF2}"/>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008DA19B-E803-4FEF-AB5C-C987C731A2E7}"/>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删除字段</a:t>
            </a:r>
          </a:p>
        </p:txBody>
      </p:sp>
      <p:sp>
        <p:nvSpPr>
          <p:cNvPr id="20" name="矩形 19">
            <a:extLst>
              <a:ext uri="{FF2B5EF4-FFF2-40B4-BE49-F238E27FC236}">
                <a16:creationId xmlns:a16="http://schemas.microsoft.com/office/drawing/2014/main" id="{E8DE33F0-5013-4707-BFD2-32CE6ECCB458}"/>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8ABBA11C-58B4-44C0-A6CD-3A01CBD58188}"/>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字段大面积缺失且业务价值低</a:t>
            </a:r>
          </a:p>
        </p:txBody>
      </p:sp>
      <p:sp>
        <p:nvSpPr>
          <p:cNvPr id="22" name="矩形 21">
            <a:extLst>
              <a:ext uri="{FF2B5EF4-FFF2-40B4-BE49-F238E27FC236}">
                <a16:creationId xmlns:a16="http://schemas.microsoft.com/office/drawing/2014/main" id="{87B5914A-9788-4CFB-81AD-359994F04AFE}"/>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5A3ECFC0-07F4-4188-9F36-90D692BD7A1F}"/>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可能丢失重要信号</a:t>
            </a:r>
          </a:p>
        </p:txBody>
      </p:sp>
      <p:sp>
        <p:nvSpPr>
          <p:cNvPr id="24" name="矩形 23">
            <a:extLst>
              <a:ext uri="{FF2B5EF4-FFF2-40B4-BE49-F238E27FC236}">
                <a16:creationId xmlns:a16="http://schemas.microsoft.com/office/drawing/2014/main" id="{10A3D739-8F01-4D5A-ADE5-EFCB031A3EA3}"/>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D5255BAC-4120-4F6E-A887-1C9A9CE4ECE9}"/>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常数填补</a:t>
            </a:r>
          </a:p>
        </p:txBody>
      </p:sp>
      <p:sp>
        <p:nvSpPr>
          <p:cNvPr id="26" name="矩形 25">
            <a:extLst>
              <a:ext uri="{FF2B5EF4-FFF2-40B4-BE49-F238E27FC236}">
                <a16:creationId xmlns:a16="http://schemas.microsoft.com/office/drawing/2014/main" id="{0C1501FF-3BF6-4CB5-A19B-BA1A5FEE09AC}"/>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530EFDC7-6C52-40CF-82BC-3A58142D4D7D}"/>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“未发生”本身具有明确含义</a:t>
            </a:r>
          </a:p>
        </p:txBody>
      </p:sp>
      <p:sp>
        <p:nvSpPr>
          <p:cNvPr id="28" name="矩形 27">
            <a:extLst>
              <a:ext uri="{FF2B5EF4-FFF2-40B4-BE49-F238E27FC236}">
                <a16:creationId xmlns:a16="http://schemas.microsoft.com/office/drawing/2014/main" id="{F366C5FB-A3EB-44B6-8B64-B32FCE5A2E2F}"/>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8EF1BCFB-6AFA-4A4A-8FCF-99040AAACD70}"/>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常数可能被误当成真实数值</a:t>
            </a:r>
          </a:p>
        </p:txBody>
      </p:sp>
      <p:sp>
        <p:nvSpPr>
          <p:cNvPr id="30" name="矩形 29">
            <a:extLst>
              <a:ext uri="{FF2B5EF4-FFF2-40B4-BE49-F238E27FC236}">
                <a16:creationId xmlns:a16="http://schemas.microsoft.com/office/drawing/2014/main" id="{EF6CCD76-5A6B-49EA-A321-1632313FBAB6}"/>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2FDAF238-F378-466B-9FC9-F7CED6AE5DFC}"/>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中位数 </a:t>
            </a:r>
            <a:r>
              <a:rPr>
                <a:latin typeface="Times New Roman"/>
                <a:ea typeface="Times New Roman"/>
                <a:cs typeface="Times New Roman"/>
              </a:rPr>
              <a:t>/ </a:t>
            </a:r>
            <a:r>
              <a:rPr>
                <a:latin typeface="黑体"/>
                <a:ea typeface="黑体"/>
                <a:cs typeface="黑体"/>
              </a:rPr>
              <a:t>众数</a:t>
            </a:r>
          </a:p>
        </p:txBody>
      </p:sp>
      <p:sp>
        <p:nvSpPr>
          <p:cNvPr id="32" name="矩形 31">
            <a:extLst>
              <a:ext uri="{FF2B5EF4-FFF2-40B4-BE49-F238E27FC236}">
                <a16:creationId xmlns:a16="http://schemas.microsoft.com/office/drawing/2014/main" id="{3DC41D5F-5B72-4CA9-A62F-D495CAF750C2}"/>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CCE445FE-6FC9-4B7C-BE69-9C8AB3395BB0}"/>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需要简单稳健的基线</a:t>
            </a:r>
          </a:p>
        </p:txBody>
      </p:sp>
      <p:sp>
        <p:nvSpPr>
          <p:cNvPr id="34" name="矩形 33">
            <a:extLst>
              <a:ext uri="{FF2B5EF4-FFF2-40B4-BE49-F238E27FC236}">
                <a16:creationId xmlns:a16="http://schemas.microsoft.com/office/drawing/2014/main" id="{772331AC-6538-43D0-9D48-3D1C92495A8C}"/>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BF890A10-C720-491F-B578-6A39529AF48A}"/>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压缩方差，弱化变量关系</a:t>
            </a:r>
          </a:p>
        </p:txBody>
      </p:sp>
      <p:sp>
        <p:nvSpPr>
          <p:cNvPr id="36" name="矩形 35">
            <a:extLst>
              <a:ext uri="{FF2B5EF4-FFF2-40B4-BE49-F238E27FC236}">
                <a16:creationId xmlns:a16="http://schemas.microsoft.com/office/drawing/2014/main" id="{68B1A560-466B-4F9C-B449-12C1EDD2A1E0}"/>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46BFB5C5-A1F3-4D50-B356-1326B2AA66C0}"/>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分组填补</a:t>
            </a:r>
          </a:p>
        </p:txBody>
      </p:sp>
      <p:sp>
        <p:nvSpPr>
          <p:cNvPr id="38" name="矩形 37">
            <a:extLst>
              <a:ext uri="{FF2B5EF4-FFF2-40B4-BE49-F238E27FC236}">
                <a16:creationId xmlns:a16="http://schemas.microsoft.com/office/drawing/2014/main" id="{2AD3A806-21E4-4993-8EF7-DFA1D652DBC0}"/>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DD44E601-53A2-4FA6-AA63-E366B862BD4D}"/>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不同群体分布明显不同</a:t>
            </a:r>
          </a:p>
        </p:txBody>
      </p:sp>
      <p:sp>
        <p:nvSpPr>
          <p:cNvPr id="40" name="矩形 39">
            <a:extLst>
              <a:ext uri="{FF2B5EF4-FFF2-40B4-BE49-F238E27FC236}">
                <a16:creationId xmlns:a16="http://schemas.microsoft.com/office/drawing/2014/main" id="{C6A2999F-84A2-45EC-88C2-3AC919069E41}"/>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275CD405-ED9D-4DD1-94D6-A08824FFE7BF}"/>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分组定义可能泄漏标签</a:t>
            </a:r>
          </a:p>
        </p:txBody>
      </p:sp>
      <p:sp>
        <p:nvSpPr>
          <p:cNvPr id="42" name="矩形 41">
            <a:extLst>
              <a:ext uri="{FF2B5EF4-FFF2-40B4-BE49-F238E27FC236}">
                <a16:creationId xmlns:a16="http://schemas.microsoft.com/office/drawing/2014/main" id="{26FA9C63-D5CB-463C-BFEA-94220D2EA581}"/>
              </a:ext>
            </a:extLst>
          </p:cNvPr>
          <p:cNvSpPr>
            <a:spLocks noGrp="1"/>
          </p:cNvSpPr>
          <p:nvPr/>
        </p:nvSpPr>
        <p:spPr>
          <a:xfrm>
            <a:off x="666750" y="49339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43" name="矩形 42">
            <a:extLst>
              <a:ext uri="{FF2B5EF4-FFF2-40B4-BE49-F238E27FC236}">
                <a16:creationId xmlns:a16="http://schemas.microsoft.com/office/drawing/2014/main" id="{906CEE5F-108E-4A35-860C-D67A9383B9B9}"/>
              </a:ext>
            </a:extLst>
          </p:cNvPr>
          <p:cNvSpPr>
            <a:spLocks noGrp="1"/>
          </p:cNvSpPr>
          <p:nvPr/>
        </p:nvSpPr>
        <p:spPr>
          <a:xfrm>
            <a:off x="819150" y="50673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模型填补</a:t>
            </a:r>
          </a:p>
        </p:txBody>
      </p:sp>
      <p:sp>
        <p:nvSpPr>
          <p:cNvPr id="44" name="矩形 43">
            <a:extLst>
              <a:ext uri="{FF2B5EF4-FFF2-40B4-BE49-F238E27FC236}">
                <a16:creationId xmlns:a16="http://schemas.microsoft.com/office/drawing/2014/main" id="{B8E30055-C9B1-4582-B913-57B0B7509BC9}"/>
              </a:ext>
            </a:extLst>
          </p:cNvPr>
          <p:cNvSpPr>
            <a:spLocks noGrp="1"/>
          </p:cNvSpPr>
          <p:nvPr/>
        </p:nvSpPr>
        <p:spPr>
          <a:xfrm>
            <a:off x="3048000" y="49339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5" name="矩形 44">
            <a:extLst>
              <a:ext uri="{FF2B5EF4-FFF2-40B4-BE49-F238E27FC236}">
                <a16:creationId xmlns:a16="http://schemas.microsoft.com/office/drawing/2014/main" id="{65141A67-C297-49DD-82BC-A7BAA0117ACA}"/>
              </a:ext>
            </a:extLst>
          </p:cNvPr>
          <p:cNvSpPr>
            <a:spLocks noGrp="1"/>
          </p:cNvSpPr>
          <p:nvPr/>
        </p:nvSpPr>
        <p:spPr>
          <a:xfrm>
            <a:off x="3200400" y="50673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变量之间关系稳定且样本充足</a:t>
            </a:r>
          </a:p>
        </p:txBody>
      </p:sp>
      <p:sp>
        <p:nvSpPr>
          <p:cNvPr id="46" name="矩形 45">
            <a:extLst>
              <a:ext uri="{FF2B5EF4-FFF2-40B4-BE49-F238E27FC236}">
                <a16:creationId xmlns:a16="http://schemas.microsoft.com/office/drawing/2014/main" id="{B412A37A-C8D3-4F6A-AE63-DDFB25F29E90}"/>
              </a:ext>
            </a:extLst>
          </p:cNvPr>
          <p:cNvSpPr>
            <a:spLocks noGrp="1"/>
          </p:cNvSpPr>
          <p:nvPr/>
        </p:nvSpPr>
        <p:spPr>
          <a:xfrm>
            <a:off x="5619750" y="49339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7" name="矩形 46">
            <a:extLst>
              <a:ext uri="{FF2B5EF4-FFF2-40B4-BE49-F238E27FC236}">
                <a16:creationId xmlns:a16="http://schemas.microsoft.com/office/drawing/2014/main" id="{EAC5BAD4-66F9-406E-92F3-3379E501582F}"/>
              </a:ext>
            </a:extLst>
          </p:cNvPr>
          <p:cNvSpPr>
            <a:spLocks noGrp="1"/>
          </p:cNvSpPr>
          <p:nvPr/>
        </p:nvSpPr>
        <p:spPr>
          <a:xfrm>
            <a:off x="5772150" y="50673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复杂度高，仍有模型偏差</a:t>
            </a:r>
          </a:p>
        </p:txBody>
      </p:sp>
      <p:sp>
        <p:nvSpPr>
          <p:cNvPr id="48" name="矩形 47">
            <a:extLst>
              <a:ext uri="{FF2B5EF4-FFF2-40B4-BE49-F238E27FC236}">
                <a16:creationId xmlns:a16="http://schemas.microsoft.com/office/drawing/2014/main" id="{38FAC23A-9227-4E3D-9AEF-408B5A24336E}"/>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9" name="矩形 48">
            <a:extLst>
              <a:ext uri="{FF2B5EF4-FFF2-40B4-BE49-F238E27FC236}">
                <a16:creationId xmlns:a16="http://schemas.microsoft.com/office/drawing/2014/main" id="{D8AE38C1-5881-4482-94B1-85B20EE8991A}"/>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填补的目标是保留可用信息，不是把表格变得没有空白。</a:t>
            </a:r>
          </a:p>
        </p:txBody>
      </p:sp>
    </p:spTree>
    <p:extLst>
      <p:ext uri="{BB962C8B-B14F-4D97-AF65-F5344CB8AC3E}">
        <p14:creationId xmlns:p14="http://schemas.microsoft.com/office/powerpoint/2010/main" val="1992407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FDF4586F-3EEC-43B0-8679-8C97AF24A4D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62628086-DDD8-4351-A845-FB2616AB7EB8}"/>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D516E3F4-CA9C-480A-8B20-FBE660B31F92}"/>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0D60971D-34AC-47C8-B607-5BAF6B60A878}"/>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例：</a:t>
            </a:r>
            <a:r>
              <a:rPr>
                <a:latin typeface="Times New Roman"/>
                <a:ea typeface="Times New Roman"/>
                <a:cs typeface="Times New Roman"/>
              </a:rPr>
              <a:t>quiz_score </a:t>
            </a:r>
            <a:r>
              <a:rPr>
                <a:latin typeface="黑体"/>
                <a:ea typeface="黑体"/>
                <a:cs typeface="黑体"/>
              </a:rPr>
              <a:t>应怎样填补</a:t>
            </a:r>
          </a:p>
        </p:txBody>
      </p:sp>
      <p:sp>
        <p:nvSpPr>
          <p:cNvPr id="5" name="矩形 4">
            <a:extLst>
              <a:ext uri="{FF2B5EF4-FFF2-40B4-BE49-F238E27FC236}">
                <a16:creationId xmlns:a16="http://schemas.microsoft.com/office/drawing/2014/main" id="{F44172F1-9B89-4198-A6D7-60E18BCDC85D}"/>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34/90</a:t>
            </a:r>
          </a:p>
        </p:txBody>
      </p:sp>
      <p:sp>
        <p:nvSpPr>
          <p:cNvPr id="6" name="矩形 5">
            <a:extLst>
              <a:ext uri="{FF2B5EF4-FFF2-40B4-BE49-F238E27FC236}">
                <a16:creationId xmlns:a16="http://schemas.microsoft.com/office/drawing/2014/main" id="{D2C63126-10B5-4C98-BC48-CB561DA91298}"/>
              </a:ext>
            </a:extLst>
          </p:cNvPr>
          <p:cNvSpPr>
            <a:spLocks noGrp="1"/>
          </p:cNvSpPr>
          <p:nvPr/>
        </p:nvSpPr>
        <p:spPr>
          <a:xfrm>
            <a:off x="609600" y="1200150"/>
            <a:ext cx="10763250" cy="4114800"/>
          </a:xfrm>
          <a:prstGeom prst="rect">
            <a:avLst/>
          </a:prstGeom>
          <a:solidFill>
            <a:srgbClr val="FFFFFF"/>
          </a:solidFill>
          <a:ln w="9525">
            <a:solidFill>
              <a:srgbClr val="BAC4D0"/>
            </a:solidFill>
            <a:prstDash val="solid"/>
          </a:ln>
        </p:spPr>
        <p:txBody>
          <a:bodyPr/>
          <a:lstStyle/>
          <a:p>
            <a:endParaRPr lang="zh-CN" altLang="en-US"/>
          </a:p>
        </p:txBody>
      </p:sp>
      <p:sp>
        <p:nvSpPr>
          <p:cNvPr id="7" name="矩形 6">
            <a:extLst>
              <a:ext uri="{FF2B5EF4-FFF2-40B4-BE49-F238E27FC236}">
                <a16:creationId xmlns:a16="http://schemas.microsoft.com/office/drawing/2014/main" id="{E24B0297-5D88-4BDB-B942-03696372D20F}"/>
              </a:ext>
            </a:extLst>
          </p:cNvPr>
          <p:cNvSpPr>
            <a:spLocks noGrp="1"/>
          </p:cNvSpPr>
          <p:nvPr/>
        </p:nvSpPr>
        <p:spPr>
          <a:xfrm>
            <a:off x="800100" y="13525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8" name="矩形 7">
            <a:extLst>
              <a:ext uri="{FF2B5EF4-FFF2-40B4-BE49-F238E27FC236}">
                <a16:creationId xmlns:a16="http://schemas.microsoft.com/office/drawing/2014/main" id="{CE244E51-9985-425F-ACA9-D55F50947BD6}"/>
              </a:ext>
            </a:extLst>
          </p:cNvPr>
          <p:cNvSpPr>
            <a:spLocks noGrp="1"/>
          </p:cNvSpPr>
          <p:nvPr/>
        </p:nvSpPr>
        <p:spPr>
          <a:xfrm>
            <a:off x="1066800" y="14287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原始记录</a:t>
            </a:r>
          </a:p>
        </p:txBody>
      </p:sp>
      <p:sp>
        <p:nvSpPr>
          <p:cNvPr id="9" name="矩形 8">
            <a:extLst>
              <a:ext uri="{FF2B5EF4-FFF2-40B4-BE49-F238E27FC236}">
                <a16:creationId xmlns:a16="http://schemas.microsoft.com/office/drawing/2014/main" id="{6E31F68C-A887-42C6-94FB-6704333ACCD5}"/>
              </a:ext>
            </a:extLst>
          </p:cNvPr>
          <p:cNvSpPr>
            <a:spLocks noGrp="1"/>
          </p:cNvSpPr>
          <p:nvPr/>
        </p:nvSpPr>
        <p:spPr>
          <a:xfrm>
            <a:off x="2819400" y="14287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黑体"/>
                <a:ea typeface="黑体"/>
                <a:cs typeface="黑体"/>
              </a:rPr>
              <a:t>同一课程中，</a:t>
            </a:r>
            <a:r>
              <a:rPr>
                <a:latin typeface="Times New Roman"/>
                <a:ea typeface="Times New Roman"/>
                <a:cs typeface="Times New Roman"/>
              </a:rPr>
              <a:t>quiz_score </a:t>
            </a:r>
            <a:r>
              <a:rPr>
                <a:latin typeface="黑体"/>
                <a:ea typeface="黑体"/>
                <a:cs typeface="黑体"/>
              </a:rPr>
              <a:t>为 </a:t>
            </a:r>
            <a:r>
              <a:rPr>
                <a:latin typeface="Times New Roman"/>
                <a:ea typeface="Times New Roman"/>
                <a:cs typeface="Times New Roman"/>
              </a:rPr>
              <a:t>42、66、78、90、NA</a:t>
            </a:r>
          </a:p>
        </p:txBody>
      </p:sp>
      <p:sp>
        <p:nvSpPr>
          <p:cNvPr id="10" name="矩形 9">
            <a:extLst>
              <a:ext uri="{FF2B5EF4-FFF2-40B4-BE49-F238E27FC236}">
                <a16:creationId xmlns:a16="http://schemas.microsoft.com/office/drawing/2014/main" id="{35E13DCA-227F-4C83-8D85-D7DBA8ECB27D}"/>
              </a:ext>
            </a:extLst>
          </p:cNvPr>
          <p:cNvSpPr>
            <a:spLocks noGrp="1"/>
          </p:cNvSpPr>
          <p:nvPr/>
        </p:nvSpPr>
        <p:spPr>
          <a:xfrm>
            <a:off x="800100" y="2095500"/>
            <a:ext cx="10382250" cy="590550"/>
          </a:xfrm>
          <a:prstGeom prst="rect">
            <a:avLst/>
          </a:prstGeom>
          <a:solidFill>
            <a:srgbClr val="FFFFFF"/>
          </a:solidFill>
          <a:ln w="9525">
            <a:solidFill>
              <a:srgbClr val="EEF2F7"/>
            </a:solidFill>
            <a:prstDash val="solid"/>
          </a:ln>
        </p:spPr>
        <p:txBody>
          <a:bodyPr/>
          <a:lstStyle/>
          <a:p>
            <a:endParaRPr lang="zh-CN" altLang="en-US"/>
          </a:p>
        </p:txBody>
      </p:sp>
      <p:sp>
        <p:nvSpPr>
          <p:cNvPr id="11" name="矩形 10">
            <a:extLst>
              <a:ext uri="{FF2B5EF4-FFF2-40B4-BE49-F238E27FC236}">
                <a16:creationId xmlns:a16="http://schemas.microsoft.com/office/drawing/2014/main" id="{B57DFD1C-1696-4273-AC7C-774CEDD30517}"/>
              </a:ext>
            </a:extLst>
          </p:cNvPr>
          <p:cNvSpPr>
            <a:spLocks noGrp="1"/>
          </p:cNvSpPr>
          <p:nvPr/>
        </p:nvSpPr>
        <p:spPr>
          <a:xfrm>
            <a:off x="1066800" y="217170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均值填补</a:t>
            </a:r>
          </a:p>
        </p:txBody>
      </p:sp>
      <p:sp>
        <p:nvSpPr>
          <p:cNvPr id="12" name="矩形 11">
            <a:extLst>
              <a:ext uri="{FF2B5EF4-FFF2-40B4-BE49-F238E27FC236}">
                <a16:creationId xmlns:a16="http://schemas.microsoft.com/office/drawing/2014/main" id="{E9D8C9AE-AEEE-4C16-9308-66522943A172}"/>
              </a:ext>
            </a:extLst>
          </p:cNvPr>
          <p:cNvSpPr>
            <a:spLocks noGrp="1"/>
          </p:cNvSpPr>
          <p:nvPr/>
        </p:nvSpPr>
        <p:spPr>
          <a:xfrm>
            <a:off x="2819400" y="217170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(42 + 66 + 78 + 90) / 4 = 69</a:t>
            </a:r>
          </a:p>
        </p:txBody>
      </p:sp>
      <p:sp>
        <p:nvSpPr>
          <p:cNvPr id="13" name="矩形 12">
            <a:extLst>
              <a:ext uri="{FF2B5EF4-FFF2-40B4-BE49-F238E27FC236}">
                <a16:creationId xmlns:a16="http://schemas.microsoft.com/office/drawing/2014/main" id="{FB5D9EAE-E02A-4982-BCFE-3448F69F1E6C}"/>
              </a:ext>
            </a:extLst>
          </p:cNvPr>
          <p:cNvSpPr>
            <a:spLocks noGrp="1"/>
          </p:cNvSpPr>
          <p:nvPr/>
        </p:nvSpPr>
        <p:spPr>
          <a:xfrm>
            <a:off x="800100" y="28384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14" name="矩形 13">
            <a:extLst>
              <a:ext uri="{FF2B5EF4-FFF2-40B4-BE49-F238E27FC236}">
                <a16:creationId xmlns:a16="http://schemas.microsoft.com/office/drawing/2014/main" id="{C591FDBF-2D2F-43E1-BEFC-6800DCBD5372}"/>
              </a:ext>
            </a:extLst>
          </p:cNvPr>
          <p:cNvSpPr>
            <a:spLocks noGrp="1"/>
          </p:cNvSpPr>
          <p:nvPr/>
        </p:nvSpPr>
        <p:spPr>
          <a:xfrm>
            <a:off x="1066800" y="29146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中位数填补</a:t>
            </a:r>
          </a:p>
        </p:txBody>
      </p:sp>
      <p:sp>
        <p:nvSpPr>
          <p:cNvPr id="15" name="矩形 14">
            <a:extLst>
              <a:ext uri="{FF2B5EF4-FFF2-40B4-BE49-F238E27FC236}">
                <a16:creationId xmlns:a16="http://schemas.microsoft.com/office/drawing/2014/main" id="{8116043E-4656-449A-B427-575A5A0556E6}"/>
              </a:ext>
            </a:extLst>
          </p:cNvPr>
          <p:cNvSpPr>
            <a:spLocks noGrp="1"/>
          </p:cNvSpPr>
          <p:nvPr/>
        </p:nvSpPr>
        <p:spPr>
          <a:xfrm>
            <a:off x="2819400" y="29146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(66 + 78) / 2 = 72</a:t>
            </a:r>
          </a:p>
        </p:txBody>
      </p:sp>
      <p:sp>
        <p:nvSpPr>
          <p:cNvPr id="16" name="矩形 15">
            <a:extLst>
              <a:ext uri="{FF2B5EF4-FFF2-40B4-BE49-F238E27FC236}">
                <a16:creationId xmlns:a16="http://schemas.microsoft.com/office/drawing/2014/main" id="{0BA0995C-2CAB-4574-82D7-9E2DD33809FF}"/>
              </a:ext>
            </a:extLst>
          </p:cNvPr>
          <p:cNvSpPr>
            <a:spLocks noGrp="1"/>
          </p:cNvSpPr>
          <p:nvPr/>
        </p:nvSpPr>
        <p:spPr>
          <a:xfrm>
            <a:off x="800100" y="3581400"/>
            <a:ext cx="10382250" cy="590550"/>
          </a:xfrm>
          <a:prstGeom prst="rect">
            <a:avLst/>
          </a:prstGeom>
          <a:solidFill>
            <a:srgbClr val="FFFFFF"/>
          </a:solidFill>
          <a:ln w="9525">
            <a:solidFill>
              <a:srgbClr val="EEF2F7"/>
            </a:solidFill>
            <a:prstDash val="solid"/>
          </a:ln>
        </p:spPr>
        <p:txBody>
          <a:bodyPr/>
          <a:lstStyle/>
          <a:p>
            <a:endParaRPr lang="zh-CN" altLang="en-US"/>
          </a:p>
        </p:txBody>
      </p:sp>
      <p:sp>
        <p:nvSpPr>
          <p:cNvPr id="17" name="矩形 16">
            <a:extLst>
              <a:ext uri="{FF2B5EF4-FFF2-40B4-BE49-F238E27FC236}">
                <a16:creationId xmlns:a16="http://schemas.microsoft.com/office/drawing/2014/main" id="{05CC7201-8F03-4081-B5F1-B9880DC32F47}"/>
              </a:ext>
            </a:extLst>
          </p:cNvPr>
          <p:cNvSpPr>
            <a:spLocks noGrp="1"/>
          </p:cNvSpPr>
          <p:nvPr/>
        </p:nvSpPr>
        <p:spPr>
          <a:xfrm>
            <a:off x="1066800" y="365760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业务判断</a:t>
            </a:r>
          </a:p>
        </p:txBody>
      </p:sp>
      <p:sp>
        <p:nvSpPr>
          <p:cNvPr id="18" name="矩形 17">
            <a:extLst>
              <a:ext uri="{FF2B5EF4-FFF2-40B4-BE49-F238E27FC236}">
                <a16:creationId xmlns:a16="http://schemas.microsoft.com/office/drawing/2014/main" id="{8E9F4B37-3730-4D1F-AC43-3382277BEF58}"/>
              </a:ext>
            </a:extLst>
          </p:cNvPr>
          <p:cNvSpPr>
            <a:spLocks noGrp="1"/>
          </p:cNvSpPr>
          <p:nvPr/>
        </p:nvSpPr>
        <p:spPr>
          <a:xfrm>
            <a:off x="2819400" y="365760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黑体"/>
                <a:ea typeface="黑体"/>
                <a:cs typeface="黑体"/>
              </a:rPr>
              <a:t>若 </a:t>
            </a:r>
            <a:r>
              <a:rPr>
                <a:latin typeface="Times New Roman"/>
                <a:ea typeface="Times New Roman"/>
                <a:cs typeface="Times New Roman"/>
              </a:rPr>
              <a:t>NA </a:t>
            </a:r>
            <a:r>
              <a:rPr>
                <a:latin typeface="黑体"/>
                <a:ea typeface="黑体"/>
                <a:cs typeface="黑体"/>
              </a:rPr>
              <a:t>表示未参加测验，填 </a:t>
            </a:r>
            <a:r>
              <a:rPr>
                <a:latin typeface="Times New Roman"/>
                <a:ea typeface="Times New Roman"/>
                <a:cs typeface="Times New Roman"/>
              </a:rPr>
              <a:t>69 </a:t>
            </a:r>
            <a:r>
              <a:rPr>
                <a:latin typeface="黑体"/>
                <a:ea typeface="黑体"/>
                <a:cs typeface="黑体"/>
              </a:rPr>
              <a:t>或 </a:t>
            </a:r>
            <a:r>
              <a:rPr>
                <a:latin typeface="Times New Roman"/>
                <a:ea typeface="Times New Roman"/>
                <a:cs typeface="Times New Roman"/>
              </a:rPr>
              <a:t>72 </a:t>
            </a:r>
            <a:r>
              <a:rPr>
                <a:latin typeface="黑体"/>
                <a:ea typeface="黑体"/>
                <a:cs typeface="黑体"/>
              </a:rPr>
              <a:t>都会掩盖风险</a:t>
            </a:r>
          </a:p>
        </p:txBody>
      </p:sp>
      <p:sp>
        <p:nvSpPr>
          <p:cNvPr id="19" name="矩形 18">
            <a:extLst>
              <a:ext uri="{FF2B5EF4-FFF2-40B4-BE49-F238E27FC236}">
                <a16:creationId xmlns:a16="http://schemas.microsoft.com/office/drawing/2014/main" id="{96DB03BA-2F84-423E-AD79-DA8D72A8036C}"/>
              </a:ext>
            </a:extLst>
          </p:cNvPr>
          <p:cNvSpPr>
            <a:spLocks noGrp="1"/>
          </p:cNvSpPr>
          <p:nvPr/>
        </p:nvSpPr>
        <p:spPr>
          <a:xfrm>
            <a:off x="800100" y="43243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20" name="矩形 19">
            <a:extLst>
              <a:ext uri="{FF2B5EF4-FFF2-40B4-BE49-F238E27FC236}">
                <a16:creationId xmlns:a16="http://schemas.microsoft.com/office/drawing/2014/main" id="{2470649F-EBFE-40C7-A2FE-E18CD238634A}"/>
              </a:ext>
            </a:extLst>
          </p:cNvPr>
          <p:cNvSpPr>
            <a:spLocks noGrp="1"/>
          </p:cNvSpPr>
          <p:nvPr/>
        </p:nvSpPr>
        <p:spPr>
          <a:xfrm>
            <a:off x="1066800" y="44005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处理结果</a:t>
            </a:r>
          </a:p>
        </p:txBody>
      </p:sp>
      <p:sp>
        <p:nvSpPr>
          <p:cNvPr id="21" name="矩形 20">
            <a:extLst>
              <a:ext uri="{FF2B5EF4-FFF2-40B4-BE49-F238E27FC236}">
                <a16:creationId xmlns:a16="http://schemas.microsoft.com/office/drawing/2014/main" id="{FBC2940F-031A-46A4-AA7C-A50FD4C16468}"/>
              </a:ext>
            </a:extLst>
          </p:cNvPr>
          <p:cNvSpPr>
            <a:spLocks noGrp="1"/>
          </p:cNvSpPr>
          <p:nvPr/>
        </p:nvSpPr>
        <p:spPr>
          <a:xfrm>
            <a:off x="2819400" y="44005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黑体"/>
                <a:ea typeface="黑体"/>
                <a:cs typeface="黑体"/>
              </a:rPr>
              <a:t>保留 </a:t>
            </a:r>
            <a:r>
              <a:rPr>
                <a:latin typeface="Times New Roman"/>
                <a:ea typeface="Times New Roman"/>
                <a:cs typeface="Times New Roman"/>
              </a:rPr>
              <a:t>NA，</a:t>
            </a:r>
            <a:r>
              <a:rPr>
                <a:latin typeface="黑体"/>
                <a:ea typeface="黑体"/>
                <a:cs typeface="黑体"/>
              </a:rPr>
              <a:t>增加 </a:t>
            </a:r>
            <a:r>
              <a:rPr>
                <a:latin typeface="Times New Roman"/>
                <a:ea typeface="Times New Roman"/>
                <a:cs typeface="Times New Roman"/>
              </a:rPr>
              <a:t>quiz_missing = 1，</a:t>
            </a:r>
            <a:r>
              <a:rPr>
                <a:latin typeface="黑体"/>
                <a:ea typeface="黑体"/>
                <a:cs typeface="黑体"/>
              </a:rPr>
              <a:t>并按建模需要再填补</a:t>
            </a:r>
          </a:p>
        </p:txBody>
      </p:sp>
      <p:sp>
        <p:nvSpPr>
          <p:cNvPr id="22" name="矩形 21">
            <a:extLst>
              <a:ext uri="{FF2B5EF4-FFF2-40B4-BE49-F238E27FC236}">
                <a16:creationId xmlns:a16="http://schemas.microsoft.com/office/drawing/2014/main" id="{B7C16080-E7D1-4B83-BC13-2B34CD5C6C2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3" name="矩形 22">
            <a:extLst>
              <a:ext uri="{FF2B5EF4-FFF2-40B4-BE49-F238E27FC236}">
                <a16:creationId xmlns:a16="http://schemas.microsoft.com/office/drawing/2014/main" id="{2759F501-1995-4A79-BC05-0D667C5D137D}"/>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先保留缺失含义，再提供模型可以使用的数值。</a:t>
            </a:r>
          </a:p>
        </p:txBody>
      </p:sp>
    </p:spTree>
    <p:extLst>
      <p:ext uri="{BB962C8B-B14F-4D97-AF65-F5344CB8AC3E}">
        <p14:creationId xmlns:p14="http://schemas.microsoft.com/office/powerpoint/2010/main" val="1138812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矩形 93">
            <a:extLst>
              <a:ext uri="{FF2B5EF4-FFF2-40B4-BE49-F238E27FC236}">
                <a16:creationId xmlns:a16="http://schemas.microsoft.com/office/drawing/2014/main" id="{939DFB50-F96C-4969-AE02-B831F352223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62B267C-7F8E-4F97-B4D4-D6CE363481E5}"/>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3FE233E8-3F4D-4B9E-92B5-F086219B004D}"/>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613C5B5-9F1F-4E39-B117-32AD0808D182}"/>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噪声与异常值不是同一件事</a:t>
            </a:r>
          </a:p>
        </p:txBody>
      </p:sp>
      <p:sp>
        <p:nvSpPr>
          <p:cNvPr id="5" name="矩形 4">
            <a:extLst>
              <a:ext uri="{FF2B5EF4-FFF2-40B4-BE49-F238E27FC236}">
                <a16:creationId xmlns:a16="http://schemas.microsoft.com/office/drawing/2014/main" id="{30F9F646-F145-4322-B32A-2870A90AE29A}"/>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35/90</a:t>
            </a:r>
          </a:p>
        </p:txBody>
      </p:sp>
      <p:sp>
        <p:nvSpPr>
          <p:cNvPr id="6" name="矩形 5">
            <a:extLst>
              <a:ext uri="{FF2B5EF4-FFF2-40B4-BE49-F238E27FC236}">
                <a16:creationId xmlns:a16="http://schemas.microsoft.com/office/drawing/2014/main" id="{78E1B2D0-F93A-4CA6-9678-06A30A28B02A}"/>
              </a:ext>
            </a:extLst>
          </p:cNvPr>
          <p:cNvSpPr>
            <a:spLocks noGrp="1"/>
          </p:cNvSpPr>
          <p:nvPr/>
        </p:nvSpPr>
        <p:spPr>
          <a:xfrm>
            <a:off x="723900" y="1257300"/>
            <a:ext cx="5238750" cy="401955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103E089F-92F5-430B-BFAB-85C4583B9486}"/>
              </a:ext>
            </a:extLst>
          </p:cNvPr>
          <p:cNvSpPr>
            <a:spLocks noGrp="1"/>
          </p:cNvSpPr>
          <p:nvPr/>
        </p:nvSpPr>
        <p:spPr>
          <a:xfrm>
            <a:off x="952500" y="1466850"/>
            <a:ext cx="47815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014DA1"/>
                </a:solidFill>
                <a:latin typeface="黑体"/>
                <a:ea typeface="黑体"/>
                <a:cs typeface="黑体"/>
              </a:defRPr>
            </a:pPr>
            <a:r>
              <a:rPr>
                <a:latin typeface="Times New Roman"/>
                <a:ea typeface="Times New Roman"/>
                <a:cs typeface="Times New Roman"/>
              </a:rPr>
              <a:t>Noise </a:t>
            </a:r>
            <a:r>
              <a:rPr>
                <a:latin typeface="黑体"/>
                <a:ea typeface="黑体"/>
                <a:cs typeface="黑体"/>
              </a:rPr>
              <a:t>噪声</a:t>
            </a:r>
          </a:p>
        </p:txBody>
      </p:sp>
      <p:sp>
        <p:nvSpPr>
          <p:cNvPr id="8" name="矩形 7">
            <a:extLst>
              <a:ext uri="{FF2B5EF4-FFF2-40B4-BE49-F238E27FC236}">
                <a16:creationId xmlns:a16="http://schemas.microsoft.com/office/drawing/2014/main" id="{F559F70D-AF39-40B3-B47A-57B1881FAE44}"/>
              </a:ext>
            </a:extLst>
          </p:cNvPr>
          <p:cNvSpPr>
            <a:spLocks noGrp="1"/>
          </p:cNvSpPr>
          <p:nvPr/>
        </p:nvSpPr>
        <p:spPr>
          <a:xfrm>
            <a:off x="952500" y="1828800"/>
            <a:ext cx="47815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围绕真实关系的随机扰动</a:t>
            </a:r>
          </a:p>
        </p:txBody>
      </p:sp>
      <p:sp>
        <p:nvSpPr>
          <p:cNvPr id="9" name="矩形 8">
            <a:extLst>
              <a:ext uri="{FF2B5EF4-FFF2-40B4-BE49-F238E27FC236}">
                <a16:creationId xmlns:a16="http://schemas.microsoft.com/office/drawing/2014/main" id="{2D1FEF89-CA4B-4B34-A24F-880D4CF86F26}"/>
              </a:ext>
            </a:extLst>
          </p:cNvPr>
          <p:cNvSpPr>
            <a:spLocks noGrp="1"/>
          </p:cNvSpPr>
          <p:nvPr/>
        </p:nvSpPr>
        <p:spPr>
          <a:xfrm>
            <a:off x="1333500" y="4495800"/>
            <a:ext cx="3905250" cy="190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723634C2-29B3-4D58-B22A-EAC8F6E95829}"/>
              </a:ext>
            </a:extLst>
          </p:cNvPr>
          <p:cNvSpPr>
            <a:spLocks noGrp="1"/>
          </p:cNvSpPr>
          <p:nvPr/>
        </p:nvSpPr>
        <p:spPr>
          <a:xfrm>
            <a:off x="1333500" y="2343150"/>
            <a:ext cx="19050" cy="217170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11" name="矩形 10">
            <a:extLst>
              <a:ext uri="{FF2B5EF4-FFF2-40B4-BE49-F238E27FC236}">
                <a16:creationId xmlns:a16="http://schemas.microsoft.com/office/drawing/2014/main" id="{BAE60DAB-C02C-4624-8052-07452F3A2A70}"/>
              </a:ext>
            </a:extLst>
          </p:cNvPr>
          <p:cNvSpPr>
            <a:spLocks noGrp="1"/>
          </p:cNvSpPr>
          <p:nvPr/>
        </p:nvSpPr>
        <p:spPr>
          <a:xfrm>
            <a:off x="6229350" y="1257300"/>
            <a:ext cx="5238750" cy="4019550"/>
          </a:xfrm>
          <a:prstGeom prst="rect">
            <a:avLst/>
          </a:prstGeom>
          <a:solidFill>
            <a:srgbClr val="FFFFFF"/>
          </a:solidFill>
          <a:ln w="9525">
            <a:solidFill>
              <a:srgbClr val="B8C3D1"/>
            </a:solidFill>
            <a:prstDash val="solid"/>
          </a:ln>
        </p:spPr>
        <p:txBody>
          <a:bodyPr/>
          <a:lstStyle/>
          <a:p>
            <a:endParaRPr lang="zh-CN" altLang="en-US"/>
          </a:p>
        </p:txBody>
      </p:sp>
      <p:sp>
        <p:nvSpPr>
          <p:cNvPr id="12" name="矩形 11">
            <a:extLst>
              <a:ext uri="{FF2B5EF4-FFF2-40B4-BE49-F238E27FC236}">
                <a16:creationId xmlns:a16="http://schemas.microsoft.com/office/drawing/2014/main" id="{938314E9-4104-4892-8F20-B6DA0EE1F178}"/>
              </a:ext>
            </a:extLst>
          </p:cNvPr>
          <p:cNvSpPr>
            <a:spLocks noGrp="1"/>
          </p:cNvSpPr>
          <p:nvPr/>
        </p:nvSpPr>
        <p:spPr>
          <a:xfrm>
            <a:off x="6457950" y="1466850"/>
            <a:ext cx="47815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A33A3A"/>
                </a:solidFill>
                <a:latin typeface="黑体"/>
                <a:ea typeface="黑体"/>
                <a:cs typeface="黑体"/>
              </a:defRPr>
            </a:pPr>
            <a:r>
              <a:rPr>
                <a:latin typeface="Times New Roman"/>
                <a:ea typeface="Times New Roman"/>
                <a:cs typeface="Times New Roman"/>
              </a:rPr>
              <a:t>Outlier </a:t>
            </a:r>
            <a:r>
              <a:rPr>
                <a:latin typeface="黑体"/>
                <a:ea typeface="黑体"/>
                <a:cs typeface="黑体"/>
              </a:rPr>
              <a:t>异常值</a:t>
            </a:r>
          </a:p>
        </p:txBody>
      </p:sp>
      <p:sp>
        <p:nvSpPr>
          <p:cNvPr id="13" name="矩形 12">
            <a:extLst>
              <a:ext uri="{FF2B5EF4-FFF2-40B4-BE49-F238E27FC236}">
                <a16:creationId xmlns:a16="http://schemas.microsoft.com/office/drawing/2014/main" id="{B2BF77CF-3AB2-4C47-8FC8-2E9F238A3383}"/>
              </a:ext>
            </a:extLst>
          </p:cNvPr>
          <p:cNvSpPr>
            <a:spLocks noGrp="1"/>
          </p:cNvSpPr>
          <p:nvPr/>
        </p:nvSpPr>
        <p:spPr>
          <a:xfrm>
            <a:off x="6457950" y="1828800"/>
            <a:ext cx="47815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563"/>
                </a:solidFill>
                <a:latin typeface="黑体"/>
                <a:ea typeface="黑体"/>
                <a:cs typeface="黑体"/>
              </a:defRPr>
            </a:pPr>
            <a:r>
              <a:rPr>
                <a:latin typeface="黑体"/>
                <a:ea typeface="黑体"/>
                <a:cs typeface="黑体"/>
              </a:rPr>
              <a:t>显著偏离整体模式的对象</a:t>
            </a:r>
          </a:p>
        </p:txBody>
      </p:sp>
      <p:sp>
        <p:nvSpPr>
          <p:cNvPr id="14" name="矩形 13">
            <a:extLst>
              <a:ext uri="{FF2B5EF4-FFF2-40B4-BE49-F238E27FC236}">
                <a16:creationId xmlns:a16="http://schemas.microsoft.com/office/drawing/2014/main" id="{0D32DAB3-1FCD-4BBC-ABE8-E37B1396E967}"/>
              </a:ext>
            </a:extLst>
          </p:cNvPr>
          <p:cNvSpPr>
            <a:spLocks noGrp="1"/>
          </p:cNvSpPr>
          <p:nvPr/>
        </p:nvSpPr>
        <p:spPr>
          <a:xfrm>
            <a:off x="6838950" y="4495800"/>
            <a:ext cx="3905250" cy="190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5FA5D4EF-49D3-485D-8BA0-E7C89F1B0FF8}"/>
              </a:ext>
            </a:extLst>
          </p:cNvPr>
          <p:cNvSpPr>
            <a:spLocks noGrp="1"/>
          </p:cNvSpPr>
          <p:nvPr/>
        </p:nvSpPr>
        <p:spPr>
          <a:xfrm>
            <a:off x="6838950" y="2343150"/>
            <a:ext cx="19050" cy="217170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16" name="椭圆 15">
            <a:extLst>
              <a:ext uri="{FF2B5EF4-FFF2-40B4-BE49-F238E27FC236}">
                <a16:creationId xmlns:a16="http://schemas.microsoft.com/office/drawing/2014/main" id="{B511C0A6-6967-4E00-940E-298E72C7B0F6}"/>
              </a:ext>
            </a:extLst>
          </p:cNvPr>
          <p:cNvSpPr>
            <a:spLocks noGrp="1"/>
          </p:cNvSpPr>
          <p:nvPr/>
        </p:nvSpPr>
        <p:spPr>
          <a:xfrm>
            <a:off x="1447800" y="4229100"/>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7" name="椭圆 16">
            <a:extLst>
              <a:ext uri="{FF2B5EF4-FFF2-40B4-BE49-F238E27FC236}">
                <a16:creationId xmlns:a16="http://schemas.microsoft.com/office/drawing/2014/main" id="{D6E44B14-5ACC-4051-AF86-960B3CE34C48}"/>
              </a:ext>
            </a:extLst>
          </p:cNvPr>
          <p:cNvSpPr>
            <a:spLocks noGrp="1"/>
          </p:cNvSpPr>
          <p:nvPr/>
        </p:nvSpPr>
        <p:spPr>
          <a:xfrm>
            <a:off x="1762125" y="4191000"/>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8" name="椭圆 17">
            <a:extLst>
              <a:ext uri="{FF2B5EF4-FFF2-40B4-BE49-F238E27FC236}">
                <a16:creationId xmlns:a16="http://schemas.microsoft.com/office/drawing/2014/main" id="{A0BEB65E-4CB0-4046-8131-233CBE3FDC73}"/>
              </a:ext>
            </a:extLst>
          </p:cNvPr>
          <p:cNvSpPr>
            <a:spLocks noGrp="1"/>
          </p:cNvSpPr>
          <p:nvPr/>
        </p:nvSpPr>
        <p:spPr>
          <a:xfrm>
            <a:off x="2076450" y="3895725"/>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9" name="椭圆 18">
            <a:extLst>
              <a:ext uri="{FF2B5EF4-FFF2-40B4-BE49-F238E27FC236}">
                <a16:creationId xmlns:a16="http://schemas.microsoft.com/office/drawing/2014/main" id="{A76CB73A-AA6A-4F3C-8DB0-E33A2197C810}"/>
              </a:ext>
            </a:extLst>
          </p:cNvPr>
          <p:cNvSpPr>
            <a:spLocks noGrp="1"/>
          </p:cNvSpPr>
          <p:nvPr/>
        </p:nvSpPr>
        <p:spPr>
          <a:xfrm>
            <a:off x="2390775" y="3962400"/>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0" name="椭圆 19">
            <a:extLst>
              <a:ext uri="{FF2B5EF4-FFF2-40B4-BE49-F238E27FC236}">
                <a16:creationId xmlns:a16="http://schemas.microsoft.com/office/drawing/2014/main" id="{6BB153B5-DD00-4AF3-81B0-6FC8518E755D}"/>
              </a:ext>
            </a:extLst>
          </p:cNvPr>
          <p:cNvSpPr>
            <a:spLocks noGrp="1"/>
          </p:cNvSpPr>
          <p:nvPr/>
        </p:nvSpPr>
        <p:spPr>
          <a:xfrm>
            <a:off x="2705100" y="3609975"/>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1" name="椭圆 20">
            <a:extLst>
              <a:ext uri="{FF2B5EF4-FFF2-40B4-BE49-F238E27FC236}">
                <a16:creationId xmlns:a16="http://schemas.microsoft.com/office/drawing/2014/main" id="{AD8BFDA0-D7F4-4ECA-B3FD-AE3961541F32}"/>
              </a:ext>
            </a:extLst>
          </p:cNvPr>
          <p:cNvSpPr>
            <a:spLocks noGrp="1"/>
          </p:cNvSpPr>
          <p:nvPr/>
        </p:nvSpPr>
        <p:spPr>
          <a:xfrm>
            <a:off x="3019425" y="3638550"/>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2" name="椭圆 21">
            <a:extLst>
              <a:ext uri="{FF2B5EF4-FFF2-40B4-BE49-F238E27FC236}">
                <a16:creationId xmlns:a16="http://schemas.microsoft.com/office/drawing/2014/main" id="{848C6B3A-28F8-4809-AEDD-2D33BC2E788C}"/>
              </a:ext>
            </a:extLst>
          </p:cNvPr>
          <p:cNvSpPr>
            <a:spLocks noGrp="1"/>
          </p:cNvSpPr>
          <p:nvPr/>
        </p:nvSpPr>
        <p:spPr>
          <a:xfrm>
            <a:off x="3333750" y="3381375"/>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3" name="椭圆 22">
            <a:extLst>
              <a:ext uri="{FF2B5EF4-FFF2-40B4-BE49-F238E27FC236}">
                <a16:creationId xmlns:a16="http://schemas.microsoft.com/office/drawing/2014/main" id="{A20C2C99-497E-4C28-8C8D-FDC4DD1E3A90}"/>
              </a:ext>
            </a:extLst>
          </p:cNvPr>
          <p:cNvSpPr>
            <a:spLocks noGrp="1"/>
          </p:cNvSpPr>
          <p:nvPr/>
        </p:nvSpPr>
        <p:spPr>
          <a:xfrm>
            <a:off x="3648075" y="3409950"/>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4" name="椭圆 23">
            <a:extLst>
              <a:ext uri="{FF2B5EF4-FFF2-40B4-BE49-F238E27FC236}">
                <a16:creationId xmlns:a16="http://schemas.microsoft.com/office/drawing/2014/main" id="{68AA1315-C087-4B57-BE4B-86829F8FE2AA}"/>
              </a:ext>
            </a:extLst>
          </p:cNvPr>
          <p:cNvSpPr>
            <a:spLocks noGrp="1"/>
          </p:cNvSpPr>
          <p:nvPr/>
        </p:nvSpPr>
        <p:spPr>
          <a:xfrm>
            <a:off x="3962400" y="3048000"/>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5" name="椭圆 24">
            <a:extLst>
              <a:ext uri="{FF2B5EF4-FFF2-40B4-BE49-F238E27FC236}">
                <a16:creationId xmlns:a16="http://schemas.microsoft.com/office/drawing/2014/main" id="{D2C70322-D0D7-4C26-803C-D1015259D593}"/>
              </a:ext>
            </a:extLst>
          </p:cNvPr>
          <p:cNvSpPr>
            <a:spLocks noGrp="1"/>
          </p:cNvSpPr>
          <p:nvPr/>
        </p:nvSpPr>
        <p:spPr>
          <a:xfrm>
            <a:off x="4276725" y="3067050"/>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6" name="椭圆 25">
            <a:extLst>
              <a:ext uri="{FF2B5EF4-FFF2-40B4-BE49-F238E27FC236}">
                <a16:creationId xmlns:a16="http://schemas.microsoft.com/office/drawing/2014/main" id="{E0FB6087-8739-46FD-8D60-0EC28BB71C70}"/>
              </a:ext>
            </a:extLst>
          </p:cNvPr>
          <p:cNvSpPr>
            <a:spLocks noGrp="1"/>
          </p:cNvSpPr>
          <p:nvPr/>
        </p:nvSpPr>
        <p:spPr>
          <a:xfrm>
            <a:off x="4591050" y="2981325"/>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7" name="椭圆 26">
            <a:extLst>
              <a:ext uri="{FF2B5EF4-FFF2-40B4-BE49-F238E27FC236}">
                <a16:creationId xmlns:a16="http://schemas.microsoft.com/office/drawing/2014/main" id="{322EAFE2-36BE-42F7-A742-3490CFF637F5}"/>
              </a:ext>
            </a:extLst>
          </p:cNvPr>
          <p:cNvSpPr>
            <a:spLocks noGrp="1"/>
          </p:cNvSpPr>
          <p:nvPr/>
        </p:nvSpPr>
        <p:spPr>
          <a:xfrm>
            <a:off x="4905375" y="2705100"/>
            <a:ext cx="95250" cy="9525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8" name="椭圆 27">
            <a:extLst>
              <a:ext uri="{FF2B5EF4-FFF2-40B4-BE49-F238E27FC236}">
                <a16:creationId xmlns:a16="http://schemas.microsoft.com/office/drawing/2014/main" id="{817E9EFB-E46F-4522-A65E-13C5B8F948BF}"/>
              </a:ext>
            </a:extLst>
          </p:cNvPr>
          <p:cNvSpPr>
            <a:spLocks noGrp="1"/>
          </p:cNvSpPr>
          <p:nvPr/>
        </p:nvSpPr>
        <p:spPr>
          <a:xfrm>
            <a:off x="1404938" y="4148138"/>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29" name="椭圆 28">
            <a:extLst>
              <a:ext uri="{FF2B5EF4-FFF2-40B4-BE49-F238E27FC236}">
                <a16:creationId xmlns:a16="http://schemas.microsoft.com/office/drawing/2014/main" id="{F3451AA8-EDD0-4CD4-902C-C45806EEF663}"/>
              </a:ext>
            </a:extLst>
          </p:cNvPr>
          <p:cNvSpPr>
            <a:spLocks noGrp="1"/>
          </p:cNvSpPr>
          <p:nvPr/>
        </p:nvSpPr>
        <p:spPr>
          <a:xfrm>
            <a:off x="1477367" y="4119166"/>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0" name="椭圆 29">
            <a:extLst>
              <a:ext uri="{FF2B5EF4-FFF2-40B4-BE49-F238E27FC236}">
                <a16:creationId xmlns:a16="http://schemas.microsoft.com/office/drawing/2014/main" id="{98B434F5-7B3A-4A57-9063-93BDD0C0585C}"/>
              </a:ext>
            </a:extLst>
          </p:cNvPr>
          <p:cNvSpPr>
            <a:spLocks noGrp="1"/>
          </p:cNvSpPr>
          <p:nvPr/>
        </p:nvSpPr>
        <p:spPr>
          <a:xfrm>
            <a:off x="1549797" y="4090194"/>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1" name="椭圆 30">
            <a:extLst>
              <a:ext uri="{FF2B5EF4-FFF2-40B4-BE49-F238E27FC236}">
                <a16:creationId xmlns:a16="http://schemas.microsoft.com/office/drawing/2014/main" id="{98D002AB-7118-4684-848D-46611E83CEA8}"/>
              </a:ext>
            </a:extLst>
          </p:cNvPr>
          <p:cNvSpPr>
            <a:spLocks noGrp="1"/>
          </p:cNvSpPr>
          <p:nvPr/>
        </p:nvSpPr>
        <p:spPr>
          <a:xfrm>
            <a:off x="1622227" y="4061222"/>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2" name="椭圆 31">
            <a:extLst>
              <a:ext uri="{FF2B5EF4-FFF2-40B4-BE49-F238E27FC236}">
                <a16:creationId xmlns:a16="http://schemas.microsoft.com/office/drawing/2014/main" id="{CABF79EF-D4F2-4DBE-9087-A89B17E754B9}"/>
              </a:ext>
            </a:extLst>
          </p:cNvPr>
          <p:cNvSpPr>
            <a:spLocks noGrp="1"/>
          </p:cNvSpPr>
          <p:nvPr/>
        </p:nvSpPr>
        <p:spPr>
          <a:xfrm>
            <a:off x="1694656" y="4032250"/>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3" name="椭圆 32">
            <a:extLst>
              <a:ext uri="{FF2B5EF4-FFF2-40B4-BE49-F238E27FC236}">
                <a16:creationId xmlns:a16="http://schemas.microsoft.com/office/drawing/2014/main" id="{685362EB-2963-44CB-83BA-7D85182369B1}"/>
              </a:ext>
            </a:extLst>
          </p:cNvPr>
          <p:cNvSpPr>
            <a:spLocks noGrp="1"/>
          </p:cNvSpPr>
          <p:nvPr/>
        </p:nvSpPr>
        <p:spPr>
          <a:xfrm>
            <a:off x="1767086" y="4003278"/>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4" name="椭圆 33">
            <a:extLst>
              <a:ext uri="{FF2B5EF4-FFF2-40B4-BE49-F238E27FC236}">
                <a16:creationId xmlns:a16="http://schemas.microsoft.com/office/drawing/2014/main" id="{C0BFC0F6-C397-412C-8365-C4A9D785E2B9}"/>
              </a:ext>
            </a:extLst>
          </p:cNvPr>
          <p:cNvSpPr>
            <a:spLocks noGrp="1"/>
          </p:cNvSpPr>
          <p:nvPr/>
        </p:nvSpPr>
        <p:spPr>
          <a:xfrm>
            <a:off x="1839516" y="3974306"/>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5" name="椭圆 34">
            <a:extLst>
              <a:ext uri="{FF2B5EF4-FFF2-40B4-BE49-F238E27FC236}">
                <a16:creationId xmlns:a16="http://schemas.microsoft.com/office/drawing/2014/main" id="{542ECD29-88F7-4336-BD3A-119FBE869B93}"/>
              </a:ext>
            </a:extLst>
          </p:cNvPr>
          <p:cNvSpPr>
            <a:spLocks noGrp="1"/>
          </p:cNvSpPr>
          <p:nvPr/>
        </p:nvSpPr>
        <p:spPr>
          <a:xfrm>
            <a:off x="1911945" y="3945334"/>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6" name="椭圆 35">
            <a:extLst>
              <a:ext uri="{FF2B5EF4-FFF2-40B4-BE49-F238E27FC236}">
                <a16:creationId xmlns:a16="http://schemas.microsoft.com/office/drawing/2014/main" id="{A45C36BE-D220-411B-96E6-75EC2CF72D00}"/>
              </a:ext>
            </a:extLst>
          </p:cNvPr>
          <p:cNvSpPr>
            <a:spLocks noGrp="1"/>
          </p:cNvSpPr>
          <p:nvPr/>
        </p:nvSpPr>
        <p:spPr>
          <a:xfrm>
            <a:off x="1984375" y="3916363"/>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7" name="椭圆 36">
            <a:extLst>
              <a:ext uri="{FF2B5EF4-FFF2-40B4-BE49-F238E27FC236}">
                <a16:creationId xmlns:a16="http://schemas.microsoft.com/office/drawing/2014/main" id="{C530EFF6-4054-4F9F-A631-9006438D871E}"/>
              </a:ext>
            </a:extLst>
          </p:cNvPr>
          <p:cNvSpPr>
            <a:spLocks noGrp="1"/>
          </p:cNvSpPr>
          <p:nvPr/>
        </p:nvSpPr>
        <p:spPr>
          <a:xfrm>
            <a:off x="2056805" y="3887391"/>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8" name="椭圆 37">
            <a:extLst>
              <a:ext uri="{FF2B5EF4-FFF2-40B4-BE49-F238E27FC236}">
                <a16:creationId xmlns:a16="http://schemas.microsoft.com/office/drawing/2014/main" id="{5B3157CD-EB3C-452F-9BA2-7E55321DC047}"/>
              </a:ext>
            </a:extLst>
          </p:cNvPr>
          <p:cNvSpPr>
            <a:spLocks noGrp="1"/>
          </p:cNvSpPr>
          <p:nvPr/>
        </p:nvSpPr>
        <p:spPr>
          <a:xfrm>
            <a:off x="2129234" y="3858419"/>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39" name="椭圆 38">
            <a:extLst>
              <a:ext uri="{FF2B5EF4-FFF2-40B4-BE49-F238E27FC236}">
                <a16:creationId xmlns:a16="http://schemas.microsoft.com/office/drawing/2014/main" id="{487E04CB-BD1F-4304-A1C4-030DCA31519F}"/>
              </a:ext>
            </a:extLst>
          </p:cNvPr>
          <p:cNvSpPr>
            <a:spLocks noGrp="1"/>
          </p:cNvSpPr>
          <p:nvPr/>
        </p:nvSpPr>
        <p:spPr>
          <a:xfrm>
            <a:off x="2201664" y="3829447"/>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0" name="椭圆 39">
            <a:extLst>
              <a:ext uri="{FF2B5EF4-FFF2-40B4-BE49-F238E27FC236}">
                <a16:creationId xmlns:a16="http://schemas.microsoft.com/office/drawing/2014/main" id="{DB791893-3BFD-4164-9C45-32E159A965A2}"/>
              </a:ext>
            </a:extLst>
          </p:cNvPr>
          <p:cNvSpPr>
            <a:spLocks noGrp="1"/>
          </p:cNvSpPr>
          <p:nvPr/>
        </p:nvSpPr>
        <p:spPr>
          <a:xfrm>
            <a:off x="2274094" y="3800475"/>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1" name="椭圆 40">
            <a:extLst>
              <a:ext uri="{FF2B5EF4-FFF2-40B4-BE49-F238E27FC236}">
                <a16:creationId xmlns:a16="http://schemas.microsoft.com/office/drawing/2014/main" id="{11862472-8D7D-4DEB-BC5D-0D990E5473C4}"/>
              </a:ext>
            </a:extLst>
          </p:cNvPr>
          <p:cNvSpPr>
            <a:spLocks noGrp="1"/>
          </p:cNvSpPr>
          <p:nvPr/>
        </p:nvSpPr>
        <p:spPr>
          <a:xfrm>
            <a:off x="2346523" y="3771503"/>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1D4E754C-CB09-4692-AEFE-F92E4CC5D045}"/>
              </a:ext>
            </a:extLst>
          </p:cNvPr>
          <p:cNvSpPr>
            <a:spLocks noGrp="1"/>
          </p:cNvSpPr>
          <p:nvPr/>
        </p:nvSpPr>
        <p:spPr>
          <a:xfrm>
            <a:off x="2418953" y="3742531"/>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9A9B380C-3548-420F-8140-CF7861950447}"/>
              </a:ext>
            </a:extLst>
          </p:cNvPr>
          <p:cNvSpPr>
            <a:spLocks noGrp="1"/>
          </p:cNvSpPr>
          <p:nvPr/>
        </p:nvSpPr>
        <p:spPr>
          <a:xfrm>
            <a:off x="2491383" y="3713559"/>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B8A71EBF-2668-4A3F-89AB-93BFA4831539}"/>
              </a:ext>
            </a:extLst>
          </p:cNvPr>
          <p:cNvSpPr>
            <a:spLocks noGrp="1"/>
          </p:cNvSpPr>
          <p:nvPr/>
        </p:nvSpPr>
        <p:spPr>
          <a:xfrm>
            <a:off x="2563812" y="3684588"/>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161C0C63-9F80-4180-8EAA-0B9B31518E94}"/>
              </a:ext>
            </a:extLst>
          </p:cNvPr>
          <p:cNvSpPr>
            <a:spLocks noGrp="1"/>
          </p:cNvSpPr>
          <p:nvPr/>
        </p:nvSpPr>
        <p:spPr>
          <a:xfrm>
            <a:off x="2636242" y="3655616"/>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E115D6CC-D50A-4A2E-BFD4-D2331BF79617}"/>
              </a:ext>
            </a:extLst>
          </p:cNvPr>
          <p:cNvSpPr>
            <a:spLocks noGrp="1"/>
          </p:cNvSpPr>
          <p:nvPr/>
        </p:nvSpPr>
        <p:spPr>
          <a:xfrm>
            <a:off x="2708672" y="3626644"/>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5B75834B-3F9D-456B-AA30-9CF8D4E40CF8}"/>
              </a:ext>
            </a:extLst>
          </p:cNvPr>
          <p:cNvSpPr>
            <a:spLocks noGrp="1"/>
          </p:cNvSpPr>
          <p:nvPr/>
        </p:nvSpPr>
        <p:spPr>
          <a:xfrm>
            <a:off x="2781102" y="3597672"/>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86B346CA-F0FC-4A08-8E10-4DFB1A913CA8}"/>
              </a:ext>
            </a:extLst>
          </p:cNvPr>
          <p:cNvSpPr>
            <a:spLocks noGrp="1"/>
          </p:cNvSpPr>
          <p:nvPr/>
        </p:nvSpPr>
        <p:spPr>
          <a:xfrm>
            <a:off x="2853531" y="3568700"/>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F692ECA0-EA59-474A-B27A-A5C27F05C024}"/>
              </a:ext>
            </a:extLst>
          </p:cNvPr>
          <p:cNvSpPr>
            <a:spLocks noGrp="1"/>
          </p:cNvSpPr>
          <p:nvPr/>
        </p:nvSpPr>
        <p:spPr>
          <a:xfrm>
            <a:off x="2925961" y="3539728"/>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F84A5C6D-6239-4F60-A366-9C62698E10F3}"/>
              </a:ext>
            </a:extLst>
          </p:cNvPr>
          <p:cNvSpPr>
            <a:spLocks noGrp="1"/>
          </p:cNvSpPr>
          <p:nvPr/>
        </p:nvSpPr>
        <p:spPr>
          <a:xfrm>
            <a:off x="2998391" y="3510756"/>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C0D633C1-DE2A-48A6-88D7-B0D5C308A048}"/>
              </a:ext>
            </a:extLst>
          </p:cNvPr>
          <p:cNvSpPr>
            <a:spLocks noGrp="1"/>
          </p:cNvSpPr>
          <p:nvPr/>
        </p:nvSpPr>
        <p:spPr>
          <a:xfrm>
            <a:off x="3070820" y="3481784"/>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6A28DDB1-5637-46E3-9D9D-0B2E81CDE3D4}"/>
              </a:ext>
            </a:extLst>
          </p:cNvPr>
          <p:cNvSpPr>
            <a:spLocks noGrp="1"/>
          </p:cNvSpPr>
          <p:nvPr/>
        </p:nvSpPr>
        <p:spPr>
          <a:xfrm>
            <a:off x="3143250" y="3452813"/>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A4B8B172-DD83-439A-A0BD-E1887B0131DD}"/>
              </a:ext>
            </a:extLst>
          </p:cNvPr>
          <p:cNvSpPr>
            <a:spLocks noGrp="1"/>
          </p:cNvSpPr>
          <p:nvPr/>
        </p:nvSpPr>
        <p:spPr>
          <a:xfrm>
            <a:off x="3215680" y="3423841"/>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31E13C9F-D25F-4459-81CE-4690343EC4C7}"/>
              </a:ext>
            </a:extLst>
          </p:cNvPr>
          <p:cNvSpPr>
            <a:spLocks noGrp="1"/>
          </p:cNvSpPr>
          <p:nvPr/>
        </p:nvSpPr>
        <p:spPr>
          <a:xfrm>
            <a:off x="3288109" y="3394869"/>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759BD296-4A48-43FC-8D4E-5C412469B75F}"/>
              </a:ext>
            </a:extLst>
          </p:cNvPr>
          <p:cNvSpPr>
            <a:spLocks noGrp="1"/>
          </p:cNvSpPr>
          <p:nvPr/>
        </p:nvSpPr>
        <p:spPr>
          <a:xfrm>
            <a:off x="3360539" y="3365897"/>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54308640-B230-48DF-817C-4DB58914499A}"/>
              </a:ext>
            </a:extLst>
          </p:cNvPr>
          <p:cNvSpPr>
            <a:spLocks noGrp="1"/>
          </p:cNvSpPr>
          <p:nvPr/>
        </p:nvSpPr>
        <p:spPr>
          <a:xfrm>
            <a:off x="3432969" y="3336925"/>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8B8DB6AE-0232-418E-AEB6-0756C04241D2}"/>
              </a:ext>
            </a:extLst>
          </p:cNvPr>
          <p:cNvSpPr>
            <a:spLocks noGrp="1"/>
          </p:cNvSpPr>
          <p:nvPr/>
        </p:nvSpPr>
        <p:spPr>
          <a:xfrm>
            <a:off x="3505398" y="3307953"/>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0242CD3E-26E3-4397-8542-72DE17BDDE20}"/>
              </a:ext>
            </a:extLst>
          </p:cNvPr>
          <p:cNvSpPr>
            <a:spLocks noGrp="1"/>
          </p:cNvSpPr>
          <p:nvPr/>
        </p:nvSpPr>
        <p:spPr>
          <a:xfrm>
            <a:off x="3577828" y="3278981"/>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BF03DF9D-57C0-40BF-A681-65857EE3FB2D}"/>
              </a:ext>
            </a:extLst>
          </p:cNvPr>
          <p:cNvSpPr>
            <a:spLocks noGrp="1"/>
          </p:cNvSpPr>
          <p:nvPr/>
        </p:nvSpPr>
        <p:spPr>
          <a:xfrm>
            <a:off x="3650258" y="3250009"/>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BDD5AF10-1FD4-4DCB-A15E-FFB4E01019EA}"/>
              </a:ext>
            </a:extLst>
          </p:cNvPr>
          <p:cNvSpPr>
            <a:spLocks noGrp="1"/>
          </p:cNvSpPr>
          <p:nvPr/>
        </p:nvSpPr>
        <p:spPr>
          <a:xfrm>
            <a:off x="3722688" y="3221038"/>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65AD72FE-AF49-41F2-A88E-B71E86BDD99B}"/>
              </a:ext>
            </a:extLst>
          </p:cNvPr>
          <p:cNvSpPr>
            <a:spLocks noGrp="1"/>
          </p:cNvSpPr>
          <p:nvPr/>
        </p:nvSpPr>
        <p:spPr>
          <a:xfrm>
            <a:off x="3795117" y="3192066"/>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88E82B83-9EB8-4278-9C6E-37C4348A32CD}"/>
              </a:ext>
            </a:extLst>
          </p:cNvPr>
          <p:cNvSpPr>
            <a:spLocks noGrp="1"/>
          </p:cNvSpPr>
          <p:nvPr/>
        </p:nvSpPr>
        <p:spPr>
          <a:xfrm>
            <a:off x="3867547" y="3163094"/>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10EA54BA-2E79-4EB4-BE08-3F2B47CC2DC1}"/>
              </a:ext>
            </a:extLst>
          </p:cNvPr>
          <p:cNvSpPr>
            <a:spLocks noGrp="1"/>
          </p:cNvSpPr>
          <p:nvPr/>
        </p:nvSpPr>
        <p:spPr>
          <a:xfrm>
            <a:off x="3939977" y="3134122"/>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1846B78F-D726-4528-B9A2-E84B7D0D906C}"/>
              </a:ext>
            </a:extLst>
          </p:cNvPr>
          <p:cNvSpPr>
            <a:spLocks noGrp="1"/>
          </p:cNvSpPr>
          <p:nvPr/>
        </p:nvSpPr>
        <p:spPr>
          <a:xfrm>
            <a:off x="4012406" y="3105150"/>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E204C2EE-06DE-41BD-9C52-6A8FB6213F9A}"/>
              </a:ext>
            </a:extLst>
          </p:cNvPr>
          <p:cNvSpPr>
            <a:spLocks noGrp="1"/>
          </p:cNvSpPr>
          <p:nvPr/>
        </p:nvSpPr>
        <p:spPr>
          <a:xfrm>
            <a:off x="4084836" y="3076178"/>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85486A12-22D2-41B9-88BE-8FB509A07474}"/>
              </a:ext>
            </a:extLst>
          </p:cNvPr>
          <p:cNvSpPr>
            <a:spLocks noGrp="1"/>
          </p:cNvSpPr>
          <p:nvPr/>
        </p:nvSpPr>
        <p:spPr>
          <a:xfrm>
            <a:off x="4157266" y="3047206"/>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EBF66D45-06BB-42DA-99E9-D1B169AD6DE2}"/>
              </a:ext>
            </a:extLst>
          </p:cNvPr>
          <p:cNvSpPr>
            <a:spLocks noGrp="1"/>
          </p:cNvSpPr>
          <p:nvPr/>
        </p:nvSpPr>
        <p:spPr>
          <a:xfrm>
            <a:off x="4229695" y="3018234"/>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27F029AA-0750-4202-A822-3D0E0DD5BF40}"/>
              </a:ext>
            </a:extLst>
          </p:cNvPr>
          <p:cNvSpPr>
            <a:spLocks noGrp="1"/>
          </p:cNvSpPr>
          <p:nvPr/>
        </p:nvSpPr>
        <p:spPr>
          <a:xfrm>
            <a:off x="4302125" y="2989263"/>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83C6DCC2-762B-47AF-B499-9E5E72D1098F}"/>
              </a:ext>
            </a:extLst>
          </p:cNvPr>
          <p:cNvSpPr>
            <a:spLocks noGrp="1"/>
          </p:cNvSpPr>
          <p:nvPr/>
        </p:nvSpPr>
        <p:spPr>
          <a:xfrm>
            <a:off x="4374555" y="2960291"/>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D41B9ED5-C7F1-4FD4-9481-FA4E80A6DB30}"/>
              </a:ext>
            </a:extLst>
          </p:cNvPr>
          <p:cNvSpPr>
            <a:spLocks noGrp="1"/>
          </p:cNvSpPr>
          <p:nvPr/>
        </p:nvSpPr>
        <p:spPr>
          <a:xfrm>
            <a:off x="4446984" y="2931319"/>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4D5654CE-B429-4336-87B9-25AB1F2D834B}"/>
              </a:ext>
            </a:extLst>
          </p:cNvPr>
          <p:cNvSpPr>
            <a:spLocks noGrp="1"/>
          </p:cNvSpPr>
          <p:nvPr/>
        </p:nvSpPr>
        <p:spPr>
          <a:xfrm>
            <a:off x="4519414" y="2902347"/>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AC55CC86-2292-4857-903B-CAD728E546A6}"/>
              </a:ext>
            </a:extLst>
          </p:cNvPr>
          <p:cNvSpPr>
            <a:spLocks noGrp="1"/>
          </p:cNvSpPr>
          <p:nvPr/>
        </p:nvSpPr>
        <p:spPr>
          <a:xfrm>
            <a:off x="4591844" y="2873375"/>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C823C402-C3FF-4D1A-8D29-9FFC77033D69}"/>
              </a:ext>
            </a:extLst>
          </p:cNvPr>
          <p:cNvSpPr>
            <a:spLocks noGrp="1"/>
          </p:cNvSpPr>
          <p:nvPr/>
        </p:nvSpPr>
        <p:spPr>
          <a:xfrm>
            <a:off x="4664273" y="2844403"/>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15CE0F18-886E-4628-89E2-7D785E51BF1C}"/>
              </a:ext>
            </a:extLst>
          </p:cNvPr>
          <p:cNvSpPr>
            <a:spLocks noGrp="1"/>
          </p:cNvSpPr>
          <p:nvPr/>
        </p:nvSpPr>
        <p:spPr>
          <a:xfrm>
            <a:off x="4736703" y="2815431"/>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D2E038A3-A3C0-49AC-A700-66B1925FDFA5}"/>
              </a:ext>
            </a:extLst>
          </p:cNvPr>
          <p:cNvSpPr>
            <a:spLocks noGrp="1"/>
          </p:cNvSpPr>
          <p:nvPr/>
        </p:nvSpPr>
        <p:spPr>
          <a:xfrm>
            <a:off x="4809133" y="2786459"/>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76" name="椭圆 75">
            <a:extLst>
              <a:ext uri="{FF2B5EF4-FFF2-40B4-BE49-F238E27FC236}">
                <a16:creationId xmlns:a16="http://schemas.microsoft.com/office/drawing/2014/main" id="{DED0343A-9A97-4986-A13D-283FCDA01C8C}"/>
              </a:ext>
            </a:extLst>
          </p:cNvPr>
          <p:cNvSpPr>
            <a:spLocks noGrp="1"/>
          </p:cNvSpPr>
          <p:nvPr/>
        </p:nvSpPr>
        <p:spPr>
          <a:xfrm>
            <a:off x="4881563" y="2757488"/>
            <a:ext cx="47625" cy="47625"/>
          </a:xfrm>
          <a:prstGeom prst="ellipse">
            <a:avLst/>
          </a:prstGeom>
          <a:solidFill>
            <a:srgbClr val="9CB9D6"/>
          </a:solidFill>
          <a:ln w="0">
            <a:solidFill>
              <a:srgbClr val="000000">
                <a:alpha val="0"/>
              </a:srgbClr>
            </a:solidFill>
            <a:prstDash val="solid"/>
          </a:ln>
        </p:spPr>
        <p:txBody>
          <a:bodyPr/>
          <a:lstStyle/>
          <a:p>
            <a:endParaRPr lang="zh-CN" altLang="en-US"/>
          </a:p>
        </p:txBody>
      </p:sp>
      <p:sp>
        <p:nvSpPr>
          <p:cNvPr id="77" name="椭圆 76">
            <a:extLst>
              <a:ext uri="{FF2B5EF4-FFF2-40B4-BE49-F238E27FC236}">
                <a16:creationId xmlns:a16="http://schemas.microsoft.com/office/drawing/2014/main" id="{EFC390F8-98D1-4783-80CE-E8F2CC9AD352}"/>
              </a:ext>
            </a:extLst>
          </p:cNvPr>
          <p:cNvSpPr>
            <a:spLocks noGrp="1"/>
          </p:cNvSpPr>
          <p:nvPr/>
        </p:nvSpPr>
        <p:spPr>
          <a:xfrm>
            <a:off x="8534400" y="32956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8" name="椭圆 77">
            <a:extLst>
              <a:ext uri="{FF2B5EF4-FFF2-40B4-BE49-F238E27FC236}">
                <a16:creationId xmlns:a16="http://schemas.microsoft.com/office/drawing/2014/main" id="{8AAD45B4-122A-4847-B244-6426189ADDD9}"/>
              </a:ext>
            </a:extLst>
          </p:cNvPr>
          <p:cNvSpPr>
            <a:spLocks noGrp="1"/>
          </p:cNvSpPr>
          <p:nvPr/>
        </p:nvSpPr>
        <p:spPr>
          <a:xfrm>
            <a:off x="8743950" y="33718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0BBD5DFE-B150-49DC-9FCD-75392B5FEEDB}"/>
              </a:ext>
            </a:extLst>
          </p:cNvPr>
          <p:cNvSpPr>
            <a:spLocks noGrp="1"/>
          </p:cNvSpPr>
          <p:nvPr/>
        </p:nvSpPr>
        <p:spPr>
          <a:xfrm>
            <a:off x="8362950" y="34099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24EA2147-1FBD-452B-86B2-ABBB64B4B8F0}"/>
              </a:ext>
            </a:extLst>
          </p:cNvPr>
          <p:cNvSpPr>
            <a:spLocks noGrp="1"/>
          </p:cNvSpPr>
          <p:nvPr/>
        </p:nvSpPr>
        <p:spPr>
          <a:xfrm>
            <a:off x="8648700" y="31432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6E301B27-AEAC-4862-B5D4-EC7E49B927AF}"/>
              </a:ext>
            </a:extLst>
          </p:cNvPr>
          <p:cNvSpPr>
            <a:spLocks noGrp="1"/>
          </p:cNvSpPr>
          <p:nvPr/>
        </p:nvSpPr>
        <p:spPr>
          <a:xfrm>
            <a:off x="8296275" y="32194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2" name="椭圆 81">
            <a:extLst>
              <a:ext uri="{FF2B5EF4-FFF2-40B4-BE49-F238E27FC236}">
                <a16:creationId xmlns:a16="http://schemas.microsoft.com/office/drawing/2014/main" id="{09A37F46-E706-4620-98CE-359B8CD4967F}"/>
              </a:ext>
            </a:extLst>
          </p:cNvPr>
          <p:cNvSpPr>
            <a:spLocks noGrp="1"/>
          </p:cNvSpPr>
          <p:nvPr/>
        </p:nvSpPr>
        <p:spPr>
          <a:xfrm>
            <a:off x="8858250" y="320040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3" name="椭圆 82">
            <a:extLst>
              <a:ext uri="{FF2B5EF4-FFF2-40B4-BE49-F238E27FC236}">
                <a16:creationId xmlns:a16="http://schemas.microsoft.com/office/drawing/2014/main" id="{D849D0A5-4461-4E9D-84CD-0C11C34CF03E}"/>
              </a:ext>
            </a:extLst>
          </p:cNvPr>
          <p:cNvSpPr>
            <a:spLocks noGrp="1"/>
          </p:cNvSpPr>
          <p:nvPr/>
        </p:nvSpPr>
        <p:spPr>
          <a:xfrm>
            <a:off x="8458200" y="35623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4" name="椭圆 83">
            <a:extLst>
              <a:ext uri="{FF2B5EF4-FFF2-40B4-BE49-F238E27FC236}">
                <a16:creationId xmlns:a16="http://schemas.microsoft.com/office/drawing/2014/main" id="{8A2BB004-CD82-41ED-AE99-9F71E248040F}"/>
              </a:ext>
            </a:extLst>
          </p:cNvPr>
          <p:cNvSpPr>
            <a:spLocks noGrp="1"/>
          </p:cNvSpPr>
          <p:nvPr/>
        </p:nvSpPr>
        <p:spPr>
          <a:xfrm>
            <a:off x="8705850" y="354330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5" name="椭圆 84">
            <a:extLst>
              <a:ext uri="{FF2B5EF4-FFF2-40B4-BE49-F238E27FC236}">
                <a16:creationId xmlns:a16="http://schemas.microsoft.com/office/drawing/2014/main" id="{179FC41F-5F66-4C0C-9838-3D01944E8A4F}"/>
              </a:ext>
            </a:extLst>
          </p:cNvPr>
          <p:cNvSpPr>
            <a:spLocks noGrp="1"/>
          </p:cNvSpPr>
          <p:nvPr/>
        </p:nvSpPr>
        <p:spPr>
          <a:xfrm>
            <a:off x="8210550" y="34861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6" name="椭圆 85">
            <a:extLst>
              <a:ext uri="{FF2B5EF4-FFF2-40B4-BE49-F238E27FC236}">
                <a16:creationId xmlns:a16="http://schemas.microsoft.com/office/drawing/2014/main" id="{3587F5F3-8311-4DD8-98BF-8FE84ED429D1}"/>
              </a:ext>
            </a:extLst>
          </p:cNvPr>
          <p:cNvSpPr>
            <a:spLocks noGrp="1"/>
          </p:cNvSpPr>
          <p:nvPr/>
        </p:nvSpPr>
        <p:spPr>
          <a:xfrm>
            <a:off x="8582025" y="36766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7" name="椭圆 86">
            <a:extLst>
              <a:ext uri="{FF2B5EF4-FFF2-40B4-BE49-F238E27FC236}">
                <a16:creationId xmlns:a16="http://schemas.microsoft.com/office/drawing/2014/main" id="{B58D5046-B171-4498-A105-93ACF16077E1}"/>
              </a:ext>
            </a:extLst>
          </p:cNvPr>
          <p:cNvSpPr>
            <a:spLocks noGrp="1"/>
          </p:cNvSpPr>
          <p:nvPr/>
        </p:nvSpPr>
        <p:spPr>
          <a:xfrm>
            <a:off x="8896350" y="3524250"/>
            <a:ext cx="114300" cy="1143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88" name="椭圆 87">
            <a:extLst>
              <a:ext uri="{FF2B5EF4-FFF2-40B4-BE49-F238E27FC236}">
                <a16:creationId xmlns:a16="http://schemas.microsoft.com/office/drawing/2014/main" id="{0330C0A1-58CD-4730-98BB-13AD03697A1B}"/>
              </a:ext>
            </a:extLst>
          </p:cNvPr>
          <p:cNvSpPr>
            <a:spLocks noGrp="1"/>
          </p:cNvSpPr>
          <p:nvPr/>
        </p:nvSpPr>
        <p:spPr>
          <a:xfrm>
            <a:off x="10591800" y="2533650"/>
            <a:ext cx="171450" cy="171450"/>
          </a:xfrm>
          <a:prstGeom prst="ellipse">
            <a:avLst/>
          </a:prstGeom>
          <a:solidFill>
            <a:srgbClr val="B64040"/>
          </a:solidFill>
          <a:ln w="19050">
            <a:solidFill>
              <a:srgbClr val="FFFFFF"/>
            </a:solidFill>
            <a:prstDash val="solid"/>
          </a:ln>
        </p:spPr>
        <p:txBody>
          <a:bodyPr/>
          <a:lstStyle/>
          <a:p>
            <a:endParaRPr lang="zh-CN" altLang="en-US"/>
          </a:p>
        </p:txBody>
      </p:sp>
      <p:sp>
        <p:nvSpPr>
          <p:cNvPr id="89" name="矩形 88">
            <a:extLst>
              <a:ext uri="{FF2B5EF4-FFF2-40B4-BE49-F238E27FC236}">
                <a16:creationId xmlns:a16="http://schemas.microsoft.com/office/drawing/2014/main" id="{EEA5CA01-D8D0-4166-B58C-0BC60A567A98}"/>
              </a:ext>
            </a:extLst>
          </p:cNvPr>
          <p:cNvSpPr>
            <a:spLocks noGrp="1"/>
          </p:cNvSpPr>
          <p:nvPr/>
        </p:nvSpPr>
        <p:spPr>
          <a:xfrm>
            <a:off x="10096500" y="2800350"/>
            <a:ext cx="1143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A33A3A"/>
                </a:solidFill>
                <a:latin typeface="黑体"/>
                <a:ea typeface="黑体"/>
                <a:cs typeface="黑体"/>
              </a:defRPr>
            </a:pPr>
            <a:r>
              <a:rPr>
                <a:latin typeface="黑体"/>
                <a:ea typeface="黑体"/>
                <a:cs typeface="黑体"/>
              </a:rPr>
              <a:t>需调查</a:t>
            </a:r>
          </a:p>
        </p:txBody>
      </p:sp>
      <p:sp>
        <p:nvSpPr>
          <p:cNvPr id="90" name="矩形 89">
            <a:extLst>
              <a:ext uri="{FF2B5EF4-FFF2-40B4-BE49-F238E27FC236}">
                <a16:creationId xmlns:a16="http://schemas.microsoft.com/office/drawing/2014/main" id="{67790C8E-429F-4389-AEC2-3FDA730D28B4}"/>
              </a:ext>
            </a:extLst>
          </p:cNvPr>
          <p:cNvSpPr>
            <a:spLocks noGrp="1"/>
          </p:cNvSpPr>
          <p:nvPr/>
        </p:nvSpPr>
        <p:spPr>
          <a:xfrm>
            <a:off x="2362200" y="4781550"/>
            <a:ext cx="1809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14DA1"/>
                </a:solidFill>
                <a:latin typeface="黑体"/>
                <a:ea typeface="黑体"/>
                <a:cs typeface="黑体"/>
              </a:defRPr>
            </a:pPr>
            <a:r>
              <a:rPr>
                <a:latin typeface="黑体"/>
                <a:ea typeface="黑体"/>
                <a:cs typeface="黑体"/>
              </a:rPr>
              <a:t>减弱随机误差</a:t>
            </a:r>
          </a:p>
        </p:txBody>
      </p:sp>
      <p:sp>
        <p:nvSpPr>
          <p:cNvPr id="91" name="矩形 90">
            <a:extLst>
              <a:ext uri="{FF2B5EF4-FFF2-40B4-BE49-F238E27FC236}">
                <a16:creationId xmlns:a16="http://schemas.microsoft.com/office/drawing/2014/main" id="{017AAF61-1FC7-4C4D-9271-6FD966EEF6E3}"/>
              </a:ext>
            </a:extLst>
          </p:cNvPr>
          <p:cNvSpPr>
            <a:spLocks noGrp="1"/>
          </p:cNvSpPr>
          <p:nvPr/>
        </p:nvSpPr>
        <p:spPr>
          <a:xfrm>
            <a:off x="7696200" y="4781550"/>
            <a:ext cx="2419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A33A3A"/>
                </a:solidFill>
                <a:latin typeface="黑体"/>
                <a:ea typeface="黑体"/>
                <a:cs typeface="黑体"/>
              </a:defRPr>
            </a:pPr>
            <a:r>
              <a:rPr>
                <a:latin typeface="黑体"/>
                <a:ea typeface="黑体"/>
                <a:cs typeface="黑体"/>
              </a:rPr>
              <a:t>错误？极端行为？新群体？</a:t>
            </a:r>
          </a:p>
        </p:txBody>
      </p:sp>
      <p:sp>
        <p:nvSpPr>
          <p:cNvPr id="92" name="矩形 91">
            <a:extLst>
              <a:ext uri="{FF2B5EF4-FFF2-40B4-BE49-F238E27FC236}">
                <a16:creationId xmlns:a16="http://schemas.microsoft.com/office/drawing/2014/main" id="{14F10811-4065-4A6C-A8B2-9B520BC4B44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93" name="矩形 92">
            <a:extLst>
              <a:ext uri="{FF2B5EF4-FFF2-40B4-BE49-F238E27FC236}">
                <a16:creationId xmlns:a16="http://schemas.microsoft.com/office/drawing/2014/main" id="{76219082-168B-4C97-8793-BD699DB213D7}"/>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噪声通常需要减弱，异常值通常需要调查。</a:t>
            </a:r>
          </a:p>
        </p:txBody>
      </p:sp>
    </p:spTree>
    <p:extLst>
      <p:ext uri="{BB962C8B-B14F-4D97-AF65-F5344CB8AC3E}">
        <p14:creationId xmlns:p14="http://schemas.microsoft.com/office/powerpoint/2010/main" val="6273422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110849A5-7E35-4A84-B707-7B7F9E9BD9F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391376A7-EC96-434F-991F-36F0A2838D23}"/>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6BDC5A85-605D-4899-9674-3C766D1B57FF}"/>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7282DA45-B551-4D20-A139-D747D41CC327}"/>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测量误差与自然变异</a:t>
            </a:r>
          </a:p>
        </p:txBody>
      </p:sp>
      <p:sp>
        <p:nvSpPr>
          <p:cNvPr id="5" name="矩形 4">
            <a:extLst>
              <a:ext uri="{FF2B5EF4-FFF2-40B4-BE49-F238E27FC236}">
                <a16:creationId xmlns:a16="http://schemas.microsoft.com/office/drawing/2014/main" id="{067663BF-8A67-42C8-895A-F89689E4C1A0}"/>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36/90</a:t>
            </a:r>
          </a:p>
        </p:txBody>
      </p:sp>
      <p:sp>
        <p:nvSpPr>
          <p:cNvPr id="6" name="矩形 5">
            <a:extLst>
              <a:ext uri="{FF2B5EF4-FFF2-40B4-BE49-F238E27FC236}">
                <a16:creationId xmlns:a16="http://schemas.microsoft.com/office/drawing/2014/main" id="{89A63CA8-FD5D-4182-94ED-EE771CDF271A}"/>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7D72AC28-AF83-4CFE-B1C1-40C0D77F6882}"/>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E1B80745-A31C-4E18-B841-524F8186B5EC}"/>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测量误差 </a:t>
            </a:r>
            <a:r>
              <a:rPr>
                <a:latin typeface="Times New Roman"/>
                <a:ea typeface="Times New Roman"/>
                <a:cs typeface="Times New Roman"/>
              </a:rPr>
              <a:t>Measurement Error</a:t>
            </a:r>
          </a:p>
        </p:txBody>
      </p:sp>
      <p:sp>
        <p:nvSpPr>
          <p:cNvPr id="9" name="矩形 8">
            <a:extLst>
              <a:ext uri="{FF2B5EF4-FFF2-40B4-BE49-F238E27FC236}">
                <a16:creationId xmlns:a16="http://schemas.microsoft.com/office/drawing/2014/main" id="{CD53B209-263A-43E6-BC98-F0771FD8445C}"/>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E2B24363-47AC-420E-85C9-CF57B7343D26}"/>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同一对象重复测量仍出现差异</a:t>
            </a:r>
          </a:p>
        </p:txBody>
      </p:sp>
      <p:sp>
        <p:nvSpPr>
          <p:cNvPr id="11" name="矩形 10">
            <a:extLst>
              <a:ext uri="{FF2B5EF4-FFF2-40B4-BE49-F238E27FC236}">
                <a16:creationId xmlns:a16="http://schemas.microsoft.com/office/drawing/2014/main" id="{476BE05B-5700-4ADE-82B9-C74C3C6D0FB1}"/>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3565CFAE-CF28-4DCD-A18B-ABE609B466A1}"/>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来源可能是设备、录入或同步</a:t>
            </a:r>
          </a:p>
        </p:txBody>
      </p:sp>
      <p:sp>
        <p:nvSpPr>
          <p:cNvPr id="13" name="矩形 12">
            <a:extLst>
              <a:ext uri="{FF2B5EF4-FFF2-40B4-BE49-F238E27FC236}">
                <a16:creationId xmlns:a16="http://schemas.microsoft.com/office/drawing/2014/main" id="{849BF2AD-7AAB-4A4A-A4F3-5DECCC942046}"/>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DD7BCEA0-D765-40D8-A66B-85920A39B4E1}"/>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例：视频完成率从 </a:t>
            </a:r>
            <a:r>
              <a:rPr>
                <a:latin typeface="Times New Roman"/>
                <a:ea typeface="Times New Roman"/>
                <a:cs typeface="Times New Roman"/>
              </a:rPr>
              <a:t>0.82 </a:t>
            </a:r>
            <a:r>
              <a:rPr>
                <a:latin typeface="黑体"/>
                <a:ea typeface="黑体"/>
                <a:cs typeface="黑体"/>
              </a:rPr>
              <a:t>被记录为 </a:t>
            </a:r>
            <a:r>
              <a:rPr>
                <a:latin typeface="Times New Roman"/>
                <a:ea typeface="Times New Roman"/>
                <a:cs typeface="Times New Roman"/>
              </a:rPr>
              <a:t>8.2</a:t>
            </a:r>
          </a:p>
        </p:txBody>
      </p:sp>
      <p:sp>
        <p:nvSpPr>
          <p:cNvPr id="15" name="矩形 14">
            <a:extLst>
              <a:ext uri="{FF2B5EF4-FFF2-40B4-BE49-F238E27FC236}">
                <a16:creationId xmlns:a16="http://schemas.microsoft.com/office/drawing/2014/main" id="{FEF1463F-D403-4906-9E3E-F85970EF245E}"/>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C0D7BB96-CFF8-4532-A944-C032D8DAB5BA}"/>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应核查量纲、范围和采集流程</a:t>
            </a:r>
          </a:p>
        </p:txBody>
      </p:sp>
      <p:sp>
        <p:nvSpPr>
          <p:cNvPr id="17" name="矩形 16">
            <a:extLst>
              <a:ext uri="{FF2B5EF4-FFF2-40B4-BE49-F238E27FC236}">
                <a16:creationId xmlns:a16="http://schemas.microsoft.com/office/drawing/2014/main" id="{C7A36A54-C2C1-4119-A97A-6D51EA326855}"/>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616160A2-BA64-4286-AD06-A4DFC6A1DD5E}"/>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A76284BB-7310-424E-9B18-5841729CD12C}"/>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自然变异 </a:t>
            </a:r>
            <a:r>
              <a:rPr>
                <a:latin typeface="Times New Roman"/>
                <a:ea typeface="Times New Roman"/>
                <a:cs typeface="Times New Roman"/>
              </a:rPr>
              <a:t>Natural Variation</a:t>
            </a:r>
          </a:p>
        </p:txBody>
      </p:sp>
      <p:sp>
        <p:nvSpPr>
          <p:cNvPr id="20" name="矩形 19">
            <a:extLst>
              <a:ext uri="{FF2B5EF4-FFF2-40B4-BE49-F238E27FC236}">
                <a16:creationId xmlns:a16="http://schemas.microsoft.com/office/drawing/2014/main" id="{29C4912E-4C15-47D8-BDA4-01F8BCA256DA}"/>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CA220634-AF99-4A58-9AB1-0DF78B90529F}"/>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不同对象本来就存在真实差异</a:t>
            </a:r>
          </a:p>
        </p:txBody>
      </p:sp>
      <p:sp>
        <p:nvSpPr>
          <p:cNvPr id="22" name="矩形 21">
            <a:extLst>
              <a:ext uri="{FF2B5EF4-FFF2-40B4-BE49-F238E27FC236}">
                <a16:creationId xmlns:a16="http://schemas.microsoft.com/office/drawing/2014/main" id="{FFBDE4BB-2EDE-4B7B-ADF6-9D1DD897D0F6}"/>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C7B8C85D-8489-4008-BE08-1FA3BC5CC0C2}"/>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来源可能是学习习惯或课程安排</a:t>
            </a:r>
          </a:p>
        </p:txBody>
      </p:sp>
      <p:sp>
        <p:nvSpPr>
          <p:cNvPr id="24" name="矩形 23">
            <a:extLst>
              <a:ext uri="{FF2B5EF4-FFF2-40B4-BE49-F238E27FC236}">
                <a16:creationId xmlns:a16="http://schemas.microsoft.com/office/drawing/2014/main" id="{592063A5-2C6F-4B68-9CF8-569938F6CC19}"/>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B2ABB027-51B1-4CA5-8135-E03845729FF4}"/>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例：学生在考试周登录次数骤增</a:t>
            </a:r>
          </a:p>
        </p:txBody>
      </p:sp>
      <p:sp>
        <p:nvSpPr>
          <p:cNvPr id="26" name="矩形 25">
            <a:extLst>
              <a:ext uri="{FF2B5EF4-FFF2-40B4-BE49-F238E27FC236}">
                <a16:creationId xmlns:a16="http://schemas.microsoft.com/office/drawing/2014/main" id="{72477BE7-6666-4DB5-8464-15F8AAD7495C}"/>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0DA0AECD-B0AC-46A4-AA82-C09039F3A849}"/>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不应把真实行为差异强行平滑</a:t>
            </a:r>
          </a:p>
        </p:txBody>
      </p:sp>
      <p:sp>
        <p:nvSpPr>
          <p:cNvPr id="28" name="矩形 27">
            <a:extLst>
              <a:ext uri="{FF2B5EF4-FFF2-40B4-BE49-F238E27FC236}">
                <a16:creationId xmlns:a16="http://schemas.microsoft.com/office/drawing/2014/main" id="{015A01AC-F648-4D21-9846-542FC65115D8}"/>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734C2D29-C5D8-4576-8B6A-FC5B6B9ADA69}"/>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数据清洗要去除错误，同时保留真实差异。</a:t>
            </a:r>
          </a:p>
        </p:txBody>
      </p:sp>
    </p:spTree>
    <p:extLst>
      <p:ext uri="{BB962C8B-B14F-4D97-AF65-F5344CB8AC3E}">
        <p14:creationId xmlns:p14="http://schemas.microsoft.com/office/powerpoint/2010/main" val="1134671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66">
            <a:extLst>
              <a:ext uri="{FF2B5EF4-FFF2-40B4-BE49-F238E27FC236}">
                <a16:creationId xmlns:a16="http://schemas.microsoft.com/office/drawing/2014/main" id="{6CC4131A-BC8E-47A9-863E-AA2AE01B29A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CC621FBC-1D2B-475B-99F9-C02287660B94}"/>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B61DCC6B-E718-44EE-AD05-7C7035588F82}"/>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8060CAE-C44D-4A4E-8AD6-D05D209A90F0}"/>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发现异常值后怎样处理</a:t>
            </a:r>
          </a:p>
        </p:txBody>
      </p:sp>
      <p:sp>
        <p:nvSpPr>
          <p:cNvPr id="5" name="矩形 4">
            <a:extLst>
              <a:ext uri="{FF2B5EF4-FFF2-40B4-BE49-F238E27FC236}">
                <a16:creationId xmlns:a16="http://schemas.microsoft.com/office/drawing/2014/main" id="{74EF5D48-3B5B-406A-8D43-CE5FD24EB9CA}"/>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37/90</a:t>
            </a:r>
          </a:p>
        </p:txBody>
      </p:sp>
      <p:sp>
        <p:nvSpPr>
          <p:cNvPr id="6" name="矩形 5">
            <a:extLst>
              <a:ext uri="{FF2B5EF4-FFF2-40B4-BE49-F238E27FC236}">
                <a16:creationId xmlns:a16="http://schemas.microsoft.com/office/drawing/2014/main" id="{39A24CAC-A49F-407E-9193-52EC1F5B0FA6}"/>
              </a:ext>
            </a:extLst>
          </p:cNvPr>
          <p:cNvSpPr>
            <a:spLocks noGrp="1"/>
          </p:cNvSpPr>
          <p:nvPr/>
        </p:nvSpPr>
        <p:spPr>
          <a:xfrm>
            <a:off x="68580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7" name="矩形 6">
            <a:extLst>
              <a:ext uri="{FF2B5EF4-FFF2-40B4-BE49-F238E27FC236}">
                <a16:creationId xmlns:a16="http://schemas.microsoft.com/office/drawing/2014/main" id="{087F13F5-3D6A-4466-8D39-FC420D3EC477}"/>
              </a:ext>
            </a:extLst>
          </p:cNvPr>
          <p:cNvSpPr>
            <a:spLocks noGrp="1"/>
          </p:cNvSpPr>
          <p:nvPr/>
        </p:nvSpPr>
        <p:spPr>
          <a:xfrm>
            <a:off x="68580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3A458A7B-6D96-4B9C-ABD5-A508478227FE}"/>
              </a:ext>
            </a:extLst>
          </p:cNvPr>
          <p:cNvSpPr>
            <a:spLocks noGrp="1"/>
          </p:cNvSpPr>
          <p:nvPr/>
        </p:nvSpPr>
        <p:spPr>
          <a:xfrm>
            <a:off x="2884170" y="1219200"/>
            <a:ext cx="2026920" cy="4076700"/>
          </a:xfrm>
          <a:prstGeom prst="rect">
            <a:avLst/>
          </a:prstGeom>
          <a:solidFill>
            <a:srgbClr val="FFFCF4"/>
          </a:solidFill>
          <a:ln w="9525">
            <a:solidFill>
              <a:srgbClr val="B7C2D0"/>
            </a:solidFill>
            <a:prstDash val="solid"/>
          </a:ln>
        </p:spPr>
        <p:txBody>
          <a:bodyPr/>
          <a:lstStyle/>
          <a:p>
            <a:endParaRPr lang="zh-CN" altLang="en-US"/>
          </a:p>
        </p:txBody>
      </p:sp>
      <p:sp>
        <p:nvSpPr>
          <p:cNvPr id="9" name="矩形 8">
            <a:extLst>
              <a:ext uri="{FF2B5EF4-FFF2-40B4-BE49-F238E27FC236}">
                <a16:creationId xmlns:a16="http://schemas.microsoft.com/office/drawing/2014/main" id="{A3569EC8-ED15-4CA0-BCD2-9633F9FF1CAD}"/>
              </a:ext>
            </a:extLst>
          </p:cNvPr>
          <p:cNvSpPr>
            <a:spLocks noGrp="1"/>
          </p:cNvSpPr>
          <p:nvPr/>
        </p:nvSpPr>
        <p:spPr>
          <a:xfrm>
            <a:off x="2884170" y="1219200"/>
            <a:ext cx="2026920"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0A8BA304-512E-4D88-8FFE-987D373F19EA}"/>
              </a:ext>
            </a:extLst>
          </p:cNvPr>
          <p:cNvSpPr>
            <a:spLocks noGrp="1"/>
          </p:cNvSpPr>
          <p:nvPr/>
        </p:nvSpPr>
        <p:spPr>
          <a:xfrm>
            <a:off x="508254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11" name="矩形 10">
            <a:extLst>
              <a:ext uri="{FF2B5EF4-FFF2-40B4-BE49-F238E27FC236}">
                <a16:creationId xmlns:a16="http://schemas.microsoft.com/office/drawing/2014/main" id="{CABCF08B-F9D2-4D3F-B071-FCBFF2DEAE41}"/>
              </a:ext>
            </a:extLst>
          </p:cNvPr>
          <p:cNvSpPr>
            <a:spLocks noGrp="1"/>
          </p:cNvSpPr>
          <p:nvPr/>
        </p:nvSpPr>
        <p:spPr>
          <a:xfrm>
            <a:off x="508254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EDA16BF5-DD17-4AAE-AC25-5C470AED8215}"/>
              </a:ext>
            </a:extLst>
          </p:cNvPr>
          <p:cNvSpPr>
            <a:spLocks noGrp="1"/>
          </p:cNvSpPr>
          <p:nvPr/>
        </p:nvSpPr>
        <p:spPr>
          <a:xfrm>
            <a:off x="7280910" y="1219200"/>
            <a:ext cx="2026920" cy="4076700"/>
          </a:xfrm>
          <a:prstGeom prst="rect">
            <a:avLst/>
          </a:prstGeom>
          <a:solidFill>
            <a:srgbClr val="FFFCF4"/>
          </a:solidFill>
          <a:ln w="9525">
            <a:solidFill>
              <a:srgbClr val="B7C2D0"/>
            </a:solidFill>
            <a:prstDash val="solid"/>
          </a:ln>
        </p:spPr>
        <p:txBody>
          <a:bodyPr/>
          <a:lstStyle/>
          <a:p>
            <a:endParaRPr lang="zh-CN" altLang="en-US"/>
          </a:p>
        </p:txBody>
      </p:sp>
      <p:sp>
        <p:nvSpPr>
          <p:cNvPr id="13" name="矩形 12">
            <a:extLst>
              <a:ext uri="{FF2B5EF4-FFF2-40B4-BE49-F238E27FC236}">
                <a16:creationId xmlns:a16="http://schemas.microsoft.com/office/drawing/2014/main" id="{FF30CB3F-87AF-4741-8DE6-23D69E2DBADA}"/>
              </a:ext>
            </a:extLst>
          </p:cNvPr>
          <p:cNvSpPr>
            <a:spLocks noGrp="1"/>
          </p:cNvSpPr>
          <p:nvPr/>
        </p:nvSpPr>
        <p:spPr>
          <a:xfrm>
            <a:off x="7280910" y="1219200"/>
            <a:ext cx="2026920"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458C9EA1-0CF0-456D-BE54-6B235BA1AF1F}"/>
              </a:ext>
            </a:extLst>
          </p:cNvPr>
          <p:cNvSpPr>
            <a:spLocks noGrp="1"/>
          </p:cNvSpPr>
          <p:nvPr/>
        </p:nvSpPr>
        <p:spPr>
          <a:xfrm>
            <a:off x="947928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15" name="矩形 14">
            <a:extLst>
              <a:ext uri="{FF2B5EF4-FFF2-40B4-BE49-F238E27FC236}">
                <a16:creationId xmlns:a16="http://schemas.microsoft.com/office/drawing/2014/main" id="{4790954E-2BC5-4A2B-A7D4-4CB5B5D7062F}"/>
              </a:ext>
            </a:extLst>
          </p:cNvPr>
          <p:cNvSpPr>
            <a:spLocks noGrp="1"/>
          </p:cNvSpPr>
          <p:nvPr/>
        </p:nvSpPr>
        <p:spPr>
          <a:xfrm>
            <a:off x="947928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2EC9A0E8-34F0-430D-BBEB-37E012AF63EE}"/>
              </a:ext>
            </a:extLst>
          </p:cNvPr>
          <p:cNvSpPr>
            <a:spLocks noGrp="1"/>
          </p:cNvSpPr>
          <p:nvPr/>
        </p:nvSpPr>
        <p:spPr>
          <a:xfrm>
            <a:off x="78105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17" name="椭圆 16">
            <a:extLst>
              <a:ext uri="{FF2B5EF4-FFF2-40B4-BE49-F238E27FC236}">
                <a16:creationId xmlns:a16="http://schemas.microsoft.com/office/drawing/2014/main" id="{025622A3-7FA2-40C9-8846-F75D94177F62}"/>
              </a:ext>
            </a:extLst>
          </p:cNvPr>
          <p:cNvSpPr>
            <a:spLocks noGrp="1"/>
          </p:cNvSpPr>
          <p:nvPr/>
        </p:nvSpPr>
        <p:spPr>
          <a:xfrm>
            <a:off x="137541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18" name="矩形 17">
            <a:extLst>
              <a:ext uri="{FF2B5EF4-FFF2-40B4-BE49-F238E27FC236}">
                <a16:creationId xmlns:a16="http://schemas.microsoft.com/office/drawing/2014/main" id="{78B21F41-44F1-4BD6-863E-37C7C417746C}"/>
              </a:ext>
            </a:extLst>
          </p:cNvPr>
          <p:cNvSpPr>
            <a:spLocks noGrp="1"/>
          </p:cNvSpPr>
          <p:nvPr/>
        </p:nvSpPr>
        <p:spPr>
          <a:xfrm>
            <a:off x="148971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1</a:t>
            </a:r>
          </a:p>
        </p:txBody>
      </p:sp>
      <p:sp>
        <p:nvSpPr>
          <p:cNvPr id="19" name="矩形 18">
            <a:extLst>
              <a:ext uri="{FF2B5EF4-FFF2-40B4-BE49-F238E27FC236}">
                <a16:creationId xmlns:a16="http://schemas.microsoft.com/office/drawing/2014/main" id="{957E064D-C732-4D90-8742-258C9ADD1D51}"/>
              </a:ext>
            </a:extLst>
          </p:cNvPr>
          <p:cNvSpPr>
            <a:spLocks noGrp="1"/>
          </p:cNvSpPr>
          <p:nvPr/>
        </p:nvSpPr>
        <p:spPr>
          <a:xfrm>
            <a:off x="105064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806DA8FD-C1DF-454B-992B-EEC21F98FBAB}"/>
              </a:ext>
            </a:extLst>
          </p:cNvPr>
          <p:cNvSpPr>
            <a:spLocks noGrp="1"/>
          </p:cNvSpPr>
          <p:nvPr/>
        </p:nvSpPr>
        <p:spPr>
          <a:xfrm>
            <a:off x="123306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1C6F4EED-2E82-4D0D-8E7B-DC29E8E91672}"/>
              </a:ext>
            </a:extLst>
          </p:cNvPr>
          <p:cNvSpPr>
            <a:spLocks noGrp="1"/>
          </p:cNvSpPr>
          <p:nvPr/>
        </p:nvSpPr>
        <p:spPr>
          <a:xfrm>
            <a:off x="139522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9254E00A-E809-44AB-AF2C-34E471F55544}"/>
              </a:ext>
            </a:extLst>
          </p:cNvPr>
          <p:cNvSpPr>
            <a:spLocks noGrp="1"/>
          </p:cNvSpPr>
          <p:nvPr/>
        </p:nvSpPr>
        <p:spPr>
          <a:xfrm>
            <a:off x="81915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检测</a:t>
            </a:r>
          </a:p>
        </p:txBody>
      </p:sp>
      <p:sp>
        <p:nvSpPr>
          <p:cNvPr id="23" name="矩形 22">
            <a:extLst>
              <a:ext uri="{FF2B5EF4-FFF2-40B4-BE49-F238E27FC236}">
                <a16:creationId xmlns:a16="http://schemas.microsoft.com/office/drawing/2014/main" id="{375F0C0A-EC79-453C-9F71-5224787C285B}"/>
              </a:ext>
            </a:extLst>
          </p:cNvPr>
          <p:cNvSpPr>
            <a:spLocks noGrp="1"/>
          </p:cNvSpPr>
          <p:nvPr/>
        </p:nvSpPr>
        <p:spPr>
          <a:xfrm>
            <a:off x="85725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55EDE0A1-8C6C-4D3F-8B5F-BC9ED9DA918B}"/>
              </a:ext>
            </a:extLst>
          </p:cNvPr>
          <p:cNvSpPr>
            <a:spLocks noGrp="1"/>
          </p:cNvSpPr>
          <p:nvPr/>
        </p:nvSpPr>
        <p:spPr>
          <a:xfrm>
            <a:off x="83820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范围检查、箱线图、距离或密度方法</a:t>
            </a:r>
          </a:p>
        </p:txBody>
      </p:sp>
      <p:sp>
        <p:nvSpPr>
          <p:cNvPr id="25" name="矩形 24">
            <a:extLst>
              <a:ext uri="{FF2B5EF4-FFF2-40B4-BE49-F238E27FC236}">
                <a16:creationId xmlns:a16="http://schemas.microsoft.com/office/drawing/2014/main" id="{B6457D8A-F131-42DD-94A9-8C3D18B712FB}"/>
              </a:ext>
            </a:extLst>
          </p:cNvPr>
          <p:cNvSpPr>
            <a:spLocks noGrp="1"/>
          </p:cNvSpPr>
          <p:nvPr/>
        </p:nvSpPr>
        <p:spPr>
          <a:xfrm>
            <a:off x="271272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26" name="矩形 25">
            <a:extLst>
              <a:ext uri="{FF2B5EF4-FFF2-40B4-BE49-F238E27FC236}">
                <a16:creationId xmlns:a16="http://schemas.microsoft.com/office/drawing/2014/main" id="{6D0D500A-9C24-4E16-ABFA-99D00567B71B}"/>
              </a:ext>
            </a:extLst>
          </p:cNvPr>
          <p:cNvSpPr>
            <a:spLocks noGrp="1"/>
          </p:cNvSpPr>
          <p:nvPr/>
        </p:nvSpPr>
        <p:spPr>
          <a:xfrm>
            <a:off x="2979420" y="1390650"/>
            <a:ext cx="1836420" cy="1428750"/>
          </a:xfrm>
          <a:prstGeom prst="rect">
            <a:avLst/>
          </a:prstGeom>
          <a:solidFill>
            <a:srgbClr val="F7EFD6"/>
          </a:solidFill>
          <a:ln w="9525">
            <a:solidFill>
              <a:srgbClr val="D4DCE6"/>
            </a:solidFill>
            <a:prstDash val="solid"/>
          </a:ln>
        </p:spPr>
        <p:txBody>
          <a:bodyPr/>
          <a:lstStyle/>
          <a:p>
            <a:endParaRPr lang="zh-CN" altLang="en-US"/>
          </a:p>
        </p:txBody>
      </p:sp>
      <p:sp>
        <p:nvSpPr>
          <p:cNvPr id="27" name="椭圆 26">
            <a:extLst>
              <a:ext uri="{FF2B5EF4-FFF2-40B4-BE49-F238E27FC236}">
                <a16:creationId xmlns:a16="http://schemas.microsoft.com/office/drawing/2014/main" id="{794B83CA-11A9-46E6-BCEE-F8E4600C9064}"/>
              </a:ext>
            </a:extLst>
          </p:cNvPr>
          <p:cNvSpPr>
            <a:spLocks noGrp="1"/>
          </p:cNvSpPr>
          <p:nvPr/>
        </p:nvSpPr>
        <p:spPr>
          <a:xfrm>
            <a:off x="3573780"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28" name="矩形 27">
            <a:extLst>
              <a:ext uri="{FF2B5EF4-FFF2-40B4-BE49-F238E27FC236}">
                <a16:creationId xmlns:a16="http://schemas.microsoft.com/office/drawing/2014/main" id="{4C2E9489-AB59-49FF-B0E7-A20422630636}"/>
              </a:ext>
            </a:extLst>
          </p:cNvPr>
          <p:cNvSpPr>
            <a:spLocks noGrp="1"/>
          </p:cNvSpPr>
          <p:nvPr/>
        </p:nvSpPr>
        <p:spPr>
          <a:xfrm>
            <a:off x="3688080"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2</a:t>
            </a:r>
          </a:p>
        </p:txBody>
      </p:sp>
      <p:sp>
        <p:nvSpPr>
          <p:cNvPr id="29" name="矩形 28">
            <a:extLst>
              <a:ext uri="{FF2B5EF4-FFF2-40B4-BE49-F238E27FC236}">
                <a16:creationId xmlns:a16="http://schemas.microsoft.com/office/drawing/2014/main" id="{74C3764B-A081-4257-980E-0FA819C7FF33}"/>
              </a:ext>
            </a:extLst>
          </p:cNvPr>
          <p:cNvSpPr>
            <a:spLocks noGrp="1"/>
          </p:cNvSpPr>
          <p:nvPr/>
        </p:nvSpPr>
        <p:spPr>
          <a:xfrm>
            <a:off x="3249016" y="2400300"/>
            <a:ext cx="1297229"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0" name="矩形 29">
            <a:extLst>
              <a:ext uri="{FF2B5EF4-FFF2-40B4-BE49-F238E27FC236}">
                <a16:creationId xmlns:a16="http://schemas.microsoft.com/office/drawing/2014/main" id="{E9BC257C-B26D-41FC-847B-3C115D3E201A}"/>
              </a:ext>
            </a:extLst>
          </p:cNvPr>
          <p:cNvSpPr>
            <a:spLocks noGrp="1"/>
          </p:cNvSpPr>
          <p:nvPr/>
        </p:nvSpPr>
        <p:spPr>
          <a:xfrm>
            <a:off x="343143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74F60AF3-0A6C-43C8-AFF1-668C91BF0A87}"/>
              </a:ext>
            </a:extLst>
          </p:cNvPr>
          <p:cNvSpPr>
            <a:spLocks noGrp="1"/>
          </p:cNvSpPr>
          <p:nvPr/>
        </p:nvSpPr>
        <p:spPr>
          <a:xfrm>
            <a:off x="359359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817ECA1F-6989-4690-A538-4C7C4D55C1B8}"/>
              </a:ext>
            </a:extLst>
          </p:cNvPr>
          <p:cNvSpPr>
            <a:spLocks noGrp="1"/>
          </p:cNvSpPr>
          <p:nvPr/>
        </p:nvSpPr>
        <p:spPr>
          <a:xfrm>
            <a:off x="3017520" y="2990850"/>
            <a:ext cx="1760220" cy="552450"/>
          </a:xfrm>
          <a:prstGeom prst="rect">
            <a:avLst/>
          </a:prstGeom>
          <a:solidFill>
            <a:srgbClr val="FFFCF4"/>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核查来源</a:t>
            </a:r>
          </a:p>
        </p:txBody>
      </p:sp>
      <p:sp>
        <p:nvSpPr>
          <p:cNvPr id="33" name="矩形 32">
            <a:extLst>
              <a:ext uri="{FF2B5EF4-FFF2-40B4-BE49-F238E27FC236}">
                <a16:creationId xmlns:a16="http://schemas.microsoft.com/office/drawing/2014/main" id="{3C6A21E9-3834-4656-B7F8-7C1FB6BC18F9}"/>
              </a:ext>
            </a:extLst>
          </p:cNvPr>
          <p:cNvSpPr>
            <a:spLocks noGrp="1"/>
          </p:cNvSpPr>
          <p:nvPr/>
        </p:nvSpPr>
        <p:spPr>
          <a:xfrm>
            <a:off x="305562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1A4AF4A2-62ED-4D02-B138-4073E0B6257A}"/>
              </a:ext>
            </a:extLst>
          </p:cNvPr>
          <p:cNvSpPr>
            <a:spLocks noGrp="1"/>
          </p:cNvSpPr>
          <p:nvPr/>
        </p:nvSpPr>
        <p:spPr>
          <a:xfrm>
            <a:off x="3036570" y="3733800"/>
            <a:ext cx="1722120" cy="876300"/>
          </a:xfrm>
          <a:prstGeom prst="rect">
            <a:avLst/>
          </a:prstGeom>
          <a:solidFill>
            <a:srgbClr val="FFFCF4"/>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查看原始日志、单位、时间戳和采集设备</a:t>
            </a:r>
          </a:p>
        </p:txBody>
      </p:sp>
      <p:sp>
        <p:nvSpPr>
          <p:cNvPr id="35" name="矩形 34">
            <a:extLst>
              <a:ext uri="{FF2B5EF4-FFF2-40B4-BE49-F238E27FC236}">
                <a16:creationId xmlns:a16="http://schemas.microsoft.com/office/drawing/2014/main" id="{4AC8DAF4-D909-40C7-9A8C-837A0F158DE7}"/>
              </a:ext>
            </a:extLst>
          </p:cNvPr>
          <p:cNvSpPr>
            <a:spLocks noGrp="1"/>
          </p:cNvSpPr>
          <p:nvPr/>
        </p:nvSpPr>
        <p:spPr>
          <a:xfrm>
            <a:off x="491109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36" name="矩形 35">
            <a:extLst>
              <a:ext uri="{FF2B5EF4-FFF2-40B4-BE49-F238E27FC236}">
                <a16:creationId xmlns:a16="http://schemas.microsoft.com/office/drawing/2014/main" id="{A43E25B1-9E64-487A-BD05-895853D5C211}"/>
              </a:ext>
            </a:extLst>
          </p:cNvPr>
          <p:cNvSpPr>
            <a:spLocks noGrp="1"/>
          </p:cNvSpPr>
          <p:nvPr/>
        </p:nvSpPr>
        <p:spPr>
          <a:xfrm>
            <a:off x="517779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37" name="椭圆 36">
            <a:extLst>
              <a:ext uri="{FF2B5EF4-FFF2-40B4-BE49-F238E27FC236}">
                <a16:creationId xmlns:a16="http://schemas.microsoft.com/office/drawing/2014/main" id="{7D1579EC-84AC-4F98-BFBB-1A6BA6AF12B6}"/>
              </a:ext>
            </a:extLst>
          </p:cNvPr>
          <p:cNvSpPr>
            <a:spLocks noGrp="1"/>
          </p:cNvSpPr>
          <p:nvPr/>
        </p:nvSpPr>
        <p:spPr>
          <a:xfrm>
            <a:off x="577215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38" name="矩形 37">
            <a:extLst>
              <a:ext uri="{FF2B5EF4-FFF2-40B4-BE49-F238E27FC236}">
                <a16:creationId xmlns:a16="http://schemas.microsoft.com/office/drawing/2014/main" id="{15D86637-9A64-4867-A301-18F37267CC98}"/>
              </a:ext>
            </a:extLst>
          </p:cNvPr>
          <p:cNvSpPr>
            <a:spLocks noGrp="1"/>
          </p:cNvSpPr>
          <p:nvPr/>
        </p:nvSpPr>
        <p:spPr>
          <a:xfrm>
            <a:off x="588645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3</a:t>
            </a:r>
          </a:p>
        </p:txBody>
      </p:sp>
      <p:sp>
        <p:nvSpPr>
          <p:cNvPr id="39" name="矩形 38">
            <a:extLst>
              <a:ext uri="{FF2B5EF4-FFF2-40B4-BE49-F238E27FC236}">
                <a16:creationId xmlns:a16="http://schemas.microsoft.com/office/drawing/2014/main" id="{187AD764-991C-4C36-A8B2-D1E576D96C04}"/>
              </a:ext>
            </a:extLst>
          </p:cNvPr>
          <p:cNvSpPr>
            <a:spLocks noGrp="1"/>
          </p:cNvSpPr>
          <p:nvPr/>
        </p:nvSpPr>
        <p:spPr>
          <a:xfrm>
            <a:off x="544738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40" name="矩形 39">
            <a:extLst>
              <a:ext uri="{FF2B5EF4-FFF2-40B4-BE49-F238E27FC236}">
                <a16:creationId xmlns:a16="http://schemas.microsoft.com/office/drawing/2014/main" id="{5F1D57BA-28D0-47E6-9DA7-4E6378DBB46E}"/>
              </a:ext>
            </a:extLst>
          </p:cNvPr>
          <p:cNvSpPr>
            <a:spLocks noGrp="1"/>
          </p:cNvSpPr>
          <p:nvPr/>
        </p:nvSpPr>
        <p:spPr>
          <a:xfrm>
            <a:off x="562980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1" name="矩形 40">
            <a:extLst>
              <a:ext uri="{FF2B5EF4-FFF2-40B4-BE49-F238E27FC236}">
                <a16:creationId xmlns:a16="http://schemas.microsoft.com/office/drawing/2014/main" id="{28B1B873-1FCC-4E48-B8C9-8F3A459688FD}"/>
              </a:ext>
            </a:extLst>
          </p:cNvPr>
          <p:cNvSpPr>
            <a:spLocks noGrp="1"/>
          </p:cNvSpPr>
          <p:nvPr/>
        </p:nvSpPr>
        <p:spPr>
          <a:xfrm>
            <a:off x="579196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D778C249-8D66-458A-A7F8-D9AA9F43B254}"/>
              </a:ext>
            </a:extLst>
          </p:cNvPr>
          <p:cNvSpPr>
            <a:spLocks noGrp="1"/>
          </p:cNvSpPr>
          <p:nvPr/>
        </p:nvSpPr>
        <p:spPr>
          <a:xfrm>
            <a:off x="521589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判断语义</a:t>
            </a:r>
          </a:p>
        </p:txBody>
      </p:sp>
      <p:sp>
        <p:nvSpPr>
          <p:cNvPr id="43" name="矩形 42">
            <a:extLst>
              <a:ext uri="{FF2B5EF4-FFF2-40B4-BE49-F238E27FC236}">
                <a16:creationId xmlns:a16="http://schemas.microsoft.com/office/drawing/2014/main" id="{186E774C-7D1D-41E6-A9B5-29CD338DA432}"/>
              </a:ext>
            </a:extLst>
          </p:cNvPr>
          <p:cNvSpPr>
            <a:spLocks noGrp="1"/>
          </p:cNvSpPr>
          <p:nvPr/>
        </p:nvSpPr>
        <p:spPr>
          <a:xfrm>
            <a:off x="525399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44" name="矩形 43">
            <a:extLst>
              <a:ext uri="{FF2B5EF4-FFF2-40B4-BE49-F238E27FC236}">
                <a16:creationId xmlns:a16="http://schemas.microsoft.com/office/drawing/2014/main" id="{B8EBE609-79DA-4EFA-8F3D-F60B51D20D3E}"/>
              </a:ext>
            </a:extLst>
          </p:cNvPr>
          <p:cNvSpPr>
            <a:spLocks noGrp="1"/>
          </p:cNvSpPr>
          <p:nvPr/>
        </p:nvSpPr>
        <p:spPr>
          <a:xfrm>
            <a:off x="523494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错误记录、真实极端行为，还是新群体</a:t>
            </a:r>
          </a:p>
        </p:txBody>
      </p:sp>
      <p:sp>
        <p:nvSpPr>
          <p:cNvPr id="45" name="矩形 44">
            <a:extLst>
              <a:ext uri="{FF2B5EF4-FFF2-40B4-BE49-F238E27FC236}">
                <a16:creationId xmlns:a16="http://schemas.microsoft.com/office/drawing/2014/main" id="{27AD039C-5B50-4A65-AE6A-9153FEC2CAB9}"/>
              </a:ext>
            </a:extLst>
          </p:cNvPr>
          <p:cNvSpPr>
            <a:spLocks noGrp="1"/>
          </p:cNvSpPr>
          <p:nvPr/>
        </p:nvSpPr>
        <p:spPr>
          <a:xfrm>
            <a:off x="710946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46" name="矩形 45">
            <a:extLst>
              <a:ext uri="{FF2B5EF4-FFF2-40B4-BE49-F238E27FC236}">
                <a16:creationId xmlns:a16="http://schemas.microsoft.com/office/drawing/2014/main" id="{AD7A387E-6D68-422C-828D-24A362CE7C65}"/>
              </a:ext>
            </a:extLst>
          </p:cNvPr>
          <p:cNvSpPr>
            <a:spLocks noGrp="1"/>
          </p:cNvSpPr>
          <p:nvPr/>
        </p:nvSpPr>
        <p:spPr>
          <a:xfrm>
            <a:off x="7376160" y="1390650"/>
            <a:ext cx="1836420" cy="1428750"/>
          </a:xfrm>
          <a:prstGeom prst="rect">
            <a:avLst/>
          </a:prstGeom>
          <a:solidFill>
            <a:srgbClr val="F7EFD6"/>
          </a:solidFill>
          <a:ln w="9525">
            <a:solidFill>
              <a:srgbClr val="D4DCE6"/>
            </a:solidFill>
            <a:prstDash val="solid"/>
          </a:ln>
        </p:spPr>
        <p:txBody>
          <a:bodyPr/>
          <a:lstStyle/>
          <a:p>
            <a:endParaRPr lang="zh-CN" altLang="en-US"/>
          </a:p>
        </p:txBody>
      </p:sp>
      <p:sp>
        <p:nvSpPr>
          <p:cNvPr id="47" name="椭圆 46">
            <a:extLst>
              <a:ext uri="{FF2B5EF4-FFF2-40B4-BE49-F238E27FC236}">
                <a16:creationId xmlns:a16="http://schemas.microsoft.com/office/drawing/2014/main" id="{CD6F254E-4FA9-460C-B953-1339620C642B}"/>
              </a:ext>
            </a:extLst>
          </p:cNvPr>
          <p:cNvSpPr>
            <a:spLocks noGrp="1"/>
          </p:cNvSpPr>
          <p:nvPr/>
        </p:nvSpPr>
        <p:spPr>
          <a:xfrm>
            <a:off x="7970520"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48" name="矩形 47">
            <a:extLst>
              <a:ext uri="{FF2B5EF4-FFF2-40B4-BE49-F238E27FC236}">
                <a16:creationId xmlns:a16="http://schemas.microsoft.com/office/drawing/2014/main" id="{2A54E008-FC69-43D9-999F-971351B9371B}"/>
              </a:ext>
            </a:extLst>
          </p:cNvPr>
          <p:cNvSpPr>
            <a:spLocks noGrp="1"/>
          </p:cNvSpPr>
          <p:nvPr/>
        </p:nvSpPr>
        <p:spPr>
          <a:xfrm>
            <a:off x="8084820"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4</a:t>
            </a:r>
          </a:p>
        </p:txBody>
      </p:sp>
      <p:sp>
        <p:nvSpPr>
          <p:cNvPr id="49" name="矩形 48">
            <a:extLst>
              <a:ext uri="{FF2B5EF4-FFF2-40B4-BE49-F238E27FC236}">
                <a16:creationId xmlns:a16="http://schemas.microsoft.com/office/drawing/2014/main" id="{F7903CA6-45C8-4059-B579-033DB0497C83}"/>
              </a:ext>
            </a:extLst>
          </p:cNvPr>
          <p:cNvSpPr>
            <a:spLocks noGrp="1"/>
          </p:cNvSpPr>
          <p:nvPr/>
        </p:nvSpPr>
        <p:spPr>
          <a:xfrm>
            <a:off x="7645756" y="2400300"/>
            <a:ext cx="1297229"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759D5406-D3CE-4C3F-8EDE-47DB4FCDF3AD}"/>
              </a:ext>
            </a:extLst>
          </p:cNvPr>
          <p:cNvSpPr>
            <a:spLocks noGrp="1"/>
          </p:cNvSpPr>
          <p:nvPr/>
        </p:nvSpPr>
        <p:spPr>
          <a:xfrm>
            <a:off x="782817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1" name="矩形 50">
            <a:extLst>
              <a:ext uri="{FF2B5EF4-FFF2-40B4-BE49-F238E27FC236}">
                <a16:creationId xmlns:a16="http://schemas.microsoft.com/office/drawing/2014/main" id="{5DE5D7A5-AB48-44FA-A12D-A4E4DC33FAB2}"/>
              </a:ext>
            </a:extLst>
          </p:cNvPr>
          <p:cNvSpPr>
            <a:spLocks noGrp="1"/>
          </p:cNvSpPr>
          <p:nvPr/>
        </p:nvSpPr>
        <p:spPr>
          <a:xfrm>
            <a:off x="799033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2" name="矩形 51">
            <a:extLst>
              <a:ext uri="{FF2B5EF4-FFF2-40B4-BE49-F238E27FC236}">
                <a16:creationId xmlns:a16="http://schemas.microsoft.com/office/drawing/2014/main" id="{49DC6C91-BC19-4A66-86F1-6B775CEF9222}"/>
              </a:ext>
            </a:extLst>
          </p:cNvPr>
          <p:cNvSpPr>
            <a:spLocks noGrp="1"/>
          </p:cNvSpPr>
          <p:nvPr/>
        </p:nvSpPr>
        <p:spPr>
          <a:xfrm>
            <a:off x="7414260" y="2990850"/>
            <a:ext cx="1760220" cy="552450"/>
          </a:xfrm>
          <a:prstGeom prst="rect">
            <a:avLst/>
          </a:prstGeom>
          <a:solidFill>
            <a:srgbClr val="FFFCF4"/>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采取处理</a:t>
            </a:r>
          </a:p>
        </p:txBody>
      </p:sp>
      <p:sp>
        <p:nvSpPr>
          <p:cNvPr id="53" name="矩形 52">
            <a:extLst>
              <a:ext uri="{FF2B5EF4-FFF2-40B4-BE49-F238E27FC236}">
                <a16:creationId xmlns:a16="http://schemas.microsoft.com/office/drawing/2014/main" id="{81152501-7815-4162-BDBA-C06AA391224A}"/>
              </a:ext>
            </a:extLst>
          </p:cNvPr>
          <p:cNvSpPr>
            <a:spLocks noGrp="1"/>
          </p:cNvSpPr>
          <p:nvPr/>
        </p:nvSpPr>
        <p:spPr>
          <a:xfrm>
            <a:off x="745236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54" name="矩形 53">
            <a:extLst>
              <a:ext uri="{FF2B5EF4-FFF2-40B4-BE49-F238E27FC236}">
                <a16:creationId xmlns:a16="http://schemas.microsoft.com/office/drawing/2014/main" id="{D980252F-D456-4E63-9FC9-F703F598CDE3}"/>
              </a:ext>
            </a:extLst>
          </p:cNvPr>
          <p:cNvSpPr>
            <a:spLocks noGrp="1"/>
          </p:cNvSpPr>
          <p:nvPr/>
        </p:nvSpPr>
        <p:spPr>
          <a:xfrm>
            <a:off x="7433310" y="3733800"/>
            <a:ext cx="1722120" cy="876300"/>
          </a:xfrm>
          <a:prstGeom prst="rect">
            <a:avLst/>
          </a:prstGeom>
          <a:solidFill>
            <a:srgbClr val="FFFCF4"/>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修正、截尾、变换、单独建模或保留</a:t>
            </a:r>
          </a:p>
        </p:txBody>
      </p:sp>
      <p:sp>
        <p:nvSpPr>
          <p:cNvPr id="55" name="矩形 54">
            <a:extLst>
              <a:ext uri="{FF2B5EF4-FFF2-40B4-BE49-F238E27FC236}">
                <a16:creationId xmlns:a16="http://schemas.microsoft.com/office/drawing/2014/main" id="{EC823AAF-DEF0-4FC0-BEEB-7786E5D6156E}"/>
              </a:ext>
            </a:extLst>
          </p:cNvPr>
          <p:cNvSpPr>
            <a:spLocks noGrp="1"/>
          </p:cNvSpPr>
          <p:nvPr/>
        </p:nvSpPr>
        <p:spPr>
          <a:xfrm>
            <a:off x="930783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56" name="矩形 55">
            <a:extLst>
              <a:ext uri="{FF2B5EF4-FFF2-40B4-BE49-F238E27FC236}">
                <a16:creationId xmlns:a16="http://schemas.microsoft.com/office/drawing/2014/main" id="{9B390552-BE27-4D36-9BE8-216D20FAC6AA}"/>
              </a:ext>
            </a:extLst>
          </p:cNvPr>
          <p:cNvSpPr>
            <a:spLocks noGrp="1"/>
          </p:cNvSpPr>
          <p:nvPr/>
        </p:nvSpPr>
        <p:spPr>
          <a:xfrm>
            <a:off x="957453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57" name="椭圆 56">
            <a:extLst>
              <a:ext uri="{FF2B5EF4-FFF2-40B4-BE49-F238E27FC236}">
                <a16:creationId xmlns:a16="http://schemas.microsoft.com/office/drawing/2014/main" id="{893D506D-0928-4037-86A1-6E33A0304538}"/>
              </a:ext>
            </a:extLst>
          </p:cNvPr>
          <p:cNvSpPr>
            <a:spLocks noGrp="1"/>
          </p:cNvSpPr>
          <p:nvPr/>
        </p:nvSpPr>
        <p:spPr>
          <a:xfrm>
            <a:off x="1016889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58" name="矩形 57">
            <a:extLst>
              <a:ext uri="{FF2B5EF4-FFF2-40B4-BE49-F238E27FC236}">
                <a16:creationId xmlns:a16="http://schemas.microsoft.com/office/drawing/2014/main" id="{91F39926-6C12-4940-9C88-1CA7ACC37554}"/>
              </a:ext>
            </a:extLst>
          </p:cNvPr>
          <p:cNvSpPr>
            <a:spLocks noGrp="1"/>
          </p:cNvSpPr>
          <p:nvPr/>
        </p:nvSpPr>
        <p:spPr>
          <a:xfrm>
            <a:off x="1028319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5</a:t>
            </a:r>
          </a:p>
        </p:txBody>
      </p:sp>
      <p:sp>
        <p:nvSpPr>
          <p:cNvPr id="59" name="矩形 58">
            <a:extLst>
              <a:ext uri="{FF2B5EF4-FFF2-40B4-BE49-F238E27FC236}">
                <a16:creationId xmlns:a16="http://schemas.microsoft.com/office/drawing/2014/main" id="{5917673E-1456-4453-B6B6-E8AA740E2E89}"/>
              </a:ext>
            </a:extLst>
          </p:cNvPr>
          <p:cNvSpPr>
            <a:spLocks noGrp="1"/>
          </p:cNvSpPr>
          <p:nvPr/>
        </p:nvSpPr>
        <p:spPr>
          <a:xfrm>
            <a:off x="984412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60" name="矩形 59">
            <a:extLst>
              <a:ext uri="{FF2B5EF4-FFF2-40B4-BE49-F238E27FC236}">
                <a16:creationId xmlns:a16="http://schemas.microsoft.com/office/drawing/2014/main" id="{66D2637F-7D54-42B2-ABB7-D6553560B96D}"/>
              </a:ext>
            </a:extLst>
          </p:cNvPr>
          <p:cNvSpPr>
            <a:spLocks noGrp="1"/>
          </p:cNvSpPr>
          <p:nvPr/>
        </p:nvSpPr>
        <p:spPr>
          <a:xfrm>
            <a:off x="1002654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1" name="矩形 60">
            <a:extLst>
              <a:ext uri="{FF2B5EF4-FFF2-40B4-BE49-F238E27FC236}">
                <a16:creationId xmlns:a16="http://schemas.microsoft.com/office/drawing/2014/main" id="{E9322C16-20DA-4731-854A-F322CABC0F1F}"/>
              </a:ext>
            </a:extLst>
          </p:cNvPr>
          <p:cNvSpPr>
            <a:spLocks noGrp="1"/>
          </p:cNvSpPr>
          <p:nvPr/>
        </p:nvSpPr>
        <p:spPr>
          <a:xfrm>
            <a:off x="1018870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2" name="矩形 61">
            <a:extLst>
              <a:ext uri="{FF2B5EF4-FFF2-40B4-BE49-F238E27FC236}">
                <a16:creationId xmlns:a16="http://schemas.microsoft.com/office/drawing/2014/main" id="{378F5F4C-D8E0-43E7-8766-D1F518270644}"/>
              </a:ext>
            </a:extLst>
          </p:cNvPr>
          <p:cNvSpPr>
            <a:spLocks noGrp="1"/>
          </p:cNvSpPr>
          <p:nvPr/>
        </p:nvSpPr>
        <p:spPr>
          <a:xfrm>
            <a:off x="961263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记录影响</a:t>
            </a:r>
          </a:p>
        </p:txBody>
      </p:sp>
      <p:sp>
        <p:nvSpPr>
          <p:cNvPr id="63" name="矩形 62">
            <a:extLst>
              <a:ext uri="{FF2B5EF4-FFF2-40B4-BE49-F238E27FC236}">
                <a16:creationId xmlns:a16="http://schemas.microsoft.com/office/drawing/2014/main" id="{3CC1C368-A494-4BBD-BB8C-1E44CB83D6AA}"/>
              </a:ext>
            </a:extLst>
          </p:cNvPr>
          <p:cNvSpPr>
            <a:spLocks noGrp="1"/>
          </p:cNvSpPr>
          <p:nvPr/>
        </p:nvSpPr>
        <p:spPr>
          <a:xfrm>
            <a:off x="965073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64" name="矩形 63">
            <a:extLst>
              <a:ext uri="{FF2B5EF4-FFF2-40B4-BE49-F238E27FC236}">
                <a16:creationId xmlns:a16="http://schemas.microsoft.com/office/drawing/2014/main" id="{E3357783-7572-44F9-951A-E6F03324CD7F}"/>
              </a:ext>
            </a:extLst>
          </p:cNvPr>
          <p:cNvSpPr>
            <a:spLocks noGrp="1"/>
          </p:cNvSpPr>
          <p:nvPr/>
        </p:nvSpPr>
        <p:spPr>
          <a:xfrm>
            <a:off x="963168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报告处理前后的样本数与分布变化</a:t>
            </a:r>
          </a:p>
        </p:txBody>
      </p:sp>
      <p:sp>
        <p:nvSpPr>
          <p:cNvPr id="65" name="矩形 64">
            <a:extLst>
              <a:ext uri="{FF2B5EF4-FFF2-40B4-BE49-F238E27FC236}">
                <a16:creationId xmlns:a16="http://schemas.microsoft.com/office/drawing/2014/main" id="{E3F9752F-2299-4BA2-A620-D033CCA95121}"/>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66" name="矩形 65">
            <a:extLst>
              <a:ext uri="{FF2B5EF4-FFF2-40B4-BE49-F238E27FC236}">
                <a16:creationId xmlns:a16="http://schemas.microsoft.com/office/drawing/2014/main" id="{81CDBC62-0D17-49A4-BA4D-6C01E2E210B9}"/>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异常处理的核心不是删除，而是给出可追溯的判断依据。</a:t>
            </a:r>
          </a:p>
        </p:txBody>
      </p:sp>
    </p:spTree>
    <p:extLst>
      <p:ext uri="{BB962C8B-B14F-4D97-AF65-F5344CB8AC3E}">
        <p14:creationId xmlns:p14="http://schemas.microsoft.com/office/powerpoint/2010/main" val="4773145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C539717C-9C70-4C61-A352-21090F194B54}"/>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90BFED33-0971-4863-B9EB-A981C8EF79E3}"/>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C8484B09-2FAE-4F5A-B261-B7FFC7AA0EF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A3199A91-027F-4FC9-8A7A-16474B3268E8}"/>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重复与不一致会改变统计结果</a:t>
            </a:r>
          </a:p>
        </p:txBody>
      </p:sp>
      <p:sp>
        <p:nvSpPr>
          <p:cNvPr id="5" name="矩形 4">
            <a:extLst>
              <a:ext uri="{FF2B5EF4-FFF2-40B4-BE49-F238E27FC236}">
                <a16:creationId xmlns:a16="http://schemas.microsoft.com/office/drawing/2014/main" id="{28A71E52-7F36-47A3-9B7D-5EEDAD7725AB}"/>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38/90</a:t>
            </a:r>
          </a:p>
        </p:txBody>
      </p:sp>
      <p:sp>
        <p:nvSpPr>
          <p:cNvPr id="6" name="矩形 5">
            <a:extLst>
              <a:ext uri="{FF2B5EF4-FFF2-40B4-BE49-F238E27FC236}">
                <a16:creationId xmlns:a16="http://schemas.microsoft.com/office/drawing/2014/main" id="{FBA6F997-B47D-4229-B6CB-F8651C525D52}"/>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79FB8407-684B-4ADC-8BE5-D7095573DF55}"/>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问题</a:t>
            </a:r>
          </a:p>
        </p:txBody>
      </p:sp>
      <p:sp>
        <p:nvSpPr>
          <p:cNvPr id="8" name="矩形 7">
            <a:extLst>
              <a:ext uri="{FF2B5EF4-FFF2-40B4-BE49-F238E27FC236}">
                <a16:creationId xmlns:a16="http://schemas.microsoft.com/office/drawing/2014/main" id="{435AFDF7-A194-4E81-BE87-39E6765B5B7F}"/>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736FD48F-3D67-4459-AB79-6215E09DED0F}"/>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示例</a:t>
            </a:r>
          </a:p>
        </p:txBody>
      </p:sp>
      <p:sp>
        <p:nvSpPr>
          <p:cNvPr id="10" name="矩形 9">
            <a:extLst>
              <a:ext uri="{FF2B5EF4-FFF2-40B4-BE49-F238E27FC236}">
                <a16:creationId xmlns:a16="http://schemas.microsoft.com/office/drawing/2014/main" id="{2D517726-DAA0-4774-BD22-FE9EC6709930}"/>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6F90E0D2-CDA3-47D2-9894-99F36107766E}"/>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处理</a:t>
            </a:r>
          </a:p>
        </p:txBody>
      </p:sp>
      <p:sp>
        <p:nvSpPr>
          <p:cNvPr id="12" name="矩形 11">
            <a:extLst>
              <a:ext uri="{FF2B5EF4-FFF2-40B4-BE49-F238E27FC236}">
                <a16:creationId xmlns:a16="http://schemas.microsoft.com/office/drawing/2014/main" id="{01453ED8-F097-4A27-8786-4E40497A6A6C}"/>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72FAFBE9-9C28-444E-998B-8C2120213FCA}"/>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完全重复</a:t>
            </a:r>
          </a:p>
        </p:txBody>
      </p:sp>
      <p:sp>
        <p:nvSpPr>
          <p:cNvPr id="14" name="矩形 13">
            <a:extLst>
              <a:ext uri="{FF2B5EF4-FFF2-40B4-BE49-F238E27FC236}">
                <a16:creationId xmlns:a16="http://schemas.microsoft.com/office/drawing/2014/main" id="{5744EDDD-8A56-4211-B47C-06A6951EBCFD}"/>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930F0490-1B5C-4CA2-8000-E00F7DCAD7D7}"/>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同一 </a:t>
            </a:r>
            <a:r>
              <a:rPr>
                <a:latin typeface="Times New Roman"/>
                <a:ea typeface="Times New Roman"/>
                <a:cs typeface="Times New Roman"/>
              </a:rPr>
              <a:t>student-week </a:t>
            </a:r>
            <a:r>
              <a:rPr>
                <a:latin typeface="黑体"/>
                <a:ea typeface="黑体"/>
                <a:cs typeface="黑体"/>
              </a:rPr>
              <a:t>被导入两次</a:t>
            </a:r>
          </a:p>
        </p:txBody>
      </p:sp>
      <p:sp>
        <p:nvSpPr>
          <p:cNvPr id="16" name="矩形 15">
            <a:extLst>
              <a:ext uri="{FF2B5EF4-FFF2-40B4-BE49-F238E27FC236}">
                <a16:creationId xmlns:a16="http://schemas.microsoft.com/office/drawing/2014/main" id="{5DBC5B56-4541-4116-8DDF-E85A1B0273FE}"/>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A9B7A705-17AC-4995-A224-C2BC7F97AC0E}"/>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按稳定主键去重</a:t>
            </a:r>
          </a:p>
        </p:txBody>
      </p:sp>
      <p:sp>
        <p:nvSpPr>
          <p:cNvPr id="18" name="矩形 17">
            <a:extLst>
              <a:ext uri="{FF2B5EF4-FFF2-40B4-BE49-F238E27FC236}">
                <a16:creationId xmlns:a16="http://schemas.microsoft.com/office/drawing/2014/main" id="{2CD90A40-FCA1-45FF-BC70-6FA12CAF21F0}"/>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C0B17C70-D5B2-4895-BC44-81B0C656EF61}"/>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近似重复</a:t>
            </a:r>
          </a:p>
        </p:txBody>
      </p:sp>
      <p:sp>
        <p:nvSpPr>
          <p:cNvPr id="20" name="矩形 19">
            <a:extLst>
              <a:ext uri="{FF2B5EF4-FFF2-40B4-BE49-F238E27FC236}">
                <a16:creationId xmlns:a16="http://schemas.microsoft.com/office/drawing/2014/main" id="{4C5F9704-EC79-4871-BF49-3D0A685193C0}"/>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5D9AB384-8704-455C-9684-95293EC3F453}"/>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同一学生有 </a:t>
            </a:r>
            <a:r>
              <a:rPr>
                <a:latin typeface="Times New Roman"/>
                <a:ea typeface="Times New Roman"/>
                <a:cs typeface="Times New Roman"/>
              </a:rPr>
              <a:t>S102 </a:t>
            </a:r>
            <a:r>
              <a:rPr>
                <a:latin typeface="黑体"/>
                <a:ea typeface="黑体"/>
                <a:cs typeface="黑体"/>
              </a:rPr>
              <a:t>与 </a:t>
            </a:r>
            <a:r>
              <a:rPr>
                <a:latin typeface="Times New Roman"/>
                <a:ea typeface="Times New Roman"/>
                <a:cs typeface="Times New Roman"/>
              </a:rPr>
              <a:t>s-102 </a:t>
            </a:r>
            <a:r>
              <a:rPr>
                <a:latin typeface="黑体"/>
                <a:ea typeface="黑体"/>
                <a:cs typeface="黑体"/>
              </a:rPr>
              <a:t>两种 </a:t>
            </a:r>
            <a:r>
              <a:rPr>
                <a:latin typeface="Times New Roman"/>
                <a:ea typeface="Times New Roman"/>
                <a:cs typeface="Times New Roman"/>
              </a:rPr>
              <a:t>ID</a:t>
            </a:r>
          </a:p>
        </p:txBody>
      </p:sp>
      <p:sp>
        <p:nvSpPr>
          <p:cNvPr id="22" name="矩形 21">
            <a:extLst>
              <a:ext uri="{FF2B5EF4-FFF2-40B4-BE49-F238E27FC236}">
                <a16:creationId xmlns:a16="http://schemas.microsoft.com/office/drawing/2014/main" id="{89DCD2D0-D23C-4E64-AC9C-755102B3A29C}"/>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271CCB47-9536-46A8-A074-A9CFE1448209}"/>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统一格式并做实体匹配</a:t>
            </a:r>
          </a:p>
        </p:txBody>
      </p:sp>
      <p:sp>
        <p:nvSpPr>
          <p:cNvPr id="24" name="矩形 23">
            <a:extLst>
              <a:ext uri="{FF2B5EF4-FFF2-40B4-BE49-F238E27FC236}">
                <a16:creationId xmlns:a16="http://schemas.microsoft.com/office/drawing/2014/main" id="{ECC0C05A-B21B-4C84-8E53-8FA3911F4772}"/>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C3CFC852-EAD9-4F3E-8477-16EFD74DA340}"/>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类别不一致</a:t>
            </a:r>
          </a:p>
        </p:txBody>
      </p:sp>
      <p:sp>
        <p:nvSpPr>
          <p:cNvPr id="26" name="矩形 25">
            <a:extLst>
              <a:ext uri="{FF2B5EF4-FFF2-40B4-BE49-F238E27FC236}">
                <a16:creationId xmlns:a16="http://schemas.microsoft.com/office/drawing/2014/main" id="{735E6B51-3243-48C5-B96B-E9D4C196A40C}"/>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36F32575-C971-4F82-A22D-77BB9FDFD075}"/>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program </a:t>
            </a:r>
            <a:r>
              <a:rPr>
                <a:latin typeface="黑体"/>
                <a:ea typeface="黑体"/>
                <a:cs typeface="黑体"/>
              </a:rPr>
              <a:t>为 </a:t>
            </a:r>
            <a:r>
              <a:rPr>
                <a:latin typeface="Times New Roman"/>
                <a:ea typeface="Times New Roman"/>
                <a:cs typeface="Times New Roman"/>
              </a:rPr>
              <a:t>AI、A.I.、Artificial Intelligence</a:t>
            </a:r>
          </a:p>
        </p:txBody>
      </p:sp>
      <p:sp>
        <p:nvSpPr>
          <p:cNvPr id="28" name="矩形 27">
            <a:extLst>
              <a:ext uri="{FF2B5EF4-FFF2-40B4-BE49-F238E27FC236}">
                <a16:creationId xmlns:a16="http://schemas.microsoft.com/office/drawing/2014/main" id="{39442915-3949-437F-A394-107EB6908863}"/>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EB8F0717-F613-4739-8427-6D8CEEADF819}"/>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建立标准编码表</a:t>
            </a:r>
          </a:p>
        </p:txBody>
      </p:sp>
      <p:sp>
        <p:nvSpPr>
          <p:cNvPr id="30" name="矩形 29">
            <a:extLst>
              <a:ext uri="{FF2B5EF4-FFF2-40B4-BE49-F238E27FC236}">
                <a16:creationId xmlns:a16="http://schemas.microsoft.com/office/drawing/2014/main" id="{D3E21E58-57CB-4D62-9100-789C76755EE1}"/>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6BAB7424-855C-4A31-9F32-F3B1FCA4DBFD}"/>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单位不一致</a:t>
            </a:r>
          </a:p>
        </p:txBody>
      </p:sp>
      <p:sp>
        <p:nvSpPr>
          <p:cNvPr id="32" name="矩形 31">
            <a:extLst>
              <a:ext uri="{FF2B5EF4-FFF2-40B4-BE49-F238E27FC236}">
                <a16:creationId xmlns:a16="http://schemas.microsoft.com/office/drawing/2014/main" id="{822A708B-82A5-4114-922D-E6CB16C7C442}"/>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85625B25-4A42-4289-A60B-562C1AA46668}"/>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时长同时使用秒与分钟</a:t>
            </a:r>
          </a:p>
        </p:txBody>
      </p:sp>
      <p:sp>
        <p:nvSpPr>
          <p:cNvPr id="34" name="矩形 33">
            <a:extLst>
              <a:ext uri="{FF2B5EF4-FFF2-40B4-BE49-F238E27FC236}">
                <a16:creationId xmlns:a16="http://schemas.microsoft.com/office/drawing/2014/main" id="{70E7754B-4EE3-466B-8951-D450256ADF6D}"/>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672D5951-4973-4A14-A30C-7BB5C4795626}"/>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转换为同一单位并保留原字段</a:t>
            </a:r>
          </a:p>
        </p:txBody>
      </p:sp>
      <p:sp>
        <p:nvSpPr>
          <p:cNvPr id="36" name="矩形 35">
            <a:extLst>
              <a:ext uri="{FF2B5EF4-FFF2-40B4-BE49-F238E27FC236}">
                <a16:creationId xmlns:a16="http://schemas.microsoft.com/office/drawing/2014/main" id="{BD704539-A62C-46A9-94A0-77EB49F61D0D}"/>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2D2516EE-ECB6-41F2-91B3-0DF2AED592D4}"/>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时间不一致</a:t>
            </a:r>
          </a:p>
        </p:txBody>
      </p:sp>
      <p:sp>
        <p:nvSpPr>
          <p:cNvPr id="38" name="矩形 37">
            <a:extLst>
              <a:ext uri="{FF2B5EF4-FFF2-40B4-BE49-F238E27FC236}">
                <a16:creationId xmlns:a16="http://schemas.microsoft.com/office/drawing/2014/main" id="{2A2D22B1-F8FB-42FD-9D60-CE95967A1638}"/>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8CC0900D-C4E7-43CC-B1FC-4A881D221043}"/>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本地时间与 </a:t>
            </a:r>
            <a:r>
              <a:rPr>
                <a:latin typeface="Times New Roman"/>
                <a:ea typeface="Times New Roman"/>
                <a:cs typeface="Times New Roman"/>
              </a:rPr>
              <a:t>UTC </a:t>
            </a:r>
            <a:r>
              <a:rPr>
                <a:latin typeface="黑体"/>
                <a:ea typeface="黑体"/>
                <a:cs typeface="黑体"/>
              </a:rPr>
              <a:t>混用</a:t>
            </a:r>
          </a:p>
        </p:txBody>
      </p:sp>
      <p:sp>
        <p:nvSpPr>
          <p:cNvPr id="40" name="矩形 39">
            <a:extLst>
              <a:ext uri="{FF2B5EF4-FFF2-40B4-BE49-F238E27FC236}">
                <a16:creationId xmlns:a16="http://schemas.microsoft.com/office/drawing/2014/main" id="{D9978F7D-6690-4241-AFD9-67B1E647615E}"/>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AEE64E17-CD5A-41BB-A048-5FF4007ADFB5}"/>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统一时区后再建立时间窗口</a:t>
            </a:r>
          </a:p>
        </p:txBody>
      </p:sp>
      <p:sp>
        <p:nvSpPr>
          <p:cNvPr id="42" name="矩形 41">
            <a:extLst>
              <a:ext uri="{FF2B5EF4-FFF2-40B4-BE49-F238E27FC236}">
                <a16:creationId xmlns:a16="http://schemas.microsoft.com/office/drawing/2014/main" id="{673070BA-070D-48EE-B8FA-D0986AFB8EB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7A2D141E-C58C-48CB-A8CF-C946710F1B80}"/>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去重和标准化必须依赖明确的业务键与数据字典。</a:t>
            </a:r>
          </a:p>
        </p:txBody>
      </p:sp>
    </p:spTree>
    <p:extLst>
      <p:ext uri="{BB962C8B-B14F-4D97-AF65-F5344CB8AC3E}">
        <p14:creationId xmlns:p14="http://schemas.microsoft.com/office/powerpoint/2010/main" val="12971658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524326C-16AD-4508-B176-82CD70B3AB3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AEF03076-211D-464C-B506-E91B2125DAEE}"/>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3DC823F-3ABE-4BC9-A7E2-F95C0F103B24}"/>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0C5DF49-F843-415B-ABB4-0559CBEC5AA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标签质量决定模型上限</a:t>
            </a:r>
          </a:p>
        </p:txBody>
      </p:sp>
      <p:sp>
        <p:nvSpPr>
          <p:cNvPr id="5" name="矩形 4">
            <a:extLst>
              <a:ext uri="{FF2B5EF4-FFF2-40B4-BE49-F238E27FC236}">
                <a16:creationId xmlns:a16="http://schemas.microsoft.com/office/drawing/2014/main" id="{CE2C556E-27B1-4B6F-9A23-10F4D4A31BB2}"/>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39/90</a:t>
            </a:r>
          </a:p>
        </p:txBody>
      </p:sp>
      <p:sp>
        <p:nvSpPr>
          <p:cNvPr id="6" name="矩形 5">
            <a:extLst>
              <a:ext uri="{FF2B5EF4-FFF2-40B4-BE49-F238E27FC236}">
                <a16:creationId xmlns:a16="http://schemas.microsoft.com/office/drawing/2014/main" id="{4AD64DD9-CA3F-4B6B-8B06-13E75C950719}"/>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1418F98B-FA03-45A4-B5F6-1D02A026212C}"/>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B4E82C81-8635-486D-946D-8F6B0BD8CE81}"/>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标签错误</a:t>
            </a:r>
          </a:p>
        </p:txBody>
      </p:sp>
      <p:sp>
        <p:nvSpPr>
          <p:cNvPr id="9" name="矩形 8">
            <a:extLst>
              <a:ext uri="{FF2B5EF4-FFF2-40B4-BE49-F238E27FC236}">
                <a16:creationId xmlns:a16="http://schemas.microsoft.com/office/drawing/2014/main" id="{4B9ED5DB-4050-4357-B4DA-AD248DF03DDD}"/>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2E4DC5D4-4397-4C80-B626-7B8504ACBE76}"/>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退课日期被延迟同步</a:t>
            </a:r>
          </a:p>
        </p:txBody>
      </p:sp>
      <p:sp>
        <p:nvSpPr>
          <p:cNvPr id="11" name="矩形 10">
            <a:extLst>
              <a:ext uri="{FF2B5EF4-FFF2-40B4-BE49-F238E27FC236}">
                <a16:creationId xmlns:a16="http://schemas.microsoft.com/office/drawing/2014/main" id="{1B5A2BAE-110B-48FA-8496-688D01AD2253}"/>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491497EF-D777-4F6C-A879-5476AD2C1196}"/>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暂时休学被误记为退课</a:t>
            </a:r>
          </a:p>
        </p:txBody>
      </p:sp>
      <p:sp>
        <p:nvSpPr>
          <p:cNvPr id="13" name="矩形 12">
            <a:extLst>
              <a:ext uri="{FF2B5EF4-FFF2-40B4-BE49-F238E27FC236}">
                <a16:creationId xmlns:a16="http://schemas.microsoft.com/office/drawing/2014/main" id="{5DE19ED3-57D0-439F-B75A-7B01917BE115}"/>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A8062F15-36E9-4D3F-B32D-C76BB75B12D8}"/>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干预成功的学生被记作未退课</a:t>
            </a:r>
          </a:p>
        </p:txBody>
      </p:sp>
      <p:sp>
        <p:nvSpPr>
          <p:cNvPr id="15" name="矩形 14">
            <a:extLst>
              <a:ext uri="{FF2B5EF4-FFF2-40B4-BE49-F238E27FC236}">
                <a16:creationId xmlns:a16="http://schemas.microsoft.com/office/drawing/2014/main" id="{4BE7C1B2-5784-4474-8D89-C182DD9F5629}"/>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0D83C912-EFA3-457C-B492-17A20DE78BA7}"/>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同一学生不同系统标签冲突</a:t>
            </a:r>
          </a:p>
        </p:txBody>
      </p:sp>
      <p:sp>
        <p:nvSpPr>
          <p:cNvPr id="17" name="矩形 16">
            <a:extLst>
              <a:ext uri="{FF2B5EF4-FFF2-40B4-BE49-F238E27FC236}">
                <a16:creationId xmlns:a16="http://schemas.microsoft.com/office/drawing/2014/main" id="{97A08B82-F906-40CC-BB28-C19919DE2DBD}"/>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F5EB17F9-1D6D-460B-93C9-466F6307009C}"/>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07E7BBF7-576B-4F56-ACE5-D0B992A078C9}"/>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检查方法</a:t>
            </a:r>
          </a:p>
        </p:txBody>
      </p:sp>
      <p:sp>
        <p:nvSpPr>
          <p:cNvPr id="20" name="矩形 19">
            <a:extLst>
              <a:ext uri="{FF2B5EF4-FFF2-40B4-BE49-F238E27FC236}">
                <a16:creationId xmlns:a16="http://schemas.microsoft.com/office/drawing/2014/main" id="{8C129407-96C4-4131-86EB-DBE1A364FB08}"/>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E42D0640-A0A8-49AE-B838-F84F7B80EA7F}"/>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抽样回查原始记录</a:t>
            </a:r>
          </a:p>
        </p:txBody>
      </p:sp>
      <p:sp>
        <p:nvSpPr>
          <p:cNvPr id="22" name="矩形 21">
            <a:extLst>
              <a:ext uri="{FF2B5EF4-FFF2-40B4-BE49-F238E27FC236}">
                <a16:creationId xmlns:a16="http://schemas.microsoft.com/office/drawing/2014/main" id="{E1B52F62-0038-43D7-8836-58D9D99E6D8C}"/>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B37D2326-2DA4-436E-B0F2-D3B1A7130275}"/>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比较多个系统的一致性</a:t>
            </a:r>
          </a:p>
        </p:txBody>
      </p:sp>
      <p:sp>
        <p:nvSpPr>
          <p:cNvPr id="24" name="矩形 23">
            <a:extLst>
              <a:ext uri="{FF2B5EF4-FFF2-40B4-BE49-F238E27FC236}">
                <a16:creationId xmlns:a16="http://schemas.microsoft.com/office/drawing/2014/main" id="{AD4DB034-9992-4598-8806-DEA45F134500}"/>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5C75CE88-E924-41B8-ADA9-F8F2F731D615}"/>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检查标签时间是否晚于预测点</a:t>
            </a:r>
          </a:p>
        </p:txBody>
      </p:sp>
      <p:sp>
        <p:nvSpPr>
          <p:cNvPr id="26" name="矩形 25">
            <a:extLst>
              <a:ext uri="{FF2B5EF4-FFF2-40B4-BE49-F238E27FC236}">
                <a16:creationId xmlns:a16="http://schemas.microsoft.com/office/drawing/2014/main" id="{684BEF57-1A5C-4813-AF16-2CA2B0FAF801}"/>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60A8A27A-F1AF-4F1E-A2D3-C3F339123CCE}"/>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统计不同标注者的一致程度</a:t>
            </a:r>
          </a:p>
        </p:txBody>
      </p:sp>
      <p:sp>
        <p:nvSpPr>
          <p:cNvPr id="28" name="矩形 27">
            <a:extLst>
              <a:ext uri="{FF2B5EF4-FFF2-40B4-BE49-F238E27FC236}">
                <a16:creationId xmlns:a16="http://schemas.microsoft.com/office/drawing/2014/main" id="{2CA26216-BA47-4D58-AD79-F5F9C03AADAF}"/>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27A2239E-9A20-4588-B622-E02F2B780F5B}"/>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模型学习的是历史标签的定义，而不是抽象的“真实风险”。</a:t>
            </a:r>
          </a:p>
        </p:txBody>
      </p:sp>
    </p:spTree>
    <p:extLst>
      <p:ext uri="{BB962C8B-B14F-4D97-AF65-F5344CB8AC3E}">
        <p14:creationId xmlns:p14="http://schemas.microsoft.com/office/powerpoint/2010/main" val="1875247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a:extLst>
              <a:ext uri="{FF2B5EF4-FFF2-40B4-BE49-F238E27FC236}">
                <a16:creationId xmlns:a16="http://schemas.microsoft.com/office/drawing/2014/main" id="{25903ACB-6DA1-43AA-9981-27AB8B152AE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E5D90A60-50A6-4DCC-8210-8A0FCCCB904D}"/>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78C470B2-5583-4271-B2BD-061FFB420718}"/>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1302CFB-9AF9-46E7-8011-AD013EC7031D}"/>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数据质量审计形成闭环</a:t>
            </a:r>
          </a:p>
        </p:txBody>
      </p:sp>
      <p:sp>
        <p:nvSpPr>
          <p:cNvPr id="5" name="矩形 4">
            <a:extLst>
              <a:ext uri="{FF2B5EF4-FFF2-40B4-BE49-F238E27FC236}">
                <a16:creationId xmlns:a16="http://schemas.microsoft.com/office/drawing/2014/main" id="{82BB9C01-7353-4EEB-9882-2A61879B13D5}"/>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40/90</a:t>
            </a:r>
          </a:p>
        </p:txBody>
      </p:sp>
      <p:sp>
        <p:nvSpPr>
          <p:cNvPr id="6" name="矩形 5">
            <a:extLst>
              <a:ext uri="{FF2B5EF4-FFF2-40B4-BE49-F238E27FC236}">
                <a16:creationId xmlns:a16="http://schemas.microsoft.com/office/drawing/2014/main" id="{4B09A980-B98B-4B48-B72D-BD099CC64B56}"/>
              </a:ext>
            </a:extLst>
          </p:cNvPr>
          <p:cNvSpPr>
            <a:spLocks noGrp="1"/>
          </p:cNvSpPr>
          <p:nvPr/>
        </p:nvSpPr>
        <p:spPr>
          <a:xfrm>
            <a:off x="685800" y="1219200"/>
            <a:ext cx="1692275" cy="4076700"/>
          </a:xfrm>
          <a:prstGeom prst="rect">
            <a:avLst/>
          </a:prstGeom>
          <a:solidFill>
            <a:srgbClr val="F6F9FD"/>
          </a:solidFill>
          <a:ln w="9525">
            <a:solidFill>
              <a:srgbClr val="B7C2D0"/>
            </a:solidFill>
            <a:prstDash val="solid"/>
          </a:ln>
        </p:spPr>
        <p:txBody>
          <a:bodyPr/>
          <a:lstStyle/>
          <a:p>
            <a:endParaRPr lang="zh-CN" altLang="en-US"/>
          </a:p>
        </p:txBody>
      </p:sp>
      <p:sp>
        <p:nvSpPr>
          <p:cNvPr id="7" name="矩形 6">
            <a:extLst>
              <a:ext uri="{FF2B5EF4-FFF2-40B4-BE49-F238E27FC236}">
                <a16:creationId xmlns:a16="http://schemas.microsoft.com/office/drawing/2014/main" id="{4D6EAE63-322A-4D9C-BBCD-D536B9A45E9F}"/>
              </a:ext>
            </a:extLst>
          </p:cNvPr>
          <p:cNvSpPr>
            <a:spLocks noGrp="1"/>
          </p:cNvSpPr>
          <p:nvPr/>
        </p:nvSpPr>
        <p:spPr>
          <a:xfrm>
            <a:off x="685800" y="1219200"/>
            <a:ext cx="1692275"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C2A8597E-4C4C-478B-96D5-458445FE984F}"/>
              </a:ext>
            </a:extLst>
          </p:cNvPr>
          <p:cNvSpPr>
            <a:spLocks noGrp="1"/>
          </p:cNvSpPr>
          <p:nvPr/>
        </p:nvSpPr>
        <p:spPr>
          <a:xfrm>
            <a:off x="2511425" y="1219200"/>
            <a:ext cx="1692275" cy="4076700"/>
          </a:xfrm>
          <a:prstGeom prst="rect">
            <a:avLst/>
          </a:prstGeom>
          <a:solidFill>
            <a:srgbClr val="FFFCF4"/>
          </a:solidFill>
          <a:ln w="9525">
            <a:solidFill>
              <a:srgbClr val="B7C2D0"/>
            </a:solidFill>
            <a:prstDash val="solid"/>
          </a:ln>
        </p:spPr>
        <p:txBody>
          <a:bodyPr/>
          <a:lstStyle/>
          <a:p>
            <a:endParaRPr lang="zh-CN" altLang="en-US"/>
          </a:p>
        </p:txBody>
      </p:sp>
      <p:sp>
        <p:nvSpPr>
          <p:cNvPr id="9" name="矩形 8">
            <a:extLst>
              <a:ext uri="{FF2B5EF4-FFF2-40B4-BE49-F238E27FC236}">
                <a16:creationId xmlns:a16="http://schemas.microsoft.com/office/drawing/2014/main" id="{2CDA3EF2-0871-490E-91D9-785DD4135F2D}"/>
              </a:ext>
            </a:extLst>
          </p:cNvPr>
          <p:cNvSpPr>
            <a:spLocks noGrp="1"/>
          </p:cNvSpPr>
          <p:nvPr/>
        </p:nvSpPr>
        <p:spPr>
          <a:xfrm>
            <a:off x="2511425" y="1219200"/>
            <a:ext cx="1692275"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D921823B-5308-4F87-AFCF-B9BA10AF7BAD}"/>
              </a:ext>
            </a:extLst>
          </p:cNvPr>
          <p:cNvSpPr>
            <a:spLocks noGrp="1"/>
          </p:cNvSpPr>
          <p:nvPr/>
        </p:nvSpPr>
        <p:spPr>
          <a:xfrm>
            <a:off x="4337050" y="1219200"/>
            <a:ext cx="1692275" cy="4076700"/>
          </a:xfrm>
          <a:prstGeom prst="rect">
            <a:avLst/>
          </a:prstGeom>
          <a:solidFill>
            <a:srgbClr val="F6F9FD"/>
          </a:solidFill>
          <a:ln w="9525">
            <a:solidFill>
              <a:srgbClr val="B7C2D0"/>
            </a:solidFill>
            <a:prstDash val="solid"/>
          </a:ln>
        </p:spPr>
        <p:txBody>
          <a:bodyPr/>
          <a:lstStyle/>
          <a:p>
            <a:endParaRPr lang="zh-CN" altLang="en-US"/>
          </a:p>
        </p:txBody>
      </p:sp>
      <p:sp>
        <p:nvSpPr>
          <p:cNvPr id="11" name="矩形 10">
            <a:extLst>
              <a:ext uri="{FF2B5EF4-FFF2-40B4-BE49-F238E27FC236}">
                <a16:creationId xmlns:a16="http://schemas.microsoft.com/office/drawing/2014/main" id="{6883BE52-204A-4295-BD43-17136B957737}"/>
              </a:ext>
            </a:extLst>
          </p:cNvPr>
          <p:cNvSpPr>
            <a:spLocks noGrp="1"/>
          </p:cNvSpPr>
          <p:nvPr/>
        </p:nvSpPr>
        <p:spPr>
          <a:xfrm>
            <a:off x="4337050" y="1219200"/>
            <a:ext cx="1692275"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A57662CF-3C5E-4F38-AB2D-8FE66203C0BE}"/>
              </a:ext>
            </a:extLst>
          </p:cNvPr>
          <p:cNvSpPr>
            <a:spLocks noGrp="1"/>
          </p:cNvSpPr>
          <p:nvPr/>
        </p:nvSpPr>
        <p:spPr>
          <a:xfrm>
            <a:off x="6162675" y="1219200"/>
            <a:ext cx="1692275" cy="4076700"/>
          </a:xfrm>
          <a:prstGeom prst="rect">
            <a:avLst/>
          </a:prstGeom>
          <a:solidFill>
            <a:srgbClr val="FFFCF4"/>
          </a:solidFill>
          <a:ln w="9525">
            <a:solidFill>
              <a:srgbClr val="B7C2D0"/>
            </a:solidFill>
            <a:prstDash val="solid"/>
          </a:ln>
        </p:spPr>
        <p:txBody>
          <a:bodyPr/>
          <a:lstStyle/>
          <a:p>
            <a:endParaRPr lang="zh-CN" altLang="en-US"/>
          </a:p>
        </p:txBody>
      </p:sp>
      <p:sp>
        <p:nvSpPr>
          <p:cNvPr id="13" name="矩形 12">
            <a:extLst>
              <a:ext uri="{FF2B5EF4-FFF2-40B4-BE49-F238E27FC236}">
                <a16:creationId xmlns:a16="http://schemas.microsoft.com/office/drawing/2014/main" id="{F5AF7119-06BE-4898-A81F-8B025660B6E4}"/>
              </a:ext>
            </a:extLst>
          </p:cNvPr>
          <p:cNvSpPr>
            <a:spLocks noGrp="1"/>
          </p:cNvSpPr>
          <p:nvPr/>
        </p:nvSpPr>
        <p:spPr>
          <a:xfrm>
            <a:off x="6162675" y="1219200"/>
            <a:ext cx="1692275"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E133AE08-8D97-4B61-A28D-DED6EA752B16}"/>
              </a:ext>
            </a:extLst>
          </p:cNvPr>
          <p:cNvSpPr>
            <a:spLocks noGrp="1"/>
          </p:cNvSpPr>
          <p:nvPr/>
        </p:nvSpPr>
        <p:spPr>
          <a:xfrm>
            <a:off x="7988300" y="1219200"/>
            <a:ext cx="1692275" cy="4076700"/>
          </a:xfrm>
          <a:prstGeom prst="rect">
            <a:avLst/>
          </a:prstGeom>
          <a:solidFill>
            <a:srgbClr val="F6F9FD"/>
          </a:solidFill>
          <a:ln w="9525">
            <a:solidFill>
              <a:srgbClr val="B7C2D0"/>
            </a:solidFill>
            <a:prstDash val="solid"/>
          </a:ln>
        </p:spPr>
        <p:txBody>
          <a:bodyPr/>
          <a:lstStyle/>
          <a:p>
            <a:endParaRPr lang="zh-CN" altLang="en-US"/>
          </a:p>
        </p:txBody>
      </p:sp>
      <p:sp>
        <p:nvSpPr>
          <p:cNvPr id="15" name="矩形 14">
            <a:extLst>
              <a:ext uri="{FF2B5EF4-FFF2-40B4-BE49-F238E27FC236}">
                <a16:creationId xmlns:a16="http://schemas.microsoft.com/office/drawing/2014/main" id="{9BE2C2C0-093D-4AEC-8D22-AF3D76216777}"/>
              </a:ext>
            </a:extLst>
          </p:cNvPr>
          <p:cNvSpPr>
            <a:spLocks noGrp="1"/>
          </p:cNvSpPr>
          <p:nvPr/>
        </p:nvSpPr>
        <p:spPr>
          <a:xfrm>
            <a:off x="7988300" y="1219200"/>
            <a:ext cx="1692275"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6197F4A2-B3DC-4D60-8719-551127DFFFC7}"/>
              </a:ext>
            </a:extLst>
          </p:cNvPr>
          <p:cNvSpPr>
            <a:spLocks noGrp="1"/>
          </p:cNvSpPr>
          <p:nvPr/>
        </p:nvSpPr>
        <p:spPr>
          <a:xfrm>
            <a:off x="9813925" y="1219200"/>
            <a:ext cx="1692275" cy="4076700"/>
          </a:xfrm>
          <a:prstGeom prst="rect">
            <a:avLst/>
          </a:prstGeom>
          <a:solidFill>
            <a:srgbClr val="FFFCF4"/>
          </a:solidFill>
          <a:ln w="9525">
            <a:solidFill>
              <a:srgbClr val="B7C2D0"/>
            </a:solidFill>
            <a:prstDash val="solid"/>
          </a:ln>
        </p:spPr>
        <p:txBody>
          <a:bodyPr/>
          <a:lstStyle/>
          <a:p>
            <a:endParaRPr lang="zh-CN" altLang="en-US"/>
          </a:p>
        </p:txBody>
      </p:sp>
      <p:sp>
        <p:nvSpPr>
          <p:cNvPr id="17" name="矩形 16">
            <a:extLst>
              <a:ext uri="{FF2B5EF4-FFF2-40B4-BE49-F238E27FC236}">
                <a16:creationId xmlns:a16="http://schemas.microsoft.com/office/drawing/2014/main" id="{4F195C31-930F-411A-94F8-BCA6CD3741EF}"/>
              </a:ext>
            </a:extLst>
          </p:cNvPr>
          <p:cNvSpPr>
            <a:spLocks noGrp="1"/>
          </p:cNvSpPr>
          <p:nvPr/>
        </p:nvSpPr>
        <p:spPr>
          <a:xfrm>
            <a:off x="9813925" y="1219200"/>
            <a:ext cx="1692275"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25E4946C-17F2-4257-8551-8C3F7F674958}"/>
              </a:ext>
            </a:extLst>
          </p:cNvPr>
          <p:cNvSpPr>
            <a:spLocks noGrp="1"/>
          </p:cNvSpPr>
          <p:nvPr/>
        </p:nvSpPr>
        <p:spPr>
          <a:xfrm>
            <a:off x="781050" y="1390650"/>
            <a:ext cx="1501775" cy="1257300"/>
          </a:xfrm>
          <a:prstGeom prst="rect">
            <a:avLst/>
          </a:prstGeom>
          <a:solidFill>
            <a:srgbClr val="E6F0FA"/>
          </a:solidFill>
          <a:ln w="9525">
            <a:solidFill>
              <a:srgbClr val="D4DCE6"/>
            </a:solidFill>
            <a:prstDash val="solid"/>
          </a:ln>
        </p:spPr>
        <p:txBody>
          <a:bodyPr/>
          <a:lstStyle/>
          <a:p>
            <a:endParaRPr lang="zh-CN" altLang="en-US"/>
          </a:p>
        </p:txBody>
      </p:sp>
      <p:sp>
        <p:nvSpPr>
          <p:cNvPr id="19" name="椭圆 18">
            <a:extLst>
              <a:ext uri="{FF2B5EF4-FFF2-40B4-BE49-F238E27FC236}">
                <a16:creationId xmlns:a16="http://schemas.microsoft.com/office/drawing/2014/main" id="{2686AB50-9095-4D26-A34D-29599C7FE097}"/>
              </a:ext>
            </a:extLst>
          </p:cNvPr>
          <p:cNvSpPr>
            <a:spLocks noGrp="1"/>
          </p:cNvSpPr>
          <p:nvPr/>
        </p:nvSpPr>
        <p:spPr>
          <a:xfrm>
            <a:off x="1208087"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20" name="矩形 19">
            <a:extLst>
              <a:ext uri="{FF2B5EF4-FFF2-40B4-BE49-F238E27FC236}">
                <a16:creationId xmlns:a16="http://schemas.microsoft.com/office/drawing/2014/main" id="{23D767E8-A080-4CA7-B0EE-AE5CD17280E8}"/>
              </a:ext>
            </a:extLst>
          </p:cNvPr>
          <p:cNvSpPr>
            <a:spLocks noGrp="1"/>
          </p:cNvSpPr>
          <p:nvPr/>
        </p:nvSpPr>
        <p:spPr>
          <a:xfrm>
            <a:off x="1322387"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1</a:t>
            </a:r>
          </a:p>
        </p:txBody>
      </p:sp>
      <p:sp>
        <p:nvSpPr>
          <p:cNvPr id="21" name="矩形 20">
            <a:extLst>
              <a:ext uri="{FF2B5EF4-FFF2-40B4-BE49-F238E27FC236}">
                <a16:creationId xmlns:a16="http://schemas.microsoft.com/office/drawing/2014/main" id="{AD1BCC1B-841C-447D-85E6-0315405628FD}"/>
              </a:ext>
            </a:extLst>
          </p:cNvPr>
          <p:cNvSpPr>
            <a:spLocks noGrp="1"/>
          </p:cNvSpPr>
          <p:nvPr/>
        </p:nvSpPr>
        <p:spPr>
          <a:xfrm>
            <a:off x="990409" y="2400300"/>
            <a:ext cx="1083056"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506AC954-E4B0-4E45-A653-DB9AE1ECAB86}"/>
              </a:ext>
            </a:extLst>
          </p:cNvPr>
          <p:cNvSpPr>
            <a:spLocks noGrp="1"/>
          </p:cNvSpPr>
          <p:nvPr/>
        </p:nvSpPr>
        <p:spPr>
          <a:xfrm>
            <a:off x="1142714"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AA26E607-47A5-49E9-9B27-F91A0772A031}"/>
              </a:ext>
            </a:extLst>
          </p:cNvPr>
          <p:cNvSpPr>
            <a:spLocks noGrp="1"/>
          </p:cNvSpPr>
          <p:nvPr/>
        </p:nvSpPr>
        <p:spPr>
          <a:xfrm>
            <a:off x="1278096"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3CB72E1D-D034-44F6-B08B-73073ED543C2}"/>
              </a:ext>
            </a:extLst>
          </p:cNvPr>
          <p:cNvSpPr>
            <a:spLocks noGrp="1"/>
          </p:cNvSpPr>
          <p:nvPr/>
        </p:nvSpPr>
        <p:spPr>
          <a:xfrm>
            <a:off x="819150" y="2800350"/>
            <a:ext cx="1425575" cy="609600"/>
          </a:xfrm>
          <a:prstGeom prst="rect">
            <a:avLst/>
          </a:prstGeom>
          <a:solidFill>
            <a:srgbClr val="F6F9FD"/>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定义规则</a:t>
            </a:r>
          </a:p>
        </p:txBody>
      </p:sp>
      <p:sp>
        <p:nvSpPr>
          <p:cNvPr id="25" name="矩形 24">
            <a:extLst>
              <a:ext uri="{FF2B5EF4-FFF2-40B4-BE49-F238E27FC236}">
                <a16:creationId xmlns:a16="http://schemas.microsoft.com/office/drawing/2014/main" id="{77DEB79B-D353-4E75-B326-B5C81B8B2CD1}"/>
              </a:ext>
            </a:extLst>
          </p:cNvPr>
          <p:cNvSpPr>
            <a:spLocks noGrp="1"/>
          </p:cNvSpPr>
          <p:nvPr/>
        </p:nvSpPr>
        <p:spPr>
          <a:xfrm>
            <a:off x="857250"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6" name="矩形 25">
            <a:extLst>
              <a:ext uri="{FF2B5EF4-FFF2-40B4-BE49-F238E27FC236}">
                <a16:creationId xmlns:a16="http://schemas.microsoft.com/office/drawing/2014/main" id="{E9ED1488-BEAF-449A-818B-368F1D350F78}"/>
              </a:ext>
            </a:extLst>
          </p:cNvPr>
          <p:cNvSpPr>
            <a:spLocks noGrp="1"/>
          </p:cNvSpPr>
          <p:nvPr/>
        </p:nvSpPr>
        <p:spPr>
          <a:xfrm>
            <a:off x="838200" y="3543300"/>
            <a:ext cx="1387475" cy="1066800"/>
          </a:xfrm>
          <a:prstGeom prst="rect">
            <a:avLst/>
          </a:prstGeom>
          <a:solidFill>
            <a:srgbClr val="F6F9FD"/>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合法范围、唯一性、完整性与时间边界</a:t>
            </a:r>
          </a:p>
        </p:txBody>
      </p:sp>
      <p:sp>
        <p:nvSpPr>
          <p:cNvPr id="27" name="矩形 26">
            <a:extLst>
              <a:ext uri="{FF2B5EF4-FFF2-40B4-BE49-F238E27FC236}">
                <a16:creationId xmlns:a16="http://schemas.microsoft.com/office/drawing/2014/main" id="{09C46711-6D83-401F-AC72-A43953878BC1}"/>
              </a:ext>
            </a:extLst>
          </p:cNvPr>
          <p:cNvSpPr>
            <a:spLocks noGrp="1"/>
          </p:cNvSpPr>
          <p:nvPr/>
        </p:nvSpPr>
        <p:spPr>
          <a:xfrm>
            <a:off x="2378075"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28" name="矩形 27">
            <a:extLst>
              <a:ext uri="{FF2B5EF4-FFF2-40B4-BE49-F238E27FC236}">
                <a16:creationId xmlns:a16="http://schemas.microsoft.com/office/drawing/2014/main" id="{6C2C3961-F276-4DF6-BE33-4F2A8A26B107}"/>
              </a:ext>
            </a:extLst>
          </p:cNvPr>
          <p:cNvSpPr>
            <a:spLocks noGrp="1"/>
          </p:cNvSpPr>
          <p:nvPr/>
        </p:nvSpPr>
        <p:spPr>
          <a:xfrm>
            <a:off x="2606675" y="1390650"/>
            <a:ext cx="1501775" cy="1257300"/>
          </a:xfrm>
          <a:prstGeom prst="rect">
            <a:avLst/>
          </a:prstGeom>
          <a:solidFill>
            <a:srgbClr val="F7EFD6"/>
          </a:solidFill>
          <a:ln w="9525">
            <a:solidFill>
              <a:srgbClr val="D4DCE6"/>
            </a:solidFill>
            <a:prstDash val="solid"/>
          </a:ln>
        </p:spPr>
        <p:txBody>
          <a:bodyPr/>
          <a:lstStyle/>
          <a:p>
            <a:endParaRPr lang="zh-CN" altLang="en-US"/>
          </a:p>
        </p:txBody>
      </p:sp>
      <p:sp>
        <p:nvSpPr>
          <p:cNvPr id="29" name="椭圆 28">
            <a:extLst>
              <a:ext uri="{FF2B5EF4-FFF2-40B4-BE49-F238E27FC236}">
                <a16:creationId xmlns:a16="http://schemas.microsoft.com/office/drawing/2014/main" id="{299E8A30-32BA-4CF6-91F8-8FEE0D783D6E}"/>
              </a:ext>
            </a:extLst>
          </p:cNvPr>
          <p:cNvSpPr>
            <a:spLocks noGrp="1"/>
          </p:cNvSpPr>
          <p:nvPr/>
        </p:nvSpPr>
        <p:spPr>
          <a:xfrm>
            <a:off x="3033712"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30" name="矩形 29">
            <a:extLst>
              <a:ext uri="{FF2B5EF4-FFF2-40B4-BE49-F238E27FC236}">
                <a16:creationId xmlns:a16="http://schemas.microsoft.com/office/drawing/2014/main" id="{BFB791C4-B8AB-435F-B1B3-C3F8D69AC1B5}"/>
              </a:ext>
            </a:extLst>
          </p:cNvPr>
          <p:cNvSpPr>
            <a:spLocks noGrp="1"/>
          </p:cNvSpPr>
          <p:nvPr/>
        </p:nvSpPr>
        <p:spPr>
          <a:xfrm>
            <a:off x="3148012"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2</a:t>
            </a:r>
          </a:p>
        </p:txBody>
      </p:sp>
      <p:sp>
        <p:nvSpPr>
          <p:cNvPr id="31" name="矩形 30">
            <a:extLst>
              <a:ext uri="{FF2B5EF4-FFF2-40B4-BE49-F238E27FC236}">
                <a16:creationId xmlns:a16="http://schemas.microsoft.com/office/drawing/2014/main" id="{1844893E-3299-42C1-8AA9-3A9A40969797}"/>
              </a:ext>
            </a:extLst>
          </p:cNvPr>
          <p:cNvSpPr>
            <a:spLocks noGrp="1"/>
          </p:cNvSpPr>
          <p:nvPr/>
        </p:nvSpPr>
        <p:spPr>
          <a:xfrm>
            <a:off x="2816035" y="2400300"/>
            <a:ext cx="1083056"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11001147-A59A-44E3-80A3-07B01DD17163}"/>
              </a:ext>
            </a:extLst>
          </p:cNvPr>
          <p:cNvSpPr>
            <a:spLocks noGrp="1"/>
          </p:cNvSpPr>
          <p:nvPr/>
        </p:nvSpPr>
        <p:spPr>
          <a:xfrm>
            <a:off x="2968339"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7576F570-C5A1-42A7-B00C-EC777CE5BE85}"/>
              </a:ext>
            </a:extLst>
          </p:cNvPr>
          <p:cNvSpPr>
            <a:spLocks noGrp="1"/>
          </p:cNvSpPr>
          <p:nvPr/>
        </p:nvSpPr>
        <p:spPr>
          <a:xfrm>
            <a:off x="3103721"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13206BC2-1DD7-4B7D-A959-EFCA5D583286}"/>
              </a:ext>
            </a:extLst>
          </p:cNvPr>
          <p:cNvSpPr>
            <a:spLocks noGrp="1"/>
          </p:cNvSpPr>
          <p:nvPr/>
        </p:nvSpPr>
        <p:spPr>
          <a:xfrm>
            <a:off x="2644775" y="2800350"/>
            <a:ext cx="1425575" cy="609600"/>
          </a:xfrm>
          <a:prstGeom prst="rect">
            <a:avLst/>
          </a:prstGeom>
          <a:solidFill>
            <a:srgbClr val="FFFCF4"/>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运行检查</a:t>
            </a:r>
          </a:p>
        </p:txBody>
      </p:sp>
      <p:sp>
        <p:nvSpPr>
          <p:cNvPr id="35" name="矩形 34">
            <a:extLst>
              <a:ext uri="{FF2B5EF4-FFF2-40B4-BE49-F238E27FC236}">
                <a16:creationId xmlns:a16="http://schemas.microsoft.com/office/drawing/2014/main" id="{8A9ABA0E-5034-4DF3-A686-38F82D40D08D}"/>
              </a:ext>
            </a:extLst>
          </p:cNvPr>
          <p:cNvSpPr>
            <a:spLocks noGrp="1"/>
          </p:cNvSpPr>
          <p:nvPr/>
        </p:nvSpPr>
        <p:spPr>
          <a:xfrm>
            <a:off x="2682875"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3C658F56-CDE8-4D01-B46C-35DCEA2473B1}"/>
              </a:ext>
            </a:extLst>
          </p:cNvPr>
          <p:cNvSpPr>
            <a:spLocks noGrp="1"/>
          </p:cNvSpPr>
          <p:nvPr/>
        </p:nvSpPr>
        <p:spPr>
          <a:xfrm>
            <a:off x="2663825" y="3543300"/>
            <a:ext cx="1387475" cy="1066800"/>
          </a:xfrm>
          <a:prstGeom prst="rect">
            <a:avLst/>
          </a:prstGeom>
          <a:solidFill>
            <a:srgbClr val="FFFCF4"/>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生成错误数、缺失率和冲突率</a:t>
            </a:r>
          </a:p>
        </p:txBody>
      </p:sp>
      <p:sp>
        <p:nvSpPr>
          <p:cNvPr id="37" name="矩形 36">
            <a:extLst>
              <a:ext uri="{FF2B5EF4-FFF2-40B4-BE49-F238E27FC236}">
                <a16:creationId xmlns:a16="http://schemas.microsoft.com/office/drawing/2014/main" id="{BAE3F6CE-1E27-46EE-8E10-05C0480313CE}"/>
              </a:ext>
            </a:extLst>
          </p:cNvPr>
          <p:cNvSpPr>
            <a:spLocks noGrp="1"/>
          </p:cNvSpPr>
          <p:nvPr/>
        </p:nvSpPr>
        <p:spPr>
          <a:xfrm>
            <a:off x="4203700"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38" name="矩形 37">
            <a:extLst>
              <a:ext uri="{FF2B5EF4-FFF2-40B4-BE49-F238E27FC236}">
                <a16:creationId xmlns:a16="http://schemas.microsoft.com/office/drawing/2014/main" id="{44062F86-33C9-41D3-ADC7-35B2F8FC7B7B}"/>
              </a:ext>
            </a:extLst>
          </p:cNvPr>
          <p:cNvSpPr>
            <a:spLocks noGrp="1"/>
          </p:cNvSpPr>
          <p:nvPr/>
        </p:nvSpPr>
        <p:spPr>
          <a:xfrm>
            <a:off x="4432300" y="1390650"/>
            <a:ext cx="1501775" cy="1257300"/>
          </a:xfrm>
          <a:prstGeom prst="rect">
            <a:avLst/>
          </a:prstGeom>
          <a:solidFill>
            <a:srgbClr val="E6F0FA"/>
          </a:solidFill>
          <a:ln w="9525">
            <a:solidFill>
              <a:srgbClr val="D4DCE6"/>
            </a:solidFill>
            <a:prstDash val="solid"/>
          </a:ln>
        </p:spPr>
        <p:txBody>
          <a:bodyPr/>
          <a:lstStyle/>
          <a:p>
            <a:endParaRPr lang="zh-CN" altLang="en-US"/>
          </a:p>
        </p:txBody>
      </p:sp>
      <p:sp>
        <p:nvSpPr>
          <p:cNvPr id="39" name="椭圆 38">
            <a:extLst>
              <a:ext uri="{FF2B5EF4-FFF2-40B4-BE49-F238E27FC236}">
                <a16:creationId xmlns:a16="http://schemas.microsoft.com/office/drawing/2014/main" id="{C5EBAD12-B5D7-491D-80C0-277A8A2CDFEB}"/>
              </a:ext>
            </a:extLst>
          </p:cNvPr>
          <p:cNvSpPr>
            <a:spLocks noGrp="1"/>
          </p:cNvSpPr>
          <p:nvPr/>
        </p:nvSpPr>
        <p:spPr>
          <a:xfrm>
            <a:off x="4859338"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40" name="矩形 39">
            <a:extLst>
              <a:ext uri="{FF2B5EF4-FFF2-40B4-BE49-F238E27FC236}">
                <a16:creationId xmlns:a16="http://schemas.microsoft.com/office/drawing/2014/main" id="{5FD43DE8-6673-4FA4-8A32-E749A74C51F3}"/>
              </a:ext>
            </a:extLst>
          </p:cNvPr>
          <p:cNvSpPr>
            <a:spLocks noGrp="1"/>
          </p:cNvSpPr>
          <p:nvPr/>
        </p:nvSpPr>
        <p:spPr>
          <a:xfrm>
            <a:off x="4973638"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3</a:t>
            </a:r>
          </a:p>
        </p:txBody>
      </p:sp>
      <p:sp>
        <p:nvSpPr>
          <p:cNvPr id="41" name="矩形 40">
            <a:extLst>
              <a:ext uri="{FF2B5EF4-FFF2-40B4-BE49-F238E27FC236}">
                <a16:creationId xmlns:a16="http://schemas.microsoft.com/office/drawing/2014/main" id="{FF25FDC6-E149-49FC-A417-0C608DA75F48}"/>
              </a:ext>
            </a:extLst>
          </p:cNvPr>
          <p:cNvSpPr>
            <a:spLocks noGrp="1"/>
          </p:cNvSpPr>
          <p:nvPr/>
        </p:nvSpPr>
        <p:spPr>
          <a:xfrm>
            <a:off x="4641660" y="2400300"/>
            <a:ext cx="1083056"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5D077556-1458-4383-97A5-2114D06F4F2A}"/>
              </a:ext>
            </a:extLst>
          </p:cNvPr>
          <p:cNvSpPr>
            <a:spLocks noGrp="1"/>
          </p:cNvSpPr>
          <p:nvPr/>
        </p:nvSpPr>
        <p:spPr>
          <a:xfrm>
            <a:off x="4793964"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3" name="矩形 42">
            <a:extLst>
              <a:ext uri="{FF2B5EF4-FFF2-40B4-BE49-F238E27FC236}">
                <a16:creationId xmlns:a16="http://schemas.microsoft.com/office/drawing/2014/main" id="{A1E180ED-BAA4-429C-88C3-B9A83B171397}"/>
              </a:ext>
            </a:extLst>
          </p:cNvPr>
          <p:cNvSpPr>
            <a:spLocks noGrp="1"/>
          </p:cNvSpPr>
          <p:nvPr/>
        </p:nvSpPr>
        <p:spPr>
          <a:xfrm>
            <a:off x="4929346"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4" name="矩形 43">
            <a:extLst>
              <a:ext uri="{FF2B5EF4-FFF2-40B4-BE49-F238E27FC236}">
                <a16:creationId xmlns:a16="http://schemas.microsoft.com/office/drawing/2014/main" id="{B9DBB8DF-F3B2-4E47-B094-B9B86C88618C}"/>
              </a:ext>
            </a:extLst>
          </p:cNvPr>
          <p:cNvSpPr>
            <a:spLocks noGrp="1"/>
          </p:cNvSpPr>
          <p:nvPr/>
        </p:nvSpPr>
        <p:spPr>
          <a:xfrm>
            <a:off x="4470400" y="2800350"/>
            <a:ext cx="1425575" cy="609600"/>
          </a:xfrm>
          <a:prstGeom prst="rect">
            <a:avLst/>
          </a:prstGeom>
          <a:solidFill>
            <a:srgbClr val="F6F9FD"/>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定位来源</a:t>
            </a:r>
          </a:p>
        </p:txBody>
      </p:sp>
      <p:sp>
        <p:nvSpPr>
          <p:cNvPr id="45" name="矩形 44">
            <a:extLst>
              <a:ext uri="{FF2B5EF4-FFF2-40B4-BE49-F238E27FC236}">
                <a16:creationId xmlns:a16="http://schemas.microsoft.com/office/drawing/2014/main" id="{0D35DC4C-1983-4A03-888F-D3E5D78B133C}"/>
              </a:ext>
            </a:extLst>
          </p:cNvPr>
          <p:cNvSpPr>
            <a:spLocks noGrp="1"/>
          </p:cNvSpPr>
          <p:nvPr/>
        </p:nvSpPr>
        <p:spPr>
          <a:xfrm>
            <a:off x="4508500"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46" name="矩形 45">
            <a:extLst>
              <a:ext uri="{FF2B5EF4-FFF2-40B4-BE49-F238E27FC236}">
                <a16:creationId xmlns:a16="http://schemas.microsoft.com/office/drawing/2014/main" id="{27D4C4C7-BE08-4726-9BC0-69DD539D786E}"/>
              </a:ext>
            </a:extLst>
          </p:cNvPr>
          <p:cNvSpPr>
            <a:spLocks noGrp="1"/>
          </p:cNvSpPr>
          <p:nvPr/>
        </p:nvSpPr>
        <p:spPr>
          <a:xfrm>
            <a:off x="4489450" y="3543300"/>
            <a:ext cx="1387475" cy="1066800"/>
          </a:xfrm>
          <a:prstGeom prst="rect">
            <a:avLst/>
          </a:prstGeom>
          <a:solidFill>
            <a:srgbClr val="F6F9FD"/>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追溯到采集系统与转换步骤</a:t>
            </a:r>
          </a:p>
        </p:txBody>
      </p:sp>
      <p:sp>
        <p:nvSpPr>
          <p:cNvPr id="47" name="矩形 46">
            <a:extLst>
              <a:ext uri="{FF2B5EF4-FFF2-40B4-BE49-F238E27FC236}">
                <a16:creationId xmlns:a16="http://schemas.microsoft.com/office/drawing/2014/main" id="{1EF89FE5-0FC7-4DAB-9EFD-C9A9BBCE106C}"/>
              </a:ext>
            </a:extLst>
          </p:cNvPr>
          <p:cNvSpPr>
            <a:spLocks noGrp="1"/>
          </p:cNvSpPr>
          <p:nvPr/>
        </p:nvSpPr>
        <p:spPr>
          <a:xfrm>
            <a:off x="6029325"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48" name="矩形 47">
            <a:extLst>
              <a:ext uri="{FF2B5EF4-FFF2-40B4-BE49-F238E27FC236}">
                <a16:creationId xmlns:a16="http://schemas.microsoft.com/office/drawing/2014/main" id="{3BA8C607-B3D0-4986-8A77-0BB9E211EAE9}"/>
              </a:ext>
            </a:extLst>
          </p:cNvPr>
          <p:cNvSpPr>
            <a:spLocks noGrp="1"/>
          </p:cNvSpPr>
          <p:nvPr/>
        </p:nvSpPr>
        <p:spPr>
          <a:xfrm>
            <a:off x="6257925" y="1390650"/>
            <a:ext cx="1501775" cy="1257300"/>
          </a:xfrm>
          <a:prstGeom prst="rect">
            <a:avLst/>
          </a:prstGeom>
          <a:solidFill>
            <a:srgbClr val="F7EFD6"/>
          </a:solidFill>
          <a:ln w="9525">
            <a:solidFill>
              <a:srgbClr val="D4DCE6"/>
            </a:solidFill>
            <a:prstDash val="solid"/>
          </a:ln>
        </p:spPr>
        <p:txBody>
          <a:bodyPr/>
          <a:lstStyle/>
          <a:p>
            <a:endParaRPr lang="zh-CN" altLang="en-US"/>
          </a:p>
        </p:txBody>
      </p:sp>
      <p:sp>
        <p:nvSpPr>
          <p:cNvPr id="49" name="椭圆 48">
            <a:extLst>
              <a:ext uri="{FF2B5EF4-FFF2-40B4-BE49-F238E27FC236}">
                <a16:creationId xmlns:a16="http://schemas.microsoft.com/office/drawing/2014/main" id="{413F70FD-0EF2-4DFC-A5DF-67A33B1D4137}"/>
              </a:ext>
            </a:extLst>
          </p:cNvPr>
          <p:cNvSpPr>
            <a:spLocks noGrp="1"/>
          </p:cNvSpPr>
          <p:nvPr/>
        </p:nvSpPr>
        <p:spPr>
          <a:xfrm>
            <a:off x="6684963"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50" name="矩形 49">
            <a:extLst>
              <a:ext uri="{FF2B5EF4-FFF2-40B4-BE49-F238E27FC236}">
                <a16:creationId xmlns:a16="http://schemas.microsoft.com/office/drawing/2014/main" id="{EDA2F9D1-5EC1-4C7B-85BC-8987368FA118}"/>
              </a:ext>
            </a:extLst>
          </p:cNvPr>
          <p:cNvSpPr>
            <a:spLocks noGrp="1"/>
          </p:cNvSpPr>
          <p:nvPr/>
        </p:nvSpPr>
        <p:spPr>
          <a:xfrm>
            <a:off x="6799263"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4</a:t>
            </a:r>
          </a:p>
        </p:txBody>
      </p:sp>
      <p:sp>
        <p:nvSpPr>
          <p:cNvPr id="51" name="矩形 50">
            <a:extLst>
              <a:ext uri="{FF2B5EF4-FFF2-40B4-BE49-F238E27FC236}">
                <a16:creationId xmlns:a16="http://schemas.microsoft.com/office/drawing/2014/main" id="{9F82A1DD-DCA3-495C-8028-92D39F3B52A1}"/>
              </a:ext>
            </a:extLst>
          </p:cNvPr>
          <p:cNvSpPr>
            <a:spLocks noGrp="1"/>
          </p:cNvSpPr>
          <p:nvPr/>
        </p:nvSpPr>
        <p:spPr>
          <a:xfrm>
            <a:off x="6467285" y="2400300"/>
            <a:ext cx="1083056"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52" name="矩形 51">
            <a:extLst>
              <a:ext uri="{FF2B5EF4-FFF2-40B4-BE49-F238E27FC236}">
                <a16:creationId xmlns:a16="http://schemas.microsoft.com/office/drawing/2014/main" id="{6C02C809-F514-4E47-9D75-1A19500CF6BC}"/>
              </a:ext>
            </a:extLst>
          </p:cNvPr>
          <p:cNvSpPr>
            <a:spLocks noGrp="1"/>
          </p:cNvSpPr>
          <p:nvPr/>
        </p:nvSpPr>
        <p:spPr>
          <a:xfrm>
            <a:off x="6619589"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3" name="矩形 52">
            <a:extLst>
              <a:ext uri="{FF2B5EF4-FFF2-40B4-BE49-F238E27FC236}">
                <a16:creationId xmlns:a16="http://schemas.microsoft.com/office/drawing/2014/main" id="{B28610D8-B596-4442-95C9-CC836BB72933}"/>
              </a:ext>
            </a:extLst>
          </p:cNvPr>
          <p:cNvSpPr>
            <a:spLocks noGrp="1"/>
          </p:cNvSpPr>
          <p:nvPr/>
        </p:nvSpPr>
        <p:spPr>
          <a:xfrm>
            <a:off x="6754971"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4" name="矩形 53">
            <a:extLst>
              <a:ext uri="{FF2B5EF4-FFF2-40B4-BE49-F238E27FC236}">
                <a16:creationId xmlns:a16="http://schemas.microsoft.com/office/drawing/2014/main" id="{BE20E9D7-391E-4BE4-82F1-03D4BDB6B1A5}"/>
              </a:ext>
            </a:extLst>
          </p:cNvPr>
          <p:cNvSpPr>
            <a:spLocks noGrp="1"/>
          </p:cNvSpPr>
          <p:nvPr/>
        </p:nvSpPr>
        <p:spPr>
          <a:xfrm>
            <a:off x="6296025" y="2800350"/>
            <a:ext cx="1425575" cy="609600"/>
          </a:xfrm>
          <a:prstGeom prst="rect">
            <a:avLst/>
          </a:prstGeom>
          <a:solidFill>
            <a:srgbClr val="FFFCF4"/>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修正数据</a:t>
            </a:r>
          </a:p>
        </p:txBody>
      </p:sp>
      <p:sp>
        <p:nvSpPr>
          <p:cNvPr id="55" name="矩形 54">
            <a:extLst>
              <a:ext uri="{FF2B5EF4-FFF2-40B4-BE49-F238E27FC236}">
                <a16:creationId xmlns:a16="http://schemas.microsoft.com/office/drawing/2014/main" id="{F8BC95AA-E5ED-4A3B-AFD8-5CC693BD12CB}"/>
              </a:ext>
            </a:extLst>
          </p:cNvPr>
          <p:cNvSpPr>
            <a:spLocks noGrp="1"/>
          </p:cNvSpPr>
          <p:nvPr/>
        </p:nvSpPr>
        <p:spPr>
          <a:xfrm>
            <a:off x="6334125"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56" name="矩形 55">
            <a:extLst>
              <a:ext uri="{FF2B5EF4-FFF2-40B4-BE49-F238E27FC236}">
                <a16:creationId xmlns:a16="http://schemas.microsoft.com/office/drawing/2014/main" id="{A02DBABD-BAA3-4E49-B5A7-773F509B6A80}"/>
              </a:ext>
            </a:extLst>
          </p:cNvPr>
          <p:cNvSpPr>
            <a:spLocks noGrp="1"/>
          </p:cNvSpPr>
          <p:nvPr/>
        </p:nvSpPr>
        <p:spPr>
          <a:xfrm>
            <a:off x="6315075" y="3543300"/>
            <a:ext cx="1387475" cy="1066800"/>
          </a:xfrm>
          <a:prstGeom prst="rect">
            <a:avLst/>
          </a:prstGeom>
          <a:solidFill>
            <a:srgbClr val="FFFCF4"/>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采用明确、可复现的处理规则</a:t>
            </a:r>
          </a:p>
        </p:txBody>
      </p:sp>
      <p:sp>
        <p:nvSpPr>
          <p:cNvPr id="57" name="矩形 56">
            <a:extLst>
              <a:ext uri="{FF2B5EF4-FFF2-40B4-BE49-F238E27FC236}">
                <a16:creationId xmlns:a16="http://schemas.microsoft.com/office/drawing/2014/main" id="{69AADD79-7A6A-447B-B0AC-B569DA8778C4}"/>
              </a:ext>
            </a:extLst>
          </p:cNvPr>
          <p:cNvSpPr>
            <a:spLocks noGrp="1"/>
          </p:cNvSpPr>
          <p:nvPr/>
        </p:nvSpPr>
        <p:spPr>
          <a:xfrm>
            <a:off x="7854950"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58" name="矩形 57">
            <a:extLst>
              <a:ext uri="{FF2B5EF4-FFF2-40B4-BE49-F238E27FC236}">
                <a16:creationId xmlns:a16="http://schemas.microsoft.com/office/drawing/2014/main" id="{F90ABD09-AEB5-472E-B083-DFAEDFE12FF8}"/>
              </a:ext>
            </a:extLst>
          </p:cNvPr>
          <p:cNvSpPr>
            <a:spLocks noGrp="1"/>
          </p:cNvSpPr>
          <p:nvPr/>
        </p:nvSpPr>
        <p:spPr>
          <a:xfrm>
            <a:off x="8083550" y="1390650"/>
            <a:ext cx="1501775" cy="1257300"/>
          </a:xfrm>
          <a:prstGeom prst="rect">
            <a:avLst/>
          </a:prstGeom>
          <a:solidFill>
            <a:srgbClr val="E6F0FA"/>
          </a:solidFill>
          <a:ln w="9525">
            <a:solidFill>
              <a:srgbClr val="D4DCE6"/>
            </a:solidFill>
            <a:prstDash val="solid"/>
          </a:ln>
        </p:spPr>
        <p:txBody>
          <a:bodyPr/>
          <a:lstStyle/>
          <a:p>
            <a:endParaRPr lang="zh-CN" altLang="en-US"/>
          </a:p>
        </p:txBody>
      </p:sp>
      <p:sp>
        <p:nvSpPr>
          <p:cNvPr id="59" name="椭圆 58">
            <a:extLst>
              <a:ext uri="{FF2B5EF4-FFF2-40B4-BE49-F238E27FC236}">
                <a16:creationId xmlns:a16="http://schemas.microsoft.com/office/drawing/2014/main" id="{29E20530-D460-43F9-93FB-6A825559C012}"/>
              </a:ext>
            </a:extLst>
          </p:cNvPr>
          <p:cNvSpPr>
            <a:spLocks noGrp="1"/>
          </p:cNvSpPr>
          <p:nvPr/>
        </p:nvSpPr>
        <p:spPr>
          <a:xfrm>
            <a:off x="8510588"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60" name="矩形 59">
            <a:extLst>
              <a:ext uri="{FF2B5EF4-FFF2-40B4-BE49-F238E27FC236}">
                <a16:creationId xmlns:a16="http://schemas.microsoft.com/office/drawing/2014/main" id="{F5B61773-6363-4276-9349-983CB20600B5}"/>
              </a:ext>
            </a:extLst>
          </p:cNvPr>
          <p:cNvSpPr>
            <a:spLocks noGrp="1"/>
          </p:cNvSpPr>
          <p:nvPr/>
        </p:nvSpPr>
        <p:spPr>
          <a:xfrm>
            <a:off x="8624888"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5</a:t>
            </a:r>
          </a:p>
        </p:txBody>
      </p:sp>
      <p:sp>
        <p:nvSpPr>
          <p:cNvPr id="61" name="矩形 60">
            <a:extLst>
              <a:ext uri="{FF2B5EF4-FFF2-40B4-BE49-F238E27FC236}">
                <a16:creationId xmlns:a16="http://schemas.microsoft.com/office/drawing/2014/main" id="{FAE5993F-B8DB-4378-85C4-7F09C7CFC96A}"/>
              </a:ext>
            </a:extLst>
          </p:cNvPr>
          <p:cNvSpPr>
            <a:spLocks noGrp="1"/>
          </p:cNvSpPr>
          <p:nvPr/>
        </p:nvSpPr>
        <p:spPr>
          <a:xfrm>
            <a:off x="8292910" y="2400300"/>
            <a:ext cx="1083056"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62" name="矩形 61">
            <a:extLst>
              <a:ext uri="{FF2B5EF4-FFF2-40B4-BE49-F238E27FC236}">
                <a16:creationId xmlns:a16="http://schemas.microsoft.com/office/drawing/2014/main" id="{534EA8CA-6A26-4857-817F-7E88DC4EE8DA}"/>
              </a:ext>
            </a:extLst>
          </p:cNvPr>
          <p:cNvSpPr>
            <a:spLocks noGrp="1"/>
          </p:cNvSpPr>
          <p:nvPr/>
        </p:nvSpPr>
        <p:spPr>
          <a:xfrm>
            <a:off x="8445214"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3" name="矩形 62">
            <a:extLst>
              <a:ext uri="{FF2B5EF4-FFF2-40B4-BE49-F238E27FC236}">
                <a16:creationId xmlns:a16="http://schemas.microsoft.com/office/drawing/2014/main" id="{D203ACAE-9B69-440D-BFAA-D3640ABA48BC}"/>
              </a:ext>
            </a:extLst>
          </p:cNvPr>
          <p:cNvSpPr>
            <a:spLocks noGrp="1"/>
          </p:cNvSpPr>
          <p:nvPr/>
        </p:nvSpPr>
        <p:spPr>
          <a:xfrm>
            <a:off x="8580596"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4" name="矩形 63">
            <a:extLst>
              <a:ext uri="{FF2B5EF4-FFF2-40B4-BE49-F238E27FC236}">
                <a16:creationId xmlns:a16="http://schemas.microsoft.com/office/drawing/2014/main" id="{64D9EBC6-0F22-4082-8CCE-38E6B9047749}"/>
              </a:ext>
            </a:extLst>
          </p:cNvPr>
          <p:cNvSpPr>
            <a:spLocks noGrp="1"/>
          </p:cNvSpPr>
          <p:nvPr/>
        </p:nvSpPr>
        <p:spPr>
          <a:xfrm>
            <a:off x="8121650" y="2800350"/>
            <a:ext cx="1425575" cy="609600"/>
          </a:xfrm>
          <a:prstGeom prst="rect">
            <a:avLst/>
          </a:prstGeom>
          <a:solidFill>
            <a:srgbClr val="F6F9FD"/>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复核分布</a:t>
            </a:r>
          </a:p>
        </p:txBody>
      </p:sp>
      <p:sp>
        <p:nvSpPr>
          <p:cNvPr id="65" name="矩形 64">
            <a:extLst>
              <a:ext uri="{FF2B5EF4-FFF2-40B4-BE49-F238E27FC236}">
                <a16:creationId xmlns:a16="http://schemas.microsoft.com/office/drawing/2014/main" id="{12F87A2C-A24D-4D18-BDA3-CCCF760DAC16}"/>
              </a:ext>
            </a:extLst>
          </p:cNvPr>
          <p:cNvSpPr>
            <a:spLocks noGrp="1"/>
          </p:cNvSpPr>
          <p:nvPr/>
        </p:nvSpPr>
        <p:spPr>
          <a:xfrm>
            <a:off x="8159750"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66" name="矩形 65">
            <a:extLst>
              <a:ext uri="{FF2B5EF4-FFF2-40B4-BE49-F238E27FC236}">
                <a16:creationId xmlns:a16="http://schemas.microsoft.com/office/drawing/2014/main" id="{BF510AE5-FEAB-4A89-ACBE-96BEEEE38667}"/>
              </a:ext>
            </a:extLst>
          </p:cNvPr>
          <p:cNvSpPr>
            <a:spLocks noGrp="1"/>
          </p:cNvSpPr>
          <p:nvPr/>
        </p:nvSpPr>
        <p:spPr>
          <a:xfrm>
            <a:off x="8140700" y="3543300"/>
            <a:ext cx="1387475" cy="1066800"/>
          </a:xfrm>
          <a:prstGeom prst="rect">
            <a:avLst/>
          </a:prstGeom>
          <a:solidFill>
            <a:srgbClr val="F6F9FD"/>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比较处理前后的统计与群体比例</a:t>
            </a:r>
          </a:p>
        </p:txBody>
      </p:sp>
      <p:sp>
        <p:nvSpPr>
          <p:cNvPr id="67" name="矩形 66">
            <a:extLst>
              <a:ext uri="{FF2B5EF4-FFF2-40B4-BE49-F238E27FC236}">
                <a16:creationId xmlns:a16="http://schemas.microsoft.com/office/drawing/2014/main" id="{1C688EA3-7071-4EC6-B38A-66492F971466}"/>
              </a:ext>
            </a:extLst>
          </p:cNvPr>
          <p:cNvSpPr>
            <a:spLocks noGrp="1"/>
          </p:cNvSpPr>
          <p:nvPr/>
        </p:nvSpPr>
        <p:spPr>
          <a:xfrm>
            <a:off x="9680575"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68" name="矩形 67">
            <a:extLst>
              <a:ext uri="{FF2B5EF4-FFF2-40B4-BE49-F238E27FC236}">
                <a16:creationId xmlns:a16="http://schemas.microsoft.com/office/drawing/2014/main" id="{F415E7D0-EAD4-44B1-BBFE-A8D100EF9005}"/>
              </a:ext>
            </a:extLst>
          </p:cNvPr>
          <p:cNvSpPr>
            <a:spLocks noGrp="1"/>
          </p:cNvSpPr>
          <p:nvPr/>
        </p:nvSpPr>
        <p:spPr>
          <a:xfrm>
            <a:off x="9909175" y="1390650"/>
            <a:ext cx="1501775" cy="1257300"/>
          </a:xfrm>
          <a:prstGeom prst="rect">
            <a:avLst/>
          </a:prstGeom>
          <a:solidFill>
            <a:srgbClr val="F7EFD6"/>
          </a:solidFill>
          <a:ln w="9525">
            <a:solidFill>
              <a:srgbClr val="D4DCE6"/>
            </a:solidFill>
            <a:prstDash val="solid"/>
          </a:ln>
        </p:spPr>
        <p:txBody>
          <a:bodyPr/>
          <a:lstStyle/>
          <a:p>
            <a:endParaRPr lang="zh-CN" altLang="en-US"/>
          </a:p>
        </p:txBody>
      </p:sp>
      <p:sp>
        <p:nvSpPr>
          <p:cNvPr id="69" name="椭圆 68">
            <a:extLst>
              <a:ext uri="{FF2B5EF4-FFF2-40B4-BE49-F238E27FC236}">
                <a16:creationId xmlns:a16="http://schemas.microsoft.com/office/drawing/2014/main" id="{EEE9CA81-D35F-44D1-A834-739CE1C66F3C}"/>
              </a:ext>
            </a:extLst>
          </p:cNvPr>
          <p:cNvSpPr>
            <a:spLocks noGrp="1"/>
          </p:cNvSpPr>
          <p:nvPr/>
        </p:nvSpPr>
        <p:spPr>
          <a:xfrm>
            <a:off x="10336212"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70" name="矩形 69">
            <a:extLst>
              <a:ext uri="{FF2B5EF4-FFF2-40B4-BE49-F238E27FC236}">
                <a16:creationId xmlns:a16="http://schemas.microsoft.com/office/drawing/2014/main" id="{91DB0058-0882-48A5-9051-03BB35F7A01E}"/>
              </a:ext>
            </a:extLst>
          </p:cNvPr>
          <p:cNvSpPr>
            <a:spLocks noGrp="1"/>
          </p:cNvSpPr>
          <p:nvPr/>
        </p:nvSpPr>
        <p:spPr>
          <a:xfrm>
            <a:off x="10450512"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6</a:t>
            </a:r>
          </a:p>
        </p:txBody>
      </p:sp>
      <p:sp>
        <p:nvSpPr>
          <p:cNvPr id="71" name="矩形 70">
            <a:extLst>
              <a:ext uri="{FF2B5EF4-FFF2-40B4-BE49-F238E27FC236}">
                <a16:creationId xmlns:a16="http://schemas.microsoft.com/office/drawing/2014/main" id="{FA6D3DCE-94DC-4E2C-B88B-2D5B68467D31}"/>
              </a:ext>
            </a:extLst>
          </p:cNvPr>
          <p:cNvSpPr>
            <a:spLocks noGrp="1"/>
          </p:cNvSpPr>
          <p:nvPr/>
        </p:nvSpPr>
        <p:spPr>
          <a:xfrm>
            <a:off x="10118535" y="2400300"/>
            <a:ext cx="1083056"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72" name="矩形 71">
            <a:extLst>
              <a:ext uri="{FF2B5EF4-FFF2-40B4-BE49-F238E27FC236}">
                <a16:creationId xmlns:a16="http://schemas.microsoft.com/office/drawing/2014/main" id="{9B67C8B8-9868-40E2-BA48-F30441135788}"/>
              </a:ext>
            </a:extLst>
          </p:cNvPr>
          <p:cNvSpPr>
            <a:spLocks noGrp="1"/>
          </p:cNvSpPr>
          <p:nvPr/>
        </p:nvSpPr>
        <p:spPr>
          <a:xfrm>
            <a:off x="10270839"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73" name="矩形 72">
            <a:extLst>
              <a:ext uri="{FF2B5EF4-FFF2-40B4-BE49-F238E27FC236}">
                <a16:creationId xmlns:a16="http://schemas.microsoft.com/office/drawing/2014/main" id="{9BD4F1CC-6BF3-4B0B-AE54-209356A56478}"/>
              </a:ext>
            </a:extLst>
          </p:cNvPr>
          <p:cNvSpPr>
            <a:spLocks noGrp="1"/>
          </p:cNvSpPr>
          <p:nvPr/>
        </p:nvSpPr>
        <p:spPr>
          <a:xfrm>
            <a:off x="10406221"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74" name="矩形 73">
            <a:extLst>
              <a:ext uri="{FF2B5EF4-FFF2-40B4-BE49-F238E27FC236}">
                <a16:creationId xmlns:a16="http://schemas.microsoft.com/office/drawing/2014/main" id="{8BBEA7D6-EF53-40BE-AB4D-41E4CBC81E7C}"/>
              </a:ext>
            </a:extLst>
          </p:cNvPr>
          <p:cNvSpPr>
            <a:spLocks noGrp="1"/>
          </p:cNvSpPr>
          <p:nvPr/>
        </p:nvSpPr>
        <p:spPr>
          <a:xfrm>
            <a:off x="9947275" y="2800350"/>
            <a:ext cx="1425575" cy="609600"/>
          </a:xfrm>
          <a:prstGeom prst="rect">
            <a:avLst/>
          </a:prstGeom>
          <a:solidFill>
            <a:srgbClr val="FFFCF4"/>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保存记录</a:t>
            </a:r>
          </a:p>
        </p:txBody>
      </p:sp>
      <p:sp>
        <p:nvSpPr>
          <p:cNvPr id="75" name="矩形 74">
            <a:extLst>
              <a:ext uri="{FF2B5EF4-FFF2-40B4-BE49-F238E27FC236}">
                <a16:creationId xmlns:a16="http://schemas.microsoft.com/office/drawing/2014/main" id="{CD1D8BA5-133D-4F8F-873D-63FDD8EB013D}"/>
              </a:ext>
            </a:extLst>
          </p:cNvPr>
          <p:cNvSpPr>
            <a:spLocks noGrp="1"/>
          </p:cNvSpPr>
          <p:nvPr/>
        </p:nvSpPr>
        <p:spPr>
          <a:xfrm>
            <a:off x="9985375"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76" name="矩形 75">
            <a:extLst>
              <a:ext uri="{FF2B5EF4-FFF2-40B4-BE49-F238E27FC236}">
                <a16:creationId xmlns:a16="http://schemas.microsoft.com/office/drawing/2014/main" id="{062DD61B-80F6-45A2-A862-3CDCC8A7E8AB}"/>
              </a:ext>
            </a:extLst>
          </p:cNvPr>
          <p:cNvSpPr>
            <a:spLocks noGrp="1"/>
          </p:cNvSpPr>
          <p:nvPr/>
        </p:nvSpPr>
        <p:spPr>
          <a:xfrm>
            <a:off x="9966325" y="3543300"/>
            <a:ext cx="1387475" cy="1066800"/>
          </a:xfrm>
          <a:prstGeom prst="rect">
            <a:avLst/>
          </a:prstGeom>
          <a:solidFill>
            <a:srgbClr val="FFFCF4"/>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保留版本、脚本和审计日志</a:t>
            </a:r>
          </a:p>
        </p:txBody>
      </p:sp>
      <p:sp>
        <p:nvSpPr>
          <p:cNvPr id="77" name="矩形 76">
            <a:extLst>
              <a:ext uri="{FF2B5EF4-FFF2-40B4-BE49-F238E27FC236}">
                <a16:creationId xmlns:a16="http://schemas.microsoft.com/office/drawing/2014/main" id="{A635A467-A1A5-4544-A6A1-4E560AC049AB}"/>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78" name="矩形 77">
            <a:extLst>
              <a:ext uri="{FF2B5EF4-FFF2-40B4-BE49-F238E27FC236}">
                <a16:creationId xmlns:a16="http://schemas.microsoft.com/office/drawing/2014/main" id="{BD70FEA8-87EA-49F2-A751-9266C425B72F}"/>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可复现的数据清洗比一次性的手工修表更可靠。</a:t>
            </a:r>
          </a:p>
        </p:txBody>
      </p:sp>
    </p:spTree>
    <p:extLst>
      <p:ext uri="{BB962C8B-B14F-4D97-AF65-F5344CB8AC3E}">
        <p14:creationId xmlns:p14="http://schemas.microsoft.com/office/powerpoint/2010/main" val="6840271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381AFB2B-3CE2-46B7-90A4-D3E67922C273}"/>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9E520865-1A07-46F4-A1E1-81A58FAF868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F2AC7B78-08B9-44B8-B2A8-43A8607FBF2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F43D5990-B06E-4ABF-8518-F23206F75516}"/>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清洗前后必须比较，而不是只保存结果</a:t>
            </a:r>
          </a:p>
        </p:txBody>
      </p:sp>
      <p:sp>
        <p:nvSpPr>
          <p:cNvPr id="5" name="矩形 4">
            <a:extLst>
              <a:ext uri="{FF2B5EF4-FFF2-40B4-BE49-F238E27FC236}">
                <a16:creationId xmlns:a16="http://schemas.microsoft.com/office/drawing/2014/main" id="{7A4EFC47-DE3B-4EF2-B7AD-C27210E81D6F}"/>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41/90</a:t>
            </a:r>
          </a:p>
        </p:txBody>
      </p:sp>
      <p:sp>
        <p:nvSpPr>
          <p:cNvPr id="6" name="矩形 5">
            <a:extLst>
              <a:ext uri="{FF2B5EF4-FFF2-40B4-BE49-F238E27FC236}">
                <a16:creationId xmlns:a16="http://schemas.microsoft.com/office/drawing/2014/main" id="{ECFAE868-40D7-4E64-9872-EBC201DF83DD}"/>
              </a:ext>
            </a:extLst>
          </p:cNvPr>
          <p:cNvSpPr>
            <a:spLocks noGrp="1"/>
          </p:cNvSpPr>
          <p:nvPr/>
        </p:nvSpPr>
        <p:spPr>
          <a:xfrm>
            <a:off x="723900" y="1295400"/>
            <a:ext cx="4381500" cy="3905250"/>
          </a:xfrm>
          <a:prstGeom prst="rect">
            <a:avLst/>
          </a:prstGeom>
          <a:solidFill>
            <a:srgbClr val="FFF7F7"/>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8727491A-1414-4206-A887-3115B6440768}"/>
              </a:ext>
            </a:extLst>
          </p:cNvPr>
          <p:cNvSpPr>
            <a:spLocks noGrp="1"/>
          </p:cNvSpPr>
          <p:nvPr/>
        </p:nvSpPr>
        <p:spPr>
          <a:xfrm>
            <a:off x="723900" y="1295400"/>
            <a:ext cx="4381500" cy="628650"/>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9308A969-8275-4430-B3BE-5C2AEA0576D7}"/>
              </a:ext>
            </a:extLst>
          </p:cNvPr>
          <p:cNvSpPr>
            <a:spLocks noGrp="1"/>
          </p:cNvSpPr>
          <p:nvPr/>
        </p:nvSpPr>
        <p:spPr>
          <a:xfrm>
            <a:off x="952500" y="1466850"/>
            <a:ext cx="3924300" cy="285750"/>
          </a:xfrm>
          <a:prstGeom prst="rect">
            <a:avLst/>
          </a:prstGeom>
          <a:solidFill>
            <a:srgbClr val="A33A3A"/>
          </a:solidFill>
          <a:ln w="0">
            <a:solidFill>
              <a:srgbClr val="000000">
                <a:alpha val="0"/>
              </a:srgbClr>
            </a:solidFill>
            <a:prstDash val="solid"/>
          </a:ln>
        </p:spPr>
        <p:txBody>
          <a:bodyPr lIns="0" tIns="0" rIns="0" bIns="0" anchor="t"/>
          <a:lstStyle/>
          <a:p>
            <a:pPr algn="ctr">
              <a:defRPr sz="1950" b="1">
                <a:solidFill>
                  <a:srgbClr val="FFFFFF"/>
                </a:solidFill>
                <a:latin typeface="黑体"/>
                <a:ea typeface="黑体"/>
                <a:cs typeface="黑体"/>
              </a:defRPr>
            </a:pPr>
            <a:r>
              <a:rPr>
                <a:latin typeface="黑体"/>
                <a:ea typeface="黑体"/>
                <a:cs typeface="黑体"/>
              </a:rPr>
              <a:t>清洗前</a:t>
            </a:r>
          </a:p>
        </p:txBody>
      </p:sp>
      <p:sp>
        <p:nvSpPr>
          <p:cNvPr id="9" name="矩形 8">
            <a:extLst>
              <a:ext uri="{FF2B5EF4-FFF2-40B4-BE49-F238E27FC236}">
                <a16:creationId xmlns:a16="http://schemas.microsoft.com/office/drawing/2014/main" id="{82D836BE-DFBB-4296-8321-34A0600F3149}"/>
              </a:ext>
            </a:extLst>
          </p:cNvPr>
          <p:cNvSpPr>
            <a:spLocks noGrp="1"/>
          </p:cNvSpPr>
          <p:nvPr/>
        </p:nvSpPr>
        <p:spPr>
          <a:xfrm>
            <a:off x="952500" y="2133600"/>
            <a:ext cx="3924300" cy="533400"/>
          </a:xfrm>
          <a:prstGeom prst="rect">
            <a:avLst/>
          </a:prstGeom>
          <a:solidFill>
            <a:srgbClr val="FFFFFF"/>
          </a:solidFill>
          <a:ln w="9525">
            <a:solidFill>
              <a:srgbClr val="D4DBE4"/>
            </a:solidFill>
            <a:prstDash val="solid"/>
          </a:ln>
        </p:spPr>
        <p:txBody>
          <a:bodyPr/>
          <a:lstStyle/>
          <a:p>
            <a:endParaRPr lang="zh-CN" altLang="en-US"/>
          </a:p>
        </p:txBody>
      </p:sp>
      <p:sp>
        <p:nvSpPr>
          <p:cNvPr id="10" name="矩形 9">
            <a:extLst>
              <a:ext uri="{FF2B5EF4-FFF2-40B4-BE49-F238E27FC236}">
                <a16:creationId xmlns:a16="http://schemas.microsoft.com/office/drawing/2014/main" id="{F3ABFAAE-E50A-4443-9E1E-B53E5FCE9A78}"/>
              </a:ext>
            </a:extLst>
          </p:cNvPr>
          <p:cNvSpPr>
            <a:spLocks noGrp="1"/>
          </p:cNvSpPr>
          <p:nvPr/>
        </p:nvSpPr>
        <p:spPr>
          <a:xfrm>
            <a:off x="1143000" y="2286000"/>
            <a:ext cx="2057400" cy="228600"/>
          </a:xfrm>
          <a:prstGeom prst="rect">
            <a:avLst/>
          </a:prstGeom>
          <a:solidFill>
            <a:srgbClr val="FFFFFF"/>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黑体"/>
                <a:ea typeface="黑体"/>
                <a:cs typeface="黑体"/>
              </a:rPr>
              <a:t>记录数</a:t>
            </a:r>
          </a:p>
        </p:txBody>
      </p:sp>
      <p:sp>
        <p:nvSpPr>
          <p:cNvPr id="11" name="矩形 10">
            <a:extLst>
              <a:ext uri="{FF2B5EF4-FFF2-40B4-BE49-F238E27FC236}">
                <a16:creationId xmlns:a16="http://schemas.microsoft.com/office/drawing/2014/main" id="{0FE38930-35FA-4096-81C6-7CA8FD5E428F}"/>
              </a:ext>
            </a:extLst>
          </p:cNvPr>
          <p:cNvSpPr>
            <a:spLocks noGrp="1"/>
          </p:cNvSpPr>
          <p:nvPr/>
        </p:nvSpPr>
        <p:spPr>
          <a:xfrm>
            <a:off x="3219450" y="2286000"/>
            <a:ext cx="1428750" cy="228600"/>
          </a:xfrm>
          <a:prstGeom prst="rect">
            <a:avLst/>
          </a:prstGeom>
          <a:solidFill>
            <a:srgbClr val="FFFFFF"/>
          </a:solidFill>
          <a:ln w="0">
            <a:solidFill>
              <a:srgbClr val="000000">
                <a:alpha val="0"/>
              </a:srgbClr>
            </a:solidFill>
            <a:prstDash val="solid"/>
          </a:ln>
        </p:spPr>
        <p:txBody>
          <a:bodyPr lIns="0" tIns="0" rIns="0" bIns="0" anchor="t"/>
          <a:lstStyle/>
          <a:p>
            <a:pPr algn="r">
              <a:defRPr sz="1275" b="1">
                <a:solidFill>
                  <a:srgbClr val="A33A3A"/>
                </a:solidFill>
                <a:latin typeface="黑体"/>
                <a:ea typeface="黑体"/>
                <a:cs typeface="黑体"/>
              </a:defRPr>
            </a:pPr>
            <a:r>
              <a:rPr>
                <a:latin typeface="Times New Roman"/>
                <a:ea typeface="Times New Roman"/>
                <a:cs typeface="Times New Roman"/>
              </a:rPr>
              <a:t>10,000</a:t>
            </a:r>
          </a:p>
        </p:txBody>
      </p:sp>
      <p:sp>
        <p:nvSpPr>
          <p:cNvPr id="12" name="矩形 11">
            <a:extLst>
              <a:ext uri="{FF2B5EF4-FFF2-40B4-BE49-F238E27FC236}">
                <a16:creationId xmlns:a16="http://schemas.microsoft.com/office/drawing/2014/main" id="{E39720E5-9283-4228-AE9B-09C53CD44B38}"/>
              </a:ext>
            </a:extLst>
          </p:cNvPr>
          <p:cNvSpPr>
            <a:spLocks noGrp="1"/>
          </p:cNvSpPr>
          <p:nvPr/>
        </p:nvSpPr>
        <p:spPr>
          <a:xfrm>
            <a:off x="952500" y="2800350"/>
            <a:ext cx="3924300" cy="533400"/>
          </a:xfrm>
          <a:prstGeom prst="rect">
            <a:avLst/>
          </a:prstGeom>
          <a:solidFill>
            <a:srgbClr val="FFF7F7"/>
          </a:solidFill>
          <a:ln w="9525">
            <a:solidFill>
              <a:srgbClr val="D4DBE4"/>
            </a:solidFill>
            <a:prstDash val="solid"/>
          </a:ln>
        </p:spPr>
        <p:txBody>
          <a:bodyPr/>
          <a:lstStyle/>
          <a:p>
            <a:endParaRPr lang="zh-CN" altLang="en-US"/>
          </a:p>
        </p:txBody>
      </p:sp>
      <p:sp>
        <p:nvSpPr>
          <p:cNvPr id="13" name="矩形 12">
            <a:extLst>
              <a:ext uri="{FF2B5EF4-FFF2-40B4-BE49-F238E27FC236}">
                <a16:creationId xmlns:a16="http://schemas.microsoft.com/office/drawing/2014/main" id="{B5576BEA-7C4F-459D-A363-455788BD6741}"/>
              </a:ext>
            </a:extLst>
          </p:cNvPr>
          <p:cNvSpPr>
            <a:spLocks noGrp="1"/>
          </p:cNvSpPr>
          <p:nvPr/>
        </p:nvSpPr>
        <p:spPr>
          <a:xfrm>
            <a:off x="1143000" y="2952750"/>
            <a:ext cx="2057400" cy="228600"/>
          </a:xfrm>
          <a:prstGeom prst="rect">
            <a:avLst/>
          </a:prstGeom>
          <a:solidFill>
            <a:srgbClr val="FFF7F7"/>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Times New Roman"/>
                <a:ea typeface="Times New Roman"/>
                <a:cs typeface="Times New Roman"/>
              </a:rPr>
              <a:t>quiz </a:t>
            </a:r>
            <a:r>
              <a:rPr>
                <a:latin typeface="黑体"/>
                <a:ea typeface="黑体"/>
                <a:cs typeface="黑体"/>
              </a:rPr>
              <a:t>缺失率</a:t>
            </a:r>
          </a:p>
        </p:txBody>
      </p:sp>
      <p:sp>
        <p:nvSpPr>
          <p:cNvPr id="14" name="矩形 13">
            <a:extLst>
              <a:ext uri="{FF2B5EF4-FFF2-40B4-BE49-F238E27FC236}">
                <a16:creationId xmlns:a16="http://schemas.microsoft.com/office/drawing/2014/main" id="{1D5E269A-DC92-4767-8852-EC28A3407B54}"/>
              </a:ext>
            </a:extLst>
          </p:cNvPr>
          <p:cNvSpPr>
            <a:spLocks noGrp="1"/>
          </p:cNvSpPr>
          <p:nvPr/>
        </p:nvSpPr>
        <p:spPr>
          <a:xfrm>
            <a:off x="3219450" y="2952750"/>
            <a:ext cx="1428750" cy="228600"/>
          </a:xfrm>
          <a:prstGeom prst="rect">
            <a:avLst/>
          </a:prstGeom>
          <a:solidFill>
            <a:srgbClr val="FFF7F7"/>
          </a:solidFill>
          <a:ln w="0">
            <a:solidFill>
              <a:srgbClr val="000000">
                <a:alpha val="0"/>
              </a:srgbClr>
            </a:solidFill>
            <a:prstDash val="solid"/>
          </a:ln>
        </p:spPr>
        <p:txBody>
          <a:bodyPr lIns="0" tIns="0" rIns="0" bIns="0" anchor="t"/>
          <a:lstStyle/>
          <a:p>
            <a:pPr algn="r">
              <a:defRPr sz="1275" b="1">
                <a:solidFill>
                  <a:srgbClr val="A33A3A"/>
                </a:solidFill>
                <a:latin typeface="黑体"/>
                <a:ea typeface="黑体"/>
                <a:cs typeface="黑体"/>
              </a:defRPr>
            </a:pPr>
            <a:r>
              <a:rPr>
                <a:latin typeface="Times New Roman"/>
                <a:ea typeface="Times New Roman"/>
                <a:cs typeface="Times New Roman"/>
              </a:rPr>
              <a:t>18.0%</a:t>
            </a:r>
          </a:p>
        </p:txBody>
      </p:sp>
      <p:sp>
        <p:nvSpPr>
          <p:cNvPr id="15" name="矩形 14">
            <a:extLst>
              <a:ext uri="{FF2B5EF4-FFF2-40B4-BE49-F238E27FC236}">
                <a16:creationId xmlns:a16="http://schemas.microsoft.com/office/drawing/2014/main" id="{6467DC71-9112-4151-B670-AE51118523E2}"/>
              </a:ext>
            </a:extLst>
          </p:cNvPr>
          <p:cNvSpPr>
            <a:spLocks noGrp="1"/>
          </p:cNvSpPr>
          <p:nvPr/>
        </p:nvSpPr>
        <p:spPr>
          <a:xfrm>
            <a:off x="952500" y="3467100"/>
            <a:ext cx="3924300" cy="533400"/>
          </a:xfrm>
          <a:prstGeom prst="rect">
            <a:avLst/>
          </a:prstGeom>
          <a:solidFill>
            <a:srgbClr val="FFFFFF"/>
          </a:solidFill>
          <a:ln w="9525">
            <a:solidFill>
              <a:srgbClr val="D4DBE4"/>
            </a:solidFill>
            <a:prstDash val="solid"/>
          </a:ln>
        </p:spPr>
        <p:txBody>
          <a:bodyPr/>
          <a:lstStyle/>
          <a:p>
            <a:endParaRPr lang="zh-CN" altLang="en-US"/>
          </a:p>
        </p:txBody>
      </p:sp>
      <p:sp>
        <p:nvSpPr>
          <p:cNvPr id="16" name="矩形 15">
            <a:extLst>
              <a:ext uri="{FF2B5EF4-FFF2-40B4-BE49-F238E27FC236}">
                <a16:creationId xmlns:a16="http://schemas.microsoft.com/office/drawing/2014/main" id="{CBFE2260-09F1-44F4-BD63-A753FE229F28}"/>
              </a:ext>
            </a:extLst>
          </p:cNvPr>
          <p:cNvSpPr>
            <a:spLocks noGrp="1"/>
          </p:cNvSpPr>
          <p:nvPr/>
        </p:nvSpPr>
        <p:spPr>
          <a:xfrm>
            <a:off x="1143000" y="3619500"/>
            <a:ext cx="2057400" cy="228600"/>
          </a:xfrm>
          <a:prstGeom prst="rect">
            <a:avLst/>
          </a:prstGeom>
          <a:solidFill>
            <a:srgbClr val="FFFFFF"/>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黑体"/>
                <a:ea typeface="黑体"/>
                <a:cs typeface="黑体"/>
              </a:rPr>
              <a:t>重复记录</a:t>
            </a:r>
          </a:p>
        </p:txBody>
      </p:sp>
      <p:sp>
        <p:nvSpPr>
          <p:cNvPr id="17" name="矩形 16">
            <a:extLst>
              <a:ext uri="{FF2B5EF4-FFF2-40B4-BE49-F238E27FC236}">
                <a16:creationId xmlns:a16="http://schemas.microsoft.com/office/drawing/2014/main" id="{5FF1A5E8-D4B2-4177-AA9F-0B202D9118E9}"/>
              </a:ext>
            </a:extLst>
          </p:cNvPr>
          <p:cNvSpPr>
            <a:spLocks noGrp="1"/>
          </p:cNvSpPr>
          <p:nvPr/>
        </p:nvSpPr>
        <p:spPr>
          <a:xfrm>
            <a:off x="3219450" y="3619500"/>
            <a:ext cx="1428750" cy="228600"/>
          </a:xfrm>
          <a:prstGeom prst="rect">
            <a:avLst/>
          </a:prstGeom>
          <a:solidFill>
            <a:srgbClr val="FFFFFF"/>
          </a:solidFill>
          <a:ln w="0">
            <a:solidFill>
              <a:srgbClr val="000000">
                <a:alpha val="0"/>
              </a:srgbClr>
            </a:solidFill>
            <a:prstDash val="solid"/>
          </a:ln>
        </p:spPr>
        <p:txBody>
          <a:bodyPr lIns="0" tIns="0" rIns="0" bIns="0" anchor="t"/>
          <a:lstStyle/>
          <a:p>
            <a:pPr algn="r">
              <a:defRPr sz="1275" b="1">
                <a:solidFill>
                  <a:srgbClr val="A33A3A"/>
                </a:solidFill>
                <a:latin typeface="黑体"/>
                <a:ea typeface="黑体"/>
                <a:cs typeface="黑体"/>
              </a:defRPr>
            </a:pPr>
            <a:r>
              <a:rPr>
                <a:latin typeface="Times New Roman"/>
                <a:ea typeface="Times New Roman"/>
                <a:cs typeface="Times New Roman"/>
              </a:rPr>
              <a:t>427</a:t>
            </a:r>
          </a:p>
        </p:txBody>
      </p:sp>
      <p:sp>
        <p:nvSpPr>
          <p:cNvPr id="18" name="矩形 17">
            <a:extLst>
              <a:ext uri="{FF2B5EF4-FFF2-40B4-BE49-F238E27FC236}">
                <a16:creationId xmlns:a16="http://schemas.microsoft.com/office/drawing/2014/main" id="{2E005B68-6C01-4A37-91B9-792B8E5F32B8}"/>
              </a:ext>
            </a:extLst>
          </p:cNvPr>
          <p:cNvSpPr>
            <a:spLocks noGrp="1"/>
          </p:cNvSpPr>
          <p:nvPr/>
        </p:nvSpPr>
        <p:spPr>
          <a:xfrm>
            <a:off x="952500" y="4133850"/>
            <a:ext cx="3924300" cy="533400"/>
          </a:xfrm>
          <a:prstGeom prst="rect">
            <a:avLst/>
          </a:prstGeom>
          <a:solidFill>
            <a:srgbClr val="FFF7F7"/>
          </a:solidFill>
          <a:ln w="9525">
            <a:solidFill>
              <a:srgbClr val="D4DBE4"/>
            </a:solidFill>
            <a:prstDash val="solid"/>
          </a:ln>
        </p:spPr>
        <p:txBody>
          <a:bodyPr/>
          <a:lstStyle/>
          <a:p>
            <a:endParaRPr lang="zh-CN" altLang="en-US"/>
          </a:p>
        </p:txBody>
      </p:sp>
      <p:sp>
        <p:nvSpPr>
          <p:cNvPr id="19" name="矩形 18">
            <a:extLst>
              <a:ext uri="{FF2B5EF4-FFF2-40B4-BE49-F238E27FC236}">
                <a16:creationId xmlns:a16="http://schemas.microsoft.com/office/drawing/2014/main" id="{863188BC-AC00-4B9A-B1FB-136FD0BD5957}"/>
              </a:ext>
            </a:extLst>
          </p:cNvPr>
          <p:cNvSpPr>
            <a:spLocks noGrp="1"/>
          </p:cNvSpPr>
          <p:nvPr/>
        </p:nvSpPr>
        <p:spPr>
          <a:xfrm>
            <a:off x="1143000" y="4286250"/>
            <a:ext cx="2057400" cy="228600"/>
          </a:xfrm>
          <a:prstGeom prst="rect">
            <a:avLst/>
          </a:prstGeom>
          <a:solidFill>
            <a:srgbClr val="FFF7F7"/>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Times New Roman"/>
                <a:ea typeface="Times New Roman"/>
                <a:cs typeface="Times New Roman"/>
              </a:rPr>
              <a:t>video_rate &gt; 1</a:t>
            </a:r>
          </a:p>
        </p:txBody>
      </p:sp>
      <p:sp>
        <p:nvSpPr>
          <p:cNvPr id="20" name="矩形 19">
            <a:extLst>
              <a:ext uri="{FF2B5EF4-FFF2-40B4-BE49-F238E27FC236}">
                <a16:creationId xmlns:a16="http://schemas.microsoft.com/office/drawing/2014/main" id="{CA969976-5DCA-46EB-AF50-FF9CF59D2094}"/>
              </a:ext>
            </a:extLst>
          </p:cNvPr>
          <p:cNvSpPr>
            <a:spLocks noGrp="1"/>
          </p:cNvSpPr>
          <p:nvPr/>
        </p:nvSpPr>
        <p:spPr>
          <a:xfrm>
            <a:off x="3219450" y="4286250"/>
            <a:ext cx="1428750" cy="228600"/>
          </a:xfrm>
          <a:prstGeom prst="rect">
            <a:avLst/>
          </a:prstGeom>
          <a:solidFill>
            <a:srgbClr val="FFF7F7"/>
          </a:solidFill>
          <a:ln w="0">
            <a:solidFill>
              <a:srgbClr val="000000">
                <a:alpha val="0"/>
              </a:srgbClr>
            </a:solidFill>
            <a:prstDash val="solid"/>
          </a:ln>
        </p:spPr>
        <p:txBody>
          <a:bodyPr lIns="0" tIns="0" rIns="0" bIns="0" anchor="t"/>
          <a:lstStyle/>
          <a:p>
            <a:pPr algn="r">
              <a:defRPr sz="1275" b="1">
                <a:solidFill>
                  <a:srgbClr val="A33A3A"/>
                </a:solidFill>
                <a:latin typeface="黑体"/>
                <a:ea typeface="黑体"/>
                <a:cs typeface="黑体"/>
              </a:defRPr>
            </a:pPr>
            <a:r>
              <a:rPr>
                <a:latin typeface="Times New Roman"/>
                <a:ea typeface="Times New Roman"/>
                <a:cs typeface="Times New Roman"/>
              </a:rPr>
              <a:t>63</a:t>
            </a:r>
          </a:p>
        </p:txBody>
      </p:sp>
      <p:sp>
        <p:nvSpPr>
          <p:cNvPr id="21" name="矩形 20">
            <a:extLst>
              <a:ext uri="{FF2B5EF4-FFF2-40B4-BE49-F238E27FC236}">
                <a16:creationId xmlns:a16="http://schemas.microsoft.com/office/drawing/2014/main" id="{CBF5750C-DFD5-4353-87AF-07F0D50318BF}"/>
              </a:ext>
            </a:extLst>
          </p:cNvPr>
          <p:cNvSpPr>
            <a:spLocks noGrp="1"/>
          </p:cNvSpPr>
          <p:nvPr/>
        </p:nvSpPr>
        <p:spPr>
          <a:xfrm>
            <a:off x="7086600" y="1295400"/>
            <a:ext cx="4381500" cy="3905250"/>
          </a:xfrm>
          <a:prstGeom prst="rect">
            <a:avLst/>
          </a:prstGeom>
          <a:solidFill>
            <a:srgbClr val="F4FAF7"/>
          </a:solidFill>
          <a:ln w="9525">
            <a:solidFill>
              <a:srgbClr val="B8C3D1"/>
            </a:solidFill>
            <a:prstDash val="solid"/>
          </a:ln>
        </p:spPr>
        <p:txBody>
          <a:bodyPr/>
          <a:lstStyle/>
          <a:p>
            <a:endParaRPr lang="zh-CN" altLang="en-US"/>
          </a:p>
        </p:txBody>
      </p:sp>
      <p:sp>
        <p:nvSpPr>
          <p:cNvPr id="22" name="矩形 21">
            <a:extLst>
              <a:ext uri="{FF2B5EF4-FFF2-40B4-BE49-F238E27FC236}">
                <a16:creationId xmlns:a16="http://schemas.microsoft.com/office/drawing/2014/main" id="{773D5695-79FF-40E1-B162-5AF971560076}"/>
              </a:ext>
            </a:extLst>
          </p:cNvPr>
          <p:cNvSpPr>
            <a:spLocks noGrp="1"/>
          </p:cNvSpPr>
          <p:nvPr/>
        </p:nvSpPr>
        <p:spPr>
          <a:xfrm>
            <a:off x="7086600" y="1295400"/>
            <a:ext cx="4381500" cy="62865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BEE91443-A213-4CE6-AE0B-0D4F2F2D2F87}"/>
              </a:ext>
            </a:extLst>
          </p:cNvPr>
          <p:cNvSpPr>
            <a:spLocks noGrp="1"/>
          </p:cNvSpPr>
          <p:nvPr/>
        </p:nvSpPr>
        <p:spPr>
          <a:xfrm>
            <a:off x="7315200" y="1466850"/>
            <a:ext cx="3924300" cy="285750"/>
          </a:xfrm>
          <a:prstGeom prst="rect">
            <a:avLst/>
          </a:prstGeom>
          <a:solidFill>
            <a:srgbClr val="2F7A5D"/>
          </a:solidFill>
          <a:ln w="0">
            <a:solidFill>
              <a:srgbClr val="000000">
                <a:alpha val="0"/>
              </a:srgbClr>
            </a:solidFill>
            <a:prstDash val="solid"/>
          </a:ln>
        </p:spPr>
        <p:txBody>
          <a:bodyPr lIns="0" tIns="0" rIns="0" bIns="0" anchor="t"/>
          <a:lstStyle/>
          <a:p>
            <a:pPr algn="ctr">
              <a:defRPr sz="1950" b="1">
                <a:solidFill>
                  <a:srgbClr val="FFFFFF"/>
                </a:solidFill>
                <a:latin typeface="黑体"/>
                <a:ea typeface="黑体"/>
                <a:cs typeface="黑体"/>
              </a:defRPr>
            </a:pPr>
            <a:r>
              <a:rPr>
                <a:latin typeface="黑体"/>
                <a:ea typeface="黑体"/>
                <a:cs typeface="黑体"/>
              </a:rPr>
              <a:t>清洗后</a:t>
            </a:r>
          </a:p>
        </p:txBody>
      </p:sp>
      <p:sp>
        <p:nvSpPr>
          <p:cNvPr id="24" name="矩形 23">
            <a:extLst>
              <a:ext uri="{FF2B5EF4-FFF2-40B4-BE49-F238E27FC236}">
                <a16:creationId xmlns:a16="http://schemas.microsoft.com/office/drawing/2014/main" id="{EEF1DEFC-A48B-44C1-874F-356BC2E5E210}"/>
              </a:ext>
            </a:extLst>
          </p:cNvPr>
          <p:cNvSpPr>
            <a:spLocks noGrp="1"/>
          </p:cNvSpPr>
          <p:nvPr/>
        </p:nvSpPr>
        <p:spPr>
          <a:xfrm>
            <a:off x="7315200" y="2133600"/>
            <a:ext cx="3924300" cy="533400"/>
          </a:xfrm>
          <a:prstGeom prst="rect">
            <a:avLst/>
          </a:prstGeom>
          <a:solidFill>
            <a:srgbClr val="FFFFFF"/>
          </a:solidFill>
          <a:ln w="9525">
            <a:solidFill>
              <a:srgbClr val="D4DBE4"/>
            </a:solidFill>
            <a:prstDash val="solid"/>
          </a:ln>
        </p:spPr>
        <p:txBody>
          <a:bodyPr/>
          <a:lstStyle/>
          <a:p>
            <a:endParaRPr lang="zh-CN" altLang="en-US"/>
          </a:p>
        </p:txBody>
      </p:sp>
      <p:sp>
        <p:nvSpPr>
          <p:cNvPr id="25" name="矩形 24">
            <a:extLst>
              <a:ext uri="{FF2B5EF4-FFF2-40B4-BE49-F238E27FC236}">
                <a16:creationId xmlns:a16="http://schemas.microsoft.com/office/drawing/2014/main" id="{406B6E2B-F233-446F-97B3-A8362DE2E273}"/>
              </a:ext>
            </a:extLst>
          </p:cNvPr>
          <p:cNvSpPr>
            <a:spLocks noGrp="1"/>
          </p:cNvSpPr>
          <p:nvPr/>
        </p:nvSpPr>
        <p:spPr>
          <a:xfrm>
            <a:off x="7505700" y="2286000"/>
            <a:ext cx="2057400" cy="228600"/>
          </a:xfrm>
          <a:prstGeom prst="rect">
            <a:avLst/>
          </a:prstGeom>
          <a:solidFill>
            <a:srgbClr val="FFFFFF"/>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黑体"/>
                <a:ea typeface="黑体"/>
                <a:cs typeface="黑体"/>
              </a:rPr>
              <a:t>记录数</a:t>
            </a:r>
          </a:p>
        </p:txBody>
      </p:sp>
      <p:sp>
        <p:nvSpPr>
          <p:cNvPr id="26" name="矩形 25">
            <a:extLst>
              <a:ext uri="{FF2B5EF4-FFF2-40B4-BE49-F238E27FC236}">
                <a16:creationId xmlns:a16="http://schemas.microsoft.com/office/drawing/2014/main" id="{5DF66B98-0686-45E4-A6AB-1E96A4212FF0}"/>
              </a:ext>
            </a:extLst>
          </p:cNvPr>
          <p:cNvSpPr>
            <a:spLocks noGrp="1"/>
          </p:cNvSpPr>
          <p:nvPr/>
        </p:nvSpPr>
        <p:spPr>
          <a:xfrm>
            <a:off x="9582150" y="2286000"/>
            <a:ext cx="1428750" cy="228600"/>
          </a:xfrm>
          <a:prstGeom prst="rect">
            <a:avLst/>
          </a:prstGeom>
          <a:solidFill>
            <a:srgbClr val="FFFFFF"/>
          </a:solidFill>
          <a:ln w="0">
            <a:solidFill>
              <a:srgbClr val="000000">
                <a:alpha val="0"/>
              </a:srgbClr>
            </a:solidFill>
            <a:prstDash val="solid"/>
          </a:ln>
        </p:spPr>
        <p:txBody>
          <a:bodyPr lIns="0" tIns="0" rIns="0" bIns="0" anchor="t"/>
          <a:lstStyle/>
          <a:p>
            <a:pPr algn="r">
              <a:defRPr sz="1275" b="1">
                <a:solidFill>
                  <a:srgbClr val="2F7A5D"/>
                </a:solidFill>
                <a:latin typeface="黑体"/>
                <a:ea typeface="黑体"/>
                <a:cs typeface="黑体"/>
              </a:defRPr>
            </a:pPr>
            <a:r>
              <a:rPr>
                <a:latin typeface="Times New Roman"/>
                <a:ea typeface="Times New Roman"/>
                <a:cs typeface="Times New Roman"/>
              </a:rPr>
              <a:t>9,573</a:t>
            </a:r>
          </a:p>
        </p:txBody>
      </p:sp>
      <p:sp>
        <p:nvSpPr>
          <p:cNvPr id="27" name="矩形 26">
            <a:extLst>
              <a:ext uri="{FF2B5EF4-FFF2-40B4-BE49-F238E27FC236}">
                <a16:creationId xmlns:a16="http://schemas.microsoft.com/office/drawing/2014/main" id="{94C50A22-6FF7-4713-BA86-11D5DCA24B25}"/>
              </a:ext>
            </a:extLst>
          </p:cNvPr>
          <p:cNvSpPr>
            <a:spLocks noGrp="1"/>
          </p:cNvSpPr>
          <p:nvPr/>
        </p:nvSpPr>
        <p:spPr>
          <a:xfrm>
            <a:off x="7315200" y="2800350"/>
            <a:ext cx="3924300" cy="533400"/>
          </a:xfrm>
          <a:prstGeom prst="rect">
            <a:avLst/>
          </a:prstGeom>
          <a:solidFill>
            <a:srgbClr val="F4FAF7"/>
          </a:solidFill>
          <a:ln w="9525">
            <a:solidFill>
              <a:srgbClr val="D4DBE4"/>
            </a:solidFill>
            <a:prstDash val="solid"/>
          </a:ln>
        </p:spPr>
        <p:txBody>
          <a:bodyPr/>
          <a:lstStyle/>
          <a:p>
            <a:endParaRPr lang="zh-CN" altLang="en-US"/>
          </a:p>
        </p:txBody>
      </p:sp>
      <p:sp>
        <p:nvSpPr>
          <p:cNvPr id="28" name="矩形 27">
            <a:extLst>
              <a:ext uri="{FF2B5EF4-FFF2-40B4-BE49-F238E27FC236}">
                <a16:creationId xmlns:a16="http://schemas.microsoft.com/office/drawing/2014/main" id="{5B765109-165A-42EE-9FB4-C31D94EF1E1A}"/>
              </a:ext>
            </a:extLst>
          </p:cNvPr>
          <p:cNvSpPr>
            <a:spLocks noGrp="1"/>
          </p:cNvSpPr>
          <p:nvPr/>
        </p:nvSpPr>
        <p:spPr>
          <a:xfrm>
            <a:off x="7505700" y="2952750"/>
            <a:ext cx="2057400" cy="228600"/>
          </a:xfrm>
          <a:prstGeom prst="rect">
            <a:avLst/>
          </a:prstGeom>
          <a:solidFill>
            <a:srgbClr val="F4FAF7"/>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Times New Roman"/>
                <a:ea typeface="Times New Roman"/>
                <a:cs typeface="Times New Roman"/>
              </a:rPr>
              <a:t>quiz </a:t>
            </a:r>
            <a:r>
              <a:rPr>
                <a:latin typeface="黑体"/>
                <a:ea typeface="黑体"/>
                <a:cs typeface="黑体"/>
              </a:rPr>
              <a:t>缺失率</a:t>
            </a:r>
          </a:p>
        </p:txBody>
      </p:sp>
      <p:sp>
        <p:nvSpPr>
          <p:cNvPr id="29" name="矩形 28">
            <a:extLst>
              <a:ext uri="{FF2B5EF4-FFF2-40B4-BE49-F238E27FC236}">
                <a16:creationId xmlns:a16="http://schemas.microsoft.com/office/drawing/2014/main" id="{B3DA4A53-26CC-4954-867A-3C82E2FC8C4E}"/>
              </a:ext>
            </a:extLst>
          </p:cNvPr>
          <p:cNvSpPr>
            <a:spLocks noGrp="1"/>
          </p:cNvSpPr>
          <p:nvPr/>
        </p:nvSpPr>
        <p:spPr>
          <a:xfrm>
            <a:off x="9582150" y="2952750"/>
            <a:ext cx="1428750" cy="228600"/>
          </a:xfrm>
          <a:prstGeom prst="rect">
            <a:avLst/>
          </a:prstGeom>
          <a:solidFill>
            <a:srgbClr val="F4FAF7"/>
          </a:solidFill>
          <a:ln w="0">
            <a:solidFill>
              <a:srgbClr val="000000">
                <a:alpha val="0"/>
              </a:srgbClr>
            </a:solidFill>
            <a:prstDash val="solid"/>
          </a:ln>
        </p:spPr>
        <p:txBody>
          <a:bodyPr lIns="0" tIns="0" rIns="0" bIns="0" anchor="t"/>
          <a:lstStyle/>
          <a:p>
            <a:pPr algn="r">
              <a:defRPr sz="1275" b="1">
                <a:solidFill>
                  <a:srgbClr val="2F7A5D"/>
                </a:solidFill>
                <a:latin typeface="黑体"/>
                <a:ea typeface="黑体"/>
                <a:cs typeface="黑体"/>
              </a:defRPr>
            </a:pPr>
            <a:r>
              <a:rPr>
                <a:latin typeface="黑体"/>
                <a:ea typeface="黑体"/>
                <a:cs typeface="黑体"/>
              </a:rPr>
              <a:t>保留并标记</a:t>
            </a:r>
          </a:p>
        </p:txBody>
      </p:sp>
      <p:sp>
        <p:nvSpPr>
          <p:cNvPr id="30" name="矩形 29">
            <a:extLst>
              <a:ext uri="{FF2B5EF4-FFF2-40B4-BE49-F238E27FC236}">
                <a16:creationId xmlns:a16="http://schemas.microsoft.com/office/drawing/2014/main" id="{18C8FF3A-A131-4D54-8622-2720455A0F9D}"/>
              </a:ext>
            </a:extLst>
          </p:cNvPr>
          <p:cNvSpPr>
            <a:spLocks noGrp="1"/>
          </p:cNvSpPr>
          <p:nvPr/>
        </p:nvSpPr>
        <p:spPr>
          <a:xfrm>
            <a:off x="7315200" y="3467100"/>
            <a:ext cx="3924300" cy="533400"/>
          </a:xfrm>
          <a:prstGeom prst="rect">
            <a:avLst/>
          </a:prstGeom>
          <a:solidFill>
            <a:srgbClr val="FFFFFF"/>
          </a:solidFill>
          <a:ln w="9525">
            <a:solidFill>
              <a:srgbClr val="D4DBE4"/>
            </a:solidFill>
            <a:prstDash val="solid"/>
          </a:ln>
        </p:spPr>
        <p:txBody>
          <a:bodyPr/>
          <a:lstStyle/>
          <a:p>
            <a:endParaRPr lang="zh-CN" altLang="en-US"/>
          </a:p>
        </p:txBody>
      </p:sp>
      <p:sp>
        <p:nvSpPr>
          <p:cNvPr id="31" name="矩形 30">
            <a:extLst>
              <a:ext uri="{FF2B5EF4-FFF2-40B4-BE49-F238E27FC236}">
                <a16:creationId xmlns:a16="http://schemas.microsoft.com/office/drawing/2014/main" id="{59767973-68E8-4D70-B428-932ABC5131D2}"/>
              </a:ext>
            </a:extLst>
          </p:cNvPr>
          <p:cNvSpPr>
            <a:spLocks noGrp="1"/>
          </p:cNvSpPr>
          <p:nvPr/>
        </p:nvSpPr>
        <p:spPr>
          <a:xfrm>
            <a:off x="7505700" y="3619500"/>
            <a:ext cx="2057400" cy="228600"/>
          </a:xfrm>
          <a:prstGeom prst="rect">
            <a:avLst/>
          </a:prstGeom>
          <a:solidFill>
            <a:srgbClr val="FFFFFF"/>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黑体"/>
                <a:ea typeface="黑体"/>
                <a:cs typeface="黑体"/>
              </a:rPr>
              <a:t>重复记录</a:t>
            </a:r>
          </a:p>
        </p:txBody>
      </p:sp>
      <p:sp>
        <p:nvSpPr>
          <p:cNvPr id="32" name="矩形 31">
            <a:extLst>
              <a:ext uri="{FF2B5EF4-FFF2-40B4-BE49-F238E27FC236}">
                <a16:creationId xmlns:a16="http://schemas.microsoft.com/office/drawing/2014/main" id="{9C9E7E2B-53DB-49A9-95E5-17C7B8C819F8}"/>
              </a:ext>
            </a:extLst>
          </p:cNvPr>
          <p:cNvSpPr>
            <a:spLocks noGrp="1"/>
          </p:cNvSpPr>
          <p:nvPr/>
        </p:nvSpPr>
        <p:spPr>
          <a:xfrm>
            <a:off x="9582150" y="3619500"/>
            <a:ext cx="1428750" cy="228600"/>
          </a:xfrm>
          <a:prstGeom prst="rect">
            <a:avLst/>
          </a:prstGeom>
          <a:solidFill>
            <a:srgbClr val="FFFFFF"/>
          </a:solidFill>
          <a:ln w="0">
            <a:solidFill>
              <a:srgbClr val="000000">
                <a:alpha val="0"/>
              </a:srgbClr>
            </a:solidFill>
            <a:prstDash val="solid"/>
          </a:ln>
        </p:spPr>
        <p:txBody>
          <a:bodyPr lIns="0" tIns="0" rIns="0" bIns="0" anchor="t"/>
          <a:lstStyle/>
          <a:p>
            <a:pPr algn="r">
              <a:defRPr sz="1275" b="1">
                <a:solidFill>
                  <a:srgbClr val="2F7A5D"/>
                </a:solidFill>
                <a:latin typeface="黑体"/>
                <a:ea typeface="黑体"/>
                <a:cs typeface="黑体"/>
              </a:defRPr>
            </a:pPr>
            <a:r>
              <a:rPr>
                <a:latin typeface="Times New Roman"/>
                <a:ea typeface="Times New Roman"/>
                <a:cs typeface="Times New Roman"/>
              </a:rPr>
              <a:t>0</a:t>
            </a:r>
          </a:p>
        </p:txBody>
      </p:sp>
      <p:sp>
        <p:nvSpPr>
          <p:cNvPr id="33" name="矩形 32">
            <a:extLst>
              <a:ext uri="{FF2B5EF4-FFF2-40B4-BE49-F238E27FC236}">
                <a16:creationId xmlns:a16="http://schemas.microsoft.com/office/drawing/2014/main" id="{DDA63B94-CB5B-4C72-88EA-25A1C75AE57D}"/>
              </a:ext>
            </a:extLst>
          </p:cNvPr>
          <p:cNvSpPr>
            <a:spLocks noGrp="1"/>
          </p:cNvSpPr>
          <p:nvPr/>
        </p:nvSpPr>
        <p:spPr>
          <a:xfrm>
            <a:off x="7315200" y="4133850"/>
            <a:ext cx="3924300" cy="533400"/>
          </a:xfrm>
          <a:prstGeom prst="rect">
            <a:avLst/>
          </a:prstGeom>
          <a:solidFill>
            <a:srgbClr val="F4FAF7"/>
          </a:solidFill>
          <a:ln w="9525">
            <a:solidFill>
              <a:srgbClr val="D4DBE4"/>
            </a:solidFill>
            <a:prstDash val="solid"/>
          </a:ln>
        </p:spPr>
        <p:txBody>
          <a:bodyPr/>
          <a:lstStyle/>
          <a:p>
            <a:endParaRPr lang="zh-CN" altLang="en-US"/>
          </a:p>
        </p:txBody>
      </p:sp>
      <p:sp>
        <p:nvSpPr>
          <p:cNvPr id="34" name="矩形 33">
            <a:extLst>
              <a:ext uri="{FF2B5EF4-FFF2-40B4-BE49-F238E27FC236}">
                <a16:creationId xmlns:a16="http://schemas.microsoft.com/office/drawing/2014/main" id="{D7882D8B-F0B7-46B9-941A-B7E93B0C0BD9}"/>
              </a:ext>
            </a:extLst>
          </p:cNvPr>
          <p:cNvSpPr>
            <a:spLocks noGrp="1"/>
          </p:cNvSpPr>
          <p:nvPr/>
        </p:nvSpPr>
        <p:spPr>
          <a:xfrm>
            <a:off x="7505700" y="4286250"/>
            <a:ext cx="2057400" cy="228600"/>
          </a:xfrm>
          <a:prstGeom prst="rect">
            <a:avLst/>
          </a:prstGeom>
          <a:solidFill>
            <a:srgbClr val="F4FAF7"/>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Times New Roman"/>
                <a:ea typeface="Times New Roman"/>
                <a:cs typeface="Times New Roman"/>
              </a:rPr>
              <a:t>video_rate &gt; 1</a:t>
            </a:r>
          </a:p>
        </p:txBody>
      </p:sp>
      <p:sp>
        <p:nvSpPr>
          <p:cNvPr id="35" name="矩形 34">
            <a:extLst>
              <a:ext uri="{FF2B5EF4-FFF2-40B4-BE49-F238E27FC236}">
                <a16:creationId xmlns:a16="http://schemas.microsoft.com/office/drawing/2014/main" id="{DC6AC8D0-8E25-436D-B1F0-7D8374EC48EE}"/>
              </a:ext>
            </a:extLst>
          </p:cNvPr>
          <p:cNvSpPr>
            <a:spLocks noGrp="1"/>
          </p:cNvSpPr>
          <p:nvPr/>
        </p:nvSpPr>
        <p:spPr>
          <a:xfrm>
            <a:off x="9582150" y="4286250"/>
            <a:ext cx="1428750" cy="228600"/>
          </a:xfrm>
          <a:prstGeom prst="rect">
            <a:avLst/>
          </a:prstGeom>
          <a:solidFill>
            <a:srgbClr val="F4FAF7"/>
          </a:solidFill>
          <a:ln w="0">
            <a:solidFill>
              <a:srgbClr val="000000">
                <a:alpha val="0"/>
              </a:srgbClr>
            </a:solidFill>
            <a:prstDash val="solid"/>
          </a:ln>
        </p:spPr>
        <p:txBody>
          <a:bodyPr lIns="0" tIns="0" rIns="0" bIns="0" anchor="t"/>
          <a:lstStyle/>
          <a:p>
            <a:pPr algn="r">
              <a:defRPr sz="1275" b="1">
                <a:solidFill>
                  <a:srgbClr val="2F7A5D"/>
                </a:solidFill>
                <a:latin typeface="黑体"/>
                <a:ea typeface="黑体"/>
                <a:cs typeface="黑体"/>
              </a:defRPr>
            </a:pPr>
            <a:r>
              <a:rPr>
                <a:latin typeface="Times New Roman"/>
                <a:ea typeface="Times New Roman"/>
                <a:cs typeface="Times New Roman"/>
              </a:rPr>
              <a:t>0</a:t>
            </a:r>
          </a:p>
        </p:txBody>
      </p:sp>
      <p:sp>
        <p:nvSpPr>
          <p:cNvPr id="36" name="矩形 35">
            <a:extLst>
              <a:ext uri="{FF2B5EF4-FFF2-40B4-BE49-F238E27FC236}">
                <a16:creationId xmlns:a16="http://schemas.microsoft.com/office/drawing/2014/main" id="{75D8CC81-8580-4332-B02B-0A712AC74A77}"/>
              </a:ext>
            </a:extLst>
          </p:cNvPr>
          <p:cNvSpPr>
            <a:spLocks noGrp="1"/>
          </p:cNvSpPr>
          <p:nvPr/>
        </p:nvSpPr>
        <p:spPr>
          <a:xfrm>
            <a:off x="5467350" y="2686050"/>
            <a:ext cx="9144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3900" b="1">
                <a:solidFill>
                  <a:srgbClr val="B4964B"/>
                </a:solidFill>
                <a:latin typeface="黑体"/>
                <a:ea typeface="黑体"/>
                <a:cs typeface="黑体"/>
              </a:defRPr>
            </a:pPr>
            <a:r>
              <a:rPr>
                <a:latin typeface="Times New Roman"/>
                <a:ea typeface="Times New Roman"/>
                <a:cs typeface="Times New Roman"/>
              </a:rPr>
              <a:t>→</a:t>
            </a:r>
          </a:p>
        </p:txBody>
      </p:sp>
      <p:sp>
        <p:nvSpPr>
          <p:cNvPr id="37" name="矩形 36">
            <a:extLst>
              <a:ext uri="{FF2B5EF4-FFF2-40B4-BE49-F238E27FC236}">
                <a16:creationId xmlns:a16="http://schemas.microsoft.com/office/drawing/2014/main" id="{AE155154-74DC-400D-83DF-4E70D9B54203}"/>
              </a:ext>
            </a:extLst>
          </p:cNvPr>
          <p:cNvSpPr>
            <a:spLocks noGrp="1"/>
          </p:cNvSpPr>
          <p:nvPr/>
        </p:nvSpPr>
        <p:spPr>
          <a:xfrm>
            <a:off x="5124450" y="3543300"/>
            <a:ext cx="18478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dirty="0" err="1">
                <a:latin typeface="黑体"/>
                <a:ea typeface="黑体"/>
                <a:cs typeface="黑体"/>
              </a:rPr>
              <a:t>比较记录数、分布与群体比例</a:t>
            </a:r>
            <a:endParaRPr dirty="0">
              <a:latin typeface="黑体"/>
              <a:ea typeface="黑体"/>
              <a:cs typeface="黑体"/>
            </a:endParaRPr>
          </a:p>
        </p:txBody>
      </p:sp>
      <p:sp>
        <p:nvSpPr>
          <p:cNvPr id="38" name="矩形 37">
            <a:extLst>
              <a:ext uri="{FF2B5EF4-FFF2-40B4-BE49-F238E27FC236}">
                <a16:creationId xmlns:a16="http://schemas.microsoft.com/office/drawing/2014/main" id="{CAB4FB7A-E456-4452-9952-0C293F3B97C8}"/>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9" name="矩形 38">
            <a:extLst>
              <a:ext uri="{FF2B5EF4-FFF2-40B4-BE49-F238E27FC236}">
                <a16:creationId xmlns:a16="http://schemas.microsoft.com/office/drawing/2014/main" id="{61174CE5-E685-4A11-A670-64697726713B}"/>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质量改进既要减少错误，也要避免扭曲原始群体。</a:t>
            </a:r>
          </a:p>
        </p:txBody>
      </p:sp>
    </p:spTree>
    <p:extLst>
      <p:ext uri="{BB962C8B-B14F-4D97-AF65-F5344CB8AC3E}">
        <p14:creationId xmlns:p14="http://schemas.microsoft.com/office/powerpoint/2010/main" val="5649248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23CF9DF7-B1BE-4E22-8507-5462A58976D8}"/>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1FC731BC-E0FC-4B9E-A819-AB8184F54A0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A128527-C7D2-44B7-AE4E-36C90497E84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E8E8AAA-6CBC-4B10-94DA-6CB236C76C3C}"/>
              </a:ext>
            </a:extLst>
          </p:cNvPr>
          <p:cNvSpPr>
            <a:spLocks noGrp="1"/>
          </p:cNvSpPr>
          <p:nvPr/>
        </p:nvSpPr>
        <p:spPr>
          <a:xfrm>
            <a:off x="685800" y="1752600"/>
            <a:ext cx="45720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00204A"/>
                </a:solidFill>
                <a:latin typeface="黑体"/>
                <a:ea typeface="黑体"/>
                <a:cs typeface="黑体"/>
              </a:defRPr>
            </a:pPr>
            <a:r>
              <a:rPr>
                <a:latin typeface="Times New Roman"/>
                <a:ea typeface="Times New Roman"/>
                <a:cs typeface="Times New Roman"/>
              </a:rPr>
              <a:t>Part 4 · </a:t>
            </a:r>
            <a:r>
              <a:rPr>
                <a:latin typeface="黑体"/>
                <a:ea typeface="黑体"/>
                <a:cs typeface="黑体"/>
              </a:rPr>
              <a:t>数据预处理</a:t>
            </a:r>
          </a:p>
        </p:txBody>
      </p:sp>
      <p:sp>
        <p:nvSpPr>
          <p:cNvPr id="5" name="矩形 4">
            <a:extLst>
              <a:ext uri="{FF2B5EF4-FFF2-40B4-BE49-F238E27FC236}">
                <a16:creationId xmlns:a16="http://schemas.microsoft.com/office/drawing/2014/main" id="{823B671E-5F74-4600-9F70-32C56E0157D5}"/>
              </a:ext>
            </a:extLst>
          </p:cNvPr>
          <p:cNvSpPr>
            <a:spLocks noGrp="1"/>
          </p:cNvSpPr>
          <p:nvPr/>
        </p:nvSpPr>
        <p:spPr>
          <a:xfrm>
            <a:off x="685800" y="3009900"/>
            <a:ext cx="42862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14DA1"/>
                </a:solidFill>
                <a:latin typeface="黑体"/>
                <a:ea typeface="黑体"/>
                <a:cs typeface="黑体"/>
              </a:defRPr>
            </a:pPr>
            <a:r>
              <a:rPr>
                <a:latin typeface="黑体"/>
                <a:ea typeface="黑体"/>
                <a:cs typeface="黑体"/>
              </a:rPr>
              <a:t>填补、编码、缩放、采样、离散化与降维</a:t>
            </a:r>
          </a:p>
        </p:txBody>
      </p:sp>
      <p:sp>
        <p:nvSpPr>
          <p:cNvPr id="6" name="矩形 5">
            <a:extLst>
              <a:ext uri="{FF2B5EF4-FFF2-40B4-BE49-F238E27FC236}">
                <a16:creationId xmlns:a16="http://schemas.microsoft.com/office/drawing/2014/main" id="{60E499FB-E985-48B2-B46C-B01229024672}"/>
              </a:ext>
            </a:extLst>
          </p:cNvPr>
          <p:cNvSpPr>
            <a:spLocks noGrp="1"/>
          </p:cNvSpPr>
          <p:nvPr/>
        </p:nvSpPr>
        <p:spPr>
          <a:xfrm>
            <a:off x="685800" y="4038600"/>
            <a:ext cx="3905250"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8C20ECC4-1471-41BE-9837-CF605D7E3F12}"/>
              </a:ext>
            </a:extLst>
          </p:cNvPr>
          <p:cNvSpPr>
            <a:spLocks noGrp="1"/>
          </p:cNvSpPr>
          <p:nvPr/>
        </p:nvSpPr>
        <p:spPr>
          <a:xfrm>
            <a:off x="54292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26" name="图片 25"/>
          <p:cNvPicPr>
            <a:picLocks noChangeAspect="1"/>
          </p:cNvPicPr>
          <p:nvPr/>
        </p:nvPicPr>
        <p:blipFill>
          <a:blip r:embed="rId3"/>
          <a:srcRect l="26856" r="26856"/>
          <a:stretch>
            <a:fillRect/>
          </a:stretch>
        </p:blipFill>
        <p:spPr>
          <a:xfrm>
            <a:off x="5429250" y="1257300"/>
            <a:ext cx="1924050" cy="3409950"/>
          </a:xfrm>
          <a:prstGeom prst="rect">
            <a:avLst/>
          </a:prstGeom>
        </p:spPr>
      </p:pic>
      <p:sp>
        <p:nvSpPr>
          <p:cNvPr id="9" name="矩形 8">
            <a:extLst>
              <a:ext uri="{FF2B5EF4-FFF2-40B4-BE49-F238E27FC236}">
                <a16:creationId xmlns:a16="http://schemas.microsoft.com/office/drawing/2014/main" id="{B1911A60-A8B3-4EE0-80DF-F1A483304981}"/>
              </a:ext>
            </a:extLst>
          </p:cNvPr>
          <p:cNvSpPr>
            <a:spLocks noGrp="1"/>
          </p:cNvSpPr>
          <p:nvPr/>
        </p:nvSpPr>
        <p:spPr>
          <a:xfrm>
            <a:off x="54292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005F1182-28BC-4227-BC1E-6813D55F3F65}"/>
              </a:ext>
            </a:extLst>
          </p:cNvPr>
          <p:cNvSpPr>
            <a:spLocks noGrp="1"/>
          </p:cNvSpPr>
          <p:nvPr/>
        </p:nvSpPr>
        <p:spPr>
          <a:xfrm>
            <a:off x="55245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原始数据</a:t>
            </a:r>
          </a:p>
        </p:txBody>
      </p:sp>
      <p:sp>
        <p:nvSpPr>
          <p:cNvPr id="11" name="矩形 10">
            <a:extLst>
              <a:ext uri="{FF2B5EF4-FFF2-40B4-BE49-F238E27FC236}">
                <a16:creationId xmlns:a16="http://schemas.microsoft.com/office/drawing/2014/main" id="{4E470066-BD61-4F35-AB58-FD9F80781E71}"/>
              </a:ext>
            </a:extLst>
          </p:cNvPr>
          <p:cNvSpPr>
            <a:spLocks noGrp="1"/>
          </p:cNvSpPr>
          <p:nvPr/>
        </p:nvSpPr>
        <p:spPr>
          <a:xfrm>
            <a:off x="750570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0" name="图片 29"/>
          <p:cNvPicPr>
            <a:picLocks noChangeAspect="1"/>
          </p:cNvPicPr>
          <p:nvPr/>
        </p:nvPicPr>
        <p:blipFill>
          <a:blip r:embed="rId4"/>
          <a:srcRect l="33686" r="33686"/>
          <a:stretch>
            <a:fillRect/>
          </a:stretch>
        </p:blipFill>
        <p:spPr>
          <a:xfrm>
            <a:off x="7505700" y="1257300"/>
            <a:ext cx="1924050" cy="3409950"/>
          </a:xfrm>
          <a:prstGeom prst="rect">
            <a:avLst/>
          </a:prstGeom>
        </p:spPr>
      </p:pic>
      <p:sp>
        <p:nvSpPr>
          <p:cNvPr id="13" name="矩形 12">
            <a:extLst>
              <a:ext uri="{FF2B5EF4-FFF2-40B4-BE49-F238E27FC236}">
                <a16:creationId xmlns:a16="http://schemas.microsoft.com/office/drawing/2014/main" id="{3B60F3D8-B937-447E-AC1D-6865CD6427F6}"/>
              </a:ext>
            </a:extLst>
          </p:cNvPr>
          <p:cNvSpPr>
            <a:spLocks noGrp="1"/>
          </p:cNvSpPr>
          <p:nvPr/>
        </p:nvSpPr>
        <p:spPr>
          <a:xfrm>
            <a:off x="750570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781CFD9F-E66F-4AD1-8957-C9CEF64D2622}"/>
              </a:ext>
            </a:extLst>
          </p:cNvPr>
          <p:cNvSpPr>
            <a:spLocks noGrp="1"/>
          </p:cNvSpPr>
          <p:nvPr/>
        </p:nvSpPr>
        <p:spPr>
          <a:xfrm>
            <a:off x="760095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高维表示</a:t>
            </a:r>
          </a:p>
        </p:txBody>
      </p:sp>
      <p:sp>
        <p:nvSpPr>
          <p:cNvPr id="15" name="矩形 14">
            <a:extLst>
              <a:ext uri="{FF2B5EF4-FFF2-40B4-BE49-F238E27FC236}">
                <a16:creationId xmlns:a16="http://schemas.microsoft.com/office/drawing/2014/main" id="{653D2CB7-F105-4258-A512-E50AE1B88DC8}"/>
              </a:ext>
            </a:extLst>
          </p:cNvPr>
          <p:cNvSpPr>
            <a:spLocks noGrp="1"/>
          </p:cNvSpPr>
          <p:nvPr/>
        </p:nvSpPr>
        <p:spPr>
          <a:xfrm>
            <a:off x="95821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4" name="图片 33"/>
          <p:cNvPicPr>
            <a:picLocks noChangeAspect="1"/>
          </p:cNvPicPr>
          <p:nvPr/>
        </p:nvPicPr>
        <p:blipFill>
          <a:blip r:embed="rId5"/>
          <a:srcRect l="20110" r="20110"/>
          <a:stretch>
            <a:fillRect/>
          </a:stretch>
        </p:blipFill>
        <p:spPr>
          <a:xfrm>
            <a:off x="9582150" y="1257300"/>
            <a:ext cx="1924050" cy="3409950"/>
          </a:xfrm>
          <a:prstGeom prst="rect">
            <a:avLst/>
          </a:prstGeom>
        </p:spPr>
      </p:pic>
      <p:sp>
        <p:nvSpPr>
          <p:cNvPr id="17" name="矩形 16">
            <a:extLst>
              <a:ext uri="{FF2B5EF4-FFF2-40B4-BE49-F238E27FC236}">
                <a16:creationId xmlns:a16="http://schemas.microsoft.com/office/drawing/2014/main" id="{58DC97D0-7FBF-4561-97B3-FA54CFFF48E2}"/>
              </a:ext>
            </a:extLst>
          </p:cNvPr>
          <p:cNvSpPr>
            <a:spLocks noGrp="1"/>
          </p:cNvSpPr>
          <p:nvPr/>
        </p:nvSpPr>
        <p:spPr>
          <a:xfrm>
            <a:off x="95821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C129BCC7-B1FA-4029-9F9D-A2A8A9A15C38}"/>
              </a:ext>
            </a:extLst>
          </p:cNvPr>
          <p:cNvSpPr>
            <a:spLocks noGrp="1"/>
          </p:cNvSpPr>
          <p:nvPr/>
        </p:nvSpPr>
        <p:spPr>
          <a:xfrm>
            <a:off x="96774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结构提取</a:t>
            </a:r>
          </a:p>
        </p:txBody>
      </p:sp>
    </p:spTree>
    <p:extLst>
      <p:ext uri="{BB962C8B-B14F-4D97-AF65-F5344CB8AC3E}">
        <p14:creationId xmlns:p14="http://schemas.microsoft.com/office/powerpoint/2010/main" val="459230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a:extLst>
              <a:ext uri="{FF2B5EF4-FFF2-40B4-BE49-F238E27FC236}">
                <a16:creationId xmlns:a16="http://schemas.microsoft.com/office/drawing/2014/main" id="{4109E117-23A1-459A-9A16-F934A53D679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E6C74B7F-E3A6-4BF8-B69E-835D6900AD4F}"/>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32CB41B-02E9-4BF4-8E44-1AA96CB39FE6}"/>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45C9778-0CAC-4C33-9329-452A9DB0D3D9}"/>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从原始记录到分析矩阵</a:t>
            </a:r>
          </a:p>
        </p:txBody>
      </p:sp>
      <p:sp>
        <p:nvSpPr>
          <p:cNvPr id="5" name="矩形 4">
            <a:extLst>
              <a:ext uri="{FF2B5EF4-FFF2-40B4-BE49-F238E27FC236}">
                <a16:creationId xmlns:a16="http://schemas.microsoft.com/office/drawing/2014/main" id="{C9BDC443-3873-46AB-9747-387F11E21095}"/>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43/90</a:t>
            </a:r>
          </a:p>
        </p:txBody>
      </p:sp>
      <p:sp>
        <p:nvSpPr>
          <p:cNvPr id="6" name="矩形 5">
            <a:extLst>
              <a:ext uri="{FF2B5EF4-FFF2-40B4-BE49-F238E27FC236}">
                <a16:creationId xmlns:a16="http://schemas.microsoft.com/office/drawing/2014/main" id="{85C5E123-FC26-46F6-BF74-595440AEDA01}"/>
              </a:ext>
            </a:extLst>
          </p:cNvPr>
          <p:cNvSpPr>
            <a:spLocks noGrp="1"/>
          </p:cNvSpPr>
          <p:nvPr/>
        </p:nvSpPr>
        <p:spPr>
          <a:xfrm>
            <a:off x="685800" y="1219200"/>
            <a:ext cx="1692275" cy="4076700"/>
          </a:xfrm>
          <a:prstGeom prst="rect">
            <a:avLst/>
          </a:prstGeom>
          <a:solidFill>
            <a:srgbClr val="F6F9FD"/>
          </a:solidFill>
          <a:ln w="9525">
            <a:solidFill>
              <a:srgbClr val="B7C2D0"/>
            </a:solidFill>
            <a:prstDash val="solid"/>
          </a:ln>
        </p:spPr>
        <p:txBody>
          <a:bodyPr/>
          <a:lstStyle/>
          <a:p>
            <a:endParaRPr lang="zh-CN" altLang="en-US"/>
          </a:p>
        </p:txBody>
      </p:sp>
      <p:sp>
        <p:nvSpPr>
          <p:cNvPr id="7" name="矩形 6">
            <a:extLst>
              <a:ext uri="{FF2B5EF4-FFF2-40B4-BE49-F238E27FC236}">
                <a16:creationId xmlns:a16="http://schemas.microsoft.com/office/drawing/2014/main" id="{69D09383-0101-4202-B043-CDE6D2456CAC}"/>
              </a:ext>
            </a:extLst>
          </p:cNvPr>
          <p:cNvSpPr>
            <a:spLocks noGrp="1"/>
          </p:cNvSpPr>
          <p:nvPr/>
        </p:nvSpPr>
        <p:spPr>
          <a:xfrm>
            <a:off x="685800" y="1219200"/>
            <a:ext cx="1692275"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A4BF3424-61CE-4C26-9D5A-6E3A6DD7DE40}"/>
              </a:ext>
            </a:extLst>
          </p:cNvPr>
          <p:cNvSpPr>
            <a:spLocks noGrp="1"/>
          </p:cNvSpPr>
          <p:nvPr/>
        </p:nvSpPr>
        <p:spPr>
          <a:xfrm>
            <a:off x="2511425" y="1219200"/>
            <a:ext cx="1692275" cy="4076700"/>
          </a:xfrm>
          <a:prstGeom prst="rect">
            <a:avLst/>
          </a:prstGeom>
          <a:solidFill>
            <a:srgbClr val="FFFCF4"/>
          </a:solidFill>
          <a:ln w="9525">
            <a:solidFill>
              <a:srgbClr val="B7C2D0"/>
            </a:solidFill>
            <a:prstDash val="solid"/>
          </a:ln>
        </p:spPr>
        <p:txBody>
          <a:bodyPr/>
          <a:lstStyle/>
          <a:p>
            <a:endParaRPr lang="zh-CN" altLang="en-US"/>
          </a:p>
        </p:txBody>
      </p:sp>
      <p:sp>
        <p:nvSpPr>
          <p:cNvPr id="9" name="矩形 8">
            <a:extLst>
              <a:ext uri="{FF2B5EF4-FFF2-40B4-BE49-F238E27FC236}">
                <a16:creationId xmlns:a16="http://schemas.microsoft.com/office/drawing/2014/main" id="{F948B4CC-11DC-4A9A-A1E1-E791F521A232}"/>
              </a:ext>
            </a:extLst>
          </p:cNvPr>
          <p:cNvSpPr>
            <a:spLocks noGrp="1"/>
          </p:cNvSpPr>
          <p:nvPr/>
        </p:nvSpPr>
        <p:spPr>
          <a:xfrm>
            <a:off x="2511425" y="1219200"/>
            <a:ext cx="1692275"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0588FB8F-E273-448C-A94D-DDC01C2F0899}"/>
              </a:ext>
            </a:extLst>
          </p:cNvPr>
          <p:cNvSpPr>
            <a:spLocks noGrp="1"/>
          </p:cNvSpPr>
          <p:nvPr/>
        </p:nvSpPr>
        <p:spPr>
          <a:xfrm>
            <a:off x="4337050" y="1219200"/>
            <a:ext cx="1692275" cy="4076700"/>
          </a:xfrm>
          <a:prstGeom prst="rect">
            <a:avLst/>
          </a:prstGeom>
          <a:solidFill>
            <a:srgbClr val="F6F9FD"/>
          </a:solidFill>
          <a:ln w="9525">
            <a:solidFill>
              <a:srgbClr val="B7C2D0"/>
            </a:solidFill>
            <a:prstDash val="solid"/>
          </a:ln>
        </p:spPr>
        <p:txBody>
          <a:bodyPr/>
          <a:lstStyle/>
          <a:p>
            <a:endParaRPr lang="zh-CN" altLang="en-US"/>
          </a:p>
        </p:txBody>
      </p:sp>
      <p:sp>
        <p:nvSpPr>
          <p:cNvPr id="11" name="矩形 10">
            <a:extLst>
              <a:ext uri="{FF2B5EF4-FFF2-40B4-BE49-F238E27FC236}">
                <a16:creationId xmlns:a16="http://schemas.microsoft.com/office/drawing/2014/main" id="{FC994B33-7B11-41EA-9A80-ECFD6D3C9B24}"/>
              </a:ext>
            </a:extLst>
          </p:cNvPr>
          <p:cNvSpPr>
            <a:spLocks noGrp="1"/>
          </p:cNvSpPr>
          <p:nvPr/>
        </p:nvSpPr>
        <p:spPr>
          <a:xfrm>
            <a:off x="4337050" y="1219200"/>
            <a:ext cx="1692275"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EF83E219-5392-492E-A446-F7F70D399EFF}"/>
              </a:ext>
            </a:extLst>
          </p:cNvPr>
          <p:cNvSpPr>
            <a:spLocks noGrp="1"/>
          </p:cNvSpPr>
          <p:nvPr/>
        </p:nvSpPr>
        <p:spPr>
          <a:xfrm>
            <a:off x="6162675" y="1219200"/>
            <a:ext cx="1692275" cy="4076700"/>
          </a:xfrm>
          <a:prstGeom prst="rect">
            <a:avLst/>
          </a:prstGeom>
          <a:solidFill>
            <a:srgbClr val="FFFCF4"/>
          </a:solidFill>
          <a:ln w="9525">
            <a:solidFill>
              <a:srgbClr val="B7C2D0"/>
            </a:solidFill>
            <a:prstDash val="solid"/>
          </a:ln>
        </p:spPr>
        <p:txBody>
          <a:bodyPr/>
          <a:lstStyle/>
          <a:p>
            <a:endParaRPr lang="zh-CN" altLang="en-US"/>
          </a:p>
        </p:txBody>
      </p:sp>
      <p:sp>
        <p:nvSpPr>
          <p:cNvPr id="13" name="矩形 12">
            <a:extLst>
              <a:ext uri="{FF2B5EF4-FFF2-40B4-BE49-F238E27FC236}">
                <a16:creationId xmlns:a16="http://schemas.microsoft.com/office/drawing/2014/main" id="{72218A31-9CF3-46B8-9AD8-064492134CCB}"/>
              </a:ext>
            </a:extLst>
          </p:cNvPr>
          <p:cNvSpPr>
            <a:spLocks noGrp="1"/>
          </p:cNvSpPr>
          <p:nvPr/>
        </p:nvSpPr>
        <p:spPr>
          <a:xfrm>
            <a:off x="6162675" y="1219200"/>
            <a:ext cx="1692275"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1FDB5330-557E-4E08-84BC-1E3F557029EE}"/>
              </a:ext>
            </a:extLst>
          </p:cNvPr>
          <p:cNvSpPr>
            <a:spLocks noGrp="1"/>
          </p:cNvSpPr>
          <p:nvPr/>
        </p:nvSpPr>
        <p:spPr>
          <a:xfrm>
            <a:off x="7988300" y="1219200"/>
            <a:ext cx="1692275" cy="4076700"/>
          </a:xfrm>
          <a:prstGeom prst="rect">
            <a:avLst/>
          </a:prstGeom>
          <a:solidFill>
            <a:srgbClr val="F6F9FD"/>
          </a:solidFill>
          <a:ln w="9525">
            <a:solidFill>
              <a:srgbClr val="B7C2D0"/>
            </a:solidFill>
            <a:prstDash val="solid"/>
          </a:ln>
        </p:spPr>
        <p:txBody>
          <a:bodyPr/>
          <a:lstStyle/>
          <a:p>
            <a:endParaRPr lang="zh-CN" altLang="en-US"/>
          </a:p>
        </p:txBody>
      </p:sp>
      <p:sp>
        <p:nvSpPr>
          <p:cNvPr id="15" name="矩形 14">
            <a:extLst>
              <a:ext uri="{FF2B5EF4-FFF2-40B4-BE49-F238E27FC236}">
                <a16:creationId xmlns:a16="http://schemas.microsoft.com/office/drawing/2014/main" id="{993B4B5E-1679-4340-8F67-92FA2DA531F6}"/>
              </a:ext>
            </a:extLst>
          </p:cNvPr>
          <p:cNvSpPr>
            <a:spLocks noGrp="1"/>
          </p:cNvSpPr>
          <p:nvPr/>
        </p:nvSpPr>
        <p:spPr>
          <a:xfrm>
            <a:off x="7988300" y="1219200"/>
            <a:ext cx="1692275"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097BBA9C-4A78-41E5-99C4-894C2EA9659D}"/>
              </a:ext>
            </a:extLst>
          </p:cNvPr>
          <p:cNvSpPr>
            <a:spLocks noGrp="1"/>
          </p:cNvSpPr>
          <p:nvPr/>
        </p:nvSpPr>
        <p:spPr>
          <a:xfrm>
            <a:off x="9813925" y="1219200"/>
            <a:ext cx="1692275" cy="4076700"/>
          </a:xfrm>
          <a:prstGeom prst="rect">
            <a:avLst/>
          </a:prstGeom>
          <a:solidFill>
            <a:srgbClr val="FFFCF4"/>
          </a:solidFill>
          <a:ln w="9525">
            <a:solidFill>
              <a:srgbClr val="B7C2D0"/>
            </a:solidFill>
            <a:prstDash val="solid"/>
          </a:ln>
        </p:spPr>
        <p:txBody>
          <a:bodyPr/>
          <a:lstStyle/>
          <a:p>
            <a:endParaRPr lang="zh-CN" altLang="en-US"/>
          </a:p>
        </p:txBody>
      </p:sp>
      <p:sp>
        <p:nvSpPr>
          <p:cNvPr id="17" name="矩形 16">
            <a:extLst>
              <a:ext uri="{FF2B5EF4-FFF2-40B4-BE49-F238E27FC236}">
                <a16:creationId xmlns:a16="http://schemas.microsoft.com/office/drawing/2014/main" id="{25B8D1AC-D629-4776-BAEC-337658068833}"/>
              </a:ext>
            </a:extLst>
          </p:cNvPr>
          <p:cNvSpPr>
            <a:spLocks noGrp="1"/>
          </p:cNvSpPr>
          <p:nvPr/>
        </p:nvSpPr>
        <p:spPr>
          <a:xfrm>
            <a:off x="9813925" y="1219200"/>
            <a:ext cx="1692275"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90733B40-8978-445B-ADDA-BA256B2BBA34}"/>
              </a:ext>
            </a:extLst>
          </p:cNvPr>
          <p:cNvSpPr>
            <a:spLocks noGrp="1"/>
          </p:cNvSpPr>
          <p:nvPr/>
        </p:nvSpPr>
        <p:spPr>
          <a:xfrm>
            <a:off x="781050" y="1390650"/>
            <a:ext cx="1501775" cy="1257300"/>
          </a:xfrm>
          <a:prstGeom prst="rect">
            <a:avLst/>
          </a:prstGeom>
          <a:solidFill>
            <a:srgbClr val="E6F0FA"/>
          </a:solidFill>
          <a:ln w="9525">
            <a:solidFill>
              <a:srgbClr val="D4DCE6"/>
            </a:solidFill>
            <a:prstDash val="solid"/>
          </a:ln>
        </p:spPr>
        <p:txBody>
          <a:bodyPr/>
          <a:lstStyle/>
          <a:p>
            <a:endParaRPr lang="zh-CN" altLang="en-US"/>
          </a:p>
        </p:txBody>
      </p:sp>
      <p:sp>
        <p:nvSpPr>
          <p:cNvPr id="19" name="椭圆 18">
            <a:extLst>
              <a:ext uri="{FF2B5EF4-FFF2-40B4-BE49-F238E27FC236}">
                <a16:creationId xmlns:a16="http://schemas.microsoft.com/office/drawing/2014/main" id="{FC1988A8-833C-488B-BB3F-487F80B9BE51}"/>
              </a:ext>
            </a:extLst>
          </p:cNvPr>
          <p:cNvSpPr>
            <a:spLocks noGrp="1"/>
          </p:cNvSpPr>
          <p:nvPr/>
        </p:nvSpPr>
        <p:spPr>
          <a:xfrm>
            <a:off x="1208087"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20" name="矩形 19">
            <a:extLst>
              <a:ext uri="{FF2B5EF4-FFF2-40B4-BE49-F238E27FC236}">
                <a16:creationId xmlns:a16="http://schemas.microsoft.com/office/drawing/2014/main" id="{B2862618-1322-4FC9-A432-69DFB8A196E9}"/>
              </a:ext>
            </a:extLst>
          </p:cNvPr>
          <p:cNvSpPr>
            <a:spLocks noGrp="1"/>
          </p:cNvSpPr>
          <p:nvPr/>
        </p:nvSpPr>
        <p:spPr>
          <a:xfrm>
            <a:off x="1322387"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1</a:t>
            </a:r>
          </a:p>
        </p:txBody>
      </p:sp>
      <p:sp>
        <p:nvSpPr>
          <p:cNvPr id="21" name="矩形 20">
            <a:extLst>
              <a:ext uri="{FF2B5EF4-FFF2-40B4-BE49-F238E27FC236}">
                <a16:creationId xmlns:a16="http://schemas.microsoft.com/office/drawing/2014/main" id="{2F94D070-FA6E-4D64-867D-BA3A66E865AD}"/>
              </a:ext>
            </a:extLst>
          </p:cNvPr>
          <p:cNvSpPr>
            <a:spLocks noGrp="1"/>
          </p:cNvSpPr>
          <p:nvPr/>
        </p:nvSpPr>
        <p:spPr>
          <a:xfrm>
            <a:off x="990409" y="2400300"/>
            <a:ext cx="1083056"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33045DE4-D0D5-4C57-A44E-8DC146323E4C}"/>
              </a:ext>
            </a:extLst>
          </p:cNvPr>
          <p:cNvSpPr>
            <a:spLocks noGrp="1"/>
          </p:cNvSpPr>
          <p:nvPr/>
        </p:nvSpPr>
        <p:spPr>
          <a:xfrm>
            <a:off x="1142714"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CC917981-748D-4598-BBC0-EBCFBACAD47B}"/>
              </a:ext>
            </a:extLst>
          </p:cNvPr>
          <p:cNvSpPr>
            <a:spLocks noGrp="1"/>
          </p:cNvSpPr>
          <p:nvPr/>
        </p:nvSpPr>
        <p:spPr>
          <a:xfrm>
            <a:off x="1278096"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8A81E713-33A7-4BC7-863D-23CB14CD8DEF}"/>
              </a:ext>
            </a:extLst>
          </p:cNvPr>
          <p:cNvSpPr>
            <a:spLocks noGrp="1"/>
          </p:cNvSpPr>
          <p:nvPr/>
        </p:nvSpPr>
        <p:spPr>
          <a:xfrm>
            <a:off x="819150" y="2800350"/>
            <a:ext cx="1425575" cy="609600"/>
          </a:xfrm>
          <a:prstGeom prst="rect">
            <a:avLst/>
          </a:prstGeom>
          <a:solidFill>
            <a:srgbClr val="F6F9FD"/>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选择对象</a:t>
            </a:r>
          </a:p>
        </p:txBody>
      </p:sp>
      <p:sp>
        <p:nvSpPr>
          <p:cNvPr id="25" name="矩形 24">
            <a:extLst>
              <a:ext uri="{FF2B5EF4-FFF2-40B4-BE49-F238E27FC236}">
                <a16:creationId xmlns:a16="http://schemas.microsoft.com/office/drawing/2014/main" id="{92DE22F8-12A0-4E17-BF2A-6FAFA7A35F00}"/>
              </a:ext>
            </a:extLst>
          </p:cNvPr>
          <p:cNvSpPr>
            <a:spLocks noGrp="1"/>
          </p:cNvSpPr>
          <p:nvPr/>
        </p:nvSpPr>
        <p:spPr>
          <a:xfrm>
            <a:off x="857250"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6" name="矩形 25">
            <a:extLst>
              <a:ext uri="{FF2B5EF4-FFF2-40B4-BE49-F238E27FC236}">
                <a16:creationId xmlns:a16="http://schemas.microsoft.com/office/drawing/2014/main" id="{64590756-2063-4E89-B8B7-B301AECEC6F6}"/>
              </a:ext>
            </a:extLst>
          </p:cNvPr>
          <p:cNvSpPr>
            <a:spLocks noGrp="1"/>
          </p:cNvSpPr>
          <p:nvPr/>
        </p:nvSpPr>
        <p:spPr>
          <a:xfrm>
            <a:off x="838200" y="3543300"/>
            <a:ext cx="1387475" cy="1066800"/>
          </a:xfrm>
          <a:prstGeom prst="rect">
            <a:avLst/>
          </a:prstGeom>
          <a:solidFill>
            <a:srgbClr val="F6F9FD"/>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确定一行代表学生、学生周或事件</a:t>
            </a:r>
          </a:p>
        </p:txBody>
      </p:sp>
      <p:sp>
        <p:nvSpPr>
          <p:cNvPr id="27" name="矩形 26">
            <a:extLst>
              <a:ext uri="{FF2B5EF4-FFF2-40B4-BE49-F238E27FC236}">
                <a16:creationId xmlns:a16="http://schemas.microsoft.com/office/drawing/2014/main" id="{16C123CF-6252-4265-B5D6-76E40B91663A}"/>
              </a:ext>
            </a:extLst>
          </p:cNvPr>
          <p:cNvSpPr>
            <a:spLocks noGrp="1"/>
          </p:cNvSpPr>
          <p:nvPr/>
        </p:nvSpPr>
        <p:spPr>
          <a:xfrm>
            <a:off x="2378075"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28" name="矩形 27">
            <a:extLst>
              <a:ext uri="{FF2B5EF4-FFF2-40B4-BE49-F238E27FC236}">
                <a16:creationId xmlns:a16="http://schemas.microsoft.com/office/drawing/2014/main" id="{CB20D68C-00D9-43C4-BD5E-25A3F519750C}"/>
              </a:ext>
            </a:extLst>
          </p:cNvPr>
          <p:cNvSpPr>
            <a:spLocks noGrp="1"/>
          </p:cNvSpPr>
          <p:nvPr/>
        </p:nvSpPr>
        <p:spPr>
          <a:xfrm>
            <a:off x="2606675" y="1390650"/>
            <a:ext cx="1501775" cy="1257300"/>
          </a:xfrm>
          <a:prstGeom prst="rect">
            <a:avLst/>
          </a:prstGeom>
          <a:solidFill>
            <a:srgbClr val="F7EFD6"/>
          </a:solidFill>
          <a:ln w="9525">
            <a:solidFill>
              <a:srgbClr val="D4DCE6"/>
            </a:solidFill>
            <a:prstDash val="solid"/>
          </a:ln>
        </p:spPr>
        <p:txBody>
          <a:bodyPr/>
          <a:lstStyle/>
          <a:p>
            <a:endParaRPr lang="zh-CN" altLang="en-US"/>
          </a:p>
        </p:txBody>
      </p:sp>
      <p:sp>
        <p:nvSpPr>
          <p:cNvPr id="29" name="椭圆 28">
            <a:extLst>
              <a:ext uri="{FF2B5EF4-FFF2-40B4-BE49-F238E27FC236}">
                <a16:creationId xmlns:a16="http://schemas.microsoft.com/office/drawing/2014/main" id="{22A5CB2F-2785-4828-8EED-68B64AA2C8B1}"/>
              </a:ext>
            </a:extLst>
          </p:cNvPr>
          <p:cNvSpPr>
            <a:spLocks noGrp="1"/>
          </p:cNvSpPr>
          <p:nvPr/>
        </p:nvSpPr>
        <p:spPr>
          <a:xfrm>
            <a:off x="3033712"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30" name="矩形 29">
            <a:extLst>
              <a:ext uri="{FF2B5EF4-FFF2-40B4-BE49-F238E27FC236}">
                <a16:creationId xmlns:a16="http://schemas.microsoft.com/office/drawing/2014/main" id="{1AD66AC8-9E5E-4CEA-B85F-89DA8F590D04}"/>
              </a:ext>
            </a:extLst>
          </p:cNvPr>
          <p:cNvSpPr>
            <a:spLocks noGrp="1"/>
          </p:cNvSpPr>
          <p:nvPr/>
        </p:nvSpPr>
        <p:spPr>
          <a:xfrm>
            <a:off x="3148012"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2</a:t>
            </a:r>
          </a:p>
        </p:txBody>
      </p:sp>
      <p:sp>
        <p:nvSpPr>
          <p:cNvPr id="31" name="矩形 30">
            <a:extLst>
              <a:ext uri="{FF2B5EF4-FFF2-40B4-BE49-F238E27FC236}">
                <a16:creationId xmlns:a16="http://schemas.microsoft.com/office/drawing/2014/main" id="{32B4475F-57B6-4438-8910-D1DBFA7FBE09}"/>
              </a:ext>
            </a:extLst>
          </p:cNvPr>
          <p:cNvSpPr>
            <a:spLocks noGrp="1"/>
          </p:cNvSpPr>
          <p:nvPr/>
        </p:nvSpPr>
        <p:spPr>
          <a:xfrm>
            <a:off x="2816035" y="2400300"/>
            <a:ext cx="1083056"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33424B2F-63B9-40E6-80FF-72FFEF39B67F}"/>
              </a:ext>
            </a:extLst>
          </p:cNvPr>
          <p:cNvSpPr>
            <a:spLocks noGrp="1"/>
          </p:cNvSpPr>
          <p:nvPr/>
        </p:nvSpPr>
        <p:spPr>
          <a:xfrm>
            <a:off x="2968339"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33D86933-D072-40FA-B18E-7E11731ED3D7}"/>
              </a:ext>
            </a:extLst>
          </p:cNvPr>
          <p:cNvSpPr>
            <a:spLocks noGrp="1"/>
          </p:cNvSpPr>
          <p:nvPr/>
        </p:nvSpPr>
        <p:spPr>
          <a:xfrm>
            <a:off x="3103721"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B377CF1F-6B35-44A9-B222-25DC29E02CBF}"/>
              </a:ext>
            </a:extLst>
          </p:cNvPr>
          <p:cNvSpPr>
            <a:spLocks noGrp="1"/>
          </p:cNvSpPr>
          <p:nvPr/>
        </p:nvSpPr>
        <p:spPr>
          <a:xfrm>
            <a:off x="2644775" y="2800350"/>
            <a:ext cx="1425575" cy="609600"/>
          </a:xfrm>
          <a:prstGeom prst="rect">
            <a:avLst/>
          </a:prstGeom>
          <a:solidFill>
            <a:srgbClr val="FFFCF4"/>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清理质量问题</a:t>
            </a:r>
          </a:p>
        </p:txBody>
      </p:sp>
      <p:sp>
        <p:nvSpPr>
          <p:cNvPr id="35" name="矩形 34">
            <a:extLst>
              <a:ext uri="{FF2B5EF4-FFF2-40B4-BE49-F238E27FC236}">
                <a16:creationId xmlns:a16="http://schemas.microsoft.com/office/drawing/2014/main" id="{7FF7361D-5FD7-4C84-854C-CE3126C1AF9E}"/>
              </a:ext>
            </a:extLst>
          </p:cNvPr>
          <p:cNvSpPr>
            <a:spLocks noGrp="1"/>
          </p:cNvSpPr>
          <p:nvPr/>
        </p:nvSpPr>
        <p:spPr>
          <a:xfrm>
            <a:off x="2682875"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3E9F0BEF-DC38-40C2-B6DA-24564CFE2F42}"/>
              </a:ext>
            </a:extLst>
          </p:cNvPr>
          <p:cNvSpPr>
            <a:spLocks noGrp="1"/>
          </p:cNvSpPr>
          <p:nvPr/>
        </p:nvSpPr>
        <p:spPr>
          <a:xfrm>
            <a:off x="2663825" y="3543300"/>
            <a:ext cx="1387475" cy="1066800"/>
          </a:xfrm>
          <a:prstGeom prst="rect">
            <a:avLst/>
          </a:prstGeom>
          <a:solidFill>
            <a:srgbClr val="FFFCF4"/>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处理缺失、重复、冲突与异常</a:t>
            </a:r>
          </a:p>
        </p:txBody>
      </p:sp>
      <p:sp>
        <p:nvSpPr>
          <p:cNvPr id="37" name="矩形 36">
            <a:extLst>
              <a:ext uri="{FF2B5EF4-FFF2-40B4-BE49-F238E27FC236}">
                <a16:creationId xmlns:a16="http://schemas.microsoft.com/office/drawing/2014/main" id="{84E84952-8854-47B3-9FF6-F1F82C380E0C}"/>
              </a:ext>
            </a:extLst>
          </p:cNvPr>
          <p:cNvSpPr>
            <a:spLocks noGrp="1"/>
          </p:cNvSpPr>
          <p:nvPr/>
        </p:nvSpPr>
        <p:spPr>
          <a:xfrm>
            <a:off x="4203700"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38" name="矩形 37">
            <a:extLst>
              <a:ext uri="{FF2B5EF4-FFF2-40B4-BE49-F238E27FC236}">
                <a16:creationId xmlns:a16="http://schemas.microsoft.com/office/drawing/2014/main" id="{C222800A-07EB-4B60-A910-580E8DA03572}"/>
              </a:ext>
            </a:extLst>
          </p:cNvPr>
          <p:cNvSpPr>
            <a:spLocks noGrp="1"/>
          </p:cNvSpPr>
          <p:nvPr/>
        </p:nvSpPr>
        <p:spPr>
          <a:xfrm>
            <a:off x="4432300" y="1390650"/>
            <a:ext cx="1501775" cy="1257300"/>
          </a:xfrm>
          <a:prstGeom prst="rect">
            <a:avLst/>
          </a:prstGeom>
          <a:solidFill>
            <a:srgbClr val="E6F0FA"/>
          </a:solidFill>
          <a:ln w="9525">
            <a:solidFill>
              <a:srgbClr val="D4DCE6"/>
            </a:solidFill>
            <a:prstDash val="solid"/>
          </a:ln>
        </p:spPr>
        <p:txBody>
          <a:bodyPr/>
          <a:lstStyle/>
          <a:p>
            <a:endParaRPr lang="zh-CN" altLang="en-US"/>
          </a:p>
        </p:txBody>
      </p:sp>
      <p:sp>
        <p:nvSpPr>
          <p:cNvPr id="39" name="椭圆 38">
            <a:extLst>
              <a:ext uri="{FF2B5EF4-FFF2-40B4-BE49-F238E27FC236}">
                <a16:creationId xmlns:a16="http://schemas.microsoft.com/office/drawing/2014/main" id="{42C6EA8C-946C-4161-9461-2ACC70EAEB9D}"/>
              </a:ext>
            </a:extLst>
          </p:cNvPr>
          <p:cNvSpPr>
            <a:spLocks noGrp="1"/>
          </p:cNvSpPr>
          <p:nvPr/>
        </p:nvSpPr>
        <p:spPr>
          <a:xfrm>
            <a:off x="4859338"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40" name="矩形 39">
            <a:extLst>
              <a:ext uri="{FF2B5EF4-FFF2-40B4-BE49-F238E27FC236}">
                <a16:creationId xmlns:a16="http://schemas.microsoft.com/office/drawing/2014/main" id="{037341C4-2FD9-4464-8D4E-276D230A584A}"/>
              </a:ext>
            </a:extLst>
          </p:cNvPr>
          <p:cNvSpPr>
            <a:spLocks noGrp="1"/>
          </p:cNvSpPr>
          <p:nvPr/>
        </p:nvSpPr>
        <p:spPr>
          <a:xfrm>
            <a:off x="4973638"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3</a:t>
            </a:r>
          </a:p>
        </p:txBody>
      </p:sp>
      <p:sp>
        <p:nvSpPr>
          <p:cNvPr id="41" name="矩形 40">
            <a:extLst>
              <a:ext uri="{FF2B5EF4-FFF2-40B4-BE49-F238E27FC236}">
                <a16:creationId xmlns:a16="http://schemas.microsoft.com/office/drawing/2014/main" id="{9B704786-05F4-4DC7-8736-3BCB9040072A}"/>
              </a:ext>
            </a:extLst>
          </p:cNvPr>
          <p:cNvSpPr>
            <a:spLocks noGrp="1"/>
          </p:cNvSpPr>
          <p:nvPr/>
        </p:nvSpPr>
        <p:spPr>
          <a:xfrm>
            <a:off x="4641660" y="2400300"/>
            <a:ext cx="1083056"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0A4A313E-89A6-4ADE-9FD6-D2E9B1AD818F}"/>
              </a:ext>
            </a:extLst>
          </p:cNvPr>
          <p:cNvSpPr>
            <a:spLocks noGrp="1"/>
          </p:cNvSpPr>
          <p:nvPr/>
        </p:nvSpPr>
        <p:spPr>
          <a:xfrm>
            <a:off x="4793964"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3" name="矩形 42">
            <a:extLst>
              <a:ext uri="{FF2B5EF4-FFF2-40B4-BE49-F238E27FC236}">
                <a16:creationId xmlns:a16="http://schemas.microsoft.com/office/drawing/2014/main" id="{69266EF3-EF9A-4D59-89D4-A34986B46397}"/>
              </a:ext>
            </a:extLst>
          </p:cNvPr>
          <p:cNvSpPr>
            <a:spLocks noGrp="1"/>
          </p:cNvSpPr>
          <p:nvPr/>
        </p:nvSpPr>
        <p:spPr>
          <a:xfrm>
            <a:off x="4929346"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4" name="矩形 43">
            <a:extLst>
              <a:ext uri="{FF2B5EF4-FFF2-40B4-BE49-F238E27FC236}">
                <a16:creationId xmlns:a16="http://schemas.microsoft.com/office/drawing/2014/main" id="{C7CB7491-DE71-40A9-8BE8-2332677FBA14}"/>
              </a:ext>
            </a:extLst>
          </p:cNvPr>
          <p:cNvSpPr>
            <a:spLocks noGrp="1"/>
          </p:cNvSpPr>
          <p:nvPr/>
        </p:nvSpPr>
        <p:spPr>
          <a:xfrm>
            <a:off x="4470400" y="2800350"/>
            <a:ext cx="1425575" cy="609600"/>
          </a:xfrm>
          <a:prstGeom prst="rect">
            <a:avLst/>
          </a:prstGeom>
          <a:solidFill>
            <a:srgbClr val="F6F9FD"/>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构造字段</a:t>
            </a:r>
          </a:p>
        </p:txBody>
      </p:sp>
      <p:sp>
        <p:nvSpPr>
          <p:cNvPr id="45" name="矩形 44">
            <a:extLst>
              <a:ext uri="{FF2B5EF4-FFF2-40B4-BE49-F238E27FC236}">
                <a16:creationId xmlns:a16="http://schemas.microsoft.com/office/drawing/2014/main" id="{220E3423-CB25-4DD8-97C3-EFFE2FE192D1}"/>
              </a:ext>
            </a:extLst>
          </p:cNvPr>
          <p:cNvSpPr>
            <a:spLocks noGrp="1"/>
          </p:cNvSpPr>
          <p:nvPr/>
        </p:nvSpPr>
        <p:spPr>
          <a:xfrm>
            <a:off x="4508500"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46" name="矩形 45">
            <a:extLst>
              <a:ext uri="{FF2B5EF4-FFF2-40B4-BE49-F238E27FC236}">
                <a16:creationId xmlns:a16="http://schemas.microsoft.com/office/drawing/2014/main" id="{6B509EC7-7140-4B93-9D87-B212814A067E}"/>
              </a:ext>
            </a:extLst>
          </p:cNvPr>
          <p:cNvSpPr>
            <a:spLocks noGrp="1"/>
          </p:cNvSpPr>
          <p:nvPr/>
        </p:nvSpPr>
        <p:spPr>
          <a:xfrm>
            <a:off x="4489450" y="3543300"/>
            <a:ext cx="1387475" cy="1066800"/>
          </a:xfrm>
          <a:prstGeom prst="rect">
            <a:avLst/>
          </a:prstGeom>
          <a:solidFill>
            <a:srgbClr val="F6F9FD"/>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建立时间窗口、比率与趋势</a:t>
            </a:r>
          </a:p>
        </p:txBody>
      </p:sp>
      <p:sp>
        <p:nvSpPr>
          <p:cNvPr id="47" name="矩形 46">
            <a:extLst>
              <a:ext uri="{FF2B5EF4-FFF2-40B4-BE49-F238E27FC236}">
                <a16:creationId xmlns:a16="http://schemas.microsoft.com/office/drawing/2014/main" id="{DD1DF2F5-5403-45A5-AD9F-FA7008A029BD}"/>
              </a:ext>
            </a:extLst>
          </p:cNvPr>
          <p:cNvSpPr>
            <a:spLocks noGrp="1"/>
          </p:cNvSpPr>
          <p:nvPr/>
        </p:nvSpPr>
        <p:spPr>
          <a:xfrm>
            <a:off x="6029325"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48" name="矩形 47">
            <a:extLst>
              <a:ext uri="{FF2B5EF4-FFF2-40B4-BE49-F238E27FC236}">
                <a16:creationId xmlns:a16="http://schemas.microsoft.com/office/drawing/2014/main" id="{2C6F5D61-1649-4582-8153-32E7F4785A8F}"/>
              </a:ext>
            </a:extLst>
          </p:cNvPr>
          <p:cNvSpPr>
            <a:spLocks noGrp="1"/>
          </p:cNvSpPr>
          <p:nvPr/>
        </p:nvSpPr>
        <p:spPr>
          <a:xfrm>
            <a:off x="6257925" y="1390650"/>
            <a:ext cx="1501775" cy="1257300"/>
          </a:xfrm>
          <a:prstGeom prst="rect">
            <a:avLst/>
          </a:prstGeom>
          <a:solidFill>
            <a:srgbClr val="F7EFD6"/>
          </a:solidFill>
          <a:ln w="9525">
            <a:solidFill>
              <a:srgbClr val="D4DCE6"/>
            </a:solidFill>
            <a:prstDash val="solid"/>
          </a:ln>
        </p:spPr>
        <p:txBody>
          <a:bodyPr/>
          <a:lstStyle/>
          <a:p>
            <a:endParaRPr lang="zh-CN" altLang="en-US"/>
          </a:p>
        </p:txBody>
      </p:sp>
      <p:sp>
        <p:nvSpPr>
          <p:cNvPr id="49" name="椭圆 48">
            <a:extLst>
              <a:ext uri="{FF2B5EF4-FFF2-40B4-BE49-F238E27FC236}">
                <a16:creationId xmlns:a16="http://schemas.microsoft.com/office/drawing/2014/main" id="{75F100D0-C301-47B2-A52F-6945CA2F9B99}"/>
              </a:ext>
            </a:extLst>
          </p:cNvPr>
          <p:cNvSpPr>
            <a:spLocks noGrp="1"/>
          </p:cNvSpPr>
          <p:nvPr/>
        </p:nvSpPr>
        <p:spPr>
          <a:xfrm>
            <a:off x="6684963"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50" name="矩形 49">
            <a:extLst>
              <a:ext uri="{FF2B5EF4-FFF2-40B4-BE49-F238E27FC236}">
                <a16:creationId xmlns:a16="http://schemas.microsoft.com/office/drawing/2014/main" id="{52C2372C-D59E-4FF4-854E-6F85B8C6576A}"/>
              </a:ext>
            </a:extLst>
          </p:cNvPr>
          <p:cNvSpPr>
            <a:spLocks noGrp="1"/>
          </p:cNvSpPr>
          <p:nvPr/>
        </p:nvSpPr>
        <p:spPr>
          <a:xfrm>
            <a:off x="6799263"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4</a:t>
            </a:r>
          </a:p>
        </p:txBody>
      </p:sp>
      <p:sp>
        <p:nvSpPr>
          <p:cNvPr id="51" name="矩形 50">
            <a:extLst>
              <a:ext uri="{FF2B5EF4-FFF2-40B4-BE49-F238E27FC236}">
                <a16:creationId xmlns:a16="http://schemas.microsoft.com/office/drawing/2014/main" id="{E7EE4C02-FC7F-4AFC-BD18-07D39DCF5F86}"/>
              </a:ext>
            </a:extLst>
          </p:cNvPr>
          <p:cNvSpPr>
            <a:spLocks noGrp="1"/>
          </p:cNvSpPr>
          <p:nvPr/>
        </p:nvSpPr>
        <p:spPr>
          <a:xfrm>
            <a:off x="6467285" y="2400300"/>
            <a:ext cx="1083056"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52" name="矩形 51">
            <a:extLst>
              <a:ext uri="{FF2B5EF4-FFF2-40B4-BE49-F238E27FC236}">
                <a16:creationId xmlns:a16="http://schemas.microsoft.com/office/drawing/2014/main" id="{E9073A51-3D65-4415-9A33-767FABD3C5B2}"/>
              </a:ext>
            </a:extLst>
          </p:cNvPr>
          <p:cNvSpPr>
            <a:spLocks noGrp="1"/>
          </p:cNvSpPr>
          <p:nvPr/>
        </p:nvSpPr>
        <p:spPr>
          <a:xfrm>
            <a:off x="6619589"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3" name="矩形 52">
            <a:extLst>
              <a:ext uri="{FF2B5EF4-FFF2-40B4-BE49-F238E27FC236}">
                <a16:creationId xmlns:a16="http://schemas.microsoft.com/office/drawing/2014/main" id="{DDB0D3CE-2B29-4E54-89CF-9721AD5E4790}"/>
              </a:ext>
            </a:extLst>
          </p:cNvPr>
          <p:cNvSpPr>
            <a:spLocks noGrp="1"/>
          </p:cNvSpPr>
          <p:nvPr/>
        </p:nvSpPr>
        <p:spPr>
          <a:xfrm>
            <a:off x="6754971"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4" name="矩形 53">
            <a:extLst>
              <a:ext uri="{FF2B5EF4-FFF2-40B4-BE49-F238E27FC236}">
                <a16:creationId xmlns:a16="http://schemas.microsoft.com/office/drawing/2014/main" id="{4254ED55-0C78-4B48-BCAD-8973DC74A28C}"/>
              </a:ext>
            </a:extLst>
          </p:cNvPr>
          <p:cNvSpPr>
            <a:spLocks noGrp="1"/>
          </p:cNvSpPr>
          <p:nvPr/>
        </p:nvSpPr>
        <p:spPr>
          <a:xfrm>
            <a:off x="6296025" y="2800350"/>
            <a:ext cx="1425575" cy="609600"/>
          </a:xfrm>
          <a:prstGeom prst="rect">
            <a:avLst/>
          </a:prstGeom>
          <a:solidFill>
            <a:srgbClr val="FFFCF4"/>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编码与缩放</a:t>
            </a:r>
          </a:p>
        </p:txBody>
      </p:sp>
      <p:sp>
        <p:nvSpPr>
          <p:cNvPr id="55" name="矩形 54">
            <a:extLst>
              <a:ext uri="{FF2B5EF4-FFF2-40B4-BE49-F238E27FC236}">
                <a16:creationId xmlns:a16="http://schemas.microsoft.com/office/drawing/2014/main" id="{D2BBE8C7-0CA4-432F-823E-5CCE79DB331B}"/>
              </a:ext>
            </a:extLst>
          </p:cNvPr>
          <p:cNvSpPr>
            <a:spLocks noGrp="1"/>
          </p:cNvSpPr>
          <p:nvPr/>
        </p:nvSpPr>
        <p:spPr>
          <a:xfrm>
            <a:off x="6334125"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56" name="矩形 55">
            <a:extLst>
              <a:ext uri="{FF2B5EF4-FFF2-40B4-BE49-F238E27FC236}">
                <a16:creationId xmlns:a16="http://schemas.microsoft.com/office/drawing/2014/main" id="{6A6F459D-1690-41F0-9B2D-8AB6264A34F3}"/>
              </a:ext>
            </a:extLst>
          </p:cNvPr>
          <p:cNvSpPr>
            <a:spLocks noGrp="1"/>
          </p:cNvSpPr>
          <p:nvPr/>
        </p:nvSpPr>
        <p:spPr>
          <a:xfrm>
            <a:off x="6315075" y="3543300"/>
            <a:ext cx="1387475" cy="1066800"/>
          </a:xfrm>
          <a:prstGeom prst="rect">
            <a:avLst/>
          </a:prstGeom>
          <a:solidFill>
            <a:srgbClr val="FFFCF4"/>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把类别和量纲转换为模型输入</a:t>
            </a:r>
          </a:p>
        </p:txBody>
      </p:sp>
      <p:sp>
        <p:nvSpPr>
          <p:cNvPr id="57" name="矩形 56">
            <a:extLst>
              <a:ext uri="{FF2B5EF4-FFF2-40B4-BE49-F238E27FC236}">
                <a16:creationId xmlns:a16="http://schemas.microsoft.com/office/drawing/2014/main" id="{DCDD0425-9A51-4B94-8245-6B943E46CF7A}"/>
              </a:ext>
            </a:extLst>
          </p:cNvPr>
          <p:cNvSpPr>
            <a:spLocks noGrp="1"/>
          </p:cNvSpPr>
          <p:nvPr/>
        </p:nvSpPr>
        <p:spPr>
          <a:xfrm>
            <a:off x="7854950"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58" name="矩形 57">
            <a:extLst>
              <a:ext uri="{FF2B5EF4-FFF2-40B4-BE49-F238E27FC236}">
                <a16:creationId xmlns:a16="http://schemas.microsoft.com/office/drawing/2014/main" id="{DD030836-5521-4BDD-9E5C-C9B6E04EB4DD}"/>
              </a:ext>
            </a:extLst>
          </p:cNvPr>
          <p:cNvSpPr>
            <a:spLocks noGrp="1"/>
          </p:cNvSpPr>
          <p:nvPr/>
        </p:nvSpPr>
        <p:spPr>
          <a:xfrm>
            <a:off x="8083550" y="1390650"/>
            <a:ext cx="1501775" cy="1257300"/>
          </a:xfrm>
          <a:prstGeom prst="rect">
            <a:avLst/>
          </a:prstGeom>
          <a:solidFill>
            <a:srgbClr val="E6F0FA"/>
          </a:solidFill>
          <a:ln w="9525">
            <a:solidFill>
              <a:srgbClr val="D4DCE6"/>
            </a:solidFill>
            <a:prstDash val="solid"/>
          </a:ln>
        </p:spPr>
        <p:txBody>
          <a:bodyPr/>
          <a:lstStyle/>
          <a:p>
            <a:endParaRPr lang="zh-CN" altLang="en-US"/>
          </a:p>
        </p:txBody>
      </p:sp>
      <p:sp>
        <p:nvSpPr>
          <p:cNvPr id="59" name="椭圆 58">
            <a:extLst>
              <a:ext uri="{FF2B5EF4-FFF2-40B4-BE49-F238E27FC236}">
                <a16:creationId xmlns:a16="http://schemas.microsoft.com/office/drawing/2014/main" id="{78967E99-9984-4433-9DC4-C574B27838FF}"/>
              </a:ext>
            </a:extLst>
          </p:cNvPr>
          <p:cNvSpPr>
            <a:spLocks noGrp="1"/>
          </p:cNvSpPr>
          <p:nvPr/>
        </p:nvSpPr>
        <p:spPr>
          <a:xfrm>
            <a:off x="8510588"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60" name="矩形 59">
            <a:extLst>
              <a:ext uri="{FF2B5EF4-FFF2-40B4-BE49-F238E27FC236}">
                <a16:creationId xmlns:a16="http://schemas.microsoft.com/office/drawing/2014/main" id="{366009AF-CF0F-4173-BD17-8FBEDE43BF44}"/>
              </a:ext>
            </a:extLst>
          </p:cNvPr>
          <p:cNvSpPr>
            <a:spLocks noGrp="1"/>
          </p:cNvSpPr>
          <p:nvPr/>
        </p:nvSpPr>
        <p:spPr>
          <a:xfrm>
            <a:off x="8624888"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5</a:t>
            </a:r>
          </a:p>
        </p:txBody>
      </p:sp>
      <p:sp>
        <p:nvSpPr>
          <p:cNvPr id="61" name="矩形 60">
            <a:extLst>
              <a:ext uri="{FF2B5EF4-FFF2-40B4-BE49-F238E27FC236}">
                <a16:creationId xmlns:a16="http://schemas.microsoft.com/office/drawing/2014/main" id="{BFCD963C-40F8-4054-B396-A47F0E4901BA}"/>
              </a:ext>
            </a:extLst>
          </p:cNvPr>
          <p:cNvSpPr>
            <a:spLocks noGrp="1"/>
          </p:cNvSpPr>
          <p:nvPr/>
        </p:nvSpPr>
        <p:spPr>
          <a:xfrm>
            <a:off x="8292910" y="2400300"/>
            <a:ext cx="1083056"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62" name="矩形 61">
            <a:extLst>
              <a:ext uri="{FF2B5EF4-FFF2-40B4-BE49-F238E27FC236}">
                <a16:creationId xmlns:a16="http://schemas.microsoft.com/office/drawing/2014/main" id="{7307D0A0-022E-4B9D-A21C-F911DEB04258}"/>
              </a:ext>
            </a:extLst>
          </p:cNvPr>
          <p:cNvSpPr>
            <a:spLocks noGrp="1"/>
          </p:cNvSpPr>
          <p:nvPr/>
        </p:nvSpPr>
        <p:spPr>
          <a:xfrm>
            <a:off x="8445214"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3" name="矩形 62">
            <a:extLst>
              <a:ext uri="{FF2B5EF4-FFF2-40B4-BE49-F238E27FC236}">
                <a16:creationId xmlns:a16="http://schemas.microsoft.com/office/drawing/2014/main" id="{5AF90503-97D4-4050-BA96-D0B17196AC46}"/>
              </a:ext>
            </a:extLst>
          </p:cNvPr>
          <p:cNvSpPr>
            <a:spLocks noGrp="1"/>
          </p:cNvSpPr>
          <p:nvPr/>
        </p:nvSpPr>
        <p:spPr>
          <a:xfrm>
            <a:off x="8580596"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4" name="矩形 63">
            <a:extLst>
              <a:ext uri="{FF2B5EF4-FFF2-40B4-BE49-F238E27FC236}">
                <a16:creationId xmlns:a16="http://schemas.microsoft.com/office/drawing/2014/main" id="{AD1B5F3F-64CB-483D-A565-6774D8DF7CE2}"/>
              </a:ext>
            </a:extLst>
          </p:cNvPr>
          <p:cNvSpPr>
            <a:spLocks noGrp="1"/>
          </p:cNvSpPr>
          <p:nvPr/>
        </p:nvSpPr>
        <p:spPr>
          <a:xfrm>
            <a:off x="8121650" y="2800350"/>
            <a:ext cx="1425575" cy="609600"/>
          </a:xfrm>
          <a:prstGeom prst="rect">
            <a:avLst/>
          </a:prstGeom>
          <a:solidFill>
            <a:srgbClr val="F6F9FD"/>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划分数据</a:t>
            </a:r>
          </a:p>
        </p:txBody>
      </p:sp>
      <p:sp>
        <p:nvSpPr>
          <p:cNvPr id="65" name="矩形 64">
            <a:extLst>
              <a:ext uri="{FF2B5EF4-FFF2-40B4-BE49-F238E27FC236}">
                <a16:creationId xmlns:a16="http://schemas.microsoft.com/office/drawing/2014/main" id="{BC4FEE76-8C53-45F0-BF49-233A48A7C365}"/>
              </a:ext>
            </a:extLst>
          </p:cNvPr>
          <p:cNvSpPr>
            <a:spLocks noGrp="1"/>
          </p:cNvSpPr>
          <p:nvPr/>
        </p:nvSpPr>
        <p:spPr>
          <a:xfrm>
            <a:off x="8159750"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66" name="矩形 65">
            <a:extLst>
              <a:ext uri="{FF2B5EF4-FFF2-40B4-BE49-F238E27FC236}">
                <a16:creationId xmlns:a16="http://schemas.microsoft.com/office/drawing/2014/main" id="{DA075BC8-E862-4E6F-AF2E-9A18F08621C0}"/>
              </a:ext>
            </a:extLst>
          </p:cNvPr>
          <p:cNvSpPr>
            <a:spLocks noGrp="1"/>
          </p:cNvSpPr>
          <p:nvPr/>
        </p:nvSpPr>
        <p:spPr>
          <a:xfrm>
            <a:off x="8140700" y="3543300"/>
            <a:ext cx="1387475" cy="1066800"/>
          </a:xfrm>
          <a:prstGeom prst="rect">
            <a:avLst/>
          </a:prstGeom>
          <a:solidFill>
            <a:srgbClr val="F6F9FD"/>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按时间或对象隔离未见数据</a:t>
            </a:r>
          </a:p>
        </p:txBody>
      </p:sp>
      <p:sp>
        <p:nvSpPr>
          <p:cNvPr id="67" name="矩形 66">
            <a:extLst>
              <a:ext uri="{FF2B5EF4-FFF2-40B4-BE49-F238E27FC236}">
                <a16:creationId xmlns:a16="http://schemas.microsoft.com/office/drawing/2014/main" id="{25ADC9AE-408F-47B6-A6B5-5B3AE92CF8B7}"/>
              </a:ext>
            </a:extLst>
          </p:cNvPr>
          <p:cNvSpPr>
            <a:spLocks noGrp="1"/>
          </p:cNvSpPr>
          <p:nvPr/>
        </p:nvSpPr>
        <p:spPr>
          <a:xfrm>
            <a:off x="9680575" y="3143250"/>
            <a:ext cx="133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a:t>
            </a:r>
          </a:p>
        </p:txBody>
      </p:sp>
      <p:sp>
        <p:nvSpPr>
          <p:cNvPr id="68" name="矩形 67">
            <a:extLst>
              <a:ext uri="{FF2B5EF4-FFF2-40B4-BE49-F238E27FC236}">
                <a16:creationId xmlns:a16="http://schemas.microsoft.com/office/drawing/2014/main" id="{BD9C65F7-7D17-4EEE-BF28-8655E342FAA1}"/>
              </a:ext>
            </a:extLst>
          </p:cNvPr>
          <p:cNvSpPr>
            <a:spLocks noGrp="1"/>
          </p:cNvSpPr>
          <p:nvPr/>
        </p:nvSpPr>
        <p:spPr>
          <a:xfrm>
            <a:off x="9909175" y="1390650"/>
            <a:ext cx="1501775" cy="1257300"/>
          </a:xfrm>
          <a:prstGeom prst="rect">
            <a:avLst/>
          </a:prstGeom>
          <a:solidFill>
            <a:srgbClr val="F7EFD6"/>
          </a:solidFill>
          <a:ln w="9525">
            <a:solidFill>
              <a:srgbClr val="D4DCE6"/>
            </a:solidFill>
            <a:prstDash val="solid"/>
          </a:ln>
        </p:spPr>
        <p:txBody>
          <a:bodyPr/>
          <a:lstStyle/>
          <a:p>
            <a:endParaRPr lang="zh-CN" altLang="en-US"/>
          </a:p>
        </p:txBody>
      </p:sp>
      <p:sp>
        <p:nvSpPr>
          <p:cNvPr id="69" name="椭圆 68">
            <a:extLst>
              <a:ext uri="{FF2B5EF4-FFF2-40B4-BE49-F238E27FC236}">
                <a16:creationId xmlns:a16="http://schemas.microsoft.com/office/drawing/2014/main" id="{87D15677-10F3-4739-B425-AF6FB5AE0BA5}"/>
              </a:ext>
            </a:extLst>
          </p:cNvPr>
          <p:cNvSpPr>
            <a:spLocks noGrp="1"/>
          </p:cNvSpPr>
          <p:nvPr/>
        </p:nvSpPr>
        <p:spPr>
          <a:xfrm>
            <a:off x="10336212"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70" name="矩形 69">
            <a:extLst>
              <a:ext uri="{FF2B5EF4-FFF2-40B4-BE49-F238E27FC236}">
                <a16:creationId xmlns:a16="http://schemas.microsoft.com/office/drawing/2014/main" id="{65250D19-25E5-4A2A-BADE-1969B8079169}"/>
              </a:ext>
            </a:extLst>
          </p:cNvPr>
          <p:cNvSpPr>
            <a:spLocks noGrp="1"/>
          </p:cNvSpPr>
          <p:nvPr/>
        </p:nvSpPr>
        <p:spPr>
          <a:xfrm>
            <a:off x="10450512"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6</a:t>
            </a:r>
          </a:p>
        </p:txBody>
      </p:sp>
      <p:sp>
        <p:nvSpPr>
          <p:cNvPr id="71" name="矩形 70">
            <a:extLst>
              <a:ext uri="{FF2B5EF4-FFF2-40B4-BE49-F238E27FC236}">
                <a16:creationId xmlns:a16="http://schemas.microsoft.com/office/drawing/2014/main" id="{BE08B1F4-A12A-4194-BA33-EABA9C38F8F3}"/>
              </a:ext>
            </a:extLst>
          </p:cNvPr>
          <p:cNvSpPr>
            <a:spLocks noGrp="1"/>
          </p:cNvSpPr>
          <p:nvPr/>
        </p:nvSpPr>
        <p:spPr>
          <a:xfrm>
            <a:off x="10118535" y="2400300"/>
            <a:ext cx="1083056"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72" name="矩形 71">
            <a:extLst>
              <a:ext uri="{FF2B5EF4-FFF2-40B4-BE49-F238E27FC236}">
                <a16:creationId xmlns:a16="http://schemas.microsoft.com/office/drawing/2014/main" id="{04F9236F-EC5E-4126-81A9-34F5C8FF5C37}"/>
              </a:ext>
            </a:extLst>
          </p:cNvPr>
          <p:cNvSpPr>
            <a:spLocks noGrp="1"/>
          </p:cNvSpPr>
          <p:nvPr/>
        </p:nvSpPr>
        <p:spPr>
          <a:xfrm>
            <a:off x="10270839" y="2505075"/>
            <a:ext cx="77844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73" name="矩形 72">
            <a:extLst>
              <a:ext uri="{FF2B5EF4-FFF2-40B4-BE49-F238E27FC236}">
                <a16:creationId xmlns:a16="http://schemas.microsoft.com/office/drawing/2014/main" id="{E337784E-2D5D-4377-BCC9-42D7F20788C5}"/>
              </a:ext>
            </a:extLst>
          </p:cNvPr>
          <p:cNvSpPr>
            <a:spLocks noGrp="1"/>
          </p:cNvSpPr>
          <p:nvPr/>
        </p:nvSpPr>
        <p:spPr>
          <a:xfrm>
            <a:off x="10406221" y="2609850"/>
            <a:ext cx="5076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74" name="矩形 73">
            <a:extLst>
              <a:ext uri="{FF2B5EF4-FFF2-40B4-BE49-F238E27FC236}">
                <a16:creationId xmlns:a16="http://schemas.microsoft.com/office/drawing/2014/main" id="{57A2F9B1-4E0E-49F5-B03B-B369539E4448}"/>
              </a:ext>
            </a:extLst>
          </p:cNvPr>
          <p:cNvSpPr>
            <a:spLocks noGrp="1"/>
          </p:cNvSpPr>
          <p:nvPr/>
        </p:nvSpPr>
        <p:spPr>
          <a:xfrm>
            <a:off x="9947275" y="2800350"/>
            <a:ext cx="1425575" cy="609600"/>
          </a:xfrm>
          <a:prstGeom prst="rect">
            <a:avLst/>
          </a:prstGeom>
          <a:solidFill>
            <a:srgbClr val="FFFCF4"/>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保存流水线</a:t>
            </a:r>
          </a:p>
        </p:txBody>
      </p:sp>
      <p:sp>
        <p:nvSpPr>
          <p:cNvPr id="75" name="矩形 74">
            <a:extLst>
              <a:ext uri="{FF2B5EF4-FFF2-40B4-BE49-F238E27FC236}">
                <a16:creationId xmlns:a16="http://schemas.microsoft.com/office/drawing/2014/main" id="{7D7E01D4-E06E-4F46-89FB-6FD199CBE8DC}"/>
              </a:ext>
            </a:extLst>
          </p:cNvPr>
          <p:cNvSpPr>
            <a:spLocks noGrp="1"/>
          </p:cNvSpPr>
          <p:nvPr/>
        </p:nvSpPr>
        <p:spPr>
          <a:xfrm>
            <a:off x="9985375" y="3429000"/>
            <a:ext cx="1349375"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76" name="矩形 75">
            <a:extLst>
              <a:ext uri="{FF2B5EF4-FFF2-40B4-BE49-F238E27FC236}">
                <a16:creationId xmlns:a16="http://schemas.microsoft.com/office/drawing/2014/main" id="{D682CC28-8E4D-4643-9524-47B5FC8B6D17}"/>
              </a:ext>
            </a:extLst>
          </p:cNvPr>
          <p:cNvSpPr>
            <a:spLocks noGrp="1"/>
          </p:cNvSpPr>
          <p:nvPr/>
        </p:nvSpPr>
        <p:spPr>
          <a:xfrm>
            <a:off x="9966325" y="3543300"/>
            <a:ext cx="1387475" cy="1066800"/>
          </a:xfrm>
          <a:prstGeom prst="rect">
            <a:avLst/>
          </a:prstGeom>
          <a:solidFill>
            <a:srgbClr val="FFFCF4"/>
          </a:solidFill>
          <a:ln w="0">
            <a:solidFill>
              <a:srgbClr val="000000">
                <a:alpha val="0"/>
              </a:srgbClr>
            </a:solidFill>
            <a:prstDash val="solid"/>
          </a:ln>
        </p:spPr>
        <p:txBody>
          <a:bodyPr lIns="0" tIns="0" rIns="0" bIns="0" anchor="t"/>
          <a:lstStyle/>
          <a:p>
            <a:pPr algn="ctr">
              <a:defRPr sz="900" b="0">
                <a:solidFill>
                  <a:srgbClr val="1F2933"/>
                </a:solidFill>
                <a:latin typeface="黑体"/>
                <a:ea typeface="黑体"/>
                <a:cs typeface="黑体"/>
              </a:defRPr>
            </a:pPr>
            <a:r>
              <a:rPr>
                <a:latin typeface="黑体"/>
                <a:ea typeface="黑体"/>
                <a:cs typeface="黑体"/>
              </a:rPr>
              <a:t>记录每一步参数，供新数据复用</a:t>
            </a:r>
          </a:p>
        </p:txBody>
      </p:sp>
      <p:sp>
        <p:nvSpPr>
          <p:cNvPr id="77" name="矩形 76">
            <a:extLst>
              <a:ext uri="{FF2B5EF4-FFF2-40B4-BE49-F238E27FC236}">
                <a16:creationId xmlns:a16="http://schemas.microsoft.com/office/drawing/2014/main" id="{C698C63F-D1BE-4C70-907C-DC8049F5D216}"/>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78" name="矩形 77">
            <a:extLst>
              <a:ext uri="{FF2B5EF4-FFF2-40B4-BE49-F238E27FC236}">
                <a16:creationId xmlns:a16="http://schemas.microsoft.com/office/drawing/2014/main" id="{CA553687-07AC-44CE-AB18-65E3320946BA}"/>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预处理不是模型前的杂务，而是模型定义的一部分。</a:t>
            </a:r>
          </a:p>
        </p:txBody>
      </p:sp>
    </p:spTree>
    <p:extLst>
      <p:ext uri="{BB962C8B-B14F-4D97-AF65-F5344CB8AC3E}">
        <p14:creationId xmlns:p14="http://schemas.microsoft.com/office/powerpoint/2010/main" val="18190429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2CCDB7BC-EE83-4084-88C6-8A244DB295D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A3A46DE-6C23-4D3C-A53D-F4C1D0754CA2}"/>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EA6DCBDD-156C-465F-880E-A723E056B29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06F90BF0-35AC-4BB7-8D69-16BF913BD54C}"/>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删除记录还是删除字段</a:t>
            </a:r>
          </a:p>
        </p:txBody>
      </p:sp>
      <p:sp>
        <p:nvSpPr>
          <p:cNvPr id="5" name="矩形 4">
            <a:extLst>
              <a:ext uri="{FF2B5EF4-FFF2-40B4-BE49-F238E27FC236}">
                <a16:creationId xmlns:a16="http://schemas.microsoft.com/office/drawing/2014/main" id="{D84BB465-8CD5-4270-94FB-325C0037C6AA}"/>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44/90</a:t>
            </a:r>
          </a:p>
        </p:txBody>
      </p:sp>
      <p:sp>
        <p:nvSpPr>
          <p:cNvPr id="6" name="矩形 5">
            <a:extLst>
              <a:ext uri="{FF2B5EF4-FFF2-40B4-BE49-F238E27FC236}">
                <a16:creationId xmlns:a16="http://schemas.microsoft.com/office/drawing/2014/main" id="{AC896E11-425C-4921-AC68-9F9EE7267F55}"/>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D5DD4602-5962-4E50-AE30-51B5CD9F931A}"/>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判断问题</a:t>
            </a:r>
          </a:p>
        </p:txBody>
      </p:sp>
      <p:sp>
        <p:nvSpPr>
          <p:cNvPr id="8" name="矩形 7">
            <a:extLst>
              <a:ext uri="{FF2B5EF4-FFF2-40B4-BE49-F238E27FC236}">
                <a16:creationId xmlns:a16="http://schemas.microsoft.com/office/drawing/2014/main" id="{C7F77B00-68E8-4363-8A04-2B13125CBF33}"/>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4776725C-8943-47A1-9110-EA626FD5ABFA}"/>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倾向删除记录</a:t>
            </a:r>
          </a:p>
        </p:txBody>
      </p:sp>
      <p:sp>
        <p:nvSpPr>
          <p:cNvPr id="10" name="矩形 9">
            <a:extLst>
              <a:ext uri="{FF2B5EF4-FFF2-40B4-BE49-F238E27FC236}">
                <a16:creationId xmlns:a16="http://schemas.microsoft.com/office/drawing/2014/main" id="{676D6D3F-F006-418B-A540-5AEA0A746D7E}"/>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48ACDB42-2F94-4EC6-A6C8-E1980BE7A966}"/>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倾向删除字段</a:t>
            </a:r>
          </a:p>
        </p:txBody>
      </p:sp>
      <p:sp>
        <p:nvSpPr>
          <p:cNvPr id="12" name="矩形 11">
            <a:extLst>
              <a:ext uri="{FF2B5EF4-FFF2-40B4-BE49-F238E27FC236}">
                <a16:creationId xmlns:a16="http://schemas.microsoft.com/office/drawing/2014/main" id="{CE7B1C7E-485F-4819-898D-ECE4E922CE30}"/>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09ADE5FD-4A36-43A9-9C1E-980302D5DFE4}"/>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缺失比例</a:t>
            </a:r>
          </a:p>
        </p:txBody>
      </p:sp>
      <p:sp>
        <p:nvSpPr>
          <p:cNvPr id="14" name="矩形 13">
            <a:extLst>
              <a:ext uri="{FF2B5EF4-FFF2-40B4-BE49-F238E27FC236}">
                <a16:creationId xmlns:a16="http://schemas.microsoft.com/office/drawing/2014/main" id="{D6DF9916-45F9-4F6E-9871-EA4F60ED3B61}"/>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0AF71ACA-6737-4B20-8BDF-735F018DFCF1}"/>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极少数记录缺失</a:t>
            </a:r>
          </a:p>
        </p:txBody>
      </p:sp>
      <p:sp>
        <p:nvSpPr>
          <p:cNvPr id="16" name="矩形 15">
            <a:extLst>
              <a:ext uri="{FF2B5EF4-FFF2-40B4-BE49-F238E27FC236}">
                <a16:creationId xmlns:a16="http://schemas.microsoft.com/office/drawing/2014/main" id="{B9B867C6-12BD-4043-A478-53EB6847ADEB}"/>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DABB3093-216B-46A2-A03D-3FFC1F296B28}"/>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字段大面积缺失</a:t>
            </a:r>
          </a:p>
        </p:txBody>
      </p:sp>
      <p:sp>
        <p:nvSpPr>
          <p:cNvPr id="18" name="矩形 17">
            <a:extLst>
              <a:ext uri="{FF2B5EF4-FFF2-40B4-BE49-F238E27FC236}">
                <a16:creationId xmlns:a16="http://schemas.microsoft.com/office/drawing/2014/main" id="{9714E274-BC63-4D5B-8BA0-5DD34721F162}"/>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12CFE61A-4673-48BC-AB0E-8A89865EF16E}"/>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缺失机制</a:t>
            </a:r>
          </a:p>
        </p:txBody>
      </p:sp>
      <p:sp>
        <p:nvSpPr>
          <p:cNvPr id="20" name="矩形 19">
            <a:extLst>
              <a:ext uri="{FF2B5EF4-FFF2-40B4-BE49-F238E27FC236}">
                <a16:creationId xmlns:a16="http://schemas.microsoft.com/office/drawing/2014/main" id="{E7B73FE4-E20B-4232-8B40-060AB8B87CBB}"/>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EF173DC3-9C7C-4DF5-8A1D-1F23B3971261}"/>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接近随机</a:t>
            </a:r>
          </a:p>
        </p:txBody>
      </p:sp>
      <p:sp>
        <p:nvSpPr>
          <p:cNvPr id="22" name="矩形 21">
            <a:extLst>
              <a:ext uri="{FF2B5EF4-FFF2-40B4-BE49-F238E27FC236}">
                <a16:creationId xmlns:a16="http://schemas.microsoft.com/office/drawing/2014/main" id="{6DDB2985-50EC-4BD5-8F71-D1C70966A927}"/>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89ECAB3F-C496-4165-8049-AD79B7AB14E9}"/>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由采集制度长期造成</a:t>
            </a:r>
          </a:p>
        </p:txBody>
      </p:sp>
      <p:sp>
        <p:nvSpPr>
          <p:cNvPr id="24" name="矩形 23">
            <a:extLst>
              <a:ext uri="{FF2B5EF4-FFF2-40B4-BE49-F238E27FC236}">
                <a16:creationId xmlns:a16="http://schemas.microsoft.com/office/drawing/2014/main" id="{3DD6BC9D-6493-4CF0-AE45-FAAC72F17336}"/>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A5A1AEAB-F0FE-4FEE-A808-28494C9C1C83}"/>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字段价值</a:t>
            </a:r>
          </a:p>
        </p:txBody>
      </p:sp>
      <p:sp>
        <p:nvSpPr>
          <p:cNvPr id="26" name="矩形 25">
            <a:extLst>
              <a:ext uri="{FF2B5EF4-FFF2-40B4-BE49-F238E27FC236}">
                <a16:creationId xmlns:a16="http://schemas.microsoft.com/office/drawing/2014/main" id="{E10F6B9D-34D8-4510-954B-352240F3C085}"/>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9606204E-BE3A-4621-ABE2-FAE72DDFE2BE}"/>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关键字段可由其他记录补充</a:t>
            </a:r>
          </a:p>
        </p:txBody>
      </p:sp>
      <p:sp>
        <p:nvSpPr>
          <p:cNvPr id="28" name="矩形 27">
            <a:extLst>
              <a:ext uri="{FF2B5EF4-FFF2-40B4-BE49-F238E27FC236}">
                <a16:creationId xmlns:a16="http://schemas.microsoft.com/office/drawing/2014/main" id="{84F1D904-62A4-4F3D-8306-71072D1F8ED5}"/>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9BCFA228-1137-400C-A1E5-718D6206AB54}"/>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字段与目标关系弱</a:t>
            </a:r>
          </a:p>
        </p:txBody>
      </p:sp>
      <p:sp>
        <p:nvSpPr>
          <p:cNvPr id="30" name="矩形 29">
            <a:extLst>
              <a:ext uri="{FF2B5EF4-FFF2-40B4-BE49-F238E27FC236}">
                <a16:creationId xmlns:a16="http://schemas.microsoft.com/office/drawing/2014/main" id="{AFFEF9EA-C5FC-406E-A068-3DE52514B6FC}"/>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B9F1240D-57BA-4D75-B0D9-FDD64BCBB590}"/>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群体影响</a:t>
            </a:r>
          </a:p>
        </p:txBody>
      </p:sp>
      <p:sp>
        <p:nvSpPr>
          <p:cNvPr id="32" name="矩形 31">
            <a:extLst>
              <a:ext uri="{FF2B5EF4-FFF2-40B4-BE49-F238E27FC236}">
                <a16:creationId xmlns:a16="http://schemas.microsoft.com/office/drawing/2014/main" id="{6E90B435-AC06-444D-B078-8E5A3DB575C7}"/>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DA57B044-E7E1-47F7-9A39-85D07CF491DA}"/>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删除后群体比例基本不变</a:t>
            </a:r>
          </a:p>
        </p:txBody>
      </p:sp>
      <p:sp>
        <p:nvSpPr>
          <p:cNvPr id="34" name="矩形 33">
            <a:extLst>
              <a:ext uri="{FF2B5EF4-FFF2-40B4-BE49-F238E27FC236}">
                <a16:creationId xmlns:a16="http://schemas.microsoft.com/office/drawing/2014/main" id="{3F23379B-D6B2-4FA1-9EB5-B621FA5BF62A}"/>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137A8CBE-BCFC-47CF-8131-E84EE25E6475}"/>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保留记录比保留字段更重要</a:t>
            </a:r>
          </a:p>
        </p:txBody>
      </p:sp>
      <p:sp>
        <p:nvSpPr>
          <p:cNvPr id="36" name="矩形 35">
            <a:extLst>
              <a:ext uri="{FF2B5EF4-FFF2-40B4-BE49-F238E27FC236}">
                <a16:creationId xmlns:a16="http://schemas.microsoft.com/office/drawing/2014/main" id="{D75061F6-CEFD-4D45-9E2C-A0676265C0E9}"/>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948FC832-3CBB-4B53-B12F-896770392142}"/>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时间影响</a:t>
            </a:r>
          </a:p>
        </p:txBody>
      </p:sp>
      <p:sp>
        <p:nvSpPr>
          <p:cNvPr id="38" name="矩形 37">
            <a:extLst>
              <a:ext uri="{FF2B5EF4-FFF2-40B4-BE49-F238E27FC236}">
                <a16:creationId xmlns:a16="http://schemas.microsoft.com/office/drawing/2014/main" id="{EE6EA8D2-BF5A-45C4-AFEC-0CA5F8722205}"/>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FB64F432-88E4-4BE7-AB08-F78D5B8627C5}"/>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缺失集中在偶发故障</a:t>
            </a:r>
          </a:p>
        </p:txBody>
      </p:sp>
      <p:sp>
        <p:nvSpPr>
          <p:cNvPr id="40" name="矩形 39">
            <a:extLst>
              <a:ext uri="{FF2B5EF4-FFF2-40B4-BE49-F238E27FC236}">
                <a16:creationId xmlns:a16="http://schemas.microsoft.com/office/drawing/2014/main" id="{DBDD6F88-350E-4735-8D61-F0F335CA1FE6}"/>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1D021437-8875-4EB6-B257-D554E93F1B56}"/>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整个历史阶段均不可用</a:t>
            </a:r>
          </a:p>
        </p:txBody>
      </p:sp>
      <p:sp>
        <p:nvSpPr>
          <p:cNvPr id="42" name="矩形 41">
            <a:extLst>
              <a:ext uri="{FF2B5EF4-FFF2-40B4-BE49-F238E27FC236}">
                <a16:creationId xmlns:a16="http://schemas.microsoft.com/office/drawing/2014/main" id="{BCDFA8F8-57DB-4E44-B155-6E14B1B9ED53}"/>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A848E81C-4E32-43A3-9412-87292CB807CD}"/>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删除的代价不只是多少行或多少列，还包括代表性。</a:t>
            </a:r>
          </a:p>
        </p:txBody>
      </p:sp>
    </p:spTree>
    <p:extLst>
      <p:ext uri="{BB962C8B-B14F-4D97-AF65-F5344CB8AC3E}">
        <p14:creationId xmlns:p14="http://schemas.microsoft.com/office/powerpoint/2010/main" val="20999083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819FFE69-E6B6-44E9-B7B0-B847EE5F6D37}"/>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1B4A587-28B1-4F07-8CA5-7A18BE89DB4D}"/>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8485DF28-F2A2-473F-B531-0ED943519CB1}"/>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8B47F882-DE7B-4D13-BEA3-0E0A701AEF6A}"/>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数值填补方法如何选择</a:t>
            </a:r>
          </a:p>
        </p:txBody>
      </p:sp>
      <p:sp>
        <p:nvSpPr>
          <p:cNvPr id="5" name="矩形 4">
            <a:extLst>
              <a:ext uri="{FF2B5EF4-FFF2-40B4-BE49-F238E27FC236}">
                <a16:creationId xmlns:a16="http://schemas.microsoft.com/office/drawing/2014/main" id="{B500111C-2EBF-4260-A3E1-96778CB642C2}"/>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45/90</a:t>
            </a:r>
          </a:p>
        </p:txBody>
      </p:sp>
      <p:sp>
        <p:nvSpPr>
          <p:cNvPr id="6" name="矩形 5">
            <a:extLst>
              <a:ext uri="{FF2B5EF4-FFF2-40B4-BE49-F238E27FC236}">
                <a16:creationId xmlns:a16="http://schemas.microsoft.com/office/drawing/2014/main" id="{E4D9CB8C-7D4F-4CA0-B478-C00B571B48A8}"/>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4502BEDD-640C-4AEF-9B59-8822CE38D6FD}"/>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方法</a:t>
            </a:r>
          </a:p>
        </p:txBody>
      </p:sp>
      <p:sp>
        <p:nvSpPr>
          <p:cNvPr id="8" name="矩形 7">
            <a:extLst>
              <a:ext uri="{FF2B5EF4-FFF2-40B4-BE49-F238E27FC236}">
                <a16:creationId xmlns:a16="http://schemas.microsoft.com/office/drawing/2014/main" id="{2EC00D80-0E43-45B9-ADB5-F4D5674A5AFB}"/>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1115B769-FF36-4293-8E99-E1A31BAE486B}"/>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计算方式</a:t>
            </a:r>
          </a:p>
        </p:txBody>
      </p:sp>
      <p:sp>
        <p:nvSpPr>
          <p:cNvPr id="10" name="矩形 9">
            <a:extLst>
              <a:ext uri="{FF2B5EF4-FFF2-40B4-BE49-F238E27FC236}">
                <a16:creationId xmlns:a16="http://schemas.microsoft.com/office/drawing/2014/main" id="{10F43DA4-41D9-44ED-A293-8CEDF2949B71}"/>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26FE46D4-96DC-4072-BF23-5FAB4B9FDF5D}"/>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适用特点</a:t>
            </a:r>
          </a:p>
        </p:txBody>
      </p:sp>
      <p:sp>
        <p:nvSpPr>
          <p:cNvPr id="12" name="矩形 11">
            <a:extLst>
              <a:ext uri="{FF2B5EF4-FFF2-40B4-BE49-F238E27FC236}">
                <a16:creationId xmlns:a16="http://schemas.microsoft.com/office/drawing/2014/main" id="{EF6B5B8A-EBA8-4766-BBA3-EB557F3B0A9B}"/>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DB7FCD91-DD80-4FC2-8607-C1C77F02FCC5}"/>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均值</a:t>
            </a:r>
          </a:p>
        </p:txBody>
      </p:sp>
      <p:sp>
        <p:nvSpPr>
          <p:cNvPr id="14" name="矩形 13">
            <a:extLst>
              <a:ext uri="{FF2B5EF4-FFF2-40B4-BE49-F238E27FC236}">
                <a16:creationId xmlns:a16="http://schemas.microsoft.com/office/drawing/2014/main" id="{90CBC9F1-55D5-4100-B0B6-8BF2430019CD}"/>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71BD5B45-4E90-4019-B147-50FB54857C23}"/>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用非缺失值平均数</a:t>
            </a:r>
          </a:p>
        </p:txBody>
      </p:sp>
      <p:sp>
        <p:nvSpPr>
          <p:cNvPr id="16" name="矩形 15">
            <a:extLst>
              <a:ext uri="{FF2B5EF4-FFF2-40B4-BE49-F238E27FC236}">
                <a16:creationId xmlns:a16="http://schemas.microsoft.com/office/drawing/2014/main" id="{5CE50F05-260D-4C56-88ED-C3DEC5865FC4}"/>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FDC2236F-C6F6-4BA9-B9B1-006706978B90}"/>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分布较对称，对极端值敏感</a:t>
            </a:r>
          </a:p>
        </p:txBody>
      </p:sp>
      <p:sp>
        <p:nvSpPr>
          <p:cNvPr id="18" name="矩形 17">
            <a:extLst>
              <a:ext uri="{FF2B5EF4-FFF2-40B4-BE49-F238E27FC236}">
                <a16:creationId xmlns:a16="http://schemas.microsoft.com/office/drawing/2014/main" id="{E452DB56-86B4-4DB9-8B48-6D09498F8E26}"/>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2BAFAA1D-5C9C-4DA9-B567-0783B24F16E0}"/>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中位数</a:t>
            </a:r>
          </a:p>
        </p:txBody>
      </p:sp>
      <p:sp>
        <p:nvSpPr>
          <p:cNvPr id="20" name="矩形 19">
            <a:extLst>
              <a:ext uri="{FF2B5EF4-FFF2-40B4-BE49-F238E27FC236}">
                <a16:creationId xmlns:a16="http://schemas.microsoft.com/office/drawing/2014/main" id="{7F5EBCA9-562F-4BCA-A225-4A5DB0B2B672}"/>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53CE4719-81D3-4EFE-8203-4950D3AE8448}"/>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用第 </a:t>
            </a:r>
            <a:r>
              <a:rPr>
                <a:latin typeface="Times New Roman"/>
                <a:ea typeface="Times New Roman"/>
                <a:cs typeface="Times New Roman"/>
              </a:rPr>
              <a:t>50 </a:t>
            </a:r>
            <a:r>
              <a:rPr>
                <a:latin typeface="黑体"/>
                <a:ea typeface="黑体"/>
                <a:cs typeface="黑体"/>
              </a:rPr>
              <a:t>百分位</a:t>
            </a:r>
          </a:p>
        </p:txBody>
      </p:sp>
      <p:sp>
        <p:nvSpPr>
          <p:cNvPr id="22" name="矩形 21">
            <a:extLst>
              <a:ext uri="{FF2B5EF4-FFF2-40B4-BE49-F238E27FC236}">
                <a16:creationId xmlns:a16="http://schemas.microsoft.com/office/drawing/2014/main" id="{52380CF9-A29C-4E61-B694-2468A9603CDF}"/>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28429425-5CF6-45F2-B37C-151750E51E36}"/>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偏态分布更稳健</a:t>
            </a:r>
          </a:p>
        </p:txBody>
      </p:sp>
      <p:sp>
        <p:nvSpPr>
          <p:cNvPr id="24" name="矩形 23">
            <a:extLst>
              <a:ext uri="{FF2B5EF4-FFF2-40B4-BE49-F238E27FC236}">
                <a16:creationId xmlns:a16="http://schemas.microsoft.com/office/drawing/2014/main" id="{E4A17260-6F38-4224-B7BF-50B684FE4D21}"/>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7DC34FAD-CEF3-4AB2-9962-FE5DE9217C87}"/>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分组统计</a:t>
            </a:r>
          </a:p>
        </p:txBody>
      </p:sp>
      <p:sp>
        <p:nvSpPr>
          <p:cNvPr id="26" name="矩形 25">
            <a:extLst>
              <a:ext uri="{FF2B5EF4-FFF2-40B4-BE49-F238E27FC236}">
                <a16:creationId xmlns:a16="http://schemas.microsoft.com/office/drawing/2014/main" id="{C3888E45-C1DD-4C1C-A9E6-204F6C4AAC36}"/>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305BD179-3ADB-4219-87A4-A3838ABC0394}"/>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在课程或项目内计算</a:t>
            </a:r>
          </a:p>
        </p:txBody>
      </p:sp>
      <p:sp>
        <p:nvSpPr>
          <p:cNvPr id="28" name="矩形 27">
            <a:extLst>
              <a:ext uri="{FF2B5EF4-FFF2-40B4-BE49-F238E27FC236}">
                <a16:creationId xmlns:a16="http://schemas.microsoft.com/office/drawing/2014/main" id="{7968C7C9-3C3A-4A26-BC8B-F513D0A54D50}"/>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CED063C3-ADD4-4594-B3C4-385929DC3BEE}"/>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保留群体差异，但组内样本要足够</a:t>
            </a:r>
          </a:p>
        </p:txBody>
      </p:sp>
      <p:sp>
        <p:nvSpPr>
          <p:cNvPr id="30" name="矩形 29">
            <a:extLst>
              <a:ext uri="{FF2B5EF4-FFF2-40B4-BE49-F238E27FC236}">
                <a16:creationId xmlns:a16="http://schemas.microsoft.com/office/drawing/2014/main" id="{B3151683-85C6-4EE3-B3A4-4CA5FA360E37}"/>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FE55C0FC-09EB-4F3D-A546-4265F9BFD113}"/>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前向填充</a:t>
            </a:r>
          </a:p>
        </p:txBody>
      </p:sp>
      <p:sp>
        <p:nvSpPr>
          <p:cNvPr id="32" name="矩形 31">
            <a:extLst>
              <a:ext uri="{FF2B5EF4-FFF2-40B4-BE49-F238E27FC236}">
                <a16:creationId xmlns:a16="http://schemas.microsoft.com/office/drawing/2014/main" id="{02D0A56A-EBF0-49C2-BDD6-7E602ECAC7F1}"/>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B7918685-2B3F-417D-AB18-2846EC5E0937}"/>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使用上一个时间点</a:t>
            </a:r>
          </a:p>
        </p:txBody>
      </p:sp>
      <p:sp>
        <p:nvSpPr>
          <p:cNvPr id="34" name="矩形 33">
            <a:extLst>
              <a:ext uri="{FF2B5EF4-FFF2-40B4-BE49-F238E27FC236}">
                <a16:creationId xmlns:a16="http://schemas.microsoft.com/office/drawing/2014/main" id="{FE29B662-DDC0-443B-8FFF-6A4675126EE8}"/>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4E73737E-20C7-48AD-8A41-8011E9EF55C8}"/>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适合缓慢变化的时间序列</a:t>
            </a:r>
          </a:p>
        </p:txBody>
      </p:sp>
      <p:sp>
        <p:nvSpPr>
          <p:cNvPr id="36" name="矩形 35">
            <a:extLst>
              <a:ext uri="{FF2B5EF4-FFF2-40B4-BE49-F238E27FC236}">
                <a16:creationId xmlns:a16="http://schemas.microsoft.com/office/drawing/2014/main" id="{9349694A-52FF-44A2-939C-A19598EA096A}"/>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8DC539D8-AC4C-4090-8487-AC699FB5A047}"/>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模型填补</a:t>
            </a:r>
          </a:p>
        </p:txBody>
      </p:sp>
      <p:sp>
        <p:nvSpPr>
          <p:cNvPr id="38" name="矩形 37">
            <a:extLst>
              <a:ext uri="{FF2B5EF4-FFF2-40B4-BE49-F238E27FC236}">
                <a16:creationId xmlns:a16="http://schemas.microsoft.com/office/drawing/2014/main" id="{E199FE6C-B241-4E63-8F15-DFE9A30DDFA4}"/>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D83EAA2B-2C74-4286-AA85-FB8BF5D4DB36}"/>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由其他变量预测缺失值</a:t>
            </a:r>
          </a:p>
        </p:txBody>
      </p:sp>
      <p:sp>
        <p:nvSpPr>
          <p:cNvPr id="40" name="矩形 39">
            <a:extLst>
              <a:ext uri="{FF2B5EF4-FFF2-40B4-BE49-F238E27FC236}">
                <a16:creationId xmlns:a16="http://schemas.microsoft.com/office/drawing/2014/main" id="{26853250-F764-4B9D-93AF-CDFE1A8BD70A}"/>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D19B2799-37D2-4BCA-BEF3-6FE7DD4F3E55}"/>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关系复杂，但必须在训练集内拟合</a:t>
            </a:r>
          </a:p>
        </p:txBody>
      </p:sp>
      <p:sp>
        <p:nvSpPr>
          <p:cNvPr id="42" name="矩形 41">
            <a:extLst>
              <a:ext uri="{FF2B5EF4-FFF2-40B4-BE49-F238E27FC236}">
                <a16:creationId xmlns:a16="http://schemas.microsoft.com/office/drawing/2014/main" id="{24743915-455B-4D2A-9BF9-0015D7D1FD7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CDB31D20-7053-41CD-ACF4-0C713AA0324C}"/>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填补方法必须与变量分布、时间结构和缺失机制一致。</a:t>
            </a:r>
          </a:p>
        </p:txBody>
      </p:sp>
    </p:spTree>
    <p:extLst>
      <p:ext uri="{BB962C8B-B14F-4D97-AF65-F5344CB8AC3E}">
        <p14:creationId xmlns:p14="http://schemas.microsoft.com/office/powerpoint/2010/main" val="1578376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581B1D0E-A6EC-405F-9026-D92BF741972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4A1F766-7C5F-4E2F-B3C3-7E055780F04C}"/>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C61C7A91-BF04-435C-BA39-76A6B82EF75E}"/>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DDDB7D47-78AB-43FE-A7DC-8946ACA92D0B}"/>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例：按课程分组填补登录次数</a:t>
            </a:r>
          </a:p>
        </p:txBody>
      </p:sp>
      <p:sp>
        <p:nvSpPr>
          <p:cNvPr id="5" name="矩形 4">
            <a:extLst>
              <a:ext uri="{FF2B5EF4-FFF2-40B4-BE49-F238E27FC236}">
                <a16:creationId xmlns:a16="http://schemas.microsoft.com/office/drawing/2014/main" id="{F5CC65C4-C86A-449F-866E-921839AEA655}"/>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46/90</a:t>
            </a:r>
          </a:p>
        </p:txBody>
      </p:sp>
      <p:sp>
        <p:nvSpPr>
          <p:cNvPr id="6" name="矩形 5">
            <a:extLst>
              <a:ext uri="{FF2B5EF4-FFF2-40B4-BE49-F238E27FC236}">
                <a16:creationId xmlns:a16="http://schemas.microsoft.com/office/drawing/2014/main" id="{04185DF4-3A1F-4EA1-A549-D2EB9C5D2512}"/>
              </a:ext>
            </a:extLst>
          </p:cNvPr>
          <p:cNvSpPr>
            <a:spLocks noGrp="1"/>
          </p:cNvSpPr>
          <p:nvPr/>
        </p:nvSpPr>
        <p:spPr>
          <a:xfrm>
            <a:off x="609600" y="1200150"/>
            <a:ext cx="10763250" cy="4114800"/>
          </a:xfrm>
          <a:prstGeom prst="rect">
            <a:avLst/>
          </a:prstGeom>
          <a:solidFill>
            <a:srgbClr val="FFFFFF"/>
          </a:solidFill>
          <a:ln w="9525">
            <a:solidFill>
              <a:srgbClr val="BAC4D0"/>
            </a:solidFill>
            <a:prstDash val="solid"/>
          </a:ln>
        </p:spPr>
        <p:txBody>
          <a:bodyPr/>
          <a:lstStyle/>
          <a:p>
            <a:endParaRPr lang="zh-CN" altLang="en-US"/>
          </a:p>
        </p:txBody>
      </p:sp>
      <p:sp>
        <p:nvSpPr>
          <p:cNvPr id="7" name="矩形 6">
            <a:extLst>
              <a:ext uri="{FF2B5EF4-FFF2-40B4-BE49-F238E27FC236}">
                <a16:creationId xmlns:a16="http://schemas.microsoft.com/office/drawing/2014/main" id="{37C76967-1DF2-4AE3-9385-700D55B7587D}"/>
              </a:ext>
            </a:extLst>
          </p:cNvPr>
          <p:cNvSpPr>
            <a:spLocks noGrp="1"/>
          </p:cNvSpPr>
          <p:nvPr/>
        </p:nvSpPr>
        <p:spPr>
          <a:xfrm>
            <a:off x="800100" y="13525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8" name="矩形 7">
            <a:extLst>
              <a:ext uri="{FF2B5EF4-FFF2-40B4-BE49-F238E27FC236}">
                <a16:creationId xmlns:a16="http://schemas.microsoft.com/office/drawing/2014/main" id="{18E1620A-F846-4FE3-B6D8-689481364138}"/>
              </a:ext>
            </a:extLst>
          </p:cNvPr>
          <p:cNvSpPr>
            <a:spLocks noGrp="1"/>
          </p:cNvSpPr>
          <p:nvPr/>
        </p:nvSpPr>
        <p:spPr>
          <a:xfrm>
            <a:off x="1066800" y="14287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课程 </a:t>
            </a:r>
            <a:r>
              <a:rPr>
                <a:latin typeface="Times New Roman"/>
                <a:ea typeface="Times New Roman"/>
                <a:cs typeface="Times New Roman"/>
              </a:rPr>
              <a:t>A</a:t>
            </a:r>
          </a:p>
        </p:txBody>
      </p:sp>
      <p:sp>
        <p:nvSpPr>
          <p:cNvPr id="9" name="矩形 8">
            <a:extLst>
              <a:ext uri="{FF2B5EF4-FFF2-40B4-BE49-F238E27FC236}">
                <a16:creationId xmlns:a16="http://schemas.microsoft.com/office/drawing/2014/main" id="{E39DD1E8-D03E-431F-B9C2-62FC2B618C38}"/>
              </a:ext>
            </a:extLst>
          </p:cNvPr>
          <p:cNvSpPr>
            <a:spLocks noGrp="1"/>
          </p:cNvSpPr>
          <p:nvPr/>
        </p:nvSpPr>
        <p:spPr>
          <a:xfrm>
            <a:off x="2819400" y="14287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2、4、6、NA，</a:t>
            </a:r>
            <a:r>
              <a:rPr>
                <a:latin typeface="黑体"/>
                <a:ea typeface="黑体"/>
                <a:cs typeface="黑体"/>
              </a:rPr>
              <a:t>中位数 </a:t>
            </a:r>
            <a:r>
              <a:rPr>
                <a:latin typeface="Times New Roman"/>
                <a:ea typeface="Times New Roman"/>
                <a:cs typeface="Times New Roman"/>
              </a:rPr>
              <a:t>= (4 + 6) / 2 = 5</a:t>
            </a:r>
          </a:p>
        </p:txBody>
      </p:sp>
      <p:sp>
        <p:nvSpPr>
          <p:cNvPr id="10" name="矩形 9">
            <a:extLst>
              <a:ext uri="{FF2B5EF4-FFF2-40B4-BE49-F238E27FC236}">
                <a16:creationId xmlns:a16="http://schemas.microsoft.com/office/drawing/2014/main" id="{5557F384-A89E-4A72-96E4-A64D553F09D7}"/>
              </a:ext>
            </a:extLst>
          </p:cNvPr>
          <p:cNvSpPr>
            <a:spLocks noGrp="1"/>
          </p:cNvSpPr>
          <p:nvPr/>
        </p:nvSpPr>
        <p:spPr>
          <a:xfrm>
            <a:off x="800100" y="2095500"/>
            <a:ext cx="10382250" cy="590550"/>
          </a:xfrm>
          <a:prstGeom prst="rect">
            <a:avLst/>
          </a:prstGeom>
          <a:solidFill>
            <a:srgbClr val="FFFFFF"/>
          </a:solidFill>
          <a:ln w="9525">
            <a:solidFill>
              <a:srgbClr val="EEF2F7"/>
            </a:solidFill>
            <a:prstDash val="solid"/>
          </a:ln>
        </p:spPr>
        <p:txBody>
          <a:bodyPr/>
          <a:lstStyle/>
          <a:p>
            <a:endParaRPr lang="zh-CN" altLang="en-US"/>
          </a:p>
        </p:txBody>
      </p:sp>
      <p:sp>
        <p:nvSpPr>
          <p:cNvPr id="11" name="矩形 10">
            <a:extLst>
              <a:ext uri="{FF2B5EF4-FFF2-40B4-BE49-F238E27FC236}">
                <a16:creationId xmlns:a16="http://schemas.microsoft.com/office/drawing/2014/main" id="{95808FC9-B259-4298-A1D1-362F43B3B54D}"/>
              </a:ext>
            </a:extLst>
          </p:cNvPr>
          <p:cNvSpPr>
            <a:spLocks noGrp="1"/>
          </p:cNvSpPr>
          <p:nvPr/>
        </p:nvSpPr>
        <p:spPr>
          <a:xfrm>
            <a:off x="1066800" y="217170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课程 </a:t>
            </a:r>
            <a:r>
              <a:rPr>
                <a:latin typeface="Times New Roman"/>
                <a:ea typeface="Times New Roman"/>
                <a:cs typeface="Times New Roman"/>
              </a:rPr>
              <a:t>B</a:t>
            </a:r>
          </a:p>
        </p:txBody>
      </p:sp>
      <p:sp>
        <p:nvSpPr>
          <p:cNvPr id="12" name="矩形 11">
            <a:extLst>
              <a:ext uri="{FF2B5EF4-FFF2-40B4-BE49-F238E27FC236}">
                <a16:creationId xmlns:a16="http://schemas.microsoft.com/office/drawing/2014/main" id="{1B0DDCD3-6791-4162-B2E3-02309B4751FF}"/>
              </a:ext>
            </a:extLst>
          </p:cNvPr>
          <p:cNvSpPr>
            <a:spLocks noGrp="1"/>
          </p:cNvSpPr>
          <p:nvPr/>
        </p:nvSpPr>
        <p:spPr>
          <a:xfrm>
            <a:off x="2819400" y="217170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dirty="0">
                <a:latin typeface="Times New Roman"/>
                <a:ea typeface="Times New Roman"/>
                <a:cs typeface="Times New Roman"/>
              </a:rPr>
              <a:t>12、14、18、NA，</a:t>
            </a:r>
            <a:r>
              <a:rPr dirty="0">
                <a:latin typeface="黑体"/>
                <a:ea typeface="黑体"/>
                <a:cs typeface="黑体"/>
              </a:rPr>
              <a:t>中位数 </a:t>
            </a:r>
            <a:r>
              <a:rPr dirty="0">
                <a:latin typeface="Times New Roman"/>
                <a:ea typeface="Times New Roman"/>
                <a:cs typeface="Times New Roman"/>
              </a:rPr>
              <a:t>= </a:t>
            </a:r>
            <a:r>
              <a:rPr lang="en-US" altLang="zh-CN" dirty="0">
                <a:latin typeface="Times New Roman"/>
                <a:ea typeface="Times New Roman"/>
                <a:cs typeface="Times New Roman"/>
              </a:rPr>
              <a:t>16</a:t>
            </a:r>
            <a:endParaRPr dirty="0">
              <a:latin typeface="Times New Roman"/>
              <a:ea typeface="Times New Roman"/>
              <a:cs typeface="Times New Roman"/>
            </a:endParaRPr>
          </a:p>
        </p:txBody>
      </p:sp>
      <p:sp>
        <p:nvSpPr>
          <p:cNvPr id="13" name="矩形 12">
            <a:extLst>
              <a:ext uri="{FF2B5EF4-FFF2-40B4-BE49-F238E27FC236}">
                <a16:creationId xmlns:a16="http://schemas.microsoft.com/office/drawing/2014/main" id="{549974DA-79E8-44BF-B1E3-3B7A4F9587E0}"/>
              </a:ext>
            </a:extLst>
          </p:cNvPr>
          <p:cNvSpPr>
            <a:spLocks noGrp="1"/>
          </p:cNvSpPr>
          <p:nvPr/>
        </p:nvSpPr>
        <p:spPr>
          <a:xfrm>
            <a:off x="800100" y="28384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14" name="矩形 13">
            <a:extLst>
              <a:ext uri="{FF2B5EF4-FFF2-40B4-BE49-F238E27FC236}">
                <a16:creationId xmlns:a16="http://schemas.microsoft.com/office/drawing/2014/main" id="{108BECA1-18D1-4ECE-953E-EF94D5B631FA}"/>
              </a:ext>
            </a:extLst>
          </p:cNvPr>
          <p:cNvSpPr>
            <a:spLocks noGrp="1"/>
          </p:cNvSpPr>
          <p:nvPr/>
        </p:nvSpPr>
        <p:spPr>
          <a:xfrm>
            <a:off x="1066800" y="29146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整体中位数</a:t>
            </a:r>
          </a:p>
        </p:txBody>
      </p:sp>
      <p:sp>
        <p:nvSpPr>
          <p:cNvPr id="15" name="矩形 14">
            <a:extLst>
              <a:ext uri="{FF2B5EF4-FFF2-40B4-BE49-F238E27FC236}">
                <a16:creationId xmlns:a16="http://schemas.microsoft.com/office/drawing/2014/main" id="{1E9622DB-CA10-4ADA-B6D8-71D21D33B124}"/>
              </a:ext>
            </a:extLst>
          </p:cNvPr>
          <p:cNvSpPr>
            <a:spLocks noGrp="1"/>
          </p:cNvSpPr>
          <p:nvPr/>
        </p:nvSpPr>
        <p:spPr>
          <a:xfrm>
            <a:off x="2819400" y="29146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dirty="0">
                <a:latin typeface="Times New Roman"/>
                <a:ea typeface="Times New Roman"/>
                <a:cs typeface="Times New Roman"/>
              </a:rPr>
              <a:t>(6 + 12) / 2 = 9</a:t>
            </a:r>
          </a:p>
        </p:txBody>
      </p:sp>
      <p:sp>
        <p:nvSpPr>
          <p:cNvPr id="16" name="矩形 15">
            <a:extLst>
              <a:ext uri="{FF2B5EF4-FFF2-40B4-BE49-F238E27FC236}">
                <a16:creationId xmlns:a16="http://schemas.microsoft.com/office/drawing/2014/main" id="{907FB771-725D-4274-B4CC-4F7E7178D91D}"/>
              </a:ext>
            </a:extLst>
          </p:cNvPr>
          <p:cNvSpPr>
            <a:spLocks noGrp="1"/>
          </p:cNvSpPr>
          <p:nvPr/>
        </p:nvSpPr>
        <p:spPr>
          <a:xfrm>
            <a:off x="800100" y="3581400"/>
            <a:ext cx="10382250" cy="590550"/>
          </a:xfrm>
          <a:prstGeom prst="rect">
            <a:avLst/>
          </a:prstGeom>
          <a:solidFill>
            <a:srgbClr val="FFFFFF"/>
          </a:solidFill>
          <a:ln w="9525">
            <a:solidFill>
              <a:srgbClr val="EEF2F7"/>
            </a:solidFill>
            <a:prstDash val="solid"/>
          </a:ln>
        </p:spPr>
        <p:txBody>
          <a:bodyPr/>
          <a:lstStyle/>
          <a:p>
            <a:endParaRPr lang="zh-CN" altLang="en-US"/>
          </a:p>
        </p:txBody>
      </p:sp>
      <p:sp>
        <p:nvSpPr>
          <p:cNvPr id="17" name="矩形 16">
            <a:extLst>
              <a:ext uri="{FF2B5EF4-FFF2-40B4-BE49-F238E27FC236}">
                <a16:creationId xmlns:a16="http://schemas.microsoft.com/office/drawing/2014/main" id="{116F6A19-A6AB-4152-B5D7-E13937DE212D}"/>
              </a:ext>
            </a:extLst>
          </p:cNvPr>
          <p:cNvSpPr>
            <a:spLocks noGrp="1"/>
          </p:cNvSpPr>
          <p:nvPr/>
        </p:nvSpPr>
        <p:spPr>
          <a:xfrm>
            <a:off x="1066800" y="365760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比较</a:t>
            </a:r>
          </a:p>
        </p:txBody>
      </p:sp>
      <p:sp>
        <p:nvSpPr>
          <p:cNvPr id="18" name="矩形 17">
            <a:extLst>
              <a:ext uri="{FF2B5EF4-FFF2-40B4-BE49-F238E27FC236}">
                <a16:creationId xmlns:a16="http://schemas.microsoft.com/office/drawing/2014/main" id="{48DD5E2D-84AD-4EB5-93AE-52A7799656B6}"/>
              </a:ext>
            </a:extLst>
          </p:cNvPr>
          <p:cNvSpPr>
            <a:spLocks noGrp="1"/>
          </p:cNvSpPr>
          <p:nvPr/>
        </p:nvSpPr>
        <p:spPr>
          <a:xfrm>
            <a:off x="2819400" y="365760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黑体"/>
                <a:ea typeface="黑体"/>
                <a:cs typeface="黑体"/>
              </a:rPr>
              <a:t>整体填补会把 </a:t>
            </a:r>
            <a:r>
              <a:rPr>
                <a:latin typeface="Times New Roman"/>
                <a:ea typeface="Times New Roman"/>
                <a:cs typeface="Times New Roman"/>
              </a:rPr>
              <a:t>A </a:t>
            </a:r>
            <a:r>
              <a:rPr>
                <a:latin typeface="黑体"/>
                <a:ea typeface="黑体"/>
                <a:cs typeface="黑体"/>
              </a:rPr>
              <a:t>的低活跃学生抬高，把 </a:t>
            </a:r>
            <a:r>
              <a:rPr>
                <a:latin typeface="Times New Roman"/>
                <a:ea typeface="Times New Roman"/>
                <a:cs typeface="Times New Roman"/>
              </a:rPr>
              <a:t>B </a:t>
            </a:r>
            <a:r>
              <a:rPr>
                <a:latin typeface="黑体"/>
                <a:ea typeface="黑体"/>
                <a:cs typeface="黑体"/>
              </a:rPr>
              <a:t>的高活跃学生压低</a:t>
            </a:r>
          </a:p>
        </p:txBody>
      </p:sp>
      <p:sp>
        <p:nvSpPr>
          <p:cNvPr id="19" name="矩形 18">
            <a:extLst>
              <a:ext uri="{FF2B5EF4-FFF2-40B4-BE49-F238E27FC236}">
                <a16:creationId xmlns:a16="http://schemas.microsoft.com/office/drawing/2014/main" id="{C0FB57D8-AEA0-44AB-B11D-C6517A0769B2}"/>
              </a:ext>
            </a:extLst>
          </p:cNvPr>
          <p:cNvSpPr>
            <a:spLocks noGrp="1"/>
          </p:cNvSpPr>
          <p:nvPr/>
        </p:nvSpPr>
        <p:spPr>
          <a:xfrm>
            <a:off x="800100" y="43243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20" name="矩形 19">
            <a:extLst>
              <a:ext uri="{FF2B5EF4-FFF2-40B4-BE49-F238E27FC236}">
                <a16:creationId xmlns:a16="http://schemas.microsoft.com/office/drawing/2014/main" id="{FAFFA703-8B58-4087-A95D-AA8BC1C1DA4C}"/>
              </a:ext>
            </a:extLst>
          </p:cNvPr>
          <p:cNvSpPr>
            <a:spLocks noGrp="1"/>
          </p:cNvSpPr>
          <p:nvPr/>
        </p:nvSpPr>
        <p:spPr>
          <a:xfrm>
            <a:off x="1066800" y="44005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处理</a:t>
            </a:r>
          </a:p>
        </p:txBody>
      </p:sp>
      <p:sp>
        <p:nvSpPr>
          <p:cNvPr id="21" name="矩形 20">
            <a:extLst>
              <a:ext uri="{FF2B5EF4-FFF2-40B4-BE49-F238E27FC236}">
                <a16:creationId xmlns:a16="http://schemas.microsoft.com/office/drawing/2014/main" id="{95399456-9F8C-430D-B725-2CD6A7C82508}"/>
              </a:ext>
            </a:extLst>
          </p:cNvPr>
          <p:cNvSpPr>
            <a:spLocks noGrp="1"/>
          </p:cNvSpPr>
          <p:nvPr/>
        </p:nvSpPr>
        <p:spPr>
          <a:xfrm>
            <a:off x="2819400" y="44005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黑体"/>
                <a:ea typeface="黑体"/>
                <a:cs typeface="黑体"/>
              </a:rPr>
              <a:t>在训练集内按课程计算中位数，并保存每组参数</a:t>
            </a:r>
          </a:p>
        </p:txBody>
      </p:sp>
      <p:sp>
        <p:nvSpPr>
          <p:cNvPr id="22" name="矩形 21">
            <a:extLst>
              <a:ext uri="{FF2B5EF4-FFF2-40B4-BE49-F238E27FC236}">
                <a16:creationId xmlns:a16="http://schemas.microsoft.com/office/drawing/2014/main" id="{18BF2EDA-1CF9-4A90-A59F-2ADED3F79942}"/>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3" name="矩形 22">
            <a:extLst>
              <a:ext uri="{FF2B5EF4-FFF2-40B4-BE49-F238E27FC236}">
                <a16:creationId xmlns:a16="http://schemas.microsoft.com/office/drawing/2014/main" id="{BEEC1CBD-C9B4-42C5-8808-E7D698140D3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分组填补可以保留结构，但参数仍只能从训练数据估计。</a:t>
            </a:r>
          </a:p>
        </p:txBody>
      </p:sp>
    </p:spTree>
    <p:extLst>
      <p:ext uri="{BB962C8B-B14F-4D97-AF65-F5344CB8AC3E}">
        <p14:creationId xmlns:p14="http://schemas.microsoft.com/office/powerpoint/2010/main" val="4680336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615C2245-8A70-4EE3-98C3-2A9DFDBD6A8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2BFCA87E-DD42-4410-839D-0506BD7FC14F}"/>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180E5BC7-8FE6-4257-82C5-D2E98CBFC3F1}"/>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F7A85895-6D8D-4E10-8507-CFD6340C1A6E}"/>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缺失指示变量保留行为信号</a:t>
            </a:r>
          </a:p>
        </p:txBody>
      </p:sp>
      <p:sp>
        <p:nvSpPr>
          <p:cNvPr id="5" name="矩形 4">
            <a:extLst>
              <a:ext uri="{FF2B5EF4-FFF2-40B4-BE49-F238E27FC236}">
                <a16:creationId xmlns:a16="http://schemas.microsoft.com/office/drawing/2014/main" id="{8BA1D507-7865-4CE8-AA22-B211A8ACF6C1}"/>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47/90</a:t>
            </a:r>
          </a:p>
        </p:txBody>
      </p:sp>
      <p:sp>
        <p:nvSpPr>
          <p:cNvPr id="6" name="矩形 5">
            <a:extLst>
              <a:ext uri="{FF2B5EF4-FFF2-40B4-BE49-F238E27FC236}">
                <a16:creationId xmlns:a16="http://schemas.microsoft.com/office/drawing/2014/main" id="{AAA99AF7-C589-4CBA-AC95-20D6137DD55C}"/>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5AC9B1ED-2456-4AF5-8448-7C0A0DA7A8FE}"/>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3B75A016-5E3E-46B0-93DF-FF70CF3902C3}"/>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数值输入</a:t>
            </a:r>
          </a:p>
        </p:txBody>
      </p:sp>
      <p:sp>
        <p:nvSpPr>
          <p:cNvPr id="9" name="矩形 8">
            <a:extLst>
              <a:ext uri="{FF2B5EF4-FFF2-40B4-BE49-F238E27FC236}">
                <a16:creationId xmlns:a16="http://schemas.microsoft.com/office/drawing/2014/main" id="{59BCB043-DB5D-453C-8A70-BEA10686FCA1}"/>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E6140536-0710-4610-B026-0825D0733B1F}"/>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Times New Roman"/>
                <a:ea typeface="Times New Roman"/>
                <a:cs typeface="Times New Roman"/>
              </a:rPr>
              <a:t>quiz_score = NA</a:t>
            </a:r>
          </a:p>
        </p:txBody>
      </p:sp>
      <p:sp>
        <p:nvSpPr>
          <p:cNvPr id="11" name="矩形 10">
            <a:extLst>
              <a:ext uri="{FF2B5EF4-FFF2-40B4-BE49-F238E27FC236}">
                <a16:creationId xmlns:a16="http://schemas.microsoft.com/office/drawing/2014/main" id="{8CE9934F-463B-4ADA-8C6A-CFC02B75E20E}"/>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BC3A19A4-6986-4319-9157-C7D77FA593FC}"/>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中位数填补为 </a:t>
            </a:r>
            <a:r>
              <a:rPr>
                <a:latin typeface="Times New Roman"/>
                <a:ea typeface="Times New Roman"/>
                <a:cs typeface="Times New Roman"/>
              </a:rPr>
              <a:t>72</a:t>
            </a:r>
          </a:p>
        </p:txBody>
      </p:sp>
      <p:sp>
        <p:nvSpPr>
          <p:cNvPr id="13" name="矩形 12">
            <a:extLst>
              <a:ext uri="{FF2B5EF4-FFF2-40B4-BE49-F238E27FC236}">
                <a16:creationId xmlns:a16="http://schemas.microsoft.com/office/drawing/2014/main" id="{632B3299-34DE-4620-960F-14BED87CDFF4}"/>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B5768FC4-48C9-45E6-B5E9-449DB4EAB452}"/>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模型获得可计算的数值</a:t>
            </a:r>
          </a:p>
        </p:txBody>
      </p:sp>
      <p:sp>
        <p:nvSpPr>
          <p:cNvPr id="15" name="矩形 14">
            <a:extLst>
              <a:ext uri="{FF2B5EF4-FFF2-40B4-BE49-F238E27FC236}">
                <a16:creationId xmlns:a16="http://schemas.microsoft.com/office/drawing/2014/main" id="{531FE1D1-942D-48E8-AC6A-4F208313E9CA}"/>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33F938C7-F084-48CD-9260-F87282D75D63}"/>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但不知道原值曾经缺失</a:t>
            </a:r>
          </a:p>
        </p:txBody>
      </p:sp>
      <p:sp>
        <p:nvSpPr>
          <p:cNvPr id="17" name="矩形 16">
            <a:extLst>
              <a:ext uri="{FF2B5EF4-FFF2-40B4-BE49-F238E27FC236}">
                <a16:creationId xmlns:a16="http://schemas.microsoft.com/office/drawing/2014/main" id="{EB0E7686-62E1-4203-9E68-66CED8FE6B57}"/>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11F68EE4-6AFD-4EE7-AD96-9A7B26A32269}"/>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062A1F7A-B075-47D1-9C95-E19C5B62F405}"/>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黑体"/>
                <a:ea typeface="黑体"/>
                <a:cs typeface="黑体"/>
              </a:rPr>
              <a:t>缺失指示</a:t>
            </a:r>
          </a:p>
        </p:txBody>
      </p:sp>
      <p:sp>
        <p:nvSpPr>
          <p:cNvPr id="20" name="矩形 19">
            <a:extLst>
              <a:ext uri="{FF2B5EF4-FFF2-40B4-BE49-F238E27FC236}">
                <a16:creationId xmlns:a16="http://schemas.microsoft.com/office/drawing/2014/main" id="{5A7C54FD-7661-4933-8978-78781DA66279}"/>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FF8F6A47-8777-4719-B09A-B24269B359C0}"/>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Times New Roman"/>
                <a:ea typeface="Times New Roman"/>
                <a:cs typeface="Times New Roman"/>
              </a:rPr>
              <a:t>quiz_score_missing = 1</a:t>
            </a:r>
          </a:p>
        </p:txBody>
      </p:sp>
      <p:sp>
        <p:nvSpPr>
          <p:cNvPr id="22" name="矩形 21">
            <a:extLst>
              <a:ext uri="{FF2B5EF4-FFF2-40B4-BE49-F238E27FC236}">
                <a16:creationId xmlns:a16="http://schemas.microsoft.com/office/drawing/2014/main" id="{C0217303-29FA-4664-BF61-953B69A65669}"/>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B2786A27-B675-4631-9034-2148363BA514}"/>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显式记录未参加或未同步</a:t>
            </a:r>
          </a:p>
        </p:txBody>
      </p:sp>
      <p:sp>
        <p:nvSpPr>
          <p:cNvPr id="24" name="矩形 23">
            <a:extLst>
              <a:ext uri="{FF2B5EF4-FFF2-40B4-BE49-F238E27FC236}">
                <a16:creationId xmlns:a16="http://schemas.microsoft.com/office/drawing/2014/main" id="{701E9D5F-1222-4AF7-B11E-F000CA25953F}"/>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EC45BAFD-8A99-4CD3-99FD-8197D02204A2}"/>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与填补值一起进入模型</a:t>
            </a:r>
          </a:p>
        </p:txBody>
      </p:sp>
      <p:sp>
        <p:nvSpPr>
          <p:cNvPr id="26" name="矩形 25">
            <a:extLst>
              <a:ext uri="{FF2B5EF4-FFF2-40B4-BE49-F238E27FC236}">
                <a16:creationId xmlns:a16="http://schemas.microsoft.com/office/drawing/2014/main" id="{7FB59F71-16BD-4296-BB90-3CAE612F6E9E}"/>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50106E88-21F2-4C83-8722-749CAB6C808D}"/>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可检验缺失本身是否有预测力</a:t>
            </a:r>
          </a:p>
        </p:txBody>
      </p:sp>
      <p:sp>
        <p:nvSpPr>
          <p:cNvPr id="28" name="矩形 27">
            <a:extLst>
              <a:ext uri="{FF2B5EF4-FFF2-40B4-BE49-F238E27FC236}">
                <a16:creationId xmlns:a16="http://schemas.microsoft.com/office/drawing/2014/main" id="{EB92C5F2-7D15-4B84-9634-27920527BA2E}"/>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651B878A-04C3-4F5B-A39C-8772F40A76F0}"/>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填补值与缺失指示解决的是两个不同问题。</a:t>
            </a:r>
          </a:p>
        </p:txBody>
      </p:sp>
    </p:spTree>
    <p:extLst>
      <p:ext uri="{BB962C8B-B14F-4D97-AF65-F5344CB8AC3E}">
        <p14:creationId xmlns:p14="http://schemas.microsoft.com/office/powerpoint/2010/main" val="445150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a:extLst>
              <a:ext uri="{FF2B5EF4-FFF2-40B4-BE49-F238E27FC236}">
                <a16:creationId xmlns:a16="http://schemas.microsoft.com/office/drawing/2014/main" id="{79E54FB5-66A4-40A3-9C53-1BD6A8C1D7BD}"/>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A064D2D1-D726-495A-A8A3-50B1374136A8}"/>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29218330-3DF9-4D56-9D32-CB2983B8256D}"/>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9509D474-BC0C-42A5-88C7-13077BD0AEBB}"/>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类别变量必须编码，但不能制造虚假顺序</a:t>
            </a:r>
          </a:p>
        </p:txBody>
      </p:sp>
      <p:sp>
        <p:nvSpPr>
          <p:cNvPr id="5" name="矩形 4">
            <a:extLst>
              <a:ext uri="{FF2B5EF4-FFF2-40B4-BE49-F238E27FC236}">
                <a16:creationId xmlns:a16="http://schemas.microsoft.com/office/drawing/2014/main" id="{4A298ED0-6852-4B35-87DE-C71925294B46}"/>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48/90</a:t>
            </a:r>
          </a:p>
        </p:txBody>
      </p:sp>
      <p:sp>
        <p:nvSpPr>
          <p:cNvPr id="6" name="矩形 5">
            <a:extLst>
              <a:ext uri="{FF2B5EF4-FFF2-40B4-BE49-F238E27FC236}">
                <a16:creationId xmlns:a16="http://schemas.microsoft.com/office/drawing/2014/main" id="{4135ED4E-DBEF-4FEA-A1A5-9914B941A5E7}"/>
              </a:ext>
            </a:extLst>
          </p:cNvPr>
          <p:cNvSpPr>
            <a:spLocks noGrp="1"/>
          </p:cNvSpPr>
          <p:nvPr/>
        </p:nvSpPr>
        <p:spPr>
          <a:xfrm>
            <a:off x="647700" y="1276350"/>
            <a:ext cx="3333750" cy="39624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0484390B-1BC8-4235-9C2C-323D73B08529}"/>
              </a:ext>
            </a:extLst>
          </p:cNvPr>
          <p:cNvSpPr>
            <a:spLocks noGrp="1"/>
          </p:cNvSpPr>
          <p:nvPr/>
        </p:nvSpPr>
        <p:spPr>
          <a:xfrm>
            <a:off x="647700" y="1276350"/>
            <a:ext cx="333375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AF0BC19B-83BA-48ED-86DE-AFB1DFD54858}"/>
              </a:ext>
            </a:extLst>
          </p:cNvPr>
          <p:cNvSpPr>
            <a:spLocks noGrp="1"/>
          </p:cNvSpPr>
          <p:nvPr/>
        </p:nvSpPr>
        <p:spPr>
          <a:xfrm>
            <a:off x="819150" y="1524000"/>
            <a:ext cx="29908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14DA1"/>
                </a:solidFill>
                <a:latin typeface="黑体"/>
                <a:ea typeface="黑体"/>
                <a:cs typeface="黑体"/>
              </a:defRPr>
            </a:pPr>
            <a:r>
              <a:rPr>
                <a:latin typeface="黑体"/>
                <a:ea typeface="黑体"/>
                <a:cs typeface="黑体"/>
              </a:rPr>
              <a:t>原始类别</a:t>
            </a:r>
          </a:p>
        </p:txBody>
      </p:sp>
      <p:sp>
        <p:nvSpPr>
          <p:cNvPr id="9" name="矩形 8">
            <a:extLst>
              <a:ext uri="{FF2B5EF4-FFF2-40B4-BE49-F238E27FC236}">
                <a16:creationId xmlns:a16="http://schemas.microsoft.com/office/drawing/2014/main" id="{4589140E-0FE6-498F-8E55-7D5319A3868A}"/>
              </a:ext>
            </a:extLst>
          </p:cNvPr>
          <p:cNvSpPr>
            <a:spLocks noGrp="1"/>
          </p:cNvSpPr>
          <p:nvPr/>
        </p:nvSpPr>
        <p:spPr>
          <a:xfrm>
            <a:off x="4267200" y="1276350"/>
            <a:ext cx="3333750" cy="3962400"/>
          </a:xfrm>
          <a:prstGeom prst="rect">
            <a:avLst/>
          </a:prstGeom>
          <a:solidFill>
            <a:srgbClr val="FFFFFF"/>
          </a:solidFill>
          <a:ln w="9525">
            <a:solidFill>
              <a:srgbClr val="B8C3D1"/>
            </a:solidFill>
            <a:prstDash val="solid"/>
          </a:ln>
        </p:spPr>
        <p:txBody>
          <a:bodyPr/>
          <a:lstStyle/>
          <a:p>
            <a:endParaRPr lang="zh-CN" altLang="en-US"/>
          </a:p>
        </p:txBody>
      </p:sp>
      <p:sp>
        <p:nvSpPr>
          <p:cNvPr id="10" name="矩形 9">
            <a:extLst>
              <a:ext uri="{FF2B5EF4-FFF2-40B4-BE49-F238E27FC236}">
                <a16:creationId xmlns:a16="http://schemas.microsoft.com/office/drawing/2014/main" id="{22C2B783-3372-40F5-A92C-6B7376B3C719}"/>
              </a:ext>
            </a:extLst>
          </p:cNvPr>
          <p:cNvSpPr>
            <a:spLocks noGrp="1"/>
          </p:cNvSpPr>
          <p:nvPr/>
        </p:nvSpPr>
        <p:spPr>
          <a:xfrm>
            <a:off x="4267200" y="1276350"/>
            <a:ext cx="3333750" cy="76200"/>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11" name="矩形 10">
            <a:extLst>
              <a:ext uri="{FF2B5EF4-FFF2-40B4-BE49-F238E27FC236}">
                <a16:creationId xmlns:a16="http://schemas.microsoft.com/office/drawing/2014/main" id="{D15898BA-798C-4CE9-B74F-06D6C98CF349}"/>
              </a:ext>
            </a:extLst>
          </p:cNvPr>
          <p:cNvSpPr>
            <a:spLocks noGrp="1"/>
          </p:cNvSpPr>
          <p:nvPr/>
        </p:nvSpPr>
        <p:spPr>
          <a:xfrm>
            <a:off x="4438650" y="1524000"/>
            <a:ext cx="29908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A33A3A"/>
                </a:solidFill>
                <a:latin typeface="黑体"/>
                <a:ea typeface="黑体"/>
                <a:cs typeface="黑体"/>
              </a:defRPr>
            </a:pPr>
            <a:r>
              <a:rPr>
                <a:latin typeface="黑体"/>
                <a:ea typeface="黑体"/>
                <a:cs typeface="黑体"/>
              </a:rPr>
              <a:t>错误：整数编码</a:t>
            </a:r>
          </a:p>
        </p:txBody>
      </p:sp>
      <p:sp>
        <p:nvSpPr>
          <p:cNvPr id="12" name="矩形 11">
            <a:extLst>
              <a:ext uri="{FF2B5EF4-FFF2-40B4-BE49-F238E27FC236}">
                <a16:creationId xmlns:a16="http://schemas.microsoft.com/office/drawing/2014/main" id="{E80BBFD3-2635-413C-A258-317C1F970565}"/>
              </a:ext>
            </a:extLst>
          </p:cNvPr>
          <p:cNvSpPr>
            <a:spLocks noGrp="1"/>
          </p:cNvSpPr>
          <p:nvPr/>
        </p:nvSpPr>
        <p:spPr>
          <a:xfrm>
            <a:off x="7886700" y="1276350"/>
            <a:ext cx="3333750" cy="3962400"/>
          </a:xfrm>
          <a:prstGeom prst="rect">
            <a:avLst/>
          </a:prstGeom>
          <a:solidFill>
            <a:srgbClr val="FFFFFF"/>
          </a:solidFill>
          <a:ln w="9525">
            <a:solidFill>
              <a:srgbClr val="B8C3D1"/>
            </a:solidFill>
            <a:prstDash val="solid"/>
          </a:ln>
        </p:spPr>
        <p:txBody>
          <a:bodyPr/>
          <a:lstStyle/>
          <a:p>
            <a:endParaRPr lang="zh-CN" altLang="en-US"/>
          </a:p>
        </p:txBody>
      </p:sp>
      <p:sp>
        <p:nvSpPr>
          <p:cNvPr id="13" name="矩形 12">
            <a:extLst>
              <a:ext uri="{FF2B5EF4-FFF2-40B4-BE49-F238E27FC236}">
                <a16:creationId xmlns:a16="http://schemas.microsoft.com/office/drawing/2014/main" id="{AE153903-B53B-475B-BBA0-1C6C1894B820}"/>
              </a:ext>
            </a:extLst>
          </p:cNvPr>
          <p:cNvSpPr>
            <a:spLocks noGrp="1"/>
          </p:cNvSpPr>
          <p:nvPr/>
        </p:nvSpPr>
        <p:spPr>
          <a:xfrm>
            <a:off x="7886700" y="1276350"/>
            <a:ext cx="3333750" cy="7620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6AC2DFAB-63AA-419C-8DD0-B5211EE32984}"/>
              </a:ext>
            </a:extLst>
          </p:cNvPr>
          <p:cNvSpPr>
            <a:spLocks noGrp="1"/>
          </p:cNvSpPr>
          <p:nvPr/>
        </p:nvSpPr>
        <p:spPr>
          <a:xfrm>
            <a:off x="8058150" y="1524000"/>
            <a:ext cx="29908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F7A5D"/>
                </a:solidFill>
                <a:latin typeface="黑体"/>
                <a:ea typeface="黑体"/>
                <a:cs typeface="黑体"/>
              </a:defRPr>
            </a:pPr>
            <a:r>
              <a:rPr>
                <a:latin typeface="Times New Roman"/>
                <a:ea typeface="Times New Roman"/>
                <a:cs typeface="Times New Roman"/>
              </a:rPr>
              <a:t>One-hot encoding</a:t>
            </a:r>
          </a:p>
        </p:txBody>
      </p:sp>
      <p:sp>
        <p:nvSpPr>
          <p:cNvPr id="15" name="矩形 14">
            <a:extLst>
              <a:ext uri="{FF2B5EF4-FFF2-40B4-BE49-F238E27FC236}">
                <a16:creationId xmlns:a16="http://schemas.microsoft.com/office/drawing/2014/main" id="{F297BD27-97DC-4ADD-AF02-56B75F354393}"/>
              </a:ext>
            </a:extLst>
          </p:cNvPr>
          <p:cNvSpPr>
            <a:spLocks noGrp="1"/>
          </p:cNvSpPr>
          <p:nvPr/>
        </p:nvSpPr>
        <p:spPr>
          <a:xfrm>
            <a:off x="1066800" y="2152650"/>
            <a:ext cx="2495550" cy="552450"/>
          </a:xfrm>
          <a:prstGeom prst="rect">
            <a:avLst/>
          </a:prstGeom>
          <a:solidFill>
            <a:srgbClr val="EAF2FF"/>
          </a:solidFill>
          <a:ln w="9525">
            <a:solidFill>
              <a:srgbClr val="B8C3D1"/>
            </a:solidFill>
            <a:prstDash val="solid"/>
          </a:ln>
        </p:spPr>
        <p:txBody>
          <a:bodyPr/>
          <a:lstStyle/>
          <a:p>
            <a:endParaRPr lang="zh-CN" altLang="en-US"/>
          </a:p>
        </p:txBody>
      </p:sp>
      <p:sp>
        <p:nvSpPr>
          <p:cNvPr id="16" name="矩形 15">
            <a:extLst>
              <a:ext uri="{FF2B5EF4-FFF2-40B4-BE49-F238E27FC236}">
                <a16:creationId xmlns:a16="http://schemas.microsoft.com/office/drawing/2014/main" id="{6262815C-5DBA-48F2-95FB-67B17392019D}"/>
              </a:ext>
            </a:extLst>
          </p:cNvPr>
          <p:cNvSpPr>
            <a:spLocks noGrp="1"/>
          </p:cNvSpPr>
          <p:nvPr/>
        </p:nvSpPr>
        <p:spPr>
          <a:xfrm>
            <a:off x="1219200" y="230505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AI</a:t>
            </a:r>
          </a:p>
        </p:txBody>
      </p:sp>
      <p:sp>
        <p:nvSpPr>
          <p:cNvPr id="17" name="矩形 16">
            <a:extLst>
              <a:ext uri="{FF2B5EF4-FFF2-40B4-BE49-F238E27FC236}">
                <a16:creationId xmlns:a16="http://schemas.microsoft.com/office/drawing/2014/main" id="{9D8667F4-D4B5-4AE8-A0D9-9BE085DC7944}"/>
              </a:ext>
            </a:extLst>
          </p:cNvPr>
          <p:cNvSpPr>
            <a:spLocks noGrp="1"/>
          </p:cNvSpPr>
          <p:nvPr/>
        </p:nvSpPr>
        <p:spPr>
          <a:xfrm>
            <a:off x="4686300" y="2152650"/>
            <a:ext cx="2495550" cy="552450"/>
          </a:xfrm>
          <a:prstGeom prst="rect">
            <a:avLst/>
          </a:prstGeom>
          <a:solidFill>
            <a:srgbClr val="FFF5F5"/>
          </a:solidFill>
          <a:ln w="9525">
            <a:solidFill>
              <a:srgbClr val="D4B4B4"/>
            </a:solidFill>
            <a:prstDash val="solid"/>
          </a:ln>
        </p:spPr>
        <p:txBody>
          <a:bodyPr/>
          <a:lstStyle/>
          <a:p>
            <a:endParaRPr lang="zh-CN" altLang="en-US"/>
          </a:p>
        </p:txBody>
      </p:sp>
      <p:sp>
        <p:nvSpPr>
          <p:cNvPr id="18" name="矩形 17">
            <a:extLst>
              <a:ext uri="{FF2B5EF4-FFF2-40B4-BE49-F238E27FC236}">
                <a16:creationId xmlns:a16="http://schemas.microsoft.com/office/drawing/2014/main" id="{89D8A752-9AC6-4289-9D43-F4DA39BE0421}"/>
              </a:ext>
            </a:extLst>
          </p:cNvPr>
          <p:cNvSpPr>
            <a:spLocks noGrp="1"/>
          </p:cNvSpPr>
          <p:nvPr/>
        </p:nvSpPr>
        <p:spPr>
          <a:xfrm>
            <a:off x="4838700" y="230505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A33A3A"/>
                </a:solidFill>
                <a:latin typeface="黑体"/>
                <a:ea typeface="黑体"/>
                <a:cs typeface="黑体"/>
              </a:defRPr>
            </a:pPr>
            <a:r>
              <a:rPr>
                <a:latin typeface="Times New Roman"/>
                <a:ea typeface="Times New Roman"/>
                <a:cs typeface="Times New Roman"/>
              </a:rPr>
              <a:t>1</a:t>
            </a:r>
          </a:p>
        </p:txBody>
      </p:sp>
      <p:sp>
        <p:nvSpPr>
          <p:cNvPr id="19" name="矩形 18">
            <a:extLst>
              <a:ext uri="{FF2B5EF4-FFF2-40B4-BE49-F238E27FC236}">
                <a16:creationId xmlns:a16="http://schemas.microsoft.com/office/drawing/2014/main" id="{A19CA350-B83E-44DF-9C13-2938B228074C}"/>
              </a:ext>
            </a:extLst>
          </p:cNvPr>
          <p:cNvSpPr>
            <a:spLocks noGrp="1"/>
          </p:cNvSpPr>
          <p:nvPr/>
        </p:nvSpPr>
        <p:spPr>
          <a:xfrm>
            <a:off x="1066800" y="2971800"/>
            <a:ext cx="2495550" cy="552450"/>
          </a:xfrm>
          <a:prstGeom prst="rect">
            <a:avLst/>
          </a:prstGeom>
          <a:solidFill>
            <a:srgbClr val="F7FAFF"/>
          </a:solidFill>
          <a:ln w="9525">
            <a:solidFill>
              <a:srgbClr val="B8C3D1"/>
            </a:solidFill>
            <a:prstDash val="solid"/>
          </a:ln>
        </p:spPr>
        <p:txBody>
          <a:bodyPr/>
          <a:lstStyle/>
          <a:p>
            <a:endParaRPr lang="zh-CN" altLang="en-US"/>
          </a:p>
        </p:txBody>
      </p:sp>
      <p:sp>
        <p:nvSpPr>
          <p:cNvPr id="20" name="矩形 19">
            <a:extLst>
              <a:ext uri="{FF2B5EF4-FFF2-40B4-BE49-F238E27FC236}">
                <a16:creationId xmlns:a16="http://schemas.microsoft.com/office/drawing/2014/main" id="{5B4E6122-C50C-4D4F-81E9-9BE4F5F85CCB}"/>
              </a:ext>
            </a:extLst>
          </p:cNvPr>
          <p:cNvSpPr>
            <a:spLocks noGrp="1"/>
          </p:cNvSpPr>
          <p:nvPr/>
        </p:nvSpPr>
        <p:spPr>
          <a:xfrm>
            <a:off x="1219200" y="312420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Education</a:t>
            </a:r>
          </a:p>
        </p:txBody>
      </p:sp>
      <p:sp>
        <p:nvSpPr>
          <p:cNvPr id="21" name="矩形 20">
            <a:extLst>
              <a:ext uri="{FF2B5EF4-FFF2-40B4-BE49-F238E27FC236}">
                <a16:creationId xmlns:a16="http://schemas.microsoft.com/office/drawing/2014/main" id="{CE0AD453-EA4B-44EF-A5D1-3C7DAEC8F522}"/>
              </a:ext>
            </a:extLst>
          </p:cNvPr>
          <p:cNvSpPr>
            <a:spLocks noGrp="1"/>
          </p:cNvSpPr>
          <p:nvPr/>
        </p:nvSpPr>
        <p:spPr>
          <a:xfrm>
            <a:off x="4686300" y="2971800"/>
            <a:ext cx="2495550" cy="552450"/>
          </a:xfrm>
          <a:prstGeom prst="rect">
            <a:avLst/>
          </a:prstGeom>
          <a:solidFill>
            <a:srgbClr val="FFF5F5"/>
          </a:solidFill>
          <a:ln w="9525">
            <a:solidFill>
              <a:srgbClr val="D4B4B4"/>
            </a:solidFill>
            <a:prstDash val="solid"/>
          </a:ln>
        </p:spPr>
        <p:txBody>
          <a:bodyPr/>
          <a:lstStyle/>
          <a:p>
            <a:endParaRPr lang="zh-CN" altLang="en-US"/>
          </a:p>
        </p:txBody>
      </p:sp>
      <p:sp>
        <p:nvSpPr>
          <p:cNvPr id="22" name="矩形 21">
            <a:extLst>
              <a:ext uri="{FF2B5EF4-FFF2-40B4-BE49-F238E27FC236}">
                <a16:creationId xmlns:a16="http://schemas.microsoft.com/office/drawing/2014/main" id="{8BAA1D8F-9773-46CE-9482-F0AC2CAFE8E2}"/>
              </a:ext>
            </a:extLst>
          </p:cNvPr>
          <p:cNvSpPr>
            <a:spLocks noGrp="1"/>
          </p:cNvSpPr>
          <p:nvPr/>
        </p:nvSpPr>
        <p:spPr>
          <a:xfrm>
            <a:off x="4838700" y="312420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A33A3A"/>
                </a:solidFill>
                <a:latin typeface="黑体"/>
                <a:ea typeface="黑体"/>
                <a:cs typeface="黑体"/>
              </a:defRPr>
            </a:pPr>
            <a:r>
              <a:rPr>
                <a:latin typeface="Times New Roman"/>
                <a:ea typeface="Times New Roman"/>
                <a:cs typeface="Times New Roman"/>
              </a:rPr>
              <a:t>2</a:t>
            </a:r>
          </a:p>
        </p:txBody>
      </p:sp>
      <p:sp>
        <p:nvSpPr>
          <p:cNvPr id="23" name="矩形 22">
            <a:extLst>
              <a:ext uri="{FF2B5EF4-FFF2-40B4-BE49-F238E27FC236}">
                <a16:creationId xmlns:a16="http://schemas.microsoft.com/office/drawing/2014/main" id="{D815F7D6-6B79-4F0F-B3F4-15A46922D78E}"/>
              </a:ext>
            </a:extLst>
          </p:cNvPr>
          <p:cNvSpPr>
            <a:spLocks noGrp="1"/>
          </p:cNvSpPr>
          <p:nvPr/>
        </p:nvSpPr>
        <p:spPr>
          <a:xfrm>
            <a:off x="1066800" y="3790950"/>
            <a:ext cx="2495550" cy="552450"/>
          </a:xfrm>
          <a:prstGeom prst="rect">
            <a:avLst/>
          </a:prstGeom>
          <a:solidFill>
            <a:srgbClr val="EAF2FF"/>
          </a:solidFill>
          <a:ln w="9525">
            <a:solidFill>
              <a:srgbClr val="B8C3D1"/>
            </a:solidFill>
            <a:prstDash val="solid"/>
          </a:ln>
        </p:spPr>
        <p:txBody>
          <a:bodyPr/>
          <a:lstStyle/>
          <a:p>
            <a:endParaRPr lang="zh-CN" altLang="en-US"/>
          </a:p>
        </p:txBody>
      </p:sp>
      <p:sp>
        <p:nvSpPr>
          <p:cNvPr id="24" name="矩形 23">
            <a:extLst>
              <a:ext uri="{FF2B5EF4-FFF2-40B4-BE49-F238E27FC236}">
                <a16:creationId xmlns:a16="http://schemas.microsoft.com/office/drawing/2014/main" id="{6123F54A-742C-4D8C-B0A7-181B7B2F73DD}"/>
              </a:ext>
            </a:extLst>
          </p:cNvPr>
          <p:cNvSpPr>
            <a:spLocks noGrp="1"/>
          </p:cNvSpPr>
          <p:nvPr/>
        </p:nvSpPr>
        <p:spPr>
          <a:xfrm>
            <a:off x="1219200" y="394335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Psychology</a:t>
            </a:r>
          </a:p>
        </p:txBody>
      </p:sp>
      <p:sp>
        <p:nvSpPr>
          <p:cNvPr id="25" name="矩形 24">
            <a:extLst>
              <a:ext uri="{FF2B5EF4-FFF2-40B4-BE49-F238E27FC236}">
                <a16:creationId xmlns:a16="http://schemas.microsoft.com/office/drawing/2014/main" id="{5E13EDC1-73E1-41A8-8768-E77ABB089DF9}"/>
              </a:ext>
            </a:extLst>
          </p:cNvPr>
          <p:cNvSpPr>
            <a:spLocks noGrp="1"/>
          </p:cNvSpPr>
          <p:nvPr/>
        </p:nvSpPr>
        <p:spPr>
          <a:xfrm>
            <a:off x="4686300" y="3790950"/>
            <a:ext cx="2495550" cy="552450"/>
          </a:xfrm>
          <a:prstGeom prst="rect">
            <a:avLst/>
          </a:prstGeom>
          <a:solidFill>
            <a:srgbClr val="FFF5F5"/>
          </a:solidFill>
          <a:ln w="9525">
            <a:solidFill>
              <a:srgbClr val="D4B4B4"/>
            </a:solidFill>
            <a:prstDash val="solid"/>
          </a:ln>
        </p:spPr>
        <p:txBody>
          <a:bodyPr/>
          <a:lstStyle/>
          <a:p>
            <a:endParaRPr lang="zh-CN" altLang="en-US"/>
          </a:p>
        </p:txBody>
      </p:sp>
      <p:sp>
        <p:nvSpPr>
          <p:cNvPr id="26" name="矩形 25">
            <a:extLst>
              <a:ext uri="{FF2B5EF4-FFF2-40B4-BE49-F238E27FC236}">
                <a16:creationId xmlns:a16="http://schemas.microsoft.com/office/drawing/2014/main" id="{5AA59279-5C10-4D6A-AE44-4F70E1737040}"/>
              </a:ext>
            </a:extLst>
          </p:cNvPr>
          <p:cNvSpPr>
            <a:spLocks noGrp="1"/>
          </p:cNvSpPr>
          <p:nvPr/>
        </p:nvSpPr>
        <p:spPr>
          <a:xfrm>
            <a:off x="4838700" y="3943350"/>
            <a:ext cx="2190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A33A3A"/>
                </a:solidFill>
                <a:latin typeface="黑体"/>
                <a:ea typeface="黑体"/>
                <a:cs typeface="黑体"/>
              </a:defRPr>
            </a:pPr>
            <a:r>
              <a:rPr>
                <a:latin typeface="Times New Roman"/>
                <a:ea typeface="Times New Roman"/>
                <a:cs typeface="Times New Roman"/>
              </a:rPr>
              <a:t>3</a:t>
            </a:r>
          </a:p>
        </p:txBody>
      </p:sp>
      <p:sp>
        <p:nvSpPr>
          <p:cNvPr id="27" name="矩形 26">
            <a:extLst>
              <a:ext uri="{FF2B5EF4-FFF2-40B4-BE49-F238E27FC236}">
                <a16:creationId xmlns:a16="http://schemas.microsoft.com/office/drawing/2014/main" id="{3264AF08-416C-4897-8717-90D2BFEDB44E}"/>
              </a:ext>
            </a:extLst>
          </p:cNvPr>
          <p:cNvSpPr>
            <a:spLocks noGrp="1"/>
          </p:cNvSpPr>
          <p:nvPr/>
        </p:nvSpPr>
        <p:spPr>
          <a:xfrm>
            <a:off x="4629150" y="4514850"/>
            <a:ext cx="2609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A33A3A"/>
                </a:solidFill>
                <a:latin typeface="黑体"/>
                <a:ea typeface="黑体"/>
                <a:cs typeface="黑体"/>
              </a:defRPr>
            </a:pPr>
            <a:r>
              <a:rPr>
                <a:latin typeface="黑体"/>
                <a:ea typeface="黑体"/>
                <a:cs typeface="黑体"/>
              </a:rPr>
              <a:t>制造了 </a:t>
            </a:r>
            <a:r>
              <a:rPr>
                <a:latin typeface="Times New Roman"/>
                <a:ea typeface="Times New Roman"/>
                <a:cs typeface="Times New Roman"/>
              </a:rPr>
              <a:t>1 &lt; 2 &lt; 3 </a:t>
            </a:r>
            <a:r>
              <a:rPr>
                <a:latin typeface="黑体"/>
                <a:ea typeface="黑体"/>
                <a:cs typeface="黑体"/>
              </a:rPr>
              <a:t>的虚假顺序</a:t>
            </a:r>
          </a:p>
        </p:txBody>
      </p:sp>
      <p:sp>
        <p:nvSpPr>
          <p:cNvPr id="28" name="矩形 27">
            <a:extLst>
              <a:ext uri="{FF2B5EF4-FFF2-40B4-BE49-F238E27FC236}">
                <a16:creationId xmlns:a16="http://schemas.microsoft.com/office/drawing/2014/main" id="{827740CB-67AA-43D3-9DDC-410027FEF973}"/>
              </a:ext>
            </a:extLst>
          </p:cNvPr>
          <p:cNvSpPr>
            <a:spLocks noGrp="1"/>
          </p:cNvSpPr>
          <p:nvPr/>
        </p:nvSpPr>
        <p:spPr>
          <a:xfrm>
            <a:off x="8439150" y="2076450"/>
            <a:ext cx="7429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00204A"/>
                </a:solidFill>
                <a:latin typeface="黑体"/>
                <a:ea typeface="黑体"/>
                <a:cs typeface="黑体"/>
              </a:defRPr>
            </a:pPr>
            <a:r>
              <a:rPr>
                <a:latin typeface="Times New Roman"/>
                <a:ea typeface="Times New Roman"/>
                <a:cs typeface="Times New Roman"/>
              </a:rPr>
              <a:t>AI</a:t>
            </a:r>
          </a:p>
        </p:txBody>
      </p:sp>
      <p:sp>
        <p:nvSpPr>
          <p:cNvPr id="29" name="矩形 28">
            <a:extLst>
              <a:ext uri="{FF2B5EF4-FFF2-40B4-BE49-F238E27FC236}">
                <a16:creationId xmlns:a16="http://schemas.microsoft.com/office/drawing/2014/main" id="{3054B79A-15C5-48EC-8576-8A0B3D03B33F}"/>
              </a:ext>
            </a:extLst>
          </p:cNvPr>
          <p:cNvSpPr>
            <a:spLocks noGrp="1"/>
          </p:cNvSpPr>
          <p:nvPr/>
        </p:nvSpPr>
        <p:spPr>
          <a:xfrm>
            <a:off x="9258300" y="2076450"/>
            <a:ext cx="7429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00204A"/>
                </a:solidFill>
                <a:latin typeface="黑体"/>
                <a:ea typeface="黑体"/>
                <a:cs typeface="黑体"/>
              </a:defRPr>
            </a:pPr>
            <a:r>
              <a:rPr>
                <a:latin typeface="Times New Roman"/>
                <a:ea typeface="Times New Roman"/>
                <a:cs typeface="Times New Roman"/>
              </a:rPr>
              <a:t>Education</a:t>
            </a:r>
          </a:p>
        </p:txBody>
      </p:sp>
      <p:sp>
        <p:nvSpPr>
          <p:cNvPr id="30" name="矩形 29">
            <a:extLst>
              <a:ext uri="{FF2B5EF4-FFF2-40B4-BE49-F238E27FC236}">
                <a16:creationId xmlns:a16="http://schemas.microsoft.com/office/drawing/2014/main" id="{65198E5B-3D16-4F4F-A5D1-56B3181B11B3}"/>
              </a:ext>
            </a:extLst>
          </p:cNvPr>
          <p:cNvSpPr>
            <a:spLocks noGrp="1"/>
          </p:cNvSpPr>
          <p:nvPr/>
        </p:nvSpPr>
        <p:spPr>
          <a:xfrm>
            <a:off x="10077450" y="2076450"/>
            <a:ext cx="7429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00204A"/>
                </a:solidFill>
                <a:latin typeface="黑体"/>
                <a:ea typeface="黑体"/>
                <a:cs typeface="黑体"/>
              </a:defRPr>
            </a:pPr>
            <a:r>
              <a:rPr>
                <a:latin typeface="Times New Roman"/>
                <a:ea typeface="Times New Roman"/>
                <a:cs typeface="Times New Roman"/>
              </a:rPr>
              <a:t>Psychology</a:t>
            </a:r>
          </a:p>
        </p:txBody>
      </p:sp>
      <p:sp>
        <p:nvSpPr>
          <p:cNvPr id="31" name="矩形 30">
            <a:extLst>
              <a:ext uri="{FF2B5EF4-FFF2-40B4-BE49-F238E27FC236}">
                <a16:creationId xmlns:a16="http://schemas.microsoft.com/office/drawing/2014/main" id="{1081BF3A-77C5-4B1A-B6D8-D29F549600A6}"/>
              </a:ext>
            </a:extLst>
          </p:cNvPr>
          <p:cNvSpPr>
            <a:spLocks noGrp="1"/>
          </p:cNvSpPr>
          <p:nvPr/>
        </p:nvSpPr>
        <p:spPr>
          <a:xfrm>
            <a:off x="8020050" y="2628900"/>
            <a:ext cx="819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Times New Roman"/>
                <a:ea typeface="Times New Roman"/>
                <a:cs typeface="Times New Roman"/>
              </a:rPr>
              <a:t>AI</a:t>
            </a:r>
          </a:p>
        </p:txBody>
      </p:sp>
      <p:sp>
        <p:nvSpPr>
          <p:cNvPr id="32" name="矩形 31">
            <a:extLst>
              <a:ext uri="{FF2B5EF4-FFF2-40B4-BE49-F238E27FC236}">
                <a16:creationId xmlns:a16="http://schemas.microsoft.com/office/drawing/2014/main" id="{33232BB2-0FD9-4133-9108-47D198C4030A}"/>
              </a:ext>
            </a:extLst>
          </p:cNvPr>
          <p:cNvSpPr>
            <a:spLocks noGrp="1"/>
          </p:cNvSpPr>
          <p:nvPr/>
        </p:nvSpPr>
        <p:spPr>
          <a:xfrm>
            <a:off x="8858250" y="2533650"/>
            <a:ext cx="457200" cy="419100"/>
          </a:xfrm>
          <a:prstGeom prst="rect">
            <a:avLst/>
          </a:prstGeom>
          <a:solidFill>
            <a:srgbClr val="D9EBDD"/>
          </a:solidFill>
          <a:ln w="9525">
            <a:solidFill>
              <a:srgbClr val="C5CFDB"/>
            </a:solidFill>
            <a:prstDash val="solid"/>
          </a:ln>
        </p:spPr>
        <p:txBody>
          <a:bodyPr/>
          <a:lstStyle/>
          <a:p>
            <a:endParaRPr lang="zh-CN" altLang="en-US"/>
          </a:p>
        </p:txBody>
      </p:sp>
      <p:sp>
        <p:nvSpPr>
          <p:cNvPr id="33" name="矩形 32">
            <a:extLst>
              <a:ext uri="{FF2B5EF4-FFF2-40B4-BE49-F238E27FC236}">
                <a16:creationId xmlns:a16="http://schemas.microsoft.com/office/drawing/2014/main" id="{C1AFCC5B-72A4-4EF8-AE86-81B4A3BE57D8}"/>
              </a:ext>
            </a:extLst>
          </p:cNvPr>
          <p:cNvSpPr>
            <a:spLocks noGrp="1"/>
          </p:cNvSpPr>
          <p:nvPr/>
        </p:nvSpPr>
        <p:spPr>
          <a:xfrm>
            <a:off x="8934450" y="2647950"/>
            <a:ext cx="304800" cy="190500"/>
          </a:xfrm>
          <a:prstGeom prst="rect">
            <a:avLst/>
          </a:prstGeom>
          <a:solidFill>
            <a:srgbClr val="D9EBDD"/>
          </a:solidFill>
          <a:ln w="0">
            <a:solidFill>
              <a:srgbClr val="000000">
                <a:alpha val="0"/>
              </a:srgbClr>
            </a:solidFill>
            <a:prstDash val="solid"/>
          </a:ln>
        </p:spPr>
        <p:txBody>
          <a:bodyPr lIns="0" tIns="0" rIns="0" bIns="0" anchor="t"/>
          <a:lstStyle/>
          <a:p>
            <a:pPr algn="ctr">
              <a:defRPr sz="1350" b="1">
                <a:solidFill>
                  <a:srgbClr val="2F7A5D"/>
                </a:solidFill>
                <a:latin typeface="黑体"/>
                <a:ea typeface="黑体"/>
                <a:cs typeface="黑体"/>
              </a:defRPr>
            </a:pPr>
            <a:r>
              <a:rPr>
                <a:latin typeface="Times New Roman"/>
                <a:ea typeface="Times New Roman"/>
                <a:cs typeface="Times New Roman"/>
              </a:rPr>
              <a:t>1</a:t>
            </a:r>
          </a:p>
        </p:txBody>
      </p:sp>
      <p:sp>
        <p:nvSpPr>
          <p:cNvPr id="34" name="矩形 33">
            <a:extLst>
              <a:ext uri="{FF2B5EF4-FFF2-40B4-BE49-F238E27FC236}">
                <a16:creationId xmlns:a16="http://schemas.microsoft.com/office/drawing/2014/main" id="{D08932F3-9F61-4C49-A87B-E900E4F9300E}"/>
              </a:ext>
            </a:extLst>
          </p:cNvPr>
          <p:cNvSpPr>
            <a:spLocks noGrp="1"/>
          </p:cNvSpPr>
          <p:nvPr/>
        </p:nvSpPr>
        <p:spPr>
          <a:xfrm>
            <a:off x="9582150" y="2533650"/>
            <a:ext cx="457200" cy="419100"/>
          </a:xfrm>
          <a:prstGeom prst="rect">
            <a:avLst/>
          </a:prstGeom>
          <a:solidFill>
            <a:srgbClr val="F5F7FA"/>
          </a:solidFill>
          <a:ln w="9525">
            <a:solidFill>
              <a:srgbClr val="C5CFDB"/>
            </a:solidFill>
            <a:prstDash val="solid"/>
          </a:ln>
        </p:spPr>
        <p:txBody>
          <a:bodyPr/>
          <a:lstStyle/>
          <a:p>
            <a:endParaRPr lang="zh-CN" altLang="en-US"/>
          </a:p>
        </p:txBody>
      </p:sp>
      <p:sp>
        <p:nvSpPr>
          <p:cNvPr id="35" name="矩形 34">
            <a:extLst>
              <a:ext uri="{FF2B5EF4-FFF2-40B4-BE49-F238E27FC236}">
                <a16:creationId xmlns:a16="http://schemas.microsoft.com/office/drawing/2014/main" id="{15388AF3-8014-40B3-B0D2-5D1F11F94494}"/>
              </a:ext>
            </a:extLst>
          </p:cNvPr>
          <p:cNvSpPr>
            <a:spLocks noGrp="1"/>
          </p:cNvSpPr>
          <p:nvPr/>
        </p:nvSpPr>
        <p:spPr>
          <a:xfrm>
            <a:off x="9658350" y="2647950"/>
            <a:ext cx="304800" cy="190500"/>
          </a:xfrm>
          <a:prstGeom prst="rect">
            <a:avLst/>
          </a:prstGeom>
          <a:solidFill>
            <a:srgbClr val="F5F7FA"/>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36" name="矩形 35">
            <a:extLst>
              <a:ext uri="{FF2B5EF4-FFF2-40B4-BE49-F238E27FC236}">
                <a16:creationId xmlns:a16="http://schemas.microsoft.com/office/drawing/2014/main" id="{3EEA0D8C-5C98-48B6-A869-FE1C38B2C5F1}"/>
              </a:ext>
            </a:extLst>
          </p:cNvPr>
          <p:cNvSpPr>
            <a:spLocks noGrp="1"/>
          </p:cNvSpPr>
          <p:nvPr/>
        </p:nvSpPr>
        <p:spPr>
          <a:xfrm>
            <a:off x="10306050" y="2533650"/>
            <a:ext cx="457200" cy="419100"/>
          </a:xfrm>
          <a:prstGeom prst="rect">
            <a:avLst/>
          </a:prstGeom>
          <a:solidFill>
            <a:srgbClr val="F5F7FA"/>
          </a:solidFill>
          <a:ln w="9525">
            <a:solidFill>
              <a:srgbClr val="C5CFDB"/>
            </a:solidFill>
            <a:prstDash val="solid"/>
          </a:ln>
        </p:spPr>
        <p:txBody>
          <a:bodyPr/>
          <a:lstStyle/>
          <a:p>
            <a:endParaRPr lang="zh-CN" altLang="en-US"/>
          </a:p>
        </p:txBody>
      </p:sp>
      <p:sp>
        <p:nvSpPr>
          <p:cNvPr id="37" name="矩形 36">
            <a:extLst>
              <a:ext uri="{FF2B5EF4-FFF2-40B4-BE49-F238E27FC236}">
                <a16:creationId xmlns:a16="http://schemas.microsoft.com/office/drawing/2014/main" id="{5C5849F7-5A9E-4D76-A261-79C994F11CF7}"/>
              </a:ext>
            </a:extLst>
          </p:cNvPr>
          <p:cNvSpPr>
            <a:spLocks noGrp="1"/>
          </p:cNvSpPr>
          <p:nvPr/>
        </p:nvSpPr>
        <p:spPr>
          <a:xfrm>
            <a:off x="10382250" y="2647950"/>
            <a:ext cx="304800" cy="190500"/>
          </a:xfrm>
          <a:prstGeom prst="rect">
            <a:avLst/>
          </a:prstGeom>
          <a:solidFill>
            <a:srgbClr val="F5F7FA"/>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38" name="矩形 37">
            <a:extLst>
              <a:ext uri="{FF2B5EF4-FFF2-40B4-BE49-F238E27FC236}">
                <a16:creationId xmlns:a16="http://schemas.microsoft.com/office/drawing/2014/main" id="{D6FA96F4-203E-4623-865F-13DCADD9149D}"/>
              </a:ext>
            </a:extLst>
          </p:cNvPr>
          <p:cNvSpPr>
            <a:spLocks noGrp="1"/>
          </p:cNvSpPr>
          <p:nvPr/>
        </p:nvSpPr>
        <p:spPr>
          <a:xfrm>
            <a:off x="8020050" y="3238500"/>
            <a:ext cx="819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Times New Roman"/>
                <a:ea typeface="Times New Roman"/>
                <a:cs typeface="Times New Roman"/>
              </a:rPr>
              <a:t>Education</a:t>
            </a:r>
          </a:p>
        </p:txBody>
      </p:sp>
      <p:sp>
        <p:nvSpPr>
          <p:cNvPr id="39" name="矩形 38">
            <a:extLst>
              <a:ext uri="{FF2B5EF4-FFF2-40B4-BE49-F238E27FC236}">
                <a16:creationId xmlns:a16="http://schemas.microsoft.com/office/drawing/2014/main" id="{5FC24640-CB54-4BBD-B93D-88D9AB8E922B}"/>
              </a:ext>
            </a:extLst>
          </p:cNvPr>
          <p:cNvSpPr>
            <a:spLocks noGrp="1"/>
          </p:cNvSpPr>
          <p:nvPr/>
        </p:nvSpPr>
        <p:spPr>
          <a:xfrm>
            <a:off x="8858250" y="3143250"/>
            <a:ext cx="457200" cy="419100"/>
          </a:xfrm>
          <a:prstGeom prst="rect">
            <a:avLst/>
          </a:prstGeom>
          <a:solidFill>
            <a:srgbClr val="F5F7FA"/>
          </a:solidFill>
          <a:ln w="9525">
            <a:solidFill>
              <a:srgbClr val="C5CFDB"/>
            </a:solidFill>
            <a:prstDash val="solid"/>
          </a:ln>
        </p:spPr>
        <p:txBody>
          <a:bodyPr/>
          <a:lstStyle/>
          <a:p>
            <a:endParaRPr lang="zh-CN" altLang="en-US"/>
          </a:p>
        </p:txBody>
      </p:sp>
      <p:sp>
        <p:nvSpPr>
          <p:cNvPr id="40" name="矩形 39">
            <a:extLst>
              <a:ext uri="{FF2B5EF4-FFF2-40B4-BE49-F238E27FC236}">
                <a16:creationId xmlns:a16="http://schemas.microsoft.com/office/drawing/2014/main" id="{391A9AEA-AE27-4E2F-AE1E-460CA298D5AB}"/>
              </a:ext>
            </a:extLst>
          </p:cNvPr>
          <p:cNvSpPr>
            <a:spLocks noGrp="1"/>
          </p:cNvSpPr>
          <p:nvPr/>
        </p:nvSpPr>
        <p:spPr>
          <a:xfrm>
            <a:off x="8934450" y="3257550"/>
            <a:ext cx="304800" cy="190500"/>
          </a:xfrm>
          <a:prstGeom prst="rect">
            <a:avLst/>
          </a:prstGeom>
          <a:solidFill>
            <a:srgbClr val="F5F7FA"/>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41" name="矩形 40">
            <a:extLst>
              <a:ext uri="{FF2B5EF4-FFF2-40B4-BE49-F238E27FC236}">
                <a16:creationId xmlns:a16="http://schemas.microsoft.com/office/drawing/2014/main" id="{E2F3A930-EE7E-4C6D-9825-4591267C5223}"/>
              </a:ext>
            </a:extLst>
          </p:cNvPr>
          <p:cNvSpPr>
            <a:spLocks noGrp="1"/>
          </p:cNvSpPr>
          <p:nvPr/>
        </p:nvSpPr>
        <p:spPr>
          <a:xfrm>
            <a:off x="9582150" y="3143250"/>
            <a:ext cx="457200" cy="419100"/>
          </a:xfrm>
          <a:prstGeom prst="rect">
            <a:avLst/>
          </a:prstGeom>
          <a:solidFill>
            <a:srgbClr val="D9EBDD"/>
          </a:solidFill>
          <a:ln w="9525">
            <a:solidFill>
              <a:srgbClr val="C5CFDB"/>
            </a:solidFill>
            <a:prstDash val="solid"/>
          </a:ln>
        </p:spPr>
        <p:txBody>
          <a:bodyPr/>
          <a:lstStyle/>
          <a:p>
            <a:endParaRPr lang="zh-CN" altLang="en-US"/>
          </a:p>
        </p:txBody>
      </p:sp>
      <p:sp>
        <p:nvSpPr>
          <p:cNvPr id="42" name="矩形 41">
            <a:extLst>
              <a:ext uri="{FF2B5EF4-FFF2-40B4-BE49-F238E27FC236}">
                <a16:creationId xmlns:a16="http://schemas.microsoft.com/office/drawing/2014/main" id="{ADA548F4-CD42-4389-AF75-C541579B0998}"/>
              </a:ext>
            </a:extLst>
          </p:cNvPr>
          <p:cNvSpPr>
            <a:spLocks noGrp="1"/>
          </p:cNvSpPr>
          <p:nvPr/>
        </p:nvSpPr>
        <p:spPr>
          <a:xfrm>
            <a:off x="9658350" y="3257550"/>
            <a:ext cx="304800" cy="190500"/>
          </a:xfrm>
          <a:prstGeom prst="rect">
            <a:avLst/>
          </a:prstGeom>
          <a:solidFill>
            <a:srgbClr val="D9EBDD"/>
          </a:solidFill>
          <a:ln w="0">
            <a:solidFill>
              <a:srgbClr val="000000">
                <a:alpha val="0"/>
              </a:srgbClr>
            </a:solidFill>
            <a:prstDash val="solid"/>
          </a:ln>
        </p:spPr>
        <p:txBody>
          <a:bodyPr lIns="0" tIns="0" rIns="0" bIns="0" anchor="t"/>
          <a:lstStyle/>
          <a:p>
            <a:pPr algn="ctr">
              <a:defRPr sz="1350" b="1">
                <a:solidFill>
                  <a:srgbClr val="2F7A5D"/>
                </a:solidFill>
                <a:latin typeface="黑体"/>
                <a:ea typeface="黑体"/>
                <a:cs typeface="黑体"/>
              </a:defRPr>
            </a:pPr>
            <a:r>
              <a:rPr>
                <a:latin typeface="Times New Roman"/>
                <a:ea typeface="Times New Roman"/>
                <a:cs typeface="Times New Roman"/>
              </a:rPr>
              <a:t>1</a:t>
            </a:r>
          </a:p>
        </p:txBody>
      </p:sp>
      <p:sp>
        <p:nvSpPr>
          <p:cNvPr id="43" name="矩形 42">
            <a:extLst>
              <a:ext uri="{FF2B5EF4-FFF2-40B4-BE49-F238E27FC236}">
                <a16:creationId xmlns:a16="http://schemas.microsoft.com/office/drawing/2014/main" id="{4E4C42B2-B4AF-487C-ABC3-F4204769DD64}"/>
              </a:ext>
            </a:extLst>
          </p:cNvPr>
          <p:cNvSpPr>
            <a:spLocks noGrp="1"/>
          </p:cNvSpPr>
          <p:nvPr/>
        </p:nvSpPr>
        <p:spPr>
          <a:xfrm>
            <a:off x="10306050" y="3143250"/>
            <a:ext cx="457200" cy="419100"/>
          </a:xfrm>
          <a:prstGeom prst="rect">
            <a:avLst/>
          </a:prstGeom>
          <a:solidFill>
            <a:srgbClr val="F5F7FA"/>
          </a:solidFill>
          <a:ln w="9525">
            <a:solidFill>
              <a:srgbClr val="C5CFDB"/>
            </a:solidFill>
            <a:prstDash val="solid"/>
          </a:ln>
        </p:spPr>
        <p:txBody>
          <a:bodyPr/>
          <a:lstStyle/>
          <a:p>
            <a:endParaRPr lang="zh-CN" altLang="en-US"/>
          </a:p>
        </p:txBody>
      </p:sp>
      <p:sp>
        <p:nvSpPr>
          <p:cNvPr id="44" name="矩形 43">
            <a:extLst>
              <a:ext uri="{FF2B5EF4-FFF2-40B4-BE49-F238E27FC236}">
                <a16:creationId xmlns:a16="http://schemas.microsoft.com/office/drawing/2014/main" id="{CD180006-A3DD-4F56-8B6E-4F90101DF88E}"/>
              </a:ext>
            </a:extLst>
          </p:cNvPr>
          <p:cNvSpPr>
            <a:spLocks noGrp="1"/>
          </p:cNvSpPr>
          <p:nvPr/>
        </p:nvSpPr>
        <p:spPr>
          <a:xfrm>
            <a:off x="10382250" y="3257550"/>
            <a:ext cx="304800" cy="190500"/>
          </a:xfrm>
          <a:prstGeom prst="rect">
            <a:avLst/>
          </a:prstGeom>
          <a:solidFill>
            <a:srgbClr val="F5F7FA"/>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45" name="矩形 44">
            <a:extLst>
              <a:ext uri="{FF2B5EF4-FFF2-40B4-BE49-F238E27FC236}">
                <a16:creationId xmlns:a16="http://schemas.microsoft.com/office/drawing/2014/main" id="{16AB651A-2A40-4AA8-8ABA-22AFDC04451B}"/>
              </a:ext>
            </a:extLst>
          </p:cNvPr>
          <p:cNvSpPr>
            <a:spLocks noGrp="1"/>
          </p:cNvSpPr>
          <p:nvPr/>
        </p:nvSpPr>
        <p:spPr>
          <a:xfrm>
            <a:off x="8020050" y="3848100"/>
            <a:ext cx="819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Times New Roman"/>
                <a:ea typeface="Times New Roman"/>
                <a:cs typeface="Times New Roman"/>
              </a:rPr>
              <a:t>Psychology</a:t>
            </a:r>
          </a:p>
        </p:txBody>
      </p:sp>
      <p:sp>
        <p:nvSpPr>
          <p:cNvPr id="46" name="矩形 45">
            <a:extLst>
              <a:ext uri="{FF2B5EF4-FFF2-40B4-BE49-F238E27FC236}">
                <a16:creationId xmlns:a16="http://schemas.microsoft.com/office/drawing/2014/main" id="{FD6E4B52-F169-4335-80FB-144AFFA1802E}"/>
              </a:ext>
            </a:extLst>
          </p:cNvPr>
          <p:cNvSpPr>
            <a:spLocks noGrp="1"/>
          </p:cNvSpPr>
          <p:nvPr/>
        </p:nvSpPr>
        <p:spPr>
          <a:xfrm>
            <a:off x="8858250" y="3752850"/>
            <a:ext cx="457200" cy="419100"/>
          </a:xfrm>
          <a:prstGeom prst="rect">
            <a:avLst/>
          </a:prstGeom>
          <a:solidFill>
            <a:srgbClr val="F5F7FA"/>
          </a:solidFill>
          <a:ln w="9525">
            <a:solidFill>
              <a:srgbClr val="C5CFDB"/>
            </a:solidFill>
            <a:prstDash val="solid"/>
          </a:ln>
        </p:spPr>
        <p:txBody>
          <a:bodyPr/>
          <a:lstStyle/>
          <a:p>
            <a:endParaRPr lang="zh-CN" altLang="en-US"/>
          </a:p>
        </p:txBody>
      </p:sp>
      <p:sp>
        <p:nvSpPr>
          <p:cNvPr id="47" name="矩形 46">
            <a:extLst>
              <a:ext uri="{FF2B5EF4-FFF2-40B4-BE49-F238E27FC236}">
                <a16:creationId xmlns:a16="http://schemas.microsoft.com/office/drawing/2014/main" id="{77FF6B26-91A7-4F6B-90CB-603E4EAF3275}"/>
              </a:ext>
            </a:extLst>
          </p:cNvPr>
          <p:cNvSpPr>
            <a:spLocks noGrp="1"/>
          </p:cNvSpPr>
          <p:nvPr/>
        </p:nvSpPr>
        <p:spPr>
          <a:xfrm>
            <a:off x="8934450" y="3867150"/>
            <a:ext cx="304800" cy="190500"/>
          </a:xfrm>
          <a:prstGeom prst="rect">
            <a:avLst/>
          </a:prstGeom>
          <a:solidFill>
            <a:srgbClr val="F5F7FA"/>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48" name="矩形 47">
            <a:extLst>
              <a:ext uri="{FF2B5EF4-FFF2-40B4-BE49-F238E27FC236}">
                <a16:creationId xmlns:a16="http://schemas.microsoft.com/office/drawing/2014/main" id="{5B80C0AD-CF70-4EDC-A805-DC4DA8881A8A}"/>
              </a:ext>
            </a:extLst>
          </p:cNvPr>
          <p:cNvSpPr>
            <a:spLocks noGrp="1"/>
          </p:cNvSpPr>
          <p:nvPr/>
        </p:nvSpPr>
        <p:spPr>
          <a:xfrm>
            <a:off x="9582150" y="3752850"/>
            <a:ext cx="457200" cy="419100"/>
          </a:xfrm>
          <a:prstGeom prst="rect">
            <a:avLst/>
          </a:prstGeom>
          <a:solidFill>
            <a:srgbClr val="F5F7FA"/>
          </a:solidFill>
          <a:ln w="9525">
            <a:solidFill>
              <a:srgbClr val="C5CFDB"/>
            </a:solidFill>
            <a:prstDash val="solid"/>
          </a:ln>
        </p:spPr>
        <p:txBody>
          <a:bodyPr/>
          <a:lstStyle/>
          <a:p>
            <a:endParaRPr lang="zh-CN" altLang="en-US"/>
          </a:p>
        </p:txBody>
      </p:sp>
      <p:sp>
        <p:nvSpPr>
          <p:cNvPr id="49" name="矩形 48">
            <a:extLst>
              <a:ext uri="{FF2B5EF4-FFF2-40B4-BE49-F238E27FC236}">
                <a16:creationId xmlns:a16="http://schemas.microsoft.com/office/drawing/2014/main" id="{7D8341F5-58C8-419B-A19B-B7D907DC763A}"/>
              </a:ext>
            </a:extLst>
          </p:cNvPr>
          <p:cNvSpPr>
            <a:spLocks noGrp="1"/>
          </p:cNvSpPr>
          <p:nvPr/>
        </p:nvSpPr>
        <p:spPr>
          <a:xfrm>
            <a:off x="9658350" y="3867150"/>
            <a:ext cx="304800" cy="190500"/>
          </a:xfrm>
          <a:prstGeom prst="rect">
            <a:avLst/>
          </a:prstGeom>
          <a:solidFill>
            <a:srgbClr val="F5F7FA"/>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50" name="矩形 49">
            <a:extLst>
              <a:ext uri="{FF2B5EF4-FFF2-40B4-BE49-F238E27FC236}">
                <a16:creationId xmlns:a16="http://schemas.microsoft.com/office/drawing/2014/main" id="{3595B95C-AFDE-4361-9460-999D90C384C1}"/>
              </a:ext>
            </a:extLst>
          </p:cNvPr>
          <p:cNvSpPr>
            <a:spLocks noGrp="1"/>
          </p:cNvSpPr>
          <p:nvPr/>
        </p:nvSpPr>
        <p:spPr>
          <a:xfrm>
            <a:off x="10306050" y="3752850"/>
            <a:ext cx="457200" cy="419100"/>
          </a:xfrm>
          <a:prstGeom prst="rect">
            <a:avLst/>
          </a:prstGeom>
          <a:solidFill>
            <a:srgbClr val="D9EBDD"/>
          </a:solidFill>
          <a:ln w="9525">
            <a:solidFill>
              <a:srgbClr val="C5CFDB"/>
            </a:solidFill>
            <a:prstDash val="solid"/>
          </a:ln>
        </p:spPr>
        <p:txBody>
          <a:bodyPr/>
          <a:lstStyle/>
          <a:p>
            <a:endParaRPr lang="zh-CN" altLang="en-US"/>
          </a:p>
        </p:txBody>
      </p:sp>
      <p:sp>
        <p:nvSpPr>
          <p:cNvPr id="51" name="矩形 50">
            <a:extLst>
              <a:ext uri="{FF2B5EF4-FFF2-40B4-BE49-F238E27FC236}">
                <a16:creationId xmlns:a16="http://schemas.microsoft.com/office/drawing/2014/main" id="{E6E716CD-238B-4E85-B72B-4876F533A8C8}"/>
              </a:ext>
            </a:extLst>
          </p:cNvPr>
          <p:cNvSpPr>
            <a:spLocks noGrp="1"/>
          </p:cNvSpPr>
          <p:nvPr/>
        </p:nvSpPr>
        <p:spPr>
          <a:xfrm>
            <a:off x="10382250" y="3867150"/>
            <a:ext cx="304800" cy="190500"/>
          </a:xfrm>
          <a:prstGeom prst="rect">
            <a:avLst/>
          </a:prstGeom>
          <a:solidFill>
            <a:srgbClr val="D9EBDD"/>
          </a:solidFill>
          <a:ln w="0">
            <a:solidFill>
              <a:srgbClr val="000000">
                <a:alpha val="0"/>
              </a:srgbClr>
            </a:solidFill>
            <a:prstDash val="solid"/>
          </a:ln>
        </p:spPr>
        <p:txBody>
          <a:bodyPr lIns="0" tIns="0" rIns="0" bIns="0" anchor="t"/>
          <a:lstStyle/>
          <a:p>
            <a:pPr algn="ctr">
              <a:defRPr sz="1350" b="1">
                <a:solidFill>
                  <a:srgbClr val="2F7A5D"/>
                </a:solidFill>
                <a:latin typeface="黑体"/>
                <a:ea typeface="黑体"/>
                <a:cs typeface="黑体"/>
              </a:defRPr>
            </a:pPr>
            <a:r>
              <a:rPr>
                <a:latin typeface="Times New Roman"/>
                <a:ea typeface="Times New Roman"/>
                <a:cs typeface="Times New Roman"/>
              </a:rPr>
              <a:t>1</a:t>
            </a:r>
          </a:p>
        </p:txBody>
      </p:sp>
      <p:sp>
        <p:nvSpPr>
          <p:cNvPr id="52" name="矩形 51">
            <a:extLst>
              <a:ext uri="{FF2B5EF4-FFF2-40B4-BE49-F238E27FC236}">
                <a16:creationId xmlns:a16="http://schemas.microsoft.com/office/drawing/2014/main" id="{16E936E2-6C39-4121-AEB1-1EE9CDE95D58}"/>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53" name="矩形 52">
            <a:extLst>
              <a:ext uri="{FF2B5EF4-FFF2-40B4-BE49-F238E27FC236}">
                <a16:creationId xmlns:a16="http://schemas.microsoft.com/office/drawing/2014/main" id="{93813F57-52B9-401A-B108-AA89CA12101D}"/>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标称类别通常用 </a:t>
            </a:r>
            <a:r>
              <a:rPr>
                <a:latin typeface="Times New Roman"/>
                <a:ea typeface="Times New Roman"/>
                <a:cs typeface="Times New Roman"/>
              </a:rPr>
              <a:t>one-hot；</a:t>
            </a:r>
            <a:r>
              <a:rPr>
                <a:latin typeface="黑体"/>
                <a:ea typeface="黑体"/>
                <a:cs typeface="黑体"/>
              </a:rPr>
              <a:t>只有真正有顺序的类别才使用有序编码。</a:t>
            </a:r>
          </a:p>
        </p:txBody>
      </p:sp>
    </p:spTree>
    <p:extLst>
      <p:ext uri="{BB962C8B-B14F-4D97-AF65-F5344CB8AC3E}">
        <p14:creationId xmlns:p14="http://schemas.microsoft.com/office/powerpoint/2010/main" val="20580305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a:extLst>
              <a:ext uri="{FF2B5EF4-FFF2-40B4-BE49-F238E27FC236}">
                <a16:creationId xmlns:a16="http://schemas.microsoft.com/office/drawing/2014/main" id="{C9FF11BC-1739-4F9F-A30D-A302C3BCB7C3}"/>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32C184BF-D1E1-42DD-B189-D950DA2D3CEB}"/>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95907FF2-EA70-441B-B4BB-5E497AD211C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F0269E12-EA42-4768-A2E6-894D85040D19}"/>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One-hot encoding：</a:t>
            </a:r>
            <a:r>
              <a:rPr>
                <a:latin typeface="黑体"/>
                <a:ea typeface="黑体"/>
                <a:cs typeface="黑体"/>
              </a:rPr>
              <a:t>完整编码与基准类别</a:t>
            </a:r>
          </a:p>
        </p:txBody>
      </p:sp>
      <p:sp>
        <p:nvSpPr>
          <p:cNvPr id="5" name="矩形 4">
            <a:extLst>
              <a:ext uri="{FF2B5EF4-FFF2-40B4-BE49-F238E27FC236}">
                <a16:creationId xmlns:a16="http://schemas.microsoft.com/office/drawing/2014/main" id="{A6E7B457-ED7D-459E-A435-B670232C9D36}"/>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49/90</a:t>
            </a:r>
          </a:p>
        </p:txBody>
      </p:sp>
      <p:sp>
        <p:nvSpPr>
          <p:cNvPr id="6" name="矩形 5">
            <a:extLst>
              <a:ext uri="{FF2B5EF4-FFF2-40B4-BE49-F238E27FC236}">
                <a16:creationId xmlns:a16="http://schemas.microsoft.com/office/drawing/2014/main" id="{21A38155-4200-40F4-8108-C1286CAED32C}"/>
              </a:ext>
            </a:extLst>
          </p:cNvPr>
          <p:cNvSpPr>
            <a:spLocks noGrp="1"/>
          </p:cNvSpPr>
          <p:nvPr/>
        </p:nvSpPr>
        <p:spPr>
          <a:xfrm>
            <a:off x="609600" y="1257300"/>
            <a:ext cx="2095500" cy="4000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E8F831B8-2D3C-4379-AC74-13D5D0B289BD}"/>
              </a:ext>
            </a:extLst>
          </p:cNvPr>
          <p:cNvSpPr>
            <a:spLocks noGrp="1"/>
          </p:cNvSpPr>
          <p:nvPr/>
        </p:nvSpPr>
        <p:spPr>
          <a:xfrm>
            <a:off x="609600" y="1257300"/>
            <a:ext cx="209550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C7994973-A62E-4152-A3AE-0323D884E002}"/>
              </a:ext>
            </a:extLst>
          </p:cNvPr>
          <p:cNvSpPr>
            <a:spLocks noGrp="1"/>
          </p:cNvSpPr>
          <p:nvPr/>
        </p:nvSpPr>
        <p:spPr>
          <a:xfrm>
            <a:off x="762000" y="1466850"/>
            <a:ext cx="17907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黑体"/>
                <a:ea typeface="黑体"/>
                <a:cs typeface="黑体"/>
              </a:rPr>
              <a:t>原始类别</a:t>
            </a:r>
          </a:p>
        </p:txBody>
      </p:sp>
      <p:sp>
        <p:nvSpPr>
          <p:cNvPr id="9" name="矩形 8">
            <a:extLst>
              <a:ext uri="{FF2B5EF4-FFF2-40B4-BE49-F238E27FC236}">
                <a16:creationId xmlns:a16="http://schemas.microsoft.com/office/drawing/2014/main" id="{AD8DEC0B-53CC-42A1-AC10-95B373F6DE32}"/>
              </a:ext>
            </a:extLst>
          </p:cNvPr>
          <p:cNvSpPr>
            <a:spLocks noGrp="1"/>
          </p:cNvSpPr>
          <p:nvPr/>
        </p:nvSpPr>
        <p:spPr>
          <a:xfrm>
            <a:off x="762000" y="1790700"/>
            <a:ext cx="1790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program</a:t>
            </a:r>
          </a:p>
        </p:txBody>
      </p:sp>
      <p:sp>
        <p:nvSpPr>
          <p:cNvPr id="10" name="矩形 9">
            <a:extLst>
              <a:ext uri="{FF2B5EF4-FFF2-40B4-BE49-F238E27FC236}">
                <a16:creationId xmlns:a16="http://schemas.microsoft.com/office/drawing/2014/main" id="{1A1A2DCC-8DD5-4735-9D38-2C0ABA8AECF7}"/>
              </a:ext>
            </a:extLst>
          </p:cNvPr>
          <p:cNvSpPr>
            <a:spLocks noGrp="1"/>
          </p:cNvSpPr>
          <p:nvPr/>
        </p:nvSpPr>
        <p:spPr>
          <a:xfrm>
            <a:off x="3276600" y="1257300"/>
            <a:ext cx="4229100" cy="4000500"/>
          </a:xfrm>
          <a:prstGeom prst="rect">
            <a:avLst/>
          </a:prstGeom>
          <a:solidFill>
            <a:srgbClr val="FFFFFF"/>
          </a:solidFill>
          <a:ln w="9525">
            <a:solidFill>
              <a:srgbClr val="B8C3D1"/>
            </a:solidFill>
            <a:prstDash val="solid"/>
          </a:ln>
        </p:spPr>
        <p:txBody>
          <a:bodyPr/>
          <a:lstStyle/>
          <a:p>
            <a:endParaRPr lang="zh-CN" altLang="en-US"/>
          </a:p>
        </p:txBody>
      </p:sp>
      <p:sp>
        <p:nvSpPr>
          <p:cNvPr id="11" name="矩形 10">
            <a:extLst>
              <a:ext uri="{FF2B5EF4-FFF2-40B4-BE49-F238E27FC236}">
                <a16:creationId xmlns:a16="http://schemas.microsoft.com/office/drawing/2014/main" id="{46F7A92D-A74A-402D-8A2D-9B387069BDBF}"/>
              </a:ext>
            </a:extLst>
          </p:cNvPr>
          <p:cNvSpPr>
            <a:spLocks noGrp="1"/>
          </p:cNvSpPr>
          <p:nvPr/>
        </p:nvSpPr>
        <p:spPr>
          <a:xfrm>
            <a:off x="3276600" y="1257300"/>
            <a:ext cx="4229100" cy="7620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563CE959-17F7-490F-875E-537B90FDE4AC}"/>
              </a:ext>
            </a:extLst>
          </p:cNvPr>
          <p:cNvSpPr>
            <a:spLocks noGrp="1"/>
          </p:cNvSpPr>
          <p:nvPr/>
        </p:nvSpPr>
        <p:spPr>
          <a:xfrm>
            <a:off x="3429000" y="1466850"/>
            <a:ext cx="3924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2F7A5D"/>
                </a:solidFill>
                <a:latin typeface="黑体"/>
                <a:ea typeface="黑体"/>
                <a:cs typeface="黑体"/>
              </a:defRPr>
            </a:pPr>
            <a:r>
              <a:rPr>
                <a:latin typeface="黑体"/>
                <a:ea typeface="黑体"/>
                <a:cs typeface="黑体"/>
              </a:rPr>
              <a:t>完整 </a:t>
            </a:r>
            <a:r>
              <a:rPr>
                <a:latin typeface="Times New Roman"/>
                <a:ea typeface="Times New Roman"/>
                <a:cs typeface="Times New Roman"/>
              </a:rPr>
              <a:t>One-hot</a:t>
            </a:r>
          </a:p>
        </p:txBody>
      </p:sp>
      <p:sp>
        <p:nvSpPr>
          <p:cNvPr id="13" name="矩形 12">
            <a:extLst>
              <a:ext uri="{FF2B5EF4-FFF2-40B4-BE49-F238E27FC236}">
                <a16:creationId xmlns:a16="http://schemas.microsoft.com/office/drawing/2014/main" id="{EBDBD4A1-7CC8-43E8-AFAD-8C25539B84D9}"/>
              </a:ext>
            </a:extLst>
          </p:cNvPr>
          <p:cNvSpPr>
            <a:spLocks noGrp="1"/>
          </p:cNvSpPr>
          <p:nvPr/>
        </p:nvSpPr>
        <p:spPr>
          <a:xfrm>
            <a:off x="3429000" y="1790700"/>
            <a:ext cx="3924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k = 3 </a:t>
            </a:r>
            <a:r>
              <a:rPr>
                <a:latin typeface="黑体"/>
                <a:ea typeface="黑体"/>
                <a:cs typeface="黑体"/>
              </a:rPr>
              <a:t>个指示变量</a:t>
            </a:r>
          </a:p>
        </p:txBody>
      </p:sp>
      <p:sp>
        <p:nvSpPr>
          <p:cNvPr id="14" name="矩形 13">
            <a:extLst>
              <a:ext uri="{FF2B5EF4-FFF2-40B4-BE49-F238E27FC236}">
                <a16:creationId xmlns:a16="http://schemas.microsoft.com/office/drawing/2014/main" id="{4D08F2A1-F4A7-4C24-B2B3-7BA8254DDC1A}"/>
              </a:ext>
            </a:extLst>
          </p:cNvPr>
          <p:cNvSpPr>
            <a:spLocks noGrp="1"/>
          </p:cNvSpPr>
          <p:nvPr/>
        </p:nvSpPr>
        <p:spPr>
          <a:xfrm>
            <a:off x="8096250" y="1257300"/>
            <a:ext cx="3486150" cy="4000500"/>
          </a:xfrm>
          <a:prstGeom prst="rect">
            <a:avLst/>
          </a:prstGeom>
          <a:solidFill>
            <a:srgbClr val="FFFFFF"/>
          </a:solidFill>
          <a:ln w="9525">
            <a:solidFill>
              <a:srgbClr val="B8C3D1"/>
            </a:solidFill>
            <a:prstDash val="solid"/>
          </a:ln>
        </p:spPr>
        <p:txBody>
          <a:bodyPr/>
          <a:lstStyle/>
          <a:p>
            <a:endParaRPr lang="zh-CN" altLang="en-US"/>
          </a:p>
        </p:txBody>
      </p:sp>
      <p:sp>
        <p:nvSpPr>
          <p:cNvPr id="15" name="矩形 14">
            <a:extLst>
              <a:ext uri="{FF2B5EF4-FFF2-40B4-BE49-F238E27FC236}">
                <a16:creationId xmlns:a16="http://schemas.microsoft.com/office/drawing/2014/main" id="{A4A3C4A9-F001-41DD-AEAF-C39359E17B95}"/>
              </a:ext>
            </a:extLst>
          </p:cNvPr>
          <p:cNvSpPr>
            <a:spLocks noGrp="1"/>
          </p:cNvSpPr>
          <p:nvPr/>
        </p:nvSpPr>
        <p:spPr>
          <a:xfrm>
            <a:off x="8096250" y="1257300"/>
            <a:ext cx="3486150" cy="762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D173992C-93BE-4CBE-A05C-7673832A7653}"/>
              </a:ext>
            </a:extLst>
          </p:cNvPr>
          <p:cNvSpPr>
            <a:spLocks noGrp="1"/>
          </p:cNvSpPr>
          <p:nvPr/>
        </p:nvSpPr>
        <p:spPr>
          <a:xfrm>
            <a:off x="8248650" y="1466850"/>
            <a:ext cx="3181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B4964B"/>
                </a:solidFill>
                <a:latin typeface="黑体"/>
                <a:ea typeface="黑体"/>
                <a:cs typeface="黑体"/>
              </a:defRPr>
            </a:pPr>
            <a:r>
              <a:rPr>
                <a:latin typeface="黑体"/>
                <a:ea typeface="黑体"/>
                <a:cs typeface="黑体"/>
              </a:rPr>
              <a:t>线性模型常用编码</a:t>
            </a:r>
          </a:p>
        </p:txBody>
      </p:sp>
      <p:sp>
        <p:nvSpPr>
          <p:cNvPr id="17" name="矩形 16">
            <a:extLst>
              <a:ext uri="{FF2B5EF4-FFF2-40B4-BE49-F238E27FC236}">
                <a16:creationId xmlns:a16="http://schemas.microsoft.com/office/drawing/2014/main" id="{9BD38DA8-115D-4567-ABF7-CF03D9DBFD95}"/>
              </a:ext>
            </a:extLst>
          </p:cNvPr>
          <p:cNvSpPr>
            <a:spLocks noGrp="1"/>
          </p:cNvSpPr>
          <p:nvPr/>
        </p:nvSpPr>
        <p:spPr>
          <a:xfrm>
            <a:off x="8248650" y="1790700"/>
            <a:ext cx="3181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黑体"/>
                <a:ea typeface="黑体"/>
                <a:cs typeface="黑体"/>
              </a:rPr>
              <a:t>保留 </a:t>
            </a:r>
            <a:r>
              <a:rPr>
                <a:latin typeface="Times New Roman"/>
                <a:ea typeface="Times New Roman"/>
                <a:cs typeface="Times New Roman"/>
              </a:rPr>
              <a:t>k - 1 = 2 </a:t>
            </a:r>
            <a:r>
              <a:rPr>
                <a:latin typeface="黑体"/>
                <a:ea typeface="黑体"/>
                <a:cs typeface="黑体"/>
              </a:rPr>
              <a:t>列</a:t>
            </a:r>
          </a:p>
        </p:txBody>
      </p:sp>
      <p:sp>
        <p:nvSpPr>
          <p:cNvPr id="18" name="矩形 17">
            <a:extLst>
              <a:ext uri="{FF2B5EF4-FFF2-40B4-BE49-F238E27FC236}">
                <a16:creationId xmlns:a16="http://schemas.microsoft.com/office/drawing/2014/main" id="{1684C1D8-D856-4998-85D1-FDDF0B997B9F}"/>
              </a:ext>
            </a:extLst>
          </p:cNvPr>
          <p:cNvSpPr>
            <a:spLocks noGrp="1"/>
          </p:cNvSpPr>
          <p:nvPr/>
        </p:nvSpPr>
        <p:spPr>
          <a:xfrm>
            <a:off x="838200" y="2305050"/>
            <a:ext cx="1638300" cy="514350"/>
          </a:xfrm>
          <a:prstGeom prst="rect">
            <a:avLst/>
          </a:prstGeom>
          <a:solidFill>
            <a:srgbClr val="EAF2FF"/>
          </a:solidFill>
          <a:ln w="9525">
            <a:solidFill>
              <a:srgbClr val="C3CDDA"/>
            </a:solidFill>
            <a:prstDash val="solid"/>
          </a:ln>
        </p:spPr>
        <p:txBody>
          <a:bodyPr/>
          <a:lstStyle/>
          <a:p>
            <a:endParaRPr lang="zh-CN" altLang="en-US"/>
          </a:p>
        </p:txBody>
      </p:sp>
      <p:sp>
        <p:nvSpPr>
          <p:cNvPr id="19" name="矩形 18">
            <a:extLst>
              <a:ext uri="{FF2B5EF4-FFF2-40B4-BE49-F238E27FC236}">
                <a16:creationId xmlns:a16="http://schemas.microsoft.com/office/drawing/2014/main" id="{53CA6721-6BAF-43E0-A090-1B53C7C4EC9E}"/>
              </a:ext>
            </a:extLst>
          </p:cNvPr>
          <p:cNvSpPr>
            <a:spLocks noGrp="1"/>
          </p:cNvSpPr>
          <p:nvPr/>
        </p:nvSpPr>
        <p:spPr>
          <a:xfrm>
            <a:off x="933450" y="2438400"/>
            <a:ext cx="1447800" cy="228600"/>
          </a:xfrm>
          <a:prstGeom prst="rect">
            <a:avLst/>
          </a:prstGeom>
          <a:solidFill>
            <a:srgbClr val="EAF2FF"/>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Times New Roman"/>
                <a:ea typeface="Times New Roman"/>
                <a:cs typeface="Times New Roman"/>
              </a:rPr>
              <a:t>AI</a:t>
            </a:r>
          </a:p>
        </p:txBody>
      </p:sp>
      <p:sp>
        <p:nvSpPr>
          <p:cNvPr id="20" name="矩形 19">
            <a:extLst>
              <a:ext uri="{FF2B5EF4-FFF2-40B4-BE49-F238E27FC236}">
                <a16:creationId xmlns:a16="http://schemas.microsoft.com/office/drawing/2014/main" id="{6000C780-8156-4802-B37F-B9C4167C929C}"/>
              </a:ext>
            </a:extLst>
          </p:cNvPr>
          <p:cNvSpPr>
            <a:spLocks noGrp="1"/>
          </p:cNvSpPr>
          <p:nvPr/>
        </p:nvSpPr>
        <p:spPr>
          <a:xfrm>
            <a:off x="838200" y="3028950"/>
            <a:ext cx="1638300" cy="514350"/>
          </a:xfrm>
          <a:prstGeom prst="rect">
            <a:avLst/>
          </a:prstGeom>
          <a:solidFill>
            <a:srgbClr val="F7FAFF"/>
          </a:solidFill>
          <a:ln w="9525">
            <a:solidFill>
              <a:srgbClr val="C3CDDA"/>
            </a:solidFill>
            <a:prstDash val="solid"/>
          </a:ln>
        </p:spPr>
        <p:txBody>
          <a:bodyPr/>
          <a:lstStyle/>
          <a:p>
            <a:endParaRPr lang="zh-CN" altLang="en-US"/>
          </a:p>
        </p:txBody>
      </p:sp>
      <p:sp>
        <p:nvSpPr>
          <p:cNvPr id="21" name="矩形 20">
            <a:extLst>
              <a:ext uri="{FF2B5EF4-FFF2-40B4-BE49-F238E27FC236}">
                <a16:creationId xmlns:a16="http://schemas.microsoft.com/office/drawing/2014/main" id="{56DDE96F-4384-4BCD-A8F4-13EEBDB8DA8C}"/>
              </a:ext>
            </a:extLst>
          </p:cNvPr>
          <p:cNvSpPr>
            <a:spLocks noGrp="1"/>
          </p:cNvSpPr>
          <p:nvPr/>
        </p:nvSpPr>
        <p:spPr>
          <a:xfrm>
            <a:off x="933450" y="3162300"/>
            <a:ext cx="1447800" cy="228600"/>
          </a:xfrm>
          <a:prstGeom prst="rect">
            <a:avLst/>
          </a:prstGeom>
          <a:solidFill>
            <a:srgbClr val="F7FAFF"/>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Times New Roman"/>
                <a:ea typeface="Times New Roman"/>
                <a:cs typeface="Times New Roman"/>
              </a:rPr>
              <a:t>Education</a:t>
            </a:r>
          </a:p>
        </p:txBody>
      </p:sp>
      <p:sp>
        <p:nvSpPr>
          <p:cNvPr id="22" name="矩形 21">
            <a:extLst>
              <a:ext uri="{FF2B5EF4-FFF2-40B4-BE49-F238E27FC236}">
                <a16:creationId xmlns:a16="http://schemas.microsoft.com/office/drawing/2014/main" id="{471A3BE2-BC03-414C-843D-4D4CEC7D6569}"/>
              </a:ext>
            </a:extLst>
          </p:cNvPr>
          <p:cNvSpPr>
            <a:spLocks noGrp="1"/>
          </p:cNvSpPr>
          <p:nvPr/>
        </p:nvSpPr>
        <p:spPr>
          <a:xfrm>
            <a:off x="838200" y="3752850"/>
            <a:ext cx="1638300" cy="514350"/>
          </a:xfrm>
          <a:prstGeom prst="rect">
            <a:avLst/>
          </a:prstGeom>
          <a:solidFill>
            <a:srgbClr val="F4EBC2"/>
          </a:solidFill>
          <a:ln w="9525">
            <a:solidFill>
              <a:srgbClr val="D0B765"/>
            </a:solidFill>
            <a:prstDash val="solid"/>
          </a:ln>
        </p:spPr>
        <p:txBody>
          <a:bodyPr/>
          <a:lstStyle/>
          <a:p>
            <a:endParaRPr lang="zh-CN" altLang="en-US"/>
          </a:p>
        </p:txBody>
      </p:sp>
      <p:sp>
        <p:nvSpPr>
          <p:cNvPr id="23" name="矩形 22">
            <a:extLst>
              <a:ext uri="{FF2B5EF4-FFF2-40B4-BE49-F238E27FC236}">
                <a16:creationId xmlns:a16="http://schemas.microsoft.com/office/drawing/2014/main" id="{9534FEEB-AFAB-438E-A59C-3CE9B828B193}"/>
              </a:ext>
            </a:extLst>
          </p:cNvPr>
          <p:cNvSpPr>
            <a:spLocks noGrp="1"/>
          </p:cNvSpPr>
          <p:nvPr/>
        </p:nvSpPr>
        <p:spPr>
          <a:xfrm>
            <a:off x="933450" y="3886200"/>
            <a:ext cx="1447800" cy="228600"/>
          </a:xfrm>
          <a:prstGeom prst="rect">
            <a:avLst/>
          </a:prstGeom>
          <a:solidFill>
            <a:srgbClr val="F4EBC2"/>
          </a:solidFill>
          <a:ln w="0">
            <a:solidFill>
              <a:srgbClr val="000000">
                <a:alpha val="0"/>
              </a:srgbClr>
            </a:solidFill>
            <a:prstDash val="solid"/>
          </a:ln>
        </p:spPr>
        <p:txBody>
          <a:bodyPr lIns="0" tIns="0" rIns="0" bIns="0" anchor="t"/>
          <a:lstStyle/>
          <a:p>
            <a:pPr algn="ctr">
              <a:defRPr sz="1275" b="1">
                <a:solidFill>
                  <a:srgbClr val="8A6D1D"/>
                </a:solidFill>
                <a:latin typeface="黑体"/>
                <a:ea typeface="黑体"/>
                <a:cs typeface="黑体"/>
              </a:defRPr>
            </a:pPr>
            <a:r>
              <a:rPr>
                <a:latin typeface="Times New Roman"/>
                <a:ea typeface="Times New Roman"/>
                <a:cs typeface="Times New Roman"/>
              </a:rPr>
              <a:t>Psychology</a:t>
            </a:r>
          </a:p>
        </p:txBody>
      </p:sp>
      <p:sp>
        <p:nvSpPr>
          <p:cNvPr id="24" name="矩形 23">
            <a:extLst>
              <a:ext uri="{FF2B5EF4-FFF2-40B4-BE49-F238E27FC236}">
                <a16:creationId xmlns:a16="http://schemas.microsoft.com/office/drawing/2014/main" id="{9B2701E1-3F4F-4769-A81D-9E17E7852DD9}"/>
              </a:ext>
            </a:extLst>
          </p:cNvPr>
          <p:cNvSpPr>
            <a:spLocks noGrp="1"/>
          </p:cNvSpPr>
          <p:nvPr/>
        </p:nvSpPr>
        <p:spPr>
          <a:xfrm>
            <a:off x="838200" y="4591050"/>
            <a:ext cx="1638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14DA1"/>
                </a:solidFill>
                <a:latin typeface="黑体"/>
                <a:ea typeface="黑体"/>
                <a:cs typeface="黑体"/>
              </a:defRPr>
            </a:pPr>
            <a:r>
              <a:rPr>
                <a:latin typeface="Times New Roman"/>
                <a:ea typeface="Times New Roman"/>
                <a:cs typeface="Times New Roman"/>
              </a:rPr>
              <a:t>3 </a:t>
            </a:r>
            <a:r>
              <a:rPr>
                <a:latin typeface="黑体"/>
                <a:ea typeface="黑体"/>
                <a:cs typeface="黑体"/>
              </a:rPr>
              <a:t>个类别</a:t>
            </a:r>
          </a:p>
        </p:txBody>
      </p:sp>
      <p:sp>
        <p:nvSpPr>
          <p:cNvPr id="25" name="矩形 24">
            <a:extLst>
              <a:ext uri="{FF2B5EF4-FFF2-40B4-BE49-F238E27FC236}">
                <a16:creationId xmlns:a16="http://schemas.microsoft.com/office/drawing/2014/main" id="{994C2D91-25EF-4E12-AA0B-BA6C13DF5022}"/>
              </a:ext>
            </a:extLst>
          </p:cNvPr>
          <p:cNvSpPr>
            <a:spLocks noGrp="1"/>
          </p:cNvSpPr>
          <p:nvPr/>
        </p:nvSpPr>
        <p:spPr>
          <a:xfrm>
            <a:off x="2781300" y="2628900"/>
            <a:ext cx="419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B4964B"/>
                </a:solidFill>
                <a:latin typeface="黑体"/>
                <a:ea typeface="黑体"/>
                <a:cs typeface="黑体"/>
              </a:defRPr>
            </a:pPr>
            <a:r>
              <a:rPr>
                <a:latin typeface="黑体"/>
                <a:ea typeface="黑体"/>
                <a:cs typeface="黑体"/>
              </a:rPr>
              <a:t>编码</a:t>
            </a:r>
          </a:p>
        </p:txBody>
      </p:sp>
      <p:sp>
        <p:nvSpPr>
          <p:cNvPr id="26" name="矩形 25">
            <a:extLst>
              <a:ext uri="{FF2B5EF4-FFF2-40B4-BE49-F238E27FC236}">
                <a16:creationId xmlns:a16="http://schemas.microsoft.com/office/drawing/2014/main" id="{AA333103-8CE1-4F76-9D9E-A93A330809D2}"/>
              </a:ext>
            </a:extLst>
          </p:cNvPr>
          <p:cNvSpPr>
            <a:spLocks noGrp="1"/>
          </p:cNvSpPr>
          <p:nvPr/>
        </p:nvSpPr>
        <p:spPr>
          <a:xfrm>
            <a:off x="2762250" y="2895600"/>
            <a:ext cx="4572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550" b="1">
                <a:solidFill>
                  <a:srgbClr val="B4964B"/>
                </a:solidFill>
                <a:latin typeface="黑体"/>
                <a:ea typeface="黑体"/>
                <a:cs typeface="黑体"/>
              </a:defRPr>
            </a:pPr>
            <a:r>
              <a:rPr>
                <a:latin typeface="Times New Roman"/>
                <a:ea typeface="Times New Roman"/>
                <a:cs typeface="Times New Roman"/>
              </a:rPr>
              <a:t>→</a:t>
            </a:r>
          </a:p>
        </p:txBody>
      </p:sp>
      <p:sp>
        <p:nvSpPr>
          <p:cNvPr id="27" name="矩形 26">
            <a:extLst>
              <a:ext uri="{FF2B5EF4-FFF2-40B4-BE49-F238E27FC236}">
                <a16:creationId xmlns:a16="http://schemas.microsoft.com/office/drawing/2014/main" id="{9516E1DE-4E3B-49C2-B337-0A9F4FC4C626}"/>
              </a:ext>
            </a:extLst>
          </p:cNvPr>
          <p:cNvSpPr>
            <a:spLocks noGrp="1"/>
          </p:cNvSpPr>
          <p:nvPr/>
        </p:nvSpPr>
        <p:spPr>
          <a:xfrm>
            <a:off x="4476750" y="2095500"/>
            <a:ext cx="819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Times New Roman"/>
                <a:ea typeface="Times New Roman"/>
                <a:cs typeface="Times New Roman"/>
              </a:rPr>
              <a:t>AI</a:t>
            </a:r>
          </a:p>
        </p:txBody>
      </p:sp>
      <p:sp>
        <p:nvSpPr>
          <p:cNvPr id="28" name="矩形 27">
            <a:extLst>
              <a:ext uri="{FF2B5EF4-FFF2-40B4-BE49-F238E27FC236}">
                <a16:creationId xmlns:a16="http://schemas.microsoft.com/office/drawing/2014/main" id="{E2A6C532-BFCF-468F-B778-CFE9A3CF8268}"/>
              </a:ext>
            </a:extLst>
          </p:cNvPr>
          <p:cNvSpPr>
            <a:spLocks noGrp="1"/>
          </p:cNvSpPr>
          <p:nvPr/>
        </p:nvSpPr>
        <p:spPr>
          <a:xfrm>
            <a:off x="5372100" y="2095500"/>
            <a:ext cx="819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Times New Roman"/>
                <a:ea typeface="Times New Roman"/>
                <a:cs typeface="Times New Roman"/>
              </a:rPr>
              <a:t>Education</a:t>
            </a:r>
          </a:p>
        </p:txBody>
      </p:sp>
      <p:sp>
        <p:nvSpPr>
          <p:cNvPr id="29" name="矩形 28">
            <a:extLst>
              <a:ext uri="{FF2B5EF4-FFF2-40B4-BE49-F238E27FC236}">
                <a16:creationId xmlns:a16="http://schemas.microsoft.com/office/drawing/2014/main" id="{E7F8F704-0799-409D-BA24-A6BC87F64345}"/>
              </a:ext>
            </a:extLst>
          </p:cNvPr>
          <p:cNvSpPr>
            <a:spLocks noGrp="1"/>
          </p:cNvSpPr>
          <p:nvPr/>
        </p:nvSpPr>
        <p:spPr>
          <a:xfrm>
            <a:off x="6267450" y="2095500"/>
            <a:ext cx="819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00204A"/>
                </a:solidFill>
                <a:latin typeface="黑体"/>
                <a:ea typeface="黑体"/>
                <a:cs typeface="黑体"/>
              </a:defRPr>
            </a:pPr>
            <a:r>
              <a:rPr>
                <a:latin typeface="Times New Roman"/>
                <a:ea typeface="Times New Roman"/>
                <a:cs typeface="Times New Roman"/>
              </a:rPr>
              <a:t>Psychology</a:t>
            </a:r>
          </a:p>
        </p:txBody>
      </p:sp>
      <p:sp>
        <p:nvSpPr>
          <p:cNvPr id="30" name="矩形 29">
            <a:extLst>
              <a:ext uri="{FF2B5EF4-FFF2-40B4-BE49-F238E27FC236}">
                <a16:creationId xmlns:a16="http://schemas.microsoft.com/office/drawing/2014/main" id="{B45BB5F9-0871-4416-BB3A-ACC0419462EA}"/>
              </a:ext>
            </a:extLst>
          </p:cNvPr>
          <p:cNvSpPr>
            <a:spLocks noGrp="1"/>
          </p:cNvSpPr>
          <p:nvPr/>
        </p:nvSpPr>
        <p:spPr>
          <a:xfrm>
            <a:off x="3467100" y="2543175"/>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00204A"/>
                </a:solidFill>
                <a:latin typeface="黑体"/>
                <a:ea typeface="黑体"/>
                <a:cs typeface="黑体"/>
              </a:defRPr>
            </a:pPr>
            <a:r>
              <a:rPr>
                <a:latin typeface="Times New Roman"/>
                <a:ea typeface="Times New Roman"/>
                <a:cs typeface="Times New Roman"/>
              </a:rPr>
              <a:t>AI</a:t>
            </a:r>
          </a:p>
        </p:txBody>
      </p:sp>
      <p:sp>
        <p:nvSpPr>
          <p:cNvPr id="31" name="矩形 30">
            <a:extLst>
              <a:ext uri="{FF2B5EF4-FFF2-40B4-BE49-F238E27FC236}">
                <a16:creationId xmlns:a16="http://schemas.microsoft.com/office/drawing/2014/main" id="{9A37BE69-C985-477F-A122-8AEB282601DC}"/>
              </a:ext>
            </a:extLst>
          </p:cNvPr>
          <p:cNvSpPr>
            <a:spLocks noGrp="1"/>
          </p:cNvSpPr>
          <p:nvPr/>
        </p:nvSpPr>
        <p:spPr>
          <a:xfrm>
            <a:off x="4476750" y="2419350"/>
            <a:ext cx="819150" cy="476250"/>
          </a:xfrm>
          <a:prstGeom prst="rect">
            <a:avLst/>
          </a:prstGeom>
          <a:solidFill>
            <a:srgbClr val="DCEDE4"/>
          </a:solidFill>
          <a:ln w="9525">
            <a:solidFill>
              <a:srgbClr val="7BA68D"/>
            </a:solidFill>
            <a:prstDash val="solid"/>
          </a:ln>
        </p:spPr>
        <p:txBody>
          <a:bodyPr/>
          <a:lstStyle/>
          <a:p>
            <a:endParaRPr lang="zh-CN" altLang="en-US"/>
          </a:p>
        </p:txBody>
      </p:sp>
      <p:sp>
        <p:nvSpPr>
          <p:cNvPr id="32" name="矩形 31">
            <a:extLst>
              <a:ext uri="{FF2B5EF4-FFF2-40B4-BE49-F238E27FC236}">
                <a16:creationId xmlns:a16="http://schemas.microsoft.com/office/drawing/2014/main" id="{E8143CBB-BDF9-4860-8E81-E480CDB9F1FC}"/>
              </a:ext>
            </a:extLst>
          </p:cNvPr>
          <p:cNvSpPr>
            <a:spLocks noGrp="1"/>
          </p:cNvSpPr>
          <p:nvPr/>
        </p:nvSpPr>
        <p:spPr>
          <a:xfrm>
            <a:off x="4591050" y="2533650"/>
            <a:ext cx="590550" cy="228600"/>
          </a:xfrm>
          <a:prstGeom prst="rect">
            <a:avLst/>
          </a:prstGeom>
          <a:solidFill>
            <a:srgbClr val="DCEDE4"/>
          </a:solidFill>
          <a:ln w="0">
            <a:solidFill>
              <a:srgbClr val="000000">
                <a:alpha val="0"/>
              </a:srgbClr>
            </a:solidFill>
            <a:prstDash val="solid"/>
          </a:ln>
        </p:spPr>
        <p:txBody>
          <a:bodyPr lIns="0" tIns="0" rIns="0" bIns="0" anchor="t"/>
          <a:lstStyle/>
          <a:p>
            <a:pPr algn="ctr">
              <a:defRPr sz="1500" b="1">
                <a:solidFill>
                  <a:srgbClr val="2F7A5D"/>
                </a:solidFill>
                <a:latin typeface="黑体"/>
                <a:ea typeface="黑体"/>
                <a:cs typeface="黑体"/>
              </a:defRPr>
            </a:pPr>
            <a:r>
              <a:rPr>
                <a:latin typeface="Times New Roman"/>
                <a:ea typeface="Times New Roman"/>
                <a:cs typeface="Times New Roman"/>
              </a:rPr>
              <a:t>1</a:t>
            </a:r>
          </a:p>
        </p:txBody>
      </p:sp>
      <p:sp>
        <p:nvSpPr>
          <p:cNvPr id="33" name="矩形 32">
            <a:extLst>
              <a:ext uri="{FF2B5EF4-FFF2-40B4-BE49-F238E27FC236}">
                <a16:creationId xmlns:a16="http://schemas.microsoft.com/office/drawing/2014/main" id="{C68E033E-AA8A-4E92-9BDB-E16710555B65}"/>
              </a:ext>
            </a:extLst>
          </p:cNvPr>
          <p:cNvSpPr>
            <a:spLocks noGrp="1"/>
          </p:cNvSpPr>
          <p:nvPr/>
        </p:nvSpPr>
        <p:spPr>
          <a:xfrm>
            <a:off x="5372100" y="2419350"/>
            <a:ext cx="819150" cy="476250"/>
          </a:xfrm>
          <a:prstGeom prst="rect">
            <a:avLst/>
          </a:prstGeom>
          <a:solidFill>
            <a:srgbClr val="F4F6F8"/>
          </a:solidFill>
          <a:ln w="9525">
            <a:solidFill>
              <a:srgbClr val="CDD5DF"/>
            </a:solidFill>
            <a:prstDash val="solid"/>
          </a:ln>
        </p:spPr>
        <p:txBody>
          <a:bodyPr/>
          <a:lstStyle/>
          <a:p>
            <a:endParaRPr lang="zh-CN" altLang="en-US"/>
          </a:p>
        </p:txBody>
      </p:sp>
      <p:sp>
        <p:nvSpPr>
          <p:cNvPr id="34" name="矩形 33">
            <a:extLst>
              <a:ext uri="{FF2B5EF4-FFF2-40B4-BE49-F238E27FC236}">
                <a16:creationId xmlns:a16="http://schemas.microsoft.com/office/drawing/2014/main" id="{872A4958-AE77-4484-9F2D-961A674AB4A5}"/>
              </a:ext>
            </a:extLst>
          </p:cNvPr>
          <p:cNvSpPr>
            <a:spLocks noGrp="1"/>
          </p:cNvSpPr>
          <p:nvPr/>
        </p:nvSpPr>
        <p:spPr>
          <a:xfrm>
            <a:off x="5486400" y="2533650"/>
            <a:ext cx="590550" cy="228600"/>
          </a:xfrm>
          <a:prstGeom prst="rect">
            <a:avLst/>
          </a:prstGeom>
          <a:solidFill>
            <a:srgbClr val="F4F6F8"/>
          </a:solidFill>
          <a:ln w="0">
            <a:solidFill>
              <a:srgbClr val="000000">
                <a:alpha val="0"/>
              </a:srgbClr>
            </a:solidFill>
            <a:prstDash val="solid"/>
          </a:ln>
        </p:spPr>
        <p:txBody>
          <a:bodyPr lIns="0" tIns="0" rIns="0" bIns="0" anchor="t"/>
          <a:lstStyle/>
          <a:p>
            <a:pPr algn="ctr">
              <a:defRPr sz="1500" b="1">
                <a:solidFill>
                  <a:srgbClr val="4B5563"/>
                </a:solidFill>
                <a:latin typeface="黑体"/>
                <a:ea typeface="黑体"/>
                <a:cs typeface="黑体"/>
              </a:defRPr>
            </a:pPr>
            <a:r>
              <a:rPr>
                <a:latin typeface="Times New Roman"/>
                <a:ea typeface="Times New Roman"/>
                <a:cs typeface="Times New Roman"/>
              </a:rPr>
              <a:t>0</a:t>
            </a:r>
          </a:p>
        </p:txBody>
      </p:sp>
      <p:sp>
        <p:nvSpPr>
          <p:cNvPr id="35" name="矩形 34">
            <a:extLst>
              <a:ext uri="{FF2B5EF4-FFF2-40B4-BE49-F238E27FC236}">
                <a16:creationId xmlns:a16="http://schemas.microsoft.com/office/drawing/2014/main" id="{7B98AC1B-5BF5-4AA1-851B-718747313833}"/>
              </a:ext>
            </a:extLst>
          </p:cNvPr>
          <p:cNvSpPr>
            <a:spLocks noGrp="1"/>
          </p:cNvSpPr>
          <p:nvPr/>
        </p:nvSpPr>
        <p:spPr>
          <a:xfrm>
            <a:off x="6267450" y="2419350"/>
            <a:ext cx="819150" cy="476250"/>
          </a:xfrm>
          <a:prstGeom prst="rect">
            <a:avLst/>
          </a:prstGeom>
          <a:solidFill>
            <a:srgbClr val="F4F6F8"/>
          </a:solidFill>
          <a:ln w="9525">
            <a:solidFill>
              <a:srgbClr val="CDD5DF"/>
            </a:solidFill>
            <a:prstDash val="solid"/>
          </a:ln>
        </p:spPr>
        <p:txBody>
          <a:bodyPr/>
          <a:lstStyle/>
          <a:p>
            <a:endParaRPr lang="zh-CN" altLang="en-US"/>
          </a:p>
        </p:txBody>
      </p:sp>
      <p:sp>
        <p:nvSpPr>
          <p:cNvPr id="36" name="矩形 35">
            <a:extLst>
              <a:ext uri="{FF2B5EF4-FFF2-40B4-BE49-F238E27FC236}">
                <a16:creationId xmlns:a16="http://schemas.microsoft.com/office/drawing/2014/main" id="{1084AC14-8E92-4A50-958B-D6F4CB748C5F}"/>
              </a:ext>
            </a:extLst>
          </p:cNvPr>
          <p:cNvSpPr>
            <a:spLocks noGrp="1"/>
          </p:cNvSpPr>
          <p:nvPr/>
        </p:nvSpPr>
        <p:spPr>
          <a:xfrm>
            <a:off x="6381750" y="2533650"/>
            <a:ext cx="590550" cy="228600"/>
          </a:xfrm>
          <a:prstGeom prst="rect">
            <a:avLst/>
          </a:prstGeom>
          <a:solidFill>
            <a:srgbClr val="F4F6F8"/>
          </a:solidFill>
          <a:ln w="0">
            <a:solidFill>
              <a:srgbClr val="000000">
                <a:alpha val="0"/>
              </a:srgbClr>
            </a:solidFill>
            <a:prstDash val="solid"/>
          </a:ln>
        </p:spPr>
        <p:txBody>
          <a:bodyPr lIns="0" tIns="0" rIns="0" bIns="0" anchor="t"/>
          <a:lstStyle/>
          <a:p>
            <a:pPr algn="ctr">
              <a:defRPr sz="1500" b="1">
                <a:solidFill>
                  <a:srgbClr val="4B5563"/>
                </a:solidFill>
                <a:latin typeface="黑体"/>
                <a:ea typeface="黑体"/>
                <a:cs typeface="黑体"/>
              </a:defRPr>
            </a:pPr>
            <a:r>
              <a:rPr>
                <a:latin typeface="Times New Roman"/>
                <a:ea typeface="Times New Roman"/>
                <a:cs typeface="Times New Roman"/>
              </a:rPr>
              <a:t>0</a:t>
            </a:r>
          </a:p>
        </p:txBody>
      </p:sp>
      <p:sp>
        <p:nvSpPr>
          <p:cNvPr id="37" name="矩形 36">
            <a:extLst>
              <a:ext uri="{FF2B5EF4-FFF2-40B4-BE49-F238E27FC236}">
                <a16:creationId xmlns:a16="http://schemas.microsoft.com/office/drawing/2014/main" id="{3AE1C599-A172-49E9-BBE3-0D661E537463}"/>
              </a:ext>
            </a:extLst>
          </p:cNvPr>
          <p:cNvSpPr>
            <a:spLocks noGrp="1"/>
          </p:cNvSpPr>
          <p:nvPr/>
        </p:nvSpPr>
        <p:spPr>
          <a:xfrm>
            <a:off x="3467100" y="3209925"/>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00204A"/>
                </a:solidFill>
                <a:latin typeface="黑体"/>
                <a:ea typeface="黑体"/>
                <a:cs typeface="黑体"/>
              </a:defRPr>
            </a:pPr>
            <a:r>
              <a:rPr>
                <a:latin typeface="Times New Roman"/>
                <a:ea typeface="Times New Roman"/>
                <a:cs typeface="Times New Roman"/>
              </a:rPr>
              <a:t>Education</a:t>
            </a:r>
          </a:p>
        </p:txBody>
      </p:sp>
      <p:sp>
        <p:nvSpPr>
          <p:cNvPr id="38" name="矩形 37">
            <a:extLst>
              <a:ext uri="{FF2B5EF4-FFF2-40B4-BE49-F238E27FC236}">
                <a16:creationId xmlns:a16="http://schemas.microsoft.com/office/drawing/2014/main" id="{A764B588-CE6E-4355-B767-F625E929EC79}"/>
              </a:ext>
            </a:extLst>
          </p:cNvPr>
          <p:cNvSpPr>
            <a:spLocks noGrp="1"/>
          </p:cNvSpPr>
          <p:nvPr/>
        </p:nvSpPr>
        <p:spPr>
          <a:xfrm>
            <a:off x="4476750" y="3086100"/>
            <a:ext cx="819150" cy="476250"/>
          </a:xfrm>
          <a:prstGeom prst="rect">
            <a:avLst/>
          </a:prstGeom>
          <a:solidFill>
            <a:srgbClr val="F4F6F8"/>
          </a:solidFill>
          <a:ln w="9525">
            <a:solidFill>
              <a:srgbClr val="CDD5DF"/>
            </a:solidFill>
            <a:prstDash val="solid"/>
          </a:ln>
        </p:spPr>
        <p:txBody>
          <a:bodyPr/>
          <a:lstStyle/>
          <a:p>
            <a:endParaRPr lang="zh-CN" altLang="en-US"/>
          </a:p>
        </p:txBody>
      </p:sp>
      <p:sp>
        <p:nvSpPr>
          <p:cNvPr id="39" name="矩形 38">
            <a:extLst>
              <a:ext uri="{FF2B5EF4-FFF2-40B4-BE49-F238E27FC236}">
                <a16:creationId xmlns:a16="http://schemas.microsoft.com/office/drawing/2014/main" id="{911E4F8A-60BC-46B3-B883-1B83B0FD19CB}"/>
              </a:ext>
            </a:extLst>
          </p:cNvPr>
          <p:cNvSpPr>
            <a:spLocks noGrp="1"/>
          </p:cNvSpPr>
          <p:nvPr/>
        </p:nvSpPr>
        <p:spPr>
          <a:xfrm>
            <a:off x="4591050" y="3200400"/>
            <a:ext cx="590550" cy="228600"/>
          </a:xfrm>
          <a:prstGeom prst="rect">
            <a:avLst/>
          </a:prstGeom>
          <a:solidFill>
            <a:srgbClr val="F4F6F8"/>
          </a:solidFill>
          <a:ln w="0">
            <a:solidFill>
              <a:srgbClr val="000000">
                <a:alpha val="0"/>
              </a:srgbClr>
            </a:solidFill>
            <a:prstDash val="solid"/>
          </a:ln>
        </p:spPr>
        <p:txBody>
          <a:bodyPr lIns="0" tIns="0" rIns="0" bIns="0" anchor="t"/>
          <a:lstStyle/>
          <a:p>
            <a:pPr algn="ctr">
              <a:defRPr sz="1500" b="1">
                <a:solidFill>
                  <a:srgbClr val="4B5563"/>
                </a:solidFill>
                <a:latin typeface="黑体"/>
                <a:ea typeface="黑体"/>
                <a:cs typeface="黑体"/>
              </a:defRPr>
            </a:pPr>
            <a:r>
              <a:rPr>
                <a:latin typeface="Times New Roman"/>
                <a:ea typeface="Times New Roman"/>
                <a:cs typeface="Times New Roman"/>
              </a:rPr>
              <a:t>0</a:t>
            </a:r>
          </a:p>
        </p:txBody>
      </p:sp>
      <p:sp>
        <p:nvSpPr>
          <p:cNvPr id="40" name="矩形 39">
            <a:extLst>
              <a:ext uri="{FF2B5EF4-FFF2-40B4-BE49-F238E27FC236}">
                <a16:creationId xmlns:a16="http://schemas.microsoft.com/office/drawing/2014/main" id="{6E80495F-A72C-4C47-8767-8BA996CB98CA}"/>
              </a:ext>
            </a:extLst>
          </p:cNvPr>
          <p:cNvSpPr>
            <a:spLocks noGrp="1"/>
          </p:cNvSpPr>
          <p:nvPr/>
        </p:nvSpPr>
        <p:spPr>
          <a:xfrm>
            <a:off x="5372100" y="3086100"/>
            <a:ext cx="819150" cy="476250"/>
          </a:xfrm>
          <a:prstGeom prst="rect">
            <a:avLst/>
          </a:prstGeom>
          <a:solidFill>
            <a:srgbClr val="DCEDE4"/>
          </a:solidFill>
          <a:ln w="9525">
            <a:solidFill>
              <a:srgbClr val="7BA68D"/>
            </a:solidFill>
            <a:prstDash val="solid"/>
          </a:ln>
        </p:spPr>
        <p:txBody>
          <a:bodyPr/>
          <a:lstStyle/>
          <a:p>
            <a:endParaRPr lang="zh-CN" altLang="en-US"/>
          </a:p>
        </p:txBody>
      </p:sp>
      <p:sp>
        <p:nvSpPr>
          <p:cNvPr id="41" name="矩形 40">
            <a:extLst>
              <a:ext uri="{FF2B5EF4-FFF2-40B4-BE49-F238E27FC236}">
                <a16:creationId xmlns:a16="http://schemas.microsoft.com/office/drawing/2014/main" id="{002028D9-AEB3-4778-B1CB-0C2640EBAB3B}"/>
              </a:ext>
            </a:extLst>
          </p:cNvPr>
          <p:cNvSpPr>
            <a:spLocks noGrp="1"/>
          </p:cNvSpPr>
          <p:nvPr/>
        </p:nvSpPr>
        <p:spPr>
          <a:xfrm>
            <a:off x="5486400" y="3200400"/>
            <a:ext cx="590550" cy="228600"/>
          </a:xfrm>
          <a:prstGeom prst="rect">
            <a:avLst/>
          </a:prstGeom>
          <a:solidFill>
            <a:srgbClr val="DCEDE4"/>
          </a:solidFill>
          <a:ln w="0">
            <a:solidFill>
              <a:srgbClr val="000000">
                <a:alpha val="0"/>
              </a:srgbClr>
            </a:solidFill>
            <a:prstDash val="solid"/>
          </a:ln>
        </p:spPr>
        <p:txBody>
          <a:bodyPr lIns="0" tIns="0" rIns="0" bIns="0" anchor="t"/>
          <a:lstStyle/>
          <a:p>
            <a:pPr algn="ctr">
              <a:defRPr sz="1500" b="1">
                <a:solidFill>
                  <a:srgbClr val="2F7A5D"/>
                </a:solidFill>
                <a:latin typeface="黑体"/>
                <a:ea typeface="黑体"/>
                <a:cs typeface="黑体"/>
              </a:defRPr>
            </a:pPr>
            <a:r>
              <a:rPr>
                <a:latin typeface="Times New Roman"/>
                <a:ea typeface="Times New Roman"/>
                <a:cs typeface="Times New Roman"/>
              </a:rPr>
              <a:t>1</a:t>
            </a:r>
          </a:p>
        </p:txBody>
      </p:sp>
      <p:sp>
        <p:nvSpPr>
          <p:cNvPr id="42" name="矩形 41">
            <a:extLst>
              <a:ext uri="{FF2B5EF4-FFF2-40B4-BE49-F238E27FC236}">
                <a16:creationId xmlns:a16="http://schemas.microsoft.com/office/drawing/2014/main" id="{5A2C00DF-1C6E-46AF-AB45-3C6E5F0B2937}"/>
              </a:ext>
            </a:extLst>
          </p:cNvPr>
          <p:cNvSpPr>
            <a:spLocks noGrp="1"/>
          </p:cNvSpPr>
          <p:nvPr/>
        </p:nvSpPr>
        <p:spPr>
          <a:xfrm>
            <a:off x="6267450" y="3086100"/>
            <a:ext cx="819150" cy="476250"/>
          </a:xfrm>
          <a:prstGeom prst="rect">
            <a:avLst/>
          </a:prstGeom>
          <a:solidFill>
            <a:srgbClr val="F4F6F8"/>
          </a:solidFill>
          <a:ln w="9525">
            <a:solidFill>
              <a:srgbClr val="CDD5DF"/>
            </a:solidFill>
            <a:prstDash val="solid"/>
          </a:ln>
        </p:spPr>
        <p:txBody>
          <a:bodyPr/>
          <a:lstStyle/>
          <a:p>
            <a:endParaRPr lang="zh-CN" altLang="en-US"/>
          </a:p>
        </p:txBody>
      </p:sp>
      <p:sp>
        <p:nvSpPr>
          <p:cNvPr id="43" name="矩形 42">
            <a:extLst>
              <a:ext uri="{FF2B5EF4-FFF2-40B4-BE49-F238E27FC236}">
                <a16:creationId xmlns:a16="http://schemas.microsoft.com/office/drawing/2014/main" id="{673EDD13-10C4-4EB9-B891-3F5AB4A60313}"/>
              </a:ext>
            </a:extLst>
          </p:cNvPr>
          <p:cNvSpPr>
            <a:spLocks noGrp="1"/>
          </p:cNvSpPr>
          <p:nvPr/>
        </p:nvSpPr>
        <p:spPr>
          <a:xfrm>
            <a:off x="6381750" y="3200400"/>
            <a:ext cx="590550" cy="228600"/>
          </a:xfrm>
          <a:prstGeom prst="rect">
            <a:avLst/>
          </a:prstGeom>
          <a:solidFill>
            <a:srgbClr val="F4F6F8"/>
          </a:solidFill>
          <a:ln w="0">
            <a:solidFill>
              <a:srgbClr val="000000">
                <a:alpha val="0"/>
              </a:srgbClr>
            </a:solidFill>
            <a:prstDash val="solid"/>
          </a:ln>
        </p:spPr>
        <p:txBody>
          <a:bodyPr lIns="0" tIns="0" rIns="0" bIns="0" anchor="t"/>
          <a:lstStyle/>
          <a:p>
            <a:pPr algn="ctr">
              <a:defRPr sz="1500" b="1">
                <a:solidFill>
                  <a:srgbClr val="4B5563"/>
                </a:solidFill>
                <a:latin typeface="黑体"/>
                <a:ea typeface="黑体"/>
                <a:cs typeface="黑体"/>
              </a:defRPr>
            </a:pPr>
            <a:r>
              <a:rPr>
                <a:latin typeface="Times New Roman"/>
                <a:ea typeface="Times New Roman"/>
                <a:cs typeface="Times New Roman"/>
              </a:rPr>
              <a:t>0</a:t>
            </a:r>
          </a:p>
        </p:txBody>
      </p:sp>
      <p:sp>
        <p:nvSpPr>
          <p:cNvPr id="44" name="矩形 43">
            <a:extLst>
              <a:ext uri="{FF2B5EF4-FFF2-40B4-BE49-F238E27FC236}">
                <a16:creationId xmlns:a16="http://schemas.microsoft.com/office/drawing/2014/main" id="{9632760C-42CE-469E-B245-5E511226F201}"/>
              </a:ext>
            </a:extLst>
          </p:cNvPr>
          <p:cNvSpPr>
            <a:spLocks noGrp="1"/>
          </p:cNvSpPr>
          <p:nvPr/>
        </p:nvSpPr>
        <p:spPr>
          <a:xfrm>
            <a:off x="3467100" y="3876675"/>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00204A"/>
                </a:solidFill>
                <a:latin typeface="黑体"/>
                <a:ea typeface="黑体"/>
                <a:cs typeface="黑体"/>
              </a:defRPr>
            </a:pPr>
            <a:r>
              <a:rPr>
                <a:latin typeface="Times New Roman"/>
                <a:ea typeface="Times New Roman"/>
                <a:cs typeface="Times New Roman"/>
              </a:rPr>
              <a:t>Psychology</a:t>
            </a:r>
          </a:p>
        </p:txBody>
      </p:sp>
      <p:sp>
        <p:nvSpPr>
          <p:cNvPr id="45" name="矩形 44">
            <a:extLst>
              <a:ext uri="{FF2B5EF4-FFF2-40B4-BE49-F238E27FC236}">
                <a16:creationId xmlns:a16="http://schemas.microsoft.com/office/drawing/2014/main" id="{06850D60-EF2B-44FB-B610-699FDF78FF16}"/>
              </a:ext>
            </a:extLst>
          </p:cNvPr>
          <p:cNvSpPr>
            <a:spLocks noGrp="1"/>
          </p:cNvSpPr>
          <p:nvPr/>
        </p:nvSpPr>
        <p:spPr>
          <a:xfrm>
            <a:off x="4476750" y="3752850"/>
            <a:ext cx="819150" cy="476250"/>
          </a:xfrm>
          <a:prstGeom prst="rect">
            <a:avLst/>
          </a:prstGeom>
          <a:solidFill>
            <a:srgbClr val="F4F6F8"/>
          </a:solidFill>
          <a:ln w="9525">
            <a:solidFill>
              <a:srgbClr val="CDD5DF"/>
            </a:solidFill>
            <a:prstDash val="solid"/>
          </a:ln>
        </p:spPr>
        <p:txBody>
          <a:bodyPr/>
          <a:lstStyle/>
          <a:p>
            <a:endParaRPr lang="zh-CN" altLang="en-US"/>
          </a:p>
        </p:txBody>
      </p:sp>
      <p:sp>
        <p:nvSpPr>
          <p:cNvPr id="46" name="矩形 45">
            <a:extLst>
              <a:ext uri="{FF2B5EF4-FFF2-40B4-BE49-F238E27FC236}">
                <a16:creationId xmlns:a16="http://schemas.microsoft.com/office/drawing/2014/main" id="{0998F7F3-AB40-4786-A19B-EC84EC760CA0}"/>
              </a:ext>
            </a:extLst>
          </p:cNvPr>
          <p:cNvSpPr>
            <a:spLocks noGrp="1"/>
          </p:cNvSpPr>
          <p:nvPr/>
        </p:nvSpPr>
        <p:spPr>
          <a:xfrm>
            <a:off x="4591050" y="3867150"/>
            <a:ext cx="590550" cy="228600"/>
          </a:xfrm>
          <a:prstGeom prst="rect">
            <a:avLst/>
          </a:prstGeom>
          <a:solidFill>
            <a:srgbClr val="F4F6F8"/>
          </a:solidFill>
          <a:ln w="0">
            <a:solidFill>
              <a:srgbClr val="000000">
                <a:alpha val="0"/>
              </a:srgbClr>
            </a:solidFill>
            <a:prstDash val="solid"/>
          </a:ln>
        </p:spPr>
        <p:txBody>
          <a:bodyPr lIns="0" tIns="0" rIns="0" bIns="0" anchor="t"/>
          <a:lstStyle/>
          <a:p>
            <a:pPr algn="ctr">
              <a:defRPr sz="1500" b="1">
                <a:solidFill>
                  <a:srgbClr val="4B5563"/>
                </a:solidFill>
                <a:latin typeface="黑体"/>
                <a:ea typeface="黑体"/>
                <a:cs typeface="黑体"/>
              </a:defRPr>
            </a:pPr>
            <a:r>
              <a:rPr>
                <a:latin typeface="Times New Roman"/>
                <a:ea typeface="Times New Roman"/>
                <a:cs typeface="Times New Roman"/>
              </a:rPr>
              <a:t>0</a:t>
            </a:r>
          </a:p>
        </p:txBody>
      </p:sp>
      <p:sp>
        <p:nvSpPr>
          <p:cNvPr id="47" name="矩形 46">
            <a:extLst>
              <a:ext uri="{FF2B5EF4-FFF2-40B4-BE49-F238E27FC236}">
                <a16:creationId xmlns:a16="http://schemas.microsoft.com/office/drawing/2014/main" id="{1582FC97-6355-4F75-A4F4-800950404D5D}"/>
              </a:ext>
            </a:extLst>
          </p:cNvPr>
          <p:cNvSpPr>
            <a:spLocks noGrp="1"/>
          </p:cNvSpPr>
          <p:nvPr/>
        </p:nvSpPr>
        <p:spPr>
          <a:xfrm>
            <a:off x="5372100" y="3752850"/>
            <a:ext cx="819150" cy="476250"/>
          </a:xfrm>
          <a:prstGeom prst="rect">
            <a:avLst/>
          </a:prstGeom>
          <a:solidFill>
            <a:srgbClr val="F4F6F8"/>
          </a:solidFill>
          <a:ln w="9525">
            <a:solidFill>
              <a:srgbClr val="CDD5DF"/>
            </a:solidFill>
            <a:prstDash val="solid"/>
          </a:ln>
        </p:spPr>
        <p:txBody>
          <a:bodyPr/>
          <a:lstStyle/>
          <a:p>
            <a:endParaRPr lang="zh-CN" altLang="en-US"/>
          </a:p>
        </p:txBody>
      </p:sp>
      <p:sp>
        <p:nvSpPr>
          <p:cNvPr id="48" name="矩形 47">
            <a:extLst>
              <a:ext uri="{FF2B5EF4-FFF2-40B4-BE49-F238E27FC236}">
                <a16:creationId xmlns:a16="http://schemas.microsoft.com/office/drawing/2014/main" id="{1B673743-DD5B-4F4C-B6BE-940D449A9D35}"/>
              </a:ext>
            </a:extLst>
          </p:cNvPr>
          <p:cNvSpPr>
            <a:spLocks noGrp="1"/>
          </p:cNvSpPr>
          <p:nvPr/>
        </p:nvSpPr>
        <p:spPr>
          <a:xfrm>
            <a:off x="5486400" y="3867150"/>
            <a:ext cx="590550" cy="228600"/>
          </a:xfrm>
          <a:prstGeom prst="rect">
            <a:avLst/>
          </a:prstGeom>
          <a:solidFill>
            <a:srgbClr val="F4F6F8"/>
          </a:solidFill>
          <a:ln w="0">
            <a:solidFill>
              <a:srgbClr val="000000">
                <a:alpha val="0"/>
              </a:srgbClr>
            </a:solidFill>
            <a:prstDash val="solid"/>
          </a:ln>
        </p:spPr>
        <p:txBody>
          <a:bodyPr lIns="0" tIns="0" rIns="0" bIns="0" anchor="t"/>
          <a:lstStyle/>
          <a:p>
            <a:pPr algn="ctr">
              <a:defRPr sz="1500" b="1">
                <a:solidFill>
                  <a:srgbClr val="4B5563"/>
                </a:solidFill>
                <a:latin typeface="黑体"/>
                <a:ea typeface="黑体"/>
                <a:cs typeface="黑体"/>
              </a:defRPr>
            </a:pPr>
            <a:r>
              <a:rPr>
                <a:latin typeface="Times New Roman"/>
                <a:ea typeface="Times New Roman"/>
                <a:cs typeface="Times New Roman"/>
              </a:rPr>
              <a:t>0</a:t>
            </a:r>
          </a:p>
        </p:txBody>
      </p:sp>
      <p:sp>
        <p:nvSpPr>
          <p:cNvPr id="49" name="矩形 48">
            <a:extLst>
              <a:ext uri="{FF2B5EF4-FFF2-40B4-BE49-F238E27FC236}">
                <a16:creationId xmlns:a16="http://schemas.microsoft.com/office/drawing/2014/main" id="{6AA7C86A-5AC2-4E48-B5D1-1A5BB4134DDA}"/>
              </a:ext>
            </a:extLst>
          </p:cNvPr>
          <p:cNvSpPr>
            <a:spLocks noGrp="1"/>
          </p:cNvSpPr>
          <p:nvPr/>
        </p:nvSpPr>
        <p:spPr>
          <a:xfrm>
            <a:off x="6267450" y="3752850"/>
            <a:ext cx="819150" cy="476250"/>
          </a:xfrm>
          <a:prstGeom prst="rect">
            <a:avLst/>
          </a:prstGeom>
          <a:solidFill>
            <a:srgbClr val="DCEDE4"/>
          </a:solidFill>
          <a:ln w="9525">
            <a:solidFill>
              <a:srgbClr val="7BA68D"/>
            </a:solidFill>
            <a:prstDash val="solid"/>
          </a:ln>
        </p:spPr>
        <p:txBody>
          <a:bodyPr/>
          <a:lstStyle/>
          <a:p>
            <a:endParaRPr lang="zh-CN" altLang="en-US"/>
          </a:p>
        </p:txBody>
      </p:sp>
      <p:sp>
        <p:nvSpPr>
          <p:cNvPr id="50" name="矩形 49">
            <a:extLst>
              <a:ext uri="{FF2B5EF4-FFF2-40B4-BE49-F238E27FC236}">
                <a16:creationId xmlns:a16="http://schemas.microsoft.com/office/drawing/2014/main" id="{E6692A80-02D8-41DE-AAF7-67FD319C4854}"/>
              </a:ext>
            </a:extLst>
          </p:cNvPr>
          <p:cNvSpPr>
            <a:spLocks noGrp="1"/>
          </p:cNvSpPr>
          <p:nvPr/>
        </p:nvSpPr>
        <p:spPr>
          <a:xfrm>
            <a:off x="6381750" y="3867150"/>
            <a:ext cx="590550" cy="228600"/>
          </a:xfrm>
          <a:prstGeom prst="rect">
            <a:avLst/>
          </a:prstGeom>
          <a:solidFill>
            <a:srgbClr val="DCEDE4"/>
          </a:solidFill>
          <a:ln w="0">
            <a:solidFill>
              <a:srgbClr val="000000">
                <a:alpha val="0"/>
              </a:srgbClr>
            </a:solidFill>
            <a:prstDash val="solid"/>
          </a:ln>
        </p:spPr>
        <p:txBody>
          <a:bodyPr lIns="0" tIns="0" rIns="0" bIns="0" anchor="t"/>
          <a:lstStyle/>
          <a:p>
            <a:pPr algn="ctr">
              <a:defRPr sz="1500" b="1">
                <a:solidFill>
                  <a:srgbClr val="2F7A5D"/>
                </a:solidFill>
                <a:latin typeface="黑体"/>
                <a:ea typeface="黑体"/>
                <a:cs typeface="黑体"/>
              </a:defRPr>
            </a:pPr>
            <a:r>
              <a:rPr>
                <a:latin typeface="Times New Roman"/>
                <a:ea typeface="Times New Roman"/>
                <a:cs typeface="Times New Roman"/>
              </a:rPr>
              <a:t>1</a:t>
            </a:r>
          </a:p>
        </p:txBody>
      </p:sp>
      <p:sp>
        <p:nvSpPr>
          <p:cNvPr id="51" name="矩形 50">
            <a:extLst>
              <a:ext uri="{FF2B5EF4-FFF2-40B4-BE49-F238E27FC236}">
                <a16:creationId xmlns:a16="http://schemas.microsoft.com/office/drawing/2014/main" id="{B0D13188-7245-46E4-BB6D-B0793A9F2047}"/>
              </a:ext>
            </a:extLst>
          </p:cNvPr>
          <p:cNvSpPr>
            <a:spLocks noGrp="1"/>
          </p:cNvSpPr>
          <p:nvPr/>
        </p:nvSpPr>
        <p:spPr>
          <a:xfrm>
            <a:off x="3581400" y="4533900"/>
            <a:ext cx="3619500" cy="514350"/>
          </a:xfrm>
          <a:prstGeom prst="rect">
            <a:avLst/>
          </a:prstGeom>
          <a:solidFill>
            <a:srgbClr val="F3F8F5"/>
          </a:solidFill>
          <a:ln w="9525">
            <a:solidFill>
              <a:srgbClr val="A8C6B4"/>
            </a:solidFill>
            <a:prstDash val="solid"/>
          </a:ln>
        </p:spPr>
        <p:txBody>
          <a:bodyPr/>
          <a:lstStyle/>
          <a:p>
            <a:endParaRPr lang="zh-CN" altLang="en-US"/>
          </a:p>
        </p:txBody>
      </p:sp>
      <p:sp>
        <p:nvSpPr>
          <p:cNvPr id="52" name="矩形 51">
            <a:extLst>
              <a:ext uri="{FF2B5EF4-FFF2-40B4-BE49-F238E27FC236}">
                <a16:creationId xmlns:a16="http://schemas.microsoft.com/office/drawing/2014/main" id="{9967FD04-95A5-46C4-93F9-775C2E9F8F0F}"/>
              </a:ext>
            </a:extLst>
          </p:cNvPr>
          <p:cNvSpPr>
            <a:spLocks noGrp="1"/>
          </p:cNvSpPr>
          <p:nvPr/>
        </p:nvSpPr>
        <p:spPr>
          <a:xfrm>
            <a:off x="3733800" y="4686300"/>
            <a:ext cx="3314700" cy="228600"/>
          </a:xfrm>
          <a:prstGeom prst="rect">
            <a:avLst/>
          </a:prstGeom>
          <a:solidFill>
            <a:srgbClr val="F3F8F5"/>
          </a:solidFill>
          <a:ln w="0">
            <a:solidFill>
              <a:srgbClr val="000000">
                <a:alpha val="0"/>
              </a:srgbClr>
            </a:solidFill>
            <a:prstDash val="solid"/>
          </a:ln>
        </p:spPr>
        <p:txBody>
          <a:bodyPr lIns="0" tIns="0" rIns="0" bIns="0" anchor="t"/>
          <a:lstStyle/>
          <a:p>
            <a:pPr algn="ctr">
              <a:defRPr sz="1125" b="1">
                <a:solidFill>
                  <a:srgbClr val="2F7A5D"/>
                </a:solidFill>
                <a:latin typeface="黑体"/>
                <a:ea typeface="黑体"/>
                <a:cs typeface="黑体"/>
              </a:defRPr>
            </a:pPr>
            <a:r>
              <a:rPr>
                <a:latin typeface="黑体"/>
                <a:ea typeface="黑体"/>
                <a:cs typeface="黑体"/>
              </a:rPr>
              <a:t>每一行只有一个 </a:t>
            </a:r>
            <a:r>
              <a:rPr>
                <a:latin typeface="Times New Roman"/>
                <a:ea typeface="Times New Roman"/>
                <a:cs typeface="Times New Roman"/>
              </a:rPr>
              <a:t>1，</a:t>
            </a:r>
            <a:r>
              <a:rPr>
                <a:latin typeface="黑体"/>
                <a:ea typeface="黑体"/>
                <a:cs typeface="黑体"/>
              </a:rPr>
              <a:t>类别之间没有大小关系</a:t>
            </a:r>
          </a:p>
        </p:txBody>
      </p:sp>
      <p:sp>
        <p:nvSpPr>
          <p:cNvPr id="53" name="矩形 52">
            <a:extLst>
              <a:ext uri="{FF2B5EF4-FFF2-40B4-BE49-F238E27FC236}">
                <a16:creationId xmlns:a16="http://schemas.microsoft.com/office/drawing/2014/main" id="{9E6FA40B-2BDA-45FB-BD5C-6A1D24858D2A}"/>
              </a:ext>
            </a:extLst>
          </p:cNvPr>
          <p:cNvSpPr>
            <a:spLocks noGrp="1"/>
          </p:cNvSpPr>
          <p:nvPr/>
        </p:nvSpPr>
        <p:spPr>
          <a:xfrm>
            <a:off x="7600950" y="2571750"/>
            <a:ext cx="419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B4964B"/>
                </a:solidFill>
                <a:latin typeface="黑体"/>
                <a:ea typeface="黑体"/>
                <a:cs typeface="黑体"/>
              </a:defRPr>
            </a:pPr>
            <a:r>
              <a:rPr>
                <a:latin typeface="黑体"/>
                <a:ea typeface="黑体"/>
                <a:cs typeface="黑体"/>
              </a:rPr>
              <a:t>删去
基准列</a:t>
            </a:r>
          </a:p>
        </p:txBody>
      </p:sp>
      <p:sp>
        <p:nvSpPr>
          <p:cNvPr id="54" name="矩形 53">
            <a:extLst>
              <a:ext uri="{FF2B5EF4-FFF2-40B4-BE49-F238E27FC236}">
                <a16:creationId xmlns:a16="http://schemas.microsoft.com/office/drawing/2014/main" id="{80E920D5-BEB6-4C2F-9D4F-A780FF0E43EB}"/>
              </a:ext>
            </a:extLst>
          </p:cNvPr>
          <p:cNvSpPr>
            <a:spLocks noGrp="1"/>
          </p:cNvSpPr>
          <p:nvPr/>
        </p:nvSpPr>
        <p:spPr>
          <a:xfrm>
            <a:off x="7581900" y="3028950"/>
            <a:ext cx="4572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550" b="1">
                <a:solidFill>
                  <a:srgbClr val="B4964B"/>
                </a:solidFill>
                <a:latin typeface="黑体"/>
                <a:ea typeface="黑体"/>
                <a:cs typeface="黑体"/>
              </a:defRPr>
            </a:pPr>
            <a:r>
              <a:rPr>
                <a:latin typeface="Times New Roman"/>
                <a:ea typeface="Times New Roman"/>
                <a:cs typeface="Times New Roman"/>
              </a:rPr>
              <a:t>→</a:t>
            </a:r>
          </a:p>
        </p:txBody>
      </p:sp>
      <p:sp>
        <p:nvSpPr>
          <p:cNvPr id="55" name="矩形 54">
            <a:extLst>
              <a:ext uri="{FF2B5EF4-FFF2-40B4-BE49-F238E27FC236}">
                <a16:creationId xmlns:a16="http://schemas.microsoft.com/office/drawing/2014/main" id="{CD7AE554-0867-4794-B7D5-3F19E7B3965E}"/>
              </a:ext>
            </a:extLst>
          </p:cNvPr>
          <p:cNvSpPr>
            <a:spLocks noGrp="1"/>
          </p:cNvSpPr>
          <p:nvPr/>
        </p:nvSpPr>
        <p:spPr>
          <a:xfrm>
            <a:off x="8343900" y="2095500"/>
            <a:ext cx="2990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8A6D1D"/>
                </a:solidFill>
                <a:latin typeface="黑体"/>
                <a:ea typeface="黑体"/>
                <a:cs typeface="黑体"/>
              </a:defRPr>
            </a:pPr>
            <a:r>
              <a:rPr>
                <a:latin typeface="Times New Roman"/>
                <a:ea typeface="Times New Roman"/>
                <a:cs typeface="Times New Roman"/>
              </a:rPr>
              <a:t>Psychology </a:t>
            </a:r>
            <a:r>
              <a:rPr>
                <a:latin typeface="黑体"/>
                <a:ea typeface="黑体"/>
                <a:cs typeface="黑体"/>
              </a:rPr>
              <a:t>为基准类别</a:t>
            </a:r>
          </a:p>
        </p:txBody>
      </p:sp>
      <p:sp>
        <p:nvSpPr>
          <p:cNvPr id="56" name="矩形 55">
            <a:extLst>
              <a:ext uri="{FF2B5EF4-FFF2-40B4-BE49-F238E27FC236}">
                <a16:creationId xmlns:a16="http://schemas.microsoft.com/office/drawing/2014/main" id="{92A93944-39C4-4477-84CB-9867F5C754A5}"/>
              </a:ext>
            </a:extLst>
          </p:cNvPr>
          <p:cNvSpPr>
            <a:spLocks noGrp="1"/>
          </p:cNvSpPr>
          <p:nvPr/>
        </p:nvSpPr>
        <p:spPr>
          <a:xfrm>
            <a:off x="9639300" y="2362200"/>
            <a:ext cx="7048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Times New Roman"/>
                <a:ea typeface="Times New Roman"/>
                <a:cs typeface="Times New Roman"/>
              </a:rPr>
              <a:t>AI</a:t>
            </a:r>
          </a:p>
        </p:txBody>
      </p:sp>
      <p:sp>
        <p:nvSpPr>
          <p:cNvPr id="57" name="矩形 56">
            <a:extLst>
              <a:ext uri="{FF2B5EF4-FFF2-40B4-BE49-F238E27FC236}">
                <a16:creationId xmlns:a16="http://schemas.microsoft.com/office/drawing/2014/main" id="{AFA01C18-0D6B-4230-925A-61D30019EBCB}"/>
              </a:ext>
            </a:extLst>
          </p:cNvPr>
          <p:cNvSpPr>
            <a:spLocks noGrp="1"/>
          </p:cNvSpPr>
          <p:nvPr/>
        </p:nvSpPr>
        <p:spPr>
          <a:xfrm>
            <a:off x="10439400" y="2362200"/>
            <a:ext cx="7048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Times New Roman"/>
                <a:ea typeface="Times New Roman"/>
                <a:cs typeface="Times New Roman"/>
              </a:rPr>
              <a:t>Education</a:t>
            </a:r>
          </a:p>
        </p:txBody>
      </p:sp>
      <p:sp>
        <p:nvSpPr>
          <p:cNvPr id="58" name="矩形 57">
            <a:extLst>
              <a:ext uri="{FF2B5EF4-FFF2-40B4-BE49-F238E27FC236}">
                <a16:creationId xmlns:a16="http://schemas.microsoft.com/office/drawing/2014/main" id="{E9DF8DAC-F815-4CE3-A409-7FCD21EC14CA}"/>
              </a:ext>
            </a:extLst>
          </p:cNvPr>
          <p:cNvSpPr>
            <a:spLocks noGrp="1"/>
          </p:cNvSpPr>
          <p:nvPr/>
        </p:nvSpPr>
        <p:spPr>
          <a:xfrm>
            <a:off x="8382000" y="2762250"/>
            <a:ext cx="1104900" cy="209550"/>
          </a:xfrm>
          <a:prstGeom prst="rect">
            <a:avLst/>
          </a:prstGeom>
          <a:solidFill>
            <a:srgbClr val="FFFFFF"/>
          </a:solidFill>
          <a:ln w="0">
            <a:solidFill>
              <a:srgbClr val="000000">
                <a:alpha val="0"/>
              </a:srgbClr>
            </a:solidFill>
            <a:prstDash val="solid"/>
          </a:ln>
        </p:spPr>
        <p:txBody>
          <a:bodyPr lIns="0" tIns="0" rIns="0" bIns="0" anchor="t"/>
          <a:lstStyle/>
          <a:p>
            <a:pPr algn="r">
              <a:defRPr sz="975" b="1">
                <a:solidFill>
                  <a:srgbClr val="00204A"/>
                </a:solidFill>
                <a:latin typeface="黑体"/>
                <a:ea typeface="黑体"/>
                <a:cs typeface="黑体"/>
              </a:defRPr>
            </a:pPr>
            <a:r>
              <a:rPr>
                <a:latin typeface="Times New Roman"/>
                <a:ea typeface="Times New Roman"/>
                <a:cs typeface="Times New Roman"/>
              </a:rPr>
              <a:t>AI</a:t>
            </a:r>
          </a:p>
        </p:txBody>
      </p:sp>
      <p:sp>
        <p:nvSpPr>
          <p:cNvPr id="59" name="矩形 58">
            <a:extLst>
              <a:ext uri="{FF2B5EF4-FFF2-40B4-BE49-F238E27FC236}">
                <a16:creationId xmlns:a16="http://schemas.microsoft.com/office/drawing/2014/main" id="{BA8B34A2-8F16-4001-8E81-1706371C3214}"/>
              </a:ext>
            </a:extLst>
          </p:cNvPr>
          <p:cNvSpPr>
            <a:spLocks noGrp="1"/>
          </p:cNvSpPr>
          <p:nvPr/>
        </p:nvSpPr>
        <p:spPr>
          <a:xfrm>
            <a:off x="9639300" y="2667000"/>
            <a:ext cx="704850" cy="419100"/>
          </a:xfrm>
          <a:prstGeom prst="rect">
            <a:avLst/>
          </a:prstGeom>
          <a:solidFill>
            <a:srgbClr val="DCEDE4"/>
          </a:solidFill>
          <a:ln w="9525">
            <a:solidFill>
              <a:srgbClr val="7BA68D"/>
            </a:solidFill>
            <a:prstDash val="solid"/>
          </a:ln>
        </p:spPr>
        <p:txBody>
          <a:bodyPr/>
          <a:lstStyle/>
          <a:p>
            <a:endParaRPr lang="zh-CN" altLang="en-US"/>
          </a:p>
        </p:txBody>
      </p:sp>
      <p:sp>
        <p:nvSpPr>
          <p:cNvPr id="60" name="矩形 59">
            <a:extLst>
              <a:ext uri="{FF2B5EF4-FFF2-40B4-BE49-F238E27FC236}">
                <a16:creationId xmlns:a16="http://schemas.microsoft.com/office/drawing/2014/main" id="{F7A74900-0885-4D52-AC5F-F1B9BABE358E}"/>
              </a:ext>
            </a:extLst>
          </p:cNvPr>
          <p:cNvSpPr>
            <a:spLocks noGrp="1"/>
          </p:cNvSpPr>
          <p:nvPr/>
        </p:nvSpPr>
        <p:spPr>
          <a:xfrm>
            <a:off x="9734550" y="2762250"/>
            <a:ext cx="514350" cy="209550"/>
          </a:xfrm>
          <a:prstGeom prst="rect">
            <a:avLst/>
          </a:prstGeom>
          <a:solidFill>
            <a:srgbClr val="DCEDE4"/>
          </a:solidFill>
          <a:ln w="0">
            <a:solidFill>
              <a:srgbClr val="000000">
                <a:alpha val="0"/>
              </a:srgbClr>
            </a:solidFill>
            <a:prstDash val="solid"/>
          </a:ln>
        </p:spPr>
        <p:txBody>
          <a:bodyPr lIns="0" tIns="0" rIns="0" bIns="0" anchor="t"/>
          <a:lstStyle/>
          <a:p>
            <a:pPr algn="ctr">
              <a:defRPr sz="1350" b="1">
                <a:solidFill>
                  <a:srgbClr val="2F7A5D"/>
                </a:solidFill>
                <a:latin typeface="黑体"/>
                <a:ea typeface="黑体"/>
                <a:cs typeface="黑体"/>
              </a:defRPr>
            </a:pPr>
            <a:r>
              <a:rPr>
                <a:latin typeface="Times New Roman"/>
                <a:ea typeface="Times New Roman"/>
                <a:cs typeface="Times New Roman"/>
              </a:rPr>
              <a:t>1</a:t>
            </a:r>
          </a:p>
        </p:txBody>
      </p:sp>
      <p:sp>
        <p:nvSpPr>
          <p:cNvPr id="61" name="矩形 60">
            <a:extLst>
              <a:ext uri="{FF2B5EF4-FFF2-40B4-BE49-F238E27FC236}">
                <a16:creationId xmlns:a16="http://schemas.microsoft.com/office/drawing/2014/main" id="{EF8A0114-AAED-495B-BCD1-D626DF3FC7A0}"/>
              </a:ext>
            </a:extLst>
          </p:cNvPr>
          <p:cNvSpPr>
            <a:spLocks noGrp="1"/>
          </p:cNvSpPr>
          <p:nvPr/>
        </p:nvSpPr>
        <p:spPr>
          <a:xfrm>
            <a:off x="10439400" y="2667000"/>
            <a:ext cx="704850" cy="419100"/>
          </a:xfrm>
          <a:prstGeom prst="rect">
            <a:avLst/>
          </a:prstGeom>
          <a:solidFill>
            <a:srgbClr val="F4F6F8"/>
          </a:solidFill>
          <a:ln w="9525">
            <a:solidFill>
              <a:srgbClr val="CDD5DF"/>
            </a:solidFill>
            <a:prstDash val="solid"/>
          </a:ln>
        </p:spPr>
        <p:txBody>
          <a:bodyPr/>
          <a:lstStyle/>
          <a:p>
            <a:endParaRPr lang="zh-CN" altLang="en-US"/>
          </a:p>
        </p:txBody>
      </p:sp>
      <p:sp>
        <p:nvSpPr>
          <p:cNvPr id="62" name="矩形 61">
            <a:extLst>
              <a:ext uri="{FF2B5EF4-FFF2-40B4-BE49-F238E27FC236}">
                <a16:creationId xmlns:a16="http://schemas.microsoft.com/office/drawing/2014/main" id="{358C900A-67D5-441C-A67E-E46C73C247B5}"/>
              </a:ext>
            </a:extLst>
          </p:cNvPr>
          <p:cNvSpPr>
            <a:spLocks noGrp="1"/>
          </p:cNvSpPr>
          <p:nvPr/>
        </p:nvSpPr>
        <p:spPr>
          <a:xfrm>
            <a:off x="10534650" y="2762250"/>
            <a:ext cx="514350" cy="209550"/>
          </a:xfrm>
          <a:prstGeom prst="rect">
            <a:avLst/>
          </a:prstGeom>
          <a:solidFill>
            <a:srgbClr val="F4F6F8"/>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63" name="矩形 62">
            <a:extLst>
              <a:ext uri="{FF2B5EF4-FFF2-40B4-BE49-F238E27FC236}">
                <a16:creationId xmlns:a16="http://schemas.microsoft.com/office/drawing/2014/main" id="{7EAC32C0-043E-4655-9D54-49F811C2CDFB}"/>
              </a:ext>
            </a:extLst>
          </p:cNvPr>
          <p:cNvSpPr>
            <a:spLocks noGrp="1"/>
          </p:cNvSpPr>
          <p:nvPr/>
        </p:nvSpPr>
        <p:spPr>
          <a:xfrm>
            <a:off x="8382000" y="3371850"/>
            <a:ext cx="1104900" cy="209550"/>
          </a:xfrm>
          <a:prstGeom prst="rect">
            <a:avLst/>
          </a:prstGeom>
          <a:solidFill>
            <a:srgbClr val="FFFFFF"/>
          </a:solidFill>
          <a:ln w="0">
            <a:solidFill>
              <a:srgbClr val="000000">
                <a:alpha val="0"/>
              </a:srgbClr>
            </a:solidFill>
            <a:prstDash val="solid"/>
          </a:ln>
        </p:spPr>
        <p:txBody>
          <a:bodyPr lIns="0" tIns="0" rIns="0" bIns="0" anchor="t"/>
          <a:lstStyle/>
          <a:p>
            <a:pPr algn="r">
              <a:defRPr sz="975" b="1">
                <a:solidFill>
                  <a:srgbClr val="00204A"/>
                </a:solidFill>
                <a:latin typeface="黑体"/>
                <a:ea typeface="黑体"/>
                <a:cs typeface="黑体"/>
              </a:defRPr>
            </a:pPr>
            <a:r>
              <a:rPr>
                <a:latin typeface="Times New Roman"/>
                <a:ea typeface="Times New Roman"/>
                <a:cs typeface="Times New Roman"/>
              </a:rPr>
              <a:t>Education</a:t>
            </a:r>
          </a:p>
        </p:txBody>
      </p:sp>
      <p:sp>
        <p:nvSpPr>
          <p:cNvPr id="64" name="矩形 63">
            <a:extLst>
              <a:ext uri="{FF2B5EF4-FFF2-40B4-BE49-F238E27FC236}">
                <a16:creationId xmlns:a16="http://schemas.microsoft.com/office/drawing/2014/main" id="{0338493B-4048-4DA1-9B3C-BB95066B944B}"/>
              </a:ext>
            </a:extLst>
          </p:cNvPr>
          <p:cNvSpPr>
            <a:spLocks noGrp="1"/>
          </p:cNvSpPr>
          <p:nvPr/>
        </p:nvSpPr>
        <p:spPr>
          <a:xfrm>
            <a:off x="9639300" y="3276600"/>
            <a:ext cx="704850" cy="419100"/>
          </a:xfrm>
          <a:prstGeom prst="rect">
            <a:avLst/>
          </a:prstGeom>
          <a:solidFill>
            <a:srgbClr val="F4F6F8"/>
          </a:solidFill>
          <a:ln w="9525">
            <a:solidFill>
              <a:srgbClr val="CDD5DF"/>
            </a:solidFill>
            <a:prstDash val="solid"/>
          </a:ln>
        </p:spPr>
        <p:txBody>
          <a:bodyPr/>
          <a:lstStyle/>
          <a:p>
            <a:endParaRPr lang="zh-CN" altLang="en-US"/>
          </a:p>
        </p:txBody>
      </p:sp>
      <p:sp>
        <p:nvSpPr>
          <p:cNvPr id="65" name="矩形 64">
            <a:extLst>
              <a:ext uri="{FF2B5EF4-FFF2-40B4-BE49-F238E27FC236}">
                <a16:creationId xmlns:a16="http://schemas.microsoft.com/office/drawing/2014/main" id="{D22AEB0D-E111-434C-82FB-F5DAE346BFB0}"/>
              </a:ext>
            </a:extLst>
          </p:cNvPr>
          <p:cNvSpPr>
            <a:spLocks noGrp="1"/>
          </p:cNvSpPr>
          <p:nvPr/>
        </p:nvSpPr>
        <p:spPr>
          <a:xfrm>
            <a:off x="9734550" y="3371850"/>
            <a:ext cx="514350" cy="209550"/>
          </a:xfrm>
          <a:prstGeom prst="rect">
            <a:avLst/>
          </a:prstGeom>
          <a:solidFill>
            <a:srgbClr val="F4F6F8"/>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66" name="矩形 65">
            <a:extLst>
              <a:ext uri="{FF2B5EF4-FFF2-40B4-BE49-F238E27FC236}">
                <a16:creationId xmlns:a16="http://schemas.microsoft.com/office/drawing/2014/main" id="{D415B892-0409-49CA-A063-94AA32AA7BDA}"/>
              </a:ext>
            </a:extLst>
          </p:cNvPr>
          <p:cNvSpPr>
            <a:spLocks noGrp="1"/>
          </p:cNvSpPr>
          <p:nvPr/>
        </p:nvSpPr>
        <p:spPr>
          <a:xfrm>
            <a:off x="10439400" y="3276600"/>
            <a:ext cx="704850" cy="419100"/>
          </a:xfrm>
          <a:prstGeom prst="rect">
            <a:avLst/>
          </a:prstGeom>
          <a:solidFill>
            <a:srgbClr val="DCEDE4"/>
          </a:solidFill>
          <a:ln w="9525">
            <a:solidFill>
              <a:srgbClr val="7BA68D"/>
            </a:solidFill>
            <a:prstDash val="solid"/>
          </a:ln>
        </p:spPr>
        <p:txBody>
          <a:bodyPr/>
          <a:lstStyle/>
          <a:p>
            <a:endParaRPr lang="zh-CN" altLang="en-US"/>
          </a:p>
        </p:txBody>
      </p:sp>
      <p:sp>
        <p:nvSpPr>
          <p:cNvPr id="67" name="矩形 66">
            <a:extLst>
              <a:ext uri="{FF2B5EF4-FFF2-40B4-BE49-F238E27FC236}">
                <a16:creationId xmlns:a16="http://schemas.microsoft.com/office/drawing/2014/main" id="{404D3642-C57E-458C-8C00-4E9D504C1E51}"/>
              </a:ext>
            </a:extLst>
          </p:cNvPr>
          <p:cNvSpPr>
            <a:spLocks noGrp="1"/>
          </p:cNvSpPr>
          <p:nvPr/>
        </p:nvSpPr>
        <p:spPr>
          <a:xfrm>
            <a:off x="10534650" y="3371850"/>
            <a:ext cx="514350" cy="209550"/>
          </a:xfrm>
          <a:prstGeom prst="rect">
            <a:avLst/>
          </a:prstGeom>
          <a:solidFill>
            <a:srgbClr val="DCEDE4"/>
          </a:solidFill>
          <a:ln w="0">
            <a:solidFill>
              <a:srgbClr val="000000">
                <a:alpha val="0"/>
              </a:srgbClr>
            </a:solidFill>
            <a:prstDash val="solid"/>
          </a:ln>
        </p:spPr>
        <p:txBody>
          <a:bodyPr lIns="0" tIns="0" rIns="0" bIns="0" anchor="t"/>
          <a:lstStyle/>
          <a:p>
            <a:pPr algn="ctr">
              <a:defRPr sz="1350" b="1">
                <a:solidFill>
                  <a:srgbClr val="2F7A5D"/>
                </a:solidFill>
                <a:latin typeface="黑体"/>
                <a:ea typeface="黑体"/>
                <a:cs typeface="黑体"/>
              </a:defRPr>
            </a:pPr>
            <a:r>
              <a:rPr>
                <a:latin typeface="Times New Roman"/>
                <a:ea typeface="Times New Roman"/>
                <a:cs typeface="Times New Roman"/>
              </a:rPr>
              <a:t>1</a:t>
            </a:r>
          </a:p>
        </p:txBody>
      </p:sp>
      <p:sp>
        <p:nvSpPr>
          <p:cNvPr id="68" name="矩形 67">
            <a:extLst>
              <a:ext uri="{FF2B5EF4-FFF2-40B4-BE49-F238E27FC236}">
                <a16:creationId xmlns:a16="http://schemas.microsoft.com/office/drawing/2014/main" id="{73D375A3-EA8E-4232-ADB3-DF39FB9AE53E}"/>
              </a:ext>
            </a:extLst>
          </p:cNvPr>
          <p:cNvSpPr>
            <a:spLocks noGrp="1"/>
          </p:cNvSpPr>
          <p:nvPr/>
        </p:nvSpPr>
        <p:spPr>
          <a:xfrm>
            <a:off x="8324850" y="3838575"/>
            <a:ext cx="3009900" cy="552450"/>
          </a:xfrm>
          <a:prstGeom prst="rect">
            <a:avLst/>
          </a:prstGeom>
          <a:solidFill>
            <a:srgbClr val="FBF5DB"/>
          </a:solidFill>
          <a:ln w="9525">
            <a:solidFill>
              <a:srgbClr val="D7C37A"/>
            </a:solidFill>
            <a:prstDash val="solid"/>
          </a:ln>
        </p:spPr>
        <p:txBody>
          <a:bodyPr/>
          <a:lstStyle/>
          <a:p>
            <a:endParaRPr lang="zh-CN" altLang="en-US"/>
          </a:p>
        </p:txBody>
      </p:sp>
      <p:sp>
        <p:nvSpPr>
          <p:cNvPr id="69" name="矩形 68">
            <a:extLst>
              <a:ext uri="{FF2B5EF4-FFF2-40B4-BE49-F238E27FC236}">
                <a16:creationId xmlns:a16="http://schemas.microsoft.com/office/drawing/2014/main" id="{1648FD16-2CB4-4993-85CF-38A607FA7B51}"/>
              </a:ext>
            </a:extLst>
          </p:cNvPr>
          <p:cNvSpPr>
            <a:spLocks noGrp="1"/>
          </p:cNvSpPr>
          <p:nvPr/>
        </p:nvSpPr>
        <p:spPr>
          <a:xfrm>
            <a:off x="8382000" y="3981450"/>
            <a:ext cx="1104900" cy="209550"/>
          </a:xfrm>
          <a:prstGeom prst="rect">
            <a:avLst/>
          </a:prstGeom>
          <a:solidFill>
            <a:srgbClr val="FBF5DB"/>
          </a:solidFill>
          <a:ln w="0">
            <a:solidFill>
              <a:srgbClr val="000000">
                <a:alpha val="0"/>
              </a:srgbClr>
            </a:solidFill>
            <a:prstDash val="solid"/>
          </a:ln>
        </p:spPr>
        <p:txBody>
          <a:bodyPr lIns="0" tIns="0" rIns="0" bIns="0" anchor="t"/>
          <a:lstStyle/>
          <a:p>
            <a:pPr algn="r">
              <a:defRPr sz="975" b="1">
                <a:solidFill>
                  <a:srgbClr val="8A6D1D"/>
                </a:solidFill>
                <a:latin typeface="黑体"/>
                <a:ea typeface="黑体"/>
                <a:cs typeface="黑体"/>
              </a:defRPr>
            </a:pPr>
            <a:r>
              <a:rPr>
                <a:latin typeface="Times New Roman"/>
                <a:ea typeface="Times New Roman"/>
                <a:cs typeface="Times New Roman"/>
              </a:rPr>
              <a:t>Psychology</a:t>
            </a:r>
          </a:p>
        </p:txBody>
      </p:sp>
      <p:sp>
        <p:nvSpPr>
          <p:cNvPr id="70" name="矩形 69">
            <a:extLst>
              <a:ext uri="{FF2B5EF4-FFF2-40B4-BE49-F238E27FC236}">
                <a16:creationId xmlns:a16="http://schemas.microsoft.com/office/drawing/2014/main" id="{FA359EC0-1DD6-4B99-878F-FA682E837AB3}"/>
              </a:ext>
            </a:extLst>
          </p:cNvPr>
          <p:cNvSpPr>
            <a:spLocks noGrp="1"/>
          </p:cNvSpPr>
          <p:nvPr/>
        </p:nvSpPr>
        <p:spPr>
          <a:xfrm>
            <a:off x="9639300" y="3886200"/>
            <a:ext cx="704850" cy="419100"/>
          </a:xfrm>
          <a:prstGeom prst="rect">
            <a:avLst/>
          </a:prstGeom>
          <a:solidFill>
            <a:srgbClr val="FBF5DB"/>
          </a:solidFill>
          <a:ln w="9525">
            <a:solidFill>
              <a:srgbClr val="CDD5DF"/>
            </a:solidFill>
            <a:prstDash val="solid"/>
          </a:ln>
        </p:spPr>
        <p:txBody>
          <a:bodyPr/>
          <a:lstStyle/>
          <a:p>
            <a:endParaRPr lang="zh-CN" altLang="en-US"/>
          </a:p>
        </p:txBody>
      </p:sp>
      <p:sp>
        <p:nvSpPr>
          <p:cNvPr id="71" name="矩形 70">
            <a:extLst>
              <a:ext uri="{FF2B5EF4-FFF2-40B4-BE49-F238E27FC236}">
                <a16:creationId xmlns:a16="http://schemas.microsoft.com/office/drawing/2014/main" id="{46C3C783-E4F8-4092-BF97-9A6ABE457963}"/>
              </a:ext>
            </a:extLst>
          </p:cNvPr>
          <p:cNvSpPr>
            <a:spLocks noGrp="1"/>
          </p:cNvSpPr>
          <p:nvPr/>
        </p:nvSpPr>
        <p:spPr>
          <a:xfrm>
            <a:off x="9734550" y="3981450"/>
            <a:ext cx="514350" cy="209550"/>
          </a:xfrm>
          <a:prstGeom prst="rect">
            <a:avLst/>
          </a:prstGeom>
          <a:solidFill>
            <a:srgbClr val="FBF5DB"/>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72" name="矩形 71">
            <a:extLst>
              <a:ext uri="{FF2B5EF4-FFF2-40B4-BE49-F238E27FC236}">
                <a16:creationId xmlns:a16="http://schemas.microsoft.com/office/drawing/2014/main" id="{51BFE018-CD46-4C36-8BFD-8DF0D9A2D5AF}"/>
              </a:ext>
            </a:extLst>
          </p:cNvPr>
          <p:cNvSpPr>
            <a:spLocks noGrp="1"/>
          </p:cNvSpPr>
          <p:nvPr/>
        </p:nvSpPr>
        <p:spPr>
          <a:xfrm>
            <a:off x="10439400" y="3886200"/>
            <a:ext cx="704850" cy="419100"/>
          </a:xfrm>
          <a:prstGeom prst="rect">
            <a:avLst/>
          </a:prstGeom>
          <a:solidFill>
            <a:srgbClr val="FBF5DB"/>
          </a:solidFill>
          <a:ln w="9525">
            <a:solidFill>
              <a:srgbClr val="CDD5DF"/>
            </a:solidFill>
            <a:prstDash val="solid"/>
          </a:ln>
        </p:spPr>
        <p:txBody>
          <a:bodyPr/>
          <a:lstStyle/>
          <a:p>
            <a:endParaRPr lang="zh-CN" altLang="en-US"/>
          </a:p>
        </p:txBody>
      </p:sp>
      <p:sp>
        <p:nvSpPr>
          <p:cNvPr id="73" name="矩形 72">
            <a:extLst>
              <a:ext uri="{FF2B5EF4-FFF2-40B4-BE49-F238E27FC236}">
                <a16:creationId xmlns:a16="http://schemas.microsoft.com/office/drawing/2014/main" id="{AEF13C87-5005-4757-9E93-9D9353178B54}"/>
              </a:ext>
            </a:extLst>
          </p:cNvPr>
          <p:cNvSpPr>
            <a:spLocks noGrp="1"/>
          </p:cNvSpPr>
          <p:nvPr/>
        </p:nvSpPr>
        <p:spPr>
          <a:xfrm>
            <a:off x="10534650" y="3981450"/>
            <a:ext cx="514350" cy="209550"/>
          </a:xfrm>
          <a:prstGeom prst="rect">
            <a:avLst/>
          </a:prstGeom>
          <a:solidFill>
            <a:srgbClr val="FBF5DB"/>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0</a:t>
            </a:r>
          </a:p>
        </p:txBody>
      </p:sp>
      <p:sp>
        <p:nvSpPr>
          <p:cNvPr id="74" name="矩形 73">
            <a:extLst>
              <a:ext uri="{FF2B5EF4-FFF2-40B4-BE49-F238E27FC236}">
                <a16:creationId xmlns:a16="http://schemas.microsoft.com/office/drawing/2014/main" id="{125714BB-FE83-4661-84A1-C80F133F42B3}"/>
              </a:ext>
            </a:extLst>
          </p:cNvPr>
          <p:cNvSpPr>
            <a:spLocks noGrp="1"/>
          </p:cNvSpPr>
          <p:nvPr/>
        </p:nvSpPr>
        <p:spPr>
          <a:xfrm>
            <a:off x="8324850" y="4629150"/>
            <a:ext cx="3009900" cy="457200"/>
          </a:xfrm>
          <a:prstGeom prst="rect">
            <a:avLst/>
          </a:prstGeom>
          <a:solidFill>
            <a:srgbClr val="F4EBC2"/>
          </a:solidFill>
          <a:ln w="9525">
            <a:solidFill>
              <a:srgbClr val="D0B765"/>
            </a:solidFill>
            <a:prstDash val="solid"/>
          </a:ln>
        </p:spPr>
        <p:txBody>
          <a:bodyPr/>
          <a:lstStyle/>
          <a:p>
            <a:endParaRPr lang="zh-CN" altLang="en-US"/>
          </a:p>
        </p:txBody>
      </p:sp>
      <p:sp>
        <p:nvSpPr>
          <p:cNvPr id="75" name="矩形 74">
            <a:extLst>
              <a:ext uri="{FF2B5EF4-FFF2-40B4-BE49-F238E27FC236}">
                <a16:creationId xmlns:a16="http://schemas.microsoft.com/office/drawing/2014/main" id="{2E2EE452-A902-4FD4-A1F9-7FFAFBB5A7B7}"/>
              </a:ext>
            </a:extLst>
          </p:cNvPr>
          <p:cNvSpPr>
            <a:spLocks noGrp="1"/>
          </p:cNvSpPr>
          <p:nvPr/>
        </p:nvSpPr>
        <p:spPr>
          <a:xfrm>
            <a:off x="8477250" y="4752975"/>
            <a:ext cx="2705100" cy="228600"/>
          </a:xfrm>
          <a:prstGeom prst="rect">
            <a:avLst/>
          </a:prstGeom>
          <a:solidFill>
            <a:srgbClr val="F4EBC2"/>
          </a:solidFill>
          <a:ln w="0">
            <a:solidFill>
              <a:srgbClr val="000000">
                <a:alpha val="0"/>
              </a:srgbClr>
            </a:solidFill>
            <a:prstDash val="solid"/>
          </a:ln>
        </p:spPr>
        <p:txBody>
          <a:bodyPr lIns="0" tIns="0" rIns="0" bIns="0" anchor="t"/>
          <a:lstStyle/>
          <a:p>
            <a:pPr algn="ctr">
              <a:defRPr sz="1125" b="1">
                <a:solidFill>
                  <a:srgbClr val="7A5D13"/>
                </a:solidFill>
                <a:latin typeface="黑体"/>
                <a:ea typeface="黑体"/>
                <a:cs typeface="黑体"/>
              </a:defRPr>
            </a:pPr>
            <a:r>
              <a:rPr>
                <a:latin typeface="Times New Roman"/>
                <a:ea typeface="Times New Roman"/>
                <a:cs typeface="Times New Roman"/>
              </a:rPr>
              <a:t>0, 0 = Psychology，</a:t>
            </a:r>
            <a:r>
              <a:rPr>
                <a:latin typeface="黑体"/>
                <a:ea typeface="黑体"/>
                <a:cs typeface="黑体"/>
              </a:rPr>
              <a:t>不是缺失值</a:t>
            </a:r>
          </a:p>
        </p:txBody>
      </p:sp>
      <p:sp>
        <p:nvSpPr>
          <p:cNvPr id="76" name="矩形 75">
            <a:extLst>
              <a:ext uri="{FF2B5EF4-FFF2-40B4-BE49-F238E27FC236}">
                <a16:creationId xmlns:a16="http://schemas.microsoft.com/office/drawing/2014/main" id="{450C4F29-6127-4920-8ECB-80698FED6C0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77" name="矩形 76">
            <a:extLst>
              <a:ext uri="{FF2B5EF4-FFF2-40B4-BE49-F238E27FC236}">
                <a16:creationId xmlns:a16="http://schemas.microsoft.com/office/drawing/2014/main" id="{79F2102C-C844-48E8-97A9-3F95A04C370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使用 </a:t>
            </a:r>
            <a:r>
              <a:rPr>
                <a:latin typeface="Times New Roman"/>
                <a:ea typeface="Times New Roman"/>
                <a:cs typeface="Times New Roman"/>
              </a:rPr>
              <a:t>k - 1 </a:t>
            </a:r>
            <a:r>
              <a:rPr>
                <a:latin typeface="黑体"/>
                <a:ea typeface="黑体"/>
                <a:cs typeface="黑体"/>
              </a:rPr>
              <a:t>个变量时，全 </a:t>
            </a:r>
            <a:r>
              <a:rPr>
                <a:latin typeface="Times New Roman"/>
                <a:ea typeface="Times New Roman"/>
                <a:cs typeface="Times New Roman"/>
              </a:rPr>
              <a:t>0 </a:t>
            </a:r>
            <a:r>
              <a:rPr>
                <a:latin typeface="黑体"/>
                <a:ea typeface="黑体"/>
                <a:cs typeface="黑体"/>
              </a:rPr>
              <a:t>表示基准类别，不表示数据缺失。</a:t>
            </a:r>
          </a:p>
        </p:txBody>
      </p:sp>
    </p:spTree>
    <p:extLst>
      <p:ext uri="{BB962C8B-B14F-4D97-AF65-F5344CB8AC3E}">
        <p14:creationId xmlns:p14="http://schemas.microsoft.com/office/powerpoint/2010/main" val="11036787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9AEDCEC7-90CF-4EFF-A052-B1963C8DFB2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EB48976A-7CA5-42E5-838B-A7CFDB2FBD74}"/>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29CBF3E7-6523-4CCC-BCC7-044E4486F1E7}"/>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153701D-570C-4A2D-8151-BB083609E547}"/>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Min–max </a:t>
            </a:r>
            <a:r>
              <a:rPr>
                <a:latin typeface="黑体"/>
                <a:ea typeface="黑体"/>
                <a:cs typeface="黑体"/>
              </a:rPr>
              <a:t>归一化</a:t>
            </a:r>
          </a:p>
        </p:txBody>
      </p:sp>
      <p:sp>
        <p:nvSpPr>
          <p:cNvPr id="5" name="矩形 4">
            <a:extLst>
              <a:ext uri="{FF2B5EF4-FFF2-40B4-BE49-F238E27FC236}">
                <a16:creationId xmlns:a16="http://schemas.microsoft.com/office/drawing/2014/main" id="{0B5A7D1C-2139-40A2-ABF9-48DFBF85302F}"/>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50/90</a:t>
            </a:r>
          </a:p>
        </p:txBody>
      </p:sp>
      <p:sp>
        <p:nvSpPr>
          <p:cNvPr id="6" name="矩形 5">
            <a:extLst>
              <a:ext uri="{FF2B5EF4-FFF2-40B4-BE49-F238E27FC236}">
                <a16:creationId xmlns:a16="http://schemas.microsoft.com/office/drawing/2014/main" id="{46BB5C88-3936-4EC3-9B76-024E23AC9B58}"/>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9DA980C4-883B-4FEC-8D92-958CA785FBE3}"/>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x′ = (x − min) / (max − min)</a:t>
            </a:r>
          </a:p>
        </p:txBody>
      </p:sp>
      <p:sp>
        <p:nvSpPr>
          <p:cNvPr id="8" name="矩形 7">
            <a:extLst>
              <a:ext uri="{FF2B5EF4-FFF2-40B4-BE49-F238E27FC236}">
                <a16:creationId xmlns:a16="http://schemas.microsoft.com/office/drawing/2014/main" id="{3CE3E09E-BE2C-4A1A-820E-2452E027CFDE}"/>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360E86CD-C165-48D8-86FB-9F09AC37A7C6}"/>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把原始值映射到固定区间，常用 [</a:t>
            </a:r>
            <a:r>
              <a:rPr>
                <a:latin typeface="Times New Roman"/>
                <a:ea typeface="Times New Roman"/>
                <a:cs typeface="Times New Roman"/>
              </a:rPr>
              <a:t>0, 1]</a:t>
            </a:r>
          </a:p>
        </p:txBody>
      </p:sp>
      <p:sp>
        <p:nvSpPr>
          <p:cNvPr id="10" name="矩形 9">
            <a:extLst>
              <a:ext uri="{FF2B5EF4-FFF2-40B4-BE49-F238E27FC236}">
                <a16:creationId xmlns:a16="http://schemas.microsoft.com/office/drawing/2014/main" id="{63BE3F15-45AD-4931-A129-AF43733AA033}"/>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975DED66-5527-4B6F-AFCA-EDF5860B22D2}"/>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Times New Roman"/>
                <a:ea typeface="Times New Roman"/>
                <a:cs typeface="Times New Roman"/>
              </a:rPr>
              <a:t>min </a:t>
            </a:r>
            <a:r>
              <a:rPr>
                <a:latin typeface="黑体"/>
                <a:ea typeface="黑体"/>
                <a:cs typeface="黑体"/>
              </a:rPr>
              <a:t>与 </a:t>
            </a:r>
            <a:r>
              <a:rPr>
                <a:latin typeface="Times New Roman"/>
                <a:ea typeface="Times New Roman"/>
                <a:cs typeface="Times New Roman"/>
              </a:rPr>
              <a:t>max </a:t>
            </a:r>
            <a:r>
              <a:rPr>
                <a:latin typeface="黑体"/>
                <a:ea typeface="黑体"/>
                <a:cs typeface="黑体"/>
              </a:rPr>
              <a:t>必须只由训练集计算</a:t>
            </a:r>
          </a:p>
        </p:txBody>
      </p:sp>
      <p:sp>
        <p:nvSpPr>
          <p:cNvPr id="12" name="矩形 11">
            <a:extLst>
              <a:ext uri="{FF2B5EF4-FFF2-40B4-BE49-F238E27FC236}">
                <a16:creationId xmlns:a16="http://schemas.microsoft.com/office/drawing/2014/main" id="{8F5B8B10-263C-461A-A65B-FECAAF96E6F0}"/>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99CCC5C8-B7A8-4E57-8C77-7F067D1B678D}"/>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对新数据使用同一组 </a:t>
            </a:r>
            <a:r>
              <a:rPr>
                <a:latin typeface="Times New Roman"/>
                <a:ea typeface="Times New Roman"/>
                <a:cs typeface="Times New Roman"/>
              </a:rPr>
              <a:t>min </a:t>
            </a:r>
            <a:r>
              <a:rPr>
                <a:latin typeface="黑体"/>
                <a:ea typeface="黑体"/>
                <a:cs typeface="黑体"/>
              </a:rPr>
              <a:t>与 </a:t>
            </a:r>
            <a:r>
              <a:rPr>
                <a:latin typeface="Times New Roman"/>
                <a:ea typeface="Times New Roman"/>
                <a:cs typeface="Times New Roman"/>
              </a:rPr>
              <a:t>max</a:t>
            </a:r>
          </a:p>
        </p:txBody>
      </p:sp>
      <p:sp>
        <p:nvSpPr>
          <p:cNvPr id="14" name="矩形 13">
            <a:extLst>
              <a:ext uri="{FF2B5EF4-FFF2-40B4-BE49-F238E27FC236}">
                <a16:creationId xmlns:a16="http://schemas.microsoft.com/office/drawing/2014/main" id="{B72FB4FA-516D-47DA-8342-92A1A24E837C}"/>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8EB09164-8D4E-48D7-8E56-F857522E0B8D}"/>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极端值会压缩大多数样本的差异</a:t>
            </a:r>
          </a:p>
        </p:txBody>
      </p:sp>
      <p:sp>
        <p:nvSpPr>
          <p:cNvPr id="16" name="矩形 15">
            <a:extLst>
              <a:ext uri="{FF2B5EF4-FFF2-40B4-BE49-F238E27FC236}">
                <a16:creationId xmlns:a16="http://schemas.microsoft.com/office/drawing/2014/main" id="{E888D42E-3E42-4224-ACBE-403D44ADB69F}"/>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333C7AB6-510A-4B6B-B931-A715B89CE741}"/>
              </a:ext>
            </a:extLst>
          </p:cNvPr>
          <p:cNvSpPr>
            <a:spLocks noGrp="1"/>
          </p:cNvSpPr>
          <p:nvPr/>
        </p:nvSpPr>
        <p:spPr>
          <a:xfrm>
            <a:off x="6267450" y="1524000"/>
            <a:ext cx="1238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原始尺度</a:t>
            </a:r>
          </a:p>
        </p:txBody>
      </p:sp>
      <p:sp>
        <p:nvSpPr>
          <p:cNvPr id="18" name="矩形 17">
            <a:extLst>
              <a:ext uri="{FF2B5EF4-FFF2-40B4-BE49-F238E27FC236}">
                <a16:creationId xmlns:a16="http://schemas.microsoft.com/office/drawing/2014/main" id="{265EC8E6-AEC7-4423-8C32-49699FD4D93F}"/>
              </a:ext>
            </a:extLst>
          </p:cNvPr>
          <p:cNvSpPr>
            <a:spLocks noGrp="1"/>
          </p:cNvSpPr>
          <p:nvPr/>
        </p:nvSpPr>
        <p:spPr>
          <a:xfrm>
            <a:off x="6686550" y="2247900"/>
            <a:ext cx="3905250" cy="28575"/>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19" name="椭圆 18">
            <a:extLst>
              <a:ext uri="{FF2B5EF4-FFF2-40B4-BE49-F238E27FC236}">
                <a16:creationId xmlns:a16="http://schemas.microsoft.com/office/drawing/2014/main" id="{0AF31BB7-33A2-43C0-BA6E-135E77671F9E}"/>
              </a:ext>
            </a:extLst>
          </p:cNvPr>
          <p:cNvSpPr>
            <a:spLocks noGrp="1"/>
          </p:cNvSpPr>
          <p:nvPr/>
        </p:nvSpPr>
        <p:spPr>
          <a:xfrm>
            <a:off x="6610350" y="2181225"/>
            <a:ext cx="152400" cy="152400"/>
          </a:xfrm>
          <a:prstGeom prst="ellipse">
            <a:avLst/>
          </a:prstGeom>
          <a:solidFill>
            <a:srgbClr val="014DA1"/>
          </a:solidFill>
          <a:ln w="9525">
            <a:solidFill>
              <a:srgbClr val="FFFFFF"/>
            </a:solidFill>
            <a:prstDash val="solid"/>
          </a:ln>
        </p:spPr>
        <p:txBody>
          <a:bodyPr/>
          <a:lstStyle/>
          <a:p>
            <a:endParaRPr lang="zh-CN" altLang="en-US"/>
          </a:p>
        </p:txBody>
      </p:sp>
      <p:sp>
        <p:nvSpPr>
          <p:cNvPr id="20" name="矩形 19">
            <a:extLst>
              <a:ext uri="{FF2B5EF4-FFF2-40B4-BE49-F238E27FC236}">
                <a16:creationId xmlns:a16="http://schemas.microsoft.com/office/drawing/2014/main" id="{EC6D826E-5CD2-4AB9-A58C-3BF889EED91B}"/>
              </a:ext>
            </a:extLst>
          </p:cNvPr>
          <p:cNvSpPr>
            <a:spLocks noGrp="1"/>
          </p:cNvSpPr>
          <p:nvPr/>
        </p:nvSpPr>
        <p:spPr>
          <a:xfrm>
            <a:off x="6419850" y="2400300"/>
            <a:ext cx="5334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min</a:t>
            </a:r>
          </a:p>
        </p:txBody>
      </p:sp>
      <p:sp>
        <p:nvSpPr>
          <p:cNvPr id="21" name="椭圆 20">
            <a:extLst>
              <a:ext uri="{FF2B5EF4-FFF2-40B4-BE49-F238E27FC236}">
                <a16:creationId xmlns:a16="http://schemas.microsoft.com/office/drawing/2014/main" id="{EC94A73F-FD89-49BF-8C61-DF7D1A2150AD}"/>
              </a:ext>
            </a:extLst>
          </p:cNvPr>
          <p:cNvSpPr>
            <a:spLocks noGrp="1"/>
          </p:cNvSpPr>
          <p:nvPr/>
        </p:nvSpPr>
        <p:spPr>
          <a:xfrm>
            <a:off x="7703820" y="2181225"/>
            <a:ext cx="152400" cy="152400"/>
          </a:xfrm>
          <a:prstGeom prst="ellipse">
            <a:avLst/>
          </a:prstGeom>
          <a:solidFill>
            <a:srgbClr val="B4964B"/>
          </a:solidFill>
          <a:ln w="9525">
            <a:solidFill>
              <a:srgbClr val="FFFFFF"/>
            </a:solidFill>
            <a:prstDash val="solid"/>
          </a:ln>
        </p:spPr>
        <p:txBody>
          <a:bodyPr/>
          <a:lstStyle/>
          <a:p>
            <a:endParaRPr lang="zh-CN" altLang="en-US"/>
          </a:p>
        </p:txBody>
      </p:sp>
      <p:sp>
        <p:nvSpPr>
          <p:cNvPr id="22" name="矩形 21">
            <a:extLst>
              <a:ext uri="{FF2B5EF4-FFF2-40B4-BE49-F238E27FC236}">
                <a16:creationId xmlns:a16="http://schemas.microsoft.com/office/drawing/2014/main" id="{5E09A321-15E2-4B71-B4EC-25E4AD6CA272}"/>
              </a:ext>
            </a:extLst>
          </p:cNvPr>
          <p:cNvSpPr>
            <a:spLocks noGrp="1"/>
          </p:cNvSpPr>
          <p:nvPr/>
        </p:nvSpPr>
        <p:spPr>
          <a:xfrm>
            <a:off x="7513320" y="2400300"/>
            <a:ext cx="5334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B4964B"/>
                </a:solidFill>
                <a:latin typeface="黑体"/>
                <a:ea typeface="黑体"/>
                <a:cs typeface="黑体"/>
              </a:defRPr>
            </a:pPr>
            <a:r>
              <a:rPr>
                <a:latin typeface="Times New Roman"/>
                <a:ea typeface="Times New Roman"/>
                <a:cs typeface="Times New Roman"/>
              </a:rPr>
              <a:t>x</a:t>
            </a:r>
          </a:p>
        </p:txBody>
      </p:sp>
      <p:sp>
        <p:nvSpPr>
          <p:cNvPr id="23" name="椭圆 22">
            <a:extLst>
              <a:ext uri="{FF2B5EF4-FFF2-40B4-BE49-F238E27FC236}">
                <a16:creationId xmlns:a16="http://schemas.microsoft.com/office/drawing/2014/main" id="{B2DBF634-70A8-44CB-AE95-0A960CE45B9C}"/>
              </a:ext>
            </a:extLst>
          </p:cNvPr>
          <p:cNvSpPr>
            <a:spLocks noGrp="1"/>
          </p:cNvSpPr>
          <p:nvPr/>
        </p:nvSpPr>
        <p:spPr>
          <a:xfrm>
            <a:off x="10515600" y="2181225"/>
            <a:ext cx="152400" cy="152400"/>
          </a:xfrm>
          <a:prstGeom prst="ellipse">
            <a:avLst/>
          </a:prstGeom>
          <a:solidFill>
            <a:srgbClr val="014DA1"/>
          </a:solidFill>
          <a:ln w="9525">
            <a:solidFill>
              <a:srgbClr val="FFFFFF"/>
            </a:solidFill>
            <a:prstDash val="solid"/>
          </a:ln>
        </p:spPr>
        <p:txBody>
          <a:bodyPr/>
          <a:lstStyle/>
          <a:p>
            <a:endParaRPr lang="zh-CN" altLang="en-US"/>
          </a:p>
        </p:txBody>
      </p:sp>
      <p:sp>
        <p:nvSpPr>
          <p:cNvPr id="24" name="矩形 23">
            <a:extLst>
              <a:ext uri="{FF2B5EF4-FFF2-40B4-BE49-F238E27FC236}">
                <a16:creationId xmlns:a16="http://schemas.microsoft.com/office/drawing/2014/main" id="{D05C1BFC-2B3D-4F6C-BA49-5D48021E8495}"/>
              </a:ext>
            </a:extLst>
          </p:cNvPr>
          <p:cNvSpPr>
            <a:spLocks noGrp="1"/>
          </p:cNvSpPr>
          <p:nvPr/>
        </p:nvSpPr>
        <p:spPr>
          <a:xfrm>
            <a:off x="10325100" y="2400300"/>
            <a:ext cx="5334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max</a:t>
            </a:r>
          </a:p>
        </p:txBody>
      </p:sp>
      <p:sp>
        <p:nvSpPr>
          <p:cNvPr id="25" name="矩形 24">
            <a:extLst>
              <a:ext uri="{FF2B5EF4-FFF2-40B4-BE49-F238E27FC236}">
                <a16:creationId xmlns:a16="http://schemas.microsoft.com/office/drawing/2014/main" id="{651698EA-4A8F-4DC9-9CE9-E415519180A7}"/>
              </a:ext>
            </a:extLst>
          </p:cNvPr>
          <p:cNvSpPr>
            <a:spLocks noGrp="1"/>
          </p:cNvSpPr>
          <p:nvPr/>
        </p:nvSpPr>
        <p:spPr>
          <a:xfrm>
            <a:off x="7953375" y="2819400"/>
            <a:ext cx="1428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B4964B"/>
                </a:solidFill>
                <a:latin typeface="黑体"/>
                <a:ea typeface="黑体"/>
                <a:cs typeface="黑体"/>
              </a:defRPr>
            </a:pPr>
            <a:r>
              <a:rPr>
                <a:latin typeface="黑体"/>
                <a:ea typeface="黑体"/>
                <a:cs typeface="黑体"/>
              </a:rPr>
              <a:t>线性映射</a:t>
            </a:r>
          </a:p>
        </p:txBody>
      </p:sp>
      <p:sp>
        <p:nvSpPr>
          <p:cNvPr id="26" name="矩形 25">
            <a:extLst>
              <a:ext uri="{FF2B5EF4-FFF2-40B4-BE49-F238E27FC236}">
                <a16:creationId xmlns:a16="http://schemas.microsoft.com/office/drawing/2014/main" id="{D9E2315F-AB68-41CA-8D35-FF25F80680C3}"/>
              </a:ext>
            </a:extLst>
          </p:cNvPr>
          <p:cNvSpPr>
            <a:spLocks noGrp="1"/>
          </p:cNvSpPr>
          <p:nvPr/>
        </p:nvSpPr>
        <p:spPr>
          <a:xfrm>
            <a:off x="8429625" y="3067050"/>
            <a:ext cx="476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4964B"/>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B93CB1CE-0B85-4A47-BBD5-4BD328EB1577}"/>
              </a:ext>
            </a:extLst>
          </p:cNvPr>
          <p:cNvSpPr>
            <a:spLocks noGrp="1"/>
          </p:cNvSpPr>
          <p:nvPr/>
        </p:nvSpPr>
        <p:spPr>
          <a:xfrm>
            <a:off x="6267450" y="3524250"/>
            <a:ext cx="1428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归一化尺度</a:t>
            </a:r>
          </a:p>
        </p:txBody>
      </p:sp>
      <p:sp>
        <p:nvSpPr>
          <p:cNvPr id="28" name="矩形 27">
            <a:extLst>
              <a:ext uri="{FF2B5EF4-FFF2-40B4-BE49-F238E27FC236}">
                <a16:creationId xmlns:a16="http://schemas.microsoft.com/office/drawing/2014/main" id="{80B4EB60-60C9-4782-A25C-E9164F56DDEA}"/>
              </a:ext>
            </a:extLst>
          </p:cNvPr>
          <p:cNvSpPr>
            <a:spLocks noGrp="1"/>
          </p:cNvSpPr>
          <p:nvPr/>
        </p:nvSpPr>
        <p:spPr>
          <a:xfrm>
            <a:off x="6686550" y="4210050"/>
            <a:ext cx="3905250" cy="28575"/>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29" name="椭圆 28">
            <a:extLst>
              <a:ext uri="{FF2B5EF4-FFF2-40B4-BE49-F238E27FC236}">
                <a16:creationId xmlns:a16="http://schemas.microsoft.com/office/drawing/2014/main" id="{D6C6BB41-C7CB-42E4-9323-A28C2DED01D1}"/>
              </a:ext>
            </a:extLst>
          </p:cNvPr>
          <p:cNvSpPr>
            <a:spLocks noGrp="1"/>
          </p:cNvSpPr>
          <p:nvPr/>
        </p:nvSpPr>
        <p:spPr>
          <a:xfrm>
            <a:off x="6610350" y="4143375"/>
            <a:ext cx="152400" cy="152400"/>
          </a:xfrm>
          <a:prstGeom prst="ellipse">
            <a:avLst/>
          </a:prstGeom>
          <a:solidFill>
            <a:srgbClr val="014DA1"/>
          </a:solidFill>
          <a:ln w="9525">
            <a:solidFill>
              <a:srgbClr val="FFFFFF"/>
            </a:solidFill>
            <a:prstDash val="solid"/>
          </a:ln>
        </p:spPr>
        <p:txBody>
          <a:bodyPr/>
          <a:lstStyle/>
          <a:p>
            <a:endParaRPr lang="zh-CN" altLang="en-US"/>
          </a:p>
        </p:txBody>
      </p:sp>
      <p:sp>
        <p:nvSpPr>
          <p:cNvPr id="30" name="矩形 29">
            <a:extLst>
              <a:ext uri="{FF2B5EF4-FFF2-40B4-BE49-F238E27FC236}">
                <a16:creationId xmlns:a16="http://schemas.microsoft.com/office/drawing/2014/main" id="{89E5CD37-50A3-4118-A27D-D6649EE602E7}"/>
              </a:ext>
            </a:extLst>
          </p:cNvPr>
          <p:cNvSpPr>
            <a:spLocks noGrp="1"/>
          </p:cNvSpPr>
          <p:nvPr/>
        </p:nvSpPr>
        <p:spPr>
          <a:xfrm>
            <a:off x="6419850" y="4362450"/>
            <a:ext cx="5334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0</a:t>
            </a:r>
          </a:p>
        </p:txBody>
      </p:sp>
      <p:sp>
        <p:nvSpPr>
          <p:cNvPr id="31" name="椭圆 30">
            <a:extLst>
              <a:ext uri="{FF2B5EF4-FFF2-40B4-BE49-F238E27FC236}">
                <a16:creationId xmlns:a16="http://schemas.microsoft.com/office/drawing/2014/main" id="{4FA272CE-528D-4D56-9329-0046B922443D}"/>
              </a:ext>
            </a:extLst>
          </p:cNvPr>
          <p:cNvSpPr>
            <a:spLocks noGrp="1"/>
          </p:cNvSpPr>
          <p:nvPr/>
        </p:nvSpPr>
        <p:spPr>
          <a:xfrm>
            <a:off x="7703820" y="4143375"/>
            <a:ext cx="152400" cy="152400"/>
          </a:xfrm>
          <a:prstGeom prst="ellipse">
            <a:avLst/>
          </a:prstGeom>
          <a:solidFill>
            <a:srgbClr val="B4964B"/>
          </a:solidFill>
          <a:ln w="9525">
            <a:solidFill>
              <a:srgbClr val="FFFFFF"/>
            </a:solidFill>
            <a:prstDash val="solid"/>
          </a:ln>
        </p:spPr>
        <p:txBody>
          <a:bodyPr/>
          <a:lstStyle/>
          <a:p>
            <a:endParaRPr lang="zh-CN" altLang="en-US"/>
          </a:p>
        </p:txBody>
      </p:sp>
      <p:sp>
        <p:nvSpPr>
          <p:cNvPr id="32" name="矩形 31">
            <a:extLst>
              <a:ext uri="{FF2B5EF4-FFF2-40B4-BE49-F238E27FC236}">
                <a16:creationId xmlns:a16="http://schemas.microsoft.com/office/drawing/2014/main" id="{07DD792A-06B9-499D-8787-2E06CB7B5D1A}"/>
              </a:ext>
            </a:extLst>
          </p:cNvPr>
          <p:cNvSpPr>
            <a:spLocks noGrp="1"/>
          </p:cNvSpPr>
          <p:nvPr/>
        </p:nvSpPr>
        <p:spPr>
          <a:xfrm>
            <a:off x="7513320" y="4362450"/>
            <a:ext cx="5334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B4964B"/>
                </a:solidFill>
                <a:latin typeface="黑体"/>
                <a:ea typeface="黑体"/>
                <a:cs typeface="黑体"/>
              </a:defRPr>
            </a:pPr>
            <a:r>
              <a:rPr>
                <a:latin typeface="Times New Roman"/>
                <a:ea typeface="Times New Roman"/>
                <a:cs typeface="Times New Roman"/>
              </a:rPr>
              <a:t>x′</a:t>
            </a:r>
          </a:p>
        </p:txBody>
      </p:sp>
      <p:sp>
        <p:nvSpPr>
          <p:cNvPr id="33" name="椭圆 32">
            <a:extLst>
              <a:ext uri="{FF2B5EF4-FFF2-40B4-BE49-F238E27FC236}">
                <a16:creationId xmlns:a16="http://schemas.microsoft.com/office/drawing/2014/main" id="{730C9C80-7E73-4688-8ADE-8E6BCA3E8EB5}"/>
              </a:ext>
            </a:extLst>
          </p:cNvPr>
          <p:cNvSpPr>
            <a:spLocks noGrp="1"/>
          </p:cNvSpPr>
          <p:nvPr/>
        </p:nvSpPr>
        <p:spPr>
          <a:xfrm>
            <a:off x="10515600" y="4143375"/>
            <a:ext cx="152400" cy="152400"/>
          </a:xfrm>
          <a:prstGeom prst="ellipse">
            <a:avLst/>
          </a:prstGeom>
          <a:solidFill>
            <a:srgbClr val="014DA1"/>
          </a:solidFill>
          <a:ln w="9525">
            <a:solidFill>
              <a:srgbClr val="FFFFFF"/>
            </a:solidFill>
            <a:prstDash val="solid"/>
          </a:ln>
        </p:spPr>
        <p:txBody>
          <a:bodyPr/>
          <a:lstStyle/>
          <a:p>
            <a:endParaRPr lang="zh-CN" altLang="en-US"/>
          </a:p>
        </p:txBody>
      </p:sp>
      <p:sp>
        <p:nvSpPr>
          <p:cNvPr id="34" name="矩形 33">
            <a:extLst>
              <a:ext uri="{FF2B5EF4-FFF2-40B4-BE49-F238E27FC236}">
                <a16:creationId xmlns:a16="http://schemas.microsoft.com/office/drawing/2014/main" id="{DB72BB83-1202-4DFB-9137-D8464A1734EC}"/>
              </a:ext>
            </a:extLst>
          </p:cNvPr>
          <p:cNvSpPr>
            <a:spLocks noGrp="1"/>
          </p:cNvSpPr>
          <p:nvPr/>
        </p:nvSpPr>
        <p:spPr>
          <a:xfrm>
            <a:off x="10325100" y="4362450"/>
            <a:ext cx="5334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1</a:t>
            </a:r>
          </a:p>
        </p:txBody>
      </p:sp>
      <p:sp>
        <p:nvSpPr>
          <p:cNvPr id="35" name="矩形 34">
            <a:extLst>
              <a:ext uri="{FF2B5EF4-FFF2-40B4-BE49-F238E27FC236}">
                <a16:creationId xmlns:a16="http://schemas.microsoft.com/office/drawing/2014/main" id="{C0114547-576A-4914-9322-52706811396F}"/>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6" name="矩形 35">
            <a:extLst>
              <a:ext uri="{FF2B5EF4-FFF2-40B4-BE49-F238E27FC236}">
                <a16:creationId xmlns:a16="http://schemas.microsoft.com/office/drawing/2014/main" id="{85072B16-3A2A-456D-9642-D98B8C390163}"/>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归一化改变尺度，不改变样本的相对顺序。</a:t>
            </a:r>
          </a:p>
        </p:txBody>
      </p:sp>
    </p:spTree>
    <p:extLst>
      <p:ext uri="{BB962C8B-B14F-4D97-AF65-F5344CB8AC3E}">
        <p14:creationId xmlns:p14="http://schemas.microsoft.com/office/powerpoint/2010/main" val="468646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1B1F463B-23C0-4315-B942-09BB6FB370CE}"/>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58818C5-EB42-4D39-8412-462DE74EAC82}"/>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3E113A88-DA7F-41B6-A199-7AD212841F2E}"/>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2FF52EAB-5280-4A0E-80C0-F407121613CF}"/>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例：登录次数归一化</a:t>
            </a:r>
          </a:p>
        </p:txBody>
      </p:sp>
      <p:sp>
        <p:nvSpPr>
          <p:cNvPr id="5" name="矩形 4">
            <a:extLst>
              <a:ext uri="{FF2B5EF4-FFF2-40B4-BE49-F238E27FC236}">
                <a16:creationId xmlns:a16="http://schemas.microsoft.com/office/drawing/2014/main" id="{E17068D9-673D-4A39-83B5-5023825BF390}"/>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51/90</a:t>
            </a:r>
          </a:p>
        </p:txBody>
      </p:sp>
      <p:sp>
        <p:nvSpPr>
          <p:cNvPr id="6" name="矩形 5">
            <a:extLst>
              <a:ext uri="{FF2B5EF4-FFF2-40B4-BE49-F238E27FC236}">
                <a16:creationId xmlns:a16="http://schemas.microsoft.com/office/drawing/2014/main" id="{3592B243-D53B-4BD3-8684-BAC02F34E227}"/>
              </a:ext>
            </a:extLst>
          </p:cNvPr>
          <p:cNvSpPr>
            <a:spLocks noGrp="1"/>
          </p:cNvSpPr>
          <p:nvPr/>
        </p:nvSpPr>
        <p:spPr>
          <a:xfrm>
            <a:off x="609600" y="1200150"/>
            <a:ext cx="10763250" cy="4114800"/>
          </a:xfrm>
          <a:prstGeom prst="rect">
            <a:avLst/>
          </a:prstGeom>
          <a:solidFill>
            <a:srgbClr val="FFFFFF"/>
          </a:solidFill>
          <a:ln w="9525">
            <a:solidFill>
              <a:srgbClr val="BAC4D0"/>
            </a:solidFill>
            <a:prstDash val="solid"/>
          </a:ln>
        </p:spPr>
        <p:txBody>
          <a:bodyPr/>
          <a:lstStyle/>
          <a:p>
            <a:endParaRPr lang="zh-CN" altLang="en-US"/>
          </a:p>
        </p:txBody>
      </p:sp>
      <p:sp>
        <p:nvSpPr>
          <p:cNvPr id="7" name="矩形 6">
            <a:extLst>
              <a:ext uri="{FF2B5EF4-FFF2-40B4-BE49-F238E27FC236}">
                <a16:creationId xmlns:a16="http://schemas.microsoft.com/office/drawing/2014/main" id="{F6266BCE-A5A4-4B12-A8ED-C0997DB8C38F}"/>
              </a:ext>
            </a:extLst>
          </p:cNvPr>
          <p:cNvSpPr>
            <a:spLocks noGrp="1"/>
          </p:cNvSpPr>
          <p:nvPr/>
        </p:nvSpPr>
        <p:spPr>
          <a:xfrm>
            <a:off x="800100" y="13525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8" name="矩形 7">
            <a:extLst>
              <a:ext uri="{FF2B5EF4-FFF2-40B4-BE49-F238E27FC236}">
                <a16:creationId xmlns:a16="http://schemas.microsoft.com/office/drawing/2014/main" id="{8BD0B264-5591-4A2C-A007-403299EE7BF7}"/>
              </a:ext>
            </a:extLst>
          </p:cNvPr>
          <p:cNvSpPr>
            <a:spLocks noGrp="1"/>
          </p:cNvSpPr>
          <p:nvPr/>
        </p:nvSpPr>
        <p:spPr>
          <a:xfrm>
            <a:off x="1066800" y="14287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训练集范围</a:t>
            </a:r>
          </a:p>
        </p:txBody>
      </p:sp>
      <p:sp>
        <p:nvSpPr>
          <p:cNvPr id="9" name="矩形 8">
            <a:extLst>
              <a:ext uri="{FF2B5EF4-FFF2-40B4-BE49-F238E27FC236}">
                <a16:creationId xmlns:a16="http://schemas.microsoft.com/office/drawing/2014/main" id="{5DA8411C-9FBC-447F-927C-3D527AACD958}"/>
              </a:ext>
            </a:extLst>
          </p:cNvPr>
          <p:cNvSpPr>
            <a:spLocks noGrp="1"/>
          </p:cNvSpPr>
          <p:nvPr/>
        </p:nvSpPr>
        <p:spPr>
          <a:xfrm>
            <a:off x="2819400" y="14287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min = 0，max = 20</a:t>
            </a:r>
          </a:p>
        </p:txBody>
      </p:sp>
      <p:sp>
        <p:nvSpPr>
          <p:cNvPr id="10" name="矩形 9">
            <a:extLst>
              <a:ext uri="{FF2B5EF4-FFF2-40B4-BE49-F238E27FC236}">
                <a16:creationId xmlns:a16="http://schemas.microsoft.com/office/drawing/2014/main" id="{D3A9315E-96B2-4BC6-8D1E-279FD77A94DA}"/>
              </a:ext>
            </a:extLst>
          </p:cNvPr>
          <p:cNvSpPr>
            <a:spLocks noGrp="1"/>
          </p:cNvSpPr>
          <p:nvPr/>
        </p:nvSpPr>
        <p:spPr>
          <a:xfrm>
            <a:off x="800100" y="2095500"/>
            <a:ext cx="10382250" cy="590550"/>
          </a:xfrm>
          <a:prstGeom prst="rect">
            <a:avLst/>
          </a:prstGeom>
          <a:solidFill>
            <a:srgbClr val="FFFFFF"/>
          </a:solidFill>
          <a:ln w="9525">
            <a:solidFill>
              <a:srgbClr val="EEF2F7"/>
            </a:solidFill>
            <a:prstDash val="solid"/>
          </a:ln>
        </p:spPr>
        <p:txBody>
          <a:bodyPr/>
          <a:lstStyle/>
          <a:p>
            <a:endParaRPr lang="zh-CN" altLang="en-US"/>
          </a:p>
        </p:txBody>
      </p:sp>
      <p:sp>
        <p:nvSpPr>
          <p:cNvPr id="11" name="矩形 10">
            <a:extLst>
              <a:ext uri="{FF2B5EF4-FFF2-40B4-BE49-F238E27FC236}">
                <a16:creationId xmlns:a16="http://schemas.microsoft.com/office/drawing/2014/main" id="{BBCCE3A3-914A-4FD4-8632-282DBC5E718E}"/>
              </a:ext>
            </a:extLst>
          </p:cNvPr>
          <p:cNvSpPr>
            <a:spLocks noGrp="1"/>
          </p:cNvSpPr>
          <p:nvPr/>
        </p:nvSpPr>
        <p:spPr>
          <a:xfrm>
            <a:off x="1066800" y="217170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学生 </a:t>
            </a:r>
            <a:r>
              <a:rPr>
                <a:latin typeface="Times New Roman"/>
                <a:ea typeface="Times New Roman"/>
                <a:cs typeface="Times New Roman"/>
              </a:rPr>
              <a:t>S002</a:t>
            </a:r>
          </a:p>
        </p:txBody>
      </p:sp>
      <p:sp>
        <p:nvSpPr>
          <p:cNvPr id="12" name="矩形 11">
            <a:extLst>
              <a:ext uri="{FF2B5EF4-FFF2-40B4-BE49-F238E27FC236}">
                <a16:creationId xmlns:a16="http://schemas.microsoft.com/office/drawing/2014/main" id="{CD7615D4-E535-4C00-B46F-88F8E00BEC34}"/>
              </a:ext>
            </a:extLst>
          </p:cNvPr>
          <p:cNvSpPr>
            <a:spLocks noGrp="1"/>
          </p:cNvSpPr>
          <p:nvPr/>
        </p:nvSpPr>
        <p:spPr>
          <a:xfrm>
            <a:off x="2819400" y="217170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x = 3</a:t>
            </a:r>
          </a:p>
        </p:txBody>
      </p:sp>
      <p:sp>
        <p:nvSpPr>
          <p:cNvPr id="13" name="矩形 12">
            <a:extLst>
              <a:ext uri="{FF2B5EF4-FFF2-40B4-BE49-F238E27FC236}">
                <a16:creationId xmlns:a16="http://schemas.microsoft.com/office/drawing/2014/main" id="{9D2B7FE7-6A25-40C5-8BAD-7B679E59DFE8}"/>
              </a:ext>
            </a:extLst>
          </p:cNvPr>
          <p:cNvSpPr>
            <a:spLocks noGrp="1"/>
          </p:cNvSpPr>
          <p:nvPr/>
        </p:nvSpPr>
        <p:spPr>
          <a:xfrm>
            <a:off x="800100" y="28384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14" name="矩形 13">
            <a:extLst>
              <a:ext uri="{FF2B5EF4-FFF2-40B4-BE49-F238E27FC236}">
                <a16:creationId xmlns:a16="http://schemas.microsoft.com/office/drawing/2014/main" id="{47ACFD10-9D1E-44E8-8E76-675064FB3817}"/>
              </a:ext>
            </a:extLst>
          </p:cNvPr>
          <p:cNvSpPr>
            <a:spLocks noGrp="1"/>
          </p:cNvSpPr>
          <p:nvPr/>
        </p:nvSpPr>
        <p:spPr>
          <a:xfrm>
            <a:off x="1066800" y="29146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代入公式</a:t>
            </a:r>
          </a:p>
        </p:txBody>
      </p:sp>
      <p:sp>
        <p:nvSpPr>
          <p:cNvPr id="15" name="矩形 14">
            <a:extLst>
              <a:ext uri="{FF2B5EF4-FFF2-40B4-BE49-F238E27FC236}">
                <a16:creationId xmlns:a16="http://schemas.microsoft.com/office/drawing/2014/main" id="{D4C70E83-5653-440E-8B69-FBAEDF037DB8}"/>
              </a:ext>
            </a:extLst>
          </p:cNvPr>
          <p:cNvSpPr>
            <a:spLocks noGrp="1"/>
          </p:cNvSpPr>
          <p:nvPr/>
        </p:nvSpPr>
        <p:spPr>
          <a:xfrm>
            <a:off x="2819400" y="29146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(3 − 0) / (20 − 0) = 0.15</a:t>
            </a:r>
          </a:p>
        </p:txBody>
      </p:sp>
      <p:sp>
        <p:nvSpPr>
          <p:cNvPr id="16" name="矩形 15">
            <a:extLst>
              <a:ext uri="{FF2B5EF4-FFF2-40B4-BE49-F238E27FC236}">
                <a16:creationId xmlns:a16="http://schemas.microsoft.com/office/drawing/2014/main" id="{36F06DA4-3D19-49D4-BFF8-75F36E0377B3}"/>
              </a:ext>
            </a:extLst>
          </p:cNvPr>
          <p:cNvSpPr>
            <a:spLocks noGrp="1"/>
          </p:cNvSpPr>
          <p:nvPr/>
        </p:nvSpPr>
        <p:spPr>
          <a:xfrm>
            <a:off x="800100" y="3581400"/>
            <a:ext cx="10382250" cy="590550"/>
          </a:xfrm>
          <a:prstGeom prst="rect">
            <a:avLst/>
          </a:prstGeom>
          <a:solidFill>
            <a:srgbClr val="FFFFFF"/>
          </a:solidFill>
          <a:ln w="9525">
            <a:solidFill>
              <a:srgbClr val="EEF2F7"/>
            </a:solidFill>
            <a:prstDash val="solid"/>
          </a:ln>
        </p:spPr>
        <p:txBody>
          <a:bodyPr/>
          <a:lstStyle/>
          <a:p>
            <a:endParaRPr lang="zh-CN" altLang="en-US"/>
          </a:p>
        </p:txBody>
      </p:sp>
      <p:sp>
        <p:nvSpPr>
          <p:cNvPr id="17" name="矩形 16">
            <a:extLst>
              <a:ext uri="{FF2B5EF4-FFF2-40B4-BE49-F238E27FC236}">
                <a16:creationId xmlns:a16="http://schemas.microsoft.com/office/drawing/2014/main" id="{8467061E-6E56-4C24-BCED-4D2058EE6237}"/>
              </a:ext>
            </a:extLst>
          </p:cNvPr>
          <p:cNvSpPr>
            <a:spLocks noGrp="1"/>
          </p:cNvSpPr>
          <p:nvPr/>
        </p:nvSpPr>
        <p:spPr>
          <a:xfrm>
            <a:off x="1066800" y="365760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新学生 </a:t>
            </a:r>
            <a:r>
              <a:rPr>
                <a:latin typeface="Times New Roman"/>
                <a:ea typeface="Times New Roman"/>
                <a:cs typeface="Times New Roman"/>
              </a:rPr>
              <a:t>x = 24</a:t>
            </a:r>
          </a:p>
        </p:txBody>
      </p:sp>
      <p:sp>
        <p:nvSpPr>
          <p:cNvPr id="18" name="矩形 17">
            <a:extLst>
              <a:ext uri="{FF2B5EF4-FFF2-40B4-BE49-F238E27FC236}">
                <a16:creationId xmlns:a16="http://schemas.microsoft.com/office/drawing/2014/main" id="{B82549BE-7AD5-4F1B-820A-B341C0D23AE6}"/>
              </a:ext>
            </a:extLst>
          </p:cNvPr>
          <p:cNvSpPr>
            <a:spLocks noGrp="1"/>
          </p:cNvSpPr>
          <p:nvPr/>
        </p:nvSpPr>
        <p:spPr>
          <a:xfrm>
            <a:off x="2819400" y="365760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黑体"/>
                <a:ea typeface="黑体"/>
                <a:cs typeface="黑体"/>
              </a:rPr>
              <a:t>仍使用训练参数，结果为 </a:t>
            </a:r>
            <a:r>
              <a:rPr>
                <a:latin typeface="Times New Roman"/>
                <a:ea typeface="Times New Roman"/>
                <a:cs typeface="Times New Roman"/>
              </a:rPr>
              <a:t>1.20</a:t>
            </a:r>
          </a:p>
        </p:txBody>
      </p:sp>
      <p:sp>
        <p:nvSpPr>
          <p:cNvPr id="19" name="矩形 18">
            <a:extLst>
              <a:ext uri="{FF2B5EF4-FFF2-40B4-BE49-F238E27FC236}">
                <a16:creationId xmlns:a16="http://schemas.microsoft.com/office/drawing/2014/main" id="{C75D4695-E796-4956-948C-D62B5CC2632D}"/>
              </a:ext>
            </a:extLst>
          </p:cNvPr>
          <p:cNvSpPr>
            <a:spLocks noGrp="1"/>
          </p:cNvSpPr>
          <p:nvPr/>
        </p:nvSpPr>
        <p:spPr>
          <a:xfrm>
            <a:off x="800100" y="43243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20" name="矩形 19">
            <a:extLst>
              <a:ext uri="{FF2B5EF4-FFF2-40B4-BE49-F238E27FC236}">
                <a16:creationId xmlns:a16="http://schemas.microsoft.com/office/drawing/2014/main" id="{E8FA3555-7B94-4704-8C15-019874C92C99}"/>
              </a:ext>
            </a:extLst>
          </p:cNvPr>
          <p:cNvSpPr>
            <a:spLocks noGrp="1"/>
          </p:cNvSpPr>
          <p:nvPr/>
        </p:nvSpPr>
        <p:spPr>
          <a:xfrm>
            <a:off x="1066800" y="44005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解释</a:t>
            </a:r>
          </a:p>
        </p:txBody>
      </p:sp>
      <p:sp>
        <p:nvSpPr>
          <p:cNvPr id="21" name="矩形 20">
            <a:extLst>
              <a:ext uri="{FF2B5EF4-FFF2-40B4-BE49-F238E27FC236}">
                <a16:creationId xmlns:a16="http://schemas.microsoft.com/office/drawing/2014/main" id="{AA8E5D46-6FEF-475E-8B69-43B1C71706B4}"/>
              </a:ext>
            </a:extLst>
          </p:cNvPr>
          <p:cNvSpPr>
            <a:spLocks noGrp="1"/>
          </p:cNvSpPr>
          <p:nvPr/>
        </p:nvSpPr>
        <p:spPr>
          <a:xfrm>
            <a:off x="2819400" y="44005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黑体"/>
                <a:ea typeface="黑体"/>
                <a:cs typeface="黑体"/>
              </a:rPr>
              <a:t>超过 </a:t>
            </a:r>
            <a:r>
              <a:rPr>
                <a:latin typeface="Times New Roman"/>
                <a:ea typeface="Times New Roman"/>
                <a:cs typeface="Times New Roman"/>
              </a:rPr>
              <a:t>1 </a:t>
            </a:r>
            <a:r>
              <a:rPr>
                <a:latin typeface="黑体"/>
                <a:ea typeface="黑体"/>
                <a:cs typeface="黑体"/>
              </a:rPr>
              <a:t>并非计算错误，而是新数据超出训练范围</a:t>
            </a:r>
          </a:p>
        </p:txBody>
      </p:sp>
      <p:sp>
        <p:nvSpPr>
          <p:cNvPr id="22" name="矩形 21">
            <a:extLst>
              <a:ext uri="{FF2B5EF4-FFF2-40B4-BE49-F238E27FC236}">
                <a16:creationId xmlns:a16="http://schemas.microsoft.com/office/drawing/2014/main" id="{6BC852F0-7F0D-4954-B91E-9F33901019C1}"/>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3" name="矩形 22">
            <a:extLst>
              <a:ext uri="{FF2B5EF4-FFF2-40B4-BE49-F238E27FC236}">
                <a16:creationId xmlns:a16="http://schemas.microsoft.com/office/drawing/2014/main" id="{E744C9CA-778C-4371-B5CC-5B41A14F174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测试数据不能反过来修改训练阶段确定的缩放参数。</a:t>
            </a:r>
          </a:p>
        </p:txBody>
      </p:sp>
    </p:spTree>
    <p:extLst>
      <p:ext uri="{BB962C8B-B14F-4D97-AF65-F5344CB8AC3E}">
        <p14:creationId xmlns:p14="http://schemas.microsoft.com/office/powerpoint/2010/main" val="15105809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矩形 105">
            <a:extLst>
              <a:ext uri="{FF2B5EF4-FFF2-40B4-BE49-F238E27FC236}">
                <a16:creationId xmlns:a16="http://schemas.microsoft.com/office/drawing/2014/main" id="{506A3348-4EC2-417F-A180-3CDC8FE9E96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4FB20A48-9063-4317-8917-3935FE9259F6}"/>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905D6BE-D2EC-4943-B87C-08DD4CEAFF2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4A89B622-2F11-401A-8BB0-3A0D17842871}"/>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Z-score </a:t>
            </a:r>
            <a:r>
              <a:rPr>
                <a:latin typeface="黑体"/>
                <a:ea typeface="黑体"/>
                <a:cs typeface="黑体"/>
              </a:rPr>
              <a:t>标准化</a:t>
            </a:r>
          </a:p>
        </p:txBody>
      </p:sp>
      <p:sp>
        <p:nvSpPr>
          <p:cNvPr id="5" name="矩形 4">
            <a:extLst>
              <a:ext uri="{FF2B5EF4-FFF2-40B4-BE49-F238E27FC236}">
                <a16:creationId xmlns:a16="http://schemas.microsoft.com/office/drawing/2014/main" id="{71F452B3-8F6E-4EB1-9A0A-5D434D5296FC}"/>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52/90</a:t>
            </a:r>
          </a:p>
        </p:txBody>
      </p:sp>
      <p:sp>
        <p:nvSpPr>
          <p:cNvPr id="6" name="矩形 5">
            <a:extLst>
              <a:ext uri="{FF2B5EF4-FFF2-40B4-BE49-F238E27FC236}">
                <a16:creationId xmlns:a16="http://schemas.microsoft.com/office/drawing/2014/main" id="{AB9DC2B0-C6EA-455D-994D-447D282132AC}"/>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17A1F176-2B20-4FDF-BE4A-B5F58194FB55}"/>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z = (x − μ) / σ</a:t>
            </a:r>
          </a:p>
        </p:txBody>
      </p:sp>
      <p:sp>
        <p:nvSpPr>
          <p:cNvPr id="8" name="矩形 7">
            <a:extLst>
              <a:ext uri="{FF2B5EF4-FFF2-40B4-BE49-F238E27FC236}">
                <a16:creationId xmlns:a16="http://schemas.microsoft.com/office/drawing/2014/main" id="{9EA6E69B-29CA-4CA6-9C24-CFB09D71BE7E}"/>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BB71EC22-7EDD-4A2C-8ECF-35521C594503}"/>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中心化：减去训练集均值 </a:t>
            </a:r>
            <a:r>
              <a:rPr>
                <a:latin typeface="Times New Roman"/>
                <a:ea typeface="Times New Roman"/>
                <a:cs typeface="Times New Roman"/>
              </a:rPr>
              <a:t>μ</a:t>
            </a:r>
          </a:p>
        </p:txBody>
      </p:sp>
      <p:sp>
        <p:nvSpPr>
          <p:cNvPr id="10" name="矩形 9">
            <a:extLst>
              <a:ext uri="{FF2B5EF4-FFF2-40B4-BE49-F238E27FC236}">
                <a16:creationId xmlns:a16="http://schemas.microsoft.com/office/drawing/2014/main" id="{C8F138A3-C9C2-46B6-B31A-D1B698B9084D}"/>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CF5BD994-375E-4666-B666-51094D5B2583}"/>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尺度化：除以训练集标准差 </a:t>
            </a:r>
            <a:r>
              <a:rPr>
                <a:latin typeface="Times New Roman"/>
                <a:ea typeface="Times New Roman"/>
                <a:cs typeface="Times New Roman"/>
              </a:rPr>
              <a:t>σ</a:t>
            </a:r>
          </a:p>
        </p:txBody>
      </p:sp>
      <p:sp>
        <p:nvSpPr>
          <p:cNvPr id="12" name="矩形 11">
            <a:extLst>
              <a:ext uri="{FF2B5EF4-FFF2-40B4-BE49-F238E27FC236}">
                <a16:creationId xmlns:a16="http://schemas.microsoft.com/office/drawing/2014/main" id="{357D2054-E123-4DFE-83AE-19A2950824BF}"/>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BB937C4B-8CBE-483D-9421-BC99CD4DA507}"/>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标准化后 </a:t>
            </a:r>
            <a:r>
              <a:rPr>
                <a:latin typeface="Times New Roman"/>
                <a:ea typeface="Times New Roman"/>
                <a:cs typeface="Times New Roman"/>
              </a:rPr>
              <a:t>0 </a:t>
            </a:r>
            <a:r>
              <a:rPr>
                <a:latin typeface="黑体"/>
                <a:ea typeface="黑体"/>
                <a:cs typeface="黑体"/>
              </a:rPr>
              <a:t>表示训练集平均水平</a:t>
            </a:r>
          </a:p>
        </p:txBody>
      </p:sp>
      <p:sp>
        <p:nvSpPr>
          <p:cNvPr id="14" name="矩形 13">
            <a:extLst>
              <a:ext uri="{FF2B5EF4-FFF2-40B4-BE49-F238E27FC236}">
                <a16:creationId xmlns:a16="http://schemas.microsoft.com/office/drawing/2014/main" id="{5FD57594-622D-49AB-94A9-B2DB17E4B491}"/>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5E28860F-E946-4986-A087-C431700473ED}"/>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正负值表示高于或低于平均水平</a:t>
            </a:r>
          </a:p>
        </p:txBody>
      </p:sp>
      <p:sp>
        <p:nvSpPr>
          <p:cNvPr id="16" name="矩形 15">
            <a:extLst>
              <a:ext uri="{FF2B5EF4-FFF2-40B4-BE49-F238E27FC236}">
                <a16:creationId xmlns:a16="http://schemas.microsoft.com/office/drawing/2014/main" id="{466FCD9C-1CD6-455A-BA6C-2A3BAC9528EF}"/>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0E00E3E0-3E1A-4B4B-911F-7EC0E4739AE4}"/>
              </a:ext>
            </a:extLst>
          </p:cNvPr>
          <p:cNvSpPr>
            <a:spLocks noGrp="1"/>
          </p:cNvSpPr>
          <p:nvPr/>
        </p:nvSpPr>
        <p:spPr>
          <a:xfrm>
            <a:off x="6324600" y="1504950"/>
            <a:ext cx="4686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标准差单位下的位置</a:t>
            </a:r>
          </a:p>
        </p:txBody>
      </p:sp>
      <p:sp>
        <p:nvSpPr>
          <p:cNvPr id="18" name="椭圆 17">
            <a:extLst>
              <a:ext uri="{FF2B5EF4-FFF2-40B4-BE49-F238E27FC236}">
                <a16:creationId xmlns:a16="http://schemas.microsoft.com/office/drawing/2014/main" id="{D4F6D635-836F-40AE-BC4D-547CBC1566A4}"/>
              </a:ext>
            </a:extLst>
          </p:cNvPr>
          <p:cNvSpPr>
            <a:spLocks noGrp="1"/>
          </p:cNvSpPr>
          <p:nvPr/>
        </p:nvSpPr>
        <p:spPr>
          <a:xfrm>
            <a:off x="6586538" y="393458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9" name="椭圆 18">
            <a:extLst>
              <a:ext uri="{FF2B5EF4-FFF2-40B4-BE49-F238E27FC236}">
                <a16:creationId xmlns:a16="http://schemas.microsoft.com/office/drawing/2014/main" id="{46F9D07F-7578-403D-B233-50C969969FE0}"/>
              </a:ext>
            </a:extLst>
          </p:cNvPr>
          <p:cNvSpPr>
            <a:spLocks noGrp="1"/>
          </p:cNvSpPr>
          <p:nvPr/>
        </p:nvSpPr>
        <p:spPr>
          <a:xfrm>
            <a:off x="6643688" y="3918411"/>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0" name="椭圆 19">
            <a:extLst>
              <a:ext uri="{FF2B5EF4-FFF2-40B4-BE49-F238E27FC236}">
                <a16:creationId xmlns:a16="http://schemas.microsoft.com/office/drawing/2014/main" id="{A79C9EDB-3C75-4AB1-9F79-FD56ABD64937}"/>
              </a:ext>
            </a:extLst>
          </p:cNvPr>
          <p:cNvSpPr>
            <a:spLocks noGrp="1"/>
          </p:cNvSpPr>
          <p:nvPr/>
        </p:nvSpPr>
        <p:spPr>
          <a:xfrm>
            <a:off x="6700838" y="390016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1" name="椭圆 20">
            <a:extLst>
              <a:ext uri="{FF2B5EF4-FFF2-40B4-BE49-F238E27FC236}">
                <a16:creationId xmlns:a16="http://schemas.microsoft.com/office/drawing/2014/main" id="{502EA09E-685C-4679-BDC8-63490122B2BB}"/>
              </a:ext>
            </a:extLst>
          </p:cNvPr>
          <p:cNvSpPr>
            <a:spLocks noGrp="1"/>
          </p:cNvSpPr>
          <p:nvPr/>
        </p:nvSpPr>
        <p:spPr>
          <a:xfrm>
            <a:off x="6757988" y="387969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2" name="椭圆 21">
            <a:extLst>
              <a:ext uri="{FF2B5EF4-FFF2-40B4-BE49-F238E27FC236}">
                <a16:creationId xmlns:a16="http://schemas.microsoft.com/office/drawing/2014/main" id="{627E6ACA-C4D2-4ECE-B1A1-E4CF52E6EA28}"/>
              </a:ext>
            </a:extLst>
          </p:cNvPr>
          <p:cNvSpPr>
            <a:spLocks noGrp="1"/>
          </p:cNvSpPr>
          <p:nvPr/>
        </p:nvSpPr>
        <p:spPr>
          <a:xfrm>
            <a:off x="6815138" y="385684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3" name="椭圆 22">
            <a:extLst>
              <a:ext uri="{FF2B5EF4-FFF2-40B4-BE49-F238E27FC236}">
                <a16:creationId xmlns:a16="http://schemas.microsoft.com/office/drawing/2014/main" id="{6508BE3D-8156-4C63-8348-115CCE4DC60D}"/>
              </a:ext>
            </a:extLst>
          </p:cNvPr>
          <p:cNvSpPr>
            <a:spLocks noGrp="1"/>
          </p:cNvSpPr>
          <p:nvPr/>
        </p:nvSpPr>
        <p:spPr>
          <a:xfrm>
            <a:off x="6872288" y="3831473"/>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4" name="椭圆 23">
            <a:extLst>
              <a:ext uri="{FF2B5EF4-FFF2-40B4-BE49-F238E27FC236}">
                <a16:creationId xmlns:a16="http://schemas.microsoft.com/office/drawing/2014/main" id="{09BA604F-00C8-4DB7-9E63-69FF6FA6510D}"/>
              </a:ext>
            </a:extLst>
          </p:cNvPr>
          <p:cNvSpPr>
            <a:spLocks noGrp="1"/>
          </p:cNvSpPr>
          <p:nvPr/>
        </p:nvSpPr>
        <p:spPr>
          <a:xfrm>
            <a:off x="6929438" y="380344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5" name="椭圆 24">
            <a:extLst>
              <a:ext uri="{FF2B5EF4-FFF2-40B4-BE49-F238E27FC236}">
                <a16:creationId xmlns:a16="http://schemas.microsoft.com/office/drawing/2014/main" id="{288D292D-CF78-4B9D-B251-947C6B927649}"/>
              </a:ext>
            </a:extLst>
          </p:cNvPr>
          <p:cNvSpPr>
            <a:spLocks noGrp="1"/>
          </p:cNvSpPr>
          <p:nvPr/>
        </p:nvSpPr>
        <p:spPr>
          <a:xfrm>
            <a:off x="6986588" y="377264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6" name="椭圆 25">
            <a:extLst>
              <a:ext uri="{FF2B5EF4-FFF2-40B4-BE49-F238E27FC236}">
                <a16:creationId xmlns:a16="http://schemas.microsoft.com/office/drawing/2014/main" id="{C8C2CDF5-3C18-4D82-B5C6-25647E1ACD2B}"/>
              </a:ext>
            </a:extLst>
          </p:cNvPr>
          <p:cNvSpPr>
            <a:spLocks noGrp="1"/>
          </p:cNvSpPr>
          <p:nvPr/>
        </p:nvSpPr>
        <p:spPr>
          <a:xfrm>
            <a:off x="7043738" y="3738981"/>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7" name="椭圆 26">
            <a:extLst>
              <a:ext uri="{FF2B5EF4-FFF2-40B4-BE49-F238E27FC236}">
                <a16:creationId xmlns:a16="http://schemas.microsoft.com/office/drawing/2014/main" id="{90F5D00E-5B5F-4D63-81CD-36D6DF1FFE86}"/>
              </a:ext>
            </a:extLst>
          </p:cNvPr>
          <p:cNvSpPr>
            <a:spLocks noGrp="1"/>
          </p:cNvSpPr>
          <p:nvPr/>
        </p:nvSpPr>
        <p:spPr>
          <a:xfrm>
            <a:off x="7100888" y="3702395"/>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8" name="椭圆 27">
            <a:extLst>
              <a:ext uri="{FF2B5EF4-FFF2-40B4-BE49-F238E27FC236}">
                <a16:creationId xmlns:a16="http://schemas.microsoft.com/office/drawing/2014/main" id="{83E5F9BB-E966-4882-95E2-C09834C327E4}"/>
              </a:ext>
            </a:extLst>
          </p:cNvPr>
          <p:cNvSpPr>
            <a:spLocks noGrp="1"/>
          </p:cNvSpPr>
          <p:nvPr/>
        </p:nvSpPr>
        <p:spPr>
          <a:xfrm>
            <a:off x="7158038" y="366285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9" name="椭圆 28">
            <a:extLst>
              <a:ext uri="{FF2B5EF4-FFF2-40B4-BE49-F238E27FC236}">
                <a16:creationId xmlns:a16="http://schemas.microsoft.com/office/drawing/2014/main" id="{AAFA525F-94F7-43D4-98CC-9BD3CDE883C5}"/>
              </a:ext>
            </a:extLst>
          </p:cNvPr>
          <p:cNvSpPr>
            <a:spLocks noGrp="1"/>
          </p:cNvSpPr>
          <p:nvPr/>
        </p:nvSpPr>
        <p:spPr>
          <a:xfrm>
            <a:off x="7215188" y="362035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0" name="椭圆 29">
            <a:extLst>
              <a:ext uri="{FF2B5EF4-FFF2-40B4-BE49-F238E27FC236}">
                <a16:creationId xmlns:a16="http://schemas.microsoft.com/office/drawing/2014/main" id="{212FEE65-3C9B-4E31-9473-63FEB313FA60}"/>
              </a:ext>
            </a:extLst>
          </p:cNvPr>
          <p:cNvSpPr>
            <a:spLocks noGrp="1"/>
          </p:cNvSpPr>
          <p:nvPr/>
        </p:nvSpPr>
        <p:spPr>
          <a:xfrm>
            <a:off x="7272338" y="357493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1" name="椭圆 30">
            <a:extLst>
              <a:ext uri="{FF2B5EF4-FFF2-40B4-BE49-F238E27FC236}">
                <a16:creationId xmlns:a16="http://schemas.microsoft.com/office/drawing/2014/main" id="{43A76B12-870D-4509-B963-A827CE00BF04}"/>
              </a:ext>
            </a:extLst>
          </p:cNvPr>
          <p:cNvSpPr>
            <a:spLocks noGrp="1"/>
          </p:cNvSpPr>
          <p:nvPr/>
        </p:nvSpPr>
        <p:spPr>
          <a:xfrm>
            <a:off x="7329488" y="352669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2" name="椭圆 31">
            <a:extLst>
              <a:ext uri="{FF2B5EF4-FFF2-40B4-BE49-F238E27FC236}">
                <a16:creationId xmlns:a16="http://schemas.microsoft.com/office/drawing/2014/main" id="{C0E33B2E-050A-41D5-ABD7-37B6B204AE2A}"/>
              </a:ext>
            </a:extLst>
          </p:cNvPr>
          <p:cNvSpPr>
            <a:spLocks noGrp="1"/>
          </p:cNvSpPr>
          <p:nvPr/>
        </p:nvSpPr>
        <p:spPr>
          <a:xfrm>
            <a:off x="7386638" y="347576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3" name="椭圆 32">
            <a:extLst>
              <a:ext uri="{FF2B5EF4-FFF2-40B4-BE49-F238E27FC236}">
                <a16:creationId xmlns:a16="http://schemas.microsoft.com/office/drawing/2014/main" id="{758C1C41-0356-458B-ADC8-3C32A6FCC8E8}"/>
              </a:ext>
            </a:extLst>
          </p:cNvPr>
          <p:cNvSpPr>
            <a:spLocks noGrp="1"/>
          </p:cNvSpPr>
          <p:nvPr/>
        </p:nvSpPr>
        <p:spPr>
          <a:xfrm>
            <a:off x="7443788" y="342232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4" name="椭圆 33">
            <a:extLst>
              <a:ext uri="{FF2B5EF4-FFF2-40B4-BE49-F238E27FC236}">
                <a16:creationId xmlns:a16="http://schemas.microsoft.com/office/drawing/2014/main" id="{1843CE2F-035E-45CE-A7E7-EC290F5E645A}"/>
              </a:ext>
            </a:extLst>
          </p:cNvPr>
          <p:cNvSpPr>
            <a:spLocks noGrp="1"/>
          </p:cNvSpPr>
          <p:nvPr/>
        </p:nvSpPr>
        <p:spPr>
          <a:xfrm>
            <a:off x="7500938" y="336661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5" name="椭圆 34">
            <a:extLst>
              <a:ext uri="{FF2B5EF4-FFF2-40B4-BE49-F238E27FC236}">
                <a16:creationId xmlns:a16="http://schemas.microsoft.com/office/drawing/2014/main" id="{D00E5BFB-9396-45D1-8797-0520FB956FD2}"/>
              </a:ext>
            </a:extLst>
          </p:cNvPr>
          <p:cNvSpPr>
            <a:spLocks noGrp="1"/>
          </p:cNvSpPr>
          <p:nvPr/>
        </p:nvSpPr>
        <p:spPr>
          <a:xfrm>
            <a:off x="7558088" y="3308915"/>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6" name="椭圆 35">
            <a:extLst>
              <a:ext uri="{FF2B5EF4-FFF2-40B4-BE49-F238E27FC236}">
                <a16:creationId xmlns:a16="http://schemas.microsoft.com/office/drawing/2014/main" id="{E6ACA368-B4F8-4719-BC8D-D83334744FA1}"/>
              </a:ext>
            </a:extLst>
          </p:cNvPr>
          <p:cNvSpPr>
            <a:spLocks noGrp="1"/>
          </p:cNvSpPr>
          <p:nvPr/>
        </p:nvSpPr>
        <p:spPr>
          <a:xfrm>
            <a:off x="7615238" y="324957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7" name="椭圆 36">
            <a:extLst>
              <a:ext uri="{FF2B5EF4-FFF2-40B4-BE49-F238E27FC236}">
                <a16:creationId xmlns:a16="http://schemas.microsoft.com/office/drawing/2014/main" id="{FC07D2A5-2350-474E-82BD-6BFBA5B9D30F}"/>
              </a:ext>
            </a:extLst>
          </p:cNvPr>
          <p:cNvSpPr>
            <a:spLocks noGrp="1"/>
          </p:cNvSpPr>
          <p:nvPr/>
        </p:nvSpPr>
        <p:spPr>
          <a:xfrm>
            <a:off x="7672388" y="318896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8" name="椭圆 37">
            <a:extLst>
              <a:ext uri="{FF2B5EF4-FFF2-40B4-BE49-F238E27FC236}">
                <a16:creationId xmlns:a16="http://schemas.microsoft.com/office/drawing/2014/main" id="{8DC52C9F-CA43-44C3-BB8B-A0586A12072B}"/>
              </a:ext>
            </a:extLst>
          </p:cNvPr>
          <p:cNvSpPr>
            <a:spLocks noGrp="1"/>
          </p:cNvSpPr>
          <p:nvPr/>
        </p:nvSpPr>
        <p:spPr>
          <a:xfrm>
            <a:off x="7729538" y="312754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9" name="椭圆 38">
            <a:extLst>
              <a:ext uri="{FF2B5EF4-FFF2-40B4-BE49-F238E27FC236}">
                <a16:creationId xmlns:a16="http://schemas.microsoft.com/office/drawing/2014/main" id="{5155D39F-5E5A-4623-BC68-A855BC0BF6D3}"/>
              </a:ext>
            </a:extLst>
          </p:cNvPr>
          <p:cNvSpPr>
            <a:spLocks noGrp="1"/>
          </p:cNvSpPr>
          <p:nvPr/>
        </p:nvSpPr>
        <p:spPr>
          <a:xfrm>
            <a:off x="7786688" y="306578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0" name="椭圆 39">
            <a:extLst>
              <a:ext uri="{FF2B5EF4-FFF2-40B4-BE49-F238E27FC236}">
                <a16:creationId xmlns:a16="http://schemas.microsoft.com/office/drawing/2014/main" id="{8A2A50F1-76C3-485A-97E8-F29DCD7D17F1}"/>
              </a:ext>
            </a:extLst>
          </p:cNvPr>
          <p:cNvSpPr>
            <a:spLocks noGrp="1"/>
          </p:cNvSpPr>
          <p:nvPr/>
        </p:nvSpPr>
        <p:spPr>
          <a:xfrm>
            <a:off x="7843838" y="300420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1" name="椭圆 40">
            <a:extLst>
              <a:ext uri="{FF2B5EF4-FFF2-40B4-BE49-F238E27FC236}">
                <a16:creationId xmlns:a16="http://schemas.microsoft.com/office/drawing/2014/main" id="{603C3126-4A77-487C-A561-7CE62A9FB10B}"/>
              </a:ext>
            </a:extLst>
          </p:cNvPr>
          <p:cNvSpPr>
            <a:spLocks noGrp="1"/>
          </p:cNvSpPr>
          <p:nvPr/>
        </p:nvSpPr>
        <p:spPr>
          <a:xfrm>
            <a:off x="7900988" y="294334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78846C69-2064-46DA-8F2A-66094A110D3B}"/>
              </a:ext>
            </a:extLst>
          </p:cNvPr>
          <p:cNvSpPr>
            <a:spLocks noGrp="1"/>
          </p:cNvSpPr>
          <p:nvPr/>
        </p:nvSpPr>
        <p:spPr>
          <a:xfrm>
            <a:off x="7958138" y="288380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E93E6076-7F50-4F5A-9EDE-58F322EB602D}"/>
              </a:ext>
            </a:extLst>
          </p:cNvPr>
          <p:cNvSpPr>
            <a:spLocks noGrp="1"/>
          </p:cNvSpPr>
          <p:nvPr/>
        </p:nvSpPr>
        <p:spPr>
          <a:xfrm>
            <a:off x="8015288" y="282615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AF6E9F35-1BCA-433B-B213-CA5310B2D446}"/>
              </a:ext>
            </a:extLst>
          </p:cNvPr>
          <p:cNvSpPr>
            <a:spLocks noGrp="1"/>
          </p:cNvSpPr>
          <p:nvPr/>
        </p:nvSpPr>
        <p:spPr>
          <a:xfrm>
            <a:off x="8072438" y="277099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B3D0EEA2-D223-465E-8EAB-0506DD601DB5}"/>
              </a:ext>
            </a:extLst>
          </p:cNvPr>
          <p:cNvSpPr>
            <a:spLocks noGrp="1"/>
          </p:cNvSpPr>
          <p:nvPr/>
        </p:nvSpPr>
        <p:spPr>
          <a:xfrm>
            <a:off x="8129588" y="271892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40509283-8810-43C5-974E-6B82595A2039}"/>
              </a:ext>
            </a:extLst>
          </p:cNvPr>
          <p:cNvSpPr>
            <a:spLocks noGrp="1"/>
          </p:cNvSpPr>
          <p:nvPr/>
        </p:nvSpPr>
        <p:spPr>
          <a:xfrm>
            <a:off x="8186738" y="267051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65427D6F-962D-4B50-BD6E-3E479384E126}"/>
              </a:ext>
            </a:extLst>
          </p:cNvPr>
          <p:cNvSpPr>
            <a:spLocks noGrp="1"/>
          </p:cNvSpPr>
          <p:nvPr/>
        </p:nvSpPr>
        <p:spPr>
          <a:xfrm>
            <a:off x="8243888" y="262632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403DD312-9F9A-45CA-A004-B1B87F604553}"/>
              </a:ext>
            </a:extLst>
          </p:cNvPr>
          <p:cNvSpPr>
            <a:spLocks noGrp="1"/>
          </p:cNvSpPr>
          <p:nvPr/>
        </p:nvSpPr>
        <p:spPr>
          <a:xfrm>
            <a:off x="8301038" y="258686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5AB5AAAD-765A-4DCB-86A8-D4508B8D4FC0}"/>
              </a:ext>
            </a:extLst>
          </p:cNvPr>
          <p:cNvSpPr>
            <a:spLocks noGrp="1"/>
          </p:cNvSpPr>
          <p:nvPr/>
        </p:nvSpPr>
        <p:spPr>
          <a:xfrm>
            <a:off x="8358188" y="255262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A54AD8F4-7F2F-4F1F-8EE5-25FA8790C193}"/>
              </a:ext>
            </a:extLst>
          </p:cNvPr>
          <p:cNvSpPr>
            <a:spLocks noGrp="1"/>
          </p:cNvSpPr>
          <p:nvPr/>
        </p:nvSpPr>
        <p:spPr>
          <a:xfrm>
            <a:off x="8415338" y="2523996"/>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8B568169-9A55-4A9C-A051-3D2FC80EA48C}"/>
              </a:ext>
            </a:extLst>
          </p:cNvPr>
          <p:cNvSpPr>
            <a:spLocks noGrp="1"/>
          </p:cNvSpPr>
          <p:nvPr/>
        </p:nvSpPr>
        <p:spPr>
          <a:xfrm>
            <a:off x="8472488" y="250135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1E778D25-A9A0-4957-9544-E24BE992BBF2}"/>
              </a:ext>
            </a:extLst>
          </p:cNvPr>
          <p:cNvSpPr>
            <a:spLocks noGrp="1"/>
          </p:cNvSpPr>
          <p:nvPr/>
        </p:nvSpPr>
        <p:spPr>
          <a:xfrm>
            <a:off x="8529638" y="2484969"/>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64027566-4479-407D-A7CD-E679EF356D33}"/>
              </a:ext>
            </a:extLst>
          </p:cNvPr>
          <p:cNvSpPr>
            <a:spLocks noGrp="1"/>
          </p:cNvSpPr>
          <p:nvPr/>
        </p:nvSpPr>
        <p:spPr>
          <a:xfrm>
            <a:off x="8586788" y="2475056"/>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221DE369-38D1-402E-998E-897A882081DB}"/>
              </a:ext>
            </a:extLst>
          </p:cNvPr>
          <p:cNvSpPr>
            <a:spLocks noGrp="1"/>
          </p:cNvSpPr>
          <p:nvPr/>
        </p:nvSpPr>
        <p:spPr>
          <a:xfrm>
            <a:off x="8643938" y="247173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BE390A5C-C0F6-44DC-8872-AB34B9D3536C}"/>
              </a:ext>
            </a:extLst>
          </p:cNvPr>
          <p:cNvSpPr>
            <a:spLocks noGrp="1"/>
          </p:cNvSpPr>
          <p:nvPr/>
        </p:nvSpPr>
        <p:spPr>
          <a:xfrm>
            <a:off x="8701088" y="2475056"/>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4282DF57-7C71-4851-BB44-A262F62FBF05}"/>
              </a:ext>
            </a:extLst>
          </p:cNvPr>
          <p:cNvSpPr>
            <a:spLocks noGrp="1"/>
          </p:cNvSpPr>
          <p:nvPr/>
        </p:nvSpPr>
        <p:spPr>
          <a:xfrm>
            <a:off x="8758238" y="2484969"/>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33C745B6-5DEE-41CB-83D0-21B009496DBF}"/>
              </a:ext>
            </a:extLst>
          </p:cNvPr>
          <p:cNvSpPr>
            <a:spLocks noGrp="1"/>
          </p:cNvSpPr>
          <p:nvPr/>
        </p:nvSpPr>
        <p:spPr>
          <a:xfrm>
            <a:off x="8815388" y="250135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D9140BD6-CDB9-4F07-9652-4B895D008472}"/>
              </a:ext>
            </a:extLst>
          </p:cNvPr>
          <p:cNvSpPr>
            <a:spLocks noGrp="1"/>
          </p:cNvSpPr>
          <p:nvPr/>
        </p:nvSpPr>
        <p:spPr>
          <a:xfrm>
            <a:off x="8872538" y="2523996"/>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5CB8CDC9-8580-480D-A52C-3AAC043A9C7F}"/>
              </a:ext>
            </a:extLst>
          </p:cNvPr>
          <p:cNvSpPr>
            <a:spLocks noGrp="1"/>
          </p:cNvSpPr>
          <p:nvPr/>
        </p:nvSpPr>
        <p:spPr>
          <a:xfrm>
            <a:off x="8929688" y="255262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D0CB4AD3-B690-474D-8362-DB379C574815}"/>
              </a:ext>
            </a:extLst>
          </p:cNvPr>
          <p:cNvSpPr>
            <a:spLocks noGrp="1"/>
          </p:cNvSpPr>
          <p:nvPr/>
        </p:nvSpPr>
        <p:spPr>
          <a:xfrm>
            <a:off x="8986838" y="258686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16A601B1-DC34-4969-B645-0BD2C2A5EE8C}"/>
              </a:ext>
            </a:extLst>
          </p:cNvPr>
          <p:cNvSpPr>
            <a:spLocks noGrp="1"/>
          </p:cNvSpPr>
          <p:nvPr/>
        </p:nvSpPr>
        <p:spPr>
          <a:xfrm>
            <a:off x="9043988" y="262632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82D0BF50-3819-477A-A966-850E7BAC0015}"/>
              </a:ext>
            </a:extLst>
          </p:cNvPr>
          <p:cNvSpPr>
            <a:spLocks noGrp="1"/>
          </p:cNvSpPr>
          <p:nvPr/>
        </p:nvSpPr>
        <p:spPr>
          <a:xfrm>
            <a:off x="9101138" y="267051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9FFA17EF-000C-4D9B-9723-A05D179E7663}"/>
              </a:ext>
            </a:extLst>
          </p:cNvPr>
          <p:cNvSpPr>
            <a:spLocks noGrp="1"/>
          </p:cNvSpPr>
          <p:nvPr/>
        </p:nvSpPr>
        <p:spPr>
          <a:xfrm>
            <a:off x="9158288" y="271892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6C286D3A-583F-4E2E-B274-581ACDAECFD6}"/>
              </a:ext>
            </a:extLst>
          </p:cNvPr>
          <p:cNvSpPr>
            <a:spLocks noGrp="1"/>
          </p:cNvSpPr>
          <p:nvPr/>
        </p:nvSpPr>
        <p:spPr>
          <a:xfrm>
            <a:off x="9215438" y="277099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996EA7B7-BECF-4D50-B41F-3C35714F0382}"/>
              </a:ext>
            </a:extLst>
          </p:cNvPr>
          <p:cNvSpPr>
            <a:spLocks noGrp="1"/>
          </p:cNvSpPr>
          <p:nvPr/>
        </p:nvSpPr>
        <p:spPr>
          <a:xfrm>
            <a:off x="9272588" y="282615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BB5ABB1D-7226-42D5-B205-4A5AD3FD6369}"/>
              </a:ext>
            </a:extLst>
          </p:cNvPr>
          <p:cNvSpPr>
            <a:spLocks noGrp="1"/>
          </p:cNvSpPr>
          <p:nvPr/>
        </p:nvSpPr>
        <p:spPr>
          <a:xfrm>
            <a:off x="9329738" y="288380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2361B936-E483-462A-94CB-19DB64B11CAA}"/>
              </a:ext>
            </a:extLst>
          </p:cNvPr>
          <p:cNvSpPr>
            <a:spLocks noGrp="1"/>
          </p:cNvSpPr>
          <p:nvPr/>
        </p:nvSpPr>
        <p:spPr>
          <a:xfrm>
            <a:off x="9386888" y="294334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4B06D105-B646-40DE-B8F5-4A441A21C6F4}"/>
              </a:ext>
            </a:extLst>
          </p:cNvPr>
          <p:cNvSpPr>
            <a:spLocks noGrp="1"/>
          </p:cNvSpPr>
          <p:nvPr/>
        </p:nvSpPr>
        <p:spPr>
          <a:xfrm>
            <a:off x="9444038" y="300420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70596B66-4127-4C1A-8912-F7FD97114B49}"/>
              </a:ext>
            </a:extLst>
          </p:cNvPr>
          <p:cNvSpPr>
            <a:spLocks noGrp="1"/>
          </p:cNvSpPr>
          <p:nvPr/>
        </p:nvSpPr>
        <p:spPr>
          <a:xfrm>
            <a:off x="9501188" y="306578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72274EF8-B59B-4B03-88B5-79FF42AE42E1}"/>
              </a:ext>
            </a:extLst>
          </p:cNvPr>
          <p:cNvSpPr>
            <a:spLocks noGrp="1"/>
          </p:cNvSpPr>
          <p:nvPr/>
        </p:nvSpPr>
        <p:spPr>
          <a:xfrm>
            <a:off x="9558338" y="312754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91A3E85B-4E44-488A-8130-CB726E3DCCCE}"/>
              </a:ext>
            </a:extLst>
          </p:cNvPr>
          <p:cNvSpPr>
            <a:spLocks noGrp="1"/>
          </p:cNvSpPr>
          <p:nvPr/>
        </p:nvSpPr>
        <p:spPr>
          <a:xfrm>
            <a:off x="9615488" y="318896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43E6D670-F29F-4FB1-91CA-1BA31526A1D7}"/>
              </a:ext>
            </a:extLst>
          </p:cNvPr>
          <p:cNvSpPr>
            <a:spLocks noGrp="1"/>
          </p:cNvSpPr>
          <p:nvPr/>
        </p:nvSpPr>
        <p:spPr>
          <a:xfrm>
            <a:off x="9672638" y="324957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6E4781FF-4545-4E5A-BE93-2E8E67BF6BD6}"/>
              </a:ext>
            </a:extLst>
          </p:cNvPr>
          <p:cNvSpPr>
            <a:spLocks noGrp="1"/>
          </p:cNvSpPr>
          <p:nvPr/>
        </p:nvSpPr>
        <p:spPr>
          <a:xfrm>
            <a:off x="9729788" y="3308915"/>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C3E0D955-1B46-4491-9A1F-C71BBA2CAE11}"/>
              </a:ext>
            </a:extLst>
          </p:cNvPr>
          <p:cNvSpPr>
            <a:spLocks noGrp="1"/>
          </p:cNvSpPr>
          <p:nvPr/>
        </p:nvSpPr>
        <p:spPr>
          <a:xfrm>
            <a:off x="9786938" y="3366614"/>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F25E9CFD-D141-421F-BE05-0D70E9445F5C}"/>
              </a:ext>
            </a:extLst>
          </p:cNvPr>
          <p:cNvSpPr>
            <a:spLocks noGrp="1"/>
          </p:cNvSpPr>
          <p:nvPr/>
        </p:nvSpPr>
        <p:spPr>
          <a:xfrm>
            <a:off x="9844088" y="342232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6" name="椭圆 75">
            <a:extLst>
              <a:ext uri="{FF2B5EF4-FFF2-40B4-BE49-F238E27FC236}">
                <a16:creationId xmlns:a16="http://schemas.microsoft.com/office/drawing/2014/main" id="{33059822-812C-465A-A7AE-8F9AD091DB1D}"/>
              </a:ext>
            </a:extLst>
          </p:cNvPr>
          <p:cNvSpPr>
            <a:spLocks noGrp="1"/>
          </p:cNvSpPr>
          <p:nvPr/>
        </p:nvSpPr>
        <p:spPr>
          <a:xfrm>
            <a:off x="9901238" y="347576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7" name="椭圆 76">
            <a:extLst>
              <a:ext uri="{FF2B5EF4-FFF2-40B4-BE49-F238E27FC236}">
                <a16:creationId xmlns:a16="http://schemas.microsoft.com/office/drawing/2014/main" id="{EADF43E7-5084-4436-8E26-EC96F9F8754B}"/>
              </a:ext>
            </a:extLst>
          </p:cNvPr>
          <p:cNvSpPr>
            <a:spLocks noGrp="1"/>
          </p:cNvSpPr>
          <p:nvPr/>
        </p:nvSpPr>
        <p:spPr>
          <a:xfrm>
            <a:off x="9958388" y="352669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8" name="椭圆 77">
            <a:extLst>
              <a:ext uri="{FF2B5EF4-FFF2-40B4-BE49-F238E27FC236}">
                <a16:creationId xmlns:a16="http://schemas.microsoft.com/office/drawing/2014/main" id="{D641E76B-65F4-4AF6-AA62-77CE7AB59ED3}"/>
              </a:ext>
            </a:extLst>
          </p:cNvPr>
          <p:cNvSpPr>
            <a:spLocks noGrp="1"/>
          </p:cNvSpPr>
          <p:nvPr/>
        </p:nvSpPr>
        <p:spPr>
          <a:xfrm>
            <a:off x="10015538" y="357493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FD75B864-5258-4280-BB87-8B14F8178954}"/>
              </a:ext>
            </a:extLst>
          </p:cNvPr>
          <p:cNvSpPr>
            <a:spLocks noGrp="1"/>
          </p:cNvSpPr>
          <p:nvPr/>
        </p:nvSpPr>
        <p:spPr>
          <a:xfrm>
            <a:off x="10072688" y="362035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22628F5A-C33D-4CD9-AAEF-5A8CF4A1F7FB}"/>
              </a:ext>
            </a:extLst>
          </p:cNvPr>
          <p:cNvSpPr>
            <a:spLocks noGrp="1"/>
          </p:cNvSpPr>
          <p:nvPr/>
        </p:nvSpPr>
        <p:spPr>
          <a:xfrm>
            <a:off x="10129838" y="3662850"/>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72BE12F2-56AA-455D-9FBF-BA357B668A11}"/>
              </a:ext>
            </a:extLst>
          </p:cNvPr>
          <p:cNvSpPr>
            <a:spLocks noGrp="1"/>
          </p:cNvSpPr>
          <p:nvPr/>
        </p:nvSpPr>
        <p:spPr>
          <a:xfrm>
            <a:off x="10186988" y="3702395"/>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2" name="椭圆 81">
            <a:extLst>
              <a:ext uri="{FF2B5EF4-FFF2-40B4-BE49-F238E27FC236}">
                <a16:creationId xmlns:a16="http://schemas.microsoft.com/office/drawing/2014/main" id="{F234244E-89B2-4C95-B387-8B0A68F362DA}"/>
              </a:ext>
            </a:extLst>
          </p:cNvPr>
          <p:cNvSpPr>
            <a:spLocks noGrp="1"/>
          </p:cNvSpPr>
          <p:nvPr/>
        </p:nvSpPr>
        <p:spPr>
          <a:xfrm>
            <a:off x="10244138" y="3738981"/>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3" name="椭圆 82">
            <a:extLst>
              <a:ext uri="{FF2B5EF4-FFF2-40B4-BE49-F238E27FC236}">
                <a16:creationId xmlns:a16="http://schemas.microsoft.com/office/drawing/2014/main" id="{417AC616-820C-45CF-AC59-2E91AB69BBBC}"/>
              </a:ext>
            </a:extLst>
          </p:cNvPr>
          <p:cNvSpPr>
            <a:spLocks noGrp="1"/>
          </p:cNvSpPr>
          <p:nvPr/>
        </p:nvSpPr>
        <p:spPr>
          <a:xfrm>
            <a:off x="10301288" y="377264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4" name="椭圆 83">
            <a:extLst>
              <a:ext uri="{FF2B5EF4-FFF2-40B4-BE49-F238E27FC236}">
                <a16:creationId xmlns:a16="http://schemas.microsoft.com/office/drawing/2014/main" id="{B057FDF9-E360-4221-B546-7E65D7CA6D99}"/>
              </a:ext>
            </a:extLst>
          </p:cNvPr>
          <p:cNvSpPr>
            <a:spLocks noGrp="1"/>
          </p:cNvSpPr>
          <p:nvPr/>
        </p:nvSpPr>
        <p:spPr>
          <a:xfrm>
            <a:off x="10358438" y="3803442"/>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5" name="椭圆 84">
            <a:extLst>
              <a:ext uri="{FF2B5EF4-FFF2-40B4-BE49-F238E27FC236}">
                <a16:creationId xmlns:a16="http://schemas.microsoft.com/office/drawing/2014/main" id="{5A183863-DD71-4CE9-A2DA-62DD9DD3558E}"/>
              </a:ext>
            </a:extLst>
          </p:cNvPr>
          <p:cNvSpPr>
            <a:spLocks noGrp="1"/>
          </p:cNvSpPr>
          <p:nvPr/>
        </p:nvSpPr>
        <p:spPr>
          <a:xfrm>
            <a:off x="10415588" y="3831473"/>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6" name="椭圆 85">
            <a:extLst>
              <a:ext uri="{FF2B5EF4-FFF2-40B4-BE49-F238E27FC236}">
                <a16:creationId xmlns:a16="http://schemas.microsoft.com/office/drawing/2014/main" id="{3D8302E2-8359-4151-9CFD-070CB4A520D6}"/>
              </a:ext>
            </a:extLst>
          </p:cNvPr>
          <p:cNvSpPr>
            <a:spLocks noGrp="1"/>
          </p:cNvSpPr>
          <p:nvPr/>
        </p:nvSpPr>
        <p:spPr>
          <a:xfrm>
            <a:off x="10472738" y="385684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7" name="椭圆 86">
            <a:extLst>
              <a:ext uri="{FF2B5EF4-FFF2-40B4-BE49-F238E27FC236}">
                <a16:creationId xmlns:a16="http://schemas.microsoft.com/office/drawing/2014/main" id="{9861BCF7-2748-4D81-9D40-A59A153D42B1}"/>
              </a:ext>
            </a:extLst>
          </p:cNvPr>
          <p:cNvSpPr>
            <a:spLocks noGrp="1"/>
          </p:cNvSpPr>
          <p:nvPr/>
        </p:nvSpPr>
        <p:spPr>
          <a:xfrm>
            <a:off x="10529888" y="3879698"/>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8" name="椭圆 87">
            <a:extLst>
              <a:ext uri="{FF2B5EF4-FFF2-40B4-BE49-F238E27FC236}">
                <a16:creationId xmlns:a16="http://schemas.microsoft.com/office/drawing/2014/main" id="{B30C0063-218F-4665-95B5-9901CC0CD822}"/>
              </a:ext>
            </a:extLst>
          </p:cNvPr>
          <p:cNvSpPr>
            <a:spLocks noGrp="1"/>
          </p:cNvSpPr>
          <p:nvPr/>
        </p:nvSpPr>
        <p:spPr>
          <a:xfrm>
            <a:off x="10587038" y="390016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9" name="椭圆 88">
            <a:extLst>
              <a:ext uri="{FF2B5EF4-FFF2-40B4-BE49-F238E27FC236}">
                <a16:creationId xmlns:a16="http://schemas.microsoft.com/office/drawing/2014/main" id="{D95107EA-8C0A-4B39-8B2A-6F853DDF6F04}"/>
              </a:ext>
            </a:extLst>
          </p:cNvPr>
          <p:cNvSpPr>
            <a:spLocks noGrp="1"/>
          </p:cNvSpPr>
          <p:nvPr/>
        </p:nvSpPr>
        <p:spPr>
          <a:xfrm>
            <a:off x="10644188" y="3918411"/>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0" name="椭圆 89">
            <a:extLst>
              <a:ext uri="{FF2B5EF4-FFF2-40B4-BE49-F238E27FC236}">
                <a16:creationId xmlns:a16="http://schemas.microsoft.com/office/drawing/2014/main" id="{AC23FF94-1A85-4BF3-B1D3-15B325585539}"/>
              </a:ext>
            </a:extLst>
          </p:cNvPr>
          <p:cNvSpPr>
            <a:spLocks noGrp="1"/>
          </p:cNvSpPr>
          <p:nvPr/>
        </p:nvSpPr>
        <p:spPr>
          <a:xfrm>
            <a:off x="10701338" y="3934587"/>
            <a:ext cx="47625" cy="476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1" name="矩形 90">
            <a:extLst>
              <a:ext uri="{FF2B5EF4-FFF2-40B4-BE49-F238E27FC236}">
                <a16:creationId xmlns:a16="http://schemas.microsoft.com/office/drawing/2014/main" id="{00A94A41-FE40-40C4-8E46-2ADD7B3B1A8B}"/>
              </a:ext>
            </a:extLst>
          </p:cNvPr>
          <p:cNvSpPr>
            <a:spLocks noGrp="1"/>
          </p:cNvSpPr>
          <p:nvPr/>
        </p:nvSpPr>
        <p:spPr>
          <a:xfrm>
            <a:off x="6591300" y="4057650"/>
            <a:ext cx="4152900" cy="28575"/>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92" name="矩形 91">
            <a:extLst>
              <a:ext uri="{FF2B5EF4-FFF2-40B4-BE49-F238E27FC236}">
                <a16:creationId xmlns:a16="http://schemas.microsoft.com/office/drawing/2014/main" id="{76DF8023-D474-4C2A-A27E-A408E0E89D0B}"/>
              </a:ext>
            </a:extLst>
          </p:cNvPr>
          <p:cNvSpPr>
            <a:spLocks noGrp="1"/>
          </p:cNvSpPr>
          <p:nvPr/>
        </p:nvSpPr>
        <p:spPr>
          <a:xfrm>
            <a:off x="7181850" y="3981450"/>
            <a:ext cx="19050" cy="152400"/>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93" name="矩形 92">
            <a:extLst>
              <a:ext uri="{FF2B5EF4-FFF2-40B4-BE49-F238E27FC236}">
                <a16:creationId xmlns:a16="http://schemas.microsoft.com/office/drawing/2014/main" id="{79E074F5-BC1C-48EC-BBF5-C8EC885868C9}"/>
              </a:ext>
            </a:extLst>
          </p:cNvPr>
          <p:cNvSpPr>
            <a:spLocks noGrp="1"/>
          </p:cNvSpPr>
          <p:nvPr/>
        </p:nvSpPr>
        <p:spPr>
          <a:xfrm>
            <a:off x="6819900" y="4229100"/>
            <a:ext cx="723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-2σ</a:t>
            </a:r>
          </a:p>
        </p:txBody>
      </p:sp>
      <p:sp>
        <p:nvSpPr>
          <p:cNvPr id="94" name="矩形 93">
            <a:extLst>
              <a:ext uri="{FF2B5EF4-FFF2-40B4-BE49-F238E27FC236}">
                <a16:creationId xmlns:a16="http://schemas.microsoft.com/office/drawing/2014/main" id="{B08844A4-A5F5-4F9C-B480-EC8B9DC49661}"/>
              </a:ext>
            </a:extLst>
          </p:cNvPr>
          <p:cNvSpPr>
            <a:spLocks noGrp="1"/>
          </p:cNvSpPr>
          <p:nvPr/>
        </p:nvSpPr>
        <p:spPr>
          <a:xfrm>
            <a:off x="7924800" y="3981450"/>
            <a:ext cx="19050" cy="152400"/>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95" name="矩形 94">
            <a:extLst>
              <a:ext uri="{FF2B5EF4-FFF2-40B4-BE49-F238E27FC236}">
                <a16:creationId xmlns:a16="http://schemas.microsoft.com/office/drawing/2014/main" id="{72C54648-8E00-4A9C-B287-9C4D9C78D067}"/>
              </a:ext>
            </a:extLst>
          </p:cNvPr>
          <p:cNvSpPr>
            <a:spLocks noGrp="1"/>
          </p:cNvSpPr>
          <p:nvPr/>
        </p:nvSpPr>
        <p:spPr>
          <a:xfrm>
            <a:off x="7562850" y="4229100"/>
            <a:ext cx="723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-1σ</a:t>
            </a:r>
          </a:p>
        </p:txBody>
      </p:sp>
      <p:sp>
        <p:nvSpPr>
          <p:cNvPr id="96" name="矩形 95">
            <a:extLst>
              <a:ext uri="{FF2B5EF4-FFF2-40B4-BE49-F238E27FC236}">
                <a16:creationId xmlns:a16="http://schemas.microsoft.com/office/drawing/2014/main" id="{6D3DD6CE-E892-4830-91B1-50FE969A6AF2}"/>
              </a:ext>
            </a:extLst>
          </p:cNvPr>
          <p:cNvSpPr>
            <a:spLocks noGrp="1"/>
          </p:cNvSpPr>
          <p:nvPr/>
        </p:nvSpPr>
        <p:spPr>
          <a:xfrm>
            <a:off x="8667750" y="3981450"/>
            <a:ext cx="19050" cy="1524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97" name="矩形 96">
            <a:extLst>
              <a:ext uri="{FF2B5EF4-FFF2-40B4-BE49-F238E27FC236}">
                <a16:creationId xmlns:a16="http://schemas.microsoft.com/office/drawing/2014/main" id="{67A7B585-715A-4CF1-B7C0-D1902D399C76}"/>
              </a:ext>
            </a:extLst>
          </p:cNvPr>
          <p:cNvSpPr>
            <a:spLocks noGrp="1"/>
          </p:cNvSpPr>
          <p:nvPr/>
        </p:nvSpPr>
        <p:spPr>
          <a:xfrm>
            <a:off x="8305800" y="4229100"/>
            <a:ext cx="723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Times New Roman"/>
                <a:ea typeface="Times New Roman"/>
                <a:cs typeface="Times New Roman"/>
              </a:rPr>
              <a:t>μ / z=0</a:t>
            </a:r>
          </a:p>
        </p:txBody>
      </p:sp>
      <p:sp>
        <p:nvSpPr>
          <p:cNvPr id="98" name="矩形 97">
            <a:extLst>
              <a:ext uri="{FF2B5EF4-FFF2-40B4-BE49-F238E27FC236}">
                <a16:creationId xmlns:a16="http://schemas.microsoft.com/office/drawing/2014/main" id="{91853DCB-4E40-43A7-B15D-731A3D028806}"/>
              </a:ext>
            </a:extLst>
          </p:cNvPr>
          <p:cNvSpPr>
            <a:spLocks noGrp="1"/>
          </p:cNvSpPr>
          <p:nvPr/>
        </p:nvSpPr>
        <p:spPr>
          <a:xfrm>
            <a:off x="9410700" y="3981450"/>
            <a:ext cx="19050" cy="152400"/>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99" name="矩形 98">
            <a:extLst>
              <a:ext uri="{FF2B5EF4-FFF2-40B4-BE49-F238E27FC236}">
                <a16:creationId xmlns:a16="http://schemas.microsoft.com/office/drawing/2014/main" id="{03E1C7C0-B2BC-48F8-8426-0E9E898DB547}"/>
              </a:ext>
            </a:extLst>
          </p:cNvPr>
          <p:cNvSpPr>
            <a:spLocks noGrp="1"/>
          </p:cNvSpPr>
          <p:nvPr/>
        </p:nvSpPr>
        <p:spPr>
          <a:xfrm>
            <a:off x="9048750" y="4229100"/>
            <a:ext cx="723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+1σ</a:t>
            </a:r>
          </a:p>
        </p:txBody>
      </p:sp>
      <p:sp>
        <p:nvSpPr>
          <p:cNvPr id="100" name="矩形 99">
            <a:extLst>
              <a:ext uri="{FF2B5EF4-FFF2-40B4-BE49-F238E27FC236}">
                <a16:creationId xmlns:a16="http://schemas.microsoft.com/office/drawing/2014/main" id="{2775FDC1-6115-4919-A190-F7FD3A3FC1AB}"/>
              </a:ext>
            </a:extLst>
          </p:cNvPr>
          <p:cNvSpPr>
            <a:spLocks noGrp="1"/>
          </p:cNvSpPr>
          <p:nvPr/>
        </p:nvSpPr>
        <p:spPr>
          <a:xfrm>
            <a:off x="10153650" y="3981450"/>
            <a:ext cx="19050" cy="152400"/>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101" name="矩形 100">
            <a:extLst>
              <a:ext uri="{FF2B5EF4-FFF2-40B4-BE49-F238E27FC236}">
                <a16:creationId xmlns:a16="http://schemas.microsoft.com/office/drawing/2014/main" id="{4809BC2F-85D1-40E3-8408-AEE43CFB3E9B}"/>
              </a:ext>
            </a:extLst>
          </p:cNvPr>
          <p:cNvSpPr>
            <a:spLocks noGrp="1"/>
          </p:cNvSpPr>
          <p:nvPr/>
        </p:nvSpPr>
        <p:spPr>
          <a:xfrm>
            <a:off x="9791700" y="4229100"/>
            <a:ext cx="723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+2σ</a:t>
            </a:r>
          </a:p>
        </p:txBody>
      </p:sp>
      <p:sp>
        <p:nvSpPr>
          <p:cNvPr id="102" name="矩形 101">
            <a:extLst>
              <a:ext uri="{FF2B5EF4-FFF2-40B4-BE49-F238E27FC236}">
                <a16:creationId xmlns:a16="http://schemas.microsoft.com/office/drawing/2014/main" id="{316214D9-B084-4368-9227-84D76AFB7C27}"/>
              </a:ext>
            </a:extLst>
          </p:cNvPr>
          <p:cNvSpPr>
            <a:spLocks noGrp="1"/>
          </p:cNvSpPr>
          <p:nvPr/>
        </p:nvSpPr>
        <p:spPr>
          <a:xfrm>
            <a:off x="9410700" y="2247900"/>
            <a:ext cx="28575" cy="18097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03" name="矩形 102">
            <a:extLst>
              <a:ext uri="{FF2B5EF4-FFF2-40B4-BE49-F238E27FC236}">
                <a16:creationId xmlns:a16="http://schemas.microsoft.com/office/drawing/2014/main" id="{5EB5C290-23F4-4E7C-96C3-A6B67AB3DE26}"/>
              </a:ext>
            </a:extLst>
          </p:cNvPr>
          <p:cNvSpPr>
            <a:spLocks noGrp="1"/>
          </p:cNvSpPr>
          <p:nvPr/>
        </p:nvSpPr>
        <p:spPr>
          <a:xfrm>
            <a:off x="9525000" y="2114550"/>
            <a:ext cx="100965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x = μ + σ
z = 1</a:t>
            </a:r>
          </a:p>
        </p:txBody>
      </p:sp>
      <p:sp>
        <p:nvSpPr>
          <p:cNvPr id="104" name="矩形 103">
            <a:extLst>
              <a:ext uri="{FF2B5EF4-FFF2-40B4-BE49-F238E27FC236}">
                <a16:creationId xmlns:a16="http://schemas.microsoft.com/office/drawing/2014/main" id="{FF0624CF-CE46-4D03-A662-CA46E627102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105" name="矩形 104">
            <a:extLst>
              <a:ext uri="{FF2B5EF4-FFF2-40B4-BE49-F238E27FC236}">
                <a16:creationId xmlns:a16="http://schemas.microsoft.com/office/drawing/2014/main" id="{AF4DFF3A-C60B-4F9D-9DD6-5031ADDDB4D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Z-score </a:t>
            </a:r>
            <a:r>
              <a:rPr>
                <a:latin typeface="黑体"/>
                <a:ea typeface="黑体"/>
                <a:cs typeface="黑体"/>
              </a:rPr>
              <a:t>适合比较不同量纲下的相对位置。</a:t>
            </a:r>
          </a:p>
        </p:txBody>
      </p:sp>
    </p:spTree>
    <p:extLst>
      <p:ext uri="{BB962C8B-B14F-4D97-AF65-F5344CB8AC3E}">
        <p14:creationId xmlns:p14="http://schemas.microsoft.com/office/powerpoint/2010/main" val="2194136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矩形 67">
            <a:extLst>
              <a:ext uri="{FF2B5EF4-FFF2-40B4-BE49-F238E27FC236}">
                <a16:creationId xmlns:a16="http://schemas.microsoft.com/office/drawing/2014/main" id="{929A9D63-D89C-4927-A6E4-68085B1DC55E}"/>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AABF8478-CA45-47AB-ABC1-9151DB59B02E}"/>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537B5D7-3840-4C92-85D0-F65BB944223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D49F6F16-9123-4D50-84BE-FD7B5B451458}"/>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例：不同量纲如何落到同一 </a:t>
            </a:r>
            <a:r>
              <a:rPr>
                <a:latin typeface="Times New Roman"/>
                <a:ea typeface="Times New Roman"/>
                <a:cs typeface="Times New Roman"/>
              </a:rPr>
              <a:t>Z-score </a:t>
            </a:r>
            <a:r>
              <a:rPr>
                <a:latin typeface="黑体"/>
                <a:ea typeface="黑体"/>
                <a:cs typeface="黑体"/>
              </a:rPr>
              <a:t>尺度</a:t>
            </a:r>
          </a:p>
        </p:txBody>
      </p:sp>
      <p:sp>
        <p:nvSpPr>
          <p:cNvPr id="5" name="矩形 4">
            <a:extLst>
              <a:ext uri="{FF2B5EF4-FFF2-40B4-BE49-F238E27FC236}">
                <a16:creationId xmlns:a16="http://schemas.microsoft.com/office/drawing/2014/main" id="{4F094992-690F-4CF2-95A3-40D78BE63413}"/>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53/90</a:t>
            </a:r>
          </a:p>
        </p:txBody>
      </p:sp>
      <p:sp>
        <p:nvSpPr>
          <p:cNvPr id="6" name="矩形 5">
            <a:extLst>
              <a:ext uri="{FF2B5EF4-FFF2-40B4-BE49-F238E27FC236}">
                <a16:creationId xmlns:a16="http://schemas.microsoft.com/office/drawing/2014/main" id="{2C38348D-DAD7-40C4-BD36-8A7A18D82688}"/>
              </a:ext>
            </a:extLst>
          </p:cNvPr>
          <p:cNvSpPr>
            <a:spLocks noGrp="1"/>
          </p:cNvSpPr>
          <p:nvPr/>
        </p:nvSpPr>
        <p:spPr>
          <a:xfrm>
            <a:off x="609600" y="1257300"/>
            <a:ext cx="5276850" cy="22479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9ED49366-F762-4D45-ABDA-9CF1412EEB4B}"/>
              </a:ext>
            </a:extLst>
          </p:cNvPr>
          <p:cNvSpPr>
            <a:spLocks noGrp="1"/>
          </p:cNvSpPr>
          <p:nvPr/>
        </p:nvSpPr>
        <p:spPr>
          <a:xfrm>
            <a:off x="609600" y="1257300"/>
            <a:ext cx="527685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1ACF8447-DDBA-4B75-92DA-D339F62D961F}"/>
              </a:ext>
            </a:extLst>
          </p:cNvPr>
          <p:cNvSpPr>
            <a:spLocks noGrp="1"/>
          </p:cNvSpPr>
          <p:nvPr/>
        </p:nvSpPr>
        <p:spPr>
          <a:xfrm>
            <a:off x="838200" y="1466850"/>
            <a:ext cx="1809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14DA1"/>
                </a:solidFill>
                <a:latin typeface="黑体"/>
                <a:ea typeface="黑体"/>
                <a:cs typeface="黑体"/>
              </a:defRPr>
            </a:pPr>
            <a:r>
              <a:rPr>
                <a:latin typeface="黑体"/>
                <a:ea typeface="黑体"/>
                <a:cs typeface="黑体"/>
              </a:rPr>
              <a:t>登录次数</a:t>
            </a:r>
          </a:p>
        </p:txBody>
      </p:sp>
      <p:sp>
        <p:nvSpPr>
          <p:cNvPr id="9" name="矩形 8">
            <a:extLst>
              <a:ext uri="{FF2B5EF4-FFF2-40B4-BE49-F238E27FC236}">
                <a16:creationId xmlns:a16="http://schemas.microsoft.com/office/drawing/2014/main" id="{127A78FB-81AE-4EFB-A1C6-FB0ED3F16E4E}"/>
              </a:ext>
            </a:extLst>
          </p:cNvPr>
          <p:cNvSpPr>
            <a:spLocks noGrp="1"/>
          </p:cNvSpPr>
          <p:nvPr/>
        </p:nvSpPr>
        <p:spPr>
          <a:xfrm>
            <a:off x="2647950" y="1504950"/>
            <a:ext cx="1809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Times New Roman"/>
                <a:ea typeface="Times New Roman"/>
                <a:cs typeface="Times New Roman"/>
              </a:rPr>
              <a:t>login_count</a:t>
            </a:r>
          </a:p>
        </p:txBody>
      </p:sp>
      <p:sp>
        <p:nvSpPr>
          <p:cNvPr id="10" name="矩形 9">
            <a:extLst>
              <a:ext uri="{FF2B5EF4-FFF2-40B4-BE49-F238E27FC236}">
                <a16:creationId xmlns:a16="http://schemas.microsoft.com/office/drawing/2014/main" id="{A40E6AD3-968A-402F-AD15-F13D88647A8F}"/>
              </a:ext>
            </a:extLst>
          </p:cNvPr>
          <p:cNvSpPr>
            <a:spLocks noGrp="1"/>
          </p:cNvSpPr>
          <p:nvPr/>
        </p:nvSpPr>
        <p:spPr>
          <a:xfrm>
            <a:off x="4457700" y="1514475"/>
            <a:ext cx="1200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4B5563"/>
                </a:solidFill>
                <a:latin typeface="黑体"/>
                <a:ea typeface="黑体"/>
                <a:cs typeface="黑体"/>
              </a:defRPr>
            </a:pPr>
            <a:r>
              <a:rPr>
                <a:latin typeface="黑体"/>
                <a:ea typeface="黑体"/>
                <a:cs typeface="黑体"/>
              </a:rPr>
              <a:t>原始单位：次</a:t>
            </a:r>
          </a:p>
        </p:txBody>
      </p:sp>
      <p:sp>
        <p:nvSpPr>
          <p:cNvPr id="11" name="矩形 10">
            <a:extLst>
              <a:ext uri="{FF2B5EF4-FFF2-40B4-BE49-F238E27FC236}">
                <a16:creationId xmlns:a16="http://schemas.microsoft.com/office/drawing/2014/main" id="{7FEF840E-86B1-4DBD-82BD-328226BF6C3B}"/>
              </a:ext>
            </a:extLst>
          </p:cNvPr>
          <p:cNvSpPr>
            <a:spLocks noGrp="1"/>
          </p:cNvSpPr>
          <p:nvPr/>
        </p:nvSpPr>
        <p:spPr>
          <a:xfrm>
            <a:off x="857250" y="192405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4B5563"/>
                </a:solidFill>
                <a:latin typeface="黑体"/>
                <a:ea typeface="黑体"/>
                <a:cs typeface="黑体"/>
              </a:defRPr>
            </a:pPr>
            <a:r>
              <a:rPr>
                <a:latin typeface="黑体"/>
                <a:ea typeface="黑体"/>
                <a:cs typeface="黑体"/>
              </a:rPr>
              <a:t>训练均值 </a:t>
            </a:r>
            <a:r>
              <a:rPr>
                <a:latin typeface="Times New Roman"/>
                <a:ea typeface="Times New Roman"/>
                <a:cs typeface="Times New Roman"/>
              </a:rPr>
              <a:t>μ</a:t>
            </a:r>
          </a:p>
        </p:txBody>
      </p:sp>
      <p:sp>
        <p:nvSpPr>
          <p:cNvPr id="12" name="矩形 11">
            <a:extLst>
              <a:ext uri="{FF2B5EF4-FFF2-40B4-BE49-F238E27FC236}">
                <a16:creationId xmlns:a16="http://schemas.microsoft.com/office/drawing/2014/main" id="{487813F5-38C6-46BE-BD9E-394FE8E20810}"/>
              </a:ext>
            </a:extLst>
          </p:cNvPr>
          <p:cNvSpPr>
            <a:spLocks noGrp="1"/>
          </p:cNvSpPr>
          <p:nvPr/>
        </p:nvSpPr>
        <p:spPr>
          <a:xfrm>
            <a:off x="857250" y="2152650"/>
            <a:ext cx="1428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0204A"/>
                </a:solidFill>
                <a:latin typeface="黑体"/>
                <a:ea typeface="黑体"/>
                <a:cs typeface="黑体"/>
              </a:defRPr>
            </a:pPr>
            <a:r>
              <a:rPr>
                <a:latin typeface="Times New Roman"/>
                <a:ea typeface="Times New Roman"/>
                <a:cs typeface="Times New Roman"/>
              </a:rPr>
              <a:t>8</a:t>
            </a:r>
          </a:p>
        </p:txBody>
      </p:sp>
      <p:sp>
        <p:nvSpPr>
          <p:cNvPr id="13" name="矩形 12">
            <a:extLst>
              <a:ext uri="{FF2B5EF4-FFF2-40B4-BE49-F238E27FC236}">
                <a16:creationId xmlns:a16="http://schemas.microsoft.com/office/drawing/2014/main" id="{F066C69C-63BC-4BDE-A4CF-8E9F25F2E697}"/>
              </a:ext>
            </a:extLst>
          </p:cNvPr>
          <p:cNvSpPr>
            <a:spLocks noGrp="1"/>
          </p:cNvSpPr>
          <p:nvPr/>
        </p:nvSpPr>
        <p:spPr>
          <a:xfrm>
            <a:off x="2381250" y="1924050"/>
            <a:ext cx="9525" cy="49530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CE28E9CD-A50F-4621-B571-EBF2E0C34E73}"/>
              </a:ext>
            </a:extLst>
          </p:cNvPr>
          <p:cNvSpPr>
            <a:spLocks noGrp="1"/>
          </p:cNvSpPr>
          <p:nvPr/>
        </p:nvSpPr>
        <p:spPr>
          <a:xfrm>
            <a:off x="2495550" y="192405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4B5563"/>
                </a:solidFill>
                <a:latin typeface="黑体"/>
                <a:ea typeface="黑体"/>
                <a:cs typeface="黑体"/>
              </a:defRPr>
            </a:pPr>
            <a:r>
              <a:rPr>
                <a:latin typeface="黑体"/>
                <a:ea typeface="黑体"/>
                <a:cs typeface="黑体"/>
              </a:rPr>
              <a:t>训练标准差 </a:t>
            </a:r>
            <a:r>
              <a:rPr>
                <a:latin typeface="Times New Roman"/>
                <a:ea typeface="Times New Roman"/>
                <a:cs typeface="Times New Roman"/>
              </a:rPr>
              <a:t>σ</a:t>
            </a:r>
          </a:p>
        </p:txBody>
      </p:sp>
      <p:sp>
        <p:nvSpPr>
          <p:cNvPr id="15" name="矩形 14">
            <a:extLst>
              <a:ext uri="{FF2B5EF4-FFF2-40B4-BE49-F238E27FC236}">
                <a16:creationId xmlns:a16="http://schemas.microsoft.com/office/drawing/2014/main" id="{EC0D0523-7430-4FF5-886A-4579552E23A7}"/>
              </a:ext>
            </a:extLst>
          </p:cNvPr>
          <p:cNvSpPr>
            <a:spLocks noGrp="1"/>
          </p:cNvSpPr>
          <p:nvPr/>
        </p:nvSpPr>
        <p:spPr>
          <a:xfrm>
            <a:off x="2495550" y="2152650"/>
            <a:ext cx="1428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0204A"/>
                </a:solidFill>
                <a:latin typeface="黑体"/>
                <a:ea typeface="黑体"/>
                <a:cs typeface="黑体"/>
              </a:defRPr>
            </a:pPr>
            <a:r>
              <a:rPr>
                <a:latin typeface="Times New Roman"/>
                <a:ea typeface="Times New Roman"/>
                <a:cs typeface="Times New Roman"/>
              </a:rPr>
              <a:t>4</a:t>
            </a:r>
          </a:p>
        </p:txBody>
      </p:sp>
      <p:sp>
        <p:nvSpPr>
          <p:cNvPr id="16" name="矩形 15">
            <a:extLst>
              <a:ext uri="{FF2B5EF4-FFF2-40B4-BE49-F238E27FC236}">
                <a16:creationId xmlns:a16="http://schemas.microsoft.com/office/drawing/2014/main" id="{3260B56F-957A-44E9-9B28-C705DD9FAE55}"/>
              </a:ext>
            </a:extLst>
          </p:cNvPr>
          <p:cNvSpPr>
            <a:spLocks noGrp="1"/>
          </p:cNvSpPr>
          <p:nvPr/>
        </p:nvSpPr>
        <p:spPr>
          <a:xfrm>
            <a:off x="4019550" y="1924050"/>
            <a:ext cx="9525" cy="49530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7" name="矩形 16">
            <a:extLst>
              <a:ext uri="{FF2B5EF4-FFF2-40B4-BE49-F238E27FC236}">
                <a16:creationId xmlns:a16="http://schemas.microsoft.com/office/drawing/2014/main" id="{858067D8-D11A-4F02-967E-2DBF02C892F0}"/>
              </a:ext>
            </a:extLst>
          </p:cNvPr>
          <p:cNvSpPr>
            <a:spLocks noGrp="1"/>
          </p:cNvSpPr>
          <p:nvPr/>
        </p:nvSpPr>
        <p:spPr>
          <a:xfrm>
            <a:off x="4133850" y="192405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4B5563"/>
                </a:solidFill>
                <a:latin typeface="黑体"/>
                <a:ea typeface="黑体"/>
                <a:cs typeface="黑体"/>
              </a:defRPr>
            </a:pPr>
            <a:r>
              <a:rPr>
                <a:latin typeface="黑体"/>
                <a:ea typeface="黑体"/>
                <a:cs typeface="黑体"/>
              </a:rPr>
              <a:t>学生取值 </a:t>
            </a:r>
            <a:r>
              <a:rPr>
                <a:latin typeface="Times New Roman"/>
                <a:ea typeface="Times New Roman"/>
                <a:cs typeface="Times New Roman"/>
              </a:rPr>
              <a:t>x</a:t>
            </a:r>
          </a:p>
        </p:txBody>
      </p:sp>
      <p:sp>
        <p:nvSpPr>
          <p:cNvPr id="18" name="矩形 17">
            <a:extLst>
              <a:ext uri="{FF2B5EF4-FFF2-40B4-BE49-F238E27FC236}">
                <a16:creationId xmlns:a16="http://schemas.microsoft.com/office/drawing/2014/main" id="{877771E8-6A2B-4E47-8D93-00F35F831DF9}"/>
              </a:ext>
            </a:extLst>
          </p:cNvPr>
          <p:cNvSpPr>
            <a:spLocks noGrp="1"/>
          </p:cNvSpPr>
          <p:nvPr/>
        </p:nvSpPr>
        <p:spPr>
          <a:xfrm>
            <a:off x="4133850" y="2152650"/>
            <a:ext cx="1428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14DA1"/>
                </a:solidFill>
                <a:latin typeface="黑体"/>
                <a:ea typeface="黑体"/>
                <a:cs typeface="黑体"/>
              </a:defRPr>
            </a:pPr>
            <a:r>
              <a:rPr>
                <a:latin typeface="Times New Roman"/>
                <a:ea typeface="Times New Roman"/>
                <a:cs typeface="Times New Roman"/>
              </a:rPr>
              <a:t>12</a:t>
            </a:r>
          </a:p>
        </p:txBody>
      </p:sp>
      <p:sp>
        <p:nvSpPr>
          <p:cNvPr id="19" name="矩形 18">
            <a:extLst>
              <a:ext uri="{FF2B5EF4-FFF2-40B4-BE49-F238E27FC236}">
                <a16:creationId xmlns:a16="http://schemas.microsoft.com/office/drawing/2014/main" id="{31A20982-106D-456E-8FBB-BD6C5B41554A}"/>
              </a:ext>
            </a:extLst>
          </p:cNvPr>
          <p:cNvSpPr>
            <a:spLocks noGrp="1"/>
          </p:cNvSpPr>
          <p:nvPr/>
        </p:nvSpPr>
        <p:spPr>
          <a:xfrm>
            <a:off x="819150" y="2609850"/>
            <a:ext cx="4857750" cy="552450"/>
          </a:xfrm>
          <a:prstGeom prst="rect">
            <a:avLst/>
          </a:prstGeom>
          <a:solidFill>
            <a:srgbClr val="EEF5FD"/>
          </a:solidFill>
          <a:ln w="9525">
            <a:solidFill>
              <a:srgbClr val="BDD0E7"/>
            </a:solidFill>
            <a:prstDash val="solid"/>
          </a:ln>
        </p:spPr>
        <p:txBody>
          <a:bodyPr/>
          <a:lstStyle/>
          <a:p>
            <a:endParaRPr lang="zh-CN" altLang="en-US"/>
          </a:p>
        </p:txBody>
      </p:sp>
      <p:sp>
        <p:nvSpPr>
          <p:cNvPr id="20" name="矩形 19">
            <a:extLst>
              <a:ext uri="{FF2B5EF4-FFF2-40B4-BE49-F238E27FC236}">
                <a16:creationId xmlns:a16="http://schemas.microsoft.com/office/drawing/2014/main" id="{0AF9EBC8-D284-4213-A876-CB7F1D6A92FB}"/>
              </a:ext>
            </a:extLst>
          </p:cNvPr>
          <p:cNvSpPr>
            <a:spLocks noGrp="1"/>
          </p:cNvSpPr>
          <p:nvPr/>
        </p:nvSpPr>
        <p:spPr>
          <a:xfrm>
            <a:off x="1009650" y="2781300"/>
            <a:ext cx="3257550" cy="228600"/>
          </a:xfrm>
          <a:prstGeom prst="rect">
            <a:avLst/>
          </a:prstGeom>
          <a:solidFill>
            <a:srgbClr val="EEF5FD"/>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Times New Roman"/>
                <a:ea typeface="Times New Roman"/>
                <a:cs typeface="Times New Roman"/>
              </a:rPr>
              <a:t>z = (12 − 8) / 4</a:t>
            </a:r>
          </a:p>
        </p:txBody>
      </p:sp>
      <p:sp>
        <p:nvSpPr>
          <p:cNvPr id="21" name="矩形 20">
            <a:extLst>
              <a:ext uri="{FF2B5EF4-FFF2-40B4-BE49-F238E27FC236}">
                <a16:creationId xmlns:a16="http://schemas.microsoft.com/office/drawing/2014/main" id="{0252D66B-A061-4915-A4FC-3109079BF604}"/>
              </a:ext>
            </a:extLst>
          </p:cNvPr>
          <p:cNvSpPr>
            <a:spLocks noGrp="1"/>
          </p:cNvSpPr>
          <p:nvPr/>
        </p:nvSpPr>
        <p:spPr>
          <a:xfrm>
            <a:off x="4438650" y="2686050"/>
            <a:ext cx="1066800" cy="4000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C3D259F1-19C7-4637-933C-E7EF1DC854A7}"/>
              </a:ext>
            </a:extLst>
          </p:cNvPr>
          <p:cNvSpPr>
            <a:spLocks noGrp="1"/>
          </p:cNvSpPr>
          <p:nvPr/>
        </p:nvSpPr>
        <p:spPr>
          <a:xfrm>
            <a:off x="4552950" y="2781300"/>
            <a:ext cx="838200" cy="209550"/>
          </a:xfrm>
          <a:prstGeom prst="rect">
            <a:avLst/>
          </a:prstGeom>
          <a:solidFill>
            <a:srgbClr val="014DA1"/>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+1.00</a:t>
            </a:r>
          </a:p>
        </p:txBody>
      </p:sp>
      <p:sp>
        <p:nvSpPr>
          <p:cNvPr id="23" name="矩形 22">
            <a:extLst>
              <a:ext uri="{FF2B5EF4-FFF2-40B4-BE49-F238E27FC236}">
                <a16:creationId xmlns:a16="http://schemas.microsoft.com/office/drawing/2014/main" id="{F8877011-D12A-4279-8548-83CE772C046D}"/>
              </a:ext>
            </a:extLst>
          </p:cNvPr>
          <p:cNvSpPr>
            <a:spLocks noGrp="1"/>
          </p:cNvSpPr>
          <p:nvPr/>
        </p:nvSpPr>
        <p:spPr>
          <a:xfrm>
            <a:off x="990600" y="3238500"/>
            <a:ext cx="451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位于各自训练均值右侧 </a:t>
            </a:r>
            <a:r>
              <a:rPr>
                <a:latin typeface="Times New Roman"/>
                <a:ea typeface="Times New Roman"/>
                <a:cs typeface="Times New Roman"/>
              </a:rPr>
              <a:t>1 </a:t>
            </a:r>
            <a:r>
              <a:rPr>
                <a:latin typeface="黑体"/>
                <a:ea typeface="黑体"/>
                <a:cs typeface="黑体"/>
              </a:rPr>
              <a:t>个标准差</a:t>
            </a:r>
          </a:p>
        </p:txBody>
      </p:sp>
      <p:sp>
        <p:nvSpPr>
          <p:cNvPr id="24" name="矩形 23">
            <a:extLst>
              <a:ext uri="{FF2B5EF4-FFF2-40B4-BE49-F238E27FC236}">
                <a16:creationId xmlns:a16="http://schemas.microsoft.com/office/drawing/2014/main" id="{0DBC3111-97F8-46A5-BC99-3491463BF2D4}"/>
              </a:ext>
            </a:extLst>
          </p:cNvPr>
          <p:cNvSpPr>
            <a:spLocks noGrp="1"/>
          </p:cNvSpPr>
          <p:nvPr/>
        </p:nvSpPr>
        <p:spPr>
          <a:xfrm>
            <a:off x="6305550" y="1257300"/>
            <a:ext cx="5276850" cy="2247900"/>
          </a:xfrm>
          <a:prstGeom prst="rect">
            <a:avLst/>
          </a:prstGeom>
          <a:solidFill>
            <a:srgbClr val="FFFFFF"/>
          </a:solidFill>
          <a:ln w="9525">
            <a:solidFill>
              <a:srgbClr val="B8C3D1"/>
            </a:solidFill>
            <a:prstDash val="solid"/>
          </a:ln>
        </p:spPr>
        <p:txBody>
          <a:bodyPr/>
          <a:lstStyle/>
          <a:p>
            <a:endParaRPr lang="zh-CN" altLang="en-US"/>
          </a:p>
        </p:txBody>
      </p:sp>
      <p:sp>
        <p:nvSpPr>
          <p:cNvPr id="25" name="矩形 24">
            <a:extLst>
              <a:ext uri="{FF2B5EF4-FFF2-40B4-BE49-F238E27FC236}">
                <a16:creationId xmlns:a16="http://schemas.microsoft.com/office/drawing/2014/main" id="{2A104605-07B2-4086-9195-4F1F3895DF0A}"/>
              </a:ext>
            </a:extLst>
          </p:cNvPr>
          <p:cNvSpPr>
            <a:spLocks noGrp="1"/>
          </p:cNvSpPr>
          <p:nvPr/>
        </p:nvSpPr>
        <p:spPr>
          <a:xfrm>
            <a:off x="6305550" y="1257300"/>
            <a:ext cx="5276850" cy="7620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26" name="矩形 25">
            <a:extLst>
              <a:ext uri="{FF2B5EF4-FFF2-40B4-BE49-F238E27FC236}">
                <a16:creationId xmlns:a16="http://schemas.microsoft.com/office/drawing/2014/main" id="{85EB4748-6CE4-4FCA-B94C-F6ED247B8426}"/>
              </a:ext>
            </a:extLst>
          </p:cNvPr>
          <p:cNvSpPr>
            <a:spLocks noGrp="1"/>
          </p:cNvSpPr>
          <p:nvPr/>
        </p:nvSpPr>
        <p:spPr>
          <a:xfrm>
            <a:off x="6534150" y="1466850"/>
            <a:ext cx="1809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2F7A5D"/>
                </a:solidFill>
                <a:latin typeface="黑体"/>
                <a:ea typeface="黑体"/>
                <a:cs typeface="黑体"/>
              </a:defRPr>
            </a:pPr>
            <a:r>
              <a:rPr>
                <a:latin typeface="黑体"/>
                <a:ea typeface="黑体"/>
                <a:cs typeface="黑体"/>
              </a:rPr>
              <a:t>视频完成率</a:t>
            </a:r>
          </a:p>
        </p:txBody>
      </p:sp>
      <p:sp>
        <p:nvSpPr>
          <p:cNvPr id="27" name="矩形 26">
            <a:extLst>
              <a:ext uri="{FF2B5EF4-FFF2-40B4-BE49-F238E27FC236}">
                <a16:creationId xmlns:a16="http://schemas.microsoft.com/office/drawing/2014/main" id="{C093ADEE-0D22-4D29-B0E9-86124B61E28D}"/>
              </a:ext>
            </a:extLst>
          </p:cNvPr>
          <p:cNvSpPr>
            <a:spLocks noGrp="1"/>
          </p:cNvSpPr>
          <p:nvPr/>
        </p:nvSpPr>
        <p:spPr>
          <a:xfrm>
            <a:off x="8343900" y="1504950"/>
            <a:ext cx="1809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Times New Roman"/>
                <a:ea typeface="Times New Roman"/>
                <a:cs typeface="Times New Roman"/>
              </a:rPr>
              <a:t>video_rate</a:t>
            </a:r>
          </a:p>
        </p:txBody>
      </p:sp>
      <p:sp>
        <p:nvSpPr>
          <p:cNvPr id="28" name="矩形 27">
            <a:extLst>
              <a:ext uri="{FF2B5EF4-FFF2-40B4-BE49-F238E27FC236}">
                <a16:creationId xmlns:a16="http://schemas.microsoft.com/office/drawing/2014/main" id="{C6632195-D041-4DAC-BDB7-FDC9D0811103}"/>
              </a:ext>
            </a:extLst>
          </p:cNvPr>
          <p:cNvSpPr>
            <a:spLocks noGrp="1"/>
          </p:cNvSpPr>
          <p:nvPr/>
        </p:nvSpPr>
        <p:spPr>
          <a:xfrm>
            <a:off x="10153650" y="1514475"/>
            <a:ext cx="1200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4B5563"/>
                </a:solidFill>
                <a:latin typeface="黑体"/>
                <a:ea typeface="黑体"/>
                <a:cs typeface="黑体"/>
              </a:defRPr>
            </a:pPr>
            <a:r>
              <a:rPr>
                <a:latin typeface="黑体"/>
                <a:ea typeface="黑体"/>
                <a:cs typeface="黑体"/>
              </a:rPr>
              <a:t>原始单位：比例</a:t>
            </a:r>
          </a:p>
        </p:txBody>
      </p:sp>
      <p:sp>
        <p:nvSpPr>
          <p:cNvPr id="29" name="矩形 28">
            <a:extLst>
              <a:ext uri="{FF2B5EF4-FFF2-40B4-BE49-F238E27FC236}">
                <a16:creationId xmlns:a16="http://schemas.microsoft.com/office/drawing/2014/main" id="{9818CDC3-CC1B-428A-A1C5-EC3BB659E26E}"/>
              </a:ext>
            </a:extLst>
          </p:cNvPr>
          <p:cNvSpPr>
            <a:spLocks noGrp="1"/>
          </p:cNvSpPr>
          <p:nvPr/>
        </p:nvSpPr>
        <p:spPr>
          <a:xfrm>
            <a:off x="6553200" y="192405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4B5563"/>
                </a:solidFill>
                <a:latin typeface="黑体"/>
                <a:ea typeface="黑体"/>
                <a:cs typeface="黑体"/>
              </a:defRPr>
            </a:pPr>
            <a:r>
              <a:rPr>
                <a:latin typeface="黑体"/>
                <a:ea typeface="黑体"/>
                <a:cs typeface="黑体"/>
              </a:rPr>
              <a:t>训练均值 </a:t>
            </a:r>
            <a:r>
              <a:rPr>
                <a:latin typeface="Times New Roman"/>
                <a:ea typeface="Times New Roman"/>
                <a:cs typeface="Times New Roman"/>
              </a:rPr>
              <a:t>μ</a:t>
            </a:r>
          </a:p>
        </p:txBody>
      </p:sp>
      <p:sp>
        <p:nvSpPr>
          <p:cNvPr id="30" name="矩形 29">
            <a:extLst>
              <a:ext uri="{FF2B5EF4-FFF2-40B4-BE49-F238E27FC236}">
                <a16:creationId xmlns:a16="http://schemas.microsoft.com/office/drawing/2014/main" id="{6C68FB29-FAF7-4521-9879-4FCBD371A4AE}"/>
              </a:ext>
            </a:extLst>
          </p:cNvPr>
          <p:cNvSpPr>
            <a:spLocks noGrp="1"/>
          </p:cNvSpPr>
          <p:nvPr/>
        </p:nvSpPr>
        <p:spPr>
          <a:xfrm>
            <a:off x="6553200" y="2152650"/>
            <a:ext cx="1428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0204A"/>
                </a:solidFill>
                <a:latin typeface="黑体"/>
                <a:ea typeface="黑体"/>
                <a:cs typeface="黑体"/>
              </a:defRPr>
            </a:pPr>
            <a:r>
              <a:rPr>
                <a:latin typeface="Times New Roman"/>
                <a:ea typeface="Times New Roman"/>
                <a:cs typeface="Times New Roman"/>
              </a:rPr>
              <a:t>0.60</a:t>
            </a:r>
          </a:p>
        </p:txBody>
      </p:sp>
      <p:sp>
        <p:nvSpPr>
          <p:cNvPr id="31" name="矩形 30">
            <a:extLst>
              <a:ext uri="{FF2B5EF4-FFF2-40B4-BE49-F238E27FC236}">
                <a16:creationId xmlns:a16="http://schemas.microsoft.com/office/drawing/2014/main" id="{BDE07B58-CF12-4A9C-8BE3-4285DF9B9DF2}"/>
              </a:ext>
            </a:extLst>
          </p:cNvPr>
          <p:cNvSpPr>
            <a:spLocks noGrp="1"/>
          </p:cNvSpPr>
          <p:nvPr/>
        </p:nvSpPr>
        <p:spPr>
          <a:xfrm>
            <a:off x="8077200" y="1924050"/>
            <a:ext cx="9525" cy="49530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791B7DF1-9592-427E-BA43-56693CBFEE2B}"/>
              </a:ext>
            </a:extLst>
          </p:cNvPr>
          <p:cNvSpPr>
            <a:spLocks noGrp="1"/>
          </p:cNvSpPr>
          <p:nvPr/>
        </p:nvSpPr>
        <p:spPr>
          <a:xfrm>
            <a:off x="8191500" y="192405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4B5563"/>
                </a:solidFill>
                <a:latin typeface="黑体"/>
                <a:ea typeface="黑体"/>
                <a:cs typeface="黑体"/>
              </a:defRPr>
            </a:pPr>
            <a:r>
              <a:rPr>
                <a:latin typeface="黑体"/>
                <a:ea typeface="黑体"/>
                <a:cs typeface="黑体"/>
              </a:rPr>
              <a:t>训练标准差 </a:t>
            </a:r>
            <a:r>
              <a:rPr>
                <a:latin typeface="Times New Roman"/>
                <a:ea typeface="Times New Roman"/>
                <a:cs typeface="Times New Roman"/>
              </a:rPr>
              <a:t>σ</a:t>
            </a:r>
          </a:p>
        </p:txBody>
      </p:sp>
      <p:sp>
        <p:nvSpPr>
          <p:cNvPr id="33" name="矩形 32">
            <a:extLst>
              <a:ext uri="{FF2B5EF4-FFF2-40B4-BE49-F238E27FC236}">
                <a16:creationId xmlns:a16="http://schemas.microsoft.com/office/drawing/2014/main" id="{BA1CB332-1C16-4274-AC17-BF2A0930FE7F}"/>
              </a:ext>
            </a:extLst>
          </p:cNvPr>
          <p:cNvSpPr>
            <a:spLocks noGrp="1"/>
          </p:cNvSpPr>
          <p:nvPr/>
        </p:nvSpPr>
        <p:spPr>
          <a:xfrm>
            <a:off x="8191500" y="2152650"/>
            <a:ext cx="1428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0204A"/>
                </a:solidFill>
                <a:latin typeface="黑体"/>
                <a:ea typeface="黑体"/>
                <a:cs typeface="黑体"/>
              </a:defRPr>
            </a:pPr>
            <a:r>
              <a:rPr>
                <a:latin typeface="Times New Roman"/>
                <a:ea typeface="Times New Roman"/>
                <a:cs typeface="Times New Roman"/>
              </a:rPr>
              <a:t>0.20</a:t>
            </a:r>
          </a:p>
        </p:txBody>
      </p:sp>
      <p:sp>
        <p:nvSpPr>
          <p:cNvPr id="34" name="矩形 33">
            <a:extLst>
              <a:ext uri="{FF2B5EF4-FFF2-40B4-BE49-F238E27FC236}">
                <a16:creationId xmlns:a16="http://schemas.microsoft.com/office/drawing/2014/main" id="{D2FBFD85-BC55-43BC-BCFE-C536026EC874}"/>
              </a:ext>
            </a:extLst>
          </p:cNvPr>
          <p:cNvSpPr>
            <a:spLocks noGrp="1"/>
          </p:cNvSpPr>
          <p:nvPr/>
        </p:nvSpPr>
        <p:spPr>
          <a:xfrm>
            <a:off x="9715500" y="1924050"/>
            <a:ext cx="9525" cy="49530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35" name="矩形 34">
            <a:extLst>
              <a:ext uri="{FF2B5EF4-FFF2-40B4-BE49-F238E27FC236}">
                <a16:creationId xmlns:a16="http://schemas.microsoft.com/office/drawing/2014/main" id="{BBA95A2C-D329-4011-97EA-1B99189F6056}"/>
              </a:ext>
            </a:extLst>
          </p:cNvPr>
          <p:cNvSpPr>
            <a:spLocks noGrp="1"/>
          </p:cNvSpPr>
          <p:nvPr/>
        </p:nvSpPr>
        <p:spPr>
          <a:xfrm>
            <a:off x="9829800" y="1924050"/>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4B5563"/>
                </a:solidFill>
                <a:latin typeface="黑体"/>
                <a:ea typeface="黑体"/>
                <a:cs typeface="黑体"/>
              </a:defRPr>
            </a:pPr>
            <a:r>
              <a:rPr>
                <a:latin typeface="黑体"/>
                <a:ea typeface="黑体"/>
                <a:cs typeface="黑体"/>
              </a:rPr>
              <a:t>学生取值 </a:t>
            </a:r>
            <a:r>
              <a:rPr>
                <a:latin typeface="Times New Roman"/>
                <a:ea typeface="Times New Roman"/>
                <a:cs typeface="Times New Roman"/>
              </a:rPr>
              <a:t>x</a:t>
            </a:r>
          </a:p>
        </p:txBody>
      </p:sp>
      <p:sp>
        <p:nvSpPr>
          <p:cNvPr id="36" name="矩形 35">
            <a:extLst>
              <a:ext uri="{FF2B5EF4-FFF2-40B4-BE49-F238E27FC236}">
                <a16:creationId xmlns:a16="http://schemas.microsoft.com/office/drawing/2014/main" id="{D71D841C-6EB9-4B5D-A860-80D55736D497}"/>
              </a:ext>
            </a:extLst>
          </p:cNvPr>
          <p:cNvSpPr>
            <a:spLocks noGrp="1"/>
          </p:cNvSpPr>
          <p:nvPr/>
        </p:nvSpPr>
        <p:spPr>
          <a:xfrm>
            <a:off x="9829800" y="2152650"/>
            <a:ext cx="1428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F7A5D"/>
                </a:solidFill>
                <a:latin typeface="黑体"/>
                <a:ea typeface="黑体"/>
                <a:cs typeface="黑体"/>
              </a:defRPr>
            </a:pPr>
            <a:r>
              <a:rPr>
                <a:latin typeface="Times New Roman"/>
                <a:ea typeface="Times New Roman"/>
                <a:cs typeface="Times New Roman"/>
              </a:rPr>
              <a:t>0.80</a:t>
            </a:r>
          </a:p>
        </p:txBody>
      </p:sp>
      <p:sp>
        <p:nvSpPr>
          <p:cNvPr id="37" name="矩形 36">
            <a:extLst>
              <a:ext uri="{FF2B5EF4-FFF2-40B4-BE49-F238E27FC236}">
                <a16:creationId xmlns:a16="http://schemas.microsoft.com/office/drawing/2014/main" id="{12B9C33D-4437-467D-A6D1-8222F581300C}"/>
              </a:ext>
            </a:extLst>
          </p:cNvPr>
          <p:cNvSpPr>
            <a:spLocks noGrp="1"/>
          </p:cNvSpPr>
          <p:nvPr/>
        </p:nvSpPr>
        <p:spPr>
          <a:xfrm>
            <a:off x="6515100" y="2609850"/>
            <a:ext cx="4857750" cy="552450"/>
          </a:xfrm>
          <a:prstGeom prst="rect">
            <a:avLst/>
          </a:prstGeom>
          <a:solidFill>
            <a:srgbClr val="EEF7F2"/>
          </a:solidFill>
          <a:ln w="9525">
            <a:solidFill>
              <a:srgbClr val="B7D2C2"/>
            </a:solidFill>
            <a:prstDash val="solid"/>
          </a:ln>
        </p:spPr>
        <p:txBody>
          <a:bodyPr/>
          <a:lstStyle/>
          <a:p>
            <a:endParaRPr lang="zh-CN" altLang="en-US"/>
          </a:p>
        </p:txBody>
      </p:sp>
      <p:sp>
        <p:nvSpPr>
          <p:cNvPr id="38" name="矩形 37">
            <a:extLst>
              <a:ext uri="{FF2B5EF4-FFF2-40B4-BE49-F238E27FC236}">
                <a16:creationId xmlns:a16="http://schemas.microsoft.com/office/drawing/2014/main" id="{90FCB565-2B20-4EF0-BBF9-3E4718C4F041}"/>
              </a:ext>
            </a:extLst>
          </p:cNvPr>
          <p:cNvSpPr>
            <a:spLocks noGrp="1"/>
          </p:cNvSpPr>
          <p:nvPr/>
        </p:nvSpPr>
        <p:spPr>
          <a:xfrm>
            <a:off x="6705600" y="2781300"/>
            <a:ext cx="3257550" cy="228600"/>
          </a:xfrm>
          <a:prstGeom prst="rect">
            <a:avLst/>
          </a:prstGeom>
          <a:solidFill>
            <a:srgbClr val="EEF7F2"/>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Times New Roman"/>
                <a:ea typeface="Times New Roman"/>
                <a:cs typeface="Times New Roman"/>
              </a:rPr>
              <a:t>z = (0.80 − 0.60) / 0.20</a:t>
            </a:r>
          </a:p>
        </p:txBody>
      </p:sp>
      <p:sp>
        <p:nvSpPr>
          <p:cNvPr id="39" name="矩形 38">
            <a:extLst>
              <a:ext uri="{FF2B5EF4-FFF2-40B4-BE49-F238E27FC236}">
                <a16:creationId xmlns:a16="http://schemas.microsoft.com/office/drawing/2014/main" id="{97FD7B84-212C-46FA-9F57-B5EF148B615B}"/>
              </a:ext>
            </a:extLst>
          </p:cNvPr>
          <p:cNvSpPr>
            <a:spLocks noGrp="1"/>
          </p:cNvSpPr>
          <p:nvPr/>
        </p:nvSpPr>
        <p:spPr>
          <a:xfrm>
            <a:off x="10134600" y="2686050"/>
            <a:ext cx="1066800" cy="40005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40" name="矩形 39">
            <a:extLst>
              <a:ext uri="{FF2B5EF4-FFF2-40B4-BE49-F238E27FC236}">
                <a16:creationId xmlns:a16="http://schemas.microsoft.com/office/drawing/2014/main" id="{2245A70D-E0B5-47BD-B7D0-8A31EAF7F56C}"/>
              </a:ext>
            </a:extLst>
          </p:cNvPr>
          <p:cNvSpPr>
            <a:spLocks noGrp="1"/>
          </p:cNvSpPr>
          <p:nvPr/>
        </p:nvSpPr>
        <p:spPr>
          <a:xfrm>
            <a:off x="10248900" y="2781300"/>
            <a:ext cx="838200" cy="209550"/>
          </a:xfrm>
          <a:prstGeom prst="rect">
            <a:avLst/>
          </a:prstGeom>
          <a:solidFill>
            <a:srgbClr val="2F7A5D"/>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+1.00</a:t>
            </a:r>
          </a:p>
        </p:txBody>
      </p:sp>
      <p:sp>
        <p:nvSpPr>
          <p:cNvPr id="41" name="矩形 40">
            <a:extLst>
              <a:ext uri="{FF2B5EF4-FFF2-40B4-BE49-F238E27FC236}">
                <a16:creationId xmlns:a16="http://schemas.microsoft.com/office/drawing/2014/main" id="{F152D504-FF89-4961-91D6-167AC7520581}"/>
              </a:ext>
            </a:extLst>
          </p:cNvPr>
          <p:cNvSpPr>
            <a:spLocks noGrp="1"/>
          </p:cNvSpPr>
          <p:nvPr/>
        </p:nvSpPr>
        <p:spPr>
          <a:xfrm>
            <a:off x="6686550" y="3238500"/>
            <a:ext cx="451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2F7A5D"/>
                </a:solidFill>
                <a:latin typeface="黑体"/>
                <a:ea typeface="黑体"/>
                <a:cs typeface="黑体"/>
              </a:defRPr>
            </a:pPr>
            <a:r>
              <a:rPr>
                <a:latin typeface="黑体"/>
                <a:ea typeface="黑体"/>
                <a:cs typeface="黑体"/>
              </a:rPr>
              <a:t>位于各自训练均值右侧 </a:t>
            </a:r>
            <a:r>
              <a:rPr>
                <a:latin typeface="Times New Roman"/>
                <a:ea typeface="Times New Roman"/>
                <a:cs typeface="Times New Roman"/>
              </a:rPr>
              <a:t>1 </a:t>
            </a:r>
            <a:r>
              <a:rPr>
                <a:latin typeface="黑体"/>
                <a:ea typeface="黑体"/>
                <a:cs typeface="黑体"/>
              </a:rPr>
              <a:t>个标准差</a:t>
            </a:r>
          </a:p>
        </p:txBody>
      </p:sp>
      <p:sp>
        <p:nvSpPr>
          <p:cNvPr id="42" name="矩形 41">
            <a:extLst>
              <a:ext uri="{FF2B5EF4-FFF2-40B4-BE49-F238E27FC236}">
                <a16:creationId xmlns:a16="http://schemas.microsoft.com/office/drawing/2014/main" id="{2B64D1D5-53C2-449F-AF27-0835F27BC0B7}"/>
              </a:ext>
            </a:extLst>
          </p:cNvPr>
          <p:cNvSpPr>
            <a:spLocks noGrp="1"/>
          </p:cNvSpPr>
          <p:nvPr/>
        </p:nvSpPr>
        <p:spPr>
          <a:xfrm>
            <a:off x="609600" y="3733800"/>
            <a:ext cx="10972800" cy="1524000"/>
          </a:xfrm>
          <a:prstGeom prst="rect">
            <a:avLst/>
          </a:prstGeom>
          <a:solidFill>
            <a:srgbClr val="FFFFFF"/>
          </a:solidFill>
          <a:ln w="9525">
            <a:solidFill>
              <a:srgbClr val="B8C3D1"/>
            </a:solidFill>
            <a:prstDash val="solid"/>
          </a:ln>
        </p:spPr>
        <p:txBody>
          <a:bodyPr/>
          <a:lstStyle/>
          <a:p>
            <a:endParaRPr lang="zh-CN" altLang="en-US"/>
          </a:p>
        </p:txBody>
      </p:sp>
      <p:sp>
        <p:nvSpPr>
          <p:cNvPr id="43" name="矩形 42">
            <a:extLst>
              <a:ext uri="{FF2B5EF4-FFF2-40B4-BE49-F238E27FC236}">
                <a16:creationId xmlns:a16="http://schemas.microsoft.com/office/drawing/2014/main" id="{018DDE49-73B9-48A4-A71D-61D6ED836D1D}"/>
              </a:ext>
            </a:extLst>
          </p:cNvPr>
          <p:cNvSpPr>
            <a:spLocks noGrp="1"/>
          </p:cNvSpPr>
          <p:nvPr/>
        </p:nvSpPr>
        <p:spPr>
          <a:xfrm>
            <a:off x="838200" y="3905250"/>
            <a:ext cx="2457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00204A"/>
                </a:solidFill>
                <a:latin typeface="黑体"/>
                <a:ea typeface="黑体"/>
                <a:cs typeface="黑体"/>
              </a:defRPr>
            </a:pPr>
            <a:r>
              <a:rPr>
                <a:latin typeface="黑体"/>
                <a:ea typeface="黑体"/>
                <a:cs typeface="黑体"/>
              </a:rPr>
              <a:t>共同的 </a:t>
            </a:r>
            <a:r>
              <a:rPr>
                <a:latin typeface="Times New Roman"/>
                <a:ea typeface="Times New Roman"/>
                <a:cs typeface="Times New Roman"/>
              </a:rPr>
              <a:t>Z-score </a:t>
            </a:r>
            <a:r>
              <a:rPr>
                <a:latin typeface="黑体"/>
                <a:ea typeface="黑体"/>
                <a:cs typeface="黑体"/>
              </a:rPr>
              <a:t>尺度</a:t>
            </a:r>
          </a:p>
        </p:txBody>
      </p:sp>
      <p:sp>
        <p:nvSpPr>
          <p:cNvPr id="44" name="矩形 43">
            <a:extLst>
              <a:ext uri="{FF2B5EF4-FFF2-40B4-BE49-F238E27FC236}">
                <a16:creationId xmlns:a16="http://schemas.microsoft.com/office/drawing/2014/main" id="{BB0F5F6F-9028-4786-9FB5-3DF7A1CBA949}"/>
              </a:ext>
            </a:extLst>
          </p:cNvPr>
          <p:cNvSpPr>
            <a:spLocks noGrp="1"/>
          </p:cNvSpPr>
          <p:nvPr/>
        </p:nvSpPr>
        <p:spPr>
          <a:xfrm>
            <a:off x="8953500" y="3924300"/>
            <a:ext cx="2343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B4964B"/>
                </a:solidFill>
                <a:latin typeface="黑体"/>
                <a:ea typeface="黑体"/>
                <a:cs typeface="黑体"/>
              </a:defRPr>
            </a:pPr>
            <a:r>
              <a:rPr>
                <a:latin typeface="黑体"/>
                <a:ea typeface="黑体"/>
                <a:cs typeface="黑体"/>
              </a:rPr>
              <a:t>比较的是相对位置</a:t>
            </a:r>
          </a:p>
        </p:txBody>
      </p:sp>
      <p:sp>
        <p:nvSpPr>
          <p:cNvPr id="45" name="矩形 44">
            <a:extLst>
              <a:ext uri="{FF2B5EF4-FFF2-40B4-BE49-F238E27FC236}">
                <a16:creationId xmlns:a16="http://schemas.microsoft.com/office/drawing/2014/main" id="{A65B037D-1A3E-40E1-B391-7F509B60C52F}"/>
              </a:ext>
            </a:extLst>
          </p:cNvPr>
          <p:cNvSpPr>
            <a:spLocks noGrp="1"/>
          </p:cNvSpPr>
          <p:nvPr/>
        </p:nvSpPr>
        <p:spPr>
          <a:xfrm>
            <a:off x="857250" y="4267200"/>
            <a:ext cx="2000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B4964B"/>
                </a:solidFill>
                <a:latin typeface="黑体"/>
                <a:ea typeface="黑体"/>
                <a:cs typeface="黑体"/>
              </a:defRPr>
            </a:pPr>
            <a:r>
              <a:rPr>
                <a:latin typeface="黑体"/>
                <a:ea typeface="黑体"/>
                <a:cs typeface="黑体"/>
              </a:rPr>
              <a:t>原始值</a:t>
            </a:r>
          </a:p>
        </p:txBody>
      </p:sp>
      <p:sp>
        <p:nvSpPr>
          <p:cNvPr id="46" name="矩形 45">
            <a:extLst>
              <a:ext uri="{FF2B5EF4-FFF2-40B4-BE49-F238E27FC236}">
                <a16:creationId xmlns:a16="http://schemas.microsoft.com/office/drawing/2014/main" id="{A8552498-9AB6-4A95-ACE1-DB6F00AC23AA}"/>
              </a:ext>
            </a:extLst>
          </p:cNvPr>
          <p:cNvSpPr>
            <a:spLocks noGrp="1"/>
          </p:cNvSpPr>
          <p:nvPr/>
        </p:nvSpPr>
        <p:spPr>
          <a:xfrm>
            <a:off x="857250" y="4514850"/>
            <a:ext cx="2000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00204A"/>
                </a:solidFill>
                <a:latin typeface="黑体"/>
                <a:ea typeface="黑体"/>
                <a:cs typeface="黑体"/>
              </a:defRPr>
            </a:pPr>
            <a:r>
              <a:rPr>
                <a:latin typeface="Times New Roman"/>
                <a:ea typeface="Times New Roman"/>
                <a:cs typeface="Times New Roman"/>
              </a:rPr>
              <a:t>12 </a:t>
            </a:r>
            <a:r>
              <a:rPr>
                <a:latin typeface="黑体"/>
                <a:ea typeface="黑体"/>
                <a:cs typeface="黑体"/>
              </a:rPr>
              <a:t>次   </a:t>
            </a:r>
            <a:r>
              <a:rPr>
                <a:latin typeface="Times New Roman"/>
                <a:ea typeface="Times New Roman"/>
                <a:cs typeface="Times New Roman"/>
              </a:rPr>
              <a:t>vs   0.80</a:t>
            </a:r>
          </a:p>
        </p:txBody>
      </p:sp>
      <p:sp>
        <p:nvSpPr>
          <p:cNvPr id="47" name="矩形 46">
            <a:extLst>
              <a:ext uri="{FF2B5EF4-FFF2-40B4-BE49-F238E27FC236}">
                <a16:creationId xmlns:a16="http://schemas.microsoft.com/office/drawing/2014/main" id="{3372AD94-4AA1-4E7D-920E-7CA5F91B5DF8}"/>
              </a:ext>
            </a:extLst>
          </p:cNvPr>
          <p:cNvSpPr>
            <a:spLocks noGrp="1"/>
          </p:cNvSpPr>
          <p:nvPr/>
        </p:nvSpPr>
        <p:spPr>
          <a:xfrm>
            <a:off x="857250" y="483870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黑体"/>
                <a:ea typeface="黑体"/>
                <a:cs typeface="黑体"/>
              </a:rPr>
              <a:t>单位不同，不能直接比较</a:t>
            </a:r>
          </a:p>
        </p:txBody>
      </p:sp>
      <p:sp>
        <p:nvSpPr>
          <p:cNvPr id="48" name="矩形 47">
            <a:extLst>
              <a:ext uri="{FF2B5EF4-FFF2-40B4-BE49-F238E27FC236}">
                <a16:creationId xmlns:a16="http://schemas.microsoft.com/office/drawing/2014/main" id="{577FE346-3C19-4574-BC83-57D8D9431D9D}"/>
              </a:ext>
            </a:extLst>
          </p:cNvPr>
          <p:cNvSpPr>
            <a:spLocks noGrp="1"/>
          </p:cNvSpPr>
          <p:nvPr/>
        </p:nvSpPr>
        <p:spPr>
          <a:xfrm>
            <a:off x="3105150" y="4057650"/>
            <a:ext cx="9525" cy="99060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49" name="矩形 48">
            <a:extLst>
              <a:ext uri="{FF2B5EF4-FFF2-40B4-BE49-F238E27FC236}">
                <a16:creationId xmlns:a16="http://schemas.microsoft.com/office/drawing/2014/main" id="{59A80309-C224-46D3-A519-125B1A11CE62}"/>
              </a:ext>
            </a:extLst>
          </p:cNvPr>
          <p:cNvSpPr>
            <a:spLocks noGrp="1"/>
          </p:cNvSpPr>
          <p:nvPr/>
        </p:nvSpPr>
        <p:spPr>
          <a:xfrm>
            <a:off x="3714750" y="4572000"/>
            <a:ext cx="7010400" cy="28575"/>
          </a:xfrm>
          <a:prstGeom prst="rect">
            <a:avLst/>
          </a:prstGeom>
          <a:solidFill>
            <a:srgbClr val="8D99A8"/>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A15F8D3C-B4BC-48AD-B82E-07ADCCDC904C}"/>
              </a:ext>
            </a:extLst>
          </p:cNvPr>
          <p:cNvSpPr>
            <a:spLocks noGrp="1"/>
          </p:cNvSpPr>
          <p:nvPr/>
        </p:nvSpPr>
        <p:spPr>
          <a:xfrm>
            <a:off x="3714750" y="4495800"/>
            <a:ext cx="19050" cy="180975"/>
          </a:xfrm>
          <a:prstGeom prst="rect">
            <a:avLst/>
          </a:prstGeom>
          <a:solidFill>
            <a:srgbClr val="8D99A8"/>
          </a:solidFill>
          <a:ln w="0">
            <a:solidFill>
              <a:srgbClr val="000000">
                <a:alpha val="0"/>
              </a:srgbClr>
            </a:solidFill>
            <a:prstDash val="solid"/>
          </a:ln>
        </p:spPr>
        <p:txBody>
          <a:bodyPr/>
          <a:lstStyle/>
          <a:p>
            <a:endParaRPr lang="zh-CN" altLang="en-US"/>
          </a:p>
        </p:txBody>
      </p:sp>
      <p:sp>
        <p:nvSpPr>
          <p:cNvPr id="51" name="矩形 50">
            <a:extLst>
              <a:ext uri="{FF2B5EF4-FFF2-40B4-BE49-F238E27FC236}">
                <a16:creationId xmlns:a16="http://schemas.microsoft.com/office/drawing/2014/main" id="{34BB1E32-1EE3-488D-BB64-4B9150B16E0D}"/>
              </a:ext>
            </a:extLst>
          </p:cNvPr>
          <p:cNvSpPr>
            <a:spLocks noGrp="1"/>
          </p:cNvSpPr>
          <p:nvPr/>
        </p:nvSpPr>
        <p:spPr>
          <a:xfrm>
            <a:off x="3486150" y="4724400"/>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−2</a:t>
            </a:r>
          </a:p>
        </p:txBody>
      </p:sp>
      <p:sp>
        <p:nvSpPr>
          <p:cNvPr id="52" name="矩形 51">
            <a:extLst>
              <a:ext uri="{FF2B5EF4-FFF2-40B4-BE49-F238E27FC236}">
                <a16:creationId xmlns:a16="http://schemas.microsoft.com/office/drawing/2014/main" id="{DE5165D3-3755-4ACD-B1AB-C872D926CD11}"/>
              </a:ext>
            </a:extLst>
          </p:cNvPr>
          <p:cNvSpPr>
            <a:spLocks noGrp="1"/>
          </p:cNvSpPr>
          <p:nvPr/>
        </p:nvSpPr>
        <p:spPr>
          <a:xfrm>
            <a:off x="5467350" y="4495800"/>
            <a:ext cx="19050" cy="180975"/>
          </a:xfrm>
          <a:prstGeom prst="rect">
            <a:avLst/>
          </a:prstGeom>
          <a:solidFill>
            <a:srgbClr val="8D99A8"/>
          </a:solidFill>
          <a:ln w="0">
            <a:solidFill>
              <a:srgbClr val="000000">
                <a:alpha val="0"/>
              </a:srgbClr>
            </a:solidFill>
            <a:prstDash val="solid"/>
          </a:ln>
        </p:spPr>
        <p:txBody>
          <a:bodyPr/>
          <a:lstStyle/>
          <a:p>
            <a:endParaRPr lang="zh-CN" altLang="en-US"/>
          </a:p>
        </p:txBody>
      </p:sp>
      <p:sp>
        <p:nvSpPr>
          <p:cNvPr id="53" name="矩形 52">
            <a:extLst>
              <a:ext uri="{FF2B5EF4-FFF2-40B4-BE49-F238E27FC236}">
                <a16:creationId xmlns:a16="http://schemas.microsoft.com/office/drawing/2014/main" id="{F50209CD-2CD4-40DB-9705-9FD17175D593}"/>
              </a:ext>
            </a:extLst>
          </p:cNvPr>
          <p:cNvSpPr>
            <a:spLocks noGrp="1"/>
          </p:cNvSpPr>
          <p:nvPr/>
        </p:nvSpPr>
        <p:spPr>
          <a:xfrm>
            <a:off x="5238750" y="4724400"/>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−1</a:t>
            </a:r>
          </a:p>
        </p:txBody>
      </p:sp>
      <p:sp>
        <p:nvSpPr>
          <p:cNvPr id="54" name="矩形 53">
            <a:extLst>
              <a:ext uri="{FF2B5EF4-FFF2-40B4-BE49-F238E27FC236}">
                <a16:creationId xmlns:a16="http://schemas.microsoft.com/office/drawing/2014/main" id="{7C6810AD-A4C1-4AC5-BC58-02D3CD6E1377}"/>
              </a:ext>
            </a:extLst>
          </p:cNvPr>
          <p:cNvSpPr>
            <a:spLocks noGrp="1"/>
          </p:cNvSpPr>
          <p:nvPr/>
        </p:nvSpPr>
        <p:spPr>
          <a:xfrm>
            <a:off x="7219950" y="4495800"/>
            <a:ext cx="19050" cy="180975"/>
          </a:xfrm>
          <a:prstGeom prst="rect">
            <a:avLst/>
          </a:prstGeom>
          <a:solidFill>
            <a:srgbClr val="8D99A8"/>
          </a:solidFill>
          <a:ln w="0">
            <a:solidFill>
              <a:srgbClr val="000000">
                <a:alpha val="0"/>
              </a:srgbClr>
            </a:solidFill>
            <a:prstDash val="solid"/>
          </a:ln>
        </p:spPr>
        <p:txBody>
          <a:bodyPr/>
          <a:lstStyle/>
          <a:p>
            <a:endParaRPr lang="zh-CN" altLang="en-US"/>
          </a:p>
        </p:txBody>
      </p:sp>
      <p:sp>
        <p:nvSpPr>
          <p:cNvPr id="55" name="矩形 54">
            <a:extLst>
              <a:ext uri="{FF2B5EF4-FFF2-40B4-BE49-F238E27FC236}">
                <a16:creationId xmlns:a16="http://schemas.microsoft.com/office/drawing/2014/main" id="{896D08C5-DAA4-4837-96E5-CDB9B273C90F}"/>
              </a:ext>
            </a:extLst>
          </p:cNvPr>
          <p:cNvSpPr>
            <a:spLocks noGrp="1"/>
          </p:cNvSpPr>
          <p:nvPr/>
        </p:nvSpPr>
        <p:spPr>
          <a:xfrm>
            <a:off x="6991350" y="4724400"/>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0</a:t>
            </a:r>
          </a:p>
        </p:txBody>
      </p:sp>
      <p:sp>
        <p:nvSpPr>
          <p:cNvPr id="56" name="矩形 55">
            <a:extLst>
              <a:ext uri="{FF2B5EF4-FFF2-40B4-BE49-F238E27FC236}">
                <a16:creationId xmlns:a16="http://schemas.microsoft.com/office/drawing/2014/main" id="{00895FF9-21FE-4F97-AC93-DF4E9DAFD0CE}"/>
              </a:ext>
            </a:extLst>
          </p:cNvPr>
          <p:cNvSpPr>
            <a:spLocks noGrp="1"/>
          </p:cNvSpPr>
          <p:nvPr/>
        </p:nvSpPr>
        <p:spPr>
          <a:xfrm>
            <a:off x="8972550" y="4495800"/>
            <a:ext cx="19050" cy="18097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57" name="矩形 56">
            <a:extLst>
              <a:ext uri="{FF2B5EF4-FFF2-40B4-BE49-F238E27FC236}">
                <a16:creationId xmlns:a16="http://schemas.microsoft.com/office/drawing/2014/main" id="{8839015E-384A-453A-87F7-51C8F1E7D86B}"/>
              </a:ext>
            </a:extLst>
          </p:cNvPr>
          <p:cNvSpPr>
            <a:spLocks noGrp="1"/>
          </p:cNvSpPr>
          <p:nvPr/>
        </p:nvSpPr>
        <p:spPr>
          <a:xfrm>
            <a:off x="8743950" y="4724400"/>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B4964B"/>
                </a:solidFill>
                <a:latin typeface="黑体"/>
                <a:ea typeface="黑体"/>
                <a:cs typeface="黑体"/>
              </a:defRPr>
            </a:pPr>
            <a:r>
              <a:rPr>
                <a:latin typeface="Times New Roman"/>
                <a:ea typeface="Times New Roman"/>
                <a:cs typeface="Times New Roman"/>
              </a:rPr>
              <a:t>+1</a:t>
            </a:r>
          </a:p>
        </p:txBody>
      </p:sp>
      <p:sp>
        <p:nvSpPr>
          <p:cNvPr id="58" name="矩形 57">
            <a:extLst>
              <a:ext uri="{FF2B5EF4-FFF2-40B4-BE49-F238E27FC236}">
                <a16:creationId xmlns:a16="http://schemas.microsoft.com/office/drawing/2014/main" id="{03144954-6EC5-4FB1-9597-0A6CADBBBF99}"/>
              </a:ext>
            </a:extLst>
          </p:cNvPr>
          <p:cNvSpPr>
            <a:spLocks noGrp="1"/>
          </p:cNvSpPr>
          <p:nvPr/>
        </p:nvSpPr>
        <p:spPr>
          <a:xfrm>
            <a:off x="10725150" y="4495800"/>
            <a:ext cx="19050" cy="180975"/>
          </a:xfrm>
          <a:prstGeom prst="rect">
            <a:avLst/>
          </a:prstGeom>
          <a:solidFill>
            <a:srgbClr val="8D99A8"/>
          </a:solidFill>
          <a:ln w="0">
            <a:solidFill>
              <a:srgbClr val="000000">
                <a:alpha val="0"/>
              </a:srgbClr>
            </a:solidFill>
            <a:prstDash val="solid"/>
          </a:ln>
        </p:spPr>
        <p:txBody>
          <a:bodyPr/>
          <a:lstStyle/>
          <a:p>
            <a:endParaRPr lang="zh-CN" altLang="en-US"/>
          </a:p>
        </p:txBody>
      </p:sp>
      <p:sp>
        <p:nvSpPr>
          <p:cNvPr id="59" name="矩形 58">
            <a:extLst>
              <a:ext uri="{FF2B5EF4-FFF2-40B4-BE49-F238E27FC236}">
                <a16:creationId xmlns:a16="http://schemas.microsoft.com/office/drawing/2014/main" id="{2E5A6227-B2A5-4DE9-BDC1-FEA2FC8B3EE4}"/>
              </a:ext>
            </a:extLst>
          </p:cNvPr>
          <p:cNvSpPr>
            <a:spLocks noGrp="1"/>
          </p:cNvSpPr>
          <p:nvPr/>
        </p:nvSpPr>
        <p:spPr>
          <a:xfrm>
            <a:off x="10496550" y="4724400"/>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+2</a:t>
            </a:r>
          </a:p>
        </p:txBody>
      </p:sp>
      <p:sp>
        <p:nvSpPr>
          <p:cNvPr id="60" name="矩形 59">
            <a:extLst>
              <a:ext uri="{FF2B5EF4-FFF2-40B4-BE49-F238E27FC236}">
                <a16:creationId xmlns:a16="http://schemas.microsoft.com/office/drawing/2014/main" id="{B733C05D-4D62-425C-916A-FDFFAE2E82C1}"/>
              </a:ext>
            </a:extLst>
          </p:cNvPr>
          <p:cNvSpPr>
            <a:spLocks noGrp="1"/>
          </p:cNvSpPr>
          <p:nvPr/>
        </p:nvSpPr>
        <p:spPr>
          <a:xfrm>
            <a:off x="6705600" y="4286250"/>
            <a:ext cx="1028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4B5563"/>
                </a:solidFill>
                <a:latin typeface="黑体"/>
                <a:ea typeface="黑体"/>
                <a:cs typeface="黑体"/>
              </a:defRPr>
            </a:pPr>
            <a:r>
              <a:rPr>
                <a:latin typeface="黑体"/>
                <a:ea typeface="黑体"/>
                <a:cs typeface="黑体"/>
              </a:rPr>
              <a:t>训练集均值</a:t>
            </a:r>
          </a:p>
        </p:txBody>
      </p:sp>
      <p:sp>
        <p:nvSpPr>
          <p:cNvPr id="61" name="矩形 60">
            <a:extLst>
              <a:ext uri="{FF2B5EF4-FFF2-40B4-BE49-F238E27FC236}">
                <a16:creationId xmlns:a16="http://schemas.microsoft.com/office/drawing/2014/main" id="{13DF54DF-6AED-48EB-9C73-A03C81747853}"/>
              </a:ext>
            </a:extLst>
          </p:cNvPr>
          <p:cNvSpPr>
            <a:spLocks noGrp="1"/>
          </p:cNvSpPr>
          <p:nvPr/>
        </p:nvSpPr>
        <p:spPr>
          <a:xfrm>
            <a:off x="8972550" y="4095750"/>
            <a:ext cx="19050" cy="9144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1A7AA4ED-FF81-4CB6-AC0F-3C67F93F6945}"/>
              </a:ext>
            </a:extLst>
          </p:cNvPr>
          <p:cNvSpPr>
            <a:spLocks noGrp="1"/>
          </p:cNvSpPr>
          <p:nvPr/>
        </p:nvSpPr>
        <p:spPr>
          <a:xfrm>
            <a:off x="8886825" y="4495800"/>
            <a:ext cx="180975" cy="180975"/>
          </a:xfrm>
          <a:prstGeom prst="ellipse">
            <a:avLst/>
          </a:prstGeom>
          <a:solidFill>
            <a:srgbClr val="B4964B"/>
          </a:solidFill>
          <a:ln w="9525">
            <a:solidFill>
              <a:srgbClr val="FFFFFF"/>
            </a:solidFill>
            <a:prstDash val="solid"/>
          </a:ln>
        </p:spPr>
        <p:txBody>
          <a:bodyPr/>
          <a:lstStyle/>
          <a:p>
            <a:endParaRPr lang="zh-CN" altLang="en-US"/>
          </a:p>
        </p:txBody>
      </p:sp>
      <p:sp>
        <p:nvSpPr>
          <p:cNvPr id="63" name="矩形 62">
            <a:extLst>
              <a:ext uri="{FF2B5EF4-FFF2-40B4-BE49-F238E27FC236}">
                <a16:creationId xmlns:a16="http://schemas.microsoft.com/office/drawing/2014/main" id="{324397E3-F8C2-467B-A10F-DAD741EC384B}"/>
              </a:ext>
            </a:extLst>
          </p:cNvPr>
          <p:cNvSpPr>
            <a:spLocks noGrp="1"/>
          </p:cNvSpPr>
          <p:nvPr/>
        </p:nvSpPr>
        <p:spPr>
          <a:xfrm>
            <a:off x="7353300" y="4076700"/>
            <a:ext cx="1524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014DA1"/>
                </a:solidFill>
                <a:latin typeface="黑体"/>
                <a:ea typeface="黑体"/>
                <a:cs typeface="黑体"/>
              </a:defRPr>
            </a:pPr>
            <a:r>
              <a:rPr>
                <a:latin typeface="Times New Roman"/>
                <a:ea typeface="Times New Roman"/>
                <a:cs typeface="Times New Roman"/>
              </a:rPr>
              <a:t>login_count = +1.00</a:t>
            </a:r>
          </a:p>
        </p:txBody>
      </p:sp>
      <p:sp>
        <p:nvSpPr>
          <p:cNvPr id="64" name="矩形 63">
            <a:extLst>
              <a:ext uri="{FF2B5EF4-FFF2-40B4-BE49-F238E27FC236}">
                <a16:creationId xmlns:a16="http://schemas.microsoft.com/office/drawing/2014/main" id="{A8D4A077-B37D-4303-AB03-802E20D0BC08}"/>
              </a:ext>
            </a:extLst>
          </p:cNvPr>
          <p:cNvSpPr>
            <a:spLocks noGrp="1"/>
          </p:cNvSpPr>
          <p:nvPr/>
        </p:nvSpPr>
        <p:spPr>
          <a:xfrm>
            <a:off x="9086850" y="4953000"/>
            <a:ext cx="1600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F7A5D"/>
                </a:solidFill>
                <a:latin typeface="黑体"/>
                <a:ea typeface="黑体"/>
                <a:cs typeface="黑体"/>
              </a:defRPr>
            </a:pPr>
            <a:r>
              <a:rPr>
                <a:latin typeface="Times New Roman"/>
                <a:ea typeface="Times New Roman"/>
                <a:cs typeface="Times New Roman"/>
              </a:rPr>
              <a:t>video_rate = +1.00</a:t>
            </a:r>
          </a:p>
        </p:txBody>
      </p:sp>
      <p:sp>
        <p:nvSpPr>
          <p:cNvPr id="65" name="矩形 64">
            <a:extLst>
              <a:ext uri="{FF2B5EF4-FFF2-40B4-BE49-F238E27FC236}">
                <a16:creationId xmlns:a16="http://schemas.microsoft.com/office/drawing/2014/main" id="{46853720-2365-4C75-A4F6-A9CF6C3E263E}"/>
              </a:ext>
            </a:extLst>
          </p:cNvPr>
          <p:cNvSpPr>
            <a:spLocks noGrp="1"/>
          </p:cNvSpPr>
          <p:nvPr/>
        </p:nvSpPr>
        <p:spPr>
          <a:xfrm>
            <a:off x="10839450" y="4476750"/>
            <a:ext cx="590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00204A"/>
                </a:solidFill>
                <a:latin typeface="黑体"/>
                <a:ea typeface="黑体"/>
                <a:cs typeface="黑体"/>
              </a:defRPr>
            </a:pPr>
            <a:r>
              <a:rPr>
                <a:latin typeface="Times New Roman"/>
                <a:ea typeface="Times New Roman"/>
                <a:cs typeface="Times New Roman"/>
              </a:rPr>
              <a:t>Z-score</a:t>
            </a:r>
          </a:p>
        </p:txBody>
      </p:sp>
      <p:sp>
        <p:nvSpPr>
          <p:cNvPr id="66" name="矩形 65">
            <a:extLst>
              <a:ext uri="{FF2B5EF4-FFF2-40B4-BE49-F238E27FC236}">
                <a16:creationId xmlns:a16="http://schemas.microsoft.com/office/drawing/2014/main" id="{D121A108-8B2F-4F2D-BB87-E85C36A8F920}"/>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67" name="矩形 66">
            <a:extLst>
              <a:ext uri="{FF2B5EF4-FFF2-40B4-BE49-F238E27FC236}">
                <a16:creationId xmlns:a16="http://schemas.microsoft.com/office/drawing/2014/main" id="{A54465E0-E26E-404A-91EC-A90717ABEF72}"/>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Z-score </a:t>
            </a:r>
            <a:r>
              <a:rPr>
                <a:latin typeface="黑体"/>
                <a:ea typeface="黑体"/>
                <a:cs typeface="黑体"/>
              </a:rPr>
              <a:t>统一的是相对位置和数值尺度，不会消除变量的语义差异。</a:t>
            </a:r>
          </a:p>
        </p:txBody>
      </p:sp>
    </p:spTree>
    <p:extLst>
      <p:ext uri="{BB962C8B-B14F-4D97-AF65-F5344CB8AC3E}">
        <p14:creationId xmlns:p14="http://schemas.microsoft.com/office/powerpoint/2010/main" val="2030711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5A19B6C4-FC09-4603-8942-A3A36FD6C1A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BB67C271-16A5-40DC-9C99-254222E4B442}"/>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CAC0B0E2-6591-4C11-871A-536ADD0AE2E1}"/>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ACF50A95-129D-4AFA-B7DC-D4B21638F4FC}"/>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不缩放时，大量纲变量会主导距离</a:t>
            </a:r>
          </a:p>
        </p:txBody>
      </p:sp>
      <p:sp>
        <p:nvSpPr>
          <p:cNvPr id="5" name="矩形 4">
            <a:extLst>
              <a:ext uri="{FF2B5EF4-FFF2-40B4-BE49-F238E27FC236}">
                <a16:creationId xmlns:a16="http://schemas.microsoft.com/office/drawing/2014/main" id="{C28325B9-AB34-4C07-ADD2-37D0B8E3CB70}"/>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54/90</a:t>
            </a:r>
          </a:p>
        </p:txBody>
      </p:sp>
      <p:sp>
        <p:nvSpPr>
          <p:cNvPr id="6" name="矩形 5">
            <a:extLst>
              <a:ext uri="{FF2B5EF4-FFF2-40B4-BE49-F238E27FC236}">
                <a16:creationId xmlns:a16="http://schemas.microsoft.com/office/drawing/2014/main" id="{49AC1A0A-0F27-481F-B887-80855B4F2F43}"/>
              </a:ext>
            </a:extLst>
          </p:cNvPr>
          <p:cNvSpPr>
            <a:spLocks noGrp="1"/>
          </p:cNvSpPr>
          <p:nvPr/>
        </p:nvSpPr>
        <p:spPr>
          <a:xfrm>
            <a:off x="704850" y="1257300"/>
            <a:ext cx="5257800" cy="4000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A3FEC7D1-2765-405C-B265-F7F0292F41F7}"/>
              </a:ext>
            </a:extLst>
          </p:cNvPr>
          <p:cNvSpPr>
            <a:spLocks noGrp="1"/>
          </p:cNvSpPr>
          <p:nvPr/>
        </p:nvSpPr>
        <p:spPr>
          <a:xfrm>
            <a:off x="933450" y="1466850"/>
            <a:ext cx="48006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014DA1"/>
                </a:solidFill>
                <a:latin typeface="黑体"/>
                <a:ea typeface="黑体"/>
                <a:cs typeface="黑体"/>
              </a:defRPr>
            </a:pPr>
            <a:r>
              <a:rPr>
                <a:latin typeface="黑体"/>
                <a:ea typeface="黑体"/>
                <a:cs typeface="黑体"/>
              </a:rPr>
              <a:t>原始特征</a:t>
            </a:r>
          </a:p>
        </p:txBody>
      </p:sp>
      <p:sp>
        <p:nvSpPr>
          <p:cNvPr id="8" name="矩形 7">
            <a:extLst>
              <a:ext uri="{FF2B5EF4-FFF2-40B4-BE49-F238E27FC236}">
                <a16:creationId xmlns:a16="http://schemas.microsoft.com/office/drawing/2014/main" id="{46018070-71F8-480A-A0C9-A6337020894A}"/>
              </a:ext>
            </a:extLst>
          </p:cNvPr>
          <p:cNvSpPr>
            <a:spLocks noGrp="1"/>
          </p:cNvSpPr>
          <p:nvPr/>
        </p:nvSpPr>
        <p:spPr>
          <a:xfrm>
            <a:off x="6229350" y="1257300"/>
            <a:ext cx="5257800" cy="4000500"/>
          </a:xfrm>
          <a:prstGeom prst="rect">
            <a:avLst/>
          </a:prstGeom>
          <a:solidFill>
            <a:srgbClr val="FFFFFF"/>
          </a:solidFill>
          <a:ln w="9525">
            <a:solidFill>
              <a:srgbClr val="B8C3D1"/>
            </a:solidFill>
            <a:prstDash val="solid"/>
          </a:ln>
        </p:spPr>
        <p:txBody>
          <a:bodyPr/>
          <a:lstStyle/>
          <a:p>
            <a:endParaRPr lang="zh-CN" altLang="en-US"/>
          </a:p>
        </p:txBody>
      </p:sp>
      <p:sp>
        <p:nvSpPr>
          <p:cNvPr id="9" name="矩形 8">
            <a:extLst>
              <a:ext uri="{FF2B5EF4-FFF2-40B4-BE49-F238E27FC236}">
                <a16:creationId xmlns:a16="http://schemas.microsoft.com/office/drawing/2014/main" id="{160BB665-6B2D-4416-8A76-433E3337CDA4}"/>
              </a:ext>
            </a:extLst>
          </p:cNvPr>
          <p:cNvSpPr>
            <a:spLocks noGrp="1"/>
          </p:cNvSpPr>
          <p:nvPr/>
        </p:nvSpPr>
        <p:spPr>
          <a:xfrm>
            <a:off x="6457950" y="1466850"/>
            <a:ext cx="48006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B4964B"/>
                </a:solidFill>
                <a:latin typeface="黑体"/>
                <a:ea typeface="黑体"/>
                <a:cs typeface="黑体"/>
              </a:defRPr>
            </a:pPr>
            <a:r>
              <a:rPr>
                <a:latin typeface="黑体"/>
                <a:ea typeface="黑体"/>
                <a:cs typeface="黑体"/>
              </a:rPr>
              <a:t>距离贡献</a:t>
            </a:r>
          </a:p>
        </p:txBody>
      </p:sp>
      <p:sp>
        <p:nvSpPr>
          <p:cNvPr id="10" name="矩形 9">
            <a:extLst>
              <a:ext uri="{FF2B5EF4-FFF2-40B4-BE49-F238E27FC236}">
                <a16:creationId xmlns:a16="http://schemas.microsoft.com/office/drawing/2014/main" id="{CA5B942F-4121-4097-B364-34A992B8C059}"/>
              </a:ext>
            </a:extLst>
          </p:cNvPr>
          <p:cNvSpPr>
            <a:spLocks noGrp="1"/>
          </p:cNvSpPr>
          <p:nvPr/>
        </p:nvSpPr>
        <p:spPr>
          <a:xfrm>
            <a:off x="1200150" y="2095500"/>
            <a:ext cx="990600" cy="457200"/>
          </a:xfrm>
          <a:prstGeom prst="rect">
            <a:avLst/>
          </a:prstGeom>
          <a:solidFill>
            <a:srgbClr val="00204A"/>
          </a:solidFill>
          <a:ln w="9525">
            <a:solidFill>
              <a:srgbClr val="FFFFFF"/>
            </a:solidFill>
            <a:prstDash val="solid"/>
          </a:ln>
        </p:spPr>
        <p:txBody>
          <a:bodyPr/>
          <a:lstStyle/>
          <a:p>
            <a:endParaRPr lang="zh-CN" altLang="en-US"/>
          </a:p>
        </p:txBody>
      </p:sp>
      <p:sp>
        <p:nvSpPr>
          <p:cNvPr id="11" name="矩形 10">
            <a:extLst>
              <a:ext uri="{FF2B5EF4-FFF2-40B4-BE49-F238E27FC236}">
                <a16:creationId xmlns:a16="http://schemas.microsoft.com/office/drawing/2014/main" id="{555B60F0-8514-41E4-9C67-5458B2CBF7F7}"/>
              </a:ext>
            </a:extLst>
          </p:cNvPr>
          <p:cNvSpPr>
            <a:spLocks noGrp="1"/>
          </p:cNvSpPr>
          <p:nvPr/>
        </p:nvSpPr>
        <p:spPr>
          <a:xfrm>
            <a:off x="1257300" y="2228850"/>
            <a:ext cx="876300" cy="190500"/>
          </a:xfrm>
          <a:prstGeom prst="rect">
            <a:avLst/>
          </a:prstGeom>
          <a:solidFill>
            <a:srgbClr val="00204A"/>
          </a:solidFill>
          <a:ln w="0">
            <a:solidFill>
              <a:srgbClr val="000000">
                <a:alpha val="0"/>
              </a:srgbClr>
            </a:solidFill>
            <a:prstDash val="solid"/>
          </a:ln>
        </p:spPr>
        <p:txBody>
          <a:bodyPr lIns="0" tIns="0" rIns="0" bIns="0" anchor="t"/>
          <a:lstStyle/>
          <a:p>
            <a:pPr algn="ctr">
              <a:defRPr sz="1050" b="1">
                <a:solidFill>
                  <a:srgbClr val="FFFFFF"/>
                </a:solidFill>
                <a:latin typeface="黑体"/>
                <a:ea typeface="黑体"/>
                <a:cs typeface="黑体"/>
              </a:defRPr>
            </a:pPr>
            <a:r>
              <a:rPr>
                <a:latin typeface="黑体"/>
                <a:ea typeface="黑体"/>
                <a:cs typeface="黑体"/>
              </a:rPr>
              <a:t>学生</a:t>
            </a:r>
          </a:p>
        </p:txBody>
      </p:sp>
      <p:sp>
        <p:nvSpPr>
          <p:cNvPr id="12" name="矩形 11">
            <a:extLst>
              <a:ext uri="{FF2B5EF4-FFF2-40B4-BE49-F238E27FC236}">
                <a16:creationId xmlns:a16="http://schemas.microsoft.com/office/drawing/2014/main" id="{083F9D52-8904-428D-A5A2-EF6BB84101B0}"/>
              </a:ext>
            </a:extLst>
          </p:cNvPr>
          <p:cNvSpPr>
            <a:spLocks noGrp="1"/>
          </p:cNvSpPr>
          <p:nvPr/>
        </p:nvSpPr>
        <p:spPr>
          <a:xfrm>
            <a:off x="2190750" y="2095500"/>
            <a:ext cx="1638300" cy="457200"/>
          </a:xfrm>
          <a:prstGeom prst="rect">
            <a:avLst/>
          </a:prstGeom>
          <a:solidFill>
            <a:srgbClr val="00204A"/>
          </a:solidFill>
          <a:ln w="9525">
            <a:solidFill>
              <a:srgbClr val="FFFFFF"/>
            </a:solidFill>
            <a:prstDash val="solid"/>
          </a:ln>
        </p:spPr>
        <p:txBody>
          <a:bodyPr/>
          <a:lstStyle/>
          <a:p>
            <a:endParaRPr lang="zh-CN" altLang="en-US"/>
          </a:p>
        </p:txBody>
      </p:sp>
      <p:sp>
        <p:nvSpPr>
          <p:cNvPr id="13" name="矩形 12">
            <a:extLst>
              <a:ext uri="{FF2B5EF4-FFF2-40B4-BE49-F238E27FC236}">
                <a16:creationId xmlns:a16="http://schemas.microsoft.com/office/drawing/2014/main" id="{A79A7604-715F-417F-877D-DED04716CD19}"/>
              </a:ext>
            </a:extLst>
          </p:cNvPr>
          <p:cNvSpPr>
            <a:spLocks noGrp="1"/>
          </p:cNvSpPr>
          <p:nvPr/>
        </p:nvSpPr>
        <p:spPr>
          <a:xfrm>
            <a:off x="2247900" y="2228850"/>
            <a:ext cx="1524000" cy="190500"/>
          </a:xfrm>
          <a:prstGeom prst="rect">
            <a:avLst/>
          </a:prstGeom>
          <a:solidFill>
            <a:srgbClr val="00204A"/>
          </a:solidFill>
          <a:ln w="0">
            <a:solidFill>
              <a:srgbClr val="000000">
                <a:alpha val="0"/>
              </a:srgbClr>
            </a:solidFill>
            <a:prstDash val="solid"/>
          </a:ln>
        </p:spPr>
        <p:txBody>
          <a:bodyPr lIns="0" tIns="0" rIns="0" bIns="0" anchor="t"/>
          <a:lstStyle/>
          <a:p>
            <a:pPr algn="ctr">
              <a:defRPr sz="1050" b="1">
                <a:solidFill>
                  <a:srgbClr val="FFFFFF"/>
                </a:solidFill>
                <a:latin typeface="黑体"/>
                <a:ea typeface="黑体"/>
                <a:cs typeface="黑体"/>
              </a:defRPr>
            </a:pPr>
            <a:r>
              <a:rPr>
                <a:latin typeface="Times New Roman"/>
                <a:ea typeface="Times New Roman"/>
                <a:cs typeface="Times New Roman"/>
              </a:rPr>
              <a:t>login_count</a:t>
            </a:r>
          </a:p>
        </p:txBody>
      </p:sp>
      <p:sp>
        <p:nvSpPr>
          <p:cNvPr id="14" name="矩形 13">
            <a:extLst>
              <a:ext uri="{FF2B5EF4-FFF2-40B4-BE49-F238E27FC236}">
                <a16:creationId xmlns:a16="http://schemas.microsoft.com/office/drawing/2014/main" id="{3C2C1427-4A8C-4E9F-9F63-0AD4FDD24564}"/>
              </a:ext>
            </a:extLst>
          </p:cNvPr>
          <p:cNvSpPr>
            <a:spLocks noGrp="1"/>
          </p:cNvSpPr>
          <p:nvPr/>
        </p:nvSpPr>
        <p:spPr>
          <a:xfrm>
            <a:off x="3829050" y="2095500"/>
            <a:ext cx="1638300" cy="457200"/>
          </a:xfrm>
          <a:prstGeom prst="rect">
            <a:avLst/>
          </a:prstGeom>
          <a:solidFill>
            <a:srgbClr val="00204A"/>
          </a:solidFill>
          <a:ln w="9525">
            <a:solidFill>
              <a:srgbClr val="FFFFFF"/>
            </a:solidFill>
            <a:prstDash val="solid"/>
          </a:ln>
        </p:spPr>
        <p:txBody>
          <a:bodyPr/>
          <a:lstStyle/>
          <a:p>
            <a:endParaRPr lang="zh-CN" altLang="en-US"/>
          </a:p>
        </p:txBody>
      </p:sp>
      <p:sp>
        <p:nvSpPr>
          <p:cNvPr id="15" name="矩形 14">
            <a:extLst>
              <a:ext uri="{FF2B5EF4-FFF2-40B4-BE49-F238E27FC236}">
                <a16:creationId xmlns:a16="http://schemas.microsoft.com/office/drawing/2014/main" id="{88971062-96C3-4A23-8521-FB803F119161}"/>
              </a:ext>
            </a:extLst>
          </p:cNvPr>
          <p:cNvSpPr>
            <a:spLocks noGrp="1"/>
          </p:cNvSpPr>
          <p:nvPr/>
        </p:nvSpPr>
        <p:spPr>
          <a:xfrm>
            <a:off x="3886200" y="2228850"/>
            <a:ext cx="1524000" cy="190500"/>
          </a:xfrm>
          <a:prstGeom prst="rect">
            <a:avLst/>
          </a:prstGeom>
          <a:solidFill>
            <a:srgbClr val="00204A"/>
          </a:solidFill>
          <a:ln w="0">
            <a:solidFill>
              <a:srgbClr val="000000">
                <a:alpha val="0"/>
              </a:srgbClr>
            </a:solidFill>
            <a:prstDash val="solid"/>
          </a:ln>
        </p:spPr>
        <p:txBody>
          <a:bodyPr lIns="0" tIns="0" rIns="0" bIns="0" anchor="t"/>
          <a:lstStyle/>
          <a:p>
            <a:pPr algn="ctr">
              <a:defRPr sz="1050" b="1">
                <a:solidFill>
                  <a:srgbClr val="FFFFFF"/>
                </a:solidFill>
                <a:latin typeface="黑体"/>
                <a:ea typeface="黑体"/>
                <a:cs typeface="黑体"/>
              </a:defRPr>
            </a:pPr>
            <a:r>
              <a:rPr>
                <a:latin typeface="Times New Roman"/>
                <a:ea typeface="Times New Roman"/>
                <a:cs typeface="Times New Roman"/>
              </a:rPr>
              <a:t>video_rate</a:t>
            </a:r>
          </a:p>
        </p:txBody>
      </p:sp>
      <p:sp>
        <p:nvSpPr>
          <p:cNvPr id="16" name="矩形 15">
            <a:extLst>
              <a:ext uri="{FF2B5EF4-FFF2-40B4-BE49-F238E27FC236}">
                <a16:creationId xmlns:a16="http://schemas.microsoft.com/office/drawing/2014/main" id="{F5798E2C-C023-441B-914A-396313259FE3}"/>
              </a:ext>
            </a:extLst>
          </p:cNvPr>
          <p:cNvSpPr>
            <a:spLocks noGrp="1"/>
          </p:cNvSpPr>
          <p:nvPr/>
        </p:nvSpPr>
        <p:spPr>
          <a:xfrm>
            <a:off x="1200150" y="2552700"/>
            <a:ext cx="990600" cy="495300"/>
          </a:xfrm>
          <a:prstGeom prst="rect">
            <a:avLst/>
          </a:prstGeom>
          <a:solidFill>
            <a:srgbClr val="F5F8FC"/>
          </a:solidFill>
          <a:ln w="9525">
            <a:solidFill>
              <a:srgbClr val="C5CFDB"/>
            </a:solidFill>
            <a:prstDash val="solid"/>
          </a:ln>
        </p:spPr>
        <p:txBody>
          <a:bodyPr/>
          <a:lstStyle/>
          <a:p>
            <a:endParaRPr lang="zh-CN" altLang="en-US"/>
          </a:p>
        </p:txBody>
      </p:sp>
      <p:sp>
        <p:nvSpPr>
          <p:cNvPr id="17" name="矩形 16">
            <a:extLst>
              <a:ext uri="{FF2B5EF4-FFF2-40B4-BE49-F238E27FC236}">
                <a16:creationId xmlns:a16="http://schemas.microsoft.com/office/drawing/2014/main" id="{2DEC0840-19F2-4ABB-9BA7-400ECC26F685}"/>
              </a:ext>
            </a:extLst>
          </p:cNvPr>
          <p:cNvSpPr>
            <a:spLocks noGrp="1"/>
          </p:cNvSpPr>
          <p:nvPr/>
        </p:nvSpPr>
        <p:spPr>
          <a:xfrm>
            <a:off x="1276350" y="2695575"/>
            <a:ext cx="8382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Times New Roman"/>
                <a:ea typeface="Times New Roman"/>
                <a:cs typeface="Times New Roman"/>
              </a:rPr>
              <a:t>A</a:t>
            </a:r>
          </a:p>
        </p:txBody>
      </p:sp>
      <p:sp>
        <p:nvSpPr>
          <p:cNvPr id="18" name="矩形 17">
            <a:extLst>
              <a:ext uri="{FF2B5EF4-FFF2-40B4-BE49-F238E27FC236}">
                <a16:creationId xmlns:a16="http://schemas.microsoft.com/office/drawing/2014/main" id="{4C5F678B-A3B0-4529-9843-FE970C689A7A}"/>
              </a:ext>
            </a:extLst>
          </p:cNvPr>
          <p:cNvSpPr>
            <a:spLocks noGrp="1"/>
          </p:cNvSpPr>
          <p:nvPr/>
        </p:nvSpPr>
        <p:spPr>
          <a:xfrm>
            <a:off x="2190750" y="2552700"/>
            <a:ext cx="1638300" cy="495300"/>
          </a:xfrm>
          <a:prstGeom prst="rect">
            <a:avLst/>
          </a:prstGeom>
          <a:solidFill>
            <a:srgbClr val="F5F8FC"/>
          </a:solidFill>
          <a:ln w="9525">
            <a:solidFill>
              <a:srgbClr val="C5CFDB"/>
            </a:solidFill>
            <a:prstDash val="solid"/>
          </a:ln>
        </p:spPr>
        <p:txBody>
          <a:bodyPr/>
          <a:lstStyle/>
          <a:p>
            <a:endParaRPr lang="zh-CN" altLang="en-US"/>
          </a:p>
        </p:txBody>
      </p:sp>
      <p:sp>
        <p:nvSpPr>
          <p:cNvPr id="19" name="矩形 18">
            <a:extLst>
              <a:ext uri="{FF2B5EF4-FFF2-40B4-BE49-F238E27FC236}">
                <a16:creationId xmlns:a16="http://schemas.microsoft.com/office/drawing/2014/main" id="{44FC2FBB-949C-4ACD-87C1-2412F048F756}"/>
              </a:ext>
            </a:extLst>
          </p:cNvPr>
          <p:cNvSpPr>
            <a:spLocks noGrp="1"/>
          </p:cNvSpPr>
          <p:nvPr/>
        </p:nvSpPr>
        <p:spPr>
          <a:xfrm>
            <a:off x="2266950" y="2695575"/>
            <a:ext cx="14859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2</a:t>
            </a:r>
          </a:p>
        </p:txBody>
      </p:sp>
      <p:sp>
        <p:nvSpPr>
          <p:cNvPr id="20" name="矩形 19">
            <a:extLst>
              <a:ext uri="{FF2B5EF4-FFF2-40B4-BE49-F238E27FC236}">
                <a16:creationId xmlns:a16="http://schemas.microsoft.com/office/drawing/2014/main" id="{24AC4BB2-242C-4E31-98BA-D0E45ADCD5E8}"/>
              </a:ext>
            </a:extLst>
          </p:cNvPr>
          <p:cNvSpPr>
            <a:spLocks noGrp="1"/>
          </p:cNvSpPr>
          <p:nvPr/>
        </p:nvSpPr>
        <p:spPr>
          <a:xfrm>
            <a:off x="3829050" y="2552700"/>
            <a:ext cx="1638300" cy="495300"/>
          </a:xfrm>
          <a:prstGeom prst="rect">
            <a:avLst/>
          </a:prstGeom>
          <a:solidFill>
            <a:srgbClr val="F5F8FC"/>
          </a:solidFill>
          <a:ln w="9525">
            <a:solidFill>
              <a:srgbClr val="C5CFDB"/>
            </a:solidFill>
            <a:prstDash val="solid"/>
          </a:ln>
        </p:spPr>
        <p:txBody>
          <a:bodyPr/>
          <a:lstStyle/>
          <a:p>
            <a:endParaRPr lang="zh-CN" altLang="en-US"/>
          </a:p>
        </p:txBody>
      </p:sp>
      <p:sp>
        <p:nvSpPr>
          <p:cNvPr id="21" name="矩形 20">
            <a:extLst>
              <a:ext uri="{FF2B5EF4-FFF2-40B4-BE49-F238E27FC236}">
                <a16:creationId xmlns:a16="http://schemas.microsoft.com/office/drawing/2014/main" id="{499D27E8-79A7-4F9D-8C45-032D7E4587A9}"/>
              </a:ext>
            </a:extLst>
          </p:cNvPr>
          <p:cNvSpPr>
            <a:spLocks noGrp="1"/>
          </p:cNvSpPr>
          <p:nvPr/>
        </p:nvSpPr>
        <p:spPr>
          <a:xfrm>
            <a:off x="3905250" y="2695575"/>
            <a:ext cx="14859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0.9</a:t>
            </a:r>
          </a:p>
        </p:txBody>
      </p:sp>
      <p:sp>
        <p:nvSpPr>
          <p:cNvPr id="22" name="矩形 21">
            <a:extLst>
              <a:ext uri="{FF2B5EF4-FFF2-40B4-BE49-F238E27FC236}">
                <a16:creationId xmlns:a16="http://schemas.microsoft.com/office/drawing/2014/main" id="{D2721D51-BEF9-493A-BC69-3343CB9408E3}"/>
              </a:ext>
            </a:extLst>
          </p:cNvPr>
          <p:cNvSpPr>
            <a:spLocks noGrp="1"/>
          </p:cNvSpPr>
          <p:nvPr/>
        </p:nvSpPr>
        <p:spPr>
          <a:xfrm>
            <a:off x="1200150" y="3086100"/>
            <a:ext cx="990600" cy="495300"/>
          </a:xfrm>
          <a:prstGeom prst="rect">
            <a:avLst/>
          </a:prstGeom>
          <a:solidFill>
            <a:srgbClr val="FFFFFF"/>
          </a:solidFill>
          <a:ln w="9525">
            <a:solidFill>
              <a:srgbClr val="C5CFDB"/>
            </a:solidFill>
            <a:prstDash val="solid"/>
          </a:ln>
        </p:spPr>
        <p:txBody>
          <a:bodyPr/>
          <a:lstStyle/>
          <a:p>
            <a:endParaRPr lang="zh-CN" altLang="en-US"/>
          </a:p>
        </p:txBody>
      </p:sp>
      <p:sp>
        <p:nvSpPr>
          <p:cNvPr id="23" name="矩形 22">
            <a:extLst>
              <a:ext uri="{FF2B5EF4-FFF2-40B4-BE49-F238E27FC236}">
                <a16:creationId xmlns:a16="http://schemas.microsoft.com/office/drawing/2014/main" id="{8328348D-F6B2-4962-8268-F9401F3DCE14}"/>
              </a:ext>
            </a:extLst>
          </p:cNvPr>
          <p:cNvSpPr>
            <a:spLocks noGrp="1"/>
          </p:cNvSpPr>
          <p:nvPr/>
        </p:nvSpPr>
        <p:spPr>
          <a:xfrm>
            <a:off x="1276350" y="3228975"/>
            <a:ext cx="838200" cy="209550"/>
          </a:xfrm>
          <a:prstGeom prst="rect">
            <a:avLst/>
          </a:prstGeom>
          <a:solidFill>
            <a:srgbClr val="FFFFFF"/>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Times New Roman"/>
                <a:ea typeface="Times New Roman"/>
                <a:cs typeface="Times New Roman"/>
              </a:rPr>
              <a:t>B</a:t>
            </a:r>
          </a:p>
        </p:txBody>
      </p:sp>
      <p:sp>
        <p:nvSpPr>
          <p:cNvPr id="24" name="矩形 23">
            <a:extLst>
              <a:ext uri="{FF2B5EF4-FFF2-40B4-BE49-F238E27FC236}">
                <a16:creationId xmlns:a16="http://schemas.microsoft.com/office/drawing/2014/main" id="{B29F28E8-792A-4A6A-AE11-400D6ADCC413}"/>
              </a:ext>
            </a:extLst>
          </p:cNvPr>
          <p:cNvSpPr>
            <a:spLocks noGrp="1"/>
          </p:cNvSpPr>
          <p:nvPr/>
        </p:nvSpPr>
        <p:spPr>
          <a:xfrm>
            <a:off x="2190750" y="3086100"/>
            <a:ext cx="1638300" cy="495300"/>
          </a:xfrm>
          <a:prstGeom prst="rect">
            <a:avLst/>
          </a:prstGeom>
          <a:solidFill>
            <a:srgbClr val="FFFFFF"/>
          </a:solidFill>
          <a:ln w="9525">
            <a:solidFill>
              <a:srgbClr val="C5CFDB"/>
            </a:solidFill>
            <a:prstDash val="solid"/>
          </a:ln>
        </p:spPr>
        <p:txBody>
          <a:bodyPr/>
          <a:lstStyle/>
          <a:p>
            <a:endParaRPr lang="zh-CN" altLang="en-US"/>
          </a:p>
        </p:txBody>
      </p:sp>
      <p:sp>
        <p:nvSpPr>
          <p:cNvPr id="25" name="矩形 24">
            <a:extLst>
              <a:ext uri="{FF2B5EF4-FFF2-40B4-BE49-F238E27FC236}">
                <a16:creationId xmlns:a16="http://schemas.microsoft.com/office/drawing/2014/main" id="{4B07C119-E7D4-4965-A708-3F6382B4573D}"/>
              </a:ext>
            </a:extLst>
          </p:cNvPr>
          <p:cNvSpPr>
            <a:spLocks noGrp="1"/>
          </p:cNvSpPr>
          <p:nvPr/>
        </p:nvSpPr>
        <p:spPr>
          <a:xfrm>
            <a:off x="2266950" y="3228975"/>
            <a:ext cx="1485900" cy="209550"/>
          </a:xfrm>
          <a:prstGeom prst="rect">
            <a:avLst/>
          </a:prstGeom>
          <a:solidFill>
            <a:srgbClr val="FFFFFF"/>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12</a:t>
            </a:r>
          </a:p>
        </p:txBody>
      </p:sp>
      <p:sp>
        <p:nvSpPr>
          <p:cNvPr id="26" name="矩形 25">
            <a:extLst>
              <a:ext uri="{FF2B5EF4-FFF2-40B4-BE49-F238E27FC236}">
                <a16:creationId xmlns:a16="http://schemas.microsoft.com/office/drawing/2014/main" id="{74B53541-84BF-4F52-987E-222A26AC311D}"/>
              </a:ext>
            </a:extLst>
          </p:cNvPr>
          <p:cNvSpPr>
            <a:spLocks noGrp="1"/>
          </p:cNvSpPr>
          <p:nvPr/>
        </p:nvSpPr>
        <p:spPr>
          <a:xfrm>
            <a:off x="3829050" y="3086100"/>
            <a:ext cx="1638300" cy="495300"/>
          </a:xfrm>
          <a:prstGeom prst="rect">
            <a:avLst/>
          </a:prstGeom>
          <a:solidFill>
            <a:srgbClr val="FFFFFF"/>
          </a:solidFill>
          <a:ln w="9525">
            <a:solidFill>
              <a:srgbClr val="C5CFDB"/>
            </a:solidFill>
            <a:prstDash val="solid"/>
          </a:ln>
        </p:spPr>
        <p:txBody>
          <a:bodyPr/>
          <a:lstStyle/>
          <a:p>
            <a:endParaRPr lang="zh-CN" altLang="en-US"/>
          </a:p>
        </p:txBody>
      </p:sp>
      <p:sp>
        <p:nvSpPr>
          <p:cNvPr id="27" name="矩形 26">
            <a:extLst>
              <a:ext uri="{FF2B5EF4-FFF2-40B4-BE49-F238E27FC236}">
                <a16:creationId xmlns:a16="http://schemas.microsoft.com/office/drawing/2014/main" id="{CF354457-4654-4017-B018-B48B138CAB21}"/>
              </a:ext>
            </a:extLst>
          </p:cNvPr>
          <p:cNvSpPr>
            <a:spLocks noGrp="1"/>
          </p:cNvSpPr>
          <p:nvPr/>
        </p:nvSpPr>
        <p:spPr>
          <a:xfrm>
            <a:off x="3905250" y="3228975"/>
            <a:ext cx="1485900" cy="209550"/>
          </a:xfrm>
          <a:prstGeom prst="rect">
            <a:avLst/>
          </a:prstGeom>
          <a:solidFill>
            <a:srgbClr val="FFFFFF"/>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0.8</a:t>
            </a:r>
          </a:p>
        </p:txBody>
      </p:sp>
      <p:sp>
        <p:nvSpPr>
          <p:cNvPr id="28" name="矩形 27">
            <a:extLst>
              <a:ext uri="{FF2B5EF4-FFF2-40B4-BE49-F238E27FC236}">
                <a16:creationId xmlns:a16="http://schemas.microsoft.com/office/drawing/2014/main" id="{E315C4B9-15DC-4B24-9A4A-84BA5D494450}"/>
              </a:ext>
            </a:extLst>
          </p:cNvPr>
          <p:cNvSpPr>
            <a:spLocks noGrp="1"/>
          </p:cNvSpPr>
          <p:nvPr/>
        </p:nvSpPr>
        <p:spPr>
          <a:xfrm>
            <a:off x="7048500" y="2076450"/>
            <a:ext cx="3619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00204A"/>
                </a:solidFill>
                <a:latin typeface="黑体"/>
                <a:ea typeface="黑体"/>
                <a:cs typeface="黑体"/>
              </a:defRPr>
            </a:pPr>
            <a:r>
              <a:rPr>
                <a:latin typeface="黑体"/>
                <a:ea typeface="黑体"/>
                <a:cs typeface="黑体"/>
              </a:rPr>
              <a:t>平方差贡献</a:t>
            </a:r>
          </a:p>
        </p:txBody>
      </p:sp>
      <p:sp>
        <p:nvSpPr>
          <p:cNvPr id="29" name="矩形 28">
            <a:extLst>
              <a:ext uri="{FF2B5EF4-FFF2-40B4-BE49-F238E27FC236}">
                <a16:creationId xmlns:a16="http://schemas.microsoft.com/office/drawing/2014/main" id="{71AB49CD-010E-44ED-B33E-6BCA54BDD97F}"/>
              </a:ext>
            </a:extLst>
          </p:cNvPr>
          <p:cNvSpPr>
            <a:spLocks noGrp="1"/>
          </p:cNvSpPr>
          <p:nvPr/>
        </p:nvSpPr>
        <p:spPr>
          <a:xfrm>
            <a:off x="6705600" y="2762250"/>
            <a:ext cx="13906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Times New Roman"/>
                <a:ea typeface="Times New Roman"/>
                <a:cs typeface="Times New Roman"/>
              </a:rPr>
              <a:t>login_count</a:t>
            </a:r>
          </a:p>
        </p:txBody>
      </p:sp>
      <p:sp>
        <p:nvSpPr>
          <p:cNvPr id="30" name="矩形 29">
            <a:extLst>
              <a:ext uri="{FF2B5EF4-FFF2-40B4-BE49-F238E27FC236}">
                <a16:creationId xmlns:a16="http://schemas.microsoft.com/office/drawing/2014/main" id="{1D3353A2-59DC-4627-81E9-3D827D16DC48}"/>
              </a:ext>
            </a:extLst>
          </p:cNvPr>
          <p:cNvSpPr>
            <a:spLocks noGrp="1"/>
          </p:cNvSpPr>
          <p:nvPr/>
        </p:nvSpPr>
        <p:spPr>
          <a:xfrm>
            <a:off x="8134350" y="2781300"/>
            <a:ext cx="2876550" cy="2476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AF7926A5-4778-4BE3-BA50-5655206E97C3}"/>
              </a:ext>
            </a:extLst>
          </p:cNvPr>
          <p:cNvSpPr>
            <a:spLocks noGrp="1"/>
          </p:cNvSpPr>
          <p:nvPr/>
        </p:nvSpPr>
        <p:spPr>
          <a:xfrm>
            <a:off x="11049000" y="2790825"/>
            <a:ext cx="723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14DA1"/>
                </a:solidFill>
                <a:latin typeface="黑体"/>
                <a:ea typeface="黑体"/>
                <a:cs typeface="黑体"/>
              </a:defRPr>
            </a:pPr>
            <a:r>
              <a:rPr>
                <a:latin typeface="Times New Roman"/>
                <a:ea typeface="Times New Roman"/>
                <a:cs typeface="Times New Roman"/>
              </a:rPr>
              <a:t>100</a:t>
            </a:r>
          </a:p>
        </p:txBody>
      </p:sp>
      <p:sp>
        <p:nvSpPr>
          <p:cNvPr id="32" name="矩形 31">
            <a:extLst>
              <a:ext uri="{FF2B5EF4-FFF2-40B4-BE49-F238E27FC236}">
                <a16:creationId xmlns:a16="http://schemas.microsoft.com/office/drawing/2014/main" id="{8CFC363B-7B99-405F-9356-89924378148E}"/>
              </a:ext>
            </a:extLst>
          </p:cNvPr>
          <p:cNvSpPr>
            <a:spLocks noGrp="1"/>
          </p:cNvSpPr>
          <p:nvPr/>
        </p:nvSpPr>
        <p:spPr>
          <a:xfrm>
            <a:off x="6705600" y="3752850"/>
            <a:ext cx="13906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Times New Roman"/>
                <a:ea typeface="Times New Roman"/>
                <a:cs typeface="Times New Roman"/>
              </a:rPr>
              <a:t>video_rate</a:t>
            </a:r>
          </a:p>
        </p:txBody>
      </p:sp>
      <p:sp>
        <p:nvSpPr>
          <p:cNvPr id="33" name="矩形 32">
            <a:extLst>
              <a:ext uri="{FF2B5EF4-FFF2-40B4-BE49-F238E27FC236}">
                <a16:creationId xmlns:a16="http://schemas.microsoft.com/office/drawing/2014/main" id="{5D861C51-ED0E-4E68-9104-C0E9BAC27111}"/>
              </a:ext>
            </a:extLst>
          </p:cNvPr>
          <p:cNvSpPr>
            <a:spLocks noGrp="1"/>
          </p:cNvSpPr>
          <p:nvPr/>
        </p:nvSpPr>
        <p:spPr>
          <a:xfrm>
            <a:off x="8134350" y="3771900"/>
            <a:ext cx="76200" cy="2476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6EA1EC1E-DBC6-4CAB-B802-78E852C21DD3}"/>
              </a:ext>
            </a:extLst>
          </p:cNvPr>
          <p:cNvSpPr>
            <a:spLocks noGrp="1"/>
          </p:cNvSpPr>
          <p:nvPr/>
        </p:nvSpPr>
        <p:spPr>
          <a:xfrm>
            <a:off x="8248650" y="3781425"/>
            <a:ext cx="723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B4964B"/>
                </a:solidFill>
                <a:latin typeface="黑体"/>
                <a:ea typeface="黑体"/>
                <a:cs typeface="黑体"/>
              </a:defRPr>
            </a:pPr>
            <a:r>
              <a:rPr>
                <a:latin typeface="Times New Roman"/>
                <a:ea typeface="Times New Roman"/>
                <a:cs typeface="Times New Roman"/>
              </a:rPr>
              <a:t>0.01</a:t>
            </a:r>
          </a:p>
        </p:txBody>
      </p:sp>
      <p:sp>
        <p:nvSpPr>
          <p:cNvPr id="35" name="矩形 34">
            <a:extLst>
              <a:ext uri="{FF2B5EF4-FFF2-40B4-BE49-F238E27FC236}">
                <a16:creationId xmlns:a16="http://schemas.microsoft.com/office/drawing/2014/main" id="{D9B83F00-A162-449F-9712-52E1DC535BB0}"/>
              </a:ext>
            </a:extLst>
          </p:cNvPr>
          <p:cNvSpPr>
            <a:spLocks noGrp="1"/>
          </p:cNvSpPr>
          <p:nvPr/>
        </p:nvSpPr>
        <p:spPr>
          <a:xfrm>
            <a:off x="6838950" y="4343400"/>
            <a:ext cx="40767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原始欧氏距离 ≈ √</a:t>
            </a:r>
            <a:r>
              <a:rPr>
                <a:latin typeface="Times New Roman"/>
                <a:ea typeface="Times New Roman"/>
                <a:cs typeface="Times New Roman"/>
              </a:rPr>
              <a:t>100.01 ≈ 10.00</a:t>
            </a:r>
          </a:p>
        </p:txBody>
      </p:sp>
      <p:sp>
        <p:nvSpPr>
          <p:cNvPr id="36" name="矩形 35">
            <a:extLst>
              <a:ext uri="{FF2B5EF4-FFF2-40B4-BE49-F238E27FC236}">
                <a16:creationId xmlns:a16="http://schemas.microsoft.com/office/drawing/2014/main" id="{4EFE0C7F-50A9-4015-B336-DF501B0E7688}"/>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7" name="矩形 36">
            <a:extLst>
              <a:ext uri="{FF2B5EF4-FFF2-40B4-BE49-F238E27FC236}">
                <a16:creationId xmlns:a16="http://schemas.microsoft.com/office/drawing/2014/main" id="{43188718-9D3F-4431-A2C3-BCB93AB38381}"/>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只要算法依赖距离或梯度，缩放就可能改变结果。</a:t>
            </a:r>
          </a:p>
        </p:txBody>
      </p:sp>
    </p:spTree>
    <p:extLst>
      <p:ext uri="{BB962C8B-B14F-4D97-AF65-F5344CB8AC3E}">
        <p14:creationId xmlns:p14="http://schemas.microsoft.com/office/powerpoint/2010/main" val="18697508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A6C40353-4E56-4A96-AD34-4F70472F795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A8F4EF2-0069-49F8-8998-843A9BB64F32}"/>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4DF88201-4E0D-4D00-B647-89654DDFC40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5E79F2A6-C77C-4F02-A78D-0A5D950C8016}"/>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常见数值变换</a:t>
            </a:r>
          </a:p>
        </p:txBody>
      </p:sp>
      <p:sp>
        <p:nvSpPr>
          <p:cNvPr id="5" name="矩形 4">
            <a:extLst>
              <a:ext uri="{FF2B5EF4-FFF2-40B4-BE49-F238E27FC236}">
                <a16:creationId xmlns:a16="http://schemas.microsoft.com/office/drawing/2014/main" id="{27266F8C-45D8-4B9B-91AC-4E7DF3781244}"/>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55/90</a:t>
            </a:r>
          </a:p>
        </p:txBody>
      </p:sp>
      <p:sp>
        <p:nvSpPr>
          <p:cNvPr id="6" name="矩形 5">
            <a:extLst>
              <a:ext uri="{FF2B5EF4-FFF2-40B4-BE49-F238E27FC236}">
                <a16:creationId xmlns:a16="http://schemas.microsoft.com/office/drawing/2014/main" id="{6D30BCE6-955F-41BD-A2E4-A27EB1D746AF}"/>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2405AE43-0172-4D37-A585-35C7F563B84B}"/>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变换</a:t>
            </a:r>
          </a:p>
        </p:txBody>
      </p:sp>
      <p:sp>
        <p:nvSpPr>
          <p:cNvPr id="8" name="矩形 7">
            <a:extLst>
              <a:ext uri="{FF2B5EF4-FFF2-40B4-BE49-F238E27FC236}">
                <a16:creationId xmlns:a16="http://schemas.microsoft.com/office/drawing/2014/main" id="{681FFD00-2090-4FE3-8EC3-311DB1FAF751}"/>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B4ACBA89-DE75-4579-9152-70F5E1B4F5AF}"/>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作用</a:t>
            </a:r>
          </a:p>
        </p:txBody>
      </p:sp>
      <p:sp>
        <p:nvSpPr>
          <p:cNvPr id="10" name="矩形 9">
            <a:extLst>
              <a:ext uri="{FF2B5EF4-FFF2-40B4-BE49-F238E27FC236}">
                <a16:creationId xmlns:a16="http://schemas.microsoft.com/office/drawing/2014/main" id="{1AF6F1B9-CDB6-493E-8549-9C1E6D144D83}"/>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5EF5D181-A946-4946-A5BF-63A952FFCABD}"/>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典型场景</a:t>
            </a:r>
          </a:p>
        </p:txBody>
      </p:sp>
      <p:sp>
        <p:nvSpPr>
          <p:cNvPr id="12" name="矩形 11">
            <a:extLst>
              <a:ext uri="{FF2B5EF4-FFF2-40B4-BE49-F238E27FC236}">
                <a16:creationId xmlns:a16="http://schemas.microsoft.com/office/drawing/2014/main" id="{2B960B18-EE25-4846-A4FD-DFBE4A905D7D}"/>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272D8DC2-5EBA-4AA9-89D5-B390AA63BEF2}"/>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Times New Roman"/>
                <a:ea typeface="Times New Roman"/>
                <a:cs typeface="Times New Roman"/>
              </a:rPr>
              <a:t>log(1 + x)</a:t>
            </a:r>
          </a:p>
        </p:txBody>
      </p:sp>
      <p:sp>
        <p:nvSpPr>
          <p:cNvPr id="14" name="矩形 13">
            <a:extLst>
              <a:ext uri="{FF2B5EF4-FFF2-40B4-BE49-F238E27FC236}">
                <a16:creationId xmlns:a16="http://schemas.microsoft.com/office/drawing/2014/main" id="{5248FDB6-AD5F-4106-BE42-5E2728143B35}"/>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643B49C0-718E-422E-AFB6-869B64A43DB5}"/>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压缩长尾和极端大值</a:t>
            </a:r>
          </a:p>
        </p:txBody>
      </p:sp>
      <p:sp>
        <p:nvSpPr>
          <p:cNvPr id="16" name="矩形 15">
            <a:extLst>
              <a:ext uri="{FF2B5EF4-FFF2-40B4-BE49-F238E27FC236}">
                <a16:creationId xmlns:a16="http://schemas.microsoft.com/office/drawing/2014/main" id="{B10218C6-B2AE-43EE-8C8D-6FB66B5EF6B4}"/>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4AE9DAB0-D6D6-4009-8CB7-9B6A2B5BE2DF}"/>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点击数、时长、交易金额</a:t>
            </a:r>
          </a:p>
        </p:txBody>
      </p:sp>
      <p:sp>
        <p:nvSpPr>
          <p:cNvPr id="18" name="矩形 17">
            <a:extLst>
              <a:ext uri="{FF2B5EF4-FFF2-40B4-BE49-F238E27FC236}">
                <a16:creationId xmlns:a16="http://schemas.microsoft.com/office/drawing/2014/main" id="{BDB0D05B-D0AE-4FD3-AFA5-40DB7F772E6D}"/>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46862722-75F4-4842-B57E-BC914A39EAEE}"/>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平方根</a:t>
            </a:r>
          </a:p>
        </p:txBody>
      </p:sp>
      <p:sp>
        <p:nvSpPr>
          <p:cNvPr id="20" name="矩形 19">
            <a:extLst>
              <a:ext uri="{FF2B5EF4-FFF2-40B4-BE49-F238E27FC236}">
                <a16:creationId xmlns:a16="http://schemas.microsoft.com/office/drawing/2014/main" id="{843F2F63-74D3-450E-A23A-D322E1889F40}"/>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02DF305A-1AAE-4093-845B-46DBABE3F8E8}"/>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温和压缩右偏分布</a:t>
            </a:r>
          </a:p>
        </p:txBody>
      </p:sp>
      <p:sp>
        <p:nvSpPr>
          <p:cNvPr id="22" name="矩形 21">
            <a:extLst>
              <a:ext uri="{FF2B5EF4-FFF2-40B4-BE49-F238E27FC236}">
                <a16:creationId xmlns:a16="http://schemas.microsoft.com/office/drawing/2014/main" id="{F6C1AEDD-2F29-4BA0-8BD9-52E7AFD1BF11}"/>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E4FB7C10-DEC2-456F-B814-10AD77630A6C}"/>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计数数据</a:t>
            </a:r>
          </a:p>
        </p:txBody>
      </p:sp>
      <p:sp>
        <p:nvSpPr>
          <p:cNvPr id="24" name="矩形 23">
            <a:extLst>
              <a:ext uri="{FF2B5EF4-FFF2-40B4-BE49-F238E27FC236}">
                <a16:creationId xmlns:a16="http://schemas.microsoft.com/office/drawing/2014/main" id="{52CDD830-38D2-449B-B7C9-BC57CBE6F46D}"/>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C11A609A-53A6-4285-930E-8857A7201791}"/>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比例</a:t>
            </a:r>
          </a:p>
        </p:txBody>
      </p:sp>
      <p:sp>
        <p:nvSpPr>
          <p:cNvPr id="26" name="矩形 25">
            <a:extLst>
              <a:ext uri="{FF2B5EF4-FFF2-40B4-BE49-F238E27FC236}">
                <a16:creationId xmlns:a16="http://schemas.microsoft.com/office/drawing/2014/main" id="{97EC357B-D65C-4E4F-BB33-9EF8DEA92D1B}"/>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34262F6E-245A-45AF-BC3A-7BE9CB0A3778}"/>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除以可比较的机会数</a:t>
            </a:r>
          </a:p>
        </p:txBody>
      </p:sp>
      <p:sp>
        <p:nvSpPr>
          <p:cNvPr id="28" name="矩形 27">
            <a:extLst>
              <a:ext uri="{FF2B5EF4-FFF2-40B4-BE49-F238E27FC236}">
                <a16:creationId xmlns:a16="http://schemas.microsoft.com/office/drawing/2014/main" id="{2319848A-11AB-4254-B3E8-E218355800CA}"/>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0699B713-D41A-4C78-956A-F657245F3F80}"/>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观看分钟 </a:t>
            </a:r>
            <a:r>
              <a:rPr>
                <a:latin typeface="Times New Roman"/>
                <a:ea typeface="Times New Roman"/>
                <a:cs typeface="Times New Roman"/>
              </a:rPr>
              <a:t>/ </a:t>
            </a:r>
            <a:r>
              <a:rPr>
                <a:latin typeface="黑体"/>
                <a:ea typeface="黑体"/>
                <a:cs typeface="黑体"/>
              </a:rPr>
              <a:t>可用视频分钟</a:t>
            </a:r>
          </a:p>
        </p:txBody>
      </p:sp>
      <p:sp>
        <p:nvSpPr>
          <p:cNvPr id="30" name="矩形 29">
            <a:extLst>
              <a:ext uri="{FF2B5EF4-FFF2-40B4-BE49-F238E27FC236}">
                <a16:creationId xmlns:a16="http://schemas.microsoft.com/office/drawing/2014/main" id="{DD7B8035-CB76-46EB-8A21-21329ABB7FF9}"/>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578F61A4-E257-4EAC-A95E-86931D13470B}"/>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差分</a:t>
            </a:r>
          </a:p>
        </p:txBody>
      </p:sp>
      <p:sp>
        <p:nvSpPr>
          <p:cNvPr id="32" name="矩形 31">
            <a:extLst>
              <a:ext uri="{FF2B5EF4-FFF2-40B4-BE49-F238E27FC236}">
                <a16:creationId xmlns:a16="http://schemas.microsoft.com/office/drawing/2014/main" id="{4B374DC2-1F44-4D72-9462-B8AA50B4815A}"/>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BFDF5046-7256-4484-BCBE-963112AFD7DF}"/>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关注相邻时间点变化</a:t>
            </a:r>
          </a:p>
        </p:txBody>
      </p:sp>
      <p:sp>
        <p:nvSpPr>
          <p:cNvPr id="34" name="矩形 33">
            <a:extLst>
              <a:ext uri="{FF2B5EF4-FFF2-40B4-BE49-F238E27FC236}">
                <a16:creationId xmlns:a16="http://schemas.microsoft.com/office/drawing/2014/main" id="{668B27BF-99A5-4250-A471-0AB37232CD20}"/>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008953E1-EF5D-471A-8634-B72608A8594D}"/>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本周登录 </a:t>
            </a:r>
            <a:r>
              <a:rPr>
                <a:latin typeface="Times New Roman"/>
                <a:ea typeface="Times New Roman"/>
                <a:cs typeface="Times New Roman"/>
              </a:rPr>
              <a:t>− </a:t>
            </a:r>
            <a:r>
              <a:rPr>
                <a:latin typeface="黑体"/>
                <a:ea typeface="黑体"/>
                <a:cs typeface="黑体"/>
              </a:rPr>
              <a:t>上周登录</a:t>
            </a:r>
          </a:p>
        </p:txBody>
      </p:sp>
      <p:sp>
        <p:nvSpPr>
          <p:cNvPr id="36" name="矩形 35">
            <a:extLst>
              <a:ext uri="{FF2B5EF4-FFF2-40B4-BE49-F238E27FC236}">
                <a16:creationId xmlns:a16="http://schemas.microsoft.com/office/drawing/2014/main" id="{C5E479B2-4854-444D-9F82-961D528E4868}"/>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601B8298-EEA1-4019-98EA-9300A9EADF0E}"/>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移动平均</a:t>
            </a:r>
          </a:p>
        </p:txBody>
      </p:sp>
      <p:sp>
        <p:nvSpPr>
          <p:cNvPr id="38" name="矩形 37">
            <a:extLst>
              <a:ext uri="{FF2B5EF4-FFF2-40B4-BE49-F238E27FC236}">
                <a16:creationId xmlns:a16="http://schemas.microsoft.com/office/drawing/2014/main" id="{1FEBDC97-924A-4F59-912A-B56529EE5AB9}"/>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D317E79F-A489-4598-A593-5663B233A9B2}"/>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降低短期波动</a:t>
            </a:r>
          </a:p>
        </p:txBody>
      </p:sp>
      <p:sp>
        <p:nvSpPr>
          <p:cNvPr id="40" name="矩形 39">
            <a:extLst>
              <a:ext uri="{FF2B5EF4-FFF2-40B4-BE49-F238E27FC236}">
                <a16:creationId xmlns:a16="http://schemas.microsoft.com/office/drawing/2014/main" id="{18527411-AAFC-44A4-8F54-205E65D86B55}"/>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E1F6DC67-76E3-4CEF-A47D-CA2365958FBA}"/>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连续多周活跃趋势</a:t>
            </a:r>
          </a:p>
        </p:txBody>
      </p:sp>
      <p:sp>
        <p:nvSpPr>
          <p:cNvPr id="42" name="矩形 41">
            <a:extLst>
              <a:ext uri="{FF2B5EF4-FFF2-40B4-BE49-F238E27FC236}">
                <a16:creationId xmlns:a16="http://schemas.microsoft.com/office/drawing/2014/main" id="{3ADC9550-F29D-480C-A5E6-D76C2049D11E}"/>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F4078934-4EF2-43F1-9B54-C11C66F81C79}"/>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变换不仅改变分布，也重新定义了特征表达的问题。</a:t>
            </a:r>
          </a:p>
        </p:txBody>
      </p:sp>
    </p:spTree>
    <p:extLst>
      <p:ext uri="{BB962C8B-B14F-4D97-AF65-F5344CB8AC3E}">
        <p14:creationId xmlns:p14="http://schemas.microsoft.com/office/powerpoint/2010/main" val="16505233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矩形 120">
            <a:extLst>
              <a:ext uri="{FF2B5EF4-FFF2-40B4-BE49-F238E27FC236}">
                <a16:creationId xmlns:a16="http://schemas.microsoft.com/office/drawing/2014/main" id="{270F4E19-99E3-4C95-B679-8D5A7111784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51CD373-7CD3-4A09-A177-5134C445EF40}"/>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98C5E8D-188E-4BE0-AC50-68EB813C2BE6}"/>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2BA4B676-A6BC-47B2-A8C9-AED24441BFEE}"/>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抽样要保留目标群体结构</a:t>
            </a:r>
          </a:p>
        </p:txBody>
      </p:sp>
      <p:sp>
        <p:nvSpPr>
          <p:cNvPr id="5" name="矩形 4">
            <a:extLst>
              <a:ext uri="{FF2B5EF4-FFF2-40B4-BE49-F238E27FC236}">
                <a16:creationId xmlns:a16="http://schemas.microsoft.com/office/drawing/2014/main" id="{91024B5E-8CFC-4D71-9B6F-486D90115825}"/>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56/90</a:t>
            </a:r>
          </a:p>
        </p:txBody>
      </p:sp>
      <p:sp>
        <p:nvSpPr>
          <p:cNvPr id="6" name="矩形 5">
            <a:extLst>
              <a:ext uri="{FF2B5EF4-FFF2-40B4-BE49-F238E27FC236}">
                <a16:creationId xmlns:a16="http://schemas.microsoft.com/office/drawing/2014/main" id="{F8862120-A639-4A51-8ACC-1114C0BE4996}"/>
              </a:ext>
            </a:extLst>
          </p:cNvPr>
          <p:cNvSpPr>
            <a:spLocks noGrp="1"/>
          </p:cNvSpPr>
          <p:nvPr/>
        </p:nvSpPr>
        <p:spPr>
          <a:xfrm>
            <a:off x="704850" y="1257300"/>
            <a:ext cx="4762500" cy="4000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C7324833-8D97-4690-AB20-14562EF92CFA}"/>
              </a:ext>
            </a:extLst>
          </p:cNvPr>
          <p:cNvSpPr>
            <a:spLocks noGrp="1"/>
          </p:cNvSpPr>
          <p:nvPr/>
        </p:nvSpPr>
        <p:spPr>
          <a:xfrm>
            <a:off x="933450" y="1485900"/>
            <a:ext cx="43053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0204A"/>
                </a:solidFill>
                <a:latin typeface="黑体"/>
                <a:ea typeface="黑体"/>
                <a:cs typeface="黑体"/>
              </a:defRPr>
            </a:pPr>
            <a:r>
              <a:rPr>
                <a:latin typeface="黑体"/>
                <a:ea typeface="黑体"/>
                <a:cs typeface="黑体"/>
              </a:rPr>
              <a:t>原始总体：</a:t>
            </a:r>
            <a:r>
              <a:rPr>
                <a:latin typeface="Times New Roman"/>
                <a:ea typeface="Times New Roman"/>
                <a:cs typeface="Times New Roman"/>
              </a:rPr>
              <a:t>95% </a:t>
            </a:r>
            <a:r>
              <a:rPr>
                <a:latin typeface="黑体"/>
                <a:ea typeface="黑体"/>
                <a:cs typeface="黑体"/>
              </a:rPr>
              <a:t>未退课，</a:t>
            </a:r>
            <a:r>
              <a:rPr>
                <a:latin typeface="Times New Roman"/>
                <a:ea typeface="Times New Roman"/>
                <a:cs typeface="Times New Roman"/>
              </a:rPr>
              <a:t>5% </a:t>
            </a:r>
            <a:r>
              <a:rPr>
                <a:latin typeface="黑体"/>
                <a:ea typeface="黑体"/>
                <a:cs typeface="黑体"/>
              </a:rPr>
              <a:t>退课</a:t>
            </a:r>
          </a:p>
        </p:txBody>
      </p:sp>
      <p:sp>
        <p:nvSpPr>
          <p:cNvPr id="8" name="椭圆 7">
            <a:extLst>
              <a:ext uri="{FF2B5EF4-FFF2-40B4-BE49-F238E27FC236}">
                <a16:creationId xmlns:a16="http://schemas.microsoft.com/office/drawing/2014/main" id="{8B1A6B19-1452-4BD9-BED8-D9B193D0157A}"/>
              </a:ext>
            </a:extLst>
          </p:cNvPr>
          <p:cNvSpPr>
            <a:spLocks noGrp="1"/>
          </p:cNvSpPr>
          <p:nvPr/>
        </p:nvSpPr>
        <p:spPr>
          <a:xfrm>
            <a:off x="13716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 name="椭圆 8">
            <a:extLst>
              <a:ext uri="{FF2B5EF4-FFF2-40B4-BE49-F238E27FC236}">
                <a16:creationId xmlns:a16="http://schemas.microsoft.com/office/drawing/2014/main" id="{7C13D107-1D80-4397-85F0-FD609D2BDF3B}"/>
              </a:ext>
            </a:extLst>
          </p:cNvPr>
          <p:cNvSpPr>
            <a:spLocks noGrp="1"/>
          </p:cNvSpPr>
          <p:nvPr/>
        </p:nvSpPr>
        <p:spPr>
          <a:xfrm>
            <a:off x="17145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0" name="椭圆 9">
            <a:extLst>
              <a:ext uri="{FF2B5EF4-FFF2-40B4-BE49-F238E27FC236}">
                <a16:creationId xmlns:a16="http://schemas.microsoft.com/office/drawing/2014/main" id="{21209AFD-147B-48F2-8B30-B0E1BB604467}"/>
              </a:ext>
            </a:extLst>
          </p:cNvPr>
          <p:cNvSpPr>
            <a:spLocks noGrp="1"/>
          </p:cNvSpPr>
          <p:nvPr/>
        </p:nvSpPr>
        <p:spPr>
          <a:xfrm>
            <a:off x="20574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1" name="椭圆 10">
            <a:extLst>
              <a:ext uri="{FF2B5EF4-FFF2-40B4-BE49-F238E27FC236}">
                <a16:creationId xmlns:a16="http://schemas.microsoft.com/office/drawing/2014/main" id="{F2BEEB15-7726-4D39-8DF9-8FAA7EAAEE2F}"/>
              </a:ext>
            </a:extLst>
          </p:cNvPr>
          <p:cNvSpPr>
            <a:spLocks noGrp="1"/>
          </p:cNvSpPr>
          <p:nvPr/>
        </p:nvSpPr>
        <p:spPr>
          <a:xfrm>
            <a:off x="24003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2" name="椭圆 11">
            <a:extLst>
              <a:ext uri="{FF2B5EF4-FFF2-40B4-BE49-F238E27FC236}">
                <a16:creationId xmlns:a16="http://schemas.microsoft.com/office/drawing/2014/main" id="{D77D3C86-5B6E-420D-8A58-C1C5E1413C96}"/>
              </a:ext>
            </a:extLst>
          </p:cNvPr>
          <p:cNvSpPr>
            <a:spLocks noGrp="1"/>
          </p:cNvSpPr>
          <p:nvPr/>
        </p:nvSpPr>
        <p:spPr>
          <a:xfrm>
            <a:off x="27432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3" name="椭圆 12">
            <a:extLst>
              <a:ext uri="{FF2B5EF4-FFF2-40B4-BE49-F238E27FC236}">
                <a16:creationId xmlns:a16="http://schemas.microsoft.com/office/drawing/2014/main" id="{DF45A10A-36FA-49FE-BEF1-11E0ABDBF606}"/>
              </a:ext>
            </a:extLst>
          </p:cNvPr>
          <p:cNvSpPr>
            <a:spLocks noGrp="1"/>
          </p:cNvSpPr>
          <p:nvPr/>
        </p:nvSpPr>
        <p:spPr>
          <a:xfrm>
            <a:off x="30861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4" name="椭圆 13">
            <a:extLst>
              <a:ext uri="{FF2B5EF4-FFF2-40B4-BE49-F238E27FC236}">
                <a16:creationId xmlns:a16="http://schemas.microsoft.com/office/drawing/2014/main" id="{ED726C8B-F9C0-417A-BEE0-FFAF15674619}"/>
              </a:ext>
            </a:extLst>
          </p:cNvPr>
          <p:cNvSpPr>
            <a:spLocks noGrp="1"/>
          </p:cNvSpPr>
          <p:nvPr/>
        </p:nvSpPr>
        <p:spPr>
          <a:xfrm>
            <a:off x="34290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5" name="椭圆 14">
            <a:extLst>
              <a:ext uri="{FF2B5EF4-FFF2-40B4-BE49-F238E27FC236}">
                <a16:creationId xmlns:a16="http://schemas.microsoft.com/office/drawing/2014/main" id="{BBF93FA5-4E6E-48BA-AFF1-72D78AA682A5}"/>
              </a:ext>
            </a:extLst>
          </p:cNvPr>
          <p:cNvSpPr>
            <a:spLocks noGrp="1"/>
          </p:cNvSpPr>
          <p:nvPr/>
        </p:nvSpPr>
        <p:spPr>
          <a:xfrm>
            <a:off x="37719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6" name="椭圆 15">
            <a:extLst>
              <a:ext uri="{FF2B5EF4-FFF2-40B4-BE49-F238E27FC236}">
                <a16:creationId xmlns:a16="http://schemas.microsoft.com/office/drawing/2014/main" id="{734DCB75-AD75-4A7B-BC60-D642C7DBDE65}"/>
              </a:ext>
            </a:extLst>
          </p:cNvPr>
          <p:cNvSpPr>
            <a:spLocks noGrp="1"/>
          </p:cNvSpPr>
          <p:nvPr/>
        </p:nvSpPr>
        <p:spPr>
          <a:xfrm>
            <a:off x="41148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7" name="椭圆 16">
            <a:extLst>
              <a:ext uri="{FF2B5EF4-FFF2-40B4-BE49-F238E27FC236}">
                <a16:creationId xmlns:a16="http://schemas.microsoft.com/office/drawing/2014/main" id="{6749195B-DB54-47BC-AFDC-E5DB9D7D932C}"/>
              </a:ext>
            </a:extLst>
          </p:cNvPr>
          <p:cNvSpPr>
            <a:spLocks noGrp="1"/>
          </p:cNvSpPr>
          <p:nvPr/>
        </p:nvSpPr>
        <p:spPr>
          <a:xfrm>
            <a:off x="4457700" y="20574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8" name="椭圆 17">
            <a:extLst>
              <a:ext uri="{FF2B5EF4-FFF2-40B4-BE49-F238E27FC236}">
                <a16:creationId xmlns:a16="http://schemas.microsoft.com/office/drawing/2014/main" id="{8A68FA4C-99CE-4778-8FC2-C3AC2FC7EA46}"/>
              </a:ext>
            </a:extLst>
          </p:cNvPr>
          <p:cNvSpPr>
            <a:spLocks noGrp="1"/>
          </p:cNvSpPr>
          <p:nvPr/>
        </p:nvSpPr>
        <p:spPr>
          <a:xfrm>
            <a:off x="13716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9" name="椭圆 18">
            <a:extLst>
              <a:ext uri="{FF2B5EF4-FFF2-40B4-BE49-F238E27FC236}">
                <a16:creationId xmlns:a16="http://schemas.microsoft.com/office/drawing/2014/main" id="{DE8547E0-F01B-49E9-999B-0DE7026E2EB0}"/>
              </a:ext>
            </a:extLst>
          </p:cNvPr>
          <p:cNvSpPr>
            <a:spLocks noGrp="1"/>
          </p:cNvSpPr>
          <p:nvPr/>
        </p:nvSpPr>
        <p:spPr>
          <a:xfrm>
            <a:off x="17145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0" name="椭圆 19">
            <a:extLst>
              <a:ext uri="{FF2B5EF4-FFF2-40B4-BE49-F238E27FC236}">
                <a16:creationId xmlns:a16="http://schemas.microsoft.com/office/drawing/2014/main" id="{417EF8C0-DBAE-4FB5-A865-1D7732111EBD}"/>
              </a:ext>
            </a:extLst>
          </p:cNvPr>
          <p:cNvSpPr>
            <a:spLocks noGrp="1"/>
          </p:cNvSpPr>
          <p:nvPr/>
        </p:nvSpPr>
        <p:spPr>
          <a:xfrm>
            <a:off x="20574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1" name="椭圆 20">
            <a:extLst>
              <a:ext uri="{FF2B5EF4-FFF2-40B4-BE49-F238E27FC236}">
                <a16:creationId xmlns:a16="http://schemas.microsoft.com/office/drawing/2014/main" id="{75E52D5D-D557-489D-98C1-55BEE3194FD6}"/>
              </a:ext>
            </a:extLst>
          </p:cNvPr>
          <p:cNvSpPr>
            <a:spLocks noGrp="1"/>
          </p:cNvSpPr>
          <p:nvPr/>
        </p:nvSpPr>
        <p:spPr>
          <a:xfrm>
            <a:off x="24003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2" name="椭圆 21">
            <a:extLst>
              <a:ext uri="{FF2B5EF4-FFF2-40B4-BE49-F238E27FC236}">
                <a16:creationId xmlns:a16="http://schemas.microsoft.com/office/drawing/2014/main" id="{B85D8C49-18B7-4C48-A1C0-C8BFD6CF0FF7}"/>
              </a:ext>
            </a:extLst>
          </p:cNvPr>
          <p:cNvSpPr>
            <a:spLocks noGrp="1"/>
          </p:cNvSpPr>
          <p:nvPr/>
        </p:nvSpPr>
        <p:spPr>
          <a:xfrm>
            <a:off x="27432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3" name="椭圆 22">
            <a:extLst>
              <a:ext uri="{FF2B5EF4-FFF2-40B4-BE49-F238E27FC236}">
                <a16:creationId xmlns:a16="http://schemas.microsoft.com/office/drawing/2014/main" id="{A96A4CDD-1598-4BC3-AB9E-1E990D2EC075}"/>
              </a:ext>
            </a:extLst>
          </p:cNvPr>
          <p:cNvSpPr>
            <a:spLocks noGrp="1"/>
          </p:cNvSpPr>
          <p:nvPr/>
        </p:nvSpPr>
        <p:spPr>
          <a:xfrm>
            <a:off x="30861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4" name="椭圆 23">
            <a:extLst>
              <a:ext uri="{FF2B5EF4-FFF2-40B4-BE49-F238E27FC236}">
                <a16:creationId xmlns:a16="http://schemas.microsoft.com/office/drawing/2014/main" id="{E650C69D-FD1E-4A14-BF22-9BA16397C2DB}"/>
              </a:ext>
            </a:extLst>
          </p:cNvPr>
          <p:cNvSpPr>
            <a:spLocks noGrp="1"/>
          </p:cNvSpPr>
          <p:nvPr/>
        </p:nvSpPr>
        <p:spPr>
          <a:xfrm>
            <a:off x="34290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5" name="椭圆 24">
            <a:extLst>
              <a:ext uri="{FF2B5EF4-FFF2-40B4-BE49-F238E27FC236}">
                <a16:creationId xmlns:a16="http://schemas.microsoft.com/office/drawing/2014/main" id="{565F623A-5181-49E8-B73B-B7E845CB0B1A}"/>
              </a:ext>
            </a:extLst>
          </p:cNvPr>
          <p:cNvSpPr>
            <a:spLocks noGrp="1"/>
          </p:cNvSpPr>
          <p:nvPr/>
        </p:nvSpPr>
        <p:spPr>
          <a:xfrm>
            <a:off x="37719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6" name="椭圆 25">
            <a:extLst>
              <a:ext uri="{FF2B5EF4-FFF2-40B4-BE49-F238E27FC236}">
                <a16:creationId xmlns:a16="http://schemas.microsoft.com/office/drawing/2014/main" id="{3C49FC2B-1430-4BA6-9182-373E0C6A3CEA}"/>
              </a:ext>
            </a:extLst>
          </p:cNvPr>
          <p:cNvSpPr>
            <a:spLocks noGrp="1"/>
          </p:cNvSpPr>
          <p:nvPr/>
        </p:nvSpPr>
        <p:spPr>
          <a:xfrm>
            <a:off x="41148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7" name="椭圆 26">
            <a:extLst>
              <a:ext uri="{FF2B5EF4-FFF2-40B4-BE49-F238E27FC236}">
                <a16:creationId xmlns:a16="http://schemas.microsoft.com/office/drawing/2014/main" id="{B2666FAC-03FC-4DF9-A554-3158724FA971}"/>
              </a:ext>
            </a:extLst>
          </p:cNvPr>
          <p:cNvSpPr>
            <a:spLocks noGrp="1"/>
          </p:cNvSpPr>
          <p:nvPr/>
        </p:nvSpPr>
        <p:spPr>
          <a:xfrm>
            <a:off x="4457700" y="23050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8" name="椭圆 27">
            <a:extLst>
              <a:ext uri="{FF2B5EF4-FFF2-40B4-BE49-F238E27FC236}">
                <a16:creationId xmlns:a16="http://schemas.microsoft.com/office/drawing/2014/main" id="{A8FCD9A9-483B-46E7-9B1E-668488950498}"/>
              </a:ext>
            </a:extLst>
          </p:cNvPr>
          <p:cNvSpPr>
            <a:spLocks noGrp="1"/>
          </p:cNvSpPr>
          <p:nvPr/>
        </p:nvSpPr>
        <p:spPr>
          <a:xfrm>
            <a:off x="13716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29" name="椭圆 28">
            <a:extLst>
              <a:ext uri="{FF2B5EF4-FFF2-40B4-BE49-F238E27FC236}">
                <a16:creationId xmlns:a16="http://schemas.microsoft.com/office/drawing/2014/main" id="{4084F577-9E42-4759-A87B-644257130332}"/>
              </a:ext>
            </a:extLst>
          </p:cNvPr>
          <p:cNvSpPr>
            <a:spLocks noGrp="1"/>
          </p:cNvSpPr>
          <p:nvPr/>
        </p:nvSpPr>
        <p:spPr>
          <a:xfrm>
            <a:off x="17145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0" name="椭圆 29">
            <a:extLst>
              <a:ext uri="{FF2B5EF4-FFF2-40B4-BE49-F238E27FC236}">
                <a16:creationId xmlns:a16="http://schemas.microsoft.com/office/drawing/2014/main" id="{9550E485-116F-4C54-BF9E-33E71B59BFD0}"/>
              </a:ext>
            </a:extLst>
          </p:cNvPr>
          <p:cNvSpPr>
            <a:spLocks noGrp="1"/>
          </p:cNvSpPr>
          <p:nvPr/>
        </p:nvSpPr>
        <p:spPr>
          <a:xfrm>
            <a:off x="20574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1" name="椭圆 30">
            <a:extLst>
              <a:ext uri="{FF2B5EF4-FFF2-40B4-BE49-F238E27FC236}">
                <a16:creationId xmlns:a16="http://schemas.microsoft.com/office/drawing/2014/main" id="{65E49FD0-2C84-4B5A-BF66-71FBC808E623}"/>
              </a:ext>
            </a:extLst>
          </p:cNvPr>
          <p:cNvSpPr>
            <a:spLocks noGrp="1"/>
          </p:cNvSpPr>
          <p:nvPr/>
        </p:nvSpPr>
        <p:spPr>
          <a:xfrm>
            <a:off x="24003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2" name="椭圆 31">
            <a:extLst>
              <a:ext uri="{FF2B5EF4-FFF2-40B4-BE49-F238E27FC236}">
                <a16:creationId xmlns:a16="http://schemas.microsoft.com/office/drawing/2014/main" id="{5461AFB3-E43A-4646-9DE0-1FCE200C684B}"/>
              </a:ext>
            </a:extLst>
          </p:cNvPr>
          <p:cNvSpPr>
            <a:spLocks noGrp="1"/>
          </p:cNvSpPr>
          <p:nvPr/>
        </p:nvSpPr>
        <p:spPr>
          <a:xfrm>
            <a:off x="27432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3" name="椭圆 32">
            <a:extLst>
              <a:ext uri="{FF2B5EF4-FFF2-40B4-BE49-F238E27FC236}">
                <a16:creationId xmlns:a16="http://schemas.microsoft.com/office/drawing/2014/main" id="{45404864-41AB-454C-BFCF-9EE0A7D65712}"/>
              </a:ext>
            </a:extLst>
          </p:cNvPr>
          <p:cNvSpPr>
            <a:spLocks noGrp="1"/>
          </p:cNvSpPr>
          <p:nvPr/>
        </p:nvSpPr>
        <p:spPr>
          <a:xfrm>
            <a:off x="30861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4" name="椭圆 33">
            <a:extLst>
              <a:ext uri="{FF2B5EF4-FFF2-40B4-BE49-F238E27FC236}">
                <a16:creationId xmlns:a16="http://schemas.microsoft.com/office/drawing/2014/main" id="{C09CD82B-CFB3-43A3-A493-1D1B6D910CDB}"/>
              </a:ext>
            </a:extLst>
          </p:cNvPr>
          <p:cNvSpPr>
            <a:spLocks noGrp="1"/>
          </p:cNvSpPr>
          <p:nvPr/>
        </p:nvSpPr>
        <p:spPr>
          <a:xfrm>
            <a:off x="34290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5" name="椭圆 34">
            <a:extLst>
              <a:ext uri="{FF2B5EF4-FFF2-40B4-BE49-F238E27FC236}">
                <a16:creationId xmlns:a16="http://schemas.microsoft.com/office/drawing/2014/main" id="{281BE053-C74D-4846-9BFE-FE4F32A06FE9}"/>
              </a:ext>
            </a:extLst>
          </p:cNvPr>
          <p:cNvSpPr>
            <a:spLocks noGrp="1"/>
          </p:cNvSpPr>
          <p:nvPr/>
        </p:nvSpPr>
        <p:spPr>
          <a:xfrm>
            <a:off x="37719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6" name="椭圆 35">
            <a:extLst>
              <a:ext uri="{FF2B5EF4-FFF2-40B4-BE49-F238E27FC236}">
                <a16:creationId xmlns:a16="http://schemas.microsoft.com/office/drawing/2014/main" id="{3643C2B9-CDB4-4251-B1DB-D196165FA354}"/>
              </a:ext>
            </a:extLst>
          </p:cNvPr>
          <p:cNvSpPr>
            <a:spLocks noGrp="1"/>
          </p:cNvSpPr>
          <p:nvPr/>
        </p:nvSpPr>
        <p:spPr>
          <a:xfrm>
            <a:off x="41148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7" name="椭圆 36">
            <a:extLst>
              <a:ext uri="{FF2B5EF4-FFF2-40B4-BE49-F238E27FC236}">
                <a16:creationId xmlns:a16="http://schemas.microsoft.com/office/drawing/2014/main" id="{8E03E522-21E5-43F6-B8F7-E897BFCD8690}"/>
              </a:ext>
            </a:extLst>
          </p:cNvPr>
          <p:cNvSpPr>
            <a:spLocks noGrp="1"/>
          </p:cNvSpPr>
          <p:nvPr/>
        </p:nvSpPr>
        <p:spPr>
          <a:xfrm>
            <a:off x="4457700" y="25527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8" name="椭圆 37">
            <a:extLst>
              <a:ext uri="{FF2B5EF4-FFF2-40B4-BE49-F238E27FC236}">
                <a16:creationId xmlns:a16="http://schemas.microsoft.com/office/drawing/2014/main" id="{343E294E-E46D-4CBA-B873-1975D83D9B01}"/>
              </a:ext>
            </a:extLst>
          </p:cNvPr>
          <p:cNvSpPr>
            <a:spLocks noGrp="1"/>
          </p:cNvSpPr>
          <p:nvPr/>
        </p:nvSpPr>
        <p:spPr>
          <a:xfrm>
            <a:off x="13716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39" name="椭圆 38">
            <a:extLst>
              <a:ext uri="{FF2B5EF4-FFF2-40B4-BE49-F238E27FC236}">
                <a16:creationId xmlns:a16="http://schemas.microsoft.com/office/drawing/2014/main" id="{B463D678-3F07-406E-8039-7EB22FE525EC}"/>
              </a:ext>
            </a:extLst>
          </p:cNvPr>
          <p:cNvSpPr>
            <a:spLocks noGrp="1"/>
          </p:cNvSpPr>
          <p:nvPr/>
        </p:nvSpPr>
        <p:spPr>
          <a:xfrm>
            <a:off x="17145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0" name="椭圆 39">
            <a:extLst>
              <a:ext uri="{FF2B5EF4-FFF2-40B4-BE49-F238E27FC236}">
                <a16:creationId xmlns:a16="http://schemas.microsoft.com/office/drawing/2014/main" id="{165798D3-99EC-4C53-85D7-159A89389CB8}"/>
              </a:ext>
            </a:extLst>
          </p:cNvPr>
          <p:cNvSpPr>
            <a:spLocks noGrp="1"/>
          </p:cNvSpPr>
          <p:nvPr/>
        </p:nvSpPr>
        <p:spPr>
          <a:xfrm>
            <a:off x="20574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1" name="椭圆 40">
            <a:extLst>
              <a:ext uri="{FF2B5EF4-FFF2-40B4-BE49-F238E27FC236}">
                <a16:creationId xmlns:a16="http://schemas.microsoft.com/office/drawing/2014/main" id="{DE0521D3-0D4F-45A4-A8E9-FE78DF8AADB6}"/>
              </a:ext>
            </a:extLst>
          </p:cNvPr>
          <p:cNvSpPr>
            <a:spLocks noGrp="1"/>
          </p:cNvSpPr>
          <p:nvPr/>
        </p:nvSpPr>
        <p:spPr>
          <a:xfrm>
            <a:off x="24003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38EDC6D6-0E4E-46D5-A304-12C513F8CA2F}"/>
              </a:ext>
            </a:extLst>
          </p:cNvPr>
          <p:cNvSpPr>
            <a:spLocks noGrp="1"/>
          </p:cNvSpPr>
          <p:nvPr/>
        </p:nvSpPr>
        <p:spPr>
          <a:xfrm>
            <a:off x="27432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3CC58373-1706-4D44-BF42-00837EB9891A}"/>
              </a:ext>
            </a:extLst>
          </p:cNvPr>
          <p:cNvSpPr>
            <a:spLocks noGrp="1"/>
          </p:cNvSpPr>
          <p:nvPr/>
        </p:nvSpPr>
        <p:spPr>
          <a:xfrm>
            <a:off x="30861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093E10BA-3E1E-470A-A30F-4999D9ED5DCC}"/>
              </a:ext>
            </a:extLst>
          </p:cNvPr>
          <p:cNvSpPr>
            <a:spLocks noGrp="1"/>
          </p:cNvSpPr>
          <p:nvPr/>
        </p:nvSpPr>
        <p:spPr>
          <a:xfrm>
            <a:off x="34290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3CE9A8D6-FA04-485D-9A71-BF16CE14B4F4}"/>
              </a:ext>
            </a:extLst>
          </p:cNvPr>
          <p:cNvSpPr>
            <a:spLocks noGrp="1"/>
          </p:cNvSpPr>
          <p:nvPr/>
        </p:nvSpPr>
        <p:spPr>
          <a:xfrm>
            <a:off x="37719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13CB2C8C-4198-4517-A4D5-B1D5FC23302B}"/>
              </a:ext>
            </a:extLst>
          </p:cNvPr>
          <p:cNvSpPr>
            <a:spLocks noGrp="1"/>
          </p:cNvSpPr>
          <p:nvPr/>
        </p:nvSpPr>
        <p:spPr>
          <a:xfrm>
            <a:off x="41148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700B9C30-DDE9-4F87-9042-A87FD65D9E0C}"/>
              </a:ext>
            </a:extLst>
          </p:cNvPr>
          <p:cNvSpPr>
            <a:spLocks noGrp="1"/>
          </p:cNvSpPr>
          <p:nvPr/>
        </p:nvSpPr>
        <p:spPr>
          <a:xfrm>
            <a:off x="4457700" y="28003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45FC8714-8CBB-4BD3-9412-69B9519987D3}"/>
              </a:ext>
            </a:extLst>
          </p:cNvPr>
          <p:cNvSpPr>
            <a:spLocks noGrp="1"/>
          </p:cNvSpPr>
          <p:nvPr/>
        </p:nvSpPr>
        <p:spPr>
          <a:xfrm>
            <a:off x="13716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581330E2-608D-4AE0-9C3B-89985A5E34A9}"/>
              </a:ext>
            </a:extLst>
          </p:cNvPr>
          <p:cNvSpPr>
            <a:spLocks noGrp="1"/>
          </p:cNvSpPr>
          <p:nvPr/>
        </p:nvSpPr>
        <p:spPr>
          <a:xfrm>
            <a:off x="17145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EB31DE4C-4D85-4960-9ED2-3AA792B959F4}"/>
              </a:ext>
            </a:extLst>
          </p:cNvPr>
          <p:cNvSpPr>
            <a:spLocks noGrp="1"/>
          </p:cNvSpPr>
          <p:nvPr/>
        </p:nvSpPr>
        <p:spPr>
          <a:xfrm>
            <a:off x="20574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0C9FA71D-64CA-4063-877C-2B526707AA9B}"/>
              </a:ext>
            </a:extLst>
          </p:cNvPr>
          <p:cNvSpPr>
            <a:spLocks noGrp="1"/>
          </p:cNvSpPr>
          <p:nvPr/>
        </p:nvSpPr>
        <p:spPr>
          <a:xfrm>
            <a:off x="24003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CAFB49B1-A715-4B29-9028-6A81656AD790}"/>
              </a:ext>
            </a:extLst>
          </p:cNvPr>
          <p:cNvSpPr>
            <a:spLocks noGrp="1"/>
          </p:cNvSpPr>
          <p:nvPr/>
        </p:nvSpPr>
        <p:spPr>
          <a:xfrm>
            <a:off x="27432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10E5E3FD-201C-4417-AE3E-A69EFC971A29}"/>
              </a:ext>
            </a:extLst>
          </p:cNvPr>
          <p:cNvSpPr>
            <a:spLocks noGrp="1"/>
          </p:cNvSpPr>
          <p:nvPr/>
        </p:nvSpPr>
        <p:spPr>
          <a:xfrm>
            <a:off x="30861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9F9927E1-F2C8-4B7B-8400-30572A516E7B}"/>
              </a:ext>
            </a:extLst>
          </p:cNvPr>
          <p:cNvSpPr>
            <a:spLocks noGrp="1"/>
          </p:cNvSpPr>
          <p:nvPr/>
        </p:nvSpPr>
        <p:spPr>
          <a:xfrm>
            <a:off x="34290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5BFF167A-CB27-456F-9EFE-FB873944351A}"/>
              </a:ext>
            </a:extLst>
          </p:cNvPr>
          <p:cNvSpPr>
            <a:spLocks noGrp="1"/>
          </p:cNvSpPr>
          <p:nvPr/>
        </p:nvSpPr>
        <p:spPr>
          <a:xfrm>
            <a:off x="37719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242B2F9B-C548-4B5A-A1D5-1AF844ACACFD}"/>
              </a:ext>
            </a:extLst>
          </p:cNvPr>
          <p:cNvSpPr>
            <a:spLocks noGrp="1"/>
          </p:cNvSpPr>
          <p:nvPr/>
        </p:nvSpPr>
        <p:spPr>
          <a:xfrm>
            <a:off x="41148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B1254B19-43E6-460F-86AA-BD102BC699FC}"/>
              </a:ext>
            </a:extLst>
          </p:cNvPr>
          <p:cNvSpPr>
            <a:spLocks noGrp="1"/>
          </p:cNvSpPr>
          <p:nvPr/>
        </p:nvSpPr>
        <p:spPr>
          <a:xfrm>
            <a:off x="4457700" y="30480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BDF66C19-49F6-4FC6-A0C2-D5A02BEDEF1D}"/>
              </a:ext>
            </a:extLst>
          </p:cNvPr>
          <p:cNvSpPr>
            <a:spLocks noGrp="1"/>
          </p:cNvSpPr>
          <p:nvPr/>
        </p:nvSpPr>
        <p:spPr>
          <a:xfrm>
            <a:off x="13716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4887750B-BFDF-4904-BB6D-C0FF76CD8D09}"/>
              </a:ext>
            </a:extLst>
          </p:cNvPr>
          <p:cNvSpPr>
            <a:spLocks noGrp="1"/>
          </p:cNvSpPr>
          <p:nvPr/>
        </p:nvSpPr>
        <p:spPr>
          <a:xfrm>
            <a:off x="17145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5D80D0D8-EDCC-4C24-A003-438CB1DAF37F}"/>
              </a:ext>
            </a:extLst>
          </p:cNvPr>
          <p:cNvSpPr>
            <a:spLocks noGrp="1"/>
          </p:cNvSpPr>
          <p:nvPr/>
        </p:nvSpPr>
        <p:spPr>
          <a:xfrm>
            <a:off x="20574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C08C1B3E-7220-4B74-A2EF-E34E6156141A}"/>
              </a:ext>
            </a:extLst>
          </p:cNvPr>
          <p:cNvSpPr>
            <a:spLocks noGrp="1"/>
          </p:cNvSpPr>
          <p:nvPr/>
        </p:nvSpPr>
        <p:spPr>
          <a:xfrm>
            <a:off x="24003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CCC09A58-EBAC-43EA-AAE0-97037B702999}"/>
              </a:ext>
            </a:extLst>
          </p:cNvPr>
          <p:cNvSpPr>
            <a:spLocks noGrp="1"/>
          </p:cNvSpPr>
          <p:nvPr/>
        </p:nvSpPr>
        <p:spPr>
          <a:xfrm>
            <a:off x="27432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F923860D-927A-4B3E-961A-34C4A50C3608}"/>
              </a:ext>
            </a:extLst>
          </p:cNvPr>
          <p:cNvSpPr>
            <a:spLocks noGrp="1"/>
          </p:cNvSpPr>
          <p:nvPr/>
        </p:nvSpPr>
        <p:spPr>
          <a:xfrm>
            <a:off x="30861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349F3663-3D31-4160-8B15-FCEA6D54E26A}"/>
              </a:ext>
            </a:extLst>
          </p:cNvPr>
          <p:cNvSpPr>
            <a:spLocks noGrp="1"/>
          </p:cNvSpPr>
          <p:nvPr/>
        </p:nvSpPr>
        <p:spPr>
          <a:xfrm>
            <a:off x="34290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D9BE6384-5E3A-44BE-91B5-14BD25B400DA}"/>
              </a:ext>
            </a:extLst>
          </p:cNvPr>
          <p:cNvSpPr>
            <a:spLocks noGrp="1"/>
          </p:cNvSpPr>
          <p:nvPr/>
        </p:nvSpPr>
        <p:spPr>
          <a:xfrm>
            <a:off x="37719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D3C5988A-5807-4DD9-8F97-912FFC155D70}"/>
              </a:ext>
            </a:extLst>
          </p:cNvPr>
          <p:cNvSpPr>
            <a:spLocks noGrp="1"/>
          </p:cNvSpPr>
          <p:nvPr/>
        </p:nvSpPr>
        <p:spPr>
          <a:xfrm>
            <a:off x="41148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FA46C3CA-86C5-407A-B486-1DC4365D0C15}"/>
              </a:ext>
            </a:extLst>
          </p:cNvPr>
          <p:cNvSpPr>
            <a:spLocks noGrp="1"/>
          </p:cNvSpPr>
          <p:nvPr/>
        </p:nvSpPr>
        <p:spPr>
          <a:xfrm>
            <a:off x="4457700" y="32956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F76D85BE-C26C-44C0-AB59-354DF02B034A}"/>
              </a:ext>
            </a:extLst>
          </p:cNvPr>
          <p:cNvSpPr>
            <a:spLocks noGrp="1"/>
          </p:cNvSpPr>
          <p:nvPr/>
        </p:nvSpPr>
        <p:spPr>
          <a:xfrm>
            <a:off x="13716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6B6290E5-F628-466C-8474-3C541FA4FAB4}"/>
              </a:ext>
            </a:extLst>
          </p:cNvPr>
          <p:cNvSpPr>
            <a:spLocks noGrp="1"/>
          </p:cNvSpPr>
          <p:nvPr/>
        </p:nvSpPr>
        <p:spPr>
          <a:xfrm>
            <a:off x="17145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18078C53-81D7-4D52-AC94-65B5CC40CF69}"/>
              </a:ext>
            </a:extLst>
          </p:cNvPr>
          <p:cNvSpPr>
            <a:spLocks noGrp="1"/>
          </p:cNvSpPr>
          <p:nvPr/>
        </p:nvSpPr>
        <p:spPr>
          <a:xfrm>
            <a:off x="20574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1D77C62F-4FEF-4D39-BB8C-B28B6D4A4033}"/>
              </a:ext>
            </a:extLst>
          </p:cNvPr>
          <p:cNvSpPr>
            <a:spLocks noGrp="1"/>
          </p:cNvSpPr>
          <p:nvPr/>
        </p:nvSpPr>
        <p:spPr>
          <a:xfrm>
            <a:off x="24003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C82DAFD4-7576-4FEA-933A-789E8EB696F3}"/>
              </a:ext>
            </a:extLst>
          </p:cNvPr>
          <p:cNvSpPr>
            <a:spLocks noGrp="1"/>
          </p:cNvSpPr>
          <p:nvPr/>
        </p:nvSpPr>
        <p:spPr>
          <a:xfrm>
            <a:off x="27432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DD4982CD-EB58-425D-9A40-2A1313D7894C}"/>
              </a:ext>
            </a:extLst>
          </p:cNvPr>
          <p:cNvSpPr>
            <a:spLocks noGrp="1"/>
          </p:cNvSpPr>
          <p:nvPr/>
        </p:nvSpPr>
        <p:spPr>
          <a:xfrm>
            <a:off x="30861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B286E5D5-A4C9-49BB-951A-B67D5E6297DF}"/>
              </a:ext>
            </a:extLst>
          </p:cNvPr>
          <p:cNvSpPr>
            <a:spLocks noGrp="1"/>
          </p:cNvSpPr>
          <p:nvPr/>
        </p:nvSpPr>
        <p:spPr>
          <a:xfrm>
            <a:off x="34290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1ABA3DA4-D922-446D-9D3C-EC7155CB120B}"/>
              </a:ext>
            </a:extLst>
          </p:cNvPr>
          <p:cNvSpPr>
            <a:spLocks noGrp="1"/>
          </p:cNvSpPr>
          <p:nvPr/>
        </p:nvSpPr>
        <p:spPr>
          <a:xfrm>
            <a:off x="37719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6" name="椭圆 75">
            <a:extLst>
              <a:ext uri="{FF2B5EF4-FFF2-40B4-BE49-F238E27FC236}">
                <a16:creationId xmlns:a16="http://schemas.microsoft.com/office/drawing/2014/main" id="{C7FFF82B-EF55-4F0A-B2C5-23A0F1723AB2}"/>
              </a:ext>
            </a:extLst>
          </p:cNvPr>
          <p:cNvSpPr>
            <a:spLocks noGrp="1"/>
          </p:cNvSpPr>
          <p:nvPr/>
        </p:nvSpPr>
        <p:spPr>
          <a:xfrm>
            <a:off x="41148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7" name="椭圆 76">
            <a:extLst>
              <a:ext uri="{FF2B5EF4-FFF2-40B4-BE49-F238E27FC236}">
                <a16:creationId xmlns:a16="http://schemas.microsoft.com/office/drawing/2014/main" id="{300FB9AD-CFBF-4B06-9C5F-8E286E7CDBE7}"/>
              </a:ext>
            </a:extLst>
          </p:cNvPr>
          <p:cNvSpPr>
            <a:spLocks noGrp="1"/>
          </p:cNvSpPr>
          <p:nvPr/>
        </p:nvSpPr>
        <p:spPr>
          <a:xfrm>
            <a:off x="4457700" y="35433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8" name="椭圆 77">
            <a:extLst>
              <a:ext uri="{FF2B5EF4-FFF2-40B4-BE49-F238E27FC236}">
                <a16:creationId xmlns:a16="http://schemas.microsoft.com/office/drawing/2014/main" id="{A99F4116-0761-4EFB-BAB6-EECD66BA44E6}"/>
              </a:ext>
            </a:extLst>
          </p:cNvPr>
          <p:cNvSpPr>
            <a:spLocks noGrp="1"/>
          </p:cNvSpPr>
          <p:nvPr/>
        </p:nvSpPr>
        <p:spPr>
          <a:xfrm>
            <a:off x="13716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94FC5A24-3CE4-46B9-9B0A-D1F52D36AEC2}"/>
              </a:ext>
            </a:extLst>
          </p:cNvPr>
          <p:cNvSpPr>
            <a:spLocks noGrp="1"/>
          </p:cNvSpPr>
          <p:nvPr/>
        </p:nvSpPr>
        <p:spPr>
          <a:xfrm>
            <a:off x="17145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D66D283F-A1E6-4DBE-9D6F-51E2D5A4E7E5}"/>
              </a:ext>
            </a:extLst>
          </p:cNvPr>
          <p:cNvSpPr>
            <a:spLocks noGrp="1"/>
          </p:cNvSpPr>
          <p:nvPr/>
        </p:nvSpPr>
        <p:spPr>
          <a:xfrm>
            <a:off x="20574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95F23C56-BFAD-436E-A371-698B2E2B21D0}"/>
              </a:ext>
            </a:extLst>
          </p:cNvPr>
          <p:cNvSpPr>
            <a:spLocks noGrp="1"/>
          </p:cNvSpPr>
          <p:nvPr/>
        </p:nvSpPr>
        <p:spPr>
          <a:xfrm>
            <a:off x="24003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2" name="椭圆 81">
            <a:extLst>
              <a:ext uri="{FF2B5EF4-FFF2-40B4-BE49-F238E27FC236}">
                <a16:creationId xmlns:a16="http://schemas.microsoft.com/office/drawing/2014/main" id="{9357D79F-A713-46D4-93DF-BE8E17B5085A}"/>
              </a:ext>
            </a:extLst>
          </p:cNvPr>
          <p:cNvSpPr>
            <a:spLocks noGrp="1"/>
          </p:cNvSpPr>
          <p:nvPr/>
        </p:nvSpPr>
        <p:spPr>
          <a:xfrm>
            <a:off x="27432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3" name="椭圆 82">
            <a:extLst>
              <a:ext uri="{FF2B5EF4-FFF2-40B4-BE49-F238E27FC236}">
                <a16:creationId xmlns:a16="http://schemas.microsoft.com/office/drawing/2014/main" id="{CB0D3990-0A23-447B-AA7A-CA9771039967}"/>
              </a:ext>
            </a:extLst>
          </p:cNvPr>
          <p:cNvSpPr>
            <a:spLocks noGrp="1"/>
          </p:cNvSpPr>
          <p:nvPr/>
        </p:nvSpPr>
        <p:spPr>
          <a:xfrm>
            <a:off x="30861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4" name="椭圆 83">
            <a:extLst>
              <a:ext uri="{FF2B5EF4-FFF2-40B4-BE49-F238E27FC236}">
                <a16:creationId xmlns:a16="http://schemas.microsoft.com/office/drawing/2014/main" id="{142769A5-A9B7-4A37-B73B-823F5D6A7199}"/>
              </a:ext>
            </a:extLst>
          </p:cNvPr>
          <p:cNvSpPr>
            <a:spLocks noGrp="1"/>
          </p:cNvSpPr>
          <p:nvPr/>
        </p:nvSpPr>
        <p:spPr>
          <a:xfrm>
            <a:off x="34290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5" name="椭圆 84">
            <a:extLst>
              <a:ext uri="{FF2B5EF4-FFF2-40B4-BE49-F238E27FC236}">
                <a16:creationId xmlns:a16="http://schemas.microsoft.com/office/drawing/2014/main" id="{7A4128CA-C8B8-4FC3-AA90-BF720802EEFE}"/>
              </a:ext>
            </a:extLst>
          </p:cNvPr>
          <p:cNvSpPr>
            <a:spLocks noGrp="1"/>
          </p:cNvSpPr>
          <p:nvPr/>
        </p:nvSpPr>
        <p:spPr>
          <a:xfrm>
            <a:off x="37719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6" name="椭圆 85">
            <a:extLst>
              <a:ext uri="{FF2B5EF4-FFF2-40B4-BE49-F238E27FC236}">
                <a16:creationId xmlns:a16="http://schemas.microsoft.com/office/drawing/2014/main" id="{28FBA17B-2A44-4344-99B2-DD766828149D}"/>
              </a:ext>
            </a:extLst>
          </p:cNvPr>
          <p:cNvSpPr>
            <a:spLocks noGrp="1"/>
          </p:cNvSpPr>
          <p:nvPr/>
        </p:nvSpPr>
        <p:spPr>
          <a:xfrm>
            <a:off x="41148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7" name="椭圆 86">
            <a:extLst>
              <a:ext uri="{FF2B5EF4-FFF2-40B4-BE49-F238E27FC236}">
                <a16:creationId xmlns:a16="http://schemas.microsoft.com/office/drawing/2014/main" id="{BB02E24D-B59F-47DC-AC8B-C56BBE05BABF}"/>
              </a:ext>
            </a:extLst>
          </p:cNvPr>
          <p:cNvSpPr>
            <a:spLocks noGrp="1"/>
          </p:cNvSpPr>
          <p:nvPr/>
        </p:nvSpPr>
        <p:spPr>
          <a:xfrm>
            <a:off x="4457700" y="37909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8" name="椭圆 87">
            <a:extLst>
              <a:ext uri="{FF2B5EF4-FFF2-40B4-BE49-F238E27FC236}">
                <a16:creationId xmlns:a16="http://schemas.microsoft.com/office/drawing/2014/main" id="{E0E43DB9-7C88-4A48-86A6-D0C1BA1D5063}"/>
              </a:ext>
            </a:extLst>
          </p:cNvPr>
          <p:cNvSpPr>
            <a:spLocks noGrp="1"/>
          </p:cNvSpPr>
          <p:nvPr/>
        </p:nvSpPr>
        <p:spPr>
          <a:xfrm>
            <a:off x="13716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89" name="椭圆 88">
            <a:extLst>
              <a:ext uri="{FF2B5EF4-FFF2-40B4-BE49-F238E27FC236}">
                <a16:creationId xmlns:a16="http://schemas.microsoft.com/office/drawing/2014/main" id="{3E62CC53-3184-4693-94CD-2C91D1E1576C}"/>
              </a:ext>
            </a:extLst>
          </p:cNvPr>
          <p:cNvSpPr>
            <a:spLocks noGrp="1"/>
          </p:cNvSpPr>
          <p:nvPr/>
        </p:nvSpPr>
        <p:spPr>
          <a:xfrm>
            <a:off x="17145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0" name="椭圆 89">
            <a:extLst>
              <a:ext uri="{FF2B5EF4-FFF2-40B4-BE49-F238E27FC236}">
                <a16:creationId xmlns:a16="http://schemas.microsoft.com/office/drawing/2014/main" id="{93EB6757-DCB5-46DD-87B4-682ACE4B9C97}"/>
              </a:ext>
            </a:extLst>
          </p:cNvPr>
          <p:cNvSpPr>
            <a:spLocks noGrp="1"/>
          </p:cNvSpPr>
          <p:nvPr/>
        </p:nvSpPr>
        <p:spPr>
          <a:xfrm>
            <a:off x="20574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1" name="椭圆 90">
            <a:extLst>
              <a:ext uri="{FF2B5EF4-FFF2-40B4-BE49-F238E27FC236}">
                <a16:creationId xmlns:a16="http://schemas.microsoft.com/office/drawing/2014/main" id="{B21ABF4D-0C4A-4F3B-8614-EC38304AC633}"/>
              </a:ext>
            </a:extLst>
          </p:cNvPr>
          <p:cNvSpPr>
            <a:spLocks noGrp="1"/>
          </p:cNvSpPr>
          <p:nvPr/>
        </p:nvSpPr>
        <p:spPr>
          <a:xfrm>
            <a:off x="24003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2" name="椭圆 91">
            <a:extLst>
              <a:ext uri="{FF2B5EF4-FFF2-40B4-BE49-F238E27FC236}">
                <a16:creationId xmlns:a16="http://schemas.microsoft.com/office/drawing/2014/main" id="{A41132F1-8A72-4A83-B923-108924DE223C}"/>
              </a:ext>
            </a:extLst>
          </p:cNvPr>
          <p:cNvSpPr>
            <a:spLocks noGrp="1"/>
          </p:cNvSpPr>
          <p:nvPr/>
        </p:nvSpPr>
        <p:spPr>
          <a:xfrm>
            <a:off x="27432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3" name="椭圆 92">
            <a:extLst>
              <a:ext uri="{FF2B5EF4-FFF2-40B4-BE49-F238E27FC236}">
                <a16:creationId xmlns:a16="http://schemas.microsoft.com/office/drawing/2014/main" id="{5E93F964-64EB-4C9A-8747-1F0C173537CF}"/>
              </a:ext>
            </a:extLst>
          </p:cNvPr>
          <p:cNvSpPr>
            <a:spLocks noGrp="1"/>
          </p:cNvSpPr>
          <p:nvPr/>
        </p:nvSpPr>
        <p:spPr>
          <a:xfrm>
            <a:off x="30861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4" name="椭圆 93">
            <a:extLst>
              <a:ext uri="{FF2B5EF4-FFF2-40B4-BE49-F238E27FC236}">
                <a16:creationId xmlns:a16="http://schemas.microsoft.com/office/drawing/2014/main" id="{0547B0CF-F682-4790-BE74-9983AD35EE90}"/>
              </a:ext>
            </a:extLst>
          </p:cNvPr>
          <p:cNvSpPr>
            <a:spLocks noGrp="1"/>
          </p:cNvSpPr>
          <p:nvPr/>
        </p:nvSpPr>
        <p:spPr>
          <a:xfrm>
            <a:off x="34290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5" name="椭圆 94">
            <a:extLst>
              <a:ext uri="{FF2B5EF4-FFF2-40B4-BE49-F238E27FC236}">
                <a16:creationId xmlns:a16="http://schemas.microsoft.com/office/drawing/2014/main" id="{2FBE4540-043C-4277-B7DF-CF4EF028ED90}"/>
              </a:ext>
            </a:extLst>
          </p:cNvPr>
          <p:cNvSpPr>
            <a:spLocks noGrp="1"/>
          </p:cNvSpPr>
          <p:nvPr/>
        </p:nvSpPr>
        <p:spPr>
          <a:xfrm>
            <a:off x="37719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6" name="椭圆 95">
            <a:extLst>
              <a:ext uri="{FF2B5EF4-FFF2-40B4-BE49-F238E27FC236}">
                <a16:creationId xmlns:a16="http://schemas.microsoft.com/office/drawing/2014/main" id="{EFD5DD45-F3C4-4F9D-BE9D-CE272C2A0263}"/>
              </a:ext>
            </a:extLst>
          </p:cNvPr>
          <p:cNvSpPr>
            <a:spLocks noGrp="1"/>
          </p:cNvSpPr>
          <p:nvPr/>
        </p:nvSpPr>
        <p:spPr>
          <a:xfrm>
            <a:off x="41148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7" name="椭圆 96">
            <a:extLst>
              <a:ext uri="{FF2B5EF4-FFF2-40B4-BE49-F238E27FC236}">
                <a16:creationId xmlns:a16="http://schemas.microsoft.com/office/drawing/2014/main" id="{13DE7E9B-EE42-4098-B636-7C8CAFC311E7}"/>
              </a:ext>
            </a:extLst>
          </p:cNvPr>
          <p:cNvSpPr>
            <a:spLocks noGrp="1"/>
          </p:cNvSpPr>
          <p:nvPr/>
        </p:nvSpPr>
        <p:spPr>
          <a:xfrm>
            <a:off x="4457700" y="403860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8" name="椭圆 97">
            <a:extLst>
              <a:ext uri="{FF2B5EF4-FFF2-40B4-BE49-F238E27FC236}">
                <a16:creationId xmlns:a16="http://schemas.microsoft.com/office/drawing/2014/main" id="{67FD066A-D9D7-4E18-8ED0-27C1CFECBD68}"/>
              </a:ext>
            </a:extLst>
          </p:cNvPr>
          <p:cNvSpPr>
            <a:spLocks noGrp="1"/>
          </p:cNvSpPr>
          <p:nvPr/>
        </p:nvSpPr>
        <p:spPr>
          <a:xfrm>
            <a:off x="1371600" y="42862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99" name="椭圆 98">
            <a:extLst>
              <a:ext uri="{FF2B5EF4-FFF2-40B4-BE49-F238E27FC236}">
                <a16:creationId xmlns:a16="http://schemas.microsoft.com/office/drawing/2014/main" id="{2A9E60FB-71E7-4015-A2DF-04786A18EBCA}"/>
              </a:ext>
            </a:extLst>
          </p:cNvPr>
          <p:cNvSpPr>
            <a:spLocks noGrp="1"/>
          </p:cNvSpPr>
          <p:nvPr/>
        </p:nvSpPr>
        <p:spPr>
          <a:xfrm>
            <a:off x="1714500" y="42862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00" name="椭圆 99">
            <a:extLst>
              <a:ext uri="{FF2B5EF4-FFF2-40B4-BE49-F238E27FC236}">
                <a16:creationId xmlns:a16="http://schemas.microsoft.com/office/drawing/2014/main" id="{E05C577D-430A-49D2-9346-877DC5400DBF}"/>
              </a:ext>
            </a:extLst>
          </p:cNvPr>
          <p:cNvSpPr>
            <a:spLocks noGrp="1"/>
          </p:cNvSpPr>
          <p:nvPr/>
        </p:nvSpPr>
        <p:spPr>
          <a:xfrm>
            <a:off x="2057400" y="42862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01" name="椭圆 100">
            <a:extLst>
              <a:ext uri="{FF2B5EF4-FFF2-40B4-BE49-F238E27FC236}">
                <a16:creationId xmlns:a16="http://schemas.microsoft.com/office/drawing/2014/main" id="{7D73D553-B781-4274-93F3-D660705320AC}"/>
              </a:ext>
            </a:extLst>
          </p:cNvPr>
          <p:cNvSpPr>
            <a:spLocks noGrp="1"/>
          </p:cNvSpPr>
          <p:nvPr/>
        </p:nvSpPr>
        <p:spPr>
          <a:xfrm>
            <a:off x="2400300" y="42862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02" name="椭圆 101">
            <a:extLst>
              <a:ext uri="{FF2B5EF4-FFF2-40B4-BE49-F238E27FC236}">
                <a16:creationId xmlns:a16="http://schemas.microsoft.com/office/drawing/2014/main" id="{373CCA96-AA09-480A-B8E6-B57005B51CD6}"/>
              </a:ext>
            </a:extLst>
          </p:cNvPr>
          <p:cNvSpPr>
            <a:spLocks noGrp="1"/>
          </p:cNvSpPr>
          <p:nvPr/>
        </p:nvSpPr>
        <p:spPr>
          <a:xfrm>
            <a:off x="2743200" y="4286250"/>
            <a:ext cx="123825" cy="123825"/>
          </a:xfrm>
          <a:prstGeom prst="ellipse">
            <a:avLst/>
          </a:prstGeom>
          <a:solidFill>
            <a:srgbClr val="7FA6CE"/>
          </a:solidFill>
          <a:ln w="0">
            <a:solidFill>
              <a:srgbClr val="000000">
                <a:alpha val="0"/>
              </a:srgbClr>
            </a:solidFill>
            <a:prstDash val="solid"/>
          </a:ln>
        </p:spPr>
        <p:txBody>
          <a:bodyPr/>
          <a:lstStyle/>
          <a:p>
            <a:endParaRPr lang="zh-CN" altLang="en-US"/>
          </a:p>
        </p:txBody>
      </p:sp>
      <p:sp>
        <p:nvSpPr>
          <p:cNvPr id="103" name="椭圆 102">
            <a:extLst>
              <a:ext uri="{FF2B5EF4-FFF2-40B4-BE49-F238E27FC236}">
                <a16:creationId xmlns:a16="http://schemas.microsoft.com/office/drawing/2014/main" id="{13CA61E6-EE6C-4BB7-99CF-C7B4F0194761}"/>
              </a:ext>
            </a:extLst>
          </p:cNvPr>
          <p:cNvSpPr>
            <a:spLocks noGrp="1"/>
          </p:cNvSpPr>
          <p:nvPr/>
        </p:nvSpPr>
        <p:spPr>
          <a:xfrm>
            <a:off x="3086100" y="4286250"/>
            <a:ext cx="123825" cy="1238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104" name="椭圆 103">
            <a:extLst>
              <a:ext uri="{FF2B5EF4-FFF2-40B4-BE49-F238E27FC236}">
                <a16:creationId xmlns:a16="http://schemas.microsoft.com/office/drawing/2014/main" id="{F4D5EDF3-1CF5-420D-8702-CC62C425BE32}"/>
              </a:ext>
            </a:extLst>
          </p:cNvPr>
          <p:cNvSpPr>
            <a:spLocks noGrp="1"/>
          </p:cNvSpPr>
          <p:nvPr/>
        </p:nvSpPr>
        <p:spPr>
          <a:xfrm>
            <a:off x="3429000" y="4286250"/>
            <a:ext cx="123825" cy="1238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105" name="椭圆 104">
            <a:extLst>
              <a:ext uri="{FF2B5EF4-FFF2-40B4-BE49-F238E27FC236}">
                <a16:creationId xmlns:a16="http://schemas.microsoft.com/office/drawing/2014/main" id="{066449C5-D6D8-4E72-A5FB-837D0A0643F7}"/>
              </a:ext>
            </a:extLst>
          </p:cNvPr>
          <p:cNvSpPr>
            <a:spLocks noGrp="1"/>
          </p:cNvSpPr>
          <p:nvPr/>
        </p:nvSpPr>
        <p:spPr>
          <a:xfrm>
            <a:off x="3771900" y="4286250"/>
            <a:ext cx="123825" cy="1238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106" name="椭圆 105">
            <a:extLst>
              <a:ext uri="{FF2B5EF4-FFF2-40B4-BE49-F238E27FC236}">
                <a16:creationId xmlns:a16="http://schemas.microsoft.com/office/drawing/2014/main" id="{207DC3F3-4D2F-4C1C-BBC3-0E8E38974132}"/>
              </a:ext>
            </a:extLst>
          </p:cNvPr>
          <p:cNvSpPr>
            <a:spLocks noGrp="1"/>
          </p:cNvSpPr>
          <p:nvPr/>
        </p:nvSpPr>
        <p:spPr>
          <a:xfrm>
            <a:off x="4114800" y="4286250"/>
            <a:ext cx="123825" cy="1238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107" name="椭圆 106">
            <a:extLst>
              <a:ext uri="{FF2B5EF4-FFF2-40B4-BE49-F238E27FC236}">
                <a16:creationId xmlns:a16="http://schemas.microsoft.com/office/drawing/2014/main" id="{784490A4-88D5-40BB-830C-263333FB57B5}"/>
              </a:ext>
            </a:extLst>
          </p:cNvPr>
          <p:cNvSpPr>
            <a:spLocks noGrp="1"/>
          </p:cNvSpPr>
          <p:nvPr/>
        </p:nvSpPr>
        <p:spPr>
          <a:xfrm>
            <a:off x="4457700" y="4286250"/>
            <a:ext cx="123825" cy="1238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108" name="矩形 107">
            <a:extLst>
              <a:ext uri="{FF2B5EF4-FFF2-40B4-BE49-F238E27FC236}">
                <a16:creationId xmlns:a16="http://schemas.microsoft.com/office/drawing/2014/main" id="{C1A718D0-BB5D-4869-9371-80D1DD360063}"/>
              </a:ext>
            </a:extLst>
          </p:cNvPr>
          <p:cNvSpPr>
            <a:spLocks noGrp="1"/>
          </p:cNvSpPr>
          <p:nvPr/>
        </p:nvSpPr>
        <p:spPr>
          <a:xfrm>
            <a:off x="1562100" y="4686300"/>
            <a:ext cx="3048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A33A3A"/>
                </a:solidFill>
                <a:latin typeface="黑体"/>
                <a:ea typeface="黑体"/>
                <a:cs typeface="黑体"/>
              </a:defRPr>
            </a:pPr>
            <a:r>
              <a:rPr>
                <a:latin typeface="黑体"/>
                <a:ea typeface="黑体"/>
                <a:cs typeface="黑体"/>
              </a:rPr>
              <a:t>少数类只占 </a:t>
            </a:r>
            <a:r>
              <a:rPr>
                <a:latin typeface="Times New Roman"/>
                <a:ea typeface="Times New Roman"/>
                <a:cs typeface="Times New Roman"/>
              </a:rPr>
              <a:t>5 </a:t>
            </a:r>
            <a:r>
              <a:rPr>
                <a:latin typeface="黑体"/>
                <a:ea typeface="黑体"/>
                <a:cs typeface="黑体"/>
              </a:rPr>
              <a:t>个点</a:t>
            </a:r>
          </a:p>
        </p:txBody>
      </p:sp>
      <p:sp>
        <p:nvSpPr>
          <p:cNvPr id="109" name="矩形 108">
            <a:extLst>
              <a:ext uri="{FF2B5EF4-FFF2-40B4-BE49-F238E27FC236}">
                <a16:creationId xmlns:a16="http://schemas.microsoft.com/office/drawing/2014/main" id="{EF44CA7D-6217-46A5-8DB1-B603FD58FDD1}"/>
              </a:ext>
            </a:extLst>
          </p:cNvPr>
          <p:cNvSpPr>
            <a:spLocks noGrp="1"/>
          </p:cNvSpPr>
          <p:nvPr/>
        </p:nvSpPr>
        <p:spPr>
          <a:xfrm>
            <a:off x="5962650" y="1276350"/>
            <a:ext cx="5505450" cy="1847850"/>
          </a:xfrm>
          <a:prstGeom prst="rect">
            <a:avLst/>
          </a:prstGeom>
          <a:solidFill>
            <a:srgbClr val="F5F9FE"/>
          </a:solidFill>
          <a:ln w="9525">
            <a:solidFill>
              <a:srgbClr val="B8C3D1"/>
            </a:solidFill>
            <a:prstDash val="solid"/>
          </a:ln>
        </p:spPr>
        <p:txBody>
          <a:bodyPr/>
          <a:lstStyle/>
          <a:p>
            <a:endParaRPr lang="zh-CN" altLang="en-US"/>
          </a:p>
        </p:txBody>
      </p:sp>
      <p:sp>
        <p:nvSpPr>
          <p:cNvPr id="110" name="矩形 109">
            <a:extLst>
              <a:ext uri="{FF2B5EF4-FFF2-40B4-BE49-F238E27FC236}">
                <a16:creationId xmlns:a16="http://schemas.microsoft.com/office/drawing/2014/main" id="{F4812B71-A748-42B3-8882-0524B580B02C}"/>
              </a:ext>
            </a:extLst>
          </p:cNvPr>
          <p:cNvSpPr>
            <a:spLocks noGrp="1"/>
          </p:cNvSpPr>
          <p:nvPr/>
        </p:nvSpPr>
        <p:spPr>
          <a:xfrm>
            <a:off x="6191250" y="1485900"/>
            <a:ext cx="2190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14DA1"/>
                </a:solidFill>
                <a:latin typeface="黑体"/>
                <a:ea typeface="黑体"/>
                <a:cs typeface="黑体"/>
              </a:defRPr>
            </a:pPr>
            <a:r>
              <a:rPr>
                <a:latin typeface="黑体"/>
                <a:ea typeface="黑体"/>
                <a:cs typeface="黑体"/>
              </a:rPr>
              <a:t>简单随机抽样</a:t>
            </a:r>
          </a:p>
        </p:txBody>
      </p:sp>
      <p:sp>
        <p:nvSpPr>
          <p:cNvPr id="111" name="矩形 110">
            <a:extLst>
              <a:ext uri="{FF2B5EF4-FFF2-40B4-BE49-F238E27FC236}">
                <a16:creationId xmlns:a16="http://schemas.microsoft.com/office/drawing/2014/main" id="{3A584A9B-3EBA-4080-A92A-088A2895895D}"/>
              </a:ext>
            </a:extLst>
          </p:cNvPr>
          <p:cNvSpPr>
            <a:spLocks noGrp="1"/>
          </p:cNvSpPr>
          <p:nvPr/>
        </p:nvSpPr>
        <p:spPr>
          <a:xfrm>
            <a:off x="6191250" y="1866900"/>
            <a:ext cx="29718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样本中可能只有极少退课记录</a:t>
            </a:r>
          </a:p>
        </p:txBody>
      </p:sp>
      <p:sp>
        <p:nvSpPr>
          <p:cNvPr id="112" name="矩形 111">
            <a:extLst>
              <a:ext uri="{FF2B5EF4-FFF2-40B4-BE49-F238E27FC236}">
                <a16:creationId xmlns:a16="http://schemas.microsoft.com/office/drawing/2014/main" id="{DAEE981A-B69E-4709-BEE4-9CC97F47A407}"/>
              </a:ext>
            </a:extLst>
          </p:cNvPr>
          <p:cNvSpPr>
            <a:spLocks noGrp="1"/>
          </p:cNvSpPr>
          <p:nvPr/>
        </p:nvSpPr>
        <p:spPr>
          <a:xfrm>
            <a:off x="9315450" y="1676400"/>
            <a:ext cx="16764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325" b="1">
                <a:solidFill>
                  <a:srgbClr val="014DA1"/>
                </a:solidFill>
                <a:latin typeface="黑体"/>
                <a:ea typeface="黑体"/>
                <a:cs typeface="黑体"/>
              </a:defRPr>
            </a:pPr>
            <a:r>
              <a:rPr>
                <a:latin typeface="Times New Roman"/>
                <a:ea typeface="Times New Roman"/>
                <a:cs typeface="Times New Roman"/>
              </a:rPr>
              <a:t>19 : 1</a:t>
            </a:r>
          </a:p>
        </p:txBody>
      </p:sp>
      <p:sp>
        <p:nvSpPr>
          <p:cNvPr id="113" name="矩形 112">
            <a:extLst>
              <a:ext uri="{FF2B5EF4-FFF2-40B4-BE49-F238E27FC236}">
                <a16:creationId xmlns:a16="http://schemas.microsoft.com/office/drawing/2014/main" id="{D2343689-BAF2-4246-9937-87F68461BBAE}"/>
              </a:ext>
            </a:extLst>
          </p:cNvPr>
          <p:cNvSpPr>
            <a:spLocks noGrp="1"/>
          </p:cNvSpPr>
          <p:nvPr/>
        </p:nvSpPr>
        <p:spPr>
          <a:xfrm>
            <a:off x="9315450" y="2209800"/>
            <a:ext cx="16764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4B5563"/>
                </a:solidFill>
                <a:latin typeface="黑体"/>
                <a:ea typeface="黑体"/>
                <a:cs typeface="黑体"/>
              </a:defRPr>
            </a:pPr>
            <a:r>
              <a:rPr>
                <a:latin typeface="黑体"/>
                <a:ea typeface="黑体"/>
                <a:cs typeface="黑体"/>
              </a:rPr>
              <a:t>未退课 : 退课</a:t>
            </a:r>
          </a:p>
        </p:txBody>
      </p:sp>
      <p:sp>
        <p:nvSpPr>
          <p:cNvPr id="114" name="矩形 113">
            <a:extLst>
              <a:ext uri="{FF2B5EF4-FFF2-40B4-BE49-F238E27FC236}">
                <a16:creationId xmlns:a16="http://schemas.microsoft.com/office/drawing/2014/main" id="{B6A4500E-1239-48C0-9AED-9342072450A3}"/>
              </a:ext>
            </a:extLst>
          </p:cNvPr>
          <p:cNvSpPr>
            <a:spLocks noGrp="1"/>
          </p:cNvSpPr>
          <p:nvPr/>
        </p:nvSpPr>
        <p:spPr>
          <a:xfrm>
            <a:off x="5962650" y="3390900"/>
            <a:ext cx="5505450" cy="1847850"/>
          </a:xfrm>
          <a:prstGeom prst="rect">
            <a:avLst/>
          </a:prstGeom>
          <a:solidFill>
            <a:srgbClr val="FFF9ED"/>
          </a:solidFill>
          <a:ln w="9525">
            <a:solidFill>
              <a:srgbClr val="B8C3D1"/>
            </a:solidFill>
            <a:prstDash val="solid"/>
          </a:ln>
        </p:spPr>
        <p:txBody>
          <a:bodyPr/>
          <a:lstStyle/>
          <a:p>
            <a:endParaRPr lang="zh-CN" altLang="en-US"/>
          </a:p>
        </p:txBody>
      </p:sp>
      <p:sp>
        <p:nvSpPr>
          <p:cNvPr id="115" name="矩形 114">
            <a:extLst>
              <a:ext uri="{FF2B5EF4-FFF2-40B4-BE49-F238E27FC236}">
                <a16:creationId xmlns:a16="http://schemas.microsoft.com/office/drawing/2014/main" id="{E6C76532-8024-4884-8D98-113ED0DFF15C}"/>
              </a:ext>
            </a:extLst>
          </p:cNvPr>
          <p:cNvSpPr>
            <a:spLocks noGrp="1"/>
          </p:cNvSpPr>
          <p:nvPr/>
        </p:nvSpPr>
        <p:spPr>
          <a:xfrm>
            <a:off x="6191250" y="3600450"/>
            <a:ext cx="2190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B4964B"/>
                </a:solidFill>
                <a:latin typeface="黑体"/>
                <a:ea typeface="黑体"/>
                <a:cs typeface="黑体"/>
              </a:defRPr>
            </a:pPr>
            <a:r>
              <a:rPr>
                <a:latin typeface="黑体"/>
                <a:ea typeface="黑体"/>
                <a:cs typeface="黑体"/>
              </a:rPr>
              <a:t>分层抽样</a:t>
            </a:r>
          </a:p>
        </p:txBody>
      </p:sp>
      <p:sp>
        <p:nvSpPr>
          <p:cNvPr id="116" name="矩形 115">
            <a:extLst>
              <a:ext uri="{FF2B5EF4-FFF2-40B4-BE49-F238E27FC236}">
                <a16:creationId xmlns:a16="http://schemas.microsoft.com/office/drawing/2014/main" id="{AA466BA1-8CB7-4330-8E76-6876D7267C53}"/>
              </a:ext>
            </a:extLst>
          </p:cNvPr>
          <p:cNvSpPr>
            <a:spLocks noGrp="1"/>
          </p:cNvSpPr>
          <p:nvPr/>
        </p:nvSpPr>
        <p:spPr>
          <a:xfrm>
            <a:off x="6191250" y="3981450"/>
            <a:ext cx="29718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按标签分别抽样，保留足够少数类</a:t>
            </a:r>
          </a:p>
        </p:txBody>
      </p:sp>
      <p:sp>
        <p:nvSpPr>
          <p:cNvPr id="117" name="矩形 116">
            <a:extLst>
              <a:ext uri="{FF2B5EF4-FFF2-40B4-BE49-F238E27FC236}">
                <a16:creationId xmlns:a16="http://schemas.microsoft.com/office/drawing/2014/main" id="{D1D60745-94FD-4A5F-9806-270369CE2C02}"/>
              </a:ext>
            </a:extLst>
          </p:cNvPr>
          <p:cNvSpPr>
            <a:spLocks noGrp="1"/>
          </p:cNvSpPr>
          <p:nvPr/>
        </p:nvSpPr>
        <p:spPr>
          <a:xfrm>
            <a:off x="9315450" y="3790950"/>
            <a:ext cx="16764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325" b="1">
                <a:solidFill>
                  <a:srgbClr val="A33A3A"/>
                </a:solidFill>
                <a:latin typeface="黑体"/>
                <a:ea typeface="黑体"/>
                <a:cs typeface="黑体"/>
              </a:defRPr>
            </a:pPr>
            <a:r>
              <a:rPr>
                <a:latin typeface="Times New Roman"/>
                <a:ea typeface="Times New Roman"/>
                <a:cs typeface="Times New Roman"/>
              </a:rPr>
              <a:t>10 : 10</a:t>
            </a:r>
          </a:p>
        </p:txBody>
      </p:sp>
      <p:sp>
        <p:nvSpPr>
          <p:cNvPr id="118" name="矩形 117">
            <a:extLst>
              <a:ext uri="{FF2B5EF4-FFF2-40B4-BE49-F238E27FC236}">
                <a16:creationId xmlns:a16="http://schemas.microsoft.com/office/drawing/2014/main" id="{1958D490-317F-4635-BA93-9798F9AF5074}"/>
              </a:ext>
            </a:extLst>
          </p:cNvPr>
          <p:cNvSpPr>
            <a:spLocks noGrp="1"/>
          </p:cNvSpPr>
          <p:nvPr/>
        </p:nvSpPr>
        <p:spPr>
          <a:xfrm>
            <a:off x="9315450" y="4324350"/>
            <a:ext cx="16764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4B5563"/>
                </a:solidFill>
                <a:latin typeface="黑体"/>
                <a:ea typeface="黑体"/>
                <a:cs typeface="黑体"/>
              </a:defRPr>
            </a:pPr>
            <a:r>
              <a:rPr>
                <a:latin typeface="黑体"/>
                <a:ea typeface="黑体"/>
                <a:cs typeface="黑体"/>
              </a:rPr>
              <a:t>未退课 : 退课</a:t>
            </a:r>
          </a:p>
        </p:txBody>
      </p:sp>
      <p:sp>
        <p:nvSpPr>
          <p:cNvPr id="119" name="矩形 118">
            <a:extLst>
              <a:ext uri="{FF2B5EF4-FFF2-40B4-BE49-F238E27FC236}">
                <a16:creationId xmlns:a16="http://schemas.microsoft.com/office/drawing/2014/main" id="{E0F3CC66-A152-47EB-8F7C-F6789E31E77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120" name="矩形 119">
            <a:extLst>
              <a:ext uri="{FF2B5EF4-FFF2-40B4-BE49-F238E27FC236}">
                <a16:creationId xmlns:a16="http://schemas.microsoft.com/office/drawing/2014/main" id="{EBEEBA04-3969-4E3B-AD13-4ABE6F46F9C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抽样用于提高计算与分析效率，不能悄悄改变结论适用的人群。</a:t>
            </a:r>
          </a:p>
        </p:txBody>
      </p:sp>
    </p:spTree>
    <p:extLst>
      <p:ext uri="{BB962C8B-B14F-4D97-AF65-F5344CB8AC3E}">
        <p14:creationId xmlns:p14="http://schemas.microsoft.com/office/powerpoint/2010/main" val="6049723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D7D51913-6653-4838-972A-6F6130B12EF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C1899387-A2C1-4656-AD3B-04B1769D09F3}"/>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BB27BBF7-5E39-4311-9C58-88DBF9AE08D1}"/>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F4D5B7EF-1CFD-4C10-810D-D81002C1C72E}"/>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离散化把连续值转换为区间</a:t>
            </a:r>
          </a:p>
        </p:txBody>
      </p:sp>
      <p:sp>
        <p:nvSpPr>
          <p:cNvPr id="5" name="矩形 4">
            <a:extLst>
              <a:ext uri="{FF2B5EF4-FFF2-40B4-BE49-F238E27FC236}">
                <a16:creationId xmlns:a16="http://schemas.microsoft.com/office/drawing/2014/main" id="{FF2543AB-CFA5-41B3-B853-ED07FB6A2769}"/>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57/90</a:t>
            </a:r>
          </a:p>
        </p:txBody>
      </p:sp>
      <p:sp>
        <p:nvSpPr>
          <p:cNvPr id="6" name="矩形 5">
            <a:extLst>
              <a:ext uri="{FF2B5EF4-FFF2-40B4-BE49-F238E27FC236}">
                <a16:creationId xmlns:a16="http://schemas.microsoft.com/office/drawing/2014/main" id="{89B388E9-2B79-4446-9637-E6D8947D675E}"/>
              </a:ext>
            </a:extLst>
          </p:cNvPr>
          <p:cNvSpPr>
            <a:spLocks noGrp="1"/>
          </p:cNvSpPr>
          <p:nvPr/>
        </p:nvSpPr>
        <p:spPr>
          <a:xfrm>
            <a:off x="781050" y="1200150"/>
            <a:ext cx="2095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原始连续值</a:t>
            </a:r>
          </a:p>
        </p:txBody>
      </p:sp>
      <p:sp>
        <p:nvSpPr>
          <p:cNvPr id="7" name="矩形 6">
            <a:extLst>
              <a:ext uri="{FF2B5EF4-FFF2-40B4-BE49-F238E27FC236}">
                <a16:creationId xmlns:a16="http://schemas.microsoft.com/office/drawing/2014/main" id="{FFA53310-0C46-4A8D-AACB-D90591D20BEE}"/>
              </a:ext>
            </a:extLst>
          </p:cNvPr>
          <p:cNvSpPr>
            <a:spLocks noGrp="1"/>
          </p:cNvSpPr>
          <p:nvPr/>
        </p:nvSpPr>
        <p:spPr>
          <a:xfrm>
            <a:off x="1143000" y="1866900"/>
            <a:ext cx="9906000" cy="38100"/>
          </a:xfrm>
          <a:prstGeom prst="rect">
            <a:avLst/>
          </a:prstGeom>
          <a:solidFill>
            <a:srgbClr val="8898AA"/>
          </a:solidFill>
          <a:ln w="0">
            <a:solidFill>
              <a:srgbClr val="000000">
                <a:alpha val="0"/>
              </a:srgbClr>
            </a:solidFill>
            <a:prstDash val="solid"/>
          </a:ln>
        </p:spPr>
        <p:txBody>
          <a:bodyPr/>
          <a:lstStyle/>
          <a:p>
            <a:endParaRPr lang="zh-CN" altLang="en-US"/>
          </a:p>
        </p:txBody>
      </p:sp>
      <p:sp>
        <p:nvSpPr>
          <p:cNvPr id="8" name="椭圆 7">
            <a:extLst>
              <a:ext uri="{FF2B5EF4-FFF2-40B4-BE49-F238E27FC236}">
                <a16:creationId xmlns:a16="http://schemas.microsoft.com/office/drawing/2014/main" id="{F2C6A2CF-09AF-4815-908A-E955EA270337}"/>
              </a:ext>
            </a:extLst>
          </p:cNvPr>
          <p:cNvSpPr>
            <a:spLocks noGrp="1"/>
          </p:cNvSpPr>
          <p:nvPr/>
        </p:nvSpPr>
        <p:spPr>
          <a:xfrm>
            <a:off x="157162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9" name="椭圆 8">
            <a:extLst>
              <a:ext uri="{FF2B5EF4-FFF2-40B4-BE49-F238E27FC236}">
                <a16:creationId xmlns:a16="http://schemas.microsoft.com/office/drawing/2014/main" id="{D069DF25-4AA2-4584-BB3C-0918230EC49F}"/>
              </a:ext>
            </a:extLst>
          </p:cNvPr>
          <p:cNvSpPr>
            <a:spLocks noGrp="1"/>
          </p:cNvSpPr>
          <p:nvPr/>
        </p:nvSpPr>
        <p:spPr>
          <a:xfrm>
            <a:off x="226504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0" name="椭圆 9">
            <a:extLst>
              <a:ext uri="{FF2B5EF4-FFF2-40B4-BE49-F238E27FC236}">
                <a16:creationId xmlns:a16="http://schemas.microsoft.com/office/drawing/2014/main" id="{8C84F814-4EE1-4BB7-8815-266519F3029C}"/>
              </a:ext>
            </a:extLst>
          </p:cNvPr>
          <p:cNvSpPr>
            <a:spLocks noGrp="1"/>
          </p:cNvSpPr>
          <p:nvPr/>
        </p:nvSpPr>
        <p:spPr>
          <a:xfrm>
            <a:off x="305752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1" name="椭圆 10">
            <a:extLst>
              <a:ext uri="{FF2B5EF4-FFF2-40B4-BE49-F238E27FC236}">
                <a16:creationId xmlns:a16="http://schemas.microsoft.com/office/drawing/2014/main" id="{36760D89-9FB8-4586-ADF6-481BC50DD07B}"/>
              </a:ext>
            </a:extLst>
          </p:cNvPr>
          <p:cNvSpPr>
            <a:spLocks noGrp="1"/>
          </p:cNvSpPr>
          <p:nvPr/>
        </p:nvSpPr>
        <p:spPr>
          <a:xfrm>
            <a:off x="434530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2" name="椭圆 11">
            <a:extLst>
              <a:ext uri="{FF2B5EF4-FFF2-40B4-BE49-F238E27FC236}">
                <a16:creationId xmlns:a16="http://schemas.microsoft.com/office/drawing/2014/main" id="{1F64E2CF-F945-4B7A-98CA-F76C9679D8EE}"/>
              </a:ext>
            </a:extLst>
          </p:cNvPr>
          <p:cNvSpPr>
            <a:spLocks noGrp="1"/>
          </p:cNvSpPr>
          <p:nvPr/>
        </p:nvSpPr>
        <p:spPr>
          <a:xfrm>
            <a:off x="583120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3" name="椭圆 12">
            <a:extLst>
              <a:ext uri="{FF2B5EF4-FFF2-40B4-BE49-F238E27FC236}">
                <a16:creationId xmlns:a16="http://schemas.microsoft.com/office/drawing/2014/main" id="{B713338B-B969-4509-A7F5-897C001E5FD1}"/>
              </a:ext>
            </a:extLst>
          </p:cNvPr>
          <p:cNvSpPr>
            <a:spLocks noGrp="1"/>
          </p:cNvSpPr>
          <p:nvPr/>
        </p:nvSpPr>
        <p:spPr>
          <a:xfrm>
            <a:off x="721804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4" name="椭圆 13">
            <a:extLst>
              <a:ext uri="{FF2B5EF4-FFF2-40B4-BE49-F238E27FC236}">
                <a16:creationId xmlns:a16="http://schemas.microsoft.com/office/drawing/2014/main" id="{5B2C6AF3-3602-444E-A2F5-A7CACFF2F930}"/>
              </a:ext>
            </a:extLst>
          </p:cNvPr>
          <p:cNvSpPr>
            <a:spLocks noGrp="1"/>
          </p:cNvSpPr>
          <p:nvPr/>
        </p:nvSpPr>
        <p:spPr>
          <a:xfrm>
            <a:off x="810958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5" name="椭圆 14">
            <a:extLst>
              <a:ext uri="{FF2B5EF4-FFF2-40B4-BE49-F238E27FC236}">
                <a16:creationId xmlns:a16="http://schemas.microsoft.com/office/drawing/2014/main" id="{94197E81-A0BD-45FA-8BCD-B149DC65585C}"/>
              </a:ext>
            </a:extLst>
          </p:cNvPr>
          <p:cNvSpPr>
            <a:spLocks noGrp="1"/>
          </p:cNvSpPr>
          <p:nvPr/>
        </p:nvSpPr>
        <p:spPr>
          <a:xfrm>
            <a:off x="939736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6" name="椭圆 15">
            <a:extLst>
              <a:ext uri="{FF2B5EF4-FFF2-40B4-BE49-F238E27FC236}">
                <a16:creationId xmlns:a16="http://schemas.microsoft.com/office/drawing/2014/main" id="{04316680-5E6E-41BF-9F79-BEDD4266E4E9}"/>
              </a:ext>
            </a:extLst>
          </p:cNvPr>
          <p:cNvSpPr>
            <a:spLocks noGrp="1"/>
          </p:cNvSpPr>
          <p:nvPr/>
        </p:nvSpPr>
        <p:spPr>
          <a:xfrm>
            <a:off x="10189845" y="177165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7" name="矩形 16">
            <a:extLst>
              <a:ext uri="{FF2B5EF4-FFF2-40B4-BE49-F238E27FC236}">
                <a16:creationId xmlns:a16="http://schemas.microsoft.com/office/drawing/2014/main" id="{C70911A2-D98C-4043-A879-3F07352592A2}"/>
              </a:ext>
            </a:extLst>
          </p:cNvPr>
          <p:cNvSpPr>
            <a:spLocks noGrp="1"/>
          </p:cNvSpPr>
          <p:nvPr/>
        </p:nvSpPr>
        <p:spPr>
          <a:xfrm>
            <a:off x="914400" y="19812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0.00</a:t>
            </a:r>
          </a:p>
        </p:txBody>
      </p:sp>
      <p:sp>
        <p:nvSpPr>
          <p:cNvPr id="18" name="矩形 17">
            <a:extLst>
              <a:ext uri="{FF2B5EF4-FFF2-40B4-BE49-F238E27FC236}">
                <a16:creationId xmlns:a16="http://schemas.microsoft.com/office/drawing/2014/main" id="{608C19AB-7E85-41A5-A8F5-2A3700A1911A}"/>
              </a:ext>
            </a:extLst>
          </p:cNvPr>
          <p:cNvSpPr>
            <a:spLocks noGrp="1"/>
          </p:cNvSpPr>
          <p:nvPr/>
        </p:nvSpPr>
        <p:spPr>
          <a:xfrm>
            <a:off x="3390900" y="19812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0.25</a:t>
            </a:r>
          </a:p>
        </p:txBody>
      </p:sp>
      <p:sp>
        <p:nvSpPr>
          <p:cNvPr id="19" name="矩形 18">
            <a:extLst>
              <a:ext uri="{FF2B5EF4-FFF2-40B4-BE49-F238E27FC236}">
                <a16:creationId xmlns:a16="http://schemas.microsoft.com/office/drawing/2014/main" id="{40543169-5D94-49F6-AC31-4B8EFB0B9EEF}"/>
              </a:ext>
            </a:extLst>
          </p:cNvPr>
          <p:cNvSpPr>
            <a:spLocks noGrp="1"/>
          </p:cNvSpPr>
          <p:nvPr/>
        </p:nvSpPr>
        <p:spPr>
          <a:xfrm>
            <a:off x="5867400" y="19812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0.50</a:t>
            </a:r>
          </a:p>
        </p:txBody>
      </p:sp>
      <p:sp>
        <p:nvSpPr>
          <p:cNvPr id="20" name="矩形 19">
            <a:extLst>
              <a:ext uri="{FF2B5EF4-FFF2-40B4-BE49-F238E27FC236}">
                <a16:creationId xmlns:a16="http://schemas.microsoft.com/office/drawing/2014/main" id="{36D9B3A3-8737-4570-9585-264993E316A4}"/>
              </a:ext>
            </a:extLst>
          </p:cNvPr>
          <p:cNvSpPr>
            <a:spLocks noGrp="1"/>
          </p:cNvSpPr>
          <p:nvPr/>
        </p:nvSpPr>
        <p:spPr>
          <a:xfrm>
            <a:off x="8343900" y="19812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0.75</a:t>
            </a:r>
          </a:p>
        </p:txBody>
      </p:sp>
      <p:sp>
        <p:nvSpPr>
          <p:cNvPr id="21" name="矩形 20">
            <a:extLst>
              <a:ext uri="{FF2B5EF4-FFF2-40B4-BE49-F238E27FC236}">
                <a16:creationId xmlns:a16="http://schemas.microsoft.com/office/drawing/2014/main" id="{DB8D1F81-E997-4436-9FD9-2A1FA883DAA0}"/>
              </a:ext>
            </a:extLst>
          </p:cNvPr>
          <p:cNvSpPr>
            <a:spLocks noGrp="1"/>
          </p:cNvSpPr>
          <p:nvPr/>
        </p:nvSpPr>
        <p:spPr>
          <a:xfrm>
            <a:off x="10820400" y="19812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1.00</a:t>
            </a:r>
          </a:p>
        </p:txBody>
      </p:sp>
      <p:sp>
        <p:nvSpPr>
          <p:cNvPr id="22" name="矩形 21">
            <a:extLst>
              <a:ext uri="{FF2B5EF4-FFF2-40B4-BE49-F238E27FC236}">
                <a16:creationId xmlns:a16="http://schemas.microsoft.com/office/drawing/2014/main" id="{712E0746-5BA8-482F-BD59-1E31E3FF4572}"/>
              </a:ext>
            </a:extLst>
          </p:cNvPr>
          <p:cNvSpPr>
            <a:spLocks noGrp="1"/>
          </p:cNvSpPr>
          <p:nvPr/>
        </p:nvSpPr>
        <p:spPr>
          <a:xfrm>
            <a:off x="685800" y="2895600"/>
            <a:ext cx="742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等宽</a:t>
            </a:r>
          </a:p>
        </p:txBody>
      </p:sp>
      <p:sp>
        <p:nvSpPr>
          <p:cNvPr id="23" name="矩形 22">
            <a:extLst>
              <a:ext uri="{FF2B5EF4-FFF2-40B4-BE49-F238E27FC236}">
                <a16:creationId xmlns:a16="http://schemas.microsoft.com/office/drawing/2014/main" id="{78E33111-806E-4500-A4EA-E0335FA2424A}"/>
              </a:ext>
            </a:extLst>
          </p:cNvPr>
          <p:cNvSpPr>
            <a:spLocks noGrp="1"/>
          </p:cNvSpPr>
          <p:nvPr/>
        </p:nvSpPr>
        <p:spPr>
          <a:xfrm>
            <a:off x="1143000" y="2724150"/>
            <a:ext cx="3268980" cy="609600"/>
          </a:xfrm>
          <a:prstGeom prst="rect">
            <a:avLst/>
          </a:prstGeom>
          <a:solidFill>
            <a:srgbClr val="DCEAF8"/>
          </a:solidFill>
          <a:ln w="19050">
            <a:solidFill>
              <a:srgbClr val="FFFFFF"/>
            </a:solidFill>
            <a:prstDash val="solid"/>
          </a:ln>
        </p:spPr>
        <p:txBody>
          <a:bodyPr/>
          <a:lstStyle/>
          <a:p>
            <a:endParaRPr lang="zh-CN" altLang="en-US"/>
          </a:p>
        </p:txBody>
      </p:sp>
      <p:sp>
        <p:nvSpPr>
          <p:cNvPr id="24" name="矩形 23">
            <a:extLst>
              <a:ext uri="{FF2B5EF4-FFF2-40B4-BE49-F238E27FC236}">
                <a16:creationId xmlns:a16="http://schemas.microsoft.com/office/drawing/2014/main" id="{26A6FB3C-F14A-4F8E-8359-AEF20FA58246}"/>
              </a:ext>
            </a:extLst>
          </p:cNvPr>
          <p:cNvSpPr>
            <a:spLocks noGrp="1"/>
          </p:cNvSpPr>
          <p:nvPr/>
        </p:nvSpPr>
        <p:spPr>
          <a:xfrm>
            <a:off x="1200150" y="2895600"/>
            <a:ext cx="3154680" cy="247650"/>
          </a:xfrm>
          <a:prstGeom prst="rect">
            <a:avLst/>
          </a:prstGeom>
          <a:solidFill>
            <a:srgbClr val="DCEAF8"/>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黑体"/>
                <a:ea typeface="黑体"/>
                <a:cs typeface="黑体"/>
              </a:rPr>
              <a:t>低</a:t>
            </a:r>
          </a:p>
        </p:txBody>
      </p:sp>
      <p:sp>
        <p:nvSpPr>
          <p:cNvPr id="25" name="矩形 24">
            <a:extLst>
              <a:ext uri="{FF2B5EF4-FFF2-40B4-BE49-F238E27FC236}">
                <a16:creationId xmlns:a16="http://schemas.microsoft.com/office/drawing/2014/main" id="{2380D153-EDC1-4D0A-88C0-13809F8DCA1F}"/>
              </a:ext>
            </a:extLst>
          </p:cNvPr>
          <p:cNvSpPr>
            <a:spLocks noGrp="1"/>
          </p:cNvSpPr>
          <p:nvPr/>
        </p:nvSpPr>
        <p:spPr>
          <a:xfrm>
            <a:off x="4411980" y="2724150"/>
            <a:ext cx="3268980" cy="609600"/>
          </a:xfrm>
          <a:prstGeom prst="rect">
            <a:avLst/>
          </a:prstGeom>
          <a:solidFill>
            <a:srgbClr val="F4EBC2"/>
          </a:solidFill>
          <a:ln w="19050">
            <a:solidFill>
              <a:srgbClr val="FFFFFF"/>
            </a:solidFill>
            <a:prstDash val="solid"/>
          </a:ln>
        </p:spPr>
        <p:txBody>
          <a:bodyPr/>
          <a:lstStyle/>
          <a:p>
            <a:endParaRPr lang="zh-CN" altLang="en-US"/>
          </a:p>
        </p:txBody>
      </p:sp>
      <p:sp>
        <p:nvSpPr>
          <p:cNvPr id="26" name="矩形 25">
            <a:extLst>
              <a:ext uri="{FF2B5EF4-FFF2-40B4-BE49-F238E27FC236}">
                <a16:creationId xmlns:a16="http://schemas.microsoft.com/office/drawing/2014/main" id="{A18BA13F-F151-4BC9-9C7A-75610F75E21B}"/>
              </a:ext>
            </a:extLst>
          </p:cNvPr>
          <p:cNvSpPr>
            <a:spLocks noGrp="1"/>
          </p:cNvSpPr>
          <p:nvPr/>
        </p:nvSpPr>
        <p:spPr>
          <a:xfrm>
            <a:off x="4469130" y="2895600"/>
            <a:ext cx="3154680" cy="247650"/>
          </a:xfrm>
          <a:prstGeom prst="rect">
            <a:avLst/>
          </a:prstGeom>
          <a:solidFill>
            <a:srgbClr val="F4EBC2"/>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黑体"/>
                <a:ea typeface="黑体"/>
                <a:cs typeface="黑体"/>
              </a:rPr>
              <a:t>中</a:t>
            </a:r>
          </a:p>
        </p:txBody>
      </p:sp>
      <p:sp>
        <p:nvSpPr>
          <p:cNvPr id="27" name="矩形 26">
            <a:extLst>
              <a:ext uri="{FF2B5EF4-FFF2-40B4-BE49-F238E27FC236}">
                <a16:creationId xmlns:a16="http://schemas.microsoft.com/office/drawing/2014/main" id="{75692F15-0DC6-4E64-A77C-2FCF58D4B9E6}"/>
              </a:ext>
            </a:extLst>
          </p:cNvPr>
          <p:cNvSpPr>
            <a:spLocks noGrp="1"/>
          </p:cNvSpPr>
          <p:nvPr/>
        </p:nvSpPr>
        <p:spPr>
          <a:xfrm>
            <a:off x="7680960" y="2724150"/>
            <a:ext cx="3368040" cy="609600"/>
          </a:xfrm>
          <a:prstGeom prst="rect">
            <a:avLst/>
          </a:prstGeom>
          <a:solidFill>
            <a:srgbClr val="E3EFE7"/>
          </a:solidFill>
          <a:ln w="19050">
            <a:solidFill>
              <a:srgbClr val="FFFFFF"/>
            </a:solidFill>
            <a:prstDash val="solid"/>
          </a:ln>
        </p:spPr>
        <p:txBody>
          <a:bodyPr/>
          <a:lstStyle/>
          <a:p>
            <a:endParaRPr lang="zh-CN" altLang="en-US"/>
          </a:p>
        </p:txBody>
      </p:sp>
      <p:sp>
        <p:nvSpPr>
          <p:cNvPr id="28" name="矩形 27">
            <a:extLst>
              <a:ext uri="{FF2B5EF4-FFF2-40B4-BE49-F238E27FC236}">
                <a16:creationId xmlns:a16="http://schemas.microsoft.com/office/drawing/2014/main" id="{2FAD2776-B651-45CB-88CC-6616E9AD8BB8}"/>
              </a:ext>
            </a:extLst>
          </p:cNvPr>
          <p:cNvSpPr>
            <a:spLocks noGrp="1"/>
          </p:cNvSpPr>
          <p:nvPr/>
        </p:nvSpPr>
        <p:spPr>
          <a:xfrm>
            <a:off x="7738110" y="2895600"/>
            <a:ext cx="3253740" cy="247650"/>
          </a:xfrm>
          <a:prstGeom prst="rect">
            <a:avLst/>
          </a:prstGeom>
          <a:solidFill>
            <a:srgbClr val="E3EFE7"/>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黑体"/>
                <a:ea typeface="黑体"/>
                <a:cs typeface="黑体"/>
              </a:rPr>
              <a:t>高</a:t>
            </a:r>
          </a:p>
        </p:txBody>
      </p:sp>
      <p:sp>
        <p:nvSpPr>
          <p:cNvPr id="29" name="矩形 28">
            <a:extLst>
              <a:ext uri="{FF2B5EF4-FFF2-40B4-BE49-F238E27FC236}">
                <a16:creationId xmlns:a16="http://schemas.microsoft.com/office/drawing/2014/main" id="{CBE50FF3-3F77-484B-B5A5-652878F78E2C}"/>
              </a:ext>
            </a:extLst>
          </p:cNvPr>
          <p:cNvSpPr>
            <a:spLocks noGrp="1"/>
          </p:cNvSpPr>
          <p:nvPr/>
        </p:nvSpPr>
        <p:spPr>
          <a:xfrm>
            <a:off x="685800" y="4076700"/>
            <a:ext cx="742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等频</a:t>
            </a:r>
          </a:p>
        </p:txBody>
      </p:sp>
      <p:sp>
        <p:nvSpPr>
          <p:cNvPr id="30" name="矩形 29">
            <a:extLst>
              <a:ext uri="{FF2B5EF4-FFF2-40B4-BE49-F238E27FC236}">
                <a16:creationId xmlns:a16="http://schemas.microsoft.com/office/drawing/2014/main" id="{443593A3-891B-49F9-8523-000F507B7EC0}"/>
              </a:ext>
            </a:extLst>
          </p:cNvPr>
          <p:cNvSpPr>
            <a:spLocks noGrp="1"/>
          </p:cNvSpPr>
          <p:nvPr/>
        </p:nvSpPr>
        <p:spPr>
          <a:xfrm>
            <a:off x="1143000" y="3905250"/>
            <a:ext cx="1981200" cy="609600"/>
          </a:xfrm>
          <a:prstGeom prst="rect">
            <a:avLst/>
          </a:prstGeom>
          <a:solidFill>
            <a:srgbClr val="DCEAF8"/>
          </a:solidFill>
          <a:ln w="19050">
            <a:solidFill>
              <a:srgbClr val="FFFFFF"/>
            </a:solidFill>
            <a:prstDash val="solid"/>
          </a:ln>
        </p:spPr>
        <p:txBody>
          <a:bodyPr/>
          <a:lstStyle/>
          <a:p>
            <a:endParaRPr lang="zh-CN" altLang="en-US"/>
          </a:p>
        </p:txBody>
      </p:sp>
      <p:sp>
        <p:nvSpPr>
          <p:cNvPr id="31" name="矩形 30">
            <a:extLst>
              <a:ext uri="{FF2B5EF4-FFF2-40B4-BE49-F238E27FC236}">
                <a16:creationId xmlns:a16="http://schemas.microsoft.com/office/drawing/2014/main" id="{55C3C332-A659-4299-9E53-317FFFEBB1D3}"/>
              </a:ext>
            </a:extLst>
          </p:cNvPr>
          <p:cNvSpPr>
            <a:spLocks noGrp="1"/>
          </p:cNvSpPr>
          <p:nvPr/>
        </p:nvSpPr>
        <p:spPr>
          <a:xfrm>
            <a:off x="1200150" y="4076700"/>
            <a:ext cx="1866900" cy="247650"/>
          </a:xfrm>
          <a:prstGeom prst="rect">
            <a:avLst/>
          </a:prstGeom>
          <a:solidFill>
            <a:srgbClr val="DCEAF8"/>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黑体"/>
                <a:ea typeface="黑体"/>
                <a:cs typeface="黑体"/>
              </a:rPr>
              <a:t>低</a:t>
            </a:r>
          </a:p>
        </p:txBody>
      </p:sp>
      <p:sp>
        <p:nvSpPr>
          <p:cNvPr id="32" name="矩形 31">
            <a:extLst>
              <a:ext uri="{FF2B5EF4-FFF2-40B4-BE49-F238E27FC236}">
                <a16:creationId xmlns:a16="http://schemas.microsoft.com/office/drawing/2014/main" id="{5A9CD301-8C13-4964-B86C-CFC2932218D6}"/>
              </a:ext>
            </a:extLst>
          </p:cNvPr>
          <p:cNvSpPr>
            <a:spLocks noGrp="1"/>
          </p:cNvSpPr>
          <p:nvPr/>
        </p:nvSpPr>
        <p:spPr>
          <a:xfrm>
            <a:off x="3124200" y="3905250"/>
            <a:ext cx="4160520" cy="609600"/>
          </a:xfrm>
          <a:prstGeom prst="rect">
            <a:avLst/>
          </a:prstGeom>
          <a:solidFill>
            <a:srgbClr val="F4EBC2"/>
          </a:solidFill>
          <a:ln w="19050">
            <a:solidFill>
              <a:srgbClr val="FFFFFF"/>
            </a:solidFill>
            <a:prstDash val="solid"/>
          </a:ln>
        </p:spPr>
        <p:txBody>
          <a:bodyPr/>
          <a:lstStyle/>
          <a:p>
            <a:endParaRPr lang="zh-CN" altLang="en-US"/>
          </a:p>
        </p:txBody>
      </p:sp>
      <p:sp>
        <p:nvSpPr>
          <p:cNvPr id="33" name="矩形 32">
            <a:extLst>
              <a:ext uri="{FF2B5EF4-FFF2-40B4-BE49-F238E27FC236}">
                <a16:creationId xmlns:a16="http://schemas.microsoft.com/office/drawing/2014/main" id="{6DBA1444-1DC2-478A-99BD-A96263E8BB46}"/>
              </a:ext>
            </a:extLst>
          </p:cNvPr>
          <p:cNvSpPr>
            <a:spLocks noGrp="1"/>
          </p:cNvSpPr>
          <p:nvPr/>
        </p:nvSpPr>
        <p:spPr>
          <a:xfrm>
            <a:off x="3181350" y="4076700"/>
            <a:ext cx="4046220" cy="247650"/>
          </a:xfrm>
          <a:prstGeom prst="rect">
            <a:avLst/>
          </a:prstGeom>
          <a:solidFill>
            <a:srgbClr val="F4EBC2"/>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黑体"/>
                <a:ea typeface="黑体"/>
                <a:cs typeface="黑体"/>
              </a:rPr>
              <a:t>中</a:t>
            </a:r>
          </a:p>
        </p:txBody>
      </p:sp>
      <p:sp>
        <p:nvSpPr>
          <p:cNvPr id="34" name="矩形 33">
            <a:extLst>
              <a:ext uri="{FF2B5EF4-FFF2-40B4-BE49-F238E27FC236}">
                <a16:creationId xmlns:a16="http://schemas.microsoft.com/office/drawing/2014/main" id="{8C681BDE-83CB-4B60-89DB-6DD0618D0A1F}"/>
              </a:ext>
            </a:extLst>
          </p:cNvPr>
          <p:cNvSpPr>
            <a:spLocks noGrp="1"/>
          </p:cNvSpPr>
          <p:nvPr/>
        </p:nvSpPr>
        <p:spPr>
          <a:xfrm>
            <a:off x="7284720" y="3905250"/>
            <a:ext cx="3764280" cy="609600"/>
          </a:xfrm>
          <a:prstGeom prst="rect">
            <a:avLst/>
          </a:prstGeom>
          <a:solidFill>
            <a:srgbClr val="E3EFE7"/>
          </a:solidFill>
          <a:ln w="19050">
            <a:solidFill>
              <a:srgbClr val="FFFFFF"/>
            </a:solidFill>
            <a:prstDash val="solid"/>
          </a:ln>
        </p:spPr>
        <p:txBody>
          <a:bodyPr/>
          <a:lstStyle/>
          <a:p>
            <a:endParaRPr lang="zh-CN" altLang="en-US"/>
          </a:p>
        </p:txBody>
      </p:sp>
      <p:sp>
        <p:nvSpPr>
          <p:cNvPr id="35" name="矩形 34">
            <a:extLst>
              <a:ext uri="{FF2B5EF4-FFF2-40B4-BE49-F238E27FC236}">
                <a16:creationId xmlns:a16="http://schemas.microsoft.com/office/drawing/2014/main" id="{945B67C0-D9F4-4461-B4B7-C8ADE507617B}"/>
              </a:ext>
            </a:extLst>
          </p:cNvPr>
          <p:cNvSpPr>
            <a:spLocks noGrp="1"/>
          </p:cNvSpPr>
          <p:nvPr/>
        </p:nvSpPr>
        <p:spPr>
          <a:xfrm>
            <a:off x="7341870" y="4076700"/>
            <a:ext cx="3649980" cy="247650"/>
          </a:xfrm>
          <a:prstGeom prst="rect">
            <a:avLst/>
          </a:prstGeom>
          <a:solidFill>
            <a:srgbClr val="E3EFE7"/>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黑体"/>
                <a:ea typeface="黑体"/>
                <a:cs typeface="黑体"/>
              </a:rPr>
              <a:t>高</a:t>
            </a:r>
          </a:p>
        </p:txBody>
      </p:sp>
      <p:sp>
        <p:nvSpPr>
          <p:cNvPr id="36" name="矩形 35">
            <a:extLst>
              <a:ext uri="{FF2B5EF4-FFF2-40B4-BE49-F238E27FC236}">
                <a16:creationId xmlns:a16="http://schemas.microsoft.com/office/drawing/2014/main" id="{884C99C1-57E1-4BBC-8A55-99BC8B1EBDEC}"/>
              </a:ext>
            </a:extLst>
          </p:cNvPr>
          <p:cNvSpPr>
            <a:spLocks noGrp="1"/>
          </p:cNvSpPr>
          <p:nvPr/>
        </p:nvSpPr>
        <p:spPr>
          <a:xfrm>
            <a:off x="8763000" y="33718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0">
                <a:solidFill>
                  <a:srgbClr val="4B5563"/>
                </a:solidFill>
                <a:latin typeface="黑体"/>
                <a:ea typeface="黑体"/>
                <a:cs typeface="黑体"/>
              </a:defRPr>
            </a:pPr>
            <a:r>
              <a:rPr>
                <a:latin typeface="黑体"/>
                <a:ea typeface="黑体"/>
                <a:cs typeface="黑体"/>
              </a:rPr>
              <a:t>区间宽度相同</a:t>
            </a:r>
          </a:p>
        </p:txBody>
      </p:sp>
      <p:sp>
        <p:nvSpPr>
          <p:cNvPr id="37" name="矩形 36">
            <a:extLst>
              <a:ext uri="{FF2B5EF4-FFF2-40B4-BE49-F238E27FC236}">
                <a16:creationId xmlns:a16="http://schemas.microsoft.com/office/drawing/2014/main" id="{C9BD7916-E6EF-4820-9C12-4E139E89E758}"/>
              </a:ext>
            </a:extLst>
          </p:cNvPr>
          <p:cNvSpPr>
            <a:spLocks noGrp="1"/>
          </p:cNvSpPr>
          <p:nvPr/>
        </p:nvSpPr>
        <p:spPr>
          <a:xfrm>
            <a:off x="8572500" y="45529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0">
                <a:solidFill>
                  <a:srgbClr val="4B5563"/>
                </a:solidFill>
                <a:latin typeface="黑体"/>
                <a:ea typeface="黑体"/>
                <a:cs typeface="黑体"/>
              </a:defRPr>
            </a:pPr>
            <a:r>
              <a:rPr>
                <a:latin typeface="黑体"/>
                <a:ea typeface="黑体"/>
                <a:cs typeface="黑体"/>
              </a:rPr>
              <a:t>每个区间样本数接近</a:t>
            </a:r>
          </a:p>
        </p:txBody>
      </p:sp>
      <p:sp>
        <p:nvSpPr>
          <p:cNvPr id="38" name="矩形 37">
            <a:extLst>
              <a:ext uri="{FF2B5EF4-FFF2-40B4-BE49-F238E27FC236}">
                <a16:creationId xmlns:a16="http://schemas.microsoft.com/office/drawing/2014/main" id="{70365AA5-BA33-46D8-8788-308670889234}"/>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9" name="矩形 38">
            <a:extLst>
              <a:ext uri="{FF2B5EF4-FFF2-40B4-BE49-F238E27FC236}">
                <a16:creationId xmlns:a16="http://schemas.microsoft.com/office/drawing/2014/main" id="{008AD105-BFC2-4304-B12C-BD3DC7F8E33A}"/>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离散化边界必须由训练数据确定，并与解释目的相匹配。</a:t>
            </a:r>
          </a:p>
        </p:txBody>
      </p:sp>
    </p:spTree>
    <p:extLst>
      <p:ext uri="{BB962C8B-B14F-4D97-AF65-F5344CB8AC3E}">
        <p14:creationId xmlns:p14="http://schemas.microsoft.com/office/powerpoint/2010/main" val="3312777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矩形 84">
            <a:extLst>
              <a:ext uri="{FF2B5EF4-FFF2-40B4-BE49-F238E27FC236}">
                <a16:creationId xmlns:a16="http://schemas.microsoft.com/office/drawing/2014/main" id="{0423B7AB-CB2B-41FB-A38D-63A2E7D0D8E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64A84F6A-BB98-4E1F-A5AB-8534DBD95BC7}"/>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FE800588-C351-40C6-94FB-EC9EB1A2D45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AA82E18B-B30A-4943-A833-495177F8ABC6}"/>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维度升高后，空间会迅速变稀疏</a:t>
            </a:r>
          </a:p>
        </p:txBody>
      </p:sp>
      <p:sp>
        <p:nvSpPr>
          <p:cNvPr id="5" name="矩形 4">
            <a:extLst>
              <a:ext uri="{FF2B5EF4-FFF2-40B4-BE49-F238E27FC236}">
                <a16:creationId xmlns:a16="http://schemas.microsoft.com/office/drawing/2014/main" id="{B2797531-F462-48B3-951E-09D3D4372229}"/>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58/90</a:t>
            </a:r>
          </a:p>
        </p:txBody>
      </p:sp>
      <p:sp>
        <p:nvSpPr>
          <p:cNvPr id="6" name="矩形 5">
            <a:extLst>
              <a:ext uri="{FF2B5EF4-FFF2-40B4-BE49-F238E27FC236}">
                <a16:creationId xmlns:a16="http://schemas.microsoft.com/office/drawing/2014/main" id="{FBBC0A13-8FE2-4336-B128-B48D4C9FAFB2}"/>
              </a:ext>
            </a:extLst>
          </p:cNvPr>
          <p:cNvSpPr>
            <a:spLocks noGrp="1"/>
          </p:cNvSpPr>
          <p:nvPr/>
        </p:nvSpPr>
        <p:spPr>
          <a:xfrm>
            <a:off x="723900" y="1257300"/>
            <a:ext cx="3333750" cy="4000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B3582B03-2B74-439D-8A27-0EAE85C82D8C}"/>
              </a:ext>
            </a:extLst>
          </p:cNvPr>
          <p:cNvSpPr>
            <a:spLocks noGrp="1"/>
          </p:cNvSpPr>
          <p:nvPr/>
        </p:nvSpPr>
        <p:spPr>
          <a:xfrm>
            <a:off x="952500" y="1466850"/>
            <a:ext cx="28765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014DA1"/>
                </a:solidFill>
                <a:latin typeface="黑体"/>
                <a:ea typeface="黑体"/>
                <a:cs typeface="黑体"/>
              </a:defRPr>
            </a:pPr>
            <a:r>
              <a:rPr>
                <a:latin typeface="Times New Roman"/>
                <a:ea typeface="Times New Roman"/>
                <a:cs typeface="Times New Roman"/>
              </a:rPr>
              <a:t>1D</a:t>
            </a:r>
          </a:p>
        </p:txBody>
      </p:sp>
      <p:sp>
        <p:nvSpPr>
          <p:cNvPr id="8" name="矩形 7">
            <a:extLst>
              <a:ext uri="{FF2B5EF4-FFF2-40B4-BE49-F238E27FC236}">
                <a16:creationId xmlns:a16="http://schemas.microsoft.com/office/drawing/2014/main" id="{4B8173B2-5101-4D23-9493-FD3D34298E52}"/>
              </a:ext>
            </a:extLst>
          </p:cNvPr>
          <p:cNvSpPr>
            <a:spLocks noGrp="1"/>
          </p:cNvSpPr>
          <p:nvPr/>
        </p:nvSpPr>
        <p:spPr>
          <a:xfrm>
            <a:off x="1247775" y="2857500"/>
            <a:ext cx="552450" cy="552450"/>
          </a:xfrm>
          <a:prstGeom prst="rect">
            <a:avLst/>
          </a:prstGeom>
          <a:solidFill>
            <a:srgbClr val="EAF2FF"/>
          </a:solidFill>
          <a:ln w="9525">
            <a:solidFill>
              <a:srgbClr val="9FAEBD"/>
            </a:solidFill>
            <a:prstDash val="solid"/>
          </a:ln>
        </p:spPr>
        <p:txBody>
          <a:bodyPr/>
          <a:lstStyle/>
          <a:p>
            <a:endParaRPr lang="zh-CN" altLang="en-US"/>
          </a:p>
        </p:txBody>
      </p:sp>
      <p:sp>
        <p:nvSpPr>
          <p:cNvPr id="9" name="矩形 8">
            <a:extLst>
              <a:ext uri="{FF2B5EF4-FFF2-40B4-BE49-F238E27FC236}">
                <a16:creationId xmlns:a16="http://schemas.microsoft.com/office/drawing/2014/main" id="{69B20E69-139D-45A9-89A0-0B04D0048357}"/>
              </a:ext>
            </a:extLst>
          </p:cNvPr>
          <p:cNvSpPr>
            <a:spLocks noGrp="1"/>
          </p:cNvSpPr>
          <p:nvPr/>
        </p:nvSpPr>
        <p:spPr>
          <a:xfrm>
            <a:off x="1819275" y="2857500"/>
            <a:ext cx="552450" cy="552450"/>
          </a:xfrm>
          <a:prstGeom prst="rect">
            <a:avLst/>
          </a:prstGeom>
          <a:solidFill>
            <a:srgbClr val="FFFFFF"/>
          </a:solidFill>
          <a:ln w="9525">
            <a:solidFill>
              <a:srgbClr val="9FAEBD"/>
            </a:solidFill>
            <a:prstDash val="solid"/>
          </a:ln>
        </p:spPr>
        <p:txBody>
          <a:bodyPr/>
          <a:lstStyle/>
          <a:p>
            <a:endParaRPr lang="zh-CN" altLang="en-US"/>
          </a:p>
        </p:txBody>
      </p:sp>
      <p:sp>
        <p:nvSpPr>
          <p:cNvPr id="10" name="矩形 9">
            <a:extLst>
              <a:ext uri="{FF2B5EF4-FFF2-40B4-BE49-F238E27FC236}">
                <a16:creationId xmlns:a16="http://schemas.microsoft.com/office/drawing/2014/main" id="{A8164CB7-D842-48CE-AAC9-67E8D103026F}"/>
              </a:ext>
            </a:extLst>
          </p:cNvPr>
          <p:cNvSpPr>
            <a:spLocks noGrp="1"/>
          </p:cNvSpPr>
          <p:nvPr/>
        </p:nvSpPr>
        <p:spPr>
          <a:xfrm>
            <a:off x="2390775" y="2857500"/>
            <a:ext cx="552450" cy="552450"/>
          </a:xfrm>
          <a:prstGeom prst="rect">
            <a:avLst/>
          </a:prstGeom>
          <a:solidFill>
            <a:srgbClr val="EAF2FF"/>
          </a:solidFill>
          <a:ln w="9525">
            <a:solidFill>
              <a:srgbClr val="9FAEBD"/>
            </a:solidFill>
            <a:prstDash val="solid"/>
          </a:ln>
        </p:spPr>
        <p:txBody>
          <a:bodyPr/>
          <a:lstStyle/>
          <a:p>
            <a:endParaRPr lang="zh-CN" altLang="en-US"/>
          </a:p>
        </p:txBody>
      </p:sp>
      <p:sp>
        <p:nvSpPr>
          <p:cNvPr id="11" name="矩形 10">
            <a:extLst>
              <a:ext uri="{FF2B5EF4-FFF2-40B4-BE49-F238E27FC236}">
                <a16:creationId xmlns:a16="http://schemas.microsoft.com/office/drawing/2014/main" id="{52C6621B-25DB-4488-BB19-9F8D4E2B5C4E}"/>
              </a:ext>
            </a:extLst>
          </p:cNvPr>
          <p:cNvSpPr>
            <a:spLocks noGrp="1"/>
          </p:cNvSpPr>
          <p:nvPr/>
        </p:nvSpPr>
        <p:spPr>
          <a:xfrm>
            <a:off x="2962275" y="2857500"/>
            <a:ext cx="552450" cy="552450"/>
          </a:xfrm>
          <a:prstGeom prst="rect">
            <a:avLst/>
          </a:prstGeom>
          <a:solidFill>
            <a:srgbClr val="FFFFFF"/>
          </a:solidFill>
          <a:ln w="9525">
            <a:solidFill>
              <a:srgbClr val="9FAEBD"/>
            </a:solidFill>
            <a:prstDash val="solid"/>
          </a:ln>
        </p:spPr>
        <p:txBody>
          <a:bodyPr/>
          <a:lstStyle/>
          <a:p>
            <a:endParaRPr lang="zh-CN" altLang="en-US"/>
          </a:p>
        </p:txBody>
      </p:sp>
      <p:sp>
        <p:nvSpPr>
          <p:cNvPr id="12" name="椭圆 11">
            <a:extLst>
              <a:ext uri="{FF2B5EF4-FFF2-40B4-BE49-F238E27FC236}">
                <a16:creationId xmlns:a16="http://schemas.microsoft.com/office/drawing/2014/main" id="{4A3284C8-B385-409F-B5CE-B1A8A4BA0430}"/>
              </a:ext>
            </a:extLst>
          </p:cNvPr>
          <p:cNvSpPr>
            <a:spLocks noGrp="1"/>
          </p:cNvSpPr>
          <p:nvPr/>
        </p:nvSpPr>
        <p:spPr>
          <a:xfrm>
            <a:off x="1447800" y="3048000"/>
            <a:ext cx="152400" cy="1524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3" name="椭圆 12">
            <a:extLst>
              <a:ext uri="{FF2B5EF4-FFF2-40B4-BE49-F238E27FC236}">
                <a16:creationId xmlns:a16="http://schemas.microsoft.com/office/drawing/2014/main" id="{2416EB8E-2490-47DD-9958-7FE092981C0E}"/>
              </a:ext>
            </a:extLst>
          </p:cNvPr>
          <p:cNvSpPr>
            <a:spLocks noGrp="1"/>
          </p:cNvSpPr>
          <p:nvPr/>
        </p:nvSpPr>
        <p:spPr>
          <a:xfrm>
            <a:off x="2019300" y="3048000"/>
            <a:ext cx="152400" cy="1524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4" name="椭圆 13">
            <a:extLst>
              <a:ext uri="{FF2B5EF4-FFF2-40B4-BE49-F238E27FC236}">
                <a16:creationId xmlns:a16="http://schemas.microsoft.com/office/drawing/2014/main" id="{66C16806-F856-457B-B7F6-CB616023ACEB}"/>
              </a:ext>
            </a:extLst>
          </p:cNvPr>
          <p:cNvSpPr>
            <a:spLocks noGrp="1"/>
          </p:cNvSpPr>
          <p:nvPr/>
        </p:nvSpPr>
        <p:spPr>
          <a:xfrm>
            <a:off x="2590800" y="3048000"/>
            <a:ext cx="152400" cy="1524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5" name="椭圆 14">
            <a:extLst>
              <a:ext uri="{FF2B5EF4-FFF2-40B4-BE49-F238E27FC236}">
                <a16:creationId xmlns:a16="http://schemas.microsoft.com/office/drawing/2014/main" id="{2F22687B-4AD7-4FC8-9DEA-BE35191FB1CC}"/>
              </a:ext>
            </a:extLst>
          </p:cNvPr>
          <p:cNvSpPr>
            <a:spLocks noGrp="1"/>
          </p:cNvSpPr>
          <p:nvPr/>
        </p:nvSpPr>
        <p:spPr>
          <a:xfrm>
            <a:off x="3162300" y="3048000"/>
            <a:ext cx="152400" cy="152400"/>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0099E2F7-0C1B-4D97-BE58-1F38D76637BB}"/>
              </a:ext>
            </a:extLst>
          </p:cNvPr>
          <p:cNvSpPr>
            <a:spLocks noGrp="1"/>
          </p:cNvSpPr>
          <p:nvPr/>
        </p:nvSpPr>
        <p:spPr>
          <a:xfrm>
            <a:off x="1066800" y="4476750"/>
            <a:ext cx="2647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4 </a:t>
            </a:r>
            <a:r>
              <a:rPr>
                <a:latin typeface="黑体"/>
                <a:ea typeface="黑体"/>
                <a:cs typeface="黑体"/>
              </a:rPr>
              <a:t>个样本 </a:t>
            </a:r>
            <a:r>
              <a:rPr>
                <a:latin typeface="Times New Roman"/>
                <a:ea typeface="Times New Roman"/>
                <a:cs typeface="Times New Roman"/>
              </a:rPr>
              <a:t>/ 4 </a:t>
            </a:r>
            <a:r>
              <a:rPr>
                <a:latin typeface="黑体"/>
                <a:ea typeface="黑体"/>
                <a:cs typeface="黑体"/>
              </a:rPr>
              <a:t>个区域</a:t>
            </a:r>
          </a:p>
        </p:txBody>
      </p:sp>
      <p:sp>
        <p:nvSpPr>
          <p:cNvPr id="17" name="矩形 16">
            <a:extLst>
              <a:ext uri="{FF2B5EF4-FFF2-40B4-BE49-F238E27FC236}">
                <a16:creationId xmlns:a16="http://schemas.microsoft.com/office/drawing/2014/main" id="{C4899F69-9B97-4A56-9A85-A5DD9E7A9DC5}"/>
              </a:ext>
            </a:extLst>
          </p:cNvPr>
          <p:cNvSpPr>
            <a:spLocks noGrp="1"/>
          </p:cNvSpPr>
          <p:nvPr/>
        </p:nvSpPr>
        <p:spPr>
          <a:xfrm>
            <a:off x="4400550" y="1257300"/>
            <a:ext cx="3333750" cy="4000500"/>
          </a:xfrm>
          <a:prstGeom prst="rect">
            <a:avLst/>
          </a:prstGeom>
          <a:solidFill>
            <a:srgbClr val="FFFFFF"/>
          </a:solidFill>
          <a:ln w="9525">
            <a:solidFill>
              <a:srgbClr val="B8C3D1"/>
            </a:solidFill>
            <a:prstDash val="solid"/>
          </a:ln>
        </p:spPr>
        <p:txBody>
          <a:bodyPr/>
          <a:lstStyle/>
          <a:p>
            <a:endParaRPr lang="zh-CN" altLang="en-US"/>
          </a:p>
        </p:txBody>
      </p:sp>
      <p:sp>
        <p:nvSpPr>
          <p:cNvPr id="18" name="矩形 17">
            <a:extLst>
              <a:ext uri="{FF2B5EF4-FFF2-40B4-BE49-F238E27FC236}">
                <a16:creationId xmlns:a16="http://schemas.microsoft.com/office/drawing/2014/main" id="{66036E34-51E8-418D-9133-0EC4C165761B}"/>
              </a:ext>
            </a:extLst>
          </p:cNvPr>
          <p:cNvSpPr>
            <a:spLocks noGrp="1"/>
          </p:cNvSpPr>
          <p:nvPr/>
        </p:nvSpPr>
        <p:spPr>
          <a:xfrm>
            <a:off x="4629150" y="1466850"/>
            <a:ext cx="28765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4964B"/>
                </a:solidFill>
                <a:latin typeface="黑体"/>
                <a:ea typeface="黑体"/>
                <a:cs typeface="黑体"/>
              </a:defRPr>
            </a:pPr>
            <a:r>
              <a:rPr>
                <a:latin typeface="Times New Roman"/>
                <a:ea typeface="Times New Roman"/>
                <a:cs typeface="Times New Roman"/>
              </a:rPr>
              <a:t>2D</a:t>
            </a:r>
          </a:p>
        </p:txBody>
      </p:sp>
      <p:sp>
        <p:nvSpPr>
          <p:cNvPr id="19" name="矩形 18">
            <a:extLst>
              <a:ext uri="{FF2B5EF4-FFF2-40B4-BE49-F238E27FC236}">
                <a16:creationId xmlns:a16="http://schemas.microsoft.com/office/drawing/2014/main" id="{966CFC0E-78DE-4BCE-8273-A329E5C67FC3}"/>
              </a:ext>
            </a:extLst>
          </p:cNvPr>
          <p:cNvSpPr>
            <a:spLocks noGrp="1"/>
          </p:cNvSpPr>
          <p:nvPr/>
        </p:nvSpPr>
        <p:spPr>
          <a:xfrm>
            <a:off x="5210175" y="2228850"/>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0" name="矩形 19">
            <a:extLst>
              <a:ext uri="{FF2B5EF4-FFF2-40B4-BE49-F238E27FC236}">
                <a16:creationId xmlns:a16="http://schemas.microsoft.com/office/drawing/2014/main" id="{1CC1E3D0-9844-42D7-BB39-50FA641B6FE0}"/>
              </a:ext>
            </a:extLst>
          </p:cNvPr>
          <p:cNvSpPr>
            <a:spLocks noGrp="1"/>
          </p:cNvSpPr>
          <p:nvPr/>
        </p:nvSpPr>
        <p:spPr>
          <a:xfrm>
            <a:off x="5638800" y="2228850"/>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1" name="矩形 20">
            <a:extLst>
              <a:ext uri="{FF2B5EF4-FFF2-40B4-BE49-F238E27FC236}">
                <a16:creationId xmlns:a16="http://schemas.microsoft.com/office/drawing/2014/main" id="{4D865077-DE72-4CBF-B871-56319CB41B10}"/>
              </a:ext>
            </a:extLst>
          </p:cNvPr>
          <p:cNvSpPr>
            <a:spLocks noGrp="1"/>
          </p:cNvSpPr>
          <p:nvPr/>
        </p:nvSpPr>
        <p:spPr>
          <a:xfrm>
            <a:off x="6067425" y="2228850"/>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2" name="矩形 21">
            <a:extLst>
              <a:ext uri="{FF2B5EF4-FFF2-40B4-BE49-F238E27FC236}">
                <a16:creationId xmlns:a16="http://schemas.microsoft.com/office/drawing/2014/main" id="{A1E043A0-F7D4-4C22-AC5C-2CB3F18AE7F3}"/>
              </a:ext>
            </a:extLst>
          </p:cNvPr>
          <p:cNvSpPr>
            <a:spLocks noGrp="1"/>
          </p:cNvSpPr>
          <p:nvPr/>
        </p:nvSpPr>
        <p:spPr>
          <a:xfrm>
            <a:off x="6496050" y="2228850"/>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3" name="矩形 22">
            <a:extLst>
              <a:ext uri="{FF2B5EF4-FFF2-40B4-BE49-F238E27FC236}">
                <a16:creationId xmlns:a16="http://schemas.microsoft.com/office/drawing/2014/main" id="{36EBB291-3084-45E6-9F72-016A796C5993}"/>
              </a:ext>
            </a:extLst>
          </p:cNvPr>
          <p:cNvSpPr>
            <a:spLocks noGrp="1"/>
          </p:cNvSpPr>
          <p:nvPr/>
        </p:nvSpPr>
        <p:spPr>
          <a:xfrm>
            <a:off x="5210175" y="2657475"/>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4" name="矩形 23">
            <a:extLst>
              <a:ext uri="{FF2B5EF4-FFF2-40B4-BE49-F238E27FC236}">
                <a16:creationId xmlns:a16="http://schemas.microsoft.com/office/drawing/2014/main" id="{D5D9BD7F-454E-4697-BCBF-678A0A37AFA6}"/>
              </a:ext>
            </a:extLst>
          </p:cNvPr>
          <p:cNvSpPr>
            <a:spLocks noGrp="1"/>
          </p:cNvSpPr>
          <p:nvPr/>
        </p:nvSpPr>
        <p:spPr>
          <a:xfrm>
            <a:off x="5638800" y="2657475"/>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5" name="矩形 24">
            <a:extLst>
              <a:ext uri="{FF2B5EF4-FFF2-40B4-BE49-F238E27FC236}">
                <a16:creationId xmlns:a16="http://schemas.microsoft.com/office/drawing/2014/main" id="{81381EF2-2FB0-46D8-8138-3BBCA3D37E8D}"/>
              </a:ext>
            </a:extLst>
          </p:cNvPr>
          <p:cNvSpPr>
            <a:spLocks noGrp="1"/>
          </p:cNvSpPr>
          <p:nvPr/>
        </p:nvSpPr>
        <p:spPr>
          <a:xfrm>
            <a:off x="6067425" y="2657475"/>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6" name="矩形 25">
            <a:extLst>
              <a:ext uri="{FF2B5EF4-FFF2-40B4-BE49-F238E27FC236}">
                <a16:creationId xmlns:a16="http://schemas.microsoft.com/office/drawing/2014/main" id="{7F4CF434-C9B1-438C-8B2D-BBF0DBBECAF5}"/>
              </a:ext>
            </a:extLst>
          </p:cNvPr>
          <p:cNvSpPr>
            <a:spLocks noGrp="1"/>
          </p:cNvSpPr>
          <p:nvPr/>
        </p:nvSpPr>
        <p:spPr>
          <a:xfrm>
            <a:off x="6496050" y="2657475"/>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7" name="矩形 26">
            <a:extLst>
              <a:ext uri="{FF2B5EF4-FFF2-40B4-BE49-F238E27FC236}">
                <a16:creationId xmlns:a16="http://schemas.microsoft.com/office/drawing/2014/main" id="{7F80CE34-79B2-4241-8EA5-28DB2B16E149}"/>
              </a:ext>
            </a:extLst>
          </p:cNvPr>
          <p:cNvSpPr>
            <a:spLocks noGrp="1"/>
          </p:cNvSpPr>
          <p:nvPr/>
        </p:nvSpPr>
        <p:spPr>
          <a:xfrm>
            <a:off x="5210175" y="3086100"/>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8" name="矩形 27">
            <a:extLst>
              <a:ext uri="{FF2B5EF4-FFF2-40B4-BE49-F238E27FC236}">
                <a16:creationId xmlns:a16="http://schemas.microsoft.com/office/drawing/2014/main" id="{C1314250-7277-4CBF-8D36-07B50F79A20B}"/>
              </a:ext>
            </a:extLst>
          </p:cNvPr>
          <p:cNvSpPr>
            <a:spLocks noGrp="1"/>
          </p:cNvSpPr>
          <p:nvPr/>
        </p:nvSpPr>
        <p:spPr>
          <a:xfrm>
            <a:off x="5638800" y="3086100"/>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29" name="矩形 28">
            <a:extLst>
              <a:ext uri="{FF2B5EF4-FFF2-40B4-BE49-F238E27FC236}">
                <a16:creationId xmlns:a16="http://schemas.microsoft.com/office/drawing/2014/main" id="{617E3C6A-DBCC-4404-8B2B-09646BAD476A}"/>
              </a:ext>
            </a:extLst>
          </p:cNvPr>
          <p:cNvSpPr>
            <a:spLocks noGrp="1"/>
          </p:cNvSpPr>
          <p:nvPr/>
        </p:nvSpPr>
        <p:spPr>
          <a:xfrm>
            <a:off x="6067425" y="3086100"/>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30" name="矩形 29">
            <a:extLst>
              <a:ext uri="{FF2B5EF4-FFF2-40B4-BE49-F238E27FC236}">
                <a16:creationId xmlns:a16="http://schemas.microsoft.com/office/drawing/2014/main" id="{D9D7EAD5-EA48-4AFE-8F4D-F695023A016D}"/>
              </a:ext>
            </a:extLst>
          </p:cNvPr>
          <p:cNvSpPr>
            <a:spLocks noGrp="1"/>
          </p:cNvSpPr>
          <p:nvPr/>
        </p:nvSpPr>
        <p:spPr>
          <a:xfrm>
            <a:off x="6496050" y="3086100"/>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31" name="矩形 30">
            <a:extLst>
              <a:ext uri="{FF2B5EF4-FFF2-40B4-BE49-F238E27FC236}">
                <a16:creationId xmlns:a16="http://schemas.microsoft.com/office/drawing/2014/main" id="{90182B4E-5C1A-4D31-A233-401DA18DE6E1}"/>
              </a:ext>
            </a:extLst>
          </p:cNvPr>
          <p:cNvSpPr>
            <a:spLocks noGrp="1"/>
          </p:cNvSpPr>
          <p:nvPr/>
        </p:nvSpPr>
        <p:spPr>
          <a:xfrm>
            <a:off x="5210175" y="3514725"/>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32" name="矩形 31">
            <a:extLst>
              <a:ext uri="{FF2B5EF4-FFF2-40B4-BE49-F238E27FC236}">
                <a16:creationId xmlns:a16="http://schemas.microsoft.com/office/drawing/2014/main" id="{4EE23C28-7BC9-4BDF-AEAD-7406885FFE0B}"/>
              </a:ext>
            </a:extLst>
          </p:cNvPr>
          <p:cNvSpPr>
            <a:spLocks noGrp="1"/>
          </p:cNvSpPr>
          <p:nvPr/>
        </p:nvSpPr>
        <p:spPr>
          <a:xfrm>
            <a:off x="5638800" y="3514725"/>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33" name="矩形 32">
            <a:extLst>
              <a:ext uri="{FF2B5EF4-FFF2-40B4-BE49-F238E27FC236}">
                <a16:creationId xmlns:a16="http://schemas.microsoft.com/office/drawing/2014/main" id="{E8D161B1-9619-4D79-BA0E-8FD284F8670C}"/>
              </a:ext>
            </a:extLst>
          </p:cNvPr>
          <p:cNvSpPr>
            <a:spLocks noGrp="1"/>
          </p:cNvSpPr>
          <p:nvPr/>
        </p:nvSpPr>
        <p:spPr>
          <a:xfrm>
            <a:off x="6067425" y="3514725"/>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34" name="矩形 33">
            <a:extLst>
              <a:ext uri="{FF2B5EF4-FFF2-40B4-BE49-F238E27FC236}">
                <a16:creationId xmlns:a16="http://schemas.microsoft.com/office/drawing/2014/main" id="{5D7DFD08-4047-4895-B03A-FE5B830BD878}"/>
              </a:ext>
            </a:extLst>
          </p:cNvPr>
          <p:cNvSpPr>
            <a:spLocks noGrp="1"/>
          </p:cNvSpPr>
          <p:nvPr/>
        </p:nvSpPr>
        <p:spPr>
          <a:xfrm>
            <a:off x="6496050" y="3514725"/>
            <a:ext cx="409575" cy="409575"/>
          </a:xfrm>
          <a:prstGeom prst="rect">
            <a:avLst/>
          </a:prstGeom>
          <a:solidFill>
            <a:srgbClr val="FFFFFF"/>
          </a:solidFill>
          <a:ln w="9525">
            <a:solidFill>
              <a:srgbClr val="C9D2DD"/>
            </a:solidFill>
            <a:prstDash val="solid"/>
          </a:ln>
        </p:spPr>
        <p:txBody>
          <a:bodyPr/>
          <a:lstStyle/>
          <a:p>
            <a:endParaRPr lang="zh-CN" altLang="en-US"/>
          </a:p>
        </p:txBody>
      </p:sp>
      <p:sp>
        <p:nvSpPr>
          <p:cNvPr id="35" name="椭圆 34">
            <a:extLst>
              <a:ext uri="{FF2B5EF4-FFF2-40B4-BE49-F238E27FC236}">
                <a16:creationId xmlns:a16="http://schemas.microsoft.com/office/drawing/2014/main" id="{B7C3AB72-AB64-4780-BF79-D3903B8F30FC}"/>
              </a:ext>
            </a:extLst>
          </p:cNvPr>
          <p:cNvSpPr>
            <a:spLocks noGrp="1"/>
          </p:cNvSpPr>
          <p:nvPr/>
        </p:nvSpPr>
        <p:spPr>
          <a:xfrm>
            <a:off x="5367338" y="2386013"/>
            <a:ext cx="114300" cy="114300"/>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36" name="椭圆 35">
            <a:extLst>
              <a:ext uri="{FF2B5EF4-FFF2-40B4-BE49-F238E27FC236}">
                <a16:creationId xmlns:a16="http://schemas.microsoft.com/office/drawing/2014/main" id="{EE9F873B-721C-47A8-902F-32FAC2FE7969}"/>
              </a:ext>
            </a:extLst>
          </p:cNvPr>
          <p:cNvSpPr>
            <a:spLocks noGrp="1"/>
          </p:cNvSpPr>
          <p:nvPr/>
        </p:nvSpPr>
        <p:spPr>
          <a:xfrm>
            <a:off x="6653213" y="2814638"/>
            <a:ext cx="114300" cy="114300"/>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37" name="椭圆 36">
            <a:extLst>
              <a:ext uri="{FF2B5EF4-FFF2-40B4-BE49-F238E27FC236}">
                <a16:creationId xmlns:a16="http://schemas.microsoft.com/office/drawing/2014/main" id="{8936C17E-B695-4D2D-B0AB-02E62075D86F}"/>
              </a:ext>
            </a:extLst>
          </p:cNvPr>
          <p:cNvSpPr>
            <a:spLocks noGrp="1"/>
          </p:cNvSpPr>
          <p:nvPr/>
        </p:nvSpPr>
        <p:spPr>
          <a:xfrm>
            <a:off x="5795963" y="3671888"/>
            <a:ext cx="114300" cy="114300"/>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38" name="椭圆 37">
            <a:extLst>
              <a:ext uri="{FF2B5EF4-FFF2-40B4-BE49-F238E27FC236}">
                <a16:creationId xmlns:a16="http://schemas.microsoft.com/office/drawing/2014/main" id="{8B04CB6B-36B4-4DB1-8F82-E025123C864B}"/>
              </a:ext>
            </a:extLst>
          </p:cNvPr>
          <p:cNvSpPr>
            <a:spLocks noGrp="1"/>
          </p:cNvSpPr>
          <p:nvPr/>
        </p:nvSpPr>
        <p:spPr>
          <a:xfrm>
            <a:off x="6224588" y="3243263"/>
            <a:ext cx="114300" cy="114300"/>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39" name="矩形 38">
            <a:extLst>
              <a:ext uri="{FF2B5EF4-FFF2-40B4-BE49-F238E27FC236}">
                <a16:creationId xmlns:a16="http://schemas.microsoft.com/office/drawing/2014/main" id="{51A1A932-37C3-4649-A595-35A82E39495F}"/>
              </a:ext>
            </a:extLst>
          </p:cNvPr>
          <p:cNvSpPr>
            <a:spLocks noGrp="1"/>
          </p:cNvSpPr>
          <p:nvPr/>
        </p:nvSpPr>
        <p:spPr>
          <a:xfrm>
            <a:off x="4743450" y="4476750"/>
            <a:ext cx="2647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4 </a:t>
            </a:r>
            <a:r>
              <a:rPr>
                <a:latin typeface="黑体"/>
                <a:ea typeface="黑体"/>
                <a:cs typeface="黑体"/>
              </a:rPr>
              <a:t>个样本 </a:t>
            </a:r>
            <a:r>
              <a:rPr>
                <a:latin typeface="Times New Roman"/>
                <a:ea typeface="Times New Roman"/>
                <a:cs typeface="Times New Roman"/>
              </a:rPr>
              <a:t>/ 16 </a:t>
            </a:r>
            <a:r>
              <a:rPr>
                <a:latin typeface="黑体"/>
                <a:ea typeface="黑体"/>
                <a:cs typeface="黑体"/>
              </a:rPr>
              <a:t>个区域</a:t>
            </a:r>
          </a:p>
        </p:txBody>
      </p:sp>
      <p:sp>
        <p:nvSpPr>
          <p:cNvPr id="40" name="矩形 39">
            <a:extLst>
              <a:ext uri="{FF2B5EF4-FFF2-40B4-BE49-F238E27FC236}">
                <a16:creationId xmlns:a16="http://schemas.microsoft.com/office/drawing/2014/main" id="{8DF070A5-64A7-4D2B-A29F-08D3FB3E98C7}"/>
              </a:ext>
            </a:extLst>
          </p:cNvPr>
          <p:cNvSpPr>
            <a:spLocks noGrp="1"/>
          </p:cNvSpPr>
          <p:nvPr/>
        </p:nvSpPr>
        <p:spPr>
          <a:xfrm>
            <a:off x="8077200" y="1257300"/>
            <a:ext cx="3333750" cy="4000500"/>
          </a:xfrm>
          <a:prstGeom prst="rect">
            <a:avLst/>
          </a:prstGeom>
          <a:solidFill>
            <a:srgbClr val="FFFFFF"/>
          </a:solidFill>
          <a:ln w="9525">
            <a:solidFill>
              <a:srgbClr val="B8C3D1"/>
            </a:solidFill>
            <a:prstDash val="solid"/>
          </a:ln>
        </p:spPr>
        <p:txBody>
          <a:bodyPr/>
          <a:lstStyle/>
          <a:p>
            <a:endParaRPr lang="zh-CN" altLang="en-US"/>
          </a:p>
        </p:txBody>
      </p:sp>
      <p:sp>
        <p:nvSpPr>
          <p:cNvPr id="41" name="矩形 40">
            <a:extLst>
              <a:ext uri="{FF2B5EF4-FFF2-40B4-BE49-F238E27FC236}">
                <a16:creationId xmlns:a16="http://schemas.microsoft.com/office/drawing/2014/main" id="{D8AB6325-46FC-441D-AA5E-703621ED2559}"/>
              </a:ext>
            </a:extLst>
          </p:cNvPr>
          <p:cNvSpPr>
            <a:spLocks noGrp="1"/>
          </p:cNvSpPr>
          <p:nvPr/>
        </p:nvSpPr>
        <p:spPr>
          <a:xfrm>
            <a:off x="8305800" y="1466850"/>
            <a:ext cx="28765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A33A3A"/>
                </a:solidFill>
                <a:latin typeface="黑体"/>
                <a:ea typeface="黑体"/>
                <a:cs typeface="黑体"/>
              </a:defRPr>
            </a:pPr>
            <a:r>
              <a:rPr>
                <a:latin typeface="Times New Roman"/>
                <a:ea typeface="Times New Roman"/>
                <a:cs typeface="Times New Roman"/>
              </a:rPr>
              <a:t>3D</a:t>
            </a:r>
          </a:p>
        </p:txBody>
      </p:sp>
      <p:sp>
        <p:nvSpPr>
          <p:cNvPr id="42" name="矩形 41">
            <a:extLst>
              <a:ext uri="{FF2B5EF4-FFF2-40B4-BE49-F238E27FC236}">
                <a16:creationId xmlns:a16="http://schemas.microsoft.com/office/drawing/2014/main" id="{1963380E-F8C2-4BC2-82D0-DC8079152AF4}"/>
              </a:ext>
            </a:extLst>
          </p:cNvPr>
          <p:cNvSpPr>
            <a:spLocks noGrp="1"/>
          </p:cNvSpPr>
          <p:nvPr/>
        </p:nvSpPr>
        <p:spPr>
          <a:xfrm>
            <a:off x="8772525" y="22288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43" name="矩形 42">
            <a:extLst>
              <a:ext uri="{FF2B5EF4-FFF2-40B4-BE49-F238E27FC236}">
                <a16:creationId xmlns:a16="http://schemas.microsoft.com/office/drawing/2014/main" id="{DFCD6934-322D-4DA7-A8D2-E9E260260CB5}"/>
              </a:ext>
            </a:extLst>
          </p:cNvPr>
          <p:cNvSpPr>
            <a:spLocks noGrp="1"/>
          </p:cNvSpPr>
          <p:nvPr/>
        </p:nvSpPr>
        <p:spPr>
          <a:xfrm>
            <a:off x="9096375" y="22288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44" name="矩形 43">
            <a:extLst>
              <a:ext uri="{FF2B5EF4-FFF2-40B4-BE49-F238E27FC236}">
                <a16:creationId xmlns:a16="http://schemas.microsoft.com/office/drawing/2014/main" id="{5098E8DE-BF14-4E81-A709-0DE665D8CE80}"/>
              </a:ext>
            </a:extLst>
          </p:cNvPr>
          <p:cNvSpPr>
            <a:spLocks noGrp="1"/>
          </p:cNvSpPr>
          <p:nvPr/>
        </p:nvSpPr>
        <p:spPr>
          <a:xfrm>
            <a:off x="9420225" y="22288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45" name="矩形 44">
            <a:extLst>
              <a:ext uri="{FF2B5EF4-FFF2-40B4-BE49-F238E27FC236}">
                <a16:creationId xmlns:a16="http://schemas.microsoft.com/office/drawing/2014/main" id="{94DAAC1D-C91B-4542-907F-7635B9FF73E0}"/>
              </a:ext>
            </a:extLst>
          </p:cNvPr>
          <p:cNvSpPr>
            <a:spLocks noGrp="1"/>
          </p:cNvSpPr>
          <p:nvPr/>
        </p:nvSpPr>
        <p:spPr>
          <a:xfrm>
            <a:off x="9744075" y="22288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46" name="矩形 45">
            <a:extLst>
              <a:ext uri="{FF2B5EF4-FFF2-40B4-BE49-F238E27FC236}">
                <a16:creationId xmlns:a16="http://schemas.microsoft.com/office/drawing/2014/main" id="{0C0CED98-E924-437B-A3E7-9FBDE7E4C3D0}"/>
              </a:ext>
            </a:extLst>
          </p:cNvPr>
          <p:cNvSpPr>
            <a:spLocks noGrp="1"/>
          </p:cNvSpPr>
          <p:nvPr/>
        </p:nvSpPr>
        <p:spPr>
          <a:xfrm>
            <a:off x="10067925" y="22288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47" name="矩形 46">
            <a:extLst>
              <a:ext uri="{FF2B5EF4-FFF2-40B4-BE49-F238E27FC236}">
                <a16:creationId xmlns:a16="http://schemas.microsoft.com/office/drawing/2014/main" id="{D4016483-0A8B-4B80-8D76-A49FF4F91461}"/>
              </a:ext>
            </a:extLst>
          </p:cNvPr>
          <p:cNvSpPr>
            <a:spLocks noGrp="1"/>
          </p:cNvSpPr>
          <p:nvPr/>
        </p:nvSpPr>
        <p:spPr>
          <a:xfrm>
            <a:off x="10391775" y="22288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48" name="矩形 47">
            <a:extLst>
              <a:ext uri="{FF2B5EF4-FFF2-40B4-BE49-F238E27FC236}">
                <a16:creationId xmlns:a16="http://schemas.microsoft.com/office/drawing/2014/main" id="{BF2CCF45-EAA5-42F1-8CF0-99A3EEFDC732}"/>
              </a:ext>
            </a:extLst>
          </p:cNvPr>
          <p:cNvSpPr>
            <a:spLocks noGrp="1"/>
          </p:cNvSpPr>
          <p:nvPr/>
        </p:nvSpPr>
        <p:spPr>
          <a:xfrm>
            <a:off x="8772525" y="25527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49" name="矩形 48">
            <a:extLst>
              <a:ext uri="{FF2B5EF4-FFF2-40B4-BE49-F238E27FC236}">
                <a16:creationId xmlns:a16="http://schemas.microsoft.com/office/drawing/2014/main" id="{7DDC7F3E-3E29-4E53-9195-91A0E5F91EDA}"/>
              </a:ext>
            </a:extLst>
          </p:cNvPr>
          <p:cNvSpPr>
            <a:spLocks noGrp="1"/>
          </p:cNvSpPr>
          <p:nvPr/>
        </p:nvSpPr>
        <p:spPr>
          <a:xfrm>
            <a:off x="9096375" y="25527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0" name="矩形 49">
            <a:extLst>
              <a:ext uri="{FF2B5EF4-FFF2-40B4-BE49-F238E27FC236}">
                <a16:creationId xmlns:a16="http://schemas.microsoft.com/office/drawing/2014/main" id="{C3F5C150-536E-47F0-A3D3-1E17A1143A3B}"/>
              </a:ext>
            </a:extLst>
          </p:cNvPr>
          <p:cNvSpPr>
            <a:spLocks noGrp="1"/>
          </p:cNvSpPr>
          <p:nvPr/>
        </p:nvSpPr>
        <p:spPr>
          <a:xfrm>
            <a:off x="9420225" y="25527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1" name="矩形 50">
            <a:extLst>
              <a:ext uri="{FF2B5EF4-FFF2-40B4-BE49-F238E27FC236}">
                <a16:creationId xmlns:a16="http://schemas.microsoft.com/office/drawing/2014/main" id="{47FC2CD2-3CFA-4478-BEAC-83AE8D677A5E}"/>
              </a:ext>
            </a:extLst>
          </p:cNvPr>
          <p:cNvSpPr>
            <a:spLocks noGrp="1"/>
          </p:cNvSpPr>
          <p:nvPr/>
        </p:nvSpPr>
        <p:spPr>
          <a:xfrm>
            <a:off x="9744075" y="25527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2" name="矩形 51">
            <a:extLst>
              <a:ext uri="{FF2B5EF4-FFF2-40B4-BE49-F238E27FC236}">
                <a16:creationId xmlns:a16="http://schemas.microsoft.com/office/drawing/2014/main" id="{927AD3A8-9D3D-4CA2-9617-2FE29F90A487}"/>
              </a:ext>
            </a:extLst>
          </p:cNvPr>
          <p:cNvSpPr>
            <a:spLocks noGrp="1"/>
          </p:cNvSpPr>
          <p:nvPr/>
        </p:nvSpPr>
        <p:spPr>
          <a:xfrm>
            <a:off x="10067925" y="25527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3" name="矩形 52">
            <a:extLst>
              <a:ext uri="{FF2B5EF4-FFF2-40B4-BE49-F238E27FC236}">
                <a16:creationId xmlns:a16="http://schemas.microsoft.com/office/drawing/2014/main" id="{5C706BF4-1583-43F8-ADE6-4ED2033C661D}"/>
              </a:ext>
            </a:extLst>
          </p:cNvPr>
          <p:cNvSpPr>
            <a:spLocks noGrp="1"/>
          </p:cNvSpPr>
          <p:nvPr/>
        </p:nvSpPr>
        <p:spPr>
          <a:xfrm>
            <a:off x="10391775" y="25527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4" name="矩形 53">
            <a:extLst>
              <a:ext uri="{FF2B5EF4-FFF2-40B4-BE49-F238E27FC236}">
                <a16:creationId xmlns:a16="http://schemas.microsoft.com/office/drawing/2014/main" id="{D57FA4F9-55D0-4CAE-95C2-B888AD9D1BFB}"/>
              </a:ext>
            </a:extLst>
          </p:cNvPr>
          <p:cNvSpPr>
            <a:spLocks noGrp="1"/>
          </p:cNvSpPr>
          <p:nvPr/>
        </p:nvSpPr>
        <p:spPr>
          <a:xfrm>
            <a:off x="8772525" y="28765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5" name="矩形 54">
            <a:extLst>
              <a:ext uri="{FF2B5EF4-FFF2-40B4-BE49-F238E27FC236}">
                <a16:creationId xmlns:a16="http://schemas.microsoft.com/office/drawing/2014/main" id="{FA024E03-FF93-4CF5-ACA8-F6FC582F140C}"/>
              </a:ext>
            </a:extLst>
          </p:cNvPr>
          <p:cNvSpPr>
            <a:spLocks noGrp="1"/>
          </p:cNvSpPr>
          <p:nvPr/>
        </p:nvSpPr>
        <p:spPr>
          <a:xfrm>
            <a:off x="9096375" y="28765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6" name="矩形 55">
            <a:extLst>
              <a:ext uri="{FF2B5EF4-FFF2-40B4-BE49-F238E27FC236}">
                <a16:creationId xmlns:a16="http://schemas.microsoft.com/office/drawing/2014/main" id="{74FFC2F6-A78C-49F3-BAFB-73BAD899B353}"/>
              </a:ext>
            </a:extLst>
          </p:cNvPr>
          <p:cNvSpPr>
            <a:spLocks noGrp="1"/>
          </p:cNvSpPr>
          <p:nvPr/>
        </p:nvSpPr>
        <p:spPr>
          <a:xfrm>
            <a:off x="9420225" y="28765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7" name="矩形 56">
            <a:extLst>
              <a:ext uri="{FF2B5EF4-FFF2-40B4-BE49-F238E27FC236}">
                <a16:creationId xmlns:a16="http://schemas.microsoft.com/office/drawing/2014/main" id="{B5ACCDBE-08A3-47BD-A22E-9B3EAC619796}"/>
              </a:ext>
            </a:extLst>
          </p:cNvPr>
          <p:cNvSpPr>
            <a:spLocks noGrp="1"/>
          </p:cNvSpPr>
          <p:nvPr/>
        </p:nvSpPr>
        <p:spPr>
          <a:xfrm>
            <a:off x="9744075" y="28765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8" name="矩形 57">
            <a:extLst>
              <a:ext uri="{FF2B5EF4-FFF2-40B4-BE49-F238E27FC236}">
                <a16:creationId xmlns:a16="http://schemas.microsoft.com/office/drawing/2014/main" id="{978CB502-C42E-44DE-8C33-9AFE5177DDA6}"/>
              </a:ext>
            </a:extLst>
          </p:cNvPr>
          <p:cNvSpPr>
            <a:spLocks noGrp="1"/>
          </p:cNvSpPr>
          <p:nvPr/>
        </p:nvSpPr>
        <p:spPr>
          <a:xfrm>
            <a:off x="10067925" y="28765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59" name="矩形 58">
            <a:extLst>
              <a:ext uri="{FF2B5EF4-FFF2-40B4-BE49-F238E27FC236}">
                <a16:creationId xmlns:a16="http://schemas.microsoft.com/office/drawing/2014/main" id="{129C279C-C337-4E9D-90FF-426F1655246F}"/>
              </a:ext>
            </a:extLst>
          </p:cNvPr>
          <p:cNvSpPr>
            <a:spLocks noGrp="1"/>
          </p:cNvSpPr>
          <p:nvPr/>
        </p:nvSpPr>
        <p:spPr>
          <a:xfrm>
            <a:off x="10391775" y="28765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0" name="矩形 59">
            <a:extLst>
              <a:ext uri="{FF2B5EF4-FFF2-40B4-BE49-F238E27FC236}">
                <a16:creationId xmlns:a16="http://schemas.microsoft.com/office/drawing/2014/main" id="{5A1FE3CD-5D77-4155-B945-51B83BB63EB2}"/>
              </a:ext>
            </a:extLst>
          </p:cNvPr>
          <p:cNvSpPr>
            <a:spLocks noGrp="1"/>
          </p:cNvSpPr>
          <p:nvPr/>
        </p:nvSpPr>
        <p:spPr>
          <a:xfrm>
            <a:off x="8772525" y="32004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1" name="矩形 60">
            <a:extLst>
              <a:ext uri="{FF2B5EF4-FFF2-40B4-BE49-F238E27FC236}">
                <a16:creationId xmlns:a16="http://schemas.microsoft.com/office/drawing/2014/main" id="{F3F9B9B3-337B-462B-9744-39352777ED47}"/>
              </a:ext>
            </a:extLst>
          </p:cNvPr>
          <p:cNvSpPr>
            <a:spLocks noGrp="1"/>
          </p:cNvSpPr>
          <p:nvPr/>
        </p:nvSpPr>
        <p:spPr>
          <a:xfrm>
            <a:off x="9096375" y="32004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2" name="矩形 61">
            <a:extLst>
              <a:ext uri="{FF2B5EF4-FFF2-40B4-BE49-F238E27FC236}">
                <a16:creationId xmlns:a16="http://schemas.microsoft.com/office/drawing/2014/main" id="{9AFF0851-AF1D-4646-8958-42C07F207A58}"/>
              </a:ext>
            </a:extLst>
          </p:cNvPr>
          <p:cNvSpPr>
            <a:spLocks noGrp="1"/>
          </p:cNvSpPr>
          <p:nvPr/>
        </p:nvSpPr>
        <p:spPr>
          <a:xfrm>
            <a:off x="9420225" y="32004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3" name="矩形 62">
            <a:extLst>
              <a:ext uri="{FF2B5EF4-FFF2-40B4-BE49-F238E27FC236}">
                <a16:creationId xmlns:a16="http://schemas.microsoft.com/office/drawing/2014/main" id="{DACF5158-E0FB-4858-BFDD-8227900E014F}"/>
              </a:ext>
            </a:extLst>
          </p:cNvPr>
          <p:cNvSpPr>
            <a:spLocks noGrp="1"/>
          </p:cNvSpPr>
          <p:nvPr/>
        </p:nvSpPr>
        <p:spPr>
          <a:xfrm>
            <a:off x="9744075" y="32004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4" name="矩形 63">
            <a:extLst>
              <a:ext uri="{FF2B5EF4-FFF2-40B4-BE49-F238E27FC236}">
                <a16:creationId xmlns:a16="http://schemas.microsoft.com/office/drawing/2014/main" id="{2F3A1330-BD37-40FD-A9F8-00357387A8BA}"/>
              </a:ext>
            </a:extLst>
          </p:cNvPr>
          <p:cNvSpPr>
            <a:spLocks noGrp="1"/>
          </p:cNvSpPr>
          <p:nvPr/>
        </p:nvSpPr>
        <p:spPr>
          <a:xfrm>
            <a:off x="10067925" y="32004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5" name="矩形 64">
            <a:extLst>
              <a:ext uri="{FF2B5EF4-FFF2-40B4-BE49-F238E27FC236}">
                <a16:creationId xmlns:a16="http://schemas.microsoft.com/office/drawing/2014/main" id="{36BEC978-DE07-4B67-821E-38EEE8E42AA7}"/>
              </a:ext>
            </a:extLst>
          </p:cNvPr>
          <p:cNvSpPr>
            <a:spLocks noGrp="1"/>
          </p:cNvSpPr>
          <p:nvPr/>
        </p:nvSpPr>
        <p:spPr>
          <a:xfrm>
            <a:off x="10391775" y="32004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6" name="矩形 65">
            <a:extLst>
              <a:ext uri="{FF2B5EF4-FFF2-40B4-BE49-F238E27FC236}">
                <a16:creationId xmlns:a16="http://schemas.microsoft.com/office/drawing/2014/main" id="{E1FA03E0-72E7-438B-9CE4-D30424E9ADCC}"/>
              </a:ext>
            </a:extLst>
          </p:cNvPr>
          <p:cNvSpPr>
            <a:spLocks noGrp="1"/>
          </p:cNvSpPr>
          <p:nvPr/>
        </p:nvSpPr>
        <p:spPr>
          <a:xfrm>
            <a:off x="8772525" y="35242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7" name="矩形 66">
            <a:extLst>
              <a:ext uri="{FF2B5EF4-FFF2-40B4-BE49-F238E27FC236}">
                <a16:creationId xmlns:a16="http://schemas.microsoft.com/office/drawing/2014/main" id="{BC1B5E53-44F0-4139-ADF4-108129AF39B3}"/>
              </a:ext>
            </a:extLst>
          </p:cNvPr>
          <p:cNvSpPr>
            <a:spLocks noGrp="1"/>
          </p:cNvSpPr>
          <p:nvPr/>
        </p:nvSpPr>
        <p:spPr>
          <a:xfrm>
            <a:off x="9096375" y="35242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8" name="矩形 67">
            <a:extLst>
              <a:ext uri="{FF2B5EF4-FFF2-40B4-BE49-F238E27FC236}">
                <a16:creationId xmlns:a16="http://schemas.microsoft.com/office/drawing/2014/main" id="{9DEC937E-C5BB-4A58-898C-32E0A674A9C1}"/>
              </a:ext>
            </a:extLst>
          </p:cNvPr>
          <p:cNvSpPr>
            <a:spLocks noGrp="1"/>
          </p:cNvSpPr>
          <p:nvPr/>
        </p:nvSpPr>
        <p:spPr>
          <a:xfrm>
            <a:off x="9420225" y="35242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69" name="矩形 68">
            <a:extLst>
              <a:ext uri="{FF2B5EF4-FFF2-40B4-BE49-F238E27FC236}">
                <a16:creationId xmlns:a16="http://schemas.microsoft.com/office/drawing/2014/main" id="{5BD8FE73-3D7F-475F-A8AE-B967D4C89ADB}"/>
              </a:ext>
            </a:extLst>
          </p:cNvPr>
          <p:cNvSpPr>
            <a:spLocks noGrp="1"/>
          </p:cNvSpPr>
          <p:nvPr/>
        </p:nvSpPr>
        <p:spPr>
          <a:xfrm>
            <a:off x="9744075" y="35242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0" name="矩形 69">
            <a:extLst>
              <a:ext uri="{FF2B5EF4-FFF2-40B4-BE49-F238E27FC236}">
                <a16:creationId xmlns:a16="http://schemas.microsoft.com/office/drawing/2014/main" id="{BB1C0189-ADB9-470E-AEF0-2AD281194F33}"/>
              </a:ext>
            </a:extLst>
          </p:cNvPr>
          <p:cNvSpPr>
            <a:spLocks noGrp="1"/>
          </p:cNvSpPr>
          <p:nvPr/>
        </p:nvSpPr>
        <p:spPr>
          <a:xfrm>
            <a:off x="10067925" y="35242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1" name="矩形 70">
            <a:extLst>
              <a:ext uri="{FF2B5EF4-FFF2-40B4-BE49-F238E27FC236}">
                <a16:creationId xmlns:a16="http://schemas.microsoft.com/office/drawing/2014/main" id="{352CDBBD-3491-4CD8-B795-02F9CF2E2AF7}"/>
              </a:ext>
            </a:extLst>
          </p:cNvPr>
          <p:cNvSpPr>
            <a:spLocks noGrp="1"/>
          </p:cNvSpPr>
          <p:nvPr/>
        </p:nvSpPr>
        <p:spPr>
          <a:xfrm>
            <a:off x="10391775" y="352425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2" name="矩形 71">
            <a:extLst>
              <a:ext uri="{FF2B5EF4-FFF2-40B4-BE49-F238E27FC236}">
                <a16:creationId xmlns:a16="http://schemas.microsoft.com/office/drawing/2014/main" id="{5798F59D-8CB3-4EC5-B9AD-6684EEDCB829}"/>
              </a:ext>
            </a:extLst>
          </p:cNvPr>
          <p:cNvSpPr>
            <a:spLocks noGrp="1"/>
          </p:cNvSpPr>
          <p:nvPr/>
        </p:nvSpPr>
        <p:spPr>
          <a:xfrm>
            <a:off x="8772525" y="38481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3" name="矩形 72">
            <a:extLst>
              <a:ext uri="{FF2B5EF4-FFF2-40B4-BE49-F238E27FC236}">
                <a16:creationId xmlns:a16="http://schemas.microsoft.com/office/drawing/2014/main" id="{3A832478-3929-4E99-857B-DE8CACF6F0F5}"/>
              </a:ext>
            </a:extLst>
          </p:cNvPr>
          <p:cNvSpPr>
            <a:spLocks noGrp="1"/>
          </p:cNvSpPr>
          <p:nvPr/>
        </p:nvSpPr>
        <p:spPr>
          <a:xfrm>
            <a:off x="9096375" y="38481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4" name="矩形 73">
            <a:extLst>
              <a:ext uri="{FF2B5EF4-FFF2-40B4-BE49-F238E27FC236}">
                <a16:creationId xmlns:a16="http://schemas.microsoft.com/office/drawing/2014/main" id="{71B2849C-ADF9-4300-A86C-1D99706F0D09}"/>
              </a:ext>
            </a:extLst>
          </p:cNvPr>
          <p:cNvSpPr>
            <a:spLocks noGrp="1"/>
          </p:cNvSpPr>
          <p:nvPr/>
        </p:nvSpPr>
        <p:spPr>
          <a:xfrm>
            <a:off x="9420225" y="38481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5" name="矩形 74">
            <a:extLst>
              <a:ext uri="{FF2B5EF4-FFF2-40B4-BE49-F238E27FC236}">
                <a16:creationId xmlns:a16="http://schemas.microsoft.com/office/drawing/2014/main" id="{52BFBF7E-C0A4-4493-AAE6-D512EC104BE3}"/>
              </a:ext>
            </a:extLst>
          </p:cNvPr>
          <p:cNvSpPr>
            <a:spLocks noGrp="1"/>
          </p:cNvSpPr>
          <p:nvPr/>
        </p:nvSpPr>
        <p:spPr>
          <a:xfrm>
            <a:off x="9744075" y="38481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6" name="矩形 75">
            <a:extLst>
              <a:ext uri="{FF2B5EF4-FFF2-40B4-BE49-F238E27FC236}">
                <a16:creationId xmlns:a16="http://schemas.microsoft.com/office/drawing/2014/main" id="{F627DAA6-8A97-49B1-8553-F1AC0F3FC71C}"/>
              </a:ext>
            </a:extLst>
          </p:cNvPr>
          <p:cNvSpPr>
            <a:spLocks noGrp="1"/>
          </p:cNvSpPr>
          <p:nvPr/>
        </p:nvSpPr>
        <p:spPr>
          <a:xfrm>
            <a:off x="10067925" y="38481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7" name="矩形 76">
            <a:extLst>
              <a:ext uri="{FF2B5EF4-FFF2-40B4-BE49-F238E27FC236}">
                <a16:creationId xmlns:a16="http://schemas.microsoft.com/office/drawing/2014/main" id="{C314443C-7507-484D-B909-547D41057524}"/>
              </a:ext>
            </a:extLst>
          </p:cNvPr>
          <p:cNvSpPr>
            <a:spLocks noGrp="1"/>
          </p:cNvSpPr>
          <p:nvPr/>
        </p:nvSpPr>
        <p:spPr>
          <a:xfrm>
            <a:off x="10391775" y="3848100"/>
            <a:ext cx="304800" cy="304800"/>
          </a:xfrm>
          <a:prstGeom prst="rect">
            <a:avLst/>
          </a:prstGeom>
          <a:solidFill>
            <a:srgbClr val="FFFFFF"/>
          </a:solidFill>
          <a:ln w="9525">
            <a:solidFill>
              <a:srgbClr val="C9D2DD"/>
            </a:solidFill>
            <a:prstDash val="solid"/>
          </a:ln>
        </p:spPr>
        <p:txBody>
          <a:bodyPr/>
          <a:lstStyle/>
          <a:p>
            <a:endParaRPr lang="zh-CN" altLang="en-US"/>
          </a:p>
        </p:txBody>
      </p:sp>
      <p:sp>
        <p:nvSpPr>
          <p:cNvPr id="78" name="椭圆 77">
            <a:extLst>
              <a:ext uri="{FF2B5EF4-FFF2-40B4-BE49-F238E27FC236}">
                <a16:creationId xmlns:a16="http://schemas.microsoft.com/office/drawing/2014/main" id="{6EC80FC9-89AF-49CF-9E67-D50494E40490}"/>
              </a:ext>
            </a:extLst>
          </p:cNvPr>
          <p:cNvSpPr>
            <a:spLocks noGrp="1"/>
          </p:cNvSpPr>
          <p:nvPr/>
        </p:nvSpPr>
        <p:spPr>
          <a:xfrm>
            <a:off x="8877300" y="2333625"/>
            <a:ext cx="114300" cy="114300"/>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D1BA78A3-D3BF-474B-B63B-945233ABDE21}"/>
              </a:ext>
            </a:extLst>
          </p:cNvPr>
          <p:cNvSpPr>
            <a:spLocks noGrp="1"/>
          </p:cNvSpPr>
          <p:nvPr/>
        </p:nvSpPr>
        <p:spPr>
          <a:xfrm>
            <a:off x="10496550" y="2657475"/>
            <a:ext cx="114300" cy="114300"/>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511A8A1F-F983-4F65-8B59-09AEAC099829}"/>
              </a:ext>
            </a:extLst>
          </p:cNvPr>
          <p:cNvSpPr>
            <a:spLocks noGrp="1"/>
          </p:cNvSpPr>
          <p:nvPr/>
        </p:nvSpPr>
        <p:spPr>
          <a:xfrm>
            <a:off x="9201150" y="3952875"/>
            <a:ext cx="114300" cy="114300"/>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43D499F5-35D9-4EF0-B545-9060AACCACF3}"/>
              </a:ext>
            </a:extLst>
          </p:cNvPr>
          <p:cNvSpPr>
            <a:spLocks noGrp="1"/>
          </p:cNvSpPr>
          <p:nvPr/>
        </p:nvSpPr>
        <p:spPr>
          <a:xfrm>
            <a:off x="10172700" y="3629025"/>
            <a:ext cx="114300" cy="114300"/>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82" name="矩形 81">
            <a:extLst>
              <a:ext uri="{FF2B5EF4-FFF2-40B4-BE49-F238E27FC236}">
                <a16:creationId xmlns:a16="http://schemas.microsoft.com/office/drawing/2014/main" id="{CE62C9A7-1D3F-48EC-B76E-65CF100565B0}"/>
              </a:ext>
            </a:extLst>
          </p:cNvPr>
          <p:cNvSpPr>
            <a:spLocks noGrp="1"/>
          </p:cNvSpPr>
          <p:nvPr/>
        </p:nvSpPr>
        <p:spPr>
          <a:xfrm>
            <a:off x="8420100" y="4476750"/>
            <a:ext cx="26479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4 </a:t>
            </a:r>
            <a:r>
              <a:rPr>
                <a:latin typeface="黑体"/>
                <a:ea typeface="黑体"/>
                <a:cs typeface="黑体"/>
              </a:rPr>
              <a:t>个样本 </a:t>
            </a:r>
            <a:r>
              <a:rPr>
                <a:latin typeface="Times New Roman"/>
                <a:ea typeface="Times New Roman"/>
                <a:cs typeface="Times New Roman"/>
              </a:rPr>
              <a:t>/ 64 </a:t>
            </a:r>
            <a:r>
              <a:rPr>
                <a:latin typeface="黑体"/>
                <a:ea typeface="黑体"/>
                <a:cs typeface="黑体"/>
              </a:rPr>
              <a:t>个区域</a:t>
            </a:r>
          </a:p>
        </p:txBody>
      </p:sp>
      <p:sp>
        <p:nvSpPr>
          <p:cNvPr id="83" name="矩形 82">
            <a:extLst>
              <a:ext uri="{FF2B5EF4-FFF2-40B4-BE49-F238E27FC236}">
                <a16:creationId xmlns:a16="http://schemas.microsoft.com/office/drawing/2014/main" id="{74C7A55B-E70F-4A71-9AB5-7B69C6B9C092}"/>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84" name="矩形 83">
            <a:extLst>
              <a:ext uri="{FF2B5EF4-FFF2-40B4-BE49-F238E27FC236}">
                <a16:creationId xmlns:a16="http://schemas.microsoft.com/office/drawing/2014/main" id="{A9CFCEC2-3B57-4E6F-A2F2-F69234C09C4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高维数据需要更多样本，并常常需要选择或压缩特征。</a:t>
            </a:r>
          </a:p>
        </p:txBody>
      </p:sp>
    </p:spTree>
    <p:extLst>
      <p:ext uri="{BB962C8B-B14F-4D97-AF65-F5344CB8AC3E}">
        <p14:creationId xmlns:p14="http://schemas.microsoft.com/office/powerpoint/2010/main" val="14347419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F5112AC7-8DC1-429B-BBC3-C83547B0DE1E}"/>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18C1A8D-5588-4221-96FA-26F020E4293B}"/>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F1546991-6108-422D-844C-E177F18ACA48}"/>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9CC873E-4E06-41BF-83E4-6FD2E79A1BF4}"/>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特征选择与特征构造</a:t>
            </a:r>
          </a:p>
        </p:txBody>
      </p:sp>
      <p:sp>
        <p:nvSpPr>
          <p:cNvPr id="5" name="矩形 4">
            <a:extLst>
              <a:ext uri="{FF2B5EF4-FFF2-40B4-BE49-F238E27FC236}">
                <a16:creationId xmlns:a16="http://schemas.microsoft.com/office/drawing/2014/main" id="{CEFB68EA-02DB-4CFD-B97F-D07EE309E2D6}"/>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59/90</a:t>
            </a:r>
          </a:p>
        </p:txBody>
      </p:sp>
      <p:sp>
        <p:nvSpPr>
          <p:cNvPr id="6" name="矩形 5">
            <a:extLst>
              <a:ext uri="{FF2B5EF4-FFF2-40B4-BE49-F238E27FC236}">
                <a16:creationId xmlns:a16="http://schemas.microsoft.com/office/drawing/2014/main" id="{DEE5513F-124D-4711-B6B5-6C8716EF63CF}"/>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316A5867-3BFB-401A-BF28-4AF1AEA80968}"/>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3BD2646A-E5D3-4C70-B218-11482E033665}"/>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Times New Roman"/>
                <a:ea typeface="Times New Roman"/>
                <a:cs typeface="Times New Roman"/>
              </a:rPr>
              <a:t>Feature Selection</a:t>
            </a:r>
          </a:p>
        </p:txBody>
      </p:sp>
      <p:sp>
        <p:nvSpPr>
          <p:cNvPr id="9" name="矩形 8">
            <a:extLst>
              <a:ext uri="{FF2B5EF4-FFF2-40B4-BE49-F238E27FC236}">
                <a16:creationId xmlns:a16="http://schemas.microsoft.com/office/drawing/2014/main" id="{36EC9550-C7A2-47EA-A19D-B8F6FF4668B0}"/>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3C6E9944-CD8A-4515-87C3-4B28CB40E9D3}"/>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从已有变量中保留一部分</a:t>
            </a:r>
          </a:p>
        </p:txBody>
      </p:sp>
      <p:sp>
        <p:nvSpPr>
          <p:cNvPr id="11" name="矩形 10">
            <a:extLst>
              <a:ext uri="{FF2B5EF4-FFF2-40B4-BE49-F238E27FC236}">
                <a16:creationId xmlns:a16="http://schemas.microsoft.com/office/drawing/2014/main" id="{B8286B79-7528-4EA8-9294-65B364BDC78E}"/>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E21392B5-97AC-449F-BF8D-1BE5D4275318}"/>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删除重复、无关或不稳定变量</a:t>
            </a:r>
          </a:p>
        </p:txBody>
      </p:sp>
      <p:sp>
        <p:nvSpPr>
          <p:cNvPr id="13" name="矩形 12">
            <a:extLst>
              <a:ext uri="{FF2B5EF4-FFF2-40B4-BE49-F238E27FC236}">
                <a16:creationId xmlns:a16="http://schemas.microsoft.com/office/drawing/2014/main" id="{10BBA357-DECE-4FF4-B9B6-CCF68A97BA9F}"/>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AFE1723E-A90D-4D2F-AE95-93503B50D5B3}"/>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结果仍保持原变量含义</a:t>
            </a:r>
          </a:p>
        </p:txBody>
      </p:sp>
      <p:sp>
        <p:nvSpPr>
          <p:cNvPr id="15" name="矩形 14">
            <a:extLst>
              <a:ext uri="{FF2B5EF4-FFF2-40B4-BE49-F238E27FC236}">
                <a16:creationId xmlns:a16="http://schemas.microsoft.com/office/drawing/2014/main" id="{317DF9A2-9ED7-41A0-AA78-B9E2ECBB3BA6}"/>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0DA37095-BD47-42FF-B38A-D967A972AC76}"/>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例：从 </a:t>
            </a:r>
            <a:r>
              <a:rPr>
                <a:latin typeface="Times New Roman"/>
                <a:ea typeface="Times New Roman"/>
                <a:cs typeface="Times New Roman"/>
              </a:rPr>
              <a:t>120 </a:t>
            </a:r>
            <a:r>
              <a:rPr>
                <a:latin typeface="黑体"/>
                <a:ea typeface="黑体"/>
                <a:cs typeface="黑体"/>
              </a:rPr>
              <a:t>个日志字段保留 </a:t>
            </a:r>
            <a:r>
              <a:rPr>
                <a:latin typeface="Times New Roman"/>
                <a:ea typeface="Times New Roman"/>
                <a:cs typeface="Times New Roman"/>
              </a:rPr>
              <a:t>18 </a:t>
            </a:r>
            <a:r>
              <a:rPr>
                <a:latin typeface="黑体"/>
                <a:ea typeface="黑体"/>
                <a:cs typeface="黑体"/>
              </a:rPr>
              <a:t>个</a:t>
            </a:r>
          </a:p>
        </p:txBody>
      </p:sp>
      <p:sp>
        <p:nvSpPr>
          <p:cNvPr id="17" name="矩形 16">
            <a:extLst>
              <a:ext uri="{FF2B5EF4-FFF2-40B4-BE49-F238E27FC236}">
                <a16:creationId xmlns:a16="http://schemas.microsoft.com/office/drawing/2014/main" id="{D6478671-8D2F-4C6C-B637-BC183126DCD4}"/>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4446808E-73EA-4408-9FB3-019F846473D6}"/>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C1C6A545-9091-4BED-AED3-A95B48CEABA3}"/>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Times New Roman"/>
                <a:ea typeface="Times New Roman"/>
                <a:cs typeface="Times New Roman"/>
              </a:rPr>
              <a:t>Feature Creation</a:t>
            </a:r>
          </a:p>
        </p:txBody>
      </p:sp>
      <p:sp>
        <p:nvSpPr>
          <p:cNvPr id="20" name="矩形 19">
            <a:extLst>
              <a:ext uri="{FF2B5EF4-FFF2-40B4-BE49-F238E27FC236}">
                <a16:creationId xmlns:a16="http://schemas.microsoft.com/office/drawing/2014/main" id="{85B57E96-26FB-4615-8501-E38914977053}"/>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6A9B4347-2B32-411B-A254-56D2B5A7F7DD}"/>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由原始变量构造新表达</a:t>
            </a:r>
          </a:p>
        </p:txBody>
      </p:sp>
      <p:sp>
        <p:nvSpPr>
          <p:cNvPr id="22" name="矩形 21">
            <a:extLst>
              <a:ext uri="{FF2B5EF4-FFF2-40B4-BE49-F238E27FC236}">
                <a16:creationId xmlns:a16="http://schemas.microsoft.com/office/drawing/2014/main" id="{CA868A2B-A7E4-40C8-AC5E-1DDC19E6AA03}"/>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B896FEE9-D6E3-4E6A-8AC9-A465DBB1185A}"/>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聚合、比例、趋势或交互</a:t>
            </a:r>
          </a:p>
        </p:txBody>
      </p:sp>
      <p:sp>
        <p:nvSpPr>
          <p:cNvPr id="24" name="矩形 23">
            <a:extLst>
              <a:ext uri="{FF2B5EF4-FFF2-40B4-BE49-F238E27FC236}">
                <a16:creationId xmlns:a16="http://schemas.microsoft.com/office/drawing/2014/main" id="{31B7F0D4-9ECB-4DF8-A45C-F1768CEC4314}"/>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02AB471A-6349-4C50-A1C9-B4B2BB7E9688}"/>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可能提高信号，也可能引入泄漏</a:t>
            </a:r>
          </a:p>
        </p:txBody>
      </p:sp>
      <p:sp>
        <p:nvSpPr>
          <p:cNvPr id="26" name="矩形 25">
            <a:extLst>
              <a:ext uri="{FF2B5EF4-FFF2-40B4-BE49-F238E27FC236}">
                <a16:creationId xmlns:a16="http://schemas.microsoft.com/office/drawing/2014/main" id="{A7994230-E870-49DD-BBCC-6C336DFC1A7E}"/>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EA3572E9-94E6-450A-90DA-69CD0AD3F57C}"/>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例：近 </a:t>
            </a:r>
            <a:r>
              <a:rPr>
                <a:latin typeface="Times New Roman"/>
                <a:ea typeface="Times New Roman"/>
                <a:cs typeface="Times New Roman"/>
              </a:rPr>
              <a:t>4 </a:t>
            </a:r>
            <a:r>
              <a:rPr>
                <a:latin typeface="黑体"/>
                <a:ea typeface="黑体"/>
                <a:cs typeface="黑体"/>
              </a:rPr>
              <a:t>周登录下降斜率</a:t>
            </a:r>
          </a:p>
        </p:txBody>
      </p:sp>
      <p:sp>
        <p:nvSpPr>
          <p:cNvPr id="28" name="矩形 27">
            <a:extLst>
              <a:ext uri="{FF2B5EF4-FFF2-40B4-BE49-F238E27FC236}">
                <a16:creationId xmlns:a16="http://schemas.microsoft.com/office/drawing/2014/main" id="{A4710CF7-7135-4C9F-B891-23DA07FA639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AB360686-51AC-4259-83AE-924AA639B261}"/>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好的特征应同时具有信息量、稳定性和可解释性。</a:t>
            </a:r>
          </a:p>
        </p:txBody>
      </p:sp>
    </p:spTree>
    <p:extLst>
      <p:ext uri="{BB962C8B-B14F-4D97-AF65-F5344CB8AC3E}">
        <p14:creationId xmlns:p14="http://schemas.microsoft.com/office/powerpoint/2010/main" val="5619442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矩形 142">
            <a:extLst>
              <a:ext uri="{FF2B5EF4-FFF2-40B4-BE49-F238E27FC236}">
                <a16:creationId xmlns:a16="http://schemas.microsoft.com/office/drawing/2014/main" id="{CA0BEA7F-B17D-4A36-BBDD-5B13C4110C2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3E3918CC-5778-4346-A2C4-93EC6004E82F}"/>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C64BE81A-8B90-4688-8D41-0684544B5E24}"/>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6E10096E-13B8-4C26-A6BA-3B12F032D229}"/>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PCA </a:t>
            </a:r>
            <a:r>
              <a:rPr>
                <a:latin typeface="黑体"/>
                <a:ea typeface="黑体"/>
                <a:cs typeface="黑体"/>
              </a:rPr>
              <a:t>寻找方差最大的正交方向</a:t>
            </a:r>
          </a:p>
        </p:txBody>
      </p:sp>
      <p:sp>
        <p:nvSpPr>
          <p:cNvPr id="5" name="矩形 4">
            <a:extLst>
              <a:ext uri="{FF2B5EF4-FFF2-40B4-BE49-F238E27FC236}">
                <a16:creationId xmlns:a16="http://schemas.microsoft.com/office/drawing/2014/main" id="{9630659E-C9B7-48AA-8C32-73C06462DF39}"/>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60/90</a:t>
            </a:r>
          </a:p>
        </p:txBody>
      </p:sp>
      <p:sp>
        <p:nvSpPr>
          <p:cNvPr id="6" name="矩形 5">
            <a:extLst>
              <a:ext uri="{FF2B5EF4-FFF2-40B4-BE49-F238E27FC236}">
                <a16:creationId xmlns:a16="http://schemas.microsoft.com/office/drawing/2014/main" id="{5057C800-3F62-439D-AE24-971E50D243E1}"/>
              </a:ext>
            </a:extLst>
          </p:cNvPr>
          <p:cNvSpPr>
            <a:spLocks noGrp="1"/>
          </p:cNvSpPr>
          <p:nvPr/>
        </p:nvSpPr>
        <p:spPr>
          <a:xfrm>
            <a:off x="704850" y="1257300"/>
            <a:ext cx="10782300" cy="401955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7BD42086-E56E-48C5-B402-906067102A49}"/>
              </a:ext>
            </a:extLst>
          </p:cNvPr>
          <p:cNvSpPr>
            <a:spLocks noGrp="1"/>
          </p:cNvSpPr>
          <p:nvPr/>
        </p:nvSpPr>
        <p:spPr>
          <a:xfrm>
            <a:off x="1162050" y="4514850"/>
            <a:ext cx="5619750" cy="1905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18283D44-5531-4375-9FE4-D8F6A2666D13}"/>
              </a:ext>
            </a:extLst>
          </p:cNvPr>
          <p:cNvSpPr>
            <a:spLocks noGrp="1"/>
          </p:cNvSpPr>
          <p:nvPr/>
        </p:nvSpPr>
        <p:spPr>
          <a:xfrm>
            <a:off x="3790950" y="1809750"/>
            <a:ext cx="19050" cy="272415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9" name="椭圆 8">
            <a:extLst>
              <a:ext uri="{FF2B5EF4-FFF2-40B4-BE49-F238E27FC236}">
                <a16:creationId xmlns:a16="http://schemas.microsoft.com/office/drawing/2014/main" id="{DABF806D-555F-46D7-8CAF-439597651EFE}"/>
              </a:ext>
            </a:extLst>
          </p:cNvPr>
          <p:cNvSpPr>
            <a:spLocks noGrp="1"/>
          </p:cNvSpPr>
          <p:nvPr/>
        </p:nvSpPr>
        <p:spPr>
          <a:xfrm>
            <a:off x="1790700" y="4400550"/>
            <a:ext cx="123825" cy="123825"/>
          </a:xfrm>
          <a:prstGeom prst="ellipse">
            <a:avLst/>
          </a:prstGeom>
          <a:solidFill>
            <a:srgbClr val="B4964B"/>
          </a:solidFill>
          <a:ln w="9525">
            <a:solidFill>
              <a:srgbClr val="FFFFFF"/>
            </a:solidFill>
            <a:prstDash val="solid"/>
          </a:ln>
        </p:spPr>
        <p:txBody>
          <a:bodyPr/>
          <a:lstStyle/>
          <a:p>
            <a:endParaRPr lang="zh-CN" altLang="en-US"/>
          </a:p>
        </p:txBody>
      </p:sp>
      <p:sp>
        <p:nvSpPr>
          <p:cNvPr id="10" name="椭圆 9">
            <a:extLst>
              <a:ext uri="{FF2B5EF4-FFF2-40B4-BE49-F238E27FC236}">
                <a16:creationId xmlns:a16="http://schemas.microsoft.com/office/drawing/2014/main" id="{4F99F3A1-B1DA-4468-91BE-6B56D884E587}"/>
              </a:ext>
            </a:extLst>
          </p:cNvPr>
          <p:cNvSpPr>
            <a:spLocks noGrp="1"/>
          </p:cNvSpPr>
          <p:nvPr/>
        </p:nvSpPr>
        <p:spPr>
          <a:xfrm>
            <a:off x="2095500" y="4114800"/>
            <a:ext cx="123825" cy="123825"/>
          </a:xfrm>
          <a:prstGeom prst="ellipse">
            <a:avLst/>
          </a:prstGeom>
          <a:solidFill>
            <a:srgbClr val="014DA1"/>
          </a:solidFill>
          <a:ln w="9525">
            <a:solidFill>
              <a:srgbClr val="FFFFFF"/>
            </a:solidFill>
            <a:prstDash val="solid"/>
          </a:ln>
        </p:spPr>
        <p:txBody>
          <a:bodyPr/>
          <a:lstStyle/>
          <a:p>
            <a:endParaRPr lang="zh-CN" altLang="en-US"/>
          </a:p>
        </p:txBody>
      </p:sp>
      <p:sp>
        <p:nvSpPr>
          <p:cNvPr id="11" name="椭圆 10">
            <a:extLst>
              <a:ext uri="{FF2B5EF4-FFF2-40B4-BE49-F238E27FC236}">
                <a16:creationId xmlns:a16="http://schemas.microsoft.com/office/drawing/2014/main" id="{1D952540-C959-472F-8C69-A723C43C3E94}"/>
              </a:ext>
            </a:extLst>
          </p:cNvPr>
          <p:cNvSpPr>
            <a:spLocks noGrp="1"/>
          </p:cNvSpPr>
          <p:nvPr/>
        </p:nvSpPr>
        <p:spPr>
          <a:xfrm>
            <a:off x="2409825" y="4152900"/>
            <a:ext cx="123825" cy="123825"/>
          </a:xfrm>
          <a:prstGeom prst="ellipse">
            <a:avLst/>
          </a:prstGeom>
          <a:solidFill>
            <a:srgbClr val="014DA1"/>
          </a:solidFill>
          <a:ln w="9525">
            <a:solidFill>
              <a:srgbClr val="FFFFFF"/>
            </a:solidFill>
            <a:prstDash val="solid"/>
          </a:ln>
        </p:spPr>
        <p:txBody>
          <a:bodyPr/>
          <a:lstStyle/>
          <a:p>
            <a:endParaRPr lang="zh-CN" altLang="en-US"/>
          </a:p>
        </p:txBody>
      </p:sp>
      <p:sp>
        <p:nvSpPr>
          <p:cNvPr id="12" name="椭圆 11">
            <a:extLst>
              <a:ext uri="{FF2B5EF4-FFF2-40B4-BE49-F238E27FC236}">
                <a16:creationId xmlns:a16="http://schemas.microsoft.com/office/drawing/2014/main" id="{447F341E-793C-43CC-B5A6-6E8FD6132A2F}"/>
              </a:ext>
            </a:extLst>
          </p:cNvPr>
          <p:cNvSpPr>
            <a:spLocks noGrp="1"/>
          </p:cNvSpPr>
          <p:nvPr/>
        </p:nvSpPr>
        <p:spPr>
          <a:xfrm>
            <a:off x="2724150" y="3829050"/>
            <a:ext cx="123825" cy="123825"/>
          </a:xfrm>
          <a:prstGeom prst="ellipse">
            <a:avLst/>
          </a:prstGeom>
          <a:solidFill>
            <a:srgbClr val="B4964B"/>
          </a:solidFill>
          <a:ln w="9525">
            <a:solidFill>
              <a:srgbClr val="FFFFFF"/>
            </a:solidFill>
            <a:prstDash val="solid"/>
          </a:ln>
        </p:spPr>
        <p:txBody>
          <a:bodyPr/>
          <a:lstStyle/>
          <a:p>
            <a:endParaRPr lang="zh-CN" altLang="en-US"/>
          </a:p>
        </p:txBody>
      </p:sp>
      <p:sp>
        <p:nvSpPr>
          <p:cNvPr id="13" name="椭圆 12">
            <a:extLst>
              <a:ext uri="{FF2B5EF4-FFF2-40B4-BE49-F238E27FC236}">
                <a16:creationId xmlns:a16="http://schemas.microsoft.com/office/drawing/2014/main" id="{566C3369-140E-4D7B-B912-870FCDCFF619}"/>
              </a:ext>
            </a:extLst>
          </p:cNvPr>
          <p:cNvSpPr>
            <a:spLocks noGrp="1"/>
          </p:cNvSpPr>
          <p:nvPr/>
        </p:nvSpPr>
        <p:spPr>
          <a:xfrm>
            <a:off x="3028950" y="3714750"/>
            <a:ext cx="123825" cy="123825"/>
          </a:xfrm>
          <a:prstGeom prst="ellipse">
            <a:avLst/>
          </a:prstGeom>
          <a:solidFill>
            <a:srgbClr val="014DA1"/>
          </a:solidFill>
          <a:ln w="9525">
            <a:solidFill>
              <a:srgbClr val="FFFFFF"/>
            </a:solidFill>
            <a:prstDash val="solid"/>
          </a:ln>
        </p:spPr>
        <p:txBody>
          <a:bodyPr/>
          <a:lstStyle/>
          <a:p>
            <a:endParaRPr lang="zh-CN" altLang="en-US"/>
          </a:p>
        </p:txBody>
      </p:sp>
      <p:sp>
        <p:nvSpPr>
          <p:cNvPr id="14" name="椭圆 13">
            <a:extLst>
              <a:ext uri="{FF2B5EF4-FFF2-40B4-BE49-F238E27FC236}">
                <a16:creationId xmlns:a16="http://schemas.microsoft.com/office/drawing/2014/main" id="{93CDE3EC-F4A9-494D-AEC8-182CA36AF006}"/>
              </a:ext>
            </a:extLst>
          </p:cNvPr>
          <p:cNvSpPr>
            <a:spLocks noGrp="1"/>
          </p:cNvSpPr>
          <p:nvPr/>
        </p:nvSpPr>
        <p:spPr>
          <a:xfrm>
            <a:off x="3295650" y="3600450"/>
            <a:ext cx="123825" cy="123825"/>
          </a:xfrm>
          <a:prstGeom prst="ellipse">
            <a:avLst/>
          </a:prstGeom>
          <a:solidFill>
            <a:srgbClr val="014DA1"/>
          </a:solidFill>
          <a:ln w="9525">
            <a:solidFill>
              <a:srgbClr val="FFFFFF"/>
            </a:solidFill>
            <a:prstDash val="solid"/>
          </a:ln>
        </p:spPr>
        <p:txBody>
          <a:bodyPr/>
          <a:lstStyle/>
          <a:p>
            <a:endParaRPr lang="zh-CN" altLang="en-US"/>
          </a:p>
        </p:txBody>
      </p:sp>
      <p:sp>
        <p:nvSpPr>
          <p:cNvPr id="15" name="椭圆 14">
            <a:extLst>
              <a:ext uri="{FF2B5EF4-FFF2-40B4-BE49-F238E27FC236}">
                <a16:creationId xmlns:a16="http://schemas.microsoft.com/office/drawing/2014/main" id="{7B86FC4C-BD7A-4EE2-81B6-665A90B3BE73}"/>
              </a:ext>
            </a:extLst>
          </p:cNvPr>
          <p:cNvSpPr>
            <a:spLocks noGrp="1"/>
          </p:cNvSpPr>
          <p:nvPr/>
        </p:nvSpPr>
        <p:spPr>
          <a:xfrm>
            <a:off x="3619500" y="3352800"/>
            <a:ext cx="123825" cy="123825"/>
          </a:xfrm>
          <a:prstGeom prst="ellipse">
            <a:avLst/>
          </a:prstGeom>
          <a:solidFill>
            <a:srgbClr val="B4964B"/>
          </a:solidFill>
          <a:ln w="9525">
            <a:solidFill>
              <a:srgbClr val="FFFFFF"/>
            </a:solidFill>
            <a:prstDash val="solid"/>
          </a:ln>
        </p:spPr>
        <p:txBody>
          <a:bodyPr/>
          <a:lstStyle/>
          <a:p>
            <a:endParaRPr lang="zh-CN" altLang="en-US"/>
          </a:p>
        </p:txBody>
      </p:sp>
      <p:sp>
        <p:nvSpPr>
          <p:cNvPr id="16" name="椭圆 15">
            <a:extLst>
              <a:ext uri="{FF2B5EF4-FFF2-40B4-BE49-F238E27FC236}">
                <a16:creationId xmlns:a16="http://schemas.microsoft.com/office/drawing/2014/main" id="{2EE2F542-B1BF-430A-98BD-6733FB4D7BEC}"/>
              </a:ext>
            </a:extLst>
          </p:cNvPr>
          <p:cNvSpPr>
            <a:spLocks noGrp="1"/>
          </p:cNvSpPr>
          <p:nvPr/>
        </p:nvSpPr>
        <p:spPr>
          <a:xfrm>
            <a:off x="3962400" y="3409950"/>
            <a:ext cx="123825" cy="123825"/>
          </a:xfrm>
          <a:prstGeom prst="ellipse">
            <a:avLst/>
          </a:prstGeom>
          <a:solidFill>
            <a:srgbClr val="014DA1"/>
          </a:solidFill>
          <a:ln w="9525">
            <a:solidFill>
              <a:srgbClr val="FFFFFF"/>
            </a:solidFill>
            <a:prstDash val="solid"/>
          </a:ln>
        </p:spPr>
        <p:txBody>
          <a:bodyPr/>
          <a:lstStyle/>
          <a:p>
            <a:endParaRPr lang="zh-CN" altLang="en-US"/>
          </a:p>
        </p:txBody>
      </p:sp>
      <p:sp>
        <p:nvSpPr>
          <p:cNvPr id="17" name="椭圆 16">
            <a:extLst>
              <a:ext uri="{FF2B5EF4-FFF2-40B4-BE49-F238E27FC236}">
                <a16:creationId xmlns:a16="http://schemas.microsoft.com/office/drawing/2014/main" id="{2229D026-A411-49A7-B983-A194B2820AFF}"/>
              </a:ext>
            </a:extLst>
          </p:cNvPr>
          <p:cNvSpPr>
            <a:spLocks noGrp="1"/>
          </p:cNvSpPr>
          <p:nvPr/>
        </p:nvSpPr>
        <p:spPr>
          <a:xfrm>
            <a:off x="4286250" y="3067050"/>
            <a:ext cx="123825" cy="123825"/>
          </a:xfrm>
          <a:prstGeom prst="ellipse">
            <a:avLst/>
          </a:prstGeom>
          <a:solidFill>
            <a:srgbClr val="014DA1"/>
          </a:solidFill>
          <a:ln w="9525">
            <a:solidFill>
              <a:srgbClr val="FFFFFF"/>
            </a:solidFill>
            <a:prstDash val="solid"/>
          </a:ln>
        </p:spPr>
        <p:txBody>
          <a:bodyPr/>
          <a:lstStyle/>
          <a:p>
            <a:endParaRPr lang="zh-CN" altLang="en-US"/>
          </a:p>
        </p:txBody>
      </p:sp>
      <p:sp>
        <p:nvSpPr>
          <p:cNvPr id="18" name="椭圆 17">
            <a:extLst>
              <a:ext uri="{FF2B5EF4-FFF2-40B4-BE49-F238E27FC236}">
                <a16:creationId xmlns:a16="http://schemas.microsoft.com/office/drawing/2014/main" id="{B0AC22F3-AAFC-4793-935D-A955EA588631}"/>
              </a:ext>
            </a:extLst>
          </p:cNvPr>
          <p:cNvSpPr>
            <a:spLocks noGrp="1"/>
          </p:cNvSpPr>
          <p:nvPr/>
        </p:nvSpPr>
        <p:spPr>
          <a:xfrm>
            <a:off x="4629150" y="3105150"/>
            <a:ext cx="123825" cy="123825"/>
          </a:xfrm>
          <a:prstGeom prst="ellipse">
            <a:avLst/>
          </a:prstGeom>
          <a:solidFill>
            <a:srgbClr val="B4964B"/>
          </a:solidFill>
          <a:ln w="9525">
            <a:solidFill>
              <a:srgbClr val="FFFFFF"/>
            </a:solidFill>
            <a:prstDash val="solid"/>
          </a:ln>
        </p:spPr>
        <p:txBody>
          <a:bodyPr/>
          <a:lstStyle/>
          <a:p>
            <a:endParaRPr lang="zh-CN" altLang="en-US"/>
          </a:p>
        </p:txBody>
      </p:sp>
      <p:sp>
        <p:nvSpPr>
          <p:cNvPr id="19" name="椭圆 18">
            <a:extLst>
              <a:ext uri="{FF2B5EF4-FFF2-40B4-BE49-F238E27FC236}">
                <a16:creationId xmlns:a16="http://schemas.microsoft.com/office/drawing/2014/main" id="{64A4086D-3F79-405E-9969-95F9A29FA9E1}"/>
              </a:ext>
            </a:extLst>
          </p:cNvPr>
          <p:cNvSpPr>
            <a:spLocks noGrp="1"/>
          </p:cNvSpPr>
          <p:nvPr/>
        </p:nvSpPr>
        <p:spPr>
          <a:xfrm>
            <a:off x="4972050" y="2857500"/>
            <a:ext cx="123825" cy="123825"/>
          </a:xfrm>
          <a:prstGeom prst="ellipse">
            <a:avLst/>
          </a:prstGeom>
          <a:solidFill>
            <a:srgbClr val="014DA1"/>
          </a:solidFill>
          <a:ln w="9525">
            <a:solidFill>
              <a:srgbClr val="FFFFFF"/>
            </a:solidFill>
            <a:prstDash val="solid"/>
          </a:ln>
        </p:spPr>
        <p:txBody>
          <a:bodyPr/>
          <a:lstStyle/>
          <a:p>
            <a:endParaRPr lang="zh-CN" altLang="en-US"/>
          </a:p>
        </p:txBody>
      </p:sp>
      <p:sp>
        <p:nvSpPr>
          <p:cNvPr id="20" name="椭圆 19">
            <a:extLst>
              <a:ext uri="{FF2B5EF4-FFF2-40B4-BE49-F238E27FC236}">
                <a16:creationId xmlns:a16="http://schemas.microsoft.com/office/drawing/2014/main" id="{60DF1134-338A-4E67-AAC4-B83328BF4040}"/>
              </a:ext>
            </a:extLst>
          </p:cNvPr>
          <p:cNvSpPr>
            <a:spLocks noGrp="1"/>
          </p:cNvSpPr>
          <p:nvPr/>
        </p:nvSpPr>
        <p:spPr>
          <a:xfrm>
            <a:off x="5334000" y="2705100"/>
            <a:ext cx="123825" cy="123825"/>
          </a:xfrm>
          <a:prstGeom prst="ellipse">
            <a:avLst/>
          </a:prstGeom>
          <a:solidFill>
            <a:srgbClr val="014DA1"/>
          </a:solidFill>
          <a:ln w="9525">
            <a:solidFill>
              <a:srgbClr val="FFFFFF"/>
            </a:solidFill>
            <a:prstDash val="solid"/>
          </a:ln>
        </p:spPr>
        <p:txBody>
          <a:bodyPr/>
          <a:lstStyle/>
          <a:p>
            <a:endParaRPr lang="zh-CN" altLang="en-US"/>
          </a:p>
        </p:txBody>
      </p:sp>
      <p:sp>
        <p:nvSpPr>
          <p:cNvPr id="21" name="椭圆 20">
            <a:extLst>
              <a:ext uri="{FF2B5EF4-FFF2-40B4-BE49-F238E27FC236}">
                <a16:creationId xmlns:a16="http://schemas.microsoft.com/office/drawing/2014/main" id="{C411A176-AB28-47D0-ACA2-998E18414549}"/>
              </a:ext>
            </a:extLst>
          </p:cNvPr>
          <p:cNvSpPr>
            <a:spLocks noGrp="1"/>
          </p:cNvSpPr>
          <p:nvPr/>
        </p:nvSpPr>
        <p:spPr>
          <a:xfrm>
            <a:off x="5619750" y="2562225"/>
            <a:ext cx="123825" cy="123825"/>
          </a:xfrm>
          <a:prstGeom prst="ellipse">
            <a:avLst/>
          </a:prstGeom>
          <a:solidFill>
            <a:srgbClr val="B4964B"/>
          </a:solidFill>
          <a:ln w="9525">
            <a:solidFill>
              <a:srgbClr val="FFFFFF"/>
            </a:solidFill>
            <a:prstDash val="solid"/>
          </a:ln>
        </p:spPr>
        <p:txBody>
          <a:bodyPr/>
          <a:lstStyle/>
          <a:p>
            <a:endParaRPr lang="zh-CN" altLang="en-US"/>
          </a:p>
        </p:txBody>
      </p:sp>
      <p:sp>
        <p:nvSpPr>
          <p:cNvPr id="22" name="椭圆 21">
            <a:extLst>
              <a:ext uri="{FF2B5EF4-FFF2-40B4-BE49-F238E27FC236}">
                <a16:creationId xmlns:a16="http://schemas.microsoft.com/office/drawing/2014/main" id="{989A9DD0-2936-4035-BDB2-15E6AC15AA09}"/>
              </a:ext>
            </a:extLst>
          </p:cNvPr>
          <p:cNvSpPr>
            <a:spLocks noGrp="1"/>
          </p:cNvSpPr>
          <p:nvPr/>
        </p:nvSpPr>
        <p:spPr>
          <a:xfrm>
            <a:off x="1595438" y="46434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23" name="椭圆 22">
            <a:extLst>
              <a:ext uri="{FF2B5EF4-FFF2-40B4-BE49-F238E27FC236}">
                <a16:creationId xmlns:a16="http://schemas.microsoft.com/office/drawing/2014/main" id="{3AD62DAF-5513-4985-AA61-A68C821122CD}"/>
              </a:ext>
            </a:extLst>
          </p:cNvPr>
          <p:cNvSpPr>
            <a:spLocks noGrp="1"/>
          </p:cNvSpPr>
          <p:nvPr/>
        </p:nvSpPr>
        <p:spPr>
          <a:xfrm>
            <a:off x="1671638" y="46053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24" name="椭圆 23">
            <a:extLst>
              <a:ext uri="{FF2B5EF4-FFF2-40B4-BE49-F238E27FC236}">
                <a16:creationId xmlns:a16="http://schemas.microsoft.com/office/drawing/2014/main" id="{6C2B0CCE-5DB4-4C3F-AFEA-34652E0C096A}"/>
              </a:ext>
            </a:extLst>
          </p:cNvPr>
          <p:cNvSpPr>
            <a:spLocks noGrp="1"/>
          </p:cNvSpPr>
          <p:nvPr/>
        </p:nvSpPr>
        <p:spPr>
          <a:xfrm>
            <a:off x="1747838" y="45672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25" name="椭圆 24">
            <a:extLst>
              <a:ext uri="{FF2B5EF4-FFF2-40B4-BE49-F238E27FC236}">
                <a16:creationId xmlns:a16="http://schemas.microsoft.com/office/drawing/2014/main" id="{EBB07731-529F-4E8E-87F7-BCE8A1C5D79D}"/>
              </a:ext>
            </a:extLst>
          </p:cNvPr>
          <p:cNvSpPr>
            <a:spLocks noGrp="1"/>
          </p:cNvSpPr>
          <p:nvPr/>
        </p:nvSpPr>
        <p:spPr>
          <a:xfrm>
            <a:off x="1824038" y="45291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26" name="椭圆 25">
            <a:extLst>
              <a:ext uri="{FF2B5EF4-FFF2-40B4-BE49-F238E27FC236}">
                <a16:creationId xmlns:a16="http://schemas.microsoft.com/office/drawing/2014/main" id="{A8524126-42A3-4363-BF13-52ADFABBB0C8}"/>
              </a:ext>
            </a:extLst>
          </p:cNvPr>
          <p:cNvSpPr>
            <a:spLocks noGrp="1"/>
          </p:cNvSpPr>
          <p:nvPr/>
        </p:nvSpPr>
        <p:spPr>
          <a:xfrm>
            <a:off x="1900238" y="44910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27" name="椭圆 26">
            <a:extLst>
              <a:ext uri="{FF2B5EF4-FFF2-40B4-BE49-F238E27FC236}">
                <a16:creationId xmlns:a16="http://schemas.microsoft.com/office/drawing/2014/main" id="{DA209074-E335-4C6C-ACB5-A48124A65F07}"/>
              </a:ext>
            </a:extLst>
          </p:cNvPr>
          <p:cNvSpPr>
            <a:spLocks noGrp="1"/>
          </p:cNvSpPr>
          <p:nvPr/>
        </p:nvSpPr>
        <p:spPr>
          <a:xfrm>
            <a:off x="1976438" y="44529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28" name="椭圆 27">
            <a:extLst>
              <a:ext uri="{FF2B5EF4-FFF2-40B4-BE49-F238E27FC236}">
                <a16:creationId xmlns:a16="http://schemas.microsoft.com/office/drawing/2014/main" id="{9356AC59-9044-4CA4-908E-674C3D434C8A}"/>
              </a:ext>
            </a:extLst>
          </p:cNvPr>
          <p:cNvSpPr>
            <a:spLocks noGrp="1"/>
          </p:cNvSpPr>
          <p:nvPr/>
        </p:nvSpPr>
        <p:spPr>
          <a:xfrm>
            <a:off x="2052638" y="44148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29" name="椭圆 28">
            <a:extLst>
              <a:ext uri="{FF2B5EF4-FFF2-40B4-BE49-F238E27FC236}">
                <a16:creationId xmlns:a16="http://schemas.microsoft.com/office/drawing/2014/main" id="{5A82C7AE-F12C-4722-89D7-2D96CA70A1CF}"/>
              </a:ext>
            </a:extLst>
          </p:cNvPr>
          <p:cNvSpPr>
            <a:spLocks noGrp="1"/>
          </p:cNvSpPr>
          <p:nvPr/>
        </p:nvSpPr>
        <p:spPr>
          <a:xfrm>
            <a:off x="2128838" y="43767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0" name="椭圆 29">
            <a:extLst>
              <a:ext uri="{FF2B5EF4-FFF2-40B4-BE49-F238E27FC236}">
                <a16:creationId xmlns:a16="http://schemas.microsoft.com/office/drawing/2014/main" id="{A90A4875-5DF4-445A-BD4F-76E6125D494A}"/>
              </a:ext>
            </a:extLst>
          </p:cNvPr>
          <p:cNvSpPr>
            <a:spLocks noGrp="1"/>
          </p:cNvSpPr>
          <p:nvPr/>
        </p:nvSpPr>
        <p:spPr>
          <a:xfrm>
            <a:off x="2205038" y="43386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1" name="椭圆 30">
            <a:extLst>
              <a:ext uri="{FF2B5EF4-FFF2-40B4-BE49-F238E27FC236}">
                <a16:creationId xmlns:a16="http://schemas.microsoft.com/office/drawing/2014/main" id="{C4BBEC02-8E5D-4E9E-96FA-E9F5C0717E30}"/>
              </a:ext>
            </a:extLst>
          </p:cNvPr>
          <p:cNvSpPr>
            <a:spLocks noGrp="1"/>
          </p:cNvSpPr>
          <p:nvPr/>
        </p:nvSpPr>
        <p:spPr>
          <a:xfrm>
            <a:off x="2281238" y="43005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2" name="椭圆 31">
            <a:extLst>
              <a:ext uri="{FF2B5EF4-FFF2-40B4-BE49-F238E27FC236}">
                <a16:creationId xmlns:a16="http://schemas.microsoft.com/office/drawing/2014/main" id="{C5D54518-F607-47A0-B8AA-9B6E6F4F9068}"/>
              </a:ext>
            </a:extLst>
          </p:cNvPr>
          <p:cNvSpPr>
            <a:spLocks noGrp="1"/>
          </p:cNvSpPr>
          <p:nvPr/>
        </p:nvSpPr>
        <p:spPr>
          <a:xfrm>
            <a:off x="2357438" y="42624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3" name="椭圆 32">
            <a:extLst>
              <a:ext uri="{FF2B5EF4-FFF2-40B4-BE49-F238E27FC236}">
                <a16:creationId xmlns:a16="http://schemas.microsoft.com/office/drawing/2014/main" id="{CACFE5B8-B073-4AE8-ABD4-C2DEF2E8A83B}"/>
              </a:ext>
            </a:extLst>
          </p:cNvPr>
          <p:cNvSpPr>
            <a:spLocks noGrp="1"/>
          </p:cNvSpPr>
          <p:nvPr/>
        </p:nvSpPr>
        <p:spPr>
          <a:xfrm>
            <a:off x="2433638" y="42243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4" name="椭圆 33">
            <a:extLst>
              <a:ext uri="{FF2B5EF4-FFF2-40B4-BE49-F238E27FC236}">
                <a16:creationId xmlns:a16="http://schemas.microsoft.com/office/drawing/2014/main" id="{B18F797B-A136-483E-B7B9-DA2396F26B96}"/>
              </a:ext>
            </a:extLst>
          </p:cNvPr>
          <p:cNvSpPr>
            <a:spLocks noGrp="1"/>
          </p:cNvSpPr>
          <p:nvPr/>
        </p:nvSpPr>
        <p:spPr>
          <a:xfrm>
            <a:off x="2509838" y="41862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5" name="椭圆 34">
            <a:extLst>
              <a:ext uri="{FF2B5EF4-FFF2-40B4-BE49-F238E27FC236}">
                <a16:creationId xmlns:a16="http://schemas.microsoft.com/office/drawing/2014/main" id="{CFA428AF-D5E6-4A71-809C-6C97E70422CF}"/>
              </a:ext>
            </a:extLst>
          </p:cNvPr>
          <p:cNvSpPr>
            <a:spLocks noGrp="1"/>
          </p:cNvSpPr>
          <p:nvPr/>
        </p:nvSpPr>
        <p:spPr>
          <a:xfrm>
            <a:off x="2586038" y="41481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6" name="椭圆 35">
            <a:extLst>
              <a:ext uri="{FF2B5EF4-FFF2-40B4-BE49-F238E27FC236}">
                <a16:creationId xmlns:a16="http://schemas.microsoft.com/office/drawing/2014/main" id="{2A9FDB52-FA5E-4D31-B016-C094FD8563AD}"/>
              </a:ext>
            </a:extLst>
          </p:cNvPr>
          <p:cNvSpPr>
            <a:spLocks noGrp="1"/>
          </p:cNvSpPr>
          <p:nvPr/>
        </p:nvSpPr>
        <p:spPr>
          <a:xfrm>
            <a:off x="2662238" y="41100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7" name="椭圆 36">
            <a:extLst>
              <a:ext uri="{FF2B5EF4-FFF2-40B4-BE49-F238E27FC236}">
                <a16:creationId xmlns:a16="http://schemas.microsoft.com/office/drawing/2014/main" id="{B0C3BA6F-D866-43BB-A0A8-597070B007AF}"/>
              </a:ext>
            </a:extLst>
          </p:cNvPr>
          <p:cNvSpPr>
            <a:spLocks noGrp="1"/>
          </p:cNvSpPr>
          <p:nvPr/>
        </p:nvSpPr>
        <p:spPr>
          <a:xfrm>
            <a:off x="2738438" y="40719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8" name="椭圆 37">
            <a:extLst>
              <a:ext uri="{FF2B5EF4-FFF2-40B4-BE49-F238E27FC236}">
                <a16:creationId xmlns:a16="http://schemas.microsoft.com/office/drawing/2014/main" id="{6A2CC4A0-19AA-44B2-80CC-96E58FEABAFD}"/>
              </a:ext>
            </a:extLst>
          </p:cNvPr>
          <p:cNvSpPr>
            <a:spLocks noGrp="1"/>
          </p:cNvSpPr>
          <p:nvPr/>
        </p:nvSpPr>
        <p:spPr>
          <a:xfrm>
            <a:off x="2814638" y="40338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39" name="椭圆 38">
            <a:extLst>
              <a:ext uri="{FF2B5EF4-FFF2-40B4-BE49-F238E27FC236}">
                <a16:creationId xmlns:a16="http://schemas.microsoft.com/office/drawing/2014/main" id="{CF8F3D02-6F64-4D73-8058-BC1A5999C16D}"/>
              </a:ext>
            </a:extLst>
          </p:cNvPr>
          <p:cNvSpPr>
            <a:spLocks noGrp="1"/>
          </p:cNvSpPr>
          <p:nvPr/>
        </p:nvSpPr>
        <p:spPr>
          <a:xfrm>
            <a:off x="2890838" y="39957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0" name="椭圆 39">
            <a:extLst>
              <a:ext uri="{FF2B5EF4-FFF2-40B4-BE49-F238E27FC236}">
                <a16:creationId xmlns:a16="http://schemas.microsoft.com/office/drawing/2014/main" id="{D9984BB4-29EC-4DD9-9BF9-BD5AD31254C8}"/>
              </a:ext>
            </a:extLst>
          </p:cNvPr>
          <p:cNvSpPr>
            <a:spLocks noGrp="1"/>
          </p:cNvSpPr>
          <p:nvPr/>
        </p:nvSpPr>
        <p:spPr>
          <a:xfrm>
            <a:off x="2967038" y="39576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1" name="椭圆 40">
            <a:extLst>
              <a:ext uri="{FF2B5EF4-FFF2-40B4-BE49-F238E27FC236}">
                <a16:creationId xmlns:a16="http://schemas.microsoft.com/office/drawing/2014/main" id="{85D11D98-5179-4924-A0AA-C1671F4D79D7}"/>
              </a:ext>
            </a:extLst>
          </p:cNvPr>
          <p:cNvSpPr>
            <a:spLocks noGrp="1"/>
          </p:cNvSpPr>
          <p:nvPr/>
        </p:nvSpPr>
        <p:spPr>
          <a:xfrm>
            <a:off x="3043238" y="39195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9BC97DC1-72EC-45AC-96B1-F6BF61054263}"/>
              </a:ext>
            </a:extLst>
          </p:cNvPr>
          <p:cNvSpPr>
            <a:spLocks noGrp="1"/>
          </p:cNvSpPr>
          <p:nvPr/>
        </p:nvSpPr>
        <p:spPr>
          <a:xfrm>
            <a:off x="3119438" y="38814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E1DA8B0A-37A0-4B8F-8683-49FAC5C77B46}"/>
              </a:ext>
            </a:extLst>
          </p:cNvPr>
          <p:cNvSpPr>
            <a:spLocks noGrp="1"/>
          </p:cNvSpPr>
          <p:nvPr/>
        </p:nvSpPr>
        <p:spPr>
          <a:xfrm>
            <a:off x="3195638" y="38433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4B75EAA1-EE3E-4A58-9434-5D0187BE69C8}"/>
              </a:ext>
            </a:extLst>
          </p:cNvPr>
          <p:cNvSpPr>
            <a:spLocks noGrp="1"/>
          </p:cNvSpPr>
          <p:nvPr/>
        </p:nvSpPr>
        <p:spPr>
          <a:xfrm>
            <a:off x="3271838" y="38052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EFB00E0E-D147-4FD0-B30A-4ADC26520AA0}"/>
              </a:ext>
            </a:extLst>
          </p:cNvPr>
          <p:cNvSpPr>
            <a:spLocks noGrp="1"/>
          </p:cNvSpPr>
          <p:nvPr/>
        </p:nvSpPr>
        <p:spPr>
          <a:xfrm>
            <a:off x="3348038" y="37671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27E65414-4A35-4ADB-B848-2087852226E7}"/>
              </a:ext>
            </a:extLst>
          </p:cNvPr>
          <p:cNvSpPr>
            <a:spLocks noGrp="1"/>
          </p:cNvSpPr>
          <p:nvPr/>
        </p:nvSpPr>
        <p:spPr>
          <a:xfrm>
            <a:off x="3424238" y="37290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3FCBA1D1-8DA6-44AF-B7C6-7950DA294FE9}"/>
              </a:ext>
            </a:extLst>
          </p:cNvPr>
          <p:cNvSpPr>
            <a:spLocks noGrp="1"/>
          </p:cNvSpPr>
          <p:nvPr/>
        </p:nvSpPr>
        <p:spPr>
          <a:xfrm>
            <a:off x="3500438" y="36909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5C3E1F94-3D9D-4EAD-91CC-8407568CA5E8}"/>
              </a:ext>
            </a:extLst>
          </p:cNvPr>
          <p:cNvSpPr>
            <a:spLocks noGrp="1"/>
          </p:cNvSpPr>
          <p:nvPr/>
        </p:nvSpPr>
        <p:spPr>
          <a:xfrm>
            <a:off x="3576638" y="36528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F041DF73-4180-4F0E-A05C-122F422A2C47}"/>
              </a:ext>
            </a:extLst>
          </p:cNvPr>
          <p:cNvSpPr>
            <a:spLocks noGrp="1"/>
          </p:cNvSpPr>
          <p:nvPr/>
        </p:nvSpPr>
        <p:spPr>
          <a:xfrm>
            <a:off x="3652838" y="36147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72A81640-09BF-4543-9153-BA6577CBF440}"/>
              </a:ext>
            </a:extLst>
          </p:cNvPr>
          <p:cNvSpPr>
            <a:spLocks noGrp="1"/>
          </p:cNvSpPr>
          <p:nvPr/>
        </p:nvSpPr>
        <p:spPr>
          <a:xfrm>
            <a:off x="3729038" y="35766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754B71D0-DF32-45E1-BB73-CE5A09F1CBBF}"/>
              </a:ext>
            </a:extLst>
          </p:cNvPr>
          <p:cNvSpPr>
            <a:spLocks noGrp="1"/>
          </p:cNvSpPr>
          <p:nvPr/>
        </p:nvSpPr>
        <p:spPr>
          <a:xfrm>
            <a:off x="3805238" y="35385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BBF98DB6-5BBF-43D6-9EE6-4FC7426D0980}"/>
              </a:ext>
            </a:extLst>
          </p:cNvPr>
          <p:cNvSpPr>
            <a:spLocks noGrp="1"/>
          </p:cNvSpPr>
          <p:nvPr/>
        </p:nvSpPr>
        <p:spPr>
          <a:xfrm>
            <a:off x="3881438" y="35004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5EDB4F73-DB9A-4B3A-A637-8137E4AA6268}"/>
              </a:ext>
            </a:extLst>
          </p:cNvPr>
          <p:cNvSpPr>
            <a:spLocks noGrp="1"/>
          </p:cNvSpPr>
          <p:nvPr/>
        </p:nvSpPr>
        <p:spPr>
          <a:xfrm>
            <a:off x="3957638" y="34623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62504937-00AD-48E5-8440-3978105D4F57}"/>
              </a:ext>
            </a:extLst>
          </p:cNvPr>
          <p:cNvSpPr>
            <a:spLocks noGrp="1"/>
          </p:cNvSpPr>
          <p:nvPr/>
        </p:nvSpPr>
        <p:spPr>
          <a:xfrm>
            <a:off x="4033838" y="34242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D98E9309-6958-4FF1-93D4-2143431BE384}"/>
              </a:ext>
            </a:extLst>
          </p:cNvPr>
          <p:cNvSpPr>
            <a:spLocks noGrp="1"/>
          </p:cNvSpPr>
          <p:nvPr/>
        </p:nvSpPr>
        <p:spPr>
          <a:xfrm>
            <a:off x="4110038" y="33861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27E7FB40-24EE-4F81-AC06-F88A7E7FEA0A}"/>
              </a:ext>
            </a:extLst>
          </p:cNvPr>
          <p:cNvSpPr>
            <a:spLocks noGrp="1"/>
          </p:cNvSpPr>
          <p:nvPr/>
        </p:nvSpPr>
        <p:spPr>
          <a:xfrm>
            <a:off x="4186238" y="33480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A49F3ACE-3979-43A5-B230-EA0B03DC999D}"/>
              </a:ext>
            </a:extLst>
          </p:cNvPr>
          <p:cNvSpPr>
            <a:spLocks noGrp="1"/>
          </p:cNvSpPr>
          <p:nvPr/>
        </p:nvSpPr>
        <p:spPr>
          <a:xfrm>
            <a:off x="4262438" y="33099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F66161BE-A384-44E2-A7B2-B0C46EF14D63}"/>
              </a:ext>
            </a:extLst>
          </p:cNvPr>
          <p:cNvSpPr>
            <a:spLocks noGrp="1"/>
          </p:cNvSpPr>
          <p:nvPr/>
        </p:nvSpPr>
        <p:spPr>
          <a:xfrm>
            <a:off x="4338638" y="32718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6B4F9B6C-2C1F-4259-B0FF-3BBB06FDB93C}"/>
              </a:ext>
            </a:extLst>
          </p:cNvPr>
          <p:cNvSpPr>
            <a:spLocks noGrp="1"/>
          </p:cNvSpPr>
          <p:nvPr/>
        </p:nvSpPr>
        <p:spPr>
          <a:xfrm>
            <a:off x="4414838" y="32337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79E3C28E-584B-481B-8D3A-D865CC8077C3}"/>
              </a:ext>
            </a:extLst>
          </p:cNvPr>
          <p:cNvSpPr>
            <a:spLocks noGrp="1"/>
          </p:cNvSpPr>
          <p:nvPr/>
        </p:nvSpPr>
        <p:spPr>
          <a:xfrm>
            <a:off x="4491038" y="31956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99CF91AE-01C8-4587-B94D-545B9AA97F7F}"/>
              </a:ext>
            </a:extLst>
          </p:cNvPr>
          <p:cNvSpPr>
            <a:spLocks noGrp="1"/>
          </p:cNvSpPr>
          <p:nvPr/>
        </p:nvSpPr>
        <p:spPr>
          <a:xfrm>
            <a:off x="4567238" y="31575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7296DCE2-7ACC-448D-9B2E-A5A0C8F077E4}"/>
              </a:ext>
            </a:extLst>
          </p:cNvPr>
          <p:cNvSpPr>
            <a:spLocks noGrp="1"/>
          </p:cNvSpPr>
          <p:nvPr/>
        </p:nvSpPr>
        <p:spPr>
          <a:xfrm>
            <a:off x="4643438" y="31194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267B33A4-70AC-4D49-B63D-4A233C168D56}"/>
              </a:ext>
            </a:extLst>
          </p:cNvPr>
          <p:cNvSpPr>
            <a:spLocks noGrp="1"/>
          </p:cNvSpPr>
          <p:nvPr/>
        </p:nvSpPr>
        <p:spPr>
          <a:xfrm>
            <a:off x="4719638" y="30813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45A46384-7B6F-41FE-9C5F-1508E293717C}"/>
              </a:ext>
            </a:extLst>
          </p:cNvPr>
          <p:cNvSpPr>
            <a:spLocks noGrp="1"/>
          </p:cNvSpPr>
          <p:nvPr/>
        </p:nvSpPr>
        <p:spPr>
          <a:xfrm>
            <a:off x="4795838" y="30432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AF5C0D32-FFE8-48FC-B014-B6DACBE9ABE9}"/>
              </a:ext>
            </a:extLst>
          </p:cNvPr>
          <p:cNvSpPr>
            <a:spLocks noGrp="1"/>
          </p:cNvSpPr>
          <p:nvPr/>
        </p:nvSpPr>
        <p:spPr>
          <a:xfrm>
            <a:off x="4872038" y="30051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0EB73A39-5210-4CF1-A684-F15945C652D3}"/>
              </a:ext>
            </a:extLst>
          </p:cNvPr>
          <p:cNvSpPr>
            <a:spLocks noGrp="1"/>
          </p:cNvSpPr>
          <p:nvPr/>
        </p:nvSpPr>
        <p:spPr>
          <a:xfrm>
            <a:off x="4948238" y="29670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BA376156-C53F-4766-A03A-AD3294E45D18}"/>
              </a:ext>
            </a:extLst>
          </p:cNvPr>
          <p:cNvSpPr>
            <a:spLocks noGrp="1"/>
          </p:cNvSpPr>
          <p:nvPr/>
        </p:nvSpPr>
        <p:spPr>
          <a:xfrm>
            <a:off x="5024438" y="29289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544C6BD1-B051-4BF4-BE16-89427D89493F}"/>
              </a:ext>
            </a:extLst>
          </p:cNvPr>
          <p:cNvSpPr>
            <a:spLocks noGrp="1"/>
          </p:cNvSpPr>
          <p:nvPr/>
        </p:nvSpPr>
        <p:spPr>
          <a:xfrm>
            <a:off x="5100638" y="28908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A3BB370D-EF2D-4EC7-B0C0-8DA2D72D6948}"/>
              </a:ext>
            </a:extLst>
          </p:cNvPr>
          <p:cNvSpPr>
            <a:spLocks noGrp="1"/>
          </p:cNvSpPr>
          <p:nvPr/>
        </p:nvSpPr>
        <p:spPr>
          <a:xfrm>
            <a:off x="5176838" y="28527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C4894487-24AA-4E49-A8A5-657E610973F0}"/>
              </a:ext>
            </a:extLst>
          </p:cNvPr>
          <p:cNvSpPr>
            <a:spLocks noGrp="1"/>
          </p:cNvSpPr>
          <p:nvPr/>
        </p:nvSpPr>
        <p:spPr>
          <a:xfrm>
            <a:off x="5253038" y="28146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7D25A713-4BBB-467A-96A6-9AF68DFB3036}"/>
              </a:ext>
            </a:extLst>
          </p:cNvPr>
          <p:cNvSpPr>
            <a:spLocks noGrp="1"/>
          </p:cNvSpPr>
          <p:nvPr/>
        </p:nvSpPr>
        <p:spPr>
          <a:xfrm>
            <a:off x="5329238" y="27765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7543CC6E-BEDA-4F42-B894-91DEC801AA1A}"/>
              </a:ext>
            </a:extLst>
          </p:cNvPr>
          <p:cNvSpPr>
            <a:spLocks noGrp="1"/>
          </p:cNvSpPr>
          <p:nvPr/>
        </p:nvSpPr>
        <p:spPr>
          <a:xfrm>
            <a:off x="5405438" y="27384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2A531385-F6FD-456B-A4DE-9EAC2D2901AA}"/>
              </a:ext>
            </a:extLst>
          </p:cNvPr>
          <p:cNvSpPr>
            <a:spLocks noGrp="1"/>
          </p:cNvSpPr>
          <p:nvPr/>
        </p:nvSpPr>
        <p:spPr>
          <a:xfrm>
            <a:off x="5481638" y="27003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F22F1210-D00F-4339-BB3D-562DBB7C350A}"/>
              </a:ext>
            </a:extLst>
          </p:cNvPr>
          <p:cNvSpPr>
            <a:spLocks noGrp="1"/>
          </p:cNvSpPr>
          <p:nvPr/>
        </p:nvSpPr>
        <p:spPr>
          <a:xfrm>
            <a:off x="5557838" y="26622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5E955498-1E12-4962-82BE-1147F10F5176}"/>
              </a:ext>
            </a:extLst>
          </p:cNvPr>
          <p:cNvSpPr>
            <a:spLocks noGrp="1"/>
          </p:cNvSpPr>
          <p:nvPr/>
        </p:nvSpPr>
        <p:spPr>
          <a:xfrm>
            <a:off x="5634038" y="26241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6" name="椭圆 75">
            <a:extLst>
              <a:ext uri="{FF2B5EF4-FFF2-40B4-BE49-F238E27FC236}">
                <a16:creationId xmlns:a16="http://schemas.microsoft.com/office/drawing/2014/main" id="{37C6D42B-B926-4943-BE2E-96A00FF7D614}"/>
              </a:ext>
            </a:extLst>
          </p:cNvPr>
          <p:cNvSpPr>
            <a:spLocks noGrp="1"/>
          </p:cNvSpPr>
          <p:nvPr/>
        </p:nvSpPr>
        <p:spPr>
          <a:xfrm>
            <a:off x="5710238" y="25860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7" name="椭圆 76">
            <a:extLst>
              <a:ext uri="{FF2B5EF4-FFF2-40B4-BE49-F238E27FC236}">
                <a16:creationId xmlns:a16="http://schemas.microsoft.com/office/drawing/2014/main" id="{F2AFAE58-1ECE-459B-8081-D3964C770714}"/>
              </a:ext>
            </a:extLst>
          </p:cNvPr>
          <p:cNvSpPr>
            <a:spLocks noGrp="1"/>
          </p:cNvSpPr>
          <p:nvPr/>
        </p:nvSpPr>
        <p:spPr>
          <a:xfrm>
            <a:off x="5786438" y="25479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8" name="椭圆 77">
            <a:extLst>
              <a:ext uri="{FF2B5EF4-FFF2-40B4-BE49-F238E27FC236}">
                <a16:creationId xmlns:a16="http://schemas.microsoft.com/office/drawing/2014/main" id="{E36B760D-C766-4E06-B411-E2AD24E9D2F0}"/>
              </a:ext>
            </a:extLst>
          </p:cNvPr>
          <p:cNvSpPr>
            <a:spLocks noGrp="1"/>
          </p:cNvSpPr>
          <p:nvPr/>
        </p:nvSpPr>
        <p:spPr>
          <a:xfrm>
            <a:off x="5862638" y="25098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EC04035F-01AE-4DA7-9B8E-69C62382BBA0}"/>
              </a:ext>
            </a:extLst>
          </p:cNvPr>
          <p:cNvSpPr>
            <a:spLocks noGrp="1"/>
          </p:cNvSpPr>
          <p:nvPr/>
        </p:nvSpPr>
        <p:spPr>
          <a:xfrm>
            <a:off x="5938838" y="24717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560A9B9C-71E8-4450-9C46-693AAE286264}"/>
              </a:ext>
            </a:extLst>
          </p:cNvPr>
          <p:cNvSpPr>
            <a:spLocks noGrp="1"/>
          </p:cNvSpPr>
          <p:nvPr/>
        </p:nvSpPr>
        <p:spPr>
          <a:xfrm>
            <a:off x="6015038" y="24336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D1671907-C5BD-45CD-8B76-F7AE1DDF6FF9}"/>
              </a:ext>
            </a:extLst>
          </p:cNvPr>
          <p:cNvSpPr>
            <a:spLocks noGrp="1"/>
          </p:cNvSpPr>
          <p:nvPr/>
        </p:nvSpPr>
        <p:spPr>
          <a:xfrm>
            <a:off x="6091238" y="23955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82" name="椭圆 81">
            <a:extLst>
              <a:ext uri="{FF2B5EF4-FFF2-40B4-BE49-F238E27FC236}">
                <a16:creationId xmlns:a16="http://schemas.microsoft.com/office/drawing/2014/main" id="{79BD3E5D-5899-47D8-A26B-FF0E6C8D974B}"/>
              </a:ext>
            </a:extLst>
          </p:cNvPr>
          <p:cNvSpPr>
            <a:spLocks noGrp="1"/>
          </p:cNvSpPr>
          <p:nvPr/>
        </p:nvSpPr>
        <p:spPr>
          <a:xfrm>
            <a:off x="6167438" y="2357438"/>
            <a:ext cx="47625" cy="47625"/>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83" name="椭圆 82">
            <a:extLst>
              <a:ext uri="{FF2B5EF4-FFF2-40B4-BE49-F238E27FC236}">
                <a16:creationId xmlns:a16="http://schemas.microsoft.com/office/drawing/2014/main" id="{DBC14983-2DEE-4944-A579-D29DAACF5421}"/>
              </a:ext>
            </a:extLst>
          </p:cNvPr>
          <p:cNvSpPr>
            <a:spLocks noGrp="1"/>
          </p:cNvSpPr>
          <p:nvPr/>
        </p:nvSpPr>
        <p:spPr>
          <a:xfrm>
            <a:off x="3124200" y="2314575"/>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84" name="椭圆 83">
            <a:extLst>
              <a:ext uri="{FF2B5EF4-FFF2-40B4-BE49-F238E27FC236}">
                <a16:creationId xmlns:a16="http://schemas.microsoft.com/office/drawing/2014/main" id="{81184094-0B05-42CA-A85D-442084D0520D}"/>
              </a:ext>
            </a:extLst>
          </p:cNvPr>
          <p:cNvSpPr>
            <a:spLocks noGrp="1"/>
          </p:cNvSpPr>
          <p:nvPr/>
        </p:nvSpPr>
        <p:spPr>
          <a:xfrm>
            <a:off x="3150177" y="2373024"/>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85" name="椭圆 84">
            <a:extLst>
              <a:ext uri="{FF2B5EF4-FFF2-40B4-BE49-F238E27FC236}">
                <a16:creationId xmlns:a16="http://schemas.microsoft.com/office/drawing/2014/main" id="{7BAC2A80-E2D8-4536-8188-ADF7B0979D01}"/>
              </a:ext>
            </a:extLst>
          </p:cNvPr>
          <p:cNvSpPr>
            <a:spLocks noGrp="1"/>
          </p:cNvSpPr>
          <p:nvPr/>
        </p:nvSpPr>
        <p:spPr>
          <a:xfrm>
            <a:off x="3176155" y="2431473"/>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86" name="椭圆 85">
            <a:extLst>
              <a:ext uri="{FF2B5EF4-FFF2-40B4-BE49-F238E27FC236}">
                <a16:creationId xmlns:a16="http://schemas.microsoft.com/office/drawing/2014/main" id="{9B84FEC3-8351-4C5D-82E0-4B21F9FC8618}"/>
              </a:ext>
            </a:extLst>
          </p:cNvPr>
          <p:cNvSpPr>
            <a:spLocks noGrp="1"/>
          </p:cNvSpPr>
          <p:nvPr/>
        </p:nvSpPr>
        <p:spPr>
          <a:xfrm>
            <a:off x="3202132" y="2489922"/>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87" name="椭圆 86">
            <a:extLst>
              <a:ext uri="{FF2B5EF4-FFF2-40B4-BE49-F238E27FC236}">
                <a16:creationId xmlns:a16="http://schemas.microsoft.com/office/drawing/2014/main" id="{83726819-0E50-411E-9805-EFCA82135427}"/>
              </a:ext>
            </a:extLst>
          </p:cNvPr>
          <p:cNvSpPr>
            <a:spLocks noGrp="1"/>
          </p:cNvSpPr>
          <p:nvPr/>
        </p:nvSpPr>
        <p:spPr>
          <a:xfrm>
            <a:off x="3228109" y="2548370"/>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88" name="椭圆 87">
            <a:extLst>
              <a:ext uri="{FF2B5EF4-FFF2-40B4-BE49-F238E27FC236}">
                <a16:creationId xmlns:a16="http://schemas.microsoft.com/office/drawing/2014/main" id="{2D4C38D0-F464-4BA0-9FDB-D2328BBCE790}"/>
              </a:ext>
            </a:extLst>
          </p:cNvPr>
          <p:cNvSpPr>
            <a:spLocks noGrp="1"/>
          </p:cNvSpPr>
          <p:nvPr/>
        </p:nvSpPr>
        <p:spPr>
          <a:xfrm>
            <a:off x="3254086" y="2606819"/>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89" name="椭圆 88">
            <a:extLst>
              <a:ext uri="{FF2B5EF4-FFF2-40B4-BE49-F238E27FC236}">
                <a16:creationId xmlns:a16="http://schemas.microsoft.com/office/drawing/2014/main" id="{C7684C39-B34A-448C-AA29-E6253597AA38}"/>
              </a:ext>
            </a:extLst>
          </p:cNvPr>
          <p:cNvSpPr>
            <a:spLocks noGrp="1"/>
          </p:cNvSpPr>
          <p:nvPr/>
        </p:nvSpPr>
        <p:spPr>
          <a:xfrm>
            <a:off x="3280064" y="2665268"/>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0" name="椭圆 89">
            <a:extLst>
              <a:ext uri="{FF2B5EF4-FFF2-40B4-BE49-F238E27FC236}">
                <a16:creationId xmlns:a16="http://schemas.microsoft.com/office/drawing/2014/main" id="{32B63701-66BE-4842-BA3D-DC6B735CFAFF}"/>
              </a:ext>
            </a:extLst>
          </p:cNvPr>
          <p:cNvSpPr>
            <a:spLocks noGrp="1"/>
          </p:cNvSpPr>
          <p:nvPr/>
        </p:nvSpPr>
        <p:spPr>
          <a:xfrm>
            <a:off x="3306041" y="2723717"/>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1" name="椭圆 90">
            <a:extLst>
              <a:ext uri="{FF2B5EF4-FFF2-40B4-BE49-F238E27FC236}">
                <a16:creationId xmlns:a16="http://schemas.microsoft.com/office/drawing/2014/main" id="{F2729689-3049-49EC-90C3-625ED523F785}"/>
              </a:ext>
            </a:extLst>
          </p:cNvPr>
          <p:cNvSpPr>
            <a:spLocks noGrp="1"/>
          </p:cNvSpPr>
          <p:nvPr/>
        </p:nvSpPr>
        <p:spPr>
          <a:xfrm>
            <a:off x="3332018" y="2782166"/>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2" name="椭圆 91">
            <a:extLst>
              <a:ext uri="{FF2B5EF4-FFF2-40B4-BE49-F238E27FC236}">
                <a16:creationId xmlns:a16="http://schemas.microsoft.com/office/drawing/2014/main" id="{1A077CB1-631E-4182-BD0A-4D0FE72D04E5}"/>
              </a:ext>
            </a:extLst>
          </p:cNvPr>
          <p:cNvSpPr>
            <a:spLocks noGrp="1"/>
          </p:cNvSpPr>
          <p:nvPr/>
        </p:nvSpPr>
        <p:spPr>
          <a:xfrm>
            <a:off x="3357995" y="2840615"/>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3" name="椭圆 92">
            <a:extLst>
              <a:ext uri="{FF2B5EF4-FFF2-40B4-BE49-F238E27FC236}">
                <a16:creationId xmlns:a16="http://schemas.microsoft.com/office/drawing/2014/main" id="{922D4FEB-5A68-44C2-9FF2-EC21C98F63DC}"/>
              </a:ext>
            </a:extLst>
          </p:cNvPr>
          <p:cNvSpPr>
            <a:spLocks noGrp="1"/>
          </p:cNvSpPr>
          <p:nvPr/>
        </p:nvSpPr>
        <p:spPr>
          <a:xfrm>
            <a:off x="3383973" y="2899064"/>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4" name="椭圆 93">
            <a:extLst>
              <a:ext uri="{FF2B5EF4-FFF2-40B4-BE49-F238E27FC236}">
                <a16:creationId xmlns:a16="http://schemas.microsoft.com/office/drawing/2014/main" id="{6F2E5F00-2ACC-4C96-AA6A-3D881F05417B}"/>
              </a:ext>
            </a:extLst>
          </p:cNvPr>
          <p:cNvSpPr>
            <a:spLocks noGrp="1"/>
          </p:cNvSpPr>
          <p:nvPr/>
        </p:nvSpPr>
        <p:spPr>
          <a:xfrm>
            <a:off x="3409950" y="2957513"/>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5" name="椭圆 94">
            <a:extLst>
              <a:ext uri="{FF2B5EF4-FFF2-40B4-BE49-F238E27FC236}">
                <a16:creationId xmlns:a16="http://schemas.microsoft.com/office/drawing/2014/main" id="{1F569970-FF1C-40F5-B30B-54A835787694}"/>
              </a:ext>
            </a:extLst>
          </p:cNvPr>
          <p:cNvSpPr>
            <a:spLocks noGrp="1"/>
          </p:cNvSpPr>
          <p:nvPr/>
        </p:nvSpPr>
        <p:spPr>
          <a:xfrm>
            <a:off x="3435927" y="3015961"/>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6" name="椭圆 95">
            <a:extLst>
              <a:ext uri="{FF2B5EF4-FFF2-40B4-BE49-F238E27FC236}">
                <a16:creationId xmlns:a16="http://schemas.microsoft.com/office/drawing/2014/main" id="{5EC8E0BD-0DDA-4109-B07F-CF21A07D0F1A}"/>
              </a:ext>
            </a:extLst>
          </p:cNvPr>
          <p:cNvSpPr>
            <a:spLocks noGrp="1"/>
          </p:cNvSpPr>
          <p:nvPr/>
        </p:nvSpPr>
        <p:spPr>
          <a:xfrm>
            <a:off x="3461905" y="3074410"/>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7" name="椭圆 96">
            <a:extLst>
              <a:ext uri="{FF2B5EF4-FFF2-40B4-BE49-F238E27FC236}">
                <a16:creationId xmlns:a16="http://schemas.microsoft.com/office/drawing/2014/main" id="{E1952325-FFC4-4C1D-92E3-E21F3FF7CE48}"/>
              </a:ext>
            </a:extLst>
          </p:cNvPr>
          <p:cNvSpPr>
            <a:spLocks noGrp="1"/>
          </p:cNvSpPr>
          <p:nvPr/>
        </p:nvSpPr>
        <p:spPr>
          <a:xfrm>
            <a:off x="3487882" y="3132859"/>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8" name="椭圆 97">
            <a:extLst>
              <a:ext uri="{FF2B5EF4-FFF2-40B4-BE49-F238E27FC236}">
                <a16:creationId xmlns:a16="http://schemas.microsoft.com/office/drawing/2014/main" id="{8FF72A01-B7A0-4C2A-BC7C-0D54F7CCD703}"/>
              </a:ext>
            </a:extLst>
          </p:cNvPr>
          <p:cNvSpPr>
            <a:spLocks noGrp="1"/>
          </p:cNvSpPr>
          <p:nvPr/>
        </p:nvSpPr>
        <p:spPr>
          <a:xfrm>
            <a:off x="3513859" y="3191308"/>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99" name="椭圆 98">
            <a:extLst>
              <a:ext uri="{FF2B5EF4-FFF2-40B4-BE49-F238E27FC236}">
                <a16:creationId xmlns:a16="http://schemas.microsoft.com/office/drawing/2014/main" id="{58C22BF1-C5A5-408F-A7B1-E4359074A62D}"/>
              </a:ext>
            </a:extLst>
          </p:cNvPr>
          <p:cNvSpPr>
            <a:spLocks noGrp="1"/>
          </p:cNvSpPr>
          <p:nvPr/>
        </p:nvSpPr>
        <p:spPr>
          <a:xfrm>
            <a:off x="3539836" y="3249757"/>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0" name="椭圆 99">
            <a:extLst>
              <a:ext uri="{FF2B5EF4-FFF2-40B4-BE49-F238E27FC236}">
                <a16:creationId xmlns:a16="http://schemas.microsoft.com/office/drawing/2014/main" id="{B8478A8E-752F-41DE-849F-9F989ACA68A3}"/>
              </a:ext>
            </a:extLst>
          </p:cNvPr>
          <p:cNvSpPr>
            <a:spLocks noGrp="1"/>
          </p:cNvSpPr>
          <p:nvPr/>
        </p:nvSpPr>
        <p:spPr>
          <a:xfrm>
            <a:off x="3565814" y="3308206"/>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1" name="椭圆 100">
            <a:extLst>
              <a:ext uri="{FF2B5EF4-FFF2-40B4-BE49-F238E27FC236}">
                <a16:creationId xmlns:a16="http://schemas.microsoft.com/office/drawing/2014/main" id="{F371823B-8955-4325-BBB9-02E09FAC7695}"/>
              </a:ext>
            </a:extLst>
          </p:cNvPr>
          <p:cNvSpPr>
            <a:spLocks noGrp="1"/>
          </p:cNvSpPr>
          <p:nvPr/>
        </p:nvSpPr>
        <p:spPr>
          <a:xfrm>
            <a:off x="3591791" y="3366655"/>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2" name="椭圆 101">
            <a:extLst>
              <a:ext uri="{FF2B5EF4-FFF2-40B4-BE49-F238E27FC236}">
                <a16:creationId xmlns:a16="http://schemas.microsoft.com/office/drawing/2014/main" id="{1CB1B982-4738-4FBC-9D1E-2AB487EF9DD3}"/>
              </a:ext>
            </a:extLst>
          </p:cNvPr>
          <p:cNvSpPr>
            <a:spLocks noGrp="1"/>
          </p:cNvSpPr>
          <p:nvPr/>
        </p:nvSpPr>
        <p:spPr>
          <a:xfrm>
            <a:off x="3617768" y="3425103"/>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3" name="椭圆 102">
            <a:extLst>
              <a:ext uri="{FF2B5EF4-FFF2-40B4-BE49-F238E27FC236}">
                <a16:creationId xmlns:a16="http://schemas.microsoft.com/office/drawing/2014/main" id="{21D4CBA1-C06A-4666-B275-4BDC09DC2DF1}"/>
              </a:ext>
            </a:extLst>
          </p:cNvPr>
          <p:cNvSpPr>
            <a:spLocks noGrp="1"/>
          </p:cNvSpPr>
          <p:nvPr/>
        </p:nvSpPr>
        <p:spPr>
          <a:xfrm>
            <a:off x="3643745" y="3483552"/>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4" name="椭圆 103">
            <a:extLst>
              <a:ext uri="{FF2B5EF4-FFF2-40B4-BE49-F238E27FC236}">
                <a16:creationId xmlns:a16="http://schemas.microsoft.com/office/drawing/2014/main" id="{CC5A2056-05AA-48A3-8EB9-098395E794BE}"/>
              </a:ext>
            </a:extLst>
          </p:cNvPr>
          <p:cNvSpPr>
            <a:spLocks noGrp="1"/>
          </p:cNvSpPr>
          <p:nvPr/>
        </p:nvSpPr>
        <p:spPr>
          <a:xfrm>
            <a:off x="3669723" y="3542001"/>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5" name="椭圆 104">
            <a:extLst>
              <a:ext uri="{FF2B5EF4-FFF2-40B4-BE49-F238E27FC236}">
                <a16:creationId xmlns:a16="http://schemas.microsoft.com/office/drawing/2014/main" id="{3483A735-13B9-4107-9903-863596E8FB6B}"/>
              </a:ext>
            </a:extLst>
          </p:cNvPr>
          <p:cNvSpPr>
            <a:spLocks noGrp="1"/>
          </p:cNvSpPr>
          <p:nvPr/>
        </p:nvSpPr>
        <p:spPr>
          <a:xfrm>
            <a:off x="3695700" y="3600450"/>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6" name="椭圆 105">
            <a:extLst>
              <a:ext uri="{FF2B5EF4-FFF2-40B4-BE49-F238E27FC236}">
                <a16:creationId xmlns:a16="http://schemas.microsoft.com/office/drawing/2014/main" id="{048E4E50-3FCF-4709-B443-F7A4B19C6DE2}"/>
              </a:ext>
            </a:extLst>
          </p:cNvPr>
          <p:cNvSpPr>
            <a:spLocks noGrp="1"/>
          </p:cNvSpPr>
          <p:nvPr/>
        </p:nvSpPr>
        <p:spPr>
          <a:xfrm>
            <a:off x="3721677" y="3658899"/>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7" name="椭圆 106">
            <a:extLst>
              <a:ext uri="{FF2B5EF4-FFF2-40B4-BE49-F238E27FC236}">
                <a16:creationId xmlns:a16="http://schemas.microsoft.com/office/drawing/2014/main" id="{F8260DFE-E9AB-4BDB-B9F1-9CB81D02981E}"/>
              </a:ext>
            </a:extLst>
          </p:cNvPr>
          <p:cNvSpPr>
            <a:spLocks noGrp="1"/>
          </p:cNvSpPr>
          <p:nvPr/>
        </p:nvSpPr>
        <p:spPr>
          <a:xfrm>
            <a:off x="3747655" y="3717348"/>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8" name="椭圆 107">
            <a:extLst>
              <a:ext uri="{FF2B5EF4-FFF2-40B4-BE49-F238E27FC236}">
                <a16:creationId xmlns:a16="http://schemas.microsoft.com/office/drawing/2014/main" id="{DD8AC745-6396-43E2-89B8-51775FF18AB2}"/>
              </a:ext>
            </a:extLst>
          </p:cNvPr>
          <p:cNvSpPr>
            <a:spLocks noGrp="1"/>
          </p:cNvSpPr>
          <p:nvPr/>
        </p:nvSpPr>
        <p:spPr>
          <a:xfrm>
            <a:off x="3773632" y="3775797"/>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09" name="椭圆 108">
            <a:extLst>
              <a:ext uri="{FF2B5EF4-FFF2-40B4-BE49-F238E27FC236}">
                <a16:creationId xmlns:a16="http://schemas.microsoft.com/office/drawing/2014/main" id="{5C87DA1B-8EAC-4F17-A600-C2C0E21B0000}"/>
              </a:ext>
            </a:extLst>
          </p:cNvPr>
          <p:cNvSpPr>
            <a:spLocks noGrp="1"/>
          </p:cNvSpPr>
          <p:nvPr/>
        </p:nvSpPr>
        <p:spPr>
          <a:xfrm>
            <a:off x="3799609" y="3834245"/>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0" name="椭圆 109">
            <a:extLst>
              <a:ext uri="{FF2B5EF4-FFF2-40B4-BE49-F238E27FC236}">
                <a16:creationId xmlns:a16="http://schemas.microsoft.com/office/drawing/2014/main" id="{9867D252-6AC7-42F8-8A22-657EF2AEEB24}"/>
              </a:ext>
            </a:extLst>
          </p:cNvPr>
          <p:cNvSpPr>
            <a:spLocks noGrp="1"/>
          </p:cNvSpPr>
          <p:nvPr/>
        </p:nvSpPr>
        <p:spPr>
          <a:xfrm>
            <a:off x="3825586" y="3892694"/>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1" name="椭圆 110">
            <a:extLst>
              <a:ext uri="{FF2B5EF4-FFF2-40B4-BE49-F238E27FC236}">
                <a16:creationId xmlns:a16="http://schemas.microsoft.com/office/drawing/2014/main" id="{8FC1A8F3-F1C4-4EC1-8012-EAAFCE0A5601}"/>
              </a:ext>
            </a:extLst>
          </p:cNvPr>
          <p:cNvSpPr>
            <a:spLocks noGrp="1"/>
          </p:cNvSpPr>
          <p:nvPr/>
        </p:nvSpPr>
        <p:spPr>
          <a:xfrm>
            <a:off x="3851564" y="3951143"/>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2" name="椭圆 111">
            <a:extLst>
              <a:ext uri="{FF2B5EF4-FFF2-40B4-BE49-F238E27FC236}">
                <a16:creationId xmlns:a16="http://schemas.microsoft.com/office/drawing/2014/main" id="{09A13100-21B3-46F9-8019-2564DEDB2454}"/>
              </a:ext>
            </a:extLst>
          </p:cNvPr>
          <p:cNvSpPr>
            <a:spLocks noGrp="1"/>
          </p:cNvSpPr>
          <p:nvPr/>
        </p:nvSpPr>
        <p:spPr>
          <a:xfrm>
            <a:off x="3877541" y="4009592"/>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3" name="椭圆 112">
            <a:extLst>
              <a:ext uri="{FF2B5EF4-FFF2-40B4-BE49-F238E27FC236}">
                <a16:creationId xmlns:a16="http://schemas.microsoft.com/office/drawing/2014/main" id="{D4C17E5F-5D51-439D-9E3B-6D834A5482FE}"/>
              </a:ext>
            </a:extLst>
          </p:cNvPr>
          <p:cNvSpPr>
            <a:spLocks noGrp="1"/>
          </p:cNvSpPr>
          <p:nvPr/>
        </p:nvSpPr>
        <p:spPr>
          <a:xfrm>
            <a:off x="3903518" y="4068041"/>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4" name="椭圆 113">
            <a:extLst>
              <a:ext uri="{FF2B5EF4-FFF2-40B4-BE49-F238E27FC236}">
                <a16:creationId xmlns:a16="http://schemas.microsoft.com/office/drawing/2014/main" id="{260FDB42-BC77-4F45-91F1-AA7A49C68743}"/>
              </a:ext>
            </a:extLst>
          </p:cNvPr>
          <p:cNvSpPr>
            <a:spLocks noGrp="1"/>
          </p:cNvSpPr>
          <p:nvPr/>
        </p:nvSpPr>
        <p:spPr>
          <a:xfrm>
            <a:off x="3929495" y="4126490"/>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5" name="椭圆 114">
            <a:extLst>
              <a:ext uri="{FF2B5EF4-FFF2-40B4-BE49-F238E27FC236}">
                <a16:creationId xmlns:a16="http://schemas.microsoft.com/office/drawing/2014/main" id="{CD1971F8-B040-48E6-A343-A850FA1A3CD3}"/>
              </a:ext>
            </a:extLst>
          </p:cNvPr>
          <p:cNvSpPr>
            <a:spLocks noGrp="1"/>
          </p:cNvSpPr>
          <p:nvPr/>
        </p:nvSpPr>
        <p:spPr>
          <a:xfrm>
            <a:off x="3955473" y="4184939"/>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6" name="椭圆 115">
            <a:extLst>
              <a:ext uri="{FF2B5EF4-FFF2-40B4-BE49-F238E27FC236}">
                <a16:creationId xmlns:a16="http://schemas.microsoft.com/office/drawing/2014/main" id="{DAA02AFF-8347-4109-A9B2-BE2B5D63CD52}"/>
              </a:ext>
            </a:extLst>
          </p:cNvPr>
          <p:cNvSpPr>
            <a:spLocks noGrp="1"/>
          </p:cNvSpPr>
          <p:nvPr/>
        </p:nvSpPr>
        <p:spPr>
          <a:xfrm>
            <a:off x="3981450" y="4243388"/>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7" name="椭圆 116">
            <a:extLst>
              <a:ext uri="{FF2B5EF4-FFF2-40B4-BE49-F238E27FC236}">
                <a16:creationId xmlns:a16="http://schemas.microsoft.com/office/drawing/2014/main" id="{ECF7D74C-F41B-4414-90E8-F9CCB2526DD1}"/>
              </a:ext>
            </a:extLst>
          </p:cNvPr>
          <p:cNvSpPr>
            <a:spLocks noGrp="1"/>
          </p:cNvSpPr>
          <p:nvPr/>
        </p:nvSpPr>
        <p:spPr>
          <a:xfrm>
            <a:off x="4007427" y="4301836"/>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8" name="椭圆 117">
            <a:extLst>
              <a:ext uri="{FF2B5EF4-FFF2-40B4-BE49-F238E27FC236}">
                <a16:creationId xmlns:a16="http://schemas.microsoft.com/office/drawing/2014/main" id="{52F13AB1-123F-4CDB-9F0C-FEFC775320E4}"/>
              </a:ext>
            </a:extLst>
          </p:cNvPr>
          <p:cNvSpPr>
            <a:spLocks noGrp="1"/>
          </p:cNvSpPr>
          <p:nvPr/>
        </p:nvSpPr>
        <p:spPr>
          <a:xfrm>
            <a:off x="4033405" y="4360285"/>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19" name="椭圆 118">
            <a:extLst>
              <a:ext uri="{FF2B5EF4-FFF2-40B4-BE49-F238E27FC236}">
                <a16:creationId xmlns:a16="http://schemas.microsoft.com/office/drawing/2014/main" id="{9DA409FA-D738-42B4-92CC-D55BBECF0A77}"/>
              </a:ext>
            </a:extLst>
          </p:cNvPr>
          <p:cNvSpPr>
            <a:spLocks noGrp="1"/>
          </p:cNvSpPr>
          <p:nvPr/>
        </p:nvSpPr>
        <p:spPr>
          <a:xfrm>
            <a:off x="4059382" y="4418734"/>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0" name="椭圆 119">
            <a:extLst>
              <a:ext uri="{FF2B5EF4-FFF2-40B4-BE49-F238E27FC236}">
                <a16:creationId xmlns:a16="http://schemas.microsoft.com/office/drawing/2014/main" id="{262FFC70-A5A7-4C65-B962-4EBDEA0B81D5}"/>
              </a:ext>
            </a:extLst>
          </p:cNvPr>
          <p:cNvSpPr>
            <a:spLocks noGrp="1"/>
          </p:cNvSpPr>
          <p:nvPr/>
        </p:nvSpPr>
        <p:spPr>
          <a:xfrm>
            <a:off x="4085359" y="4477183"/>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1" name="椭圆 120">
            <a:extLst>
              <a:ext uri="{FF2B5EF4-FFF2-40B4-BE49-F238E27FC236}">
                <a16:creationId xmlns:a16="http://schemas.microsoft.com/office/drawing/2014/main" id="{9BE0C5BB-1F45-448B-B27B-BD9EC61498FE}"/>
              </a:ext>
            </a:extLst>
          </p:cNvPr>
          <p:cNvSpPr>
            <a:spLocks noGrp="1"/>
          </p:cNvSpPr>
          <p:nvPr/>
        </p:nvSpPr>
        <p:spPr>
          <a:xfrm>
            <a:off x="4111336" y="4535632"/>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2" name="椭圆 121">
            <a:extLst>
              <a:ext uri="{FF2B5EF4-FFF2-40B4-BE49-F238E27FC236}">
                <a16:creationId xmlns:a16="http://schemas.microsoft.com/office/drawing/2014/main" id="{F9342964-5856-47CE-8804-0D120F004E77}"/>
              </a:ext>
            </a:extLst>
          </p:cNvPr>
          <p:cNvSpPr>
            <a:spLocks noGrp="1"/>
          </p:cNvSpPr>
          <p:nvPr/>
        </p:nvSpPr>
        <p:spPr>
          <a:xfrm>
            <a:off x="4137314" y="4594081"/>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3" name="椭圆 122">
            <a:extLst>
              <a:ext uri="{FF2B5EF4-FFF2-40B4-BE49-F238E27FC236}">
                <a16:creationId xmlns:a16="http://schemas.microsoft.com/office/drawing/2014/main" id="{CD364949-11E9-4E2C-9835-CC2A40F7AB55}"/>
              </a:ext>
            </a:extLst>
          </p:cNvPr>
          <p:cNvSpPr>
            <a:spLocks noGrp="1"/>
          </p:cNvSpPr>
          <p:nvPr/>
        </p:nvSpPr>
        <p:spPr>
          <a:xfrm>
            <a:off x="4163291" y="4652530"/>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4" name="椭圆 123">
            <a:extLst>
              <a:ext uri="{FF2B5EF4-FFF2-40B4-BE49-F238E27FC236}">
                <a16:creationId xmlns:a16="http://schemas.microsoft.com/office/drawing/2014/main" id="{2F65DF09-5BB0-4892-9DC1-6881791DABD7}"/>
              </a:ext>
            </a:extLst>
          </p:cNvPr>
          <p:cNvSpPr>
            <a:spLocks noGrp="1"/>
          </p:cNvSpPr>
          <p:nvPr/>
        </p:nvSpPr>
        <p:spPr>
          <a:xfrm>
            <a:off x="4189268" y="4710978"/>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5" name="椭圆 124">
            <a:extLst>
              <a:ext uri="{FF2B5EF4-FFF2-40B4-BE49-F238E27FC236}">
                <a16:creationId xmlns:a16="http://schemas.microsoft.com/office/drawing/2014/main" id="{73615D15-40BC-4E77-8DC4-83B69B0524DB}"/>
              </a:ext>
            </a:extLst>
          </p:cNvPr>
          <p:cNvSpPr>
            <a:spLocks noGrp="1"/>
          </p:cNvSpPr>
          <p:nvPr/>
        </p:nvSpPr>
        <p:spPr>
          <a:xfrm>
            <a:off x="4215245" y="4769427"/>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6" name="椭圆 125">
            <a:extLst>
              <a:ext uri="{FF2B5EF4-FFF2-40B4-BE49-F238E27FC236}">
                <a16:creationId xmlns:a16="http://schemas.microsoft.com/office/drawing/2014/main" id="{920E5F57-13E8-4524-BFE7-48FCFC1442D0}"/>
              </a:ext>
            </a:extLst>
          </p:cNvPr>
          <p:cNvSpPr>
            <a:spLocks noGrp="1"/>
          </p:cNvSpPr>
          <p:nvPr/>
        </p:nvSpPr>
        <p:spPr>
          <a:xfrm>
            <a:off x="4241223" y="4827876"/>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7" name="椭圆 126">
            <a:extLst>
              <a:ext uri="{FF2B5EF4-FFF2-40B4-BE49-F238E27FC236}">
                <a16:creationId xmlns:a16="http://schemas.microsoft.com/office/drawing/2014/main" id="{C5E97822-A719-40AD-B772-354664A7C86E}"/>
              </a:ext>
            </a:extLst>
          </p:cNvPr>
          <p:cNvSpPr>
            <a:spLocks noGrp="1"/>
          </p:cNvSpPr>
          <p:nvPr/>
        </p:nvSpPr>
        <p:spPr>
          <a:xfrm>
            <a:off x="4267200" y="4886325"/>
            <a:ext cx="38100" cy="38100"/>
          </a:xfrm>
          <a:prstGeom prst="ellipse">
            <a:avLst/>
          </a:prstGeom>
          <a:solidFill>
            <a:srgbClr val="2F7A5D"/>
          </a:solidFill>
          <a:ln w="0">
            <a:solidFill>
              <a:srgbClr val="000000">
                <a:alpha val="0"/>
              </a:srgbClr>
            </a:solidFill>
            <a:prstDash val="solid"/>
          </a:ln>
        </p:spPr>
        <p:txBody>
          <a:bodyPr/>
          <a:lstStyle/>
          <a:p>
            <a:endParaRPr lang="zh-CN" altLang="en-US"/>
          </a:p>
        </p:txBody>
      </p:sp>
      <p:sp>
        <p:nvSpPr>
          <p:cNvPr id="128" name="矩形 127">
            <a:extLst>
              <a:ext uri="{FF2B5EF4-FFF2-40B4-BE49-F238E27FC236}">
                <a16:creationId xmlns:a16="http://schemas.microsoft.com/office/drawing/2014/main" id="{BF51321C-7231-4265-9F68-60BF4D74C816}"/>
              </a:ext>
            </a:extLst>
          </p:cNvPr>
          <p:cNvSpPr>
            <a:spLocks noGrp="1"/>
          </p:cNvSpPr>
          <p:nvPr/>
        </p:nvSpPr>
        <p:spPr>
          <a:xfrm>
            <a:off x="6076950" y="2381250"/>
            <a:ext cx="2381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A33A3A"/>
                </a:solidFill>
                <a:latin typeface="黑体"/>
                <a:ea typeface="黑体"/>
                <a:cs typeface="黑体"/>
              </a:defRPr>
            </a:pPr>
            <a:r>
              <a:rPr>
                <a:latin typeface="Times New Roman"/>
                <a:ea typeface="Times New Roman"/>
                <a:cs typeface="Times New Roman"/>
              </a:rPr>
              <a:t>PC1：</a:t>
            </a:r>
            <a:r>
              <a:rPr>
                <a:latin typeface="黑体"/>
                <a:ea typeface="黑体"/>
                <a:cs typeface="黑体"/>
              </a:rPr>
              <a:t>最大方差方向</a:t>
            </a:r>
          </a:p>
        </p:txBody>
      </p:sp>
      <p:sp>
        <p:nvSpPr>
          <p:cNvPr id="129" name="矩形 128">
            <a:extLst>
              <a:ext uri="{FF2B5EF4-FFF2-40B4-BE49-F238E27FC236}">
                <a16:creationId xmlns:a16="http://schemas.microsoft.com/office/drawing/2014/main" id="{196B6D1B-62E7-42EF-90D3-5E26D88BD33E}"/>
              </a:ext>
            </a:extLst>
          </p:cNvPr>
          <p:cNvSpPr>
            <a:spLocks noGrp="1"/>
          </p:cNvSpPr>
          <p:nvPr/>
        </p:nvSpPr>
        <p:spPr>
          <a:xfrm>
            <a:off x="6076950" y="2857500"/>
            <a:ext cx="2381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F7A5D"/>
                </a:solidFill>
                <a:latin typeface="黑体"/>
                <a:ea typeface="黑体"/>
                <a:cs typeface="黑体"/>
              </a:defRPr>
            </a:pPr>
            <a:r>
              <a:rPr>
                <a:latin typeface="Times New Roman"/>
                <a:ea typeface="Times New Roman"/>
                <a:cs typeface="Times New Roman"/>
              </a:rPr>
              <a:t>PC2：</a:t>
            </a:r>
            <a:r>
              <a:rPr>
                <a:latin typeface="黑体"/>
                <a:ea typeface="黑体"/>
                <a:cs typeface="黑体"/>
              </a:rPr>
              <a:t>与 </a:t>
            </a:r>
            <a:r>
              <a:rPr>
                <a:latin typeface="Times New Roman"/>
                <a:ea typeface="Times New Roman"/>
                <a:cs typeface="Times New Roman"/>
              </a:rPr>
              <a:t>PC1 </a:t>
            </a:r>
            <a:r>
              <a:rPr>
                <a:latin typeface="黑体"/>
                <a:ea typeface="黑体"/>
                <a:cs typeface="黑体"/>
              </a:rPr>
              <a:t>正交</a:t>
            </a:r>
          </a:p>
        </p:txBody>
      </p:sp>
      <p:sp>
        <p:nvSpPr>
          <p:cNvPr id="130" name="矩形 129">
            <a:extLst>
              <a:ext uri="{FF2B5EF4-FFF2-40B4-BE49-F238E27FC236}">
                <a16:creationId xmlns:a16="http://schemas.microsoft.com/office/drawing/2014/main" id="{F14A7FD9-66C2-4480-9E01-D83E2858601D}"/>
              </a:ext>
            </a:extLst>
          </p:cNvPr>
          <p:cNvSpPr>
            <a:spLocks noGrp="1"/>
          </p:cNvSpPr>
          <p:nvPr/>
        </p:nvSpPr>
        <p:spPr>
          <a:xfrm>
            <a:off x="8629650" y="2019300"/>
            <a:ext cx="2095500" cy="2190750"/>
          </a:xfrm>
          <a:prstGeom prst="rect">
            <a:avLst/>
          </a:prstGeom>
          <a:solidFill>
            <a:srgbClr val="F4F8FC"/>
          </a:solidFill>
          <a:ln w="9525">
            <a:solidFill>
              <a:srgbClr val="B8C3D1"/>
            </a:solidFill>
            <a:prstDash val="solid"/>
          </a:ln>
        </p:spPr>
        <p:txBody>
          <a:bodyPr/>
          <a:lstStyle/>
          <a:p>
            <a:endParaRPr lang="zh-CN" altLang="en-US"/>
          </a:p>
        </p:txBody>
      </p:sp>
      <p:sp>
        <p:nvSpPr>
          <p:cNvPr id="131" name="矩形 130">
            <a:extLst>
              <a:ext uri="{FF2B5EF4-FFF2-40B4-BE49-F238E27FC236}">
                <a16:creationId xmlns:a16="http://schemas.microsoft.com/office/drawing/2014/main" id="{E6C30D56-0FA6-435E-B064-749175A0F3FE}"/>
              </a:ext>
            </a:extLst>
          </p:cNvPr>
          <p:cNvSpPr>
            <a:spLocks noGrp="1"/>
          </p:cNvSpPr>
          <p:nvPr/>
        </p:nvSpPr>
        <p:spPr>
          <a:xfrm>
            <a:off x="8915400" y="2247900"/>
            <a:ext cx="152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0204A"/>
                </a:solidFill>
                <a:latin typeface="黑体"/>
                <a:ea typeface="黑体"/>
                <a:cs typeface="黑体"/>
              </a:defRPr>
            </a:pPr>
            <a:r>
              <a:rPr>
                <a:latin typeface="黑体"/>
                <a:ea typeface="黑体"/>
                <a:cs typeface="黑体"/>
              </a:rPr>
              <a:t>投影</a:t>
            </a:r>
          </a:p>
        </p:txBody>
      </p:sp>
      <p:sp>
        <p:nvSpPr>
          <p:cNvPr id="132" name="矩形 131">
            <a:extLst>
              <a:ext uri="{FF2B5EF4-FFF2-40B4-BE49-F238E27FC236}">
                <a16:creationId xmlns:a16="http://schemas.microsoft.com/office/drawing/2014/main" id="{DA409B31-9338-473F-B009-9E1170516795}"/>
              </a:ext>
            </a:extLst>
          </p:cNvPr>
          <p:cNvSpPr>
            <a:spLocks noGrp="1"/>
          </p:cNvSpPr>
          <p:nvPr/>
        </p:nvSpPr>
        <p:spPr>
          <a:xfrm>
            <a:off x="8991600" y="3219450"/>
            <a:ext cx="1371600" cy="38100"/>
          </a:xfrm>
          <a:prstGeom prst="rect">
            <a:avLst/>
          </a:prstGeom>
          <a:solidFill>
            <a:srgbClr val="B64040"/>
          </a:solidFill>
          <a:ln w="0">
            <a:solidFill>
              <a:srgbClr val="000000">
                <a:alpha val="0"/>
              </a:srgbClr>
            </a:solidFill>
            <a:prstDash val="solid"/>
          </a:ln>
        </p:spPr>
        <p:txBody>
          <a:bodyPr/>
          <a:lstStyle/>
          <a:p>
            <a:endParaRPr lang="zh-CN" altLang="en-US"/>
          </a:p>
        </p:txBody>
      </p:sp>
      <p:sp>
        <p:nvSpPr>
          <p:cNvPr id="133" name="椭圆 132">
            <a:extLst>
              <a:ext uri="{FF2B5EF4-FFF2-40B4-BE49-F238E27FC236}">
                <a16:creationId xmlns:a16="http://schemas.microsoft.com/office/drawing/2014/main" id="{20EEF246-983A-4BAA-9E6F-C854B5B7EB7D}"/>
              </a:ext>
            </a:extLst>
          </p:cNvPr>
          <p:cNvSpPr>
            <a:spLocks noGrp="1"/>
          </p:cNvSpPr>
          <p:nvPr/>
        </p:nvSpPr>
        <p:spPr>
          <a:xfrm>
            <a:off x="8953500" y="314325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134" name="椭圆 133">
            <a:extLst>
              <a:ext uri="{FF2B5EF4-FFF2-40B4-BE49-F238E27FC236}">
                <a16:creationId xmlns:a16="http://schemas.microsoft.com/office/drawing/2014/main" id="{19D8F501-4B9A-472C-9735-3579ACD4FA85}"/>
              </a:ext>
            </a:extLst>
          </p:cNvPr>
          <p:cNvSpPr>
            <a:spLocks noGrp="1"/>
          </p:cNvSpPr>
          <p:nvPr/>
        </p:nvSpPr>
        <p:spPr>
          <a:xfrm>
            <a:off x="9144000" y="3143250"/>
            <a:ext cx="114300" cy="114300"/>
          </a:xfrm>
          <a:prstGeom prst="ellipse">
            <a:avLst/>
          </a:prstGeom>
          <a:solidFill>
            <a:srgbClr val="B4964B"/>
          </a:solidFill>
          <a:ln w="9525">
            <a:solidFill>
              <a:srgbClr val="FFFFFF"/>
            </a:solidFill>
            <a:prstDash val="solid"/>
          </a:ln>
        </p:spPr>
        <p:txBody>
          <a:bodyPr/>
          <a:lstStyle/>
          <a:p>
            <a:endParaRPr lang="zh-CN" altLang="en-US"/>
          </a:p>
        </p:txBody>
      </p:sp>
      <p:sp>
        <p:nvSpPr>
          <p:cNvPr id="135" name="椭圆 134">
            <a:extLst>
              <a:ext uri="{FF2B5EF4-FFF2-40B4-BE49-F238E27FC236}">
                <a16:creationId xmlns:a16="http://schemas.microsoft.com/office/drawing/2014/main" id="{BB020ED1-C794-422E-B4CD-B5851B8A3F76}"/>
              </a:ext>
            </a:extLst>
          </p:cNvPr>
          <p:cNvSpPr>
            <a:spLocks noGrp="1"/>
          </p:cNvSpPr>
          <p:nvPr/>
        </p:nvSpPr>
        <p:spPr>
          <a:xfrm>
            <a:off x="9353550" y="314325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136" name="椭圆 135">
            <a:extLst>
              <a:ext uri="{FF2B5EF4-FFF2-40B4-BE49-F238E27FC236}">
                <a16:creationId xmlns:a16="http://schemas.microsoft.com/office/drawing/2014/main" id="{285D1E05-756C-4C7F-A4B2-0376D1E4F420}"/>
              </a:ext>
            </a:extLst>
          </p:cNvPr>
          <p:cNvSpPr>
            <a:spLocks noGrp="1"/>
          </p:cNvSpPr>
          <p:nvPr/>
        </p:nvSpPr>
        <p:spPr>
          <a:xfrm>
            <a:off x="9601200" y="3143250"/>
            <a:ext cx="114300" cy="114300"/>
          </a:xfrm>
          <a:prstGeom prst="ellipse">
            <a:avLst/>
          </a:prstGeom>
          <a:solidFill>
            <a:srgbClr val="B4964B"/>
          </a:solidFill>
          <a:ln w="9525">
            <a:solidFill>
              <a:srgbClr val="FFFFFF"/>
            </a:solidFill>
            <a:prstDash val="solid"/>
          </a:ln>
        </p:spPr>
        <p:txBody>
          <a:bodyPr/>
          <a:lstStyle/>
          <a:p>
            <a:endParaRPr lang="zh-CN" altLang="en-US"/>
          </a:p>
        </p:txBody>
      </p:sp>
      <p:sp>
        <p:nvSpPr>
          <p:cNvPr id="137" name="椭圆 136">
            <a:extLst>
              <a:ext uri="{FF2B5EF4-FFF2-40B4-BE49-F238E27FC236}">
                <a16:creationId xmlns:a16="http://schemas.microsoft.com/office/drawing/2014/main" id="{83FAC2B0-C50B-4869-83AB-2C041390ACE1}"/>
              </a:ext>
            </a:extLst>
          </p:cNvPr>
          <p:cNvSpPr>
            <a:spLocks noGrp="1"/>
          </p:cNvSpPr>
          <p:nvPr/>
        </p:nvSpPr>
        <p:spPr>
          <a:xfrm>
            <a:off x="9848850" y="314325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138" name="椭圆 137">
            <a:extLst>
              <a:ext uri="{FF2B5EF4-FFF2-40B4-BE49-F238E27FC236}">
                <a16:creationId xmlns:a16="http://schemas.microsoft.com/office/drawing/2014/main" id="{69E6D2B5-8567-48F9-BE24-535210025D03}"/>
              </a:ext>
            </a:extLst>
          </p:cNvPr>
          <p:cNvSpPr>
            <a:spLocks noGrp="1"/>
          </p:cNvSpPr>
          <p:nvPr/>
        </p:nvSpPr>
        <p:spPr>
          <a:xfrm>
            <a:off x="10077450" y="3143250"/>
            <a:ext cx="114300" cy="114300"/>
          </a:xfrm>
          <a:prstGeom prst="ellipse">
            <a:avLst/>
          </a:prstGeom>
          <a:solidFill>
            <a:srgbClr val="B4964B"/>
          </a:solidFill>
          <a:ln w="9525">
            <a:solidFill>
              <a:srgbClr val="FFFFFF"/>
            </a:solidFill>
            <a:prstDash val="solid"/>
          </a:ln>
        </p:spPr>
        <p:txBody>
          <a:bodyPr/>
          <a:lstStyle/>
          <a:p>
            <a:endParaRPr lang="zh-CN" altLang="en-US"/>
          </a:p>
        </p:txBody>
      </p:sp>
      <p:sp>
        <p:nvSpPr>
          <p:cNvPr id="139" name="椭圆 138">
            <a:extLst>
              <a:ext uri="{FF2B5EF4-FFF2-40B4-BE49-F238E27FC236}">
                <a16:creationId xmlns:a16="http://schemas.microsoft.com/office/drawing/2014/main" id="{AACDAF50-B46F-46F9-AAF7-259FEC66D0A4}"/>
              </a:ext>
            </a:extLst>
          </p:cNvPr>
          <p:cNvSpPr>
            <a:spLocks noGrp="1"/>
          </p:cNvSpPr>
          <p:nvPr/>
        </p:nvSpPr>
        <p:spPr>
          <a:xfrm>
            <a:off x="10287000" y="314325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140" name="矩形 139">
            <a:extLst>
              <a:ext uri="{FF2B5EF4-FFF2-40B4-BE49-F238E27FC236}">
                <a16:creationId xmlns:a16="http://schemas.microsoft.com/office/drawing/2014/main" id="{4C142C25-C543-4C5B-A18F-419737FE47F0}"/>
              </a:ext>
            </a:extLst>
          </p:cNvPr>
          <p:cNvSpPr>
            <a:spLocks noGrp="1"/>
          </p:cNvSpPr>
          <p:nvPr/>
        </p:nvSpPr>
        <p:spPr>
          <a:xfrm>
            <a:off x="8915400" y="3638550"/>
            <a:ext cx="1524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二维 </a:t>
            </a:r>
            <a:r>
              <a:rPr>
                <a:latin typeface="Times New Roman"/>
                <a:ea typeface="Times New Roman"/>
                <a:cs typeface="Times New Roman"/>
              </a:rPr>
              <a:t>→ </a:t>
            </a:r>
            <a:r>
              <a:rPr>
                <a:latin typeface="黑体"/>
                <a:ea typeface="黑体"/>
                <a:cs typeface="黑体"/>
              </a:rPr>
              <a:t>一维</a:t>
            </a:r>
          </a:p>
        </p:txBody>
      </p:sp>
      <p:sp>
        <p:nvSpPr>
          <p:cNvPr id="141" name="矩形 140">
            <a:extLst>
              <a:ext uri="{FF2B5EF4-FFF2-40B4-BE49-F238E27FC236}">
                <a16:creationId xmlns:a16="http://schemas.microsoft.com/office/drawing/2014/main" id="{C334E69C-192E-4E05-9423-17303A4C6A6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142" name="矩形 141">
            <a:extLst>
              <a:ext uri="{FF2B5EF4-FFF2-40B4-BE49-F238E27FC236}">
                <a16:creationId xmlns:a16="http://schemas.microsoft.com/office/drawing/2014/main" id="{765F3AFF-2E97-4303-8662-57AE8CD43FB6}"/>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PCA </a:t>
            </a:r>
            <a:r>
              <a:rPr>
                <a:latin typeface="黑体"/>
                <a:ea typeface="黑体"/>
                <a:cs typeface="黑体"/>
              </a:rPr>
              <a:t>压缩相关变量，但主成分通常不如原始变量容易解释。</a:t>
            </a:r>
          </a:p>
        </p:txBody>
      </p:sp>
    </p:spTree>
    <p:extLst>
      <p:ext uri="{BB962C8B-B14F-4D97-AF65-F5344CB8AC3E}">
        <p14:creationId xmlns:p14="http://schemas.microsoft.com/office/powerpoint/2010/main" val="20163640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a:extLst>
              <a:ext uri="{FF2B5EF4-FFF2-40B4-BE49-F238E27FC236}">
                <a16:creationId xmlns:a16="http://schemas.microsoft.com/office/drawing/2014/main" id="{F27CE01A-131B-4932-B341-9A70393E2114}"/>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24AD9B1A-1FB3-46A7-9112-BC96269168C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7E62B870-C37C-431B-907E-75B390534B0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E5244A7-D3EB-475D-B7FC-C790538975BD}"/>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数据泄漏：模型看到了预测时点之后的信息</a:t>
            </a:r>
          </a:p>
        </p:txBody>
      </p:sp>
      <p:sp>
        <p:nvSpPr>
          <p:cNvPr id="5" name="矩形 4">
            <a:extLst>
              <a:ext uri="{FF2B5EF4-FFF2-40B4-BE49-F238E27FC236}">
                <a16:creationId xmlns:a16="http://schemas.microsoft.com/office/drawing/2014/main" id="{F2937029-78B5-4F63-9EA6-B78A28E304D0}"/>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61/90</a:t>
            </a:r>
          </a:p>
        </p:txBody>
      </p:sp>
      <p:sp>
        <p:nvSpPr>
          <p:cNvPr id="6" name="矩形 5">
            <a:extLst>
              <a:ext uri="{FF2B5EF4-FFF2-40B4-BE49-F238E27FC236}">
                <a16:creationId xmlns:a16="http://schemas.microsoft.com/office/drawing/2014/main" id="{FA3EFEE1-9228-4DFA-9E92-76F1EE79E60E}"/>
              </a:ext>
            </a:extLst>
          </p:cNvPr>
          <p:cNvSpPr>
            <a:spLocks noGrp="1"/>
          </p:cNvSpPr>
          <p:nvPr/>
        </p:nvSpPr>
        <p:spPr>
          <a:xfrm>
            <a:off x="609600" y="1257300"/>
            <a:ext cx="10972800" cy="219075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055C45A2-B171-4247-9900-EA1A7E7A6A5F}"/>
              </a:ext>
            </a:extLst>
          </p:cNvPr>
          <p:cNvSpPr>
            <a:spLocks noGrp="1"/>
          </p:cNvSpPr>
          <p:nvPr/>
        </p:nvSpPr>
        <p:spPr>
          <a:xfrm>
            <a:off x="781050" y="1409700"/>
            <a:ext cx="4686300" cy="723900"/>
          </a:xfrm>
          <a:prstGeom prst="rect">
            <a:avLst/>
          </a:prstGeom>
          <a:solidFill>
            <a:srgbClr val="EAF2FF"/>
          </a:solidFill>
          <a:ln w="9525">
            <a:solidFill>
              <a:srgbClr val="A9BDD5"/>
            </a:solidFill>
            <a:prstDash val="solid"/>
          </a:ln>
        </p:spPr>
        <p:txBody>
          <a:bodyPr/>
          <a:lstStyle/>
          <a:p>
            <a:endParaRPr lang="zh-CN" altLang="en-US"/>
          </a:p>
        </p:txBody>
      </p:sp>
      <p:sp>
        <p:nvSpPr>
          <p:cNvPr id="8" name="矩形 7">
            <a:extLst>
              <a:ext uri="{FF2B5EF4-FFF2-40B4-BE49-F238E27FC236}">
                <a16:creationId xmlns:a16="http://schemas.microsoft.com/office/drawing/2014/main" id="{50F5ADDC-9329-4006-B87B-31F61FB99EF8}"/>
              </a:ext>
            </a:extLst>
          </p:cNvPr>
          <p:cNvSpPr>
            <a:spLocks noGrp="1"/>
          </p:cNvSpPr>
          <p:nvPr/>
        </p:nvSpPr>
        <p:spPr>
          <a:xfrm>
            <a:off x="971550" y="1543050"/>
            <a:ext cx="4305300" cy="266700"/>
          </a:xfrm>
          <a:prstGeom prst="rect">
            <a:avLst/>
          </a:prstGeom>
          <a:solidFill>
            <a:srgbClr val="EAF2FF"/>
          </a:solidFill>
          <a:ln w="0">
            <a:solidFill>
              <a:srgbClr val="000000">
                <a:alpha val="0"/>
              </a:srgbClr>
            </a:solidFill>
            <a:prstDash val="solid"/>
          </a:ln>
        </p:spPr>
        <p:txBody>
          <a:bodyPr lIns="0" tIns="0" rIns="0" bIns="0" anchor="t"/>
          <a:lstStyle/>
          <a:p>
            <a:pPr algn="ctr">
              <a:defRPr sz="1500" b="1">
                <a:solidFill>
                  <a:srgbClr val="014DA1"/>
                </a:solidFill>
                <a:latin typeface="黑体"/>
                <a:ea typeface="黑体"/>
                <a:cs typeface="黑体"/>
              </a:defRPr>
            </a:pPr>
            <a:r>
              <a:rPr>
                <a:latin typeface="黑体"/>
                <a:ea typeface="黑体"/>
                <a:cs typeface="黑体"/>
              </a:rPr>
              <a:t>预测时可用：</a:t>
            </a:r>
            <a:r>
              <a:rPr>
                <a:latin typeface="Times New Roman"/>
                <a:ea typeface="Times New Roman"/>
                <a:cs typeface="Times New Roman"/>
              </a:rPr>
              <a:t>W1–W4</a:t>
            </a:r>
          </a:p>
        </p:txBody>
      </p:sp>
      <p:sp>
        <p:nvSpPr>
          <p:cNvPr id="9" name="矩形 8">
            <a:extLst>
              <a:ext uri="{FF2B5EF4-FFF2-40B4-BE49-F238E27FC236}">
                <a16:creationId xmlns:a16="http://schemas.microsoft.com/office/drawing/2014/main" id="{95C60DFA-1DEF-43F8-A494-B84A3F3DA813}"/>
              </a:ext>
            </a:extLst>
          </p:cNvPr>
          <p:cNvSpPr>
            <a:spLocks noGrp="1"/>
          </p:cNvSpPr>
          <p:nvPr/>
        </p:nvSpPr>
        <p:spPr>
          <a:xfrm>
            <a:off x="971550" y="1828800"/>
            <a:ext cx="4305300" cy="190500"/>
          </a:xfrm>
          <a:prstGeom prst="rect">
            <a:avLst/>
          </a:prstGeom>
          <a:solidFill>
            <a:srgbClr val="EAF2FF"/>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登录次数  </a:t>
            </a:r>
            <a:r>
              <a:rPr>
                <a:latin typeface="Times New Roman"/>
                <a:ea typeface="Times New Roman"/>
                <a:cs typeface="Times New Roman"/>
              </a:rPr>
              <a:t>·  </a:t>
            </a:r>
            <a:r>
              <a:rPr>
                <a:latin typeface="黑体"/>
                <a:ea typeface="黑体"/>
                <a:cs typeface="黑体"/>
              </a:rPr>
              <a:t>视频完成率  </a:t>
            </a:r>
            <a:r>
              <a:rPr>
                <a:latin typeface="Times New Roman"/>
                <a:ea typeface="Times New Roman"/>
                <a:cs typeface="Times New Roman"/>
              </a:rPr>
              <a:t>·  </a:t>
            </a:r>
            <a:r>
              <a:rPr>
                <a:latin typeface="黑体"/>
                <a:ea typeface="黑体"/>
                <a:cs typeface="黑体"/>
              </a:rPr>
              <a:t>测验变化</a:t>
            </a:r>
          </a:p>
        </p:txBody>
      </p:sp>
      <p:sp>
        <p:nvSpPr>
          <p:cNvPr id="10" name="矩形 9">
            <a:extLst>
              <a:ext uri="{FF2B5EF4-FFF2-40B4-BE49-F238E27FC236}">
                <a16:creationId xmlns:a16="http://schemas.microsoft.com/office/drawing/2014/main" id="{79E6E9F4-9350-4EE1-8534-84A1BA6D623B}"/>
              </a:ext>
            </a:extLst>
          </p:cNvPr>
          <p:cNvSpPr>
            <a:spLocks noGrp="1"/>
          </p:cNvSpPr>
          <p:nvPr/>
        </p:nvSpPr>
        <p:spPr>
          <a:xfrm>
            <a:off x="6724650" y="1409700"/>
            <a:ext cx="4686300" cy="723900"/>
          </a:xfrm>
          <a:prstGeom prst="rect">
            <a:avLst/>
          </a:prstGeom>
          <a:solidFill>
            <a:srgbClr val="F8EAEA"/>
          </a:solidFill>
          <a:ln w="9525">
            <a:solidFill>
              <a:srgbClr val="D3A5A5"/>
            </a:solidFill>
            <a:prstDash val="solid"/>
          </a:ln>
        </p:spPr>
        <p:txBody>
          <a:bodyPr/>
          <a:lstStyle/>
          <a:p>
            <a:endParaRPr lang="zh-CN" altLang="en-US"/>
          </a:p>
        </p:txBody>
      </p:sp>
      <p:sp>
        <p:nvSpPr>
          <p:cNvPr id="11" name="矩形 10">
            <a:extLst>
              <a:ext uri="{FF2B5EF4-FFF2-40B4-BE49-F238E27FC236}">
                <a16:creationId xmlns:a16="http://schemas.microsoft.com/office/drawing/2014/main" id="{7ABFC2E0-97FA-40CB-918D-75EC60FA95FB}"/>
              </a:ext>
            </a:extLst>
          </p:cNvPr>
          <p:cNvSpPr>
            <a:spLocks noGrp="1"/>
          </p:cNvSpPr>
          <p:nvPr/>
        </p:nvSpPr>
        <p:spPr>
          <a:xfrm>
            <a:off x="6915150" y="1543050"/>
            <a:ext cx="4305300" cy="266700"/>
          </a:xfrm>
          <a:prstGeom prst="rect">
            <a:avLst/>
          </a:prstGeom>
          <a:solidFill>
            <a:srgbClr val="F8EAEA"/>
          </a:solidFill>
          <a:ln w="0">
            <a:solidFill>
              <a:srgbClr val="000000">
                <a:alpha val="0"/>
              </a:srgbClr>
            </a:solidFill>
            <a:prstDash val="solid"/>
          </a:ln>
        </p:spPr>
        <p:txBody>
          <a:bodyPr lIns="0" tIns="0" rIns="0" bIns="0" anchor="t"/>
          <a:lstStyle/>
          <a:p>
            <a:pPr algn="ctr">
              <a:defRPr sz="1500" b="1">
                <a:solidFill>
                  <a:srgbClr val="A33A3A"/>
                </a:solidFill>
                <a:latin typeface="黑体"/>
                <a:ea typeface="黑体"/>
                <a:cs typeface="黑体"/>
              </a:defRPr>
            </a:pPr>
            <a:r>
              <a:rPr>
                <a:latin typeface="黑体"/>
                <a:ea typeface="黑体"/>
                <a:cs typeface="黑体"/>
              </a:rPr>
              <a:t>预测后才出现：</a:t>
            </a:r>
            <a:r>
              <a:rPr>
                <a:latin typeface="Times New Roman"/>
                <a:ea typeface="Times New Roman"/>
                <a:cs typeface="Times New Roman"/>
              </a:rPr>
              <a:t>W5–W8</a:t>
            </a:r>
          </a:p>
        </p:txBody>
      </p:sp>
      <p:sp>
        <p:nvSpPr>
          <p:cNvPr id="12" name="矩形 11">
            <a:extLst>
              <a:ext uri="{FF2B5EF4-FFF2-40B4-BE49-F238E27FC236}">
                <a16:creationId xmlns:a16="http://schemas.microsoft.com/office/drawing/2014/main" id="{95C448EA-CF0C-47B0-BFCB-1F140F97E5B4}"/>
              </a:ext>
            </a:extLst>
          </p:cNvPr>
          <p:cNvSpPr>
            <a:spLocks noGrp="1"/>
          </p:cNvSpPr>
          <p:nvPr/>
        </p:nvSpPr>
        <p:spPr>
          <a:xfrm>
            <a:off x="6915150" y="1828800"/>
            <a:ext cx="4305300" cy="190500"/>
          </a:xfrm>
          <a:prstGeom prst="rect">
            <a:avLst/>
          </a:prstGeom>
          <a:solidFill>
            <a:srgbClr val="F8EAEA"/>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黑体"/>
                <a:ea typeface="黑体"/>
                <a:cs typeface="黑体"/>
              </a:rPr>
              <a:t>未来行为  </a:t>
            </a:r>
            <a:r>
              <a:rPr>
                <a:latin typeface="Times New Roman"/>
                <a:ea typeface="Times New Roman"/>
                <a:cs typeface="Times New Roman"/>
              </a:rPr>
              <a:t>·  </a:t>
            </a:r>
            <a:r>
              <a:rPr>
                <a:latin typeface="黑体"/>
                <a:ea typeface="黑体"/>
                <a:cs typeface="黑体"/>
              </a:rPr>
              <a:t>退课结果  </a:t>
            </a:r>
            <a:r>
              <a:rPr>
                <a:latin typeface="Times New Roman"/>
                <a:ea typeface="Times New Roman"/>
                <a:cs typeface="Times New Roman"/>
              </a:rPr>
              <a:t>·  </a:t>
            </a:r>
            <a:r>
              <a:rPr>
                <a:latin typeface="黑体"/>
                <a:ea typeface="黑体"/>
                <a:cs typeface="黑体"/>
              </a:rPr>
              <a:t>最终成绩</a:t>
            </a:r>
          </a:p>
        </p:txBody>
      </p:sp>
      <p:sp>
        <p:nvSpPr>
          <p:cNvPr id="13" name="矩形 12">
            <a:extLst>
              <a:ext uri="{FF2B5EF4-FFF2-40B4-BE49-F238E27FC236}">
                <a16:creationId xmlns:a16="http://schemas.microsoft.com/office/drawing/2014/main" id="{B38804AF-E318-4EE9-A636-966E74D984B5}"/>
              </a:ext>
            </a:extLst>
          </p:cNvPr>
          <p:cNvSpPr>
            <a:spLocks noGrp="1"/>
          </p:cNvSpPr>
          <p:nvPr/>
        </p:nvSpPr>
        <p:spPr>
          <a:xfrm>
            <a:off x="4019550" y="2209800"/>
            <a:ext cx="4152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Times New Roman"/>
                <a:ea typeface="Times New Roman"/>
                <a:cs typeface="Times New Roman"/>
              </a:rPr>
              <a:t>← </a:t>
            </a:r>
            <a:r>
              <a:rPr>
                <a:latin typeface="黑体"/>
                <a:ea typeface="黑体"/>
                <a:cs typeface="黑体"/>
              </a:rPr>
              <a:t>未来信息回流到特征或预处理参数 </a:t>
            </a:r>
            <a:r>
              <a:rPr>
                <a:latin typeface="Times New Roman"/>
                <a:ea typeface="Times New Roman"/>
                <a:cs typeface="Times New Roman"/>
              </a:rPr>
              <a:t>= </a:t>
            </a:r>
            <a:r>
              <a:rPr>
                <a:latin typeface="黑体"/>
                <a:ea typeface="黑体"/>
                <a:cs typeface="黑体"/>
              </a:rPr>
              <a:t>泄漏</a:t>
            </a:r>
          </a:p>
        </p:txBody>
      </p:sp>
      <p:sp>
        <p:nvSpPr>
          <p:cNvPr id="14" name="矩形 13">
            <a:extLst>
              <a:ext uri="{FF2B5EF4-FFF2-40B4-BE49-F238E27FC236}">
                <a16:creationId xmlns:a16="http://schemas.microsoft.com/office/drawing/2014/main" id="{5A31B551-F364-4E42-9314-83DC93F57EF8}"/>
              </a:ext>
            </a:extLst>
          </p:cNvPr>
          <p:cNvSpPr>
            <a:spLocks noGrp="1"/>
          </p:cNvSpPr>
          <p:nvPr/>
        </p:nvSpPr>
        <p:spPr>
          <a:xfrm>
            <a:off x="933450" y="2724150"/>
            <a:ext cx="10287000" cy="47625"/>
          </a:xfrm>
          <a:prstGeom prst="rect">
            <a:avLst/>
          </a:prstGeom>
          <a:solidFill>
            <a:srgbClr val="8C99A9"/>
          </a:solidFill>
          <a:ln w="0">
            <a:solidFill>
              <a:srgbClr val="000000">
                <a:alpha val="0"/>
              </a:srgbClr>
            </a:solidFill>
            <a:prstDash val="solid"/>
          </a:ln>
        </p:spPr>
        <p:txBody>
          <a:bodyPr/>
          <a:lstStyle/>
          <a:p>
            <a:endParaRPr lang="zh-CN" altLang="en-US"/>
          </a:p>
        </p:txBody>
      </p:sp>
      <p:sp>
        <p:nvSpPr>
          <p:cNvPr id="15" name="椭圆 14">
            <a:extLst>
              <a:ext uri="{FF2B5EF4-FFF2-40B4-BE49-F238E27FC236}">
                <a16:creationId xmlns:a16="http://schemas.microsoft.com/office/drawing/2014/main" id="{6483E7EA-C33B-4D99-A385-5CC3BBD4B07B}"/>
              </a:ext>
            </a:extLst>
          </p:cNvPr>
          <p:cNvSpPr>
            <a:spLocks noGrp="1"/>
          </p:cNvSpPr>
          <p:nvPr/>
        </p:nvSpPr>
        <p:spPr>
          <a:xfrm>
            <a:off x="847725" y="2657475"/>
            <a:ext cx="190500" cy="190500"/>
          </a:xfrm>
          <a:prstGeom prst="ellipse">
            <a:avLst/>
          </a:prstGeom>
          <a:solidFill>
            <a:srgbClr val="014DA1"/>
          </a:solidFill>
          <a:ln w="9525">
            <a:solidFill>
              <a:srgbClr val="FFFFFF"/>
            </a:solidFill>
            <a:prstDash val="solid"/>
          </a:ln>
        </p:spPr>
        <p:txBody>
          <a:bodyPr/>
          <a:lstStyle/>
          <a:p>
            <a:endParaRPr lang="zh-CN" altLang="en-US"/>
          </a:p>
        </p:txBody>
      </p:sp>
      <p:sp>
        <p:nvSpPr>
          <p:cNvPr id="16" name="矩形 15">
            <a:extLst>
              <a:ext uri="{FF2B5EF4-FFF2-40B4-BE49-F238E27FC236}">
                <a16:creationId xmlns:a16="http://schemas.microsoft.com/office/drawing/2014/main" id="{77EDA501-B5D8-41A1-B1EB-129096A03930}"/>
              </a:ext>
            </a:extLst>
          </p:cNvPr>
          <p:cNvSpPr>
            <a:spLocks noGrp="1"/>
          </p:cNvSpPr>
          <p:nvPr/>
        </p:nvSpPr>
        <p:spPr>
          <a:xfrm>
            <a:off x="704850" y="29718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Times New Roman"/>
                <a:ea typeface="Times New Roman"/>
                <a:cs typeface="Times New Roman"/>
              </a:rPr>
              <a:t>W1</a:t>
            </a:r>
          </a:p>
        </p:txBody>
      </p:sp>
      <p:sp>
        <p:nvSpPr>
          <p:cNvPr id="17" name="椭圆 16">
            <a:extLst>
              <a:ext uri="{FF2B5EF4-FFF2-40B4-BE49-F238E27FC236}">
                <a16:creationId xmlns:a16="http://schemas.microsoft.com/office/drawing/2014/main" id="{AA05201B-E28C-487B-9E5C-635BAF851B04}"/>
              </a:ext>
            </a:extLst>
          </p:cNvPr>
          <p:cNvSpPr>
            <a:spLocks noGrp="1"/>
          </p:cNvSpPr>
          <p:nvPr/>
        </p:nvSpPr>
        <p:spPr>
          <a:xfrm>
            <a:off x="2317296" y="2657475"/>
            <a:ext cx="190500" cy="190500"/>
          </a:xfrm>
          <a:prstGeom prst="ellipse">
            <a:avLst/>
          </a:prstGeom>
          <a:solidFill>
            <a:srgbClr val="014DA1"/>
          </a:solidFill>
          <a:ln w="9525">
            <a:solidFill>
              <a:srgbClr val="FFFFFF"/>
            </a:solidFill>
            <a:prstDash val="solid"/>
          </a:ln>
        </p:spPr>
        <p:txBody>
          <a:bodyPr/>
          <a:lstStyle/>
          <a:p>
            <a:endParaRPr lang="zh-CN" altLang="en-US"/>
          </a:p>
        </p:txBody>
      </p:sp>
      <p:sp>
        <p:nvSpPr>
          <p:cNvPr id="18" name="矩形 17">
            <a:extLst>
              <a:ext uri="{FF2B5EF4-FFF2-40B4-BE49-F238E27FC236}">
                <a16:creationId xmlns:a16="http://schemas.microsoft.com/office/drawing/2014/main" id="{01C34C2C-DE93-43E3-8C8C-8192C8347C20}"/>
              </a:ext>
            </a:extLst>
          </p:cNvPr>
          <p:cNvSpPr>
            <a:spLocks noGrp="1"/>
          </p:cNvSpPr>
          <p:nvPr/>
        </p:nvSpPr>
        <p:spPr>
          <a:xfrm>
            <a:off x="2174421" y="29718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Times New Roman"/>
                <a:ea typeface="Times New Roman"/>
                <a:cs typeface="Times New Roman"/>
              </a:rPr>
              <a:t>W2</a:t>
            </a:r>
          </a:p>
        </p:txBody>
      </p:sp>
      <p:sp>
        <p:nvSpPr>
          <p:cNvPr id="19" name="椭圆 18">
            <a:extLst>
              <a:ext uri="{FF2B5EF4-FFF2-40B4-BE49-F238E27FC236}">
                <a16:creationId xmlns:a16="http://schemas.microsoft.com/office/drawing/2014/main" id="{CB730061-C69D-4046-A21B-78F9F0198483}"/>
              </a:ext>
            </a:extLst>
          </p:cNvPr>
          <p:cNvSpPr>
            <a:spLocks noGrp="1"/>
          </p:cNvSpPr>
          <p:nvPr/>
        </p:nvSpPr>
        <p:spPr>
          <a:xfrm>
            <a:off x="3786868" y="2657475"/>
            <a:ext cx="190500" cy="190500"/>
          </a:xfrm>
          <a:prstGeom prst="ellipse">
            <a:avLst/>
          </a:prstGeom>
          <a:solidFill>
            <a:srgbClr val="014DA1"/>
          </a:solidFill>
          <a:ln w="9525">
            <a:solidFill>
              <a:srgbClr val="FFFFFF"/>
            </a:solidFill>
            <a:prstDash val="solid"/>
          </a:ln>
        </p:spPr>
        <p:txBody>
          <a:bodyPr/>
          <a:lstStyle/>
          <a:p>
            <a:endParaRPr lang="zh-CN" altLang="en-US"/>
          </a:p>
        </p:txBody>
      </p:sp>
      <p:sp>
        <p:nvSpPr>
          <p:cNvPr id="20" name="矩形 19">
            <a:extLst>
              <a:ext uri="{FF2B5EF4-FFF2-40B4-BE49-F238E27FC236}">
                <a16:creationId xmlns:a16="http://schemas.microsoft.com/office/drawing/2014/main" id="{340A1C7A-2B72-4831-8C58-A46B77928AD8}"/>
              </a:ext>
            </a:extLst>
          </p:cNvPr>
          <p:cNvSpPr>
            <a:spLocks noGrp="1"/>
          </p:cNvSpPr>
          <p:nvPr/>
        </p:nvSpPr>
        <p:spPr>
          <a:xfrm>
            <a:off x="3643993" y="29718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Times New Roman"/>
                <a:ea typeface="Times New Roman"/>
                <a:cs typeface="Times New Roman"/>
              </a:rPr>
              <a:t>W3</a:t>
            </a:r>
          </a:p>
        </p:txBody>
      </p:sp>
      <p:sp>
        <p:nvSpPr>
          <p:cNvPr id="21" name="椭圆 20">
            <a:extLst>
              <a:ext uri="{FF2B5EF4-FFF2-40B4-BE49-F238E27FC236}">
                <a16:creationId xmlns:a16="http://schemas.microsoft.com/office/drawing/2014/main" id="{7325EC38-3C9B-44C8-9F2A-53871D3C9A1E}"/>
              </a:ext>
            </a:extLst>
          </p:cNvPr>
          <p:cNvSpPr>
            <a:spLocks noGrp="1"/>
          </p:cNvSpPr>
          <p:nvPr/>
        </p:nvSpPr>
        <p:spPr>
          <a:xfrm>
            <a:off x="5256439" y="2657475"/>
            <a:ext cx="190500" cy="190500"/>
          </a:xfrm>
          <a:prstGeom prst="ellipse">
            <a:avLst/>
          </a:prstGeom>
          <a:solidFill>
            <a:srgbClr val="B4964B"/>
          </a:solidFill>
          <a:ln w="9525">
            <a:solidFill>
              <a:srgbClr val="FFFFFF"/>
            </a:solidFill>
            <a:prstDash val="solid"/>
          </a:ln>
        </p:spPr>
        <p:txBody>
          <a:bodyPr/>
          <a:lstStyle/>
          <a:p>
            <a:endParaRPr lang="zh-CN" altLang="en-US"/>
          </a:p>
        </p:txBody>
      </p:sp>
      <p:sp>
        <p:nvSpPr>
          <p:cNvPr id="22" name="矩形 21">
            <a:extLst>
              <a:ext uri="{FF2B5EF4-FFF2-40B4-BE49-F238E27FC236}">
                <a16:creationId xmlns:a16="http://schemas.microsoft.com/office/drawing/2014/main" id="{C8CDFF11-4CDF-4718-86DE-84E7B47C5352}"/>
              </a:ext>
            </a:extLst>
          </p:cNvPr>
          <p:cNvSpPr>
            <a:spLocks noGrp="1"/>
          </p:cNvSpPr>
          <p:nvPr/>
        </p:nvSpPr>
        <p:spPr>
          <a:xfrm>
            <a:off x="5113564" y="29718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Times New Roman"/>
                <a:ea typeface="Times New Roman"/>
                <a:cs typeface="Times New Roman"/>
              </a:rPr>
              <a:t>W4</a:t>
            </a:r>
          </a:p>
        </p:txBody>
      </p:sp>
      <p:sp>
        <p:nvSpPr>
          <p:cNvPr id="23" name="椭圆 22">
            <a:extLst>
              <a:ext uri="{FF2B5EF4-FFF2-40B4-BE49-F238E27FC236}">
                <a16:creationId xmlns:a16="http://schemas.microsoft.com/office/drawing/2014/main" id="{EE33D761-686F-4791-B313-E313E3938F07}"/>
              </a:ext>
            </a:extLst>
          </p:cNvPr>
          <p:cNvSpPr>
            <a:spLocks noGrp="1"/>
          </p:cNvSpPr>
          <p:nvPr/>
        </p:nvSpPr>
        <p:spPr>
          <a:xfrm>
            <a:off x="6726011" y="2657475"/>
            <a:ext cx="190500" cy="190500"/>
          </a:xfrm>
          <a:prstGeom prst="ellipse">
            <a:avLst/>
          </a:prstGeom>
          <a:solidFill>
            <a:srgbClr val="B64040"/>
          </a:solidFill>
          <a:ln w="9525">
            <a:solidFill>
              <a:srgbClr val="FFFFFF"/>
            </a:solidFill>
            <a:prstDash val="solid"/>
          </a:ln>
        </p:spPr>
        <p:txBody>
          <a:bodyPr/>
          <a:lstStyle/>
          <a:p>
            <a:endParaRPr lang="zh-CN" altLang="en-US"/>
          </a:p>
        </p:txBody>
      </p:sp>
      <p:sp>
        <p:nvSpPr>
          <p:cNvPr id="24" name="矩形 23">
            <a:extLst>
              <a:ext uri="{FF2B5EF4-FFF2-40B4-BE49-F238E27FC236}">
                <a16:creationId xmlns:a16="http://schemas.microsoft.com/office/drawing/2014/main" id="{9CCFFDB9-57DC-42B3-BA65-8D1A1AE2891F}"/>
              </a:ext>
            </a:extLst>
          </p:cNvPr>
          <p:cNvSpPr>
            <a:spLocks noGrp="1"/>
          </p:cNvSpPr>
          <p:nvPr/>
        </p:nvSpPr>
        <p:spPr>
          <a:xfrm>
            <a:off x="6583136" y="29718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A33A3A"/>
                </a:solidFill>
                <a:latin typeface="黑体"/>
                <a:ea typeface="黑体"/>
                <a:cs typeface="黑体"/>
              </a:defRPr>
            </a:pPr>
            <a:r>
              <a:rPr>
                <a:latin typeface="Times New Roman"/>
                <a:ea typeface="Times New Roman"/>
                <a:cs typeface="Times New Roman"/>
              </a:rPr>
              <a:t>W5</a:t>
            </a:r>
          </a:p>
        </p:txBody>
      </p:sp>
      <p:sp>
        <p:nvSpPr>
          <p:cNvPr id="25" name="椭圆 24">
            <a:extLst>
              <a:ext uri="{FF2B5EF4-FFF2-40B4-BE49-F238E27FC236}">
                <a16:creationId xmlns:a16="http://schemas.microsoft.com/office/drawing/2014/main" id="{81D47414-EFB7-4E3E-BF78-8B12D35A8350}"/>
              </a:ext>
            </a:extLst>
          </p:cNvPr>
          <p:cNvSpPr>
            <a:spLocks noGrp="1"/>
          </p:cNvSpPr>
          <p:nvPr/>
        </p:nvSpPr>
        <p:spPr>
          <a:xfrm>
            <a:off x="8195582" y="2657475"/>
            <a:ext cx="190500" cy="190500"/>
          </a:xfrm>
          <a:prstGeom prst="ellipse">
            <a:avLst/>
          </a:prstGeom>
          <a:solidFill>
            <a:srgbClr val="B64040"/>
          </a:solidFill>
          <a:ln w="9525">
            <a:solidFill>
              <a:srgbClr val="FFFFFF"/>
            </a:solidFill>
            <a:prstDash val="solid"/>
          </a:ln>
        </p:spPr>
        <p:txBody>
          <a:bodyPr/>
          <a:lstStyle/>
          <a:p>
            <a:endParaRPr lang="zh-CN" altLang="en-US"/>
          </a:p>
        </p:txBody>
      </p:sp>
      <p:sp>
        <p:nvSpPr>
          <p:cNvPr id="26" name="矩形 25">
            <a:extLst>
              <a:ext uri="{FF2B5EF4-FFF2-40B4-BE49-F238E27FC236}">
                <a16:creationId xmlns:a16="http://schemas.microsoft.com/office/drawing/2014/main" id="{1B67F86D-4FEA-42A6-AF4A-5A89439FCD55}"/>
              </a:ext>
            </a:extLst>
          </p:cNvPr>
          <p:cNvSpPr>
            <a:spLocks noGrp="1"/>
          </p:cNvSpPr>
          <p:nvPr/>
        </p:nvSpPr>
        <p:spPr>
          <a:xfrm>
            <a:off x="8052707" y="29718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A33A3A"/>
                </a:solidFill>
                <a:latin typeface="黑体"/>
                <a:ea typeface="黑体"/>
                <a:cs typeface="黑体"/>
              </a:defRPr>
            </a:pPr>
            <a:r>
              <a:rPr>
                <a:latin typeface="Times New Roman"/>
                <a:ea typeface="Times New Roman"/>
                <a:cs typeface="Times New Roman"/>
              </a:rPr>
              <a:t>W6</a:t>
            </a:r>
          </a:p>
        </p:txBody>
      </p:sp>
      <p:sp>
        <p:nvSpPr>
          <p:cNvPr id="27" name="椭圆 26">
            <a:extLst>
              <a:ext uri="{FF2B5EF4-FFF2-40B4-BE49-F238E27FC236}">
                <a16:creationId xmlns:a16="http://schemas.microsoft.com/office/drawing/2014/main" id="{F570A01D-768E-44FB-A3DC-67E56B3B3928}"/>
              </a:ext>
            </a:extLst>
          </p:cNvPr>
          <p:cNvSpPr>
            <a:spLocks noGrp="1"/>
          </p:cNvSpPr>
          <p:nvPr/>
        </p:nvSpPr>
        <p:spPr>
          <a:xfrm>
            <a:off x="9665154" y="2657475"/>
            <a:ext cx="190500" cy="190500"/>
          </a:xfrm>
          <a:prstGeom prst="ellipse">
            <a:avLst/>
          </a:prstGeom>
          <a:solidFill>
            <a:srgbClr val="B64040"/>
          </a:solidFill>
          <a:ln w="9525">
            <a:solidFill>
              <a:srgbClr val="FFFFFF"/>
            </a:solidFill>
            <a:prstDash val="solid"/>
          </a:ln>
        </p:spPr>
        <p:txBody>
          <a:bodyPr/>
          <a:lstStyle/>
          <a:p>
            <a:endParaRPr lang="zh-CN" altLang="en-US"/>
          </a:p>
        </p:txBody>
      </p:sp>
      <p:sp>
        <p:nvSpPr>
          <p:cNvPr id="28" name="矩形 27">
            <a:extLst>
              <a:ext uri="{FF2B5EF4-FFF2-40B4-BE49-F238E27FC236}">
                <a16:creationId xmlns:a16="http://schemas.microsoft.com/office/drawing/2014/main" id="{E44E6B3A-92B3-4815-9B25-4F1BD1CF52A8}"/>
              </a:ext>
            </a:extLst>
          </p:cNvPr>
          <p:cNvSpPr>
            <a:spLocks noGrp="1"/>
          </p:cNvSpPr>
          <p:nvPr/>
        </p:nvSpPr>
        <p:spPr>
          <a:xfrm>
            <a:off x="9522279" y="29718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A33A3A"/>
                </a:solidFill>
                <a:latin typeface="黑体"/>
                <a:ea typeface="黑体"/>
                <a:cs typeface="黑体"/>
              </a:defRPr>
            </a:pPr>
            <a:r>
              <a:rPr>
                <a:latin typeface="Times New Roman"/>
                <a:ea typeface="Times New Roman"/>
                <a:cs typeface="Times New Roman"/>
              </a:rPr>
              <a:t>W7</a:t>
            </a:r>
          </a:p>
        </p:txBody>
      </p:sp>
      <p:sp>
        <p:nvSpPr>
          <p:cNvPr id="29" name="椭圆 28">
            <a:extLst>
              <a:ext uri="{FF2B5EF4-FFF2-40B4-BE49-F238E27FC236}">
                <a16:creationId xmlns:a16="http://schemas.microsoft.com/office/drawing/2014/main" id="{3DDDAD83-4022-420F-8A54-3698862125F0}"/>
              </a:ext>
            </a:extLst>
          </p:cNvPr>
          <p:cNvSpPr>
            <a:spLocks noGrp="1"/>
          </p:cNvSpPr>
          <p:nvPr/>
        </p:nvSpPr>
        <p:spPr>
          <a:xfrm>
            <a:off x="11134725" y="2657475"/>
            <a:ext cx="190500" cy="190500"/>
          </a:xfrm>
          <a:prstGeom prst="ellipse">
            <a:avLst/>
          </a:prstGeom>
          <a:solidFill>
            <a:srgbClr val="B64040"/>
          </a:solidFill>
          <a:ln w="9525">
            <a:solidFill>
              <a:srgbClr val="FFFFFF"/>
            </a:solidFill>
            <a:prstDash val="solid"/>
          </a:ln>
        </p:spPr>
        <p:txBody>
          <a:bodyPr/>
          <a:lstStyle/>
          <a:p>
            <a:endParaRPr lang="zh-CN" altLang="en-US"/>
          </a:p>
        </p:txBody>
      </p:sp>
      <p:sp>
        <p:nvSpPr>
          <p:cNvPr id="30" name="矩形 29">
            <a:extLst>
              <a:ext uri="{FF2B5EF4-FFF2-40B4-BE49-F238E27FC236}">
                <a16:creationId xmlns:a16="http://schemas.microsoft.com/office/drawing/2014/main" id="{FD4FA2EB-4F3B-4183-AE54-BEE4C33FFFF3}"/>
              </a:ext>
            </a:extLst>
          </p:cNvPr>
          <p:cNvSpPr>
            <a:spLocks noGrp="1"/>
          </p:cNvSpPr>
          <p:nvPr/>
        </p:nvSpPr>
        <p:spPr>
          <a:xfrm>
            <a:off x="10991850" y="29718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A33A3A"/>
                </a:solidFill>
                <a:latin typeface="黑体"/>
                <a:ea typeface="黑体"/>
                <a:cs typeface="黑体"/>
              </a:defRPr>
            </a:pPr>
            <a:r>
              <a:rPr>
                <a:latin typeface="Times New Roman"/>
                <a:ea typeface="Times New Roman"/>
                <a:cs typeface="Times New Roman"/>
              </a:rPr>
              <a:t>W8</a:t>
            </a:r>
          </a:p>
        </p:txBody>
      </p:sp>
      <p:sp>
        <p:nvSpPr>
          <p:cNvPr id="31" name="矩形 30">
            <a:extLst>
              <a:ext uri="{FF2B5EF4-FFF2-40B4-BE49-F238E27FC236}">
                <a16:creationId xmlns:a16="http://schemas.microsoft.com/office/drawing/2014/main" id="{4D0E865B-FE75-4D8A-9E3E-0D0E09098820}"/>
              </a:ext>
            </a:extLst>
          </p:cNvPr>
          <p:cNvSpPr>
            <a:spLocks noGrp="1"/>
          </p:cNvSpPr>
          <p:nvPr/>
        </p:nvSpPr>
        <p:spPr>
          <a:xfrm>
            <a:off x="6076950" y="1314450"/>
            <a:ext cx="38100" cy="1962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AED7645B-1113-4D4E-8A88-564563F536FE}"/>
              </a:ext>
            </a:extLst>
          </p:cNvPr>
          <p:cNvSpPr>
            <a:spLocks noGrp="1"/>
          </p:cNvSpPr>
          <p:nvPr/>
        </p:nvSpPr>
        <p:spPr>
          <a:xfrm>
            <a:off x="5429250" y="3048000"/>
            <a:ext cx="1333500" cy="285750"/>
          </a:xfrm>
          <a:prstGeom prst="rect">
            <a:avLst/>
          </a:prstGeom>
          <a:solidFill>
            <a:srgbClr val="F4EBC2"/>
          </a:solidFill>
          <a:ln w="9525">
            <a:solidFill>
              <a:srgbClr val="D0B765"/>
            </a:solidFill>
            <a:prstDash val="solid"/>
          </a:ln>
        </p:spPr>
        <p:txBody>
          <a:bodyPr/>
          <a:lstStyle/>
          <a:p>
            <a:endParaRPr lang="zh-CN" altLang="en-US"/>
          </a:p>
        </p:txBody>
      </p:sp>
      <p:sp>
        <p:nvSpPr>
          <p:cNvPr id="33" name="矩形 32">
            <a:extLst>
              <a:ext uri="{FF2B5EF4-FFF2-40B4-BE49-F238E27FC236}">
                <a16:creationId xmlns:a16="http://schemas.microsoft.com/office/drawing/2014/main" id="{A5EDC81B-86E1-4807-AEE2-69E355B7FE01}"/>
              </a:ext>
            </a:extLst>
          </p:cNvPr>
          <p:cNvSpPr>
            <a:spLocks noGrp="1"/>
          </p:cNvSpPr>
          <p:nvPr/>
        </p:nvSpPr>
        <p:spPr>
          <a:xfrm>
            <a:off x="5524500" y="3114675"/>
            <a:ext cx="1143000" cy="171450"/>
          </a:xfrm>
          <a:prstGeom prst="rect">
            <a:avLst/>
          </a:prstGeom>
          <a:solidFill>
            <a:srgbClr val="F4EBC2"/>
          </a:solidFill>
          <a:ln w="0">
            <a:solidFill>
              <a:srgbClr val="000000">
                <a:alpha val="0"/>
              </a:srgbClr>
            </a:solidFill>
            <a:prstDash val="solid"/>
          </a:ln>
        </p:spPr>
        <p:txBody>
          <a:bodyPr lIns="0" tIns="0" rIns="0" bIns="0" anchor="t"/>
          <a:lstStyle/>
          <a:p>
            <a:pPr algn="ctr">
              <a:defRPr sz="975" b="1">
                <a:solidFill>
                  <a:srgbClr val="7A5D13"/>
                </a:solidFill>
                <a:latin typeface="黑体"/>
                <a:ea typeface="黑体"/>
                <a:cs typeface="黑体"/>
              </a:defRPr>
            </a:pPr>
            <a:r>
              <a:rPr>
                <a:latin typeface="黑体"/>
                <a:ea typeface="黑体"/>
                <a:cs typeface="黑体"/>
              </a:rPr>
              <a:t>第 </a:t>
            </a:r>
            <a:r>
              <a:rPr>
                <a:latin typeface="Times New Roman"/>
                <a:ea typeface="Times New Roman"/>
                <a:cs typeface="Times New Roman"/>
              </a:rPr>
              <a:t>4 </a:t>
            </a:r>
            <a:r>
              <a:rPr>
                <a:latin typeface="黑体"/>
                <a:ea typeface="黑体"/>
                <a:cs typeface="黑体"/>
              </a:rPr>
              <a:t>周末预测</a:t>
            </a:r>
          </a:p>
        </p:txBody>
      </p:sp>
      <p:sp>
        <p:nvSpPr>
          <p:cNvPr id="34" name="矩形 33">
            <a:extLst>
              <a:ext uri="{FF2B5EF4-FFF2-40B4-BE49-F238E27FC236}">
                <a16:creationId xmlns:a16="http://schemas.microsoft.com/office/drawing/2014/main" id="{F25F256C-52DE-4667-B1B3-6374A1D35337}"/>
              </a:ext>
            </a:extLst>
          </p:cNvPr>
          <p:cNvSpPr>
            <a:spLocks noGrp="1"/>
          </p:cNvSpPr>
          <p:nvPr/>
        </p:nvSpPr>
        <p:spPr>
          <a:xfrm>
            <a:off x="2362200" y="3124200"/>
            <a:ext cx="1524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进入 </a:t>
            </a:r>
            <a:r>
              <a:rPr>
                <a:latin typeface="Times New Roman"/>
                <a:ea typeface="Times New Roman"/>
                <a:cs typeface="Times New Roman"/>
              </a:rPr>
              <a:t>X</a:t>
            </a:r>
          </a:p>
        </p:txBody>
      </p:sp>
      <p:sp>
        <p:nvSpPr>
          <p:cNvPr id="35" name="矩形 34">
            <a:extLst>
              <a:ext uri="{FF2B5EF4-FFF2-40B4-BE49-F238E27FC236}">
                <a16:creationId xmlns:a16="http://schemas.microsoft.com/office/drawing/2014/main" id="{01C23CD4-044D-4641-8E8A-EF588ECE2DBE}"/>
              </a:ext>
            </a:extLst>
          </p:cNvPr>
          <p:cNvSpPr>
            <a:spLocks noGrp="1"/>
          </p:cNvSpPr>
          <p:nvPr/>
        </p:nvSpPr>
        <p:spPr>
          <a:xfrm>
            <a:off x="8077200" y="3124200"/>
            <a:ext cx="2286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黑体"/>
                <a:ea typeface="黑体"/>
                <a:cs typeface="黑体"/>
              </a:rPr>
              <a:t>只用于定义 </a:t>
            </a:r>
            <a:r>
              <a:rPr>
                <a:latin typeface="Times New Roman"/>
                <a:ea typeface="Times New Roman"/>
                <a:cs typeface="Times New Roman"/>
              </a:rPr>
              <a:t>y </a:t>
            </a:r>
            <a:r>
              <a:rPr>
                <a:latin typeface="黑体"/>
                <a:ea typeface="黑体"/>
                <a:cs typeface="黑体"/>
              </a:rPr>
              <a:t>与最终评估</a:t>
            </a:r>
          </a:p>
        </p:txBody>
      </p:sp>
      <p:sp>
        <p:nvSpPr>
          <p:cNvPr id="36" name="矩形 35">
            <a:extLst>
              <a:ext uri="{FF2B5EF4-FFF2-40B4-BE49-F238E27FC236}">
                <a16:creationId xmlns:a16="http://schemas.microsoft.com/office/drawing/2014/main" id="{4068451C-AC68-44FD-9771-FBEE0AD6FEF6}"/>
              </a:ext>
            </a:extLst>
          </p:cNvPr>
          <p:cNvSpPr>
            <a:spLocks noGrp="1"/>
          </p:cNvSpPr>
          <p:nvPr/>
        </p:nvSpPr>
        <p:spPr>
          <a:xfrm>
            <a:off x="609600" y="3638550"/>
            <a:ext cx="3429000" cy="1619250"/>
          </a:xfrm>
          <a:prstGeom prst="rect">
            <a:avLst/>
          </a:prstGeom>
          <a:solidFill>
            <a:srgbClr val="FFFFFF"/>
          </a:solidFill>
          <a:ln w="9525">
            <a:solidFill>
              <a:srgbClr val="D2B2B2"/>
            </a:solidFill>
            <a:prstDash val="solid"/>
          </a:ln>
        </p:spPr>
        <p:txBody>
          <a:bodyPr/>
          <a:lstStyle/>
          <a:p>
            <a:endParaRPr lang="zh-CN" altLang="en-US"/>
          </a:p>
        </p:txBody>
      </p:sp>
      <p:sp>
        <p:nvSpPr>
          <p:cNvPr id="37" name="矩形 36">
            <a:extLst>
              <a:ext uri="{FF2B5EF4-FFF2-40B4-BE49-F238E27FC236}">
                <a16:creationId xmlns:a16="http://schemas.microsoft.com/office/drawing/2014/main" id="{DFB1CF9D-3671-4D13-8273-5B6214AA39F6}"/>
              </a:ext>
            </a:extLst>
          </p:cNvPr>
          <p:cNvSpPr>
            <a:spLocks noGrp="1"/>
          </p:cNvSpPr>
          <p:nvPr/>
        </p:nvSpPr>
        <p:spPr>
          <a:xfrm>
            <a:off x="609600" y="3638550"/>
            <a:ext cx="3429000" cy="66675"/>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38" name="矩形 37">
            <a:extLst>
              <a:ext uri="{FF2B5EF4-FFF2-40B4-BE49-F238E27FC236}">
                <a16:creationId xmlns:a16="http://schemas.microsoft.com/office/drawing/2014/main" id="{4DD85CC2-8066-468A-B96A-325456146D1B}"/>
              </a:ext>
            </a:extLst>
          </p:cNvPr>
          <p:cNvSpPr>
            <a:spLocks noGrp="1"/>
          </p:cNvSpPr>
          <p:nvPr/>
        </p:nvSpPr>
        <p:spPr>
          <a:xfrm>
            <a:off x="800100" y="3829050"/>
            <a:ext cx="419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B4964B"/>
                </a:solidFill>
                <a:latin typeface="黑体"/>
                <a:ea typeface="黑体"/>
                <a:cs typeface="黑体"/>
              </a:defRPr>
            </a:pPr>
            <a:r>
              <a:rPr>
                <a:latin typeface="Times New Roman"/>
                <a:ea typeface="Times New Roman"/>
                <a:cs typeface="Times New Roman"/>
              </a:rPr>
              <a:t>01</a:t>
            </a:r>
          </a:p>
        </p:txBody>
      </p:sp>
      <p:sp>
        <p:nvSpPr>
          <p:cNvPr id="39" name="矩形 38">
            <a:extLst>
              <a:ext uri="{FF2B5EF4-FFF2-40B4-BE49-F238E27FC236}">
                <a16:creationId xmlns:a16="http://schemas.microsoft.com/office/drawing/2014/main" id="{48FFC314-0D76-4BE6-9F37-2C9E94B2E928}"/>
              </a:ext>
            </a:extLst>
          </p:cNvPr>
          <p:cNvSpPr>
            <a:spLocks noGrp="1"/>
          </p:cNvSpPr>
          <p:nvPr/>
        </p:nvSpPr>
        <p:spPr>
          <a:xfrm>
            <a:off x="1314450" y="3829050"/>
            <a:ext cx="2400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4B5563"/>
                </a:solidFill>
                <a:latin typeface="黑体"/>
                <a:ea typeface="黑体"/>
                <a:cs typeface="黑体"/>
              </a:defRPr>
            </a:pPr>
            <a:r>
              <a:rPr>
                <a:latin typeface="黑体"/>
                <a:ea typeface="黑体"/>
                <a:cs typeface="黑体"/>
              </a:rPr>
              <a:t>时间泄漏</a:t>
            </a:r>
          </a:p>
        </p:txBody>
      </p:sp>
      <p:sp>
        <p:nvSpPr>
          <p:cNvPr id="40" name="矩形 39">
            <a:extLst>
              <a:ext uri="{FF2B5EF4-FFF2-40B4-BE49-F238E27FC236}">
                <a16:creationId xmlns:a16="http://schemas.microsoft.com/office/drawing/2014/main" id="{0AAD492C-5E36-4865-9F07-DE8EBE9FF36A}"/>
              </a:ext>
            </a:extLst>
          </p:cNvPr>
          <p:cNvSpPr>
            <a:spLocks noGrp="1"/>
          </p:cNvSpPr>
          <p:nvPr/>
        </p:nvSpPr>
        <p:spPr>
          <a:xfrm>
            <a:off x="838200" y="4152900"/>
            <a:ext cx="2971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A33A3A"/>
                </a:solidFill>
                <a:latin typeface="黑体"/>
                <a:ea typeface="黑体"/>
                <a:cs typeface="黑体"/>
              </a:defRPr>
            </a:pPr>
            <a:r>
              <a:rPr>
                <a:latin typeface="黑体"/>
                <a:ea typeface="黑体"/>
                <a:cs typeface="黑体"/>
              </a:rPr>
              <a:t>使用未来行为</a:t>
            </a:r>
          </a:p>
        </p:txBody>
      </p:sp>
      <p:sp>
        <p:nvSpPr>
          <p:cNvPr id="41" name="矩形 40">
            <a:extLst>
              <a:ext uri="{FF2B5EF4-FFF2-40B4-BE49-F238E27FC236}">
                <a16:creationId xmlns:a16="http://schemas.microsoft.com/office/drawing/2014/main" id="{3AB20C09-6061-4D8A-84AF-2CBF41F689F2}"/>
              </a:ext>
            </a:extLst>
          </p:cNvPr>
          <p:cNvSpPr>
            <a:spLocks noGrp="1"/>
          </p:cNvSpPr>
          <p:nvPr/>
        </p:nvSpPr>
        <p:spPr>
          <a:xfrm>
            <a:off x="838200" y="4495800"/>
            <a:ext cx="2971800" cy="9525"/>
          </a:xfrm>
          <a:prstGeom prst="rect">
            <a:avLst/>
          </a:prstGeom>
          <a:solidFill>
            <a:srgbClr val="E4D3D3"/>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A2CDB373-7A20-431F-B824-AACDB626CCF9}"/>
              </a:ext>
            </a:extLst>
          </p:cNvPr>
          <p:cNvSpPr>
            <a:spLocks noGrp="1"/>
          </p:cNvSpPr>
          <p:nvPr/>
        </p:nvSpPr>
        <p:spPr>
          <a:xfrm>
            <a:off x="895350" y="4610100"/>
            <a:ext cx="2857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把 </a:t>
            </a:r>
            <a:r>
              <a:rPr>
                <a:latin typeface="Times New Roman"/>
                <a:ea typeface="Times New Roman"/>
                <a:cs typeface="Times New Roman"/>
              </a:rPr>
              <a:t>W5–W8 </a:t>
            </a:r>
            <a:r>
              <a:rPr>
                <a:latin typeface="黑体"/>
                <a:ea typeface="黑体"/>
                <a:cs typeface="黑体"/>
              </a:rPr>
              <a:t>登录次数放入 </a:t>
            </a:r>
            <a:r>
              <a:rPr>
                <a:latin typeface="Times New Roman"/>
                <a:ea typeface="Times New Roman"/>
                <a:cs typeface="Times New Roman"/>
              </a:rPr>
              <a:t>X</a:t>
            </a:r>
          </a:p>
        </p:txBody>
      </p:sp>
      <p:sp>
        <p:nvSpPr>
          <p:cNvPr id="43" name="矩形 42">
            <a:extLst>
              <a:ext uri="{FF2B5EF4-FFF2-40B4-BE49-F238E27FC236}">
                <a16:creationId xmlns:a16="http://schemas.microsoft.com/office/drawing/2014/main" id="{1265F5DB-4C0C-4041-9E51-33FD40389599}"/>
              </a:ext>
            </a:extLst>
          </p:cNvPr>
          <p:cNvSpPr>
            <a:spLocks noGrp="1"/>
          </p:cNvSpPr>
          <p:nvPr/>
        </p:nvSpPr>
        <p:spPr>
          <a:xfrm>
            <a:off x="838200" y="4972050"/>
            <a:ext cx="2971800" cy="228600"/>
          </a:xfrm>
          <a:prstGeom prst="rect">
            <a:avLst/>
          </a:prstGeom>
          <a:solidFill>
            <a:srgbClr val="FFF4F4"/>
          </a:solidFill>
          <a:ln w="9525">
            <a:solidFill>
              <a:srgbClr val="E1C1C1"/>
            </a:solidFill>
            <a:prstDash val="solid"/>
          </a:ln>
        </p:spPr>
        <p:txBody>
          <a:bodyPr/>
          <a:lstStyle/>
          <a:p>
            <a:endParaRPr lang="zh-CN" altLang="en-US"/>
          </a:p>
        </p:txBody>
      </p:sp>
      <p:sp>
        <p:nvSpPr>
          <p:cNvPr id="44" name="矩形 43">
            <a:extLst>
              <a:ext uri="{FF2B5EF4-FFF2-40B4-BE49-F238E27FC236}">
                <a16:creationId xmlns:a16="http://schemas.microsoft.com/office/drawing/2014/main" id="{9D5340E3-F8DA-4843-81C2-75678A5BEA2F}"/>
              </a:ext>
            </a:extLst>
          </p:cNvPr>
          <p:cNvSpPr>
            <a:spLocks noGrp="1"/>
          </p:cNvSpPr>
          <p:nvPr/>
        </p:nvSpPr>
        <p:spPr>
          <a:xfrm>
            <a:off x="952500" y="5019675"/>
            <a:ext cx="2743200" cy="152400"/>
          </a:xfrm>
          <a:prstGeom prst="rect">
            <a:avLst/>
          </a:prstGeom>
          <a:solidFill>
            <a:srgbClr val="FFF4F4"/>
          </a:solidFill>
          <a:ln w="0">
            <a:solidFill>
              <a:srgbClr val="000000">
                <a:alpha val="0"/>
              </a:srgbClr>
            </a:solidFill>
            <a:prstDash val="solid"/>
          </a:ln>
        </p:spPr>
        <p:txBody>
          <a:bodyPr lIns="0" tIns="0" rIns="0" bIns="0" anchor="t"/>
          <a:lstStyle/>
          <a:p>
            <a:pPr algn="ctr">
              <a:defRPr sz="900" b="1">
                <a:solidFill>
                  <a:srgbClr val="A33A3A"/>
                </a:solidFill>
                <a:latin typeface="黑体"/>
                <a:ea typeface="黑体"/>
                <a:cs typeface="黑体"/>
              </a:defRPr>
            </a:pPr>
            <a:r>
              <a:rPr>
                <a:latin typeface="黑体"/>
                <a:ea typeface="黑体"/>
                <a:cs typeface="黑体"/>
              </a:rPr>
              <a:t>后果：部署时无法获得</a:t>
            </a:r>
          </a:p>
        </p:txBody>
      </p:sp>
      <p:sp>
        <p:nvSpPr>
          <p:cNvPr id="45" name="矩形 44">
            <a:extLst>
              <a:ext uri="{FF2B5EF4-FFF2-40B4-BE49-F238E27FC236}">
                <a16:creationId xmlns:a16="http://schemas.microsoft.com/office/drawing/2014/main" id="{765FC203-ACAC-4224-8B6A-3743936D86A9}"/>
              </a:ext>
            </a:extLst>
          </p:cNvPr>
          <p:cNvSpPr>
            <a:spLocks noGrp="1"/>
          </p:cNvSpPr>
          <p:nvPr/>
        </p:nvSpPr>
        <p:spPr>
          <a:xfrm>
            <a:off x="4381500" y="3638550"/>
            <a:ext cx="3429000" cy="1619250"/>
          </a:xfrm>
          <a:prstGeom prst="rect">
            <a:avLst/>
          </a:prstGeom>
          <a:solidFill>
            <a:srgbClr val="FFFFFF"/>
          </a:solidFill>
          <a:ln w="9525">
            <a:solidFill>
              <a:srgbClr val="D2B2B2"/>
            </a:solidFill>
            <a:prstDash val="solid"/>
          </a:ln>
        </p:spPr>
        <p:txBody>
          <a:bodyPr/>
          <a:lstStyle/>
          <a:p>
            <a:endParaRPr lang="zh-CN" altLang="en-US"/>
          </a:p>
        </p:txBody>
      </p:sp>
      <p:sp>
        <p:nvSpPr>
          <p:cNvPr id="46" name="矩形 45">
            <a:extLst>
              <a:ext uri="{FF2B5EF4-FFF2-40B4-BE49-F238E27FC236}">
                <a16:creationId xmlns:a16="http://schemas.microsoft.com/office/drawing/2014/main" id="{2BE46780-2665-4B59-B65E-A681A94F76FB}"/>
              </a:ext>
            </a:extLst>
          </p:cNvPr>
          <p:cNvSpPr>
            <a:spLocks noGrp="1"/>
          </p:cNvSpPr>
          <p:nvPr/>
        </p:nvSpPr>
        <p:spPr>
          <a:xfrm>
            <a:off x="4381500" y="3638550"/>
            <a:ext cx="3429000" cy="66675"/>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47" name="矩形 46">
            <a:extLst>
              <a:ext uri="{FF2B5EF4-FFF2-40B4-BE49-F238E27FC236}">
                <a16:creationId xmlns:a16="http://schemas.microsoft.com/office/drawing/2014/main" id="{F6372A70-5F80-4025-AF3A-12A4E89AC7F6}"/>
              </a:ext>
            </a:extLst>
          </p:cNvPr>
          <p:cNvSpPr>
            <a:spLocks noGrp="1"/>
          </p:cNvSpPr>
          <p:nvPr/>
        </p:nvSpPr>
        <p:spPr>
          <a:xfrm>
            <a:off x="4572000" y="3829050"/>
            <a:ext cx="419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B4964B"/>
                </a:solidFill>
                <a:latin typeface="黑体"/>
                <a:ea typeface="黑体"/>
                <a:cs typeface="黑体"/>
              </a:defRPr>
            </a:pPr>
            <a:r>
              <a:rPr>
                <a:latin typeface="Times New Roman"/>
                <a:ea typeface="Times New Roman"/>
                <a:cs typeface="Times New Roman"/>
              </a:rPr>
              <a:t>02</a:t>
            </a:r>
          </a:p>
        </p:txBody>
      </p:sp>
      <p:sp>
        <p:nvSpPr>
          <p:cNvPr id="48" name="矩形 47">
            <a:extLst>
              <a:ext uri="{FF2B5EF4-FFF2-40B4-BE49-F238E27FC236}">
                <a16:creationId xmlns:a16="http://schemas.microsoft.com/office/drawing/2014/main" id="{C7A5C499-2FCC-4871-BFAE-ADD03DFA57A2}"/>
              </a:ext>
            </a:extLst>
          </p:cNvPr>
          <p:cNvSpPr>
            <a:spLocks noGrp="1"/>
          </p:cNvSpPr>
          <p:nvPr/>
        </p:nvSpPr>
        <p:spPr>
          <a:xfrm>
            <a:off x="5086350" y="3829050"/>
            <a:ext cx="2400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4B5563"/>
                </a:solidFill>
                <a:latin typeface="黑体"/>
                <a:ea typeface="黑体"/>
                <a:cs typeface="黑体"/>
              </a:defRPr>
            </a:pPr>
            <a:r>
              <a:rPr>
                <a:latin typeface="黑体"/>
                <a:ea typeface="黑体"/>
                <a:cs typeface="黑体"/>
              </a:rPr>
              <a:t>统计泄漏</a:t>
            </a:r>
          </a:p>
        </p:txBody>
      </p:sp>
      <p:sp>
        <p:nvSpPr>
          <p:cNvPr id="49" name="矩形 48">
            <a:extLst>
              <a:ext uri="{FF2B5EF4-FFF2-40B4-BE49-F238E27FC236}">
                <a16:creationId xmlns:a16="http://schemas.microsoft.com/office/drawing/2014/main" id="{29ED03FE-87AE-4474-BC82-0FDA69859D5E}"/>
              </a:ext>
            </a:extLst>
          </p:cNvPr>
          <p:cNvSpPr>
            <a:spLocks noGrp="1"/>
          </p:cNvSpPr>
          <p:nvPr/>
        </p:nvSpPr>
        <p:spPr>
          <a:xfrm>
            <a:off x="4610100" y="4152900"/>
            <a:ext cx="2971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A33A3A"/>
                </a:solidFill>
                <a:latin typeface="黑体"/>
                <a:ea typeface="黑体"/>
                <a:cs typeface="黑体"/>
              </a:defRPr>
            </a:pPr>
            <a:r>
              <a:rPr>
                <a:latin typeface="黑体"/>
                <a:ea typeface="黑体"/>
                <a:cs typeface="黑体"/>
              </a:rPr>
              <a:t>用全体数据拟合</a:t>
            </a:r>
          </a:p>
        </p:txBody>
      </p:sp>
      <p:sp>
        <p:nvSpPr>
          <p:cNvPr id="50" name="矩形 49">
            <a:extLst>
              <a:ext uri="{FF2B5EF4-FFF2-40B4-BE49-F238E27FC236}">
                <a16:creationId xmlns:a16="http://schemas.microsoft.com/office/drawing/2014/main" id="{E381957F-EDBB-4C2E-8895-D4C0FEA97871}"/>
              </a:ext>
            </a:extLst>
          </p:cNvPr>
          <p:cNvSpPr>
            <a:spLocks noGrp="1"/>
          </p:cNvSpPr>
          <p:nvPr/>
        </p:nvSpPr>
        <p:spPr>
          <a:xfrm>
            <a:off x="4610100" y="4495800"/>
            <a:ext cx="2971800" cy="9525"/>
          </a:xfrm>
          <a:prstGeom prst="rect">
            <a:avLst/>
          </a:prstGeom>
          <a:solidFill>
            <a:srgbClr val="E4D3D3"/>
          </a:solidFill>
          <a:ln w="0">
            <a:solidFill>
              <a:srgbClr val="000000">
                <a:alpha val="0"/>
              </a:srgbClr>
            </a:solidFill>
            <a:prstDash val="solid"/>
          </a:ln>
        </p:spPr>
        <p:txBody>
          <a:bodyPr/>
          <a:lstStyle/>
          <a:p>
            <a:endParaRPr lang="zh-CN" altLang="en-US"/>
          </a:p>
        </p:txBody>
      </p:sp>
      <p:sp>
        <p:nvSpPr>
          <p:cNvPr id="51" name="矩形 50">
            <a:extLst>
              <a:ext uri="{FF2B5EF4-FFF2-40B4-BE49-F238E27FC236}">
                <a16:creationId xmlns:a16="http://schemas.microsoft.com/office/drawing/2014/main" id="{58AD9DE0-AFD1-4C78-AA86-67A0FAEE523B}"/>
              </a:ext>
            </a:extLst>
          </p:cNvPr>
          <p:cNvSpPr>
            <a:spLocks noGrp="1"/>
          </p:cNvSpPr>
          <p:nvPr/>
        </p:nvSpPr>
        <p:spPr>
          <a:xfrm>
            <a:off x="4667250" y="4610100"/>
            <a:ext cx="2857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测试数据参与填补、缩放或编码</a:t>
            </a:r>
          </a:p>
        </p:txBody>
      </p:sp>
      <p:sp>
        <p:nvSpPr>
          <p:cNvPr id="52" name="矩形 51">
            <a:extLst>
              <a:ext uri="{FF2B5EF4-FFF2-40B4-BE49-F238E27FC236}">
                <a16:creationId xmlns:a16="http://schemas.microsoft.com/office/drawing/2014/main" id="{895F4AC4-B88E-4F48-A828-258B488AEF1D}"/>
              </a:ext>
            </a:extLst>
          </p:cNvPr>
          <p:cNvSpPr>
            <a:spLocks noGrp="1"/>
          </p:cNvSpPr>
          <p:nvPr/>
        </p:nvSpPr>
        <p:spPr>
          <a:xfrm>
            <a:off x="4610100" y="4972050"/>
            <a:ext cx="2971800" cy="228600"/>
          </a:xfrm>
          <a:prstGeom prst="rect">
            <a:avLst/>
          </a:prstGeom>
          <a:solidFill>
            <a:srgbClr val="FFF4F4"/>
          </a:solidFill>
          <a:ln w="9525">
            <a:solidFill>
              <a:srgbClr val="E1C1C1"/>
            </a:solidFill>
            <a:prstDash val="solid"/>
          </a:ln>
        </p:spPr>
        <p:txBody>
          <a:bodyPr/>
          <a:lstStyle/>
          <a:p>
            <a:endParaRPr lang="zh-CN" altLang="en-US"/>
          </a:p>
        </p:txBody>
      </p:sp>
      <p:sp>
        <p:nvSpPr>
          <p:cNvPr id="53" name="矩形 52">
            <a:extLst>
              <a:ext uri="{FF2B5EF4-FFF2-40B4-BE49-F238E27FC236}">
                <a16:creationId xmlns:a16="http://schemas.microsoft.com/office/drawing/2014/main" id="{2531977E-153C-45A5-8A3B-9207B503CEB2}"/>
              </a:ext>
            </a:extLst>
          </p:cNvPr>
          <p:cNvSpPr>
            <a:spLocks noGrp="1"/>
          </p:cNvSpPr>
          <p:nvPr/>
        </p:nvSpPr>
        <p:spPr>
          <a:xfrm>
            <a:off x="4724400" y="5019675"/>
            <a:ext cx="2743200" cy="152400"/>
          </a:xfrm>
          <a:prstGeom prst="rect">
            <a:avLst/>
          </a:prstGeom>
          <a:solidFill>
            <a:srgbClr val="FFF4F4"/>
          </a:solidFill>
          <a:ln w="0">
            <a:solidFill>
              <a:srgbClr val="000000">
                <a:alpha val="0"/>
              </a:srgbClr>
            </a:solidFill>
            <a:prstDash val="solid"/>
          </a:ln>
        </p:spPr>
        <p:txBody>
          <a:bodyPr lIns="0" tIns="0" rIns="0" bIns="0" anchor="t"/>
          <a:lstStyle/>
          <a:p>
            <a:pPr algn="ctr">
              <a:defRPr sz="900" b="1">
                <a:solidFill>
                  <a:srgbClr val="A33A3A"/>
                </a:solidFill>
                <a:latin typeface="黑体"/>
                <a:ea typeface="黑体"/>
                <a:cs typeface="黑体"/>
              </a:defRPr>
            </a:pPr>
            <a:r>
              <a:rPr>
                <a:latin typeface="黑体"/>
                <a:ea typeface="黑体"/>
                <a:cs typeface="黑体"/>
              </a:rPr>
              <a:t>后果：测试分布进入参数</a:t>
            </a:r>
          </a:p>
        </p:txBody>
      </p:sp>
      <p:sp>
        <p:nvSpPr>
          <p:cNvPr id="54" name="矩形 53">
            <a:extLst>
              <a:ext uri="{FF2B5EF4-FFF2-40B4-BE49-F238E27FC236}">
                <a16:creationId xmlns:a16="http://schemas.microsoft.com/office/drawing/2014/main" id="{EA29BD15-AB6B-4D4A-963D-EA2276E5535C}"/>
              </a:ext>
            </a:extLst>
          </p:cNvPr>
          <p:cNvSpPr>
            <a:spLocks noGrp="1"/>
          </p:cNvSpPr>
          <p:nvPr/>
        </p:nvSpPr>
        <p:spPr>
          <a:xfrm>
            <a:off x="8153400" y="3638550"/>
            <a:ext cx="3429000" cy="1619250"/>
          </a:xfrm>
          <a:prstGeom prst="rect">
            <a:avLst/>
          </a:prstGeom>
          <a:solidFill>
            <a:srgbClr val="FFFFFF"/>
          </a:solidFill>
          <a:ln w="9525">
            <a:solidFill>
              <a:srgbClr val="D2B2B2"/>
            </a:solidFill>
            <a:prstDash val="solid"/>
          </a:ln>
        </p:spPr>
        <p:txBody>
          <a:bodyPr/>
          <a:lstStyle/>
          <a:p>
            <a:endParaRPr lang="zh-CN" altLang="en-US"/>
          </a:p>
        </p:txBody>
      </p:sp>
      <p:sp>
        <p:nvSpPr>
          <p:cNvPr id="55" name="矩形 54">
            <a:extLst>
              <a:ext uri="{FF2B5EF4-FFF2-40B4-BE49-F238E27FC236}">
                <a16:creationId xmlns:a16="http://schemas.microsoft.com/office/drawing/2014/main" id="{163EDE42-5C33-4524-A9F8-E9AFB3BCF9DB}"/>
              </a:ext>
            </a:extLst>
          </p:cNvPr>
          <p:cNvSpPr>
            <a:spLocks noGrp="1"/>
          </p:cNvSpPr>
          <p:nvPr/>
        </p:nvSpPr>
        <p:spPr>
          <a:xfrm>
            <a:off x="8153400" y="3638550"/>
            <a:ext cx="3429000" cy="66675"/>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56" name="矩形 55">
            <a:extLst>
              <a:ext uri="{FF2B5EF4-FFF2-40B4-BE49-F238E27FC236}">
                <a16:creationId xmlns:a16="http://schemas.microsoft.com/office/drawing/2014/main" id="{E085A46B-9571-4F66-B13A-376F17039F58}"/>
              </a:ext>
            </a:extLst>
          </p:cNvPr>
          <p:cNvSpPr>
            <a:spLocks noGrp="1"/>
          </p:cNvSpPr>
          <p:nvPr/>
        </p:nvSpPr>
        <p:spPr>
          <a:xfrm>
            <a:off x="8343900" y="3829050"/>
            <a:ext cx="419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B4964B"/>
                </a:solidFill>
                <a:latin typeface="黑体"/>
                <a:ea typeface="黑体"/>
                <a:cs typeface="黑体"/>
              </a:defRPr>
            </a:pPr>
            <a:r>
              <a:rPr>
                <a:latin typeface="Times New Roman"/>
                <a:ea typeface="Times New Roman"/>
                <a:cs typeface="Times New Roman"/>
              </a:rPr>
              <a:t>03</a:t>
            </a:r>
          </a:p>
        </p:txBody>
      </p:sp>
      <p:sp>
        <p:nvSpPr>
          <p:cNvPr id="57" name="矩形 56">
            <a:extLst>
              <a:ext uri="{FF2B5EF4-FFF2-40B4-BE49-F238E27FC236}">
                <a16:creationId xmlns:a16="http://schemas.microsoft.com/office/drawing/2014/main" id="{E882432F-C508-4173-A7A5-EBB41058A841}"/>
              </a:ext>
            </a:extLst>
          </p:cNvPr>
          <p:cNvSpPr>
            <a:spLocks noGrp="1"/>
          </p:cNvSpPr>
          <p:nvPr/>
        </p:nvSpPr>
        <p:spPr>
          <a:xfrm>
            <a:off x="8858250" y="3829050"/>
            <a:ext cx="2400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4B5563"/>
                </a:solidFill>
                <a:latin typeface="黑体"/>
                <a:ea typeface="黑体"/>
                <a:cs typeface="黑体"/>
              </a:defRPr>
            </a:pPr>
            <a:r>
              <a:rPr>
                <a:latin typeface="黑体"/>
                <a:ea typeface="黑体"/>
                <a:cs typeface="黑体"/>
              </a:rPr>
              <a:t>表示泄漏</a:t>
            </a:r>
          </a:p>
        </p:txBody>
      </p:sp>
      <p:sp>
        <p:nvSpPr>
          <p:cNvPr id="58" name="矩形 57">
            <a:extLst>
              <a:ext uri="{FF2B5EF4-FFF2-40B4-BE49-F238E27FC236}">
                <a16:creationId xmlns:a16="http://schemas.microsoft.com/office/drawing/2014/main" id="{AFA90FA8-E7A3-4AF8-BEF0-D662742A391C}"/>
              </a:ext>
            </a:extLst>
          </p:cNvPr>
          <p:cNvSpPr>
            <a:spLocks noGrp="1"/>
          </p:cNvSpPr>
          <p:nvPr/>
        </p:nvSpPr>
        <p:spPr>
          <a:xfrm>
            <a:off x="8382000" y="4152900"/>
            <a:ext cx="2971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A33A3A"/>
                </a:solidFill>
                <a:latin typeface="黑体"/>
                <a:ea typeface="黑体"/>
                <a:cs typeface="黑体"/>
              </a:defRPr>
            </a:pPr>
            <a:r>
              <a:rPr>
                <a:latin typeface="黑体"/>
                <a:ea typeface="黑体"/>
                <a:cs typeface="黑体"/>
              </a:rPr>
              <a:t>划分前做 </a:t>
            </a:r>
            <a:r>
              <a:rPr>
                <a:latin typeface="Times New Roman"/>
                <a:ea typeface="Times New Roman"/>
                <a:cs typeface="Times New Roman"/>
              </a:rPr>
              <a:t>PCA</a:t>
            </a:r>
          </a:p>
        </p:txBody>
      </p:sp>
      <p:sp>
        <p:nvSpPr>
          <p:cNvPr id="59" name="矩形 58">
            <a:extLst>
              <a:ext uri="{FF2B5EF4-FFF2-40B4-BE49-F238E27FC236}">
                <a16:creationId xmlns:a16="http://schemas.microsoft.com/office/drawing/2014/main" id="{AE0A8EB2-FD56-475A-A683-B1DAAA5A6C7B}"/>
              </a:ext>
            </a:extLst>
          </p:cNvPr>
          <p:cNvSpPr>
            <a:spLocks noGrp="1"/>
          </p:cNvSpPr>
          <p:nvPr/>
        </p:nvSpPr>
        <p:spPr>
          <a:xfrm>
            <a:off x="8382000" y="4495800"/>
            <a:ext cx="2971800" cy="9525"/>
          </a:xfrm>
          <a:prstGeom prst="rect">
            <a:avLst/>
          </a:prstGeom>
          <a:solidFill>
            <a:srgbClr val="E4D3D3"/>
          </a:solidFill>
          <a:ln w="0">
            <a:solidFill>
              <a:srgbClr val="000000">
                <a:alpha val="0"/>
              </a:srgbClr>
            </a:solidFill>
            <a:prstDash val="solid"/>
          </a:ln>
        </p:spPr>
        <p:txBody>
          <a:bodyPr/>
          <a:lstStyle/>
          <a:p>
            <a:endParaRPr lang="zh-CN" altLang="en-US"/>
          </a:p>
        </p:txBody>
      </p:sp>
      <p:sp>
        <p:nvSpPr>
          <p:cNvPr id="60" name="矩形 59">
            <a:extLst>
              <a:ext uri="{FF2B5EF4-FFF2-40B4-BE49-F238E27FC236}">
                <a16:creationId xmlns:a16="http://schemas.microsoft.com/office/drawing/2014/main" id="{3F3B5F75-0BD7-4D7A-8BB2-3107FCADCE9F}"/>
              </a:ext>
            </a:extLst>
          </p:cNvPr>
          <p:cNvSpPr>
            <a:spLocks noGrp="1"/>
          </p:cNvSpPr>
          <p:nvPr/>
        </p:nvSpPr>
        <p:spPr>
          <a:xfrm>
            <a:off x="8439150" y="4610100"/>
            <a:ext cx="2857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用全数据学习主成分或选择变量</a:t>
            </a:r>
          </a:p>
        </p:txBody>
      </p:sp>
      <p:sp>
        <p:nvSpPr>
          <p:cNvPr id="61" name="矩形 60">
            <a:extLst>
              <a:ext uri="{FF2B5EF4-FFF2-40B4-BE49-F238E27FC236}">
                <a16:creationId xmlns:a16="http://schemas.microsoft.com/office/drawing/2014/main" id="{A22F9B30-DD20-4655-87D8-DA0DEF0B4ADB}"/>
              </a:ext>
            </a:extLst>
          </p:cNvPr>
          <p:cNvSpPr>
            <a:spLocks noGrp="1"/>
          </p:cNvSpPr>
          <p:nvPr/>
        </p:nvSpPr>
        <p:spPr>
          <a:xfrm>
            <a:off x="8382000" y="4972050"/>
            <a:ext cx="2971800" cy="228600"/>
          </a:xfrm>
          <a:prstGeom prst="rect">
            <a:avLst/>
          </a:prstGeom>
          <a:solidFill>
            <a:srgbClr val="FFF4F4"/>
          </a:solidFill>
          <a:ln w="9525">
            <a:solidFill>
              <a:srgbClr val="E1C1C1"/>
            </a:solidFill>
            <a:prstDash val="solid"/>
          </a:ln>
        </p:spPr>
        <p:txBody>
          <a:bodyPr/>
          <a:lstStyle/>
          <a:p>
            <a:endParaRPr lang="zh-CN" altLang="en-US"/>
          </a:p>
        </p:txBody>
      </p:sp>
      <p:sp>
        <p:nvSpPr>
          <p:cNvPr id="62" name="矩形 61">
            <a:extLst>
              <a:ext uri="{FF2B5EF4-FFF2-40B4-BE49-F238E27FC236}">
                <a16:creationId xmlns:a16="http://schemas.microsoft.com/office/drawing/2014/main" id="{F4F5AFE3-28EB-4EC3-A139-3E43E64EFC8F}"/>
              </a:ext>
            </a:extLst>
          </p:cNvPr>
          <p:cNvSpPr>
            <a:spLocks noGrp="1"/>
          </p:cNvSpPr>
          <p:nvPr/>
        </p:nvSpPr>
        <p:spPr>
          <a:xfrm>
            <a:off x="8496300" y="5019675"/>
            <a:ext cx="2743200" cy="152400"/>
          </a:xfrm>
          <a:prstGeom prst="rect">
            <a:avLst/>
          </a:prstGeom>
          <a:solidFill>
            <a:srgbClr val="FFF4F4"/>
          </a:solidFill>
          <a:ln w="0">
            <a:solidFill>
              <a:srgbClr val="000000">
                <a:alpha val="0"/>
              </a:srgbClr>
            </a:solidFill>
            <a:prstDash val="solid"/>
          </a:ln>
        </p:spPr>
        <p:txBody>
          <a:bodyPr lIns="0" tIns="0" rIns="0" bIns="0" anchor="t"/>
          <a:lstStyle/>
          <a:p>
            <a:pPr algn="ctr">
              <a:defRPr sz="900" b="1">
                <a:solidFill>
                  <a:srgbClr val="A33A3A"/>
                </a:solidFill>
                <a:latin typeface="黑体"/>
                <a:ea typeface="黑体"/>
                <a:cs typeface="黑体"/>
              </a:defRPr>
            </a:pPr>
            <a:r>
              <a:rPr>
                <a:latin typeface="黑体"/>
                <a:ea typeface="黑体"/>
                <a:cs typeface="黑体"/>
              </a:rPr>
              <a:t>后果：未见数据影响表示</a:t>
            </a:r>
          </a:p>
        </p:txBody>
      </p:sp>
      <p:sp>
        <p:nvSpPr>
          <p:cNvPr id="63" name="矩形 62">
            <a:extLst>
              <a:ext uri="{FF2B5EF4-FFF2-40B4-BE49-F238E27FC236}">
                <a16:creationId xmlns:a16="http://schemas.microsoft.com/office/drawing/2014/main" id="{F6908E60-B634-4CA5-8E8D-E8F4974DB9E4}"/>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64" name="矩形 63">
            <a:extLst>
              <a:ext uri="{FF2B5EF4-FFF2-40B4-BE49-F238E27FC236}">
                <a16:creationId xmlns:a16="http://schemas.microsoft.com/office/drawing/2014/main" id="{0684260C-9FE4-459C-9653-B64C4C085F12}"/>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预测时点之后的信息，以及测试集学到的任何参数，都不能进入训练流程。</a:t>
            </a:r>
          </a:p>
        </p:txBody>
      </p:sp>
    </p:spTree>
    <p:extLst>
      <p:ext uri="{BB962C8B-B14F-4D97-AF65-F5344CB8AC3E}">
        <p14:creationId xmlns:p14="http://schemas.microsoft.com/office/powerpoint/2010/main" val="14336548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66">
            <a:extLst>
              <a:ext uri="{FF2B5EF4-FFF2-40B4-BE49-F238E27FC236}">
                <a16:creationId xmlns:a16="http://schemas.microsoft.com/office/drawing/2014/main" id="{99283D21-6476-4D57-9522-FD1D21E6910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7CF0D651-29E1-4911-9FE1-8B551BBE8615}"/>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1459A04F-9253-45BA-8AEB-87E40B411E93}"/>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AE733FE-6BA2-48D6-A398-F502F5FFC28E}"/>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正确的 </a:t>
            </a:r>
            <a:r>
              <a:rPr>
                <a:latin typeface="Times New Roman"/>
                <a:ea typeface="Times New Roman"/>
                <a:cs typeface="Times New Roman"/>
              </a:rPr>
              <a:t>fit–transform </a:t>
            </a:r>
            <a:r>
              <a:rPr>
                <a:latin typeface="黑体"/>
                <a:ea typeface="黑体"/>
                <a:cs typeface="黑体"/>
              </a:rPr>
              <a:t>流程</a:t>
            </a:r>
          </a:p>
        </p:txBody>
      </p:sp>
      <p:sp>
        <p:nvSpPr>
          <p:cNvPr id="5" name="矩形 4">
            <a:extLst>
              <a:ext uri="{FF2B5EF4-FFF2-40B4-BE49-F238E27FC236}">
                <a16:creationId xmlns:a16="http://schemas.microsoft.com/office/drawing/2014/main" id="{FBD10D1A-860D-4A18-9846-C0E44DBDBA48}"/>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62/90</a:t>
            </a:r>
          </a:p>
        </p:txBody>
      </p:sp>
      <p:sp>
        <p:nvSpPr>
          <p:cNvPr id="6" name="矩形 5">
            <a:extLst>
              <a:ext uri="{FF2B5EF4-FFF2-40B4-BE49-F238E27FC236}">
                <a16:creationId xmlns:a16="http://schemas.microsoft.com/office/drawing/2014/main" id="{C483AECC-4BE6-4F0C-A707-FEE42279127B}"/>
              </a:ext>
            </a:extLst>
          </p:cNvPr>
          <p:cNvSpPr>
            <a:spLocks noGrp="1"/>
          </p:cNvSpPr>
          <p:nvPr/>
        </p:nvSpPr>
        <p:spPr>
          <a:xfrm>
            <a:off x="68580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7" name="矩形 6">
            <a:extLst>
              <a:ext uri="{FF2B5EF4-FFF2-40B4-BE49-F238E27FC236}">
                <a16:creationId xmlns:a16="http://schemas.microsoft.com/office/drawing/2014/main" id="{86FDF1C7-BD1C-4468-A5BC-01FD532EBE30}"/>
              </a:ext>
            </a:extLst>
          </p:cNvPr>
          <p:cNvSpPr>
            <a:spLocks noGrp="1"/>
          </p:cNvSpPr>
          <p:nvPr/>
        </p:nvSpPr>
        <p:spPr>
          <a:xfrm>
            <a:off x="68580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F91FBFC3-D39D-425C-B2B1-537BDB12F1BC}"/>
              </a:ext>
            </a:extLst>
          </p:cNvPr>
          <p:cNvSpPr>
            <a:spLocks noGrp="1"/>
          </p:cNvSpPr>
          <p:nvPr/>
        </p:nvSpPr>
        <p:spPr>
          <a:xfrm>
            <a:off x="2884170" y="1219200"/>
            <a:ext cx="2026920" cy="4076700"/>
          </a:xfrm>
          <a:prstGeom prst="rect">
            <a:avLst/>
          </a:prstGeom>
          <a:solidFill>
            <a:srgbClr val="FFFCF4"/>
          </a:solidFill>
          <a:ln w="9525">
            <a:solidFill>
              <a:srgbClr val="B7C2D0"/>
            </a:solidFill>
            <a:prstDash val="solid"/>
          </a:ln>
        </p:spPr>
        <p:txBody>
          <a:bodyPr/>
          <a:lstStyle/>
          <a:p>
            <a:endParaRPr lang="zh-CN" altLang="en-US"/>
          </a:p>
        </p:txBody>
      </p:sp>
      <p:sp>
        <p:nvSpPr>
          <p:cNvPr id="9" name="矩形 8">
            <a:extLst>
              <a:ext uri="{FF2B5EF4-FFF2-40B4-BE49-F238E27FC236}">
                <a16:creationId xmlns:a16="http://schemas.microsoft.com/office/drawing/2014/main" id="{E3721B4A-0DDD-47EB-B031-589BDE337209}"/>
              </a:ext>
            </a:extLst>
          </p:cNvPr>
          <p:cNvSpPr>
            <a:spLocks noGrp="1"/>
          </p:cNvSpPr>
          <p:nvPr/>
        </p:nvSpPr>
        <p:spPr>
          <a:xfrm>
            <a:off x="2884170" y="1219200"/>
            <a:ext cx="2026920"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8B03A136-852E-4CA2-865F-B3BFFB5839BF}"/>
              </a:ext>
            </a:extLst>
          </p:cNvPr>
          <p:cNvSpPr>
            <a:spLocks noGrp="1"/>
          </p:cNvSpPr>
          <p:nvPr/>
        </p:nvSpPr>
        <p:spPr>
          <a:xfrm>
            <a:off x="508254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11" name="矩形 10">
            <a:extLst>
              <a:ext uri="{FF2B5EF4-FFF2-40B4-BE49-F238E27FC236}">
                <a16:creationId xmlns:a16="http://schemas.microsoft.com/office/drawing/2014/main" id="{F09D68CC-162A-44AE-95CC-6352BC2AA8F4}"/>
              </a:ext>
            </a:extLst>
          </p:cNvPr>
          <p:cNvSpPr>
            <a:spLocks noGrp="1"/>
          </p:cNvSpPr>
          <p:nvPr/>
        </p:nvSpPr>
        <p:spPr>
          <a:xfrm>
            <a:off x="508254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067B39C3-6457-4D64-874D-C660770940BC}"/>
              </a:ext>
            </a:extLst>
          </p:cNvPr>
          <p:cNvSpPr>
            <a:spLocks noGrp="1"/>
          </p:cNvSpPr>
          <p:nvPr/>
        </p:nvSpPr>
        <p:spPr>
          <a:xfrm>
            <a:off x="7280910" y="1219200"/>
            <a:ext cx="2026920" cy="4076700"/>
          </a:xfrm>
          <a:prstGeom prst="rect">
            <a:avLst/>
          </a:prstGeom>
          <a:solidFill>
            <a:srgbClr val="FFFCF4"/>
          </a:solidFill>
          <a:ln w="9525">
            <a:solidFill>
              <a:srgbClr val="B7C2D0"/>
            </a:solidFill>
            <a:prstDash val="solid"/>
          </a:ln>
        </p:spPr>
        <p:txBody>
          <a:bodyPr/>
          <a:lstStyle/>
          <a:p>
            <a:endParaRPr lang="zh-CN" altLang="en-US"/>
          </a:p>
        </p:txBody>
      </p:sp>
      <p:sp>
        <p:nvSpPr>
          <p:cNvPr id="13" name="矩形 12">
            <a:extLst>
              <a:ext uri="{FF2B5EF4-FFF2-40B4-BE49-F238E27FC236}">
                <a16:creationId xmlns:a16="http://schemas.microsoft.com/office/drawing/2014/main" id="{9BB70E7D-D517-4B5C-9F54-89FB3383306F}"/>
              </a:ext>
            </a:extLst>
          </p:cNvPr>
          <p:cNvSpPr>
            <a:spLocks noGrp="1"/>
          </p:cNvSpPr>
          <p:nvPr/>
        </p:nvSpPr>
        <p:spPr>
          <a:xfrm>
            <a:off x="7280910" y="1219200"/>
            <a:ext cx="2026920"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E3D5F0D8-AB20-4753-85AB-717A5EA94444}"/>
              </a:ext>
            </a:extLst>
          </p:cNvPr>
          <p:cNvSpPr>
            <a:spLocks noGrp="1"/>
          </p:cNvSpPr>
          <p:nvPr/>
        </p:nvSpPr>
        <p:spPr>
          <a:xfrm>
            <a:off x="947928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15" name="矩形 14">
            <a:extLst>
              <a:ext uri="{FF2B5EF4-FFF2-40B4-BE49-F238E27FC236}">
                <a16:creationId xmlns:a16="http://schemas.microsoft.com/office/drawing/2014/main" id="{00FC4311-5803-4176-AE84-89DAB768F98C}"/>
              </a:ext>
            </a:extLst>
          </p:cNvPr>
          <p:cNvSpPr>
            <a:spLocks noGrp="1"/>
          </p:cNvSpPr>
          <p:nvPr/>
        </p:nvSpPr>
        <p:spPr>
          <a:xfrm>
            <a:off x="947928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6E58D02E-F3CD-41AB-8B43-1D889AED8DE7}"/>
              </a:ext>
            </a:extLst>
          </p:cNvPr>
          <p:cNvSpPr>
            <a:spLocks noGrp="1"/>
          </p:cNvSpPr>
          <p:nvPr/>
        </p:nvSpPr>
        <p:spPr>
          <a:xfrm>
            <a:off x="78105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17" name="椭圆 16">
            <a:extLst>
              <a:ext uri="{FF2B5EF4-FFF2-40B4-BE49-F238E27FC236}">
                <a16:creationId xmlns:a16="http://schemas.microsoft.com/office/drawing/2014/main" id="{3BD726D8-6DAB-4AA4-924E-26416C52B378}"/>
              </a:ext>
            </a:extLst>
          </p:cNvPr>
          <p:cNvSpPr>
            <a:spLocks noGrp="1"/>
          </p:cNvSpPr>
          <p:nvPr/>
        </p:nvSpPr>
        <p:spPr>
          <a:xfrm>
            <a:off x="137541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18" name="矩形 17">
            <a:extLst>
              <a:ext uri="{FF2B5EF4-FFF2-40B4-BE49-F238E27FC236}">
                <a16:creationId xmlns:a16="http://schemas.microsoft.com/office/drawing/2014/main" id="{3F0A65F0-7EAD-4B15-A5C2-7427DDC8C7ED}"/>
              </a:ext>
            </a:extLst>
          </p:cNvPr>
          <p:cNvSpPr>
            <a:spLocks noGrp="1"/>
          </p:cNvSpPr>
          <p:nvPr/>
        </p:nvSpPr>
        <p:spPr>
          <a:xfrm>
            <a:off x="148971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1</a:t>
            </a:r>
          </a:p>
        </p:txBody>
      </p:sp>
      <p:sp>
        <p:nvSpPr>
          <p:cNvPr id="19" name="矩形 18">
            <a:extLst>
              <a:ext uri="{FF2B5EF4-FFF2-40B4-BE49-F238E27FC236}">
                <a16:creationId xmlns:a16="http://schemas.microsoft.com/office/drawing/2014/main" id="{C931EDBA-9FC7-4A08-8121-4AA74183D7D2}"/>
              </a:ext>
            </a:extLst>
          </p:cNvPr>
          <p:cNvSpPr>
            <a:spLocks noGrp="1"/>
          </p:cNvSpPr>
          <p:nvPr/>
        </p:nvSpPr>
        <p:spPr>
          <a:xfrm>
            <a:off x="105064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F6571ADF-F867-4D35-82C3-287E37AC7E51}"/>
              </a:ext>
            </a:extLst>
          </p:cNvPr>
          <p:cNvSpPr>
            <a:spLocks noGrp="1"/>
          </p:cNvSpPr>
          <p:nvPr/>
        </p:nvSpPr>
        <p:spPr>
          <a:xfrm>
            <a:off x="123306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266D7903-9C3D-45FF-B711-5F2135B8BA06}"/>
              </a:ext>
            </a:extLst>
          </p:cNvPr>
          <p:cNvSpPr>
            <a:spLocks noGrp="1"/>
          </p:cNvSpPr>
          <p:nvPr/>
        </p:nvSpPr>
        <p:spPr>
          <a:xfrm>
            <a:off x="139522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80BFA55D-BFD5-4A28-93CC-252F224E885E}"/>
              </a:ext>
            </a:extLst>
          </p:cNvPr>
          <p:cNvSpPr>
            <a:spLocks noGrp="1"/>
          </p:cNvSpPr>
          <p:nvPr/>
        </p:nvSpPr>
        <p:spPr>
          <a:xfrm>
            <a:off x="81915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划分训练与测试</a:t>
            </a:r>
          </a:p>
        </p:txBody>
      </p:sp>
      <p:sp>
        <p:nvSpPr>
          <p:cNvPr id="23" name="矩形 22">
            <a:extLst>
              <a:ext uri="{FF2B5EF4-FFF2-40B4-BE49-F238E27FC236}">
                <a16:creationId xmlns:a16="http://schemas.microsoft.com/office/drawing/2014/main" id="{2756B63B-81DB-4D67-AC4D-9C2E55C40672}"/>
              </a:ext>
            </a:extLst>
          </p:cNvPr>
          <p:cNvSpPr>
            <a:spLocks noGrp="1"/>
          </p:cNvSpPr>
          <p:nvPr/>
        </p:nvSpPr>
        <p:spPr>
          <a:xfrm>
            <a:off x="85725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15FE4C35-87FC-4C6E-BD0A-A29E1EA70A44}"/>
              </a:ext>
            </a:extLst>
          </p:cNvPr>
          <p:cNvSpPr>
            <a:spLocks noGrp="1"/>
          </p:cNvSpPr>
          <p:nvPr/>
        </p:nvSpPr>
        <p:spPr>
          <a:xfrm>
            <a:off x="83820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按学生或时间隔离未见数据</a:t>
            </a:r>
          </a:p>
        </p:txBody>
      </p:sp>
      <p:sp>
        <p:nvSpPr>
          <p:cNvPr id="25" name="矩形 24">
            <a:extLst>
              <a:ext uri="{FF2B5EF4-FFF2-40B4-BE49-F238E27FC236}">
                <a16:creationId xmlns:a16="http://schemas.microsoft.com/office/drawing/2014/main" id="{8EB1CD81-727A-4B5E-AA26-3D01005E3ECF}"/>
              </a:ext>
            </a:extLst>
          </p:cNvPr>
          <p:cNvSpPr>
            <a:spLocks noGrp="1"/>
          </p:cNvSpPr>
          <p:nvPr/>
        </p:nvSpPr>
        <p:spPr>
          <a:xfrm>
            <a:off x="271272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26" name="矩形 25">
            <a:extLst>
              <a:ext uri="{FF2B5EF4-FFF2-40B4-BE49-F238E27FC236}">
                <a16:creationId xmlns:a16="http://schemas.microsoft.com/office/drawing/2014/main" id="{6FBE709D-372F-4F14-9174-C4EE84EE55B0}"/>
              </a:ext>
            </a:extLst>
          </p:cNvPr>
          <p:cNvSpPr>
            <a:spLocks noGrp="1"/>
          </p:cNvSpPr>
          <p:nvPr/>
        </p:nvSpPr>
        <p:spPr>
          <a:xfrm>
            <a:off x="2979420" y="1390650"/>
            <a:ext cx="1836420" cy="1428750"/>
          </a:xfrm>
          <a:prstGeom prst="rect">
            <a:avLst/>
          </a:prstGeom>
          <a:solidFill>
            <a:srgbClr val="F7EFD6"/>
          </a:solidFill>
          <a:ln w="9525">
            <a:solidFill>
              <a:srgbClr val="D4DCE6"/>
            </a:solidFill>
            <a:prstDash val="solid"/>
          </a:ln>
        </p:spPr>
        <p:txBody>
          <a:bodyPr/>
          <a:lstStyle/>
          <a:p>
            <a:endParaRPr lang="zh-CN" altLang="en-US"/>
          </a:p>
        </p:txBody>
      </p:sp>
      <p:sp>
        <p:nvSpPr>
          <p:cNvPr id="27" name="椭圆 26">
            <a:extLst>
              <a:ext uri="{FF2B5EF4-FFF2-40B4-BE49-F238E27FC236}">
                <a16:creationId xmlns:a16="http://schemas.microsoft.com/office/drawing/2014/main" id="{2F8F4DB2-6538-47D8-B702-0B03B132FC15}"/>
              </a:ext>
            </a:extLst>
          </p:cNvPr>
          <p:cNvSpPr>
            <a:spLocks noGrp="1"/>
          </p:cNvSpPr>
          <p:nvPr/>
        </p:nvSpPr>
        <p:spPr>
          <a:xfrm>
            <a:off x="3573780"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28" name="矩形 27">
            <a:extLst>
              <a:ext uri="{FF2B5EF4-FFF2-40B4-BE49-F238E27FC236}">
                <a16:creationId xmlns:a16="http://schemas.microsoft.com/office/drawing/2014/main" id="{51012D52-FB8C-4DD4-8711-B843BCD3FD67}"/>
              </a:ext>
            </a:extLst>
          </p:cNvPr>
          <p:cNvSpPr>
            <a:spLocks noGrp="1"/>
          </p:cNvSpPr>
          <p:nvPr/>
        </p:nvSpPr>
        <p:spPr>
          <a:xfrm>
            <a:off x="3688080"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2</a:t>
            </a:r>
          </a:p>
        </p:txBody>
      </p:sp>
      <p:sp>
        <p:nvSpPr>
          <p:cNvPr id="29" name="矩形 28">
            <a:extLst>
              <a:ext uri="{FF2B5EF4-FFF2-40B4-BE49-F238E27FC236}">
                <a16:creationId xmlns:a16="http://schemas.microsoft.com/office/drawing/2014/main" id="{B3970FAC-2236-4A90-88F1-50D387C256A6}"/>
              </a:ext>
            </a:extLst>
          </p:cNvPr>
          <p:cNvSpPr>
            <a:spLocks noGrp="1"/>
          </p:cNvSpPr>
          <p:nvPr/>
        </p:nvSpPr>
        <p:spPr>
          <a:xfrm>
            <a:off x="3249016" y="2400300"/>
            <a:ext cx="1297229"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0" name="矩形 29">
            <a:extLst>
              <a:ext uri="{FF2B5EF4-FFF2-40B4-BE49-F238E27FC236}">
                <a16:creationId xmlns:a16="http://schemas.microsoft.com/office/drawing/2014/main" id="{BDF6C21C-53FA-4EEE-883F-D4F2C5C65FDE}"/>
              </a:ext>
            </a:extLst>
          </p:cNvPr>
          <p:cNvSpPr>
            <a:spLocks noGrp="1"/>
          </p:cNvSpPr>
          <p:nvPr/>
        </p:nvSpPr>
        <p:spPr>
          <a:xfrm>
            <a:off x="343143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08E019C0-651C-431A-B880-C02AA0433E9E}"/>
              </a:ext>
            </a:extLst>
          </p:cNvPr>
          <p:cNvSpPr>
            <a:spLocks noGrp="1"/>
          </p:cNvSpPr>
          <p:nvPr/>
        </p:nvSpPr>
        <p:spPr>
          <a:xfrm>
            <a:off x="359359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ABCCB42F-2BDE-43E8-BD7D-61EF386AC1D8}"/>
              </a:ext>
            </a:extLst>
          </p:cNvPr>
          <p:cNvSpPr>
            <a:spLocks noGrp="1"/>
          </p:cNvSpPr>
          <p:nvPr/>
        </p:nvSpPr>
        <p:spPr>
          <a:xfrm>
            <a:off x="3017520" y="2990850"/>
            <a:ext cx="1760220" cy="552450"/>
          </a:xfrm>
          <a:prstGeom prst="rect">
            <a:avLst/>
          </a:prstGeom>
          <a:solidFill>
            <a:srgbClr val="FFFCF4"/>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在训练集拟合</a:t>
            </a:r>
          </a:p>
        </p:txBody>
      </p:sp>
      <p:sp>
        <p:nvSpPr>
          <p:cNvPr id="33" name="矩形 32">
            <a:extLst>
              <a:ext uri="{FF2B5EF4-FFF2-40B4-BE49-F238E27FC236}">
                <a16:creationId xmlns:a16="http://schemas.microsoft.com/office/drawing/2014/main" id="{7D093549-4822-4581-94C7-43FF04C6F5C9}"/>
              </a:ext>
            </a:extLst>
          </p:cNvPr>
          <p:cNvSpPr>
            <a:spLocks noGrp="1"/>
          </p:cNvSpPr>
          <p:nvPr/>
        </p:nvSpPr>
        <p:spPr>
          <a:xfrm>
            <a:off x="305562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15F11161-FD4E-4DED-A5D0-C9B8A5CAB1BF}"/>
              </a:ext>
            </a:extLst>
          </p:cNvPr>
          <p:cNvSpPr>
            <a:spLocks noGrp="1"/>
          </p:cNvSpPr>
          <p:nvPr/>
        </p:nvSpPr>
        <p:spPr>
          <a:xfrm>
            <a:off x="3036570" y="3733800"/>
            <a:ext cx="1722120" cy="876300"/>
          </a:xfrm>
          <a:prstGeom prst="rect">
            <a:avLst/>
          </a:prstGeom>
          <a:solidFill>
            <a:srgbClr val="FFFCF4"/>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计算填补值、编码表和缩放参数</a:t>
            </a:r>
          </a:p>
        </p:txBody>
      </p:sp>
      <p:sp>
        <p:nvSpPr>
          <p:cNvPr id="35" name="矩形 34">
            <a:extLst>
              <a:ext uri="{FF2B5EF4-FFF2-40B4-BE49-F238E27FC236}">
                <a16:creationId xmlns:a16="http://schemas.microsoft.com/office/drawing/2014/main" id="{D65EA27D-ECFF-49F5-AB83-6692D557A030}"/>
              </a:ext>
            </a:extLst>
          </p:cNvPr>
          <p:cNvSpPr>
            <a:spLocks noGrp="1"/>
          </p:cNvSpPr>
          <p:nvPr/>
        </p:nvSpPr>
        <p:spPr>
          <a:xfrm>
            <a:off x="491109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36" name="矩形 35">
            <a:extLst>
              <a:ext uri="{FF2B5EF4-FFF2-40B4-BE49-F238E27FC236}">
                <a16:creationId xmlns:a16="http://schemas.microsoft.com/office/drawing/2014/main" id="{8186991E-76E5-40F6-B7AD-8E26EF2B7646}"/>
              </a:ext>
            </a:extLst>
          </p:cNvPr>
          <p:cNvSpPr>
            <a:spLocks noGrp="1"/>
          </p:cNvSpPr>
          <p:nvPr/>
        </p:nvSpPr>
        <p:spPr>
          <a:xfrm>
            <a:off x="517779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37" name="椭圆 36">
            <a:extLst>
              <a:ext uri="{FF2B5EF4-FFF2-40B4-BE49-F238E27FC236}">
                <a16:creationId xmlns:a16="http://schemas.microsoft.com/office/drawing/2014/main" id="{E137E23B-157E-422F-9B98-5150E6564E4F}"/>
              </a:ext>
            </a:extLst>
          </p:cNvPr>
          <p:cNvSpPr>
            <a:spLocks noGrp="1"/>
          </p:cNvSpPr>
          <p:nvPr/>
        </p:nvSpPr>
        <p:spPr>
          <a:xfrm>
            <a:off x="577215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38" name="矩形 37">
            <a:extLst>
              <a:ext uri="{FF2B5EF4-FFF2-40B4-BE49-F238E27FC236}">
                <a16:creationId xmlns:a16="http://schemas.microsoft.com/office/drawing/2014/main" id="{BCBD30AC-4647-4CB2-9809-DEC44E8F4A84}"/>
              </a:ext>
            </a:extLst>
          </p:cNvPr>
          <p:cNvSpPr>
            <a:spLocks noGrp="1"/>
          </p:cNvSpPr>
          <p:nvPr/>
        </p:nvSpPr>
        <p:spPr>
          <a:xfrm>
            <a:off x="588645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3</a:t>
            </a:r>
          </a:p>
        </p:txBody>
      </p:sp>
      <p:sp>
        <p:nvSpPr>
          <p:cNvPr id="39" name="矩形 38">
            <a:extLst>
              <a:ext uri="{FF2B5EF4-FFF2-40B4-BE49-F238E27FC236}">
                <a16:creationId xmlns:a16="http://schemas.microsoft.com/office/drawing/2014/main" id="{148E9870-184A-487E-80B6-598A3A850E9F}"/>
              </a:ext>
            </a:extLst>
          </p:cNvPr>
          <p:cNvSpPr>
            <a:spLocks noGrp="1"/>
          </p:cNvSpPr>
          <p:nvPr/>
        </p:nvSpPr>
        <p:spPr>
          <a:xfrm>
            <a:off x="544738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40" name="矩形 39">
            <a:extLst>
              <a:ext uri="{FF2B5EF4-FFF2-40B4-BE49-F238E27FC236}">
                <a16:creationId xmlns:a16="http://schemas.microsoft.com/office/drawing/2014/main" id="{6E9C8561-0F81-423E-90DB-CAFED08D0317}"/>
              </a:ext>
            </a:extLst>
          </p:cNvPr>
          <p:cNvSpPr>
            <a:spLocks noGrp="1"/>
          </p:cNvSpPr>
          <p:nvPr/>
        </p:nvSpPr>
        <p:spPr>
          <a:xfrm>
            <a:off x="562980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1" name="矩形 40">
            <a:extLst>
              <a:ext uri="{FF2B5EF4-FFF2-40B4-BE49-F238E27FC236}">
                <a16:creationId xmlns:a16="http://schemas.microsoft.com/office/drawing/2014/main" id="{8B52AD34-5EDA-44FC-8438-DE7A322A1B06}"/>
              </a:ext>
            </a:extLst>
          </p:cNvPr>
          <p:cNvSpPr>
            <a:spLocks noGrp="1"/>
          </p:cNvSpPr>
          <p:nvPr/>
        </p:nvSpPr>
        <p:spPr>
          <a:xfrm>
            <a:off x="579196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12465521-14D3-4EAD-BDEF-E7D23F9E804A}"/>
              </a:ext>
            </a:extLst>
          </p:cNvPr>
          <p:cNvSpPr>
            <a:spLocks noGrp="1"/>
          </p:cNvSpPr>
          <p:nvPr/>
        </p:nvSpPr>
        <p:spPr>
          <a:xfrm>
            <a:off x="521589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转换训练集</a:t>
            </a:r>
          </a:p>
        </p:txBody>
      </p:sp>
      <p:sp>
        <p:nvSpPr>
          <p:cNvPr id="43" name="矩形 42">
            <a:extLst>
              <a:ext uri="{FF2B5EF4-FFF2-40B4-BE49-F238E27FC236}">
                <a16:creationId xmlns:a16="http://schemas.microsoft.com/office/drawing/2014/main" id="{331A2387-9AA6-42C0-B508-7774B1CB6D56}"/>
              </a:ext>
            </a:extLst>
          </p:cNvPr>
          <p:cNvSpPr>
            <a:spLocks noGrp="1"/>
          </p:cNvSpPr>
          <p:nvPr/>
        </p:nvSpPr>
        <p:spPr>
          <a:xfrm>
            <a:off x="525399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44" name="矩形 43">
            <a:extLst>
              <a:ext uri="{FF2B5EF4-FFF2-40B4-BE49-F238E27FC236}">
                <a16:creationId xmlns:a16="http://schemas.microsoft.com/office/drawing/2014/main" id="{0DEEBA89-07E5-4DFE-BED1-D3194CC3926E}"/>
              </a:ext>
            </a:extLst>
          </p:cNvPr>
          <p:cNvSpPr>
            <a:spLocks noGrp="1"/>
          </p:cNvSpPr>
          <p:nvPr/>
        </p:nvSpPr>
        <p:spPr>
          <a:xfrm>
            <a:off x="523494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使用训练参数生成训练矩阵</a:t>
            </a:r>
          </a:p>
        </p:txBody>
      </p:sp>
      <p:sp>
        <p:nvSpPr>
          <p:cNvPr id="45" name="矩形 44">
            <a:extLst>
              <a:ext uri="{FF2B5EF4-FFF2-40B4-BE49-F238E27FC236}">
                <a16:creationId xmlns:a16="http://schemas.microsoft.com/office/drawing/2014/main" id="{87138FFC-2CF7-45FA-8388-7486EBB4E617}"/>
              </a:ext>
            </a:extLst>
          </p:cNvPr>
          <p:cNvSpPr>
            <a:spLocks noGrp="1"/>
          </p:cNvSpPr>
          <p:nvPr/>
        </p:nvSpPr>
        <p:spPr>
          <a:xfrm>
            <a:off x="710946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46" name="矩形 45">
            <a:extLst>
              <a:ext uri="{FF2B5EF4-FFF2-40B4-BE49-F238E27FC236}">
                <a16:creationId xmlns:a16="http://schemas.microsoft.com/office/drawing/2014/main" id="{5CD24BF3-9607-4783-996E-7DD4760C9536}"/>
              </a:ext>
            </a:extLst>
          </p:cNvPr>
          <p:cNvSpPr>
            <a:spLocks noGrp="1"/>
          </p:cNvSpPr>
          <p:nvPr/>
        </p:nvSpPr>
        <p:spPr>
          <a:xfrm>
            <a:off x="7376160" y="1390650"/>
            <a:ext cx="1836420" cy="1428750"/>
          </a:xfrm>
          <a:prstGeom prst="rect">
            <a:avLst/>
          </a:prstGeom>
          <a:solidFill>
            <a:srgbClr val="F7EFD6"/>
          </a:solidFill>
          <a:ln w="9525">
            <a:solidFill>
              <a:srgbClr val="D4DCE6"/>
            </a:solidFill>
            <a:prstDash val="solid"/>
          </a:ln>
        </p:spPr>
        <p:txBody>
          <a:bodyPr/>
          <a:lstStyle/>
          <a:p>
            <a:endParaRPr lang="zh-CN" altLang="en-US"/>
          </a:p>
        </p:txBody>
      </p:sp>
      <p:sp>
        <p:nvSpPr>
          <p:cNvPr id="47" name="椭圆 46">
            <a:extLst>
              <a:ext uri="{FF2B5EF4-FFF2-40B4-BE49-F238E27FC236}">
                <a16:creationId xmlns:a16="http://schemas.microsoft.com/office/drawing/2014/main" id="{054F6940-7A7E-413E-9643-8FD694679C10}"/>
              </a:ext>
            </a:extLst>
          </p:cNvPr>
          <p:cNvSpPr>
            <a:spLocks noGrp="1"/>
          </p:cNvSpPr>
          <p:nvPr/>
        </p:nvSpPr>
        <p:spPr>
          <a:xfrm>
            <a:off x="7970520"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48" name="矩形 47">
            <a:extLst>
              <a:ext uri="{FF2B5EF4-FFF2-40B4-BE49-F238E27FC236}">
                <a16:creationId xmlns:a16="http://schemas.microsoft.com/office/drawing/2014/main" id="{CEC23729-C368-4E48-B8E9-18B615756ABB}"/>
              </a:ext>
            </a:extLst>
          </p:cNvPr>
          <p:cNvSpPr>
            <a:spLocks noGrp="1"/>
          </p:cNvSpPr>
          <p:nvPr/>
        </p:nvSpPr>
        <p:spPr>
          <a:xfrm>
            <a:off x="8084820"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4</a:t>
            </a:r>
          </a:p>
        </p:txBody>
      </p:sp>
      <p:sp>
        <p:nvSpPr>
          <p:cNvPr id="49" name="矩形 48">
            <a:extLst>
              <a:ext uri="{FF2B5EF4-FFF2-40B4-BE49-F238E27FC236}">
                <a16:creationId xmlns:a16="http://schemas.microsoft.com/office/drawing/2014/main" id="{1C6746AD-CE27-4FB0-89CC-78EDC4AD3672}"/>
              </a:ext>
            </a:extLst>
          </p:cNvPr>
          <p:cNvSpPr>
            <a:spLocks noGrp="1"/>
          </p:cNvSpPr>
          <p:nvPr/>
        </p:nvSpPr>
        <p:spPr>
          <a:xfrm>
            <a:off x="7645756" y="2400300"/>
            <a:ext cx="1297229"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262CD4EE-3C0D-4B98-B45C-3644805E7F84}"/>
              </a:ext>
            </a:extLst>
          </p:cNvPr>
          <p:cNvSpPr>
            <a:spLocks noGrp="1"/>
          </p:cNvSpPr>
          <p:nvPr/>
        </p:nvSpPr>
        <p:spPr>
          <a:xfrm>
            <a:off x="782817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1" name="矩形 50">
            <a:extLst>
              <a:ext uri="{FF2B5EF4-FFF2-40B4-BE49-F238E27FC236}">
                <a16:creationId xmlns:a16="http://schemas.microsoft.com/office/drawing/2014/main" id="{AC2B98C5-ED42-457C-8CF5-D02BBE7E3492}"/>
              </a:ext>
            </a:extLst>
          </p:cNvPr>
          <p:cNvSpPr>
            <a:spLocks noGrp="1"/>
          </p:cNvSpPr>
          <p:nvPr/>
        </p:nvSpPr>
        <p:spPr>
          <a:xfrm>
            <a:off x="799033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2" name="矩形 51">
            <a:extLst>
              <a:ext uri="{FF2B5EF4-FFF2-40B4-BE49-F238E27FC236}">
                <a16:creationId xmlns:a16="http://schemas.microsoft.com/office/drawing/2014/main" id="{8A0AC12B-E79B-45A0-9DC7-75FCC4BD3D5D}"/>
              </a:ext>
            </a:extLst>
          </p:cNvPr>
          <p:cNvSpPr>
            <a:spLocks noGrp="1"/>
          </p:cNvSpPr>
          <p:nvPr/>
        </p:nvSpPr>
        <p:spPr>
          <a:xfrm>
            <a:off x="7414260" y="2990850"/>
            <a:ext cx="1760220" cy="552450"/>
          </a:xfrm>
          <a:prstGeom prst="rect">
            <a:avLst/>
          </a:prstGeom>
          <a:solidFill>
            <a:srgbClr val="FFFCF4"/>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转换测试集</a:t>
            </a:r>
          </a:p>
        </p:txBody>
      </p:sp>
      <p:sp>
        <p:nvSpPr>
          <p:cNvPr id="53" name="矩形 52">
            <a:extLst>
              <a:ext uri="{FF2B5EF4-FFF2-40B4-BE49-F238E27FC236}">
                <a16:creationId xmlns:a16="http://schemas.microsoft.com/office/drawing/2014/main" id="{FF92EADE-D161-42C8-86A4-AB08539B75E1}"/>
              </a:ext>
            </a:extLst>
          </p:cNvPr>
          <p:cNvSpPr>
            <a:spLocks noGrp="1"/>
          </p:cNvSpPr>
          <p:nvPr/>
        </p:nvSpPr>
        <p:spPr>
          <a:xfrm>
            <a:off x="745236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54" name="矩形 53">
            <a:extLst>
              <a:ext uri="{FF2B5EF4-FFF2-40B4-BE49-F238E27FC236}">
                <a16:creationId xmlns:a16="http://schemas.microsoft.com/office/drawing/2014/main" id="{72958523-31F2-43F2-9D28-D85D2300FF45}"/>
              </a:ext>
            </a:extLst>
          </p:cNvPr>
          <p:cNvSpPr>
            <a:spLocks noGrp="1"/>
          </p:cNvSpPr>
          <p:nvPr/>
        </p:nvSpPr>
        <p:spPr>
          <a:xfrm>
            <a:off x="7433310" y="3733800"/>
            <a:ext cx="1722120" cy="876300"/>
          </a:xfrm>
          <a:prstGeom prst="rect">
            <a:avLst/>
          </a:prstGeom>
          <a:solidFill>
            <a:srgbClr val="FFFCF4"/>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原样复用同一组参数</a:t>
            </a:r>
          </a:p>
        </p:txBody>
      </p:sp>
      <p:sp>
        <p:nvSpPr>
          <p:cNvPr id="55" name="矩形 54">
            <a:extLst>
              <a:ext uri="{FF2B5EF4-FFF2-40B4-BE49-F238E27FC236}">
                <a16:creationId xmlns:a16="http://schemas.microsoft.com/office/drawing/2014/main" id="{3017E0F8-BF74-4ADF-941C-22AC3AA28C5B}"/>
              </a:ext>
            </a:extLst>
          </p:cNvPr>
          <p:cNvSpPr>
            <a:spLocks noGrp="1"/>
          </p:cNvSpPr>
          <p:nvPr/>
        </p:nvSpPr>
        <p:spPr>
          <a:xfrm>
            <a:off x="930783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56" name="矩形 55">
            <a:extLst>
              <a:ext uri="{FF2B5EF4-FFF2-40B4-BE49-F238E27FC236}">
                <a16:creationId xmlns:a16="http://schemas.microsoft.com/office/drawing/2014/main" id="{68F4020F-0DF0-465A-9988-A9D8AC201AD2}"/>
              </a:ext>
            </a:extLst>
          </p:cNvPr>
          <p:cNvSpPr>
            <a:spLocks noGrp="1"/>
          </p:cNvSpPr>
          <p:nvPr/>
        </p:nvSpPr>
        <p:spPr>
          <a:xfrm>
            <a:off x="957453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57" name="椭圆 56">
            <a:extLst>
              <a:ext uri="{FF2B5EF4-FFF2-40B4-BE49-F238E27FC236}">
                <a16:creationId xmlns:a16="http://schemas.microsoft.com/office/drawing/2014/main" id="{E5CE9E83-B5F1-4860-BE60-DCBC8402D4BE}"/>
              </a:ext>
            </a:extLst>
          </p:cNvPr>
          <p:cNvSpPr>
            <a:spLocks noGrp="1"/>
          </p:cNvSpPr>
          <p:nvPr/>
        </p:nvSpPr>
        <p:spPr>
          <a:xfrm>
            <a:off x="1016889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58" name="矩形 57">
            <a:extLst>
              <a:ext uri="{FF2B5EF4-FFF2-40B4-BE49-F238E27FC236}">
                <a16:creationId xmlns:a16="http://schemas.microsoft.com/office/drawing/2014/main" id="{96A7FC10-368D-4B85-99FC-B5A599A175E1}"/>
              </a:ext>
            </a:extLst>
          </p:cNvPr>
          <p:cNvSpPr>
            <a:spLocks noGrp="1"/>
          </p:cNvSpPr>
          <p:nvPr/>
        </p:nvSpPr>
        <p:spPr>
          <a:xfrm>
            <a:off x="1028319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5</a:t>
            </a:r>
          </a:p>
        </p:txBody>
      </p:sp>
      <p:sp>
        <p:nvSpPr>
          <p:cNvPr id="59" name="矩形 58">
            <a:extLst>
              <a:ext uri="{FF2B5EF4-FFF2-40B4-BE49-F238E27FC236}">
                <a16:creationId xmlns:a16="http://schemas.microsoft.com/office/drawing/2014/main" id="{D0C89129-45A5-47DC-A23C-34BB0E757BB0}"/>
              </a:ext>
            </a:extLst>
          </p:cNvPr>
          <p:cNvSpPr>
            <a:spLocks noGrp="1"/>
          </p:cNvSpPr>
          <p:nvPr/>
        </p:nvSpPr>
        <p:spPr>
          <a:xfrm>
            <a:off x="984412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60" name="矩形 59">
            <a:extLst>
              <a:ext uri="{FF2B5EF4-FFF2-40B4-BE49-F238E27FC236}">
                <a16:creationId xmlns:a16="http://schemas.microsoft.com/office/drawing/2014/main" id="{2FF9ED03-55DD-48CA-BEE4-E4009440892B}"/>
              </a:ext>
            </a:extLst>
          </p:cNvPr>
          <p:cNvSpPr>
            <a:spLocks noGrp="1"/>
          </p:cNvSpPr>
          <p:nvPr/>
        </p:nvSpPr>
        <p:spPr>
          <a:xfrm>
            <a:off x="1002654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1" name="矩形 60">
            <a:extLst>
              <a:ext uri="{FF2B5EF4-FFF2-40B4-BE49-F238E27FC236}">
                <a16:creationId xmlns:a16="http://schemas.microsoft.com/office/drawing/2014/main" id="{F05A5326-A0E6-404E-9B37-08B385D5A111}"/>
              </a:ext>
            </a:extLst>
          </p:cNvPr>
          <p:cNvSpPr>
            <a:spLocks noGrp="1"/>
          </p:cNvSpPr>
          <p:nvPr/>
        </p:nvSpPr>
        <p:spPr>
          <a:xfrm>
            <a:off x="1018870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2" name="矩形 61">
            <a:extLst>
              <a:ext uri="{FF2B5EF4-FFF2-40B4-BE49-F238E27FC236}">
                <a16:creationId xmlns:a16="http://schemas.microsoft.com/office/drawing/2014/main" id="{B1C08F7B-F3F5-4E59-9876-EBA3871A58D0}"/>
              </a:ext>
            </a:extLst>
          </p:cNvPr>
          <p:cNvSpPr>
            <a:spLocks noGrp="1"/>
          </p:cNvSpPr>
          <p:nvPr/>
        </p:nvSpPr>
        <p:spPr>
          <a:xfrm>
            <a:off x="961263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训练与评估</a:t>
            </a:r>
          </a:p>
        </p:txBody>
      </p:sp>
      <p:sp>
        <p:nvSpPr>
          <p:cNvPr id="63" name="矩形 62">
            <a:extLst>
              <a:ext uri="{FF2B5EF4-FFF2-40B4-BE49-F238E27FC236}">
                <a16:creationId xmlns:a16="http://schemas.microsoft.com/office/drawing/2014/main" id="{D8F136CD-0C48-4013-87ED-9DF0E05111B4}"/>
              </a:ext>
            </a:extLst>
          </p:cNvPr>
          <p:cNvSpPr>
            <a:spLocks noGrp="1"/>
          </p:cNvSpPr>
          <p:nvPr/>
        </p:nvSpPr>
        <p:spPr>
          <a:xfrm>
            <a:off x="965073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64" name="矩形 63">
            <a:extLst>
              <a:ext uri="{FF2B5EF4-FFF2-40B4-BE49-F238E27FC236}">
                <a16:creationId xmlns:a16="http://schemas.microsoft.com/office/drawing/2014/main" id="{50D1D28B-3C99-4167-8DE9-DDBCB0C36DE4}"/>
              </a:ext>
            </a:extLst>
          </p:cNvPr>
          <p:cNvSpPr>
            <a:spLocks noGrp="1"/>
          </p:cNvSpPr>
          <p:nvPr/>
        </p:nvSpPr>
        <p:spPr>
          <a:xfrm>
            <a:off x="963168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训练模型并在未见数据上评估</a:t>
            </a:r>
          </a:p>
        </p:txBody>
      </p:sp>
      <p:sp>
        <p:nvSpPr>
          <p:cNvPr id="65" name="矩形 64">
            <a:extLst>
              <a:ext uri="{FF2B5EF4-FFF2-40B4-BE49-F238E27FC236}">
                <a16:creationId xmlns:a16="http://schemas.microsoft.com/office/drawing/2014/main" id="{FBC1239F-C66B-49F0-9D4D-A3FEC3B4B3C3}"/>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66" name="矩形 65">
            <a:extLst>
              <a:ext uri="{FF2B5EF4-FFF2-40B4-BE49-F238E27FC236}">
                <a16:creationId xmlns:a16="http://schemas.microsoft.com/office/drawing/2014/main" id="{93DE71ED-5D44-4F2D-9EB9-CA847B334A29}"/>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先划分，再拟合预处理；测试集只能 </a:t>
            </a:r>
            <a:r>
              <a:rPr>
                <a:latin typeface="Times New Roman"/>
                <a:ea typeface="Times New Roman"/>
                <a:cs typeface="Times New Roman"/>
              </a:rPr>
              <a:t>transform，</a:t>
            </a:r>
            <a:r>
              <a:rPr>
                <a:latin typeface="黑体"/>
                <a:ea typeface="黑体"/>
                <a:cs typeface="黑体"/>
              </a:rPr>
              <a:t>不能 </a:t>
            </a:r>
            <a:r>
              <a:rPr>
                <a:latin typeface="Times New Roman"/>
                <a:ea typeface="Times New Roman"/>
                <a:cs typeface="Times New Roman"/>
              </a:rPr>
              <a:t>fit。</a:t>
            </a:r>
          </a:p>
        </p:txBody>
      </p:sp>
    </p:spTree>
    <p:extLst>
      <p:ext uri="{BB962C8B-B14F-4D97-AF65-F5344CB8AC3E}">
        <p14:creationId xmlns:p14="http://schemas.microsoft.com/office/powerpoint/2010/main" val="10787304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7D75F3F1-71E0-4AF3-A5AC-AAFF98B3127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10B3B5D6-815A-47D1-A070-37F374E95DE8}"/>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5F8EC41-D00A-49DB-989B-0C80AD59BA6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B8B6BDFA-CF06-49A8-B5D5-27BB00FAFAAE}"/>
              </a:ext>
            </a:extLst>
          </p:cNvPr>
          <p:cNvSpPr>
            <a:spLocks noGrp="1"/>
          </p:cNvSpPr>
          <p:nvPr/>
        </p:nvSpPr>
        <p:spPr>
          <a:xfrm>
            <a:off x="685800" y="1752600"/>
            <a:ext cx="45720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00204A"/>
                </a:solidFill>
                <a:latin typeface="黑体"/>
                <a:ea typeface="黑体"/>
                <a:cs typeface="黑体"/>
              </a:defRPr>
            </a:pPr>
            <a:r>
              <a:rPr>
                <a:latin typeface="Times New Roman"/>
                <a:ea typeface="Times New Roman"/>
                <a:cs typeface="Times New Roman"/>
              </a:rPr>
              <a:t>Part 5 · </a:t>
            </a:r>
            <a:r>
              <a:rPr>
                <a:latin typeface="黑体"/>
                <a:ea typeface="黑体"/>
                <a:cs typeface="黑体"/>
              </a:rPr>
              <a:t>相似度与距离</a:t>
            </a:r>
          </a:p>
        </p:txBody>
      </p:sp>
      <p:sp>
        <p:nvSpPr>
          <p:cNvPr id="5" name="矩形 4">
            <a:extLst>
              <a:ext uri="{FF2B5EF4-FFF2-40B4-BE49-F238E27FC236}">
                <a16:creationId xmlns:a16="http://schemas.microsoft.com/office/drawing/2014/main" id="{F88BBDC5-D69E-40C1-9022-47A6D762551B}"/>
              </a:ext>
            </a:extLst>
          </p:cNvPr>
          <p:cNvSpPr>
            <a:spLocks noGrp="1"/>
          </p:cNvSpPr>
          <p:nvPr/>
        </p:nvSpPr>
        <p:spPr>
          <a:xfrm>
            <a:off x="685800" y="3009900"/>
            <a:ext cx="42862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14DA1"/>
                </a:solidFill>
                <a:latin typeface="黑体"/>
                <a:ea typeface="黑体"/>
                <a:cs typeface="黑体"/>
              </a:defRPr>
            </a:pPr>
            <a:r>
              <a:rPr>
                <a:latin typeface="黑体"/>
                <a:ea typeface="黑体"/>
                <a:cs typeface="黑体"/>
              </a:rPr>
              <a:t>不同数据类型需要不同的比较方式</a:t>
            </a:r>
          </a:p>
        </p:txBody>
      </p:sp>
      <p:sp>
        <p:nvSpPr>
          <p:cNvPr id="6" name="矩形 5">
            <a:extLst>
              <a:ext uri="{FF2B5EF4-FFF2-40B4-BE49-F238E27FC236}">
                <a16:creationId xmlns:a16="http://schemas.microsoft.com/office/drawing/2014/main" id="{9AA1F116-B041-4DD6-90DC-1643FA153309}"/>
              </a:ext>
            </a:extLst>
          </p:cNvPr>
          <p:cNvSpPr>
            <a:spLocks noGrp="1"/>
          </p:cNvSpPr>
          <p:nvPr/>
        </p:nvSpPr>
        <p:spPr>
          <a:xfrm>
            <a:off x="685800" y="4038600"/>
            <a:ext cx="3905250"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926B8920-23B7-4A47-B14B-80E78AC34613}"/>
              </a:ext>
            </a:extLst>
          </p:cNvPr>
          <p:cNvSpPr>
            <a:spLocks noGrp="1"/>
          </p:cNvSpPr>
          <p:nvPr/>
        </p:nvSpPr>
        <p:spPr>
          <a:xfrm>
            <a:off x="54292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26" name="图片 25"/>
          <p:cNvPicPr>
            <a:picLocks noChangeAspect="1"/>
          </p:cNvPicPr>
          <p:nvPr/>
        </p:nvPicPr>
        <p:blipFill>
          <a:blip r:embed="rId3"/>
          <a:srcRect l="20110" r="20110"/>
          <a:stretch>
            <a:fillRect/>
          </a:stretch>
        </p:blipFill>
        <p:spPr>
          <a:xfrm>
            <a:off x="5429250" y="1257300"/>
            <a:ext cx="1924050" cy="3409950"/>
          </a:xfrm>
          <a:prstGeom prst="rect">
            <a:avLst/>
          </a:prstGeom>
        </p:spPr>
      </p:pic>
      <p:sp>
        <p:nvSpPr>
          <p:cNvPr id="9" name="矩形 8">
            <a:extLst>
              <a:ext uri="{FF2B5EF4-FFF2-40B4-BE49-F238E27FC236}">
                <a16:creationId xmlns:a16="http://schemas.microsoft.com/office/drawing/2014/main" id="{7704CEF9-0BD9-48C2-8C2F-49D424445315}"/>
              </a:ext>
            </a:extLst>
          </p:cNvPr>
          <p:cNvSpPr>
            <a:spLocks noGrp="1"/>
          </p:cNvSpPr>
          <p:nvPr/>
        </p:nvSpPr>
        <p:spPr>
          <a:xfrm>
            <a:off x="54292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4B37EE39-CF8B-4706-80C1-2EA601A1FE17}"/>
              </a:ext>
            </a:extLst>
          </p:cNvPr>
          <p:cNvSpPr>
            <a:spLocks noGrp="1"/>
          </p:cNvSpPr>
          <p:nvPr/>
        </p:nvSpPr>
        <p:spPr>
          <a:xfrm>
            <a:off x="55245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群体结构</a:t>
            </a:r>
          </a:p>
        </p:txBody>
      </p:sp>
      <p:sp>
        <p:nvSpPr>
          <p:cNvPr id="11" name="矩形 10">
            <a:extLst>
              <a:ext uri="{FF2B5EF4-FFF2-40B4-BE49-F238E27FC236}">
                <a16:creationId xmlns:a16="http://schemas.microsoft.com/office/drawing/2014/main" id="{616284D9-1E0C-49E9-BE29-3BFFB2F85E1A}"/>
              </a:ext>
            </a:extLst>
          </p:cNvPr>
          <p:cNvSpPr>
            <a:spLocks noGrp="1"/>
          </p:cNvSpPr>
          <p:nvPr/>
        </p:nvSpPr>
        <p:spPr>
          <a:xfrm>
            <a:off x="750570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0" name="图片 29"/>
          <p:cNvPicPr>
            <a:picLocks noChangeAspect="1"/>
          </p:cNvPicPr>
          <p:nvPr/>
        </p:nvPicPr>
        <p:blipFill>
          <a:blip r:embed="rId4"/>
          <a:srcRect l="35894" r="35894"/>
          <a:stretch>
            <a:fillRect/>
          </a:stretch>
        </p:blipFill>
        <p:spPr>
          <a:xfrm>
            <a:off x="7505700" y="1257300"/>
            <a:ext cx="1924050" cy="3409950"/>
          </a:xfrm>
          <a:prstGeom prst="rect">
            <a:avLst/>
          </a:prstGeom>
        </p:spPr>
      </p:pic>
      <p:sp>
        <p:nvSpPr>
          <p:cNvPr id="13" name="矩形 12">
            <a:extLst>
              <a:ext uri="{FF2B5EF4-FFF2-40B4-BE49-F238E27FC236}">
                <a16:creationId xmlns:a16="http://schemas.microsoft.com/office/drawing/2014/main" id="{8EFEB7D1-C0AA-4F00-8637-CA280D14FE38}"/>
              </a:ext>
            </a:extLst>
          </p:cNvPr>
          <p:cNvSpPr>
            <a:spLocks noGrp="1"/>
          </p:cNvSpPr>
          <p:nvPr/>
        </p:nvSpPr>
        <p:spPr>
          <a:xfrm>
            <a:off x="750570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3699BEDA-2EB1-4873-BB0F-8D45B3F7889E}"/>
              </a:ext>
            </a:extLst>
          </p:cNvPr>
          <p:cNvSpPr>
            <a:spLocks noGrp="1"/>
          </p:cNvSpPr>
          <p:nvPr/>
        </p:nvSpPr>
        <p:spPr>
          <a:xfrm>
            <a:off x="760095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关系结构</a:t>
            </a:r>
          </a:p>
        </p:txBody>
      </p:sp>
      <p:sp>
        <p:nvSpPr>
          <p:cNvPr id="15" name="矩形 14">
            <a:extLst>
              <a:ext uri="{FF2B5EF4-FFF2-40B4-BE49-F238E27FC236}">
                <a16:creationId xmlns:a16="http://schemas.microsoft.com/office/drawing/2014/main" id="{666D6954-DF0D-471E-8238-F911F37FC29E}"/>
              </a:ext>
            </a:extLst>
          </p:cNvPr>
          <p:cNvSpPr>
            <a:spLocks noGrp="1"/>
          </p:cNvSpPr>
          <p:nvPr/>
        </p:nvSpPr>
        <p:spPr>
          <a:xfrm>
            <a:off x="95821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4" name="图片 33"/>
          <p:cNvPicPr>
            <a:picLocks noChangeAspect="1"/>
          </p:cNvPicPr>
          <p:nvPr/>
        </p:nvPicPr>
        <p:blipFill>
          <a:blip r:embed="rId5"/>
          <a:srcRect l="24423" r="24423"/>
          <a:stretch>
            <a:fillRect/>
          </a:stretch>
        </p:blipFill>
        <p:spPr>
          <a:xfrm>
            <a:off x="9582150" y="1257300"/>
            <a:ext cx="1924050" cy="3409950"/>
          </a:xfrm>
          <a:prstGeom prst="rect">
            <a:avLst/>
          </a:prstGeom>
        </p:spPr>
      </p:pic>
      <p:sp>
        <p:nvSpPr>
          <p:cNvPr id="17" name="矩形 16">
            <a:extLst>
              <a:ext uri="{FF2B5EF4-FFF2-40B4-BE49-F238E27FC236}">
                <a16:creationId xmlns:a16="http://schemas.microsoft.com/office/drawing/2014/main" id="{E0E6C7AD-3BC4-4DFB-AF5B-4500E8EB4F7D}"/>
              </a:ext>
            </a:extLst>
          </p:cNvPr>
          <p:cNvSpPr>
            <a:spLocks noGrp="1"/>
          </p:cNvSpPr>
          <p:nvPr/>
        </p:nvSpPr>
        <p:spPr>
          <a:xfrm>
            <a:off x="95821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042C42DF-16A1-4668-9720-285A44F396AB}"/>
              </a:ext>
            </a:extLst>
          </p:cNvPr>
          <p:cNvSpPr>
            <a:spLocks noGrp="1"/>
          </p:cNvSpPr>
          <p:nvPr/>
        </p:nvSpPr>
        <p:spPr>
          <a:xfrm>
            <a:off x="96774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局部距离</a:t>
            </a:r>
          </a:p>
        </p:txBody>
      </p:sp>
    </p:spTree>
    <p:extLst>
      <p:ext uri="{BB962C8B-B14F-4D97-AF65-F5344CB8AC3E}">
        <p14:creationId xmlns:p14="http://schemas.microsoft.com/office/powerpoint/2010/main" val="16126609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FF0F761E-B680-4824-9B9F-0472DF61AF26}"/>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C2366D29-88F7-410B-918A-6F5E2A42FBE0}"/>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73EABEFB-2333-4D5B-AE87-740AD978FC1B}"/>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D2311930-B86A-41E6-92AD-0E0F926BCB09}"/>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相似度与相异度表达同一比较</a:t>
            </a:r>
          </a:p>
        </p:txBody>
      </p:sp>
      <p:sp>
        <p:nvSpPr>
          <p:cNvPr id="5" name="矩形 4">
            <a:extLst>
              <a:ext uri="{FF2B5EF4-FFF2-40B4-BE49-F238E27FC236}">
                <a16:creationId xmlns:a16="http://schemas.microsoft.com/office/drawing/2014/main" id="{A614D005-4976-4739-B77B-1DBBD8E00DC2}"/>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64/90</a:t>
            </a:r>
          </a:p>
        </p:txBody>
      </p:sp>
      <p:sp>
        <p:nvSpPr>
          <p:cNvPr id="6" name="矩形 5">
            <a:extLst>
              <a:ext uri="{FF2B5EF4-FFF2-40B4-BE49-F238E27FC236}">
                <a16:creationId xmlns:a16="http://schemas.microsoft.com/office/drawing/2014/main" id="{F27F8BA0-75E9-4476-B023-CBD2764B920E}"/>
              </a:ext>
            </a:extLst>
          </p:cNvPr>
          <p:cNvSpPr>
            <a:spLocks noGrp="1"/>
          </p:cNvSpPr>
          <p:nvPr/>
        </p:nvSpPr>
        <p:spPr>
          <a:xfrm>
            <a:off x="6858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7" name="矩形 6">
            <a:extLst>
              <a:ext uri="{FF2B5EF4-FFF2-40B4-BE49-F238E27FC236}">
                <a16:creationId xmlns:a16="http://schemas.microsoft.com/office/drawing/2014/main" id="{D9000BF1-EABD-4F5B-976E-52894BDC479A}"/>
              </a:ext>
            </a:extLst>
          </p:cNvPr>
          <p:cNvSpPr>
            <a:spLocks noGrp="1"/>
          </p:cNvSpPr>
          <p:nvPr/>
        </p:nvSpPr>
        <p:spPr>
          <a:xfrm>
            <a:off x="685800" y="1333500"/>
            <a:ext cx="5334000" cy="1143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C8E0B82E-3D96-4ECA-9B98-864C98E0D8DB}"/>
              </a:ext>
            </a:extLst>
          </p:cNvPr>
          <p:cNvSpPr>
            <a:spLocks noGrp="1"/>
          </p:cNvSpPr>
          <p:nvPr/>
        </p:nvSpPr>
        <p:spPr>
          <a:xfrm>
            <a:off x="9715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Times New Roman"/>
                <a:ea typeface="Times New Roman"/>
                <a:cs typeface="Times New Roman"/>
              </a:rPr>
              <a:t>Similarity </a:t>
            </a:r>
            <a:r>
              <a:rPr>
                <a:latin typeface="黑体"/>
                <a:ea typeface="黑体"/>
                <a:cs typeface="黑体"/>
              </a:rPr>
              <a:t>相似度</a:t>
            </a:r>
          </a:p>
        </p:txBody>
      </p:sp>
      <p:sp>
        <p:nvSpPr>
          <p:cNvPr id="9" name="矩形 8">
            <a:extLst>
              <a:ext uri="{FF2B5EF4-FFF2-40B4-BE49-F238E27FC236}">
                <a16:creationId xmlns:a16="http://schemas.microsoft.com/office/drawing/2014/main" id="{C61E4504-1626-4123-BC65-C8BA3ED002C2}"/>
              </a:ext>
            </a:extLst>
          </p:cNvPr>
          <p:cNvSpPr>
            <a:spLocks noGrp="1"/>
          </p:cNvSpPr>
          <p:nvPr/>
        </p:nvSpPr>
        <p:spPr>
          <a:xfrm>
            <a:off x="10477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0" name="矩形 9">
            <a:extLst>
              <a:ext uri="{FF2B5EF4-FFF2-40B4-BE49-F238E27FC236}">
                <a16:creationId xmlns:a16="http://schemas.microsoft.com/office/drawing/2014/main" id="{C93AC403-E6D6-48A5-9E71-9F71CE885A6D}"/>
              </a:ext>
            </a:extLst>
          </p:cNvPr>
          <p:cNvSpPr>
            <a:spLocks noGrp="1"/>
          </p:cNvSpPr>
          <p:nvPr/>
        </p:nvSpPr>
        <p:spPr>
          <a:xfrm>
            <a:off x="13906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对象越相似，数值越大</a:t>
            </a:r>
          </a:p>
        </p:txBody>
      </p:sp>
      <p:sp>
        <p:nvSpPr>
          <p:cNvPr id="11" name="矩形 10">
            <a:extLst>
              <a:ext uri="{FF2B5EF4-FFF2-40B4-BE49-F238E27FC236}">
                <a16:creationId xmlns:a16="http://schemas.microsoft.com/office/drawing/2014/main" id="{FD89CB9A-0150-4950-B2AB-D8B2888E3E4B}"/>
              </a:ext>
            </a:extLst>
          </p:cNvPr>
          <p:cNvSpPr>
            <a:spLocks noGrp="1"/>
          </p:cNvSpPr>
          <p:nvPr/>
        </p:nvSpPr>
        <p:spPr>
          <a:xfrm>
            <a:off x="10477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2" name="矩形 11">
            <a:extLst>
              <a:ext uri="{FF2B5EF4-FFF2-40B4-BE49-F238E27FC236}">
                <a16:creationId xmlns:a16="http://schemas.microsoft.com/office/drawing/2014/main" id="{13F00D20-CB11-4427-A731-86851222092D}"/>
              </a:ext>
            </a:extLst>
          </p:cNvPr>
          <p:cNvSpPr>
            <a:spLocks noGrp="1"/>
          </p:cNvSpPr>
          <p:nvPr/>
        </p:nvSpPr>
        <p:spPr>
          <a:xfrm>
            <a:off x="13906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常见范围为 </a:t>
            </a:r>
            <a:r>
              <a:rPr>
                <a:latin typeface="Times New Roman"/>
                <a:ea typeface="Times New Roman"/>
                <a:cs typeface="Times New Roman"/>
              </a:rPr>
              <a:t>0–1</a:t>
            </a:r>
          </a:p>
        </p:txBody>
      </p:sp>
      <p:sp>
        <p:nvSpPr>
          <p:cNvPr id="13" name="矩形 12">
            <a:extLst>
              <a:ext uri="{FF2B5EF4-FFF2-40B4-BE49-F238E27FC236}">
                <a16:creationId xmlns:a16="http://schemas.microsoft.com/office/drawing/2014/main" id="{53EA9312-2793-4671-A082-BC2B769A99BD}"/>
              </a:ext>
            </a:extLst>
          </p:cNvPr>
          <p:cNvSpPr>
            <a:spLocks noGrp="1"/>
          </p:cNvSpPr>
          <p:nvPr/>
        </p:nvSpPr>
        <p:spPr>
          <a:xfrm>
            <a:off x="10477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4" name="矩形 13">
            <a:extLst>
              <a:ext uri="{FF2B5EF4-FFF2-40B4-BE49-F238E27FC236}">
                <a16:creationId xmlns:a16="http://schemas.microsoft.com/office/drawing/2014/main" id="{E8A3D493-E08A-464F-B2FB-28B7601BBD4F}"/>
              </a:ext>
            </a:extLst>
          </p:cNvPr>
          <p:cNvSpPr>
            <a:spLocks noGrp="1"/>
          </p:cNvSpPr>
          <p:nvPr/>
        </p:nvSpPr>
        <p:spPr>
          <a:xfrm>
            <a:off x="13906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完全相同通常取 </a:t>
            </a:r>
            <a:r>
              <a:rPr>
                <a:latin typeface="Times New Roman"/>
                <a:ea typeface="Times New Roman"/>
                <a:cs typeface="Times New Roman"/>
              </a:rPr>
              <a:t>1</a:t>
            </a:r>
          </a:p>
        </p:txBody>
      </p:sp>
      <p:sp>
        <p:nvSpPr>
          <p:cNvPr id="15" name="矩形 14">
            <a:extLst>
              <a:ext uri="{FF2B5EF4-FFF2-40B4-BE49-F238E27FC236}">
                <a16:creationId xmlns:a16="http://schemas.microsoft.com/office/drawing/2014/main" id="{AB37C91C-A72E-4709-ADB5-1C9EF35463A9}"/>
              </a:ext>
            </a:extLst>
          </p:cNvPr>
          <p:cNvSpPr>
            <a:spLocks noGrp="1"/>
          </p:cNvSpPr>
          <p:nvPr/>
        </p:nvSpPr>
        <p:spPr>
          <a:xfrm>
            <a:off x="10477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16" name="矩形 15">
            <a:extLst>
              <a:ext uri="{FF2B5EF4-FFF2-40B4-BE49-F238E27FC236}">
                <a16:creationId xmlns:a16="http://schemas.microsoft.com/office/drawing/2014/main" id="{AB525EBF-3E01-4603-BE61-14E8851A661D}"/>
              </a:ext>
            </a:extLst>
          </p:cNvPr>
          <p:cNvSpPr>
            <a:spLocks noGrp="1"/>
          </p:cNvSpPr>
          <p:nvPr/>
        </p:nvSpPr>
        <p:spPr>
          <a:xfrm>
            <a:off x="13906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例：</a:t>
            </a:r>
            <a:r>
              <a:rPr>
                <a:latin typeface="Times New Roman"/>
                <a:ea typeface="Times New Roman"/>
                <a:cs typeface="Times New Roman"/>
              </a:rPr>
              <a:t>cosine similarity、Jaccard</a:t>
            </a:r>
          </a:p>
        </p:txBody>
      </p:sp>
      <p:sp>
        <p:nvSpPr>
          <p:cNvPr id="17" name="矩形 16">
            <a:extLst>
              <a:ext uri="{FF2B5EF4-FFF2-40B4-BE49-F238E27FC236}">
                <a16:creationId xmlns:a16="http://schemas.microsoft.com/office/drawing/2014/main" id="{8B356F89-71B5-4A6B-A33D-A105FCC2551C}"/>
              </a:ext>
            </a:extLst>
          </p:cNvPr>
          <p:cNvSpPr>
            <a:spLocks noGrp="1"/>
          </p:cNvSpPr>
          <p:nvPr/>
        </p:nvSpPr>
        <p:spPr>
          <a:xfrm>
            <a:off x="6172200" y="1333500"/>
            <a:ext cx="5334000" cy="3905250"/>
          </a:xfrm>
          <a:prstGeom prst="rect">
            <a:avLst/>
          </a:prstGeom>
          <a:solidFill>
            <a:srgbClr val="FFFFFF">
              <a:alpha val="86667"/>
            </a:srgbClr>
          </a:solidFill>
          <a:ln w="9525">
            <a:solidFill>
              <a:srgbClr val="B6C0CC"/>
            </a:solidFill>
            <a:prstDash val="solid"/>
          </a:ln>
        </p:spPr>
        <p:txBody>
          <a:bodyPr/>
          <a:lstStyle/>
          <a:p>
            <a:endParaRPr lang="zh-CN" altLang="en-US"/>
          </a:p>
        </p:txBody>
      </p:sp>
      <p:sp>
        <p:nvSpPr>
          <p:cNvPr id="18" name="矩形 17">
            <a:extLst>
              <a:ext uri="{FF2B5EF4-FFF2-40B4-BE49-F238E27FC236}">
                <a16:creationId xmlns:a16="http://schemas.microsoft.com/office/drawing/2014/main" id="{43E450AE-1376-4EA0-A4E4-C4DCA8116FD5}"/>
              </a:ext>
            </a:extLst>
          </p:cNvPr>
          <p:cNvSpPr>
            <a:spLocks noGrp="1"/>
          </p:cNvSpPr>
          <p:nvPr/>
        </p:nvSpPr>
        <p:spPr>
          <a:xfrm>
            <a:off x="6172200" y="1333500"/>
            <a:ext cx="5334000" cy="1143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0EAAD60C-9CB9-48DF-950D-5AC4C5DA07EA}"/>
              </a:ext>
            </a:extLst>
          </p:cNvPr>
          <p:cNvSpPr>
            <a:spLocks noGrp="1"/>
          </p:cNvSpPr>
          <p:nvPr/>
        </p:nvSpPr>
        <p:spPr>
          <a:xfrm>
            <a:off x="6457950" y="1733550"/>
            <a:ext cx="4762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00204A"/>
                </a:solidFill>
                <a:latin typeface="黑体"/>
                <a:ea typeface="黑体"/>
                <a:cs typeface="黑体"/>
              </a:defRPr>
            </a:pPr>
            <a:r>
              <a:rPr>
                <a:latin typeface="Times New Roman"/>
                <a:ea typeface="Times New Roman"/>
                <a:cs typeface="Times New Roman"/>
              </a:rPr>
              <a:t>Dissimilarity </a:t>
            </a:r>
            <a:r>
              <a:rPr>
                <a:latin typeface="黑体"/>
                <a:ea typeface="黑体"/>
                <a:cs typeface="黑体"/>
              </a:rPr>
              <a:t>相异度</a:t>
            </a:r>
          </a:p>
        </p:txBody>
      </p:sp>
      <p:sp>
        <p:nvSpPr>
          <p:cNvPr id="20" name="矩形 19">
            <a:extLst>
              <a:ext uri="{FF2B5EF4-FFF2-40B4-BE49-F238E27FC236}">
                <a16:creationId xmlns:a16="http://schemas.microsoft.com/office/drawing/2014/main" id="{328662D8-D373-44E3-8075-2990B4F2F099}"/>
              </a:ext>
            </a:extLst>
          </p:cNvPr>
          <p:cNvSpPr>
            <a:spLocks noGrp="1"/>
          </p:cNvSpPr>
          <p:nvPr/>
        </p:nvSpPr>
        <p:spPr>
          <a:xfrm>
            <a:off x="6534150" y="27051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1" name="矩形 20">
            <a:extLst>
              <a:ext uri="{FF2B5EF4-FFF2-40B4-BE49-F238E27FC236}">
                <a16:creationId xmlns:a16="http://schemas.microsoft.com/office/drawing/2014/main" id="{BB98AB70-DAF5-41D8-9743-6F3B4E211149}"/>
              </a:ext>
            </a:extLst>
          </p:cNvPr>
          <p:cNvSpPr>
            <a:spLocks noGrp="1"/>
          </p:cNvSpPr>
          <p:nvPr/>
        </p:nvSpPr>
        <p:spPr>
          <a:xfrm>
            <a:off x="6877050" y="26860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对象越不同，数值越大</a:t>
            </a:r>
          </a:p>
        </p:txBody>
      </p:sp>
      <p:sp>
        <p:nvSpPr>
          <p:cNvPr id="22" name="矩形 21">
            <a:extLst>
              <a:ext uri="{FF2B5EF4-FFF2-40B4-BE49-F238E27FC236}">
                <a16:creationId xmlns:a16="http://schemas.microsoft.com/office/drawing/2014/main" id="{365441E1-3C53-44D5-A191-0644DE93AF5F}"/>
              </a:ext>
            </a:extLst>
          </p:cNvPr>
          <p:cNvSpPr>
            <a:spLocks noGrp="1"/>
          </p:cNvSpPr>
          <p:nvPr/>
        </p:nvSpPr>
        <p:spPr>
          <a:xfrm>
            <a:off x="6534150" y="33337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3" name="矩形 22">
            <a:extLst>
              <a:ext uri="{FF2B5EF4-FFF2-40B4-BE49-F238E27FC236}">
                <a16:creationId xmlns:a16="http://schemas.microsoft.com/office/drawing/2014/main" id="{35EBAC12-7D04-4BDC-A4B9-828F6361E3DD}"/>
              </a:ext>
            </a:extLst>
          </p:cNvPr>
          <p:cNvSpPr>
            <a:spLocks noGrp="1"/>
          </p:cNvSpPr>
          <p:nvPr/>
        </p:nvSpPr>
        <p:spPr>
          <a:xfrm>
            <a:off x="6877050" y="33147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完全相同通常取 </a:t>
            </a:r>
            <a:r>
              <a:rPr>
                <a:latin typeface="Times New Roman"/>
                <a:ea typeface="Times New Roman"/>
                <a:cs typeface="Times New Roman"/>
              </a:rPr>
              <a:t>0</a:t>
            </a:r>
          </a:p>
        </p:txBody>
      </p:sp>
      <p:sp>
        <p:nvSpPr>
          <p:cNvPr id="24" name="矩形 23">
            <a:extLst>
              <a:ext uri="{FF2B5EF4-FFF2-40B4-BE49-F238E27FC236}">
                <a16:creationId xmlns:a16="http://schemas.microsoft.com/office/drawing/2014/main" id="{C8A26C2A-F7E3-4E5B-8DC0-FB8BCEAB84F6}"/>
              </a:ext>
            </a:extLst>
          </p:cNvPr>
          <p:cNvSpPr>
            <a:spLocks noGrp="1"/>
          </p:cNvSpPr>
          <p:nvPr/>
        </p:nvSpPr>
        <p:spPr>
          <a:xfrm>
            <a:off x="6534150" y="396240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5" name="矩形 24">
            <a:extLst>
              <a:ext uri="{FF2B5EF4-FFF2-40B4-BE49-F238E27FC236}">
                <a16:creationId xmlns:a16="http://schemas.microsoft.com/office/drawing/2014/main" id="{6CBDBF7D-98A7-43A7-9C5D-B24926EA7E3C}"/>
              </a:ext>
            </a:extLst>
          </p:cNvPr>
          <p:cNvSpPr>
            <a:spLocks noGrp="1"/>
          </p:cNvSpPr>
          <p:nvPr/>
        </p:nvSpPr>
        <p:spPr>
          <a:xfrm>
            <a:off x="6877050" y="394335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距离是满足额外性质的相异度</a:t>
            </a:r>
          </a:p>
        </p:txBody>
      </p:sp>
      <p:sp>
        <p:nvSpPr>
          <p:cNvPr id="26" name="矩形 25">
            <a:extLst>
              <a:ext uri="{FF2B5EF4-FFF2-40B4-BE49-F238E27FC236}">
                <a16:creationId xmlns:a16="http://schemas.microsoft.com/office/drawing/2014/main" id="{FE93FB28-8188-45DF-ACA5-32ABBE483CCC}"/>
              </a:ext>
            </a:extLst>
          </p:cNvPr>
          <p:cNvSpPr>
            <a:spLocks noGrp="1"/>
          </p:cNvSpPr>
          <p:nvPr/>
        </p:nvSpPr>
        <p:spPr>
          <a:xfrm>
            <a:off x="6534150" y="45910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00204A"/>
                </a:solidFill>
                <a:latin typeface="黑体"/>
                <a:ea typeface="黑体"/>
                <a:cs typeface="黑体"/>
              </a:defRPr>
            </a:pPr>
            <a:r>
              <a:rPr>
                <a:latin typeface="黑体"/>
                <a:ea typeface="黑体"/>
                <a:cs typeface="黑体"/>
              </a:rPr>
              <a:t>•</a:t>
            </a:r>
          </a:p>
        </p:txBody>
      </p:sp>
      <p:sp>
        <p:nvSpPr>
          <p:cNvPr id="27" name="矩形 26">
            <a:extLst>
              <a:ext uri="{FF2B5EF4-FFF2-40B4-BE49-F238E27FC236}">
                <a16:creationId xmlns:a16="http://schemas.microsoft.com/office/drawing/2014/main" id="{21CBB080-72CB-4088-8CAE-38E1D7E1E63D}"/>
              </a:ext>
            </a:extLst>
          </p:cNvPr>
          <p:cNvSpPr>
            <a:spLocks noGrp="1"/>
          </p:cNvSpPr>
          <p:nvPr/>
        </p:nvSpPr>
        <p:spPr>
          <a:xfrm>
            <a:off x="6877050" y="4572000"/>
            <a:ext cx="4114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F2933"/>
                </a:solidFill>
                <a:latin typeface="黑体"/>
                <a:ea typeface="黑体"/>
                <a:cs typeface="黑体"/>
              </a:defRPr>
            </a:pPr>
            <a:r>
              <a:rPr>
                <a:latin typeface="黑体"/>
                <a:ea typeface="黑体"/>
                <a:cs typeface="黑体"/>
              </a:rPr>
              <a:t>例：</a:t>
            </a:r>
            <a:r>
              <a:rPr>
                <a:latin typeface="Times New Roman"/>
                <a:ea typeface="Times New Roman"/>
                <a:cs typeface="Times New Roman"/>
              </a:rPr>
              <a:t>Euclidean、Manhattan</a:t>
            </a:r>
          </a:p>
        </p:txBody>
      </p:sp>
      <p:sp>
        <p:nvSpPr>
          <p:cNvPr id="28" name="矩形 27">
            <a:extLst>
              <a:ext uri="{FF2B5EF4-FFF2-40B4-BE49-F238E27FC236}">
                <a16:creationId xmlns:a16="http://schemas.microsoft.com/office/drawing/2014/main" id="{0C98AD9B-424E-4FAC-B902-52AD54E2349C}"/>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9" name="矩形 28">
            <a:extLst>
              <a:ext uri="{FF2B5EF4-FFF2-40B4-BE49-F238E27FC236}">
                <a16:creationId xmlns:a16="http://schemas.microsoft.com/office/drawing/2014/main" id="{7F3419D9-96E2-4AE3-B589-758FACABB4D7}"/>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比较方法必须说明方向、范围和“相同”时的取值。</a:t>
            </a:r>
          </a:p>
        </p:txBody>
      </p:sp>
    </p:spTree>
    <p:extLst>
      <p:ext uri="{BB962C8B-B14F-4D97-AF65-F5344CB8AC3E}">
        <p14:creationId xmlns:p14="http://schemas.microsoft.com/office/powerpoint/2010/main" val="19718708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B6997E38-10FD-49F5-8677-E289B912E6BF}"/>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483C111-5542-4168-A33B-458E00519296}"/>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16BC7FDB-EC56-4238-B5AA-AA309A46BDC6}"/>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6F5852F6-C98C-4C0D-997F-411FED3DCD79}"/>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距离度量的四个基本性质</a:t>
            </a:r>
          </a:p>
        </p:txBody>
      </p:sp>
      <p:sp>
        <p:nvSpPr>
          <p:cNvPr id="5" name="矩形 4">
            <a:extLst>
              <a:ext uri="{FF2B5EF4-FFF2-40B4-BE49-F238E27FC236}">
                <a16:creationId xmlns:a16="http://schemas.microsoft.com/office/drawing/2014/main" id="{E0197552-0E39-465D-BF48-A170A067C715}"/>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65/90</a:t>
            </a:r>
          </a:p>
        </p:txBody>
      </p:sp>
      <p:sp>
        <p:nvSpPr>
          <p:cNvPr id="6" name="矩形 5">
            <a:extLst>
              <a:ext uri="{FF2B5EF4-FFF2-40B4-BE49-F238E27FC236}">
                <a16:creationId xmlns:a16="http://schemas.microsoft.com/office/drawing/2014/main" id="{5427394B-E10C-49CE-8071-0747CD0F3879}"/>
              </a:ext>
            </a:extLst>
          </p:cNvPr>
          <p:cNvSpPr>
            <a:spLocks noGrp="1"/>
          </p:cNvSpPr>
          <p:nvPr/>
        </p:nvSpPr>
        <p:spPr>
          <a:xfrm>
            <a:off x="819150" y="1162050"/>
            <a:ext cx="10382250" cy="990600"/>
          </a:xfrm>
          <a:prstGeom prst="rect">
            <a:avLst/>
          </a:prstGeom>
          <a:solidFill>
            <a:srgbClr val="F1F6FC"/>
          </a:solidFill>
          <a:ln w="9525">
            <a:solidFill>
              <a:srgbClr val="D3DAE4"/>
            </a:solidFill>
            <a:prstDash val="solid"/>
          </a:ln>
        </p:spPr>
        <p:txBody>
          <a:bodyPr/>
          <a:lstStyle/>
          <a:p>
            <a:endParaRPr lang="zh-CN" altLang="en-US"/>
          </a:p>
        </p:txBody>
      </p:sp>
      <p:sp>
        <p:nvSpPr>
          <p:cNvPr id="7" name="矩形 6">
            <a:extLst>
              <a:ext uri="{FF2B5EF4-FFF2-40B4-BE49-F238E27FC236}">
                <a16:creationId xmlns:a16="http://schemas.microsoft.com/office/drawing/2014/main" id="{40157F4D-2CC4-4395-B9FA-FCE9C1ED04E5}"/>
              </a:ext>
            </a:extLst>
          </p:cNvPr>
          <p:cNvSpPr>
            <a:spLocks noGrp="1"/>
          </p:cNvSpPr>
          <p:nvPr/>
        </p:nvSpPr>
        <p:spPr>
          <a:xfrm>
            <a:off x="819150" y="116205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423B0618-26DD-486E-B751-3BDC70C130F8}"/>
              </a:ext>
            </a:extLst>
          </p:cNvPr>
          <p:cNvSpPr>
            <a:spLocks noGrp="1"/>
          </p:cNvSpPr>
          <p:nvPr/>
        </p:nvSpPr>
        <p:spPr>
          <a:xfrm>
            <a:off x="1104900" y="1504950"/>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01</a:t>
            </a:r>
          </a:p>
        </p:txBody>
      </p:sp>
      <p:sp>
        <p:nvSpPr>
          <p:cNvPr id="9" name="矩形 8">
            <a:extLst>
              <a:ext uri="{FF2B5EF4-FFF2-40B4-BE49-F238E27FC236}">
                <a16:creationId xmlns:a16="http://schemas.microsoft.com/office/drawing/2014/main" id="{E10A252B-F5DF-4049-A1E2-66802AA6CFF8}"/>
              </a:ext>
            </a:extLst>
          </p:cNvPr>
          <p:cNvSpPr>
            <a:spLocks noGrp="1"/>
          </p:cNvSpPr>
          <p:nvPr/>
        </p:nvSpPr>
        <p:spPr>
          <a:xfrm>
            <a:off x="1790700" y="1295400"/>
            <a:ext cx="2381250" cy="76200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非负性</a:t>
            </a:r>
          </a:p>
        </p:txBody>
      </p:sp>
      <p:sp>
        <p:nvSpPr>
          <p:cNvPr id="10" name="矩形 9">
            <a:extLst>
              <a:ext uri="{FF2B5EF4-FFF2-40B4-BE49-F238E27FC236}">
                <a16:creationId xmlns:a16="http://schemas.microsoft.com/office/drawing/2014/main" id="{EFD0023A-9F4D-41A0-B324-3C6781B687B6}"/>
              </a:ext>
            </a:extLst>
          </p:cNvPr>
          <p:cNvSpPr>
            <a:spLocks noGrp="1"/>
          </p:cNvSpPr>
          <p:nvPr/>
        </p:nvSpPr>
        <p:spPr>
          <a:xfrm>
            <a:off x="4305300" y="1295400"/>
            <a:ext cx="6572250" cy="76200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Times New Roman"/>
                <a:ea typeface="Times New Roman"/>
                <a:cs typeface="Times New Roman"/>
              </a:rPr>
              <a:t>d(x, y) ≥ 0</a:t>
            </a:r>
          </a:p>
        </p:txBody>
      </p:sp>
      <p:sp>
        <p:nvSpPr>
          <p:cNvPr id="11" name="矩形 10">
            <a:extLst>
              <a:ext uri="{FF2B5EF4-FFF2-40B4-BE49-F238E27FC236}">
                <a16:creationId xmlns:a16="http://schemas.microsoft.com/office/drawing/2014/main" id="{D59359D3-9885-4547-A74B-F0CBABF2F223}"/>
              </a:ext>
            </a:extLst>
          </p:cNvPr>
          <p:cNvSpPr>
            <a:spLocks noGrp="1"/>
          </p:cNvSpPr>
          <p:nvPr/>
        </p:nvSpPr>
        <p:spPr>
          <a:xfrm>
            <a:off x="819150" y="2247900"/>
            <a:ext cx="10382250" cy="990600"/>
          </a:xfrm>
          <a:prstGeom prst="rect">
            <a:avLst/>
          </a:prstGeom>
          <a:solidFill>
            <a:srgbClr val="FFFFFF"/>
          </a:solidFill>
          <a:ln w="9525">
            <a:solidFill>
              <a:srgbClr val="D3DAE4"/>
            </a:solidFill>
            <a:prstDash val="solid"/>
          </a:ln>
        </p:spPr>
        <p:txBody>
          <a:bodyPr/>
          <a:lstStyle/>
          <a:p>
            <a:endParaRPr lang="zh-CN" altLang="en-US"/>
          </a:p>
        </p:txBody>
      </p:sp>
      <p:sp>
        <p:nvSpPr>
          <p:cNvPr id="12" name="矩形 11">
            <a:extLst>
              <a:ext uri="{FF2B5EF4-FFF2-40B4-BE49-F238E27FC236}">
                <a16:creationId xmlns:a16="http://schemas.microsoft.com/office/drawing/2014/main" id="{AD0120BA-CC24-430C-8A04-B10F8A65C8FD}"/>
              </a:ext>
            </a:extLst>
          </p:cNvPr>
          <p:cNvSpPr>
            <a:spLocks noGrp="1"/>
          </p:cNvSpPr>
          <p:nvPr/>
        </p:nvSpPr>
        <p:spPr>
          <a:xfrm>
            <a:off x="819150" y="2247900"/>
            <a:ext cx="95250" cy="9906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A4704BBF-1BFB-4B81-8B2F-A1C9A67ECACA}"/>
              </a:ext>
            </a:extLst>
          </p:cNvPr>
          <p:cNvSpPr>
            <a:spLocks noGrp="1"/>
          </p:cNvSpPr>
          <p:nvPr/>
        </p:nvSpPr>
        <p:spPr>
          <a:xfrm>
            <a:off x="1104900" y="2590800"/>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02</a:t>
            </a:r>
          </a:p>
        </p:txBody>
      </p:sp>
      <p:sp>
        <p:nvSpPr>
          <p:cNvPr id="14" name="矩形 13">
            <a:extLst>
              <a:ext uri="{FF2B5EF4-FFF2-40B4-BE49-F238E27FC236}">
                <a16:creationId xmlns:a16="http://schemas.microsoft.com/office/drawing/2014/main" id="{4BA17A63-D316-4C84-A598-74CC3BB10101}"/>
              </a:ext>
            </a:extLst>
          </p:cNvPr>
          <p:cNvSpPr>
            <a:spLocks noGrp="1"/>
          </p:cNvSpPr>
          <p:nvPr/>
        </p:nvSpPr>
        <p:spPr>
          <a:xfrm>
            <a:off x="1790700" y="2381250"/>
            <a:ext cx="2381250" cy="76200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同一性</a:t>
            </a:r>
          </a:p>
        </p:txBody>
      </p:sp>
      <p:sp>
        <p:nvSpPr>
          <p:cNvPr id="15" name="矩形 14">
            <a:extLst>
              <a:ext uri="{FF2B5EF4-FFF2-40B4-BE49-F238E27FC236}">
                <a16:creationId xmlns:a16="http://schemas.microsoft.com/office/drawing/2014/main" id="{FAF0A25B-4E79-4F5A-BEDB-CC4B493A1F1F}"/>
              </a:ext>
            </a:extLst>
          </p:cNvPr>
          <p:cNvSpPr>
            <a:spLocks noGrp="1"/>
          </p:cNvSpPr>
          <p:nvPr/>
        </p:nvSpPr>
        <p:spPr>
          <a:xfrm>
            <a:off x="4305300" y="2381250"/>
            <a:ext cx="6572250" cy="76200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Times New Roman"/>
                <a:ea typeface="Times New Roman"/>
                <a:cs typeface="Times New Roman"/>
              </a:rPr>
              <a:t>d(x, y) = 0 </a:t>
            </a:r>
            <a:r>
              <a:rPr>
                <a:latin typeface="黑体"/>
                <a:ea typeface="黑体"/>
                <a:cs typeface="黑体"/>
              </a:rPr>
              <a:t>当且仅当 </a:t>
            </a:r>
            <a:r>
              <a:rPr>
                <a:latin typeface="Times New Roman"/>
                <a:ea typeface="Times New Roman"/>
                <a:cs typeface="Times New Roman"/>
              </a:rPr>
              <a:t>x = y</a:t>
            </a:r>
          </a:p>
        </p:txBody>
      </p:sp>
      <p:sp>
        <p:nvSpPr>
          <p:cNvPr id="16" name="矩形 15">
            <a:extLst>
              <a:ext uri="{FF2B5EF4-FFF2-40B4-BE49-F238E27FC236}">
                <a16:creationId xmlns:a16="http://schemas.microsoft.com/office/drawing/2014/main" id="{BD903762-123F-43CF-A656-970497321E23}"/>
              </a:ext>
            </a:extLst>
          </p:cNvPr>
          <p:cNvSpPr>
            <a:spLocks noGrp="1"/>
          </p:cNvSpPr>
          <p:nvPr/>
        </p:nvSpPr>
        <p:spPr>
          <a:xfrm>
            <a:off x="819150" y="3333750"/>
            <a:ext cx="10382250" cy="990600"/>
          </a:xfrm>
          <a:prstGeom prst="rect">
            <a:avLst/>
          </a:prstGeom>
          <a:solidFill>
            <a:srgbClr val="F1F6FC"/>
          </a:solidFill>
          <a:ln w="9525">
            <a:solidFill>
              <a:srgbClr val="D3DAE4"/>
            </a:solidFill>
            <a:prstDash val="solid"/>
          </a:ln>
        </p:spPr>
        <p:txBody>
          <a:bodyPr/>
          <a:lstStyle/>
          <a:p>
            <a:endParaRPr lang="zh-CN" altLang="en-US"/>
          </a:p>
        </p:txBody>
      </p:sp>
      <p:sp>
        <p:nvSpPr>
          <p:cNvPr id="17" name="矩形 16">
            <a:extLst>
              <a:ext uri="{FF2B5EF4-FFF2-40B4-BE49-F238E27FC236}">
                <a16:creationId xmlns:a16="http://schemas.microsoft.com/office/drawing/2014/main" id="{40D4A237-6C1D-4BBB-A042-2D75AA411BED}"/>
              </a:ext>
            </a:extLst>
          </p:cNvPr>
          <p:cNvSpPr>
            <a:spLocks noGrp="1"/>
          </p:cNvSpPr>
          <p:nvPr/>
        </p:nvSpPr>
        <p:spPr>
          <a:xfrm>
            <a:off x="819150" y="333375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17E4F9EF-0467-49CA-B5F6-69E75CAF7D9A}"/>
              </a:ext>
            </a:extLst>
          </p:cNvPr>
          <p:cNvSpPr>
            <a:spLocks noGrp="1"/>
          </p:cNvSpPr>
          <p:nvPr/>
        </p:nvSpPr>
        <p:spPr>
          <a:xfrm>
            <a:off x="1104900" y="3676650"/>
            <a:ext cx="495300" cy="304800"/>
          </a:xfrm>
          <a:prstGeom prst="rect">
            <a:avLst/>
          </a:prstGeom>
          <a:solidFill>
            <a:srgbClr val="F1F6FC"/>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03</a:t>
            </a:r>
          </a:p>
        </p:txBody>
      </p:sp>
      <p:sp>
        <p:nvSpPr>
          <p:cNvPr id="19" name="矩形 18">
            <a:extLst>
              <a:ext uri="{FF2B5EF4-FFF2-40B4-BE49-F238E27FC236}">
                <a16:creationId xmlns:a16="http://schemas.microsoft.com/office/drawing/2014/main" id="{CB2680DD-D6BC-49BA-9BA9-48F5DC7366CF}"/>
              </a:ext>
            </a:extLst>
          </p:cNvPr>
          <p:cNvSpPr>
            <a:spLocks noGrp="1"/>
          </p:cNvSpPr>
          <p:nvPr/>
        </p:nvSpPr>
        <p:spPr>
          <a:xfrm>
            <a:off x="1790700" y="3467100"/>
            <a:ext cx="2381250" cy="762000"/>
          </a:xfrm>
          <a:prstGeom prst="rect">
            <a:avLst/>
          </a:prstGeom>
          <a:solidFill>
            <a:srgbClr val="F1F6FC"/>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对称性</a:t>
            </a:r>
          </a:p>
        </p:txBody>
      </p:sp>
      <p:sp>
        <p:nvSpPr>
          <p:cNvPr id="20" name="矩形 19">
            <a:extLst>
              <a:ext uri="{FF2B5EF4-FFF2-40B4-BE49-F238E27FC236}">
                <a16:creationId xmlns:a16="http://schemas.microsoft.com/office/drawing/2014/main" id="{E56B3D58-2BA6-4C31-84C5-9DCD1B5491B7}"/>
              </a:ext>
            </a:extLst>
          </p:cNvPr>
          <p:cNvSpPr>
            <a:spLocks noGrp="1"/>
          </p:cNvSpPr>
          <p:nvPr/>
        </p:nvSpPr>
        <p:spPr>
          <a:xfrm>
            <a:off x="4305300" y="3467100"/>
            <a:ext cx="6572250" cy="762000"/>
          </a:xfrm>
          <a:prstGeom prst="rect">
            <a:avLst/>
          </a:prstGeom>
          <a:solidFill>
            <a:srgbClr val="F1F6FC"/>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Times New Roman"/>
                <a:ea typeface="Times New Roman"/>
                <a:cs typeface="Times New Roman"/>
              </a:rPr>
              <a:t>d(x, y) = d(y, x)</a:t>
            </a:r>
          </a:p>
        </p:txBody>
      </p:sp>
      <p:sp>
        <p:nvSpPr>
          <p:cNvPr id="21" name="矩形 20">
            <a:extLst>
              <a:ext uri="{FF2B5EF4-FFF2-40B4-BE49-F238E27FC236}">
                <a16:creationId xmlns:a16="http://schemas.microsoft.com/office/drawing/2014/main" id="{4218C599-EBC2-4BCA-B2AB-78F4E2A45D8A}"/>
              </a:ext>
            </a:extLst>
          </p:cNvPr>
          <p:cNvSpPr>
            <a:spLocks noGrp="1"/>
          </p:cNvSpPr>
          <p:nvPr/>
        </p:nvSpPr>
        <p:spPr>
          <a:xfrm>
            <a:off x="819150" y="4419600"/>
            <a:ext cx="10382250" cy="990600"/>
          </a:xfrm>
          <a:prstGeom prst="rect">
            <a:avLst/>
          </a:prstGeom>
          <a:solidFill>
            <a:srgbClr val="FFFFFF"/>
          </a:solidFill>
          <a:ln w="9525">
            <a:solidFill>
              <a:srgbClr val="D3DAE4"/>
            </a:solidFill>
            <a:prstDash val="solid"/>
          </a:ln>
        </p:spPr>
        <p:txBody>
          <a:bodyPr/>
          <a:lstStyle/>
          <a:p>
            <a:endParaRPr lang="zh-CN" altLang="en-US"/>
          </a:p>
        </p:txBody>
      </p:sp>
      <p:sp>
        <p:nvSpPr>
          <p:cNvPr id="22" name="矩形 21">
            <a:extLst>
              <a:ext uri="{FF2B5EF4-FFF2-40B4-BE49-F238E27FC236}">
                <a16:creationId xmlns:a16="http://schemas.microsoft.com/office/drawing/2014/main" id="{5AF86CC3-4DDA-408A-A663-AC957FAD08E7}"/>
              </a:ext>
            </a:extLst>
          </p:cNvPr>
          <p:cNvSpPr>
            <a:spLocks noGrp="1"/>
          </p:cNvSpPr>
          <p:nvPr/>
        </p:nvSpPr>
        <p:spPr>
          <a:xfrm>
            <a:off x="819150" y="4419600"/>
            <a:ext cx="95250" cy="990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C9493CD3-E8B9-4E22-B921-CF97AFC76DCC}"/>
              </a:ext>
            </a:extLst>
          </p:cNvPr>
          <p:cNvSpPr>
            <a:spLocks noGrp="1"/>
          </p:cNvSpPr>
          <p:nvPr/>
        </p:nvSpPr>
        <p:spPr>
          <a:xfrm>
            <a:off x="1104900" y="4762500"/>
            <a:ext cx="495300" cy="304800"/>
          </a:xfrm>
          <a:prstGeom prst="rect">
            <a:avLst/>
          </a:prstGeom>
          <a:solidFill>
            <a:srgbClr val="FFFFFF"/>
          </a:solidFill>
          <a:ln w="0">
            <a:solidFill>
              <a:srgbClr val="000000">
                <a:alpha val="0"/>
              </a:srgbClr>
            </a:solidFill>
            <a:prstDash val="solid"/>
          </a:ln>
        </p:spPr>
        <p:txBody>
          <a:bodyPr lIns="0" tIns="0" rIns="0" bIns="0" anchor="t"/>
          <a:lstStyle/>
          <a:p>
            <a:pPr algn="ctr">
              <a:defRPr sz="1500" b="1">
                <a:solidFill>
                  <a:srgbClr val="B4964B"/>
                </a:solidFill>
                <a:latin typeface="黑体"/>
                <a:ea typeface="黑体"/>
                <a:cs typeface="黑体"/>
              </a:defRPr>
            </a:pPr>
            <a:r>
              <a:rPr>
                <a:latin typeface="Times New Roman"/>
                <a:ea typeface="Times New Roman"/>
                <a:cs typeface="Times New Roman"/>
              </a:rPr>
              <a:t>04</a:t>
            </a:r>
          </a:p>
        </p:txBody>
      </p:sp>
      <p:sp>
        <p:nvSpPr>
          <p:cNvPr id="24" name="矩形 23">
            <a:extLst>
              <a:ext uri="{FF2B5EF4-FFF2-40B4-BE49-F238E27FC236}">
                <a16:creationId xmlns:a16="http://schemas.microsoft.com/office/drawing/2014/main" id="{59EBBB50-1EDE-4564-B394-6479045C7E2E}"/>
              </a:ext>
            </a:extLst>
          </p:cNvPr>
          <p:cNvSpPr>
            <a:spLocks noGrp="1"/>
          </p:cNvSpPr>
          <p:nvPr/>
        </p:nvSpPr>
        <p:spPr>
          <a:xfrm>
            <a:off x="1790700" y="4552950"/>
            <a:ext cx="2381250" cy="762000"/>
          </a:xfrm>
          <a:prstGeom prst="rect">
            <a:avLst/>
          </a:prstGeom>
          <a:solidFill>
            <a:srgbClr val="FFFFFF"/>
          </a:solidFill>
          <a:ln w="0">
            <a:solidFill>
              <a:srgbClr val="000000">
                <a:alpha val="0"/>
              </a:srgbClr>
            </a:solidFill>
            <a:prstDash val="solid"/>
          </a:ln>
        </p:spPr>
        <p:txBody>
          <a:bodyPr lIns="0" tIns="0" rIns="0" bIns="0" anchor="ctr"/>
          <a:lstStyle/>
          <a:p>
            <a:pPr algn="l">
              <a:defRPr sz="1575" b="1">
                <a:solidFill>
                  <a:srgbClr val="00204A"/>
                </a:solidFill>
                <a:latin typeface="黑体"/>
                <a:ea typeface="黑体"/>
                <a:cs typeface="黑体"/>
              </a:defRPr>
            </a:pPr>
            <a:r>
              <a:rPr>
                <a:latin typeface="黑体"/>
                <a:ea typeface="黑体"/>
                <a:cs typeface="黑体"/>
              </a:rPr>
              <a:t>三角不等式</a:t>
            </a:r>
          </a:p>
        </p:txBody>
      </p:sp>
      <p:sp>
        <p:nvSpPr>
          <p:cNvPr id="25" name="矩形 24">
            <a:extLst>
              <a:ext uri="{FF2B5EF4-FFF2-40B4-BE49-F238E27FC236}">
                <a16:creationId xmlns:a16="http://schemas.microsoft.com/office/drawing/2014/main" id="{49767212-A60B-4B01-A2B8-A3F20D46127E}"/>
              </a:ext>
            </a:extLst>
          </p:cNvPr>
          <p:cNvSpPr>
            <a:spLocks noGrp="1"/>
          </p:cNvSpPr>
          <p:nvPr/>
        </p:nvSpPr>
        <p:spPr>
          <a:xfrm>
            <a:off x="4305300" y="4552950"/>
            <a:ext cx="6572250" cy="762000"/>
          </a:xfrm>
          <a:prstGeom prst="rect">
            <a:avLst/>
          </a:prstGeom>
          <a:solidFill>
            <a:srgbClr val="FFFFFF"/>
          </a:solidFill>
          <a:ln w="0">
            <a:solidFill>
              <a:srgbClr val="000000">
                <a:alpha val="0"/>
              </a:srgbClr>
            </a:solidFill>
            <a:prstDash val="solid"/>
          </a:ln>
        </p:spPr>
        <p:txBody>
          <a:bodyPr lIns="0" tIns="0" rIns="0" bIns="0" anchor="ctr"/>
          <a:lstStyle/>
          <a:p>
            <a:pPr algn="l">
              <a:defRPr sz="1275" b="0">
                <a:solidFill>
                  <a:srgbClr val="1F2933"/>
                </a:solidFill>
                <a:latin typeface="黑体"/>
                <a:ea typeface="黑体"/>
                <a:cs typeface="黑体"/>
              </a:defRPr>
            </a:pPr>
            <a:r>
              <a:rPr>
                <a:latin typeface="Times New Roman"/>
                <a:ea typeface="Times New Roman"/>
                <a:cs typeface="Times New Roman"/>
              </a:rPr>
              <a:t>d(x, z) ≤ d(x, y) + d(y, z)</a:t>
            </a:r>
          </a:p>
        </p:txBody>
      </p:sp>
      <p:sp>
        <p:nvSpPr>
          <p:cNvPr id="26" name="矩形 25">
            <a:extLst>
              <a:ext uri="{FF2B5EF4-FFF2-40B4-BE49-F238E27FC236}">
                <a16:creationId xmlns:a16="http://schemas.microsoft.com/office/drawing/2014/main" id="{D52C9A4F-5CEC-411D-8C42-46FDBB30DD5C}"/>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7" name="矩形 26">
            <a:extLst>
              <a:ext uri="{FF2B5EF4-FFF2-40B4-BE49-F238E27FC236}">
                <a16:creationId xmlns:a16="http://schemas.microsoft.com/office/drawing/2014/main" id="{E5134499-AD6F-4E91-84C8-D99A337E291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满足四个性质的相异度才是严格意义上的 </a:t>
            </a:r>
            <a:r>
              <a:rPr>
                <a:latin typeface="Times New Roman"/>
                <a:ea typeface="Times New Roman"/>
                <a:cs typeface="Times New Roman"/>
              </a:rPr>
              <a:t>metric。</a:t>
            </a:r>
          </a:p>
        </p:txBody>
      </p:sp>
    </p:spTree>
    <p:extLst>
      <p:ext uri="{BB962C8B-B14F-4D97-AF65-F5344CB8AC3E}">
        <p14:creationId xmlns:p14="http://schemas.microsoft.com/office/powerpoint/2010/main" val="19081811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2C170EEB-718D-4050-B428-BCB3530FD8A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0BA15798-5E78-497E-8B5D-E85A07F3C8F4}"/>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0E2DBAA-2EFB-476E-B362-3B447F2C2697}"/>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86A807C5-A3E5-4D24-ACB6-CFBA6E4E8D2F}"/>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简单属性的相似度</a:t>
            </a:r>
          </a:p>
        </p:txBody>
      </p:sp>
      <p:sp>
        <p:nvSpPr>
          <p:cNvPr id="5" name="矩形 4">
            <a:extLst>
              <a:ext uri="{FF2B5EF4-FFF2-40B4-BE49-F238E27FC236}">
                <a16:creationId xmlns:a16="http://schemas.microsoft.com/office/drawing/2014/main" id="{0D02BBBA-A78B-4F60-9E49-6232AB4172D4}"/>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66/90</a:t>
            </a:r>
          </a:p>
        </p:txBody>
      </p:sp>
      <p:sp>
        <p:nvSpPr>
          <p:cNvPr id="6" name="矩形 5">
            <a:extLst>
              <a:ext uri="{FF2B5EF4-FFF2-40B4-BE49-F238E27FC236}">
                <a16:creationId xmlns:a16="http://schemas.microsoft.com/office/drawing/2014/main" id="{EA5ECAF7-4D6E-417E-A9F1-B99F555A6A7E}"/>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6808AF52-3CA7-406C-AB69-E5606C53B692}"/>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属性类型</a:t>
            </a:r>
          </a:p>
        </p:txBody>
      </p:sp>
      <p:sp>
        <p:nvSpPr>
          <p:cNvPr id="8" name="矩形 7">
            <a:extLst>
              <a:ext uri="{FF2B5EF4-FFF2-40B4-BE49-F238E27FC236}">
                <a16:creationId xmlns:a16="http://schemas.microsoft.com/office/drawing/2014/main" id="{1D24020B-EFD9-4A5F-8278-EA5BF6DEA3FD}"/>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BEA4EC05-D8FB-4665-B5D1-FEA0C616F29C}"/>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比较方式</a:t>
            </a:r>
          </a:p>
        </p:txBody>
      </p:sp>
      <p:sp>
        <p:nvSpPr>
          <p:cNvPr id="10" name="矩形 9">
            <a:extLst>
              <a:ext uri="{FF2B5EF4-FFF2-40B4-BE49-F238E27FC236}">
                <a16:creationId xmlns:a16="http://schemas.microsoft.com/office/drawing/2014/main" id="{3871F55B-EFC5-4679-8B94-3A3688AAAB5E}"/>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8D893617-35D8-45EF-8C65-15BD93EA7E6A}"/>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示例</a:t>
            </a:r>
          </a:p>
        </p:txBody>
      </p:sp>
      <p:sp>
        <p:nvSpPr>
          <p:cNvPr id="12" name="矩形 11">
            <a:extLst>
              <a:ext uri="{FF2B5EF4-FFF2-40B4-BE49-F238E27FC236}">
                <a16:creationId xmlns:a16="http://schemas.microsoft.com/office/drawing/2014/main" id="{93DD5611-397D-43FD-B87A-78486266CE8C}"/>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39779193-4000-4CF4-946D-8EA962B19BF0}"/>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标称</a:t>
            </a:r>
          </a:p>
        </p:txBody>
      </p:sp>
      <p:sp>
        <p:nvSpPr>
          <p:cNvPr id="14" name="矩形 13">
            <a:extLst>
              <a:ext uri="{FF2B5EF4-FFF2-40B4-BE49-F238E27FC236}">
                <a16:creationId xmlns:a16="http://schemas.microsoft.com/office/drawing/2014/main" id="{B9BE7E89-DBBB-4095-86E7-9B341294C7DB}"/>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93FE05FA-AF77-4BB6-8FD3-89D042AF9BB7}"/>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相同为 </a:t>
            </a:r>
            <a:r>
              <a:rPr>
                <a:latin typeface="Times New Roman"/>
                <a:ea typeface="Times New Roman"/>
                <a:cs typeface="Times New Roman"/>
              </a:rPr>
              <a:t>1，</a:t>
            </a:r>
            <a:r>
              <a:rPr>
                <a:latin typeface="黑体"/>
                <a:ea typeface="黑体"/>
                <a:cs typeface="黑体"/>
              </a:rPr>
              <a:t>不同为 </a:t>
            </a:r>
            <a:r>
              <a:rPr>
                <a:latin typeface="Times New Roman"/>
                <a:ea typeface="Times New Roman"/>
                <a:cs typeface="Times New Roman"/>
              </a:rPr>
              <a:t>0</a:t>
            </a:r>
          </a:p>
        </p:txBody>
      </p:sp>
      <p:sp>
        <p:nvSpPr>
          <p:cNvPr id="16" name="矩形 15">
            <a:extLst>
              <a:ext uri="{FF2B5EF4-FFF2-40B4-BE49-F238E27FC236}">
                <a16:creationId xmlns:a16="http://schemas.microsoft.com/office/drawing/2014/main" id="{872ADDCB-585B-44CC-812D-DF1C3040DE62}"/>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093CCEE5-9BDC-487C-A1CF-5B6AA2F66B3E}"/>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program </a:t>
            </a:r>
            <a:r>
              <a:rPr>
                <a:latin typeface="黑体"/>
                <a:ea typeface="黑体"/>
                <a:cs typeface="黑体"/>
              </a:rPr>
              <a:t>是否相同</a:t>
            </a:r>
          </a:p>
        </p:txBody>
      </p:sp>
      <p:sp>
        <p:nvSpPr>
          <p:cNvPr id="18" name="矩形 17">
            <a:extLst>
              <a:ext uri="{FF2B5EF4-FFF2-40B4-BE49-F238E27FC236}">
                <a16:creationId xmlns:a16="http://schemas.microsoft.com/office/drawing/2014/main" id="{8E7A9BE5-94AF-4DD2-9972-0BC48888ADC8}"/>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6109D81C-51B0-4277-8A88-E1E88868FD60}"/>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有序</a:t>
            </a:r>
          </a:p>
        </p:txBody>
      </p:sp>
      <p:sp>
        <p:nvSpPr>
          <p:cNvPr id="20" name="矩形 19">
            <a:extLst>
              <a:ext uri="{FF2B5EF4-FFF2-40B4-BE49-F238E27FC236}">
                <a16:creationId xmlns:a16="http://schemas.microsoft.com/office/drawing/2014/main" id="{E3F243B9-759D-4AC2-B0C7-D1BB9DAE3CC3}"/>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AECD07F1-85CC-4044-A8F1-D9061740084F}"/>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先转为秩，再按秩差比较</a:t>
            </a:r>
          </a:p>
        </p:txBody>
      </p:sp>
      <p:sp>
        <p:nvSpPr>
          <p:cNvPr id="22" name="矩形 21">
            <a:extLst>
              <a:ext uri="{FF2B5EF4-FFF2-40B4-BE49-F238E27FC236}">
                <a16:creationId xmlns:a16="http://schemas.microsoft.com/office/drawing/2014/main" id="{FE1160C3-20F9-4389-93BC-C43244616A9B}"/>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7A5B6559-C039-47CF-87D5-D76AB2D3A4B1}"/>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engagement_level：</a:t>
            </a:r>
            <a:r>
              <a:rPr>
                <a:latin typeface="黑体"/>
                <a:ea typeface="黑体"/>
                <a:cs typeface="黑体"/>
              </a:rPr>
              <a:t>低 </a:t>
            </a:r>
            <a:r>
              <a:rPr>
                <a:latin typeface="Times New Roman"/>
                <a:ea typeface="Times New Roman"/>
                <a:cs typeface="Times New Roman"/>
              </a:rPr>
              <a:t>/ </a:t>
            </a:r>
            <a:r>
              <a:rPr>
                <a:latin typeface="黑体"/>
                <a:ea typeface="黑体"/>
                <a:cs typeface="黑体"/>
              </a:rPr>
              <a:t>中 </a:t>
            </a:r>
            <a:r>
              <a:rPr>
                <a:latin typeface="Times New Roman"/>
                <a:ea typeface="Times New Roman"/>
                <a:cs typeface="Times New Roman"/>
              </a:rPr>
              <a:t>/ </a:t>
            </a:r>
            <a:r>
              <a:rPr>
                <a:latin typeface="黑体"/>
                <a:ea typeface="黑体"/>
                <a:cs typeface="黑体"/>
              </a:rPr>
              <a:t>高</a:t>
            </a:r>
          </a:p>
        </p:txBody>
      </p:sp>
      <p:sp>
        <p:nvSpPr>
          <p:cNvPr id="24" name="矩形 23">
            <a:extLst>
              <a:ext uri="{FF2B5EF4-FFF2-40B4-BE49-F238E27FC236}">
                <a16:creationId xmlns:a16="http://schemas.microsoft.com/office/drawing/2014/main" id="{EB9CA468-8FEE-4BBF-86DE-C049B09673FD}"/>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AF273901-AB81-4F3D-8665-C7DC35B313A9}"/>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区间 </a:t>
            </a:r>
            <a:r>
              <a:rPr>
                <a:latin typeface="Times New Roman"/>
                <a:ea typeface="Times New Roman"/>
                <a:cs typeface="Times New Roman"/>
              </a:rPr>
              <a:t>/ </a:t>
            </a:r>
            <a:r>
              <a:rPr>
                <a:latin typeface="黑体"/>
                <a:ea typeface="黑体"/>
                <a:cs typeface="黑体"/>
              </a:rPr>
              <a:t>比率</a:t>
            </a:r>
          </a:p>
        </p:txBody>
      </p:sp>
      <p:sp>
        <p:nvSpPr>
          <p:cNvPr id="26" name="矩形 25">
            <a:extLst>
              <a:ext uri="{FF2B5EF4-FFF2-40B4-BE49-F238E27FC236}">
                <a16:creationId xmlns:a16="http://schemas.microsoft.com/office/drawing/2014/main" id="{F782B62F-B356-44B5-8765-C05EE88DCE47}"/>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8D9A2E76-B27D-4A89-8AC5-246260848210}"/>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绝对差或标准化差</a:t>
            </a:r>
          </a:p>
        </p:txBody>
      </p:sp>
      <p:sp>
        <p:nvSpPr>
          <p:cNvPr id="28" name="矩形 27">
            <a:extLst>
              <a:ext uri="{FF2B5EF4-FFF2-40B4-BE49-F238E27FC236}">
                <a16:creationId xmlns:a16="http://schemas.microsoft.com/office/drawing/2014/main" id="{B0B59E3A-5FCB-4FDD-BB4D-C37A3FFFF295}"/>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538F6A63-DB66-4B5C-AD75-2AEAA7392A64}"/>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quiz_score、video_rate</a:t>
            </a:r>
          </a:p>
        </p:txBody>
      </p:sp>
      <p:sp>
        <p:nvSpPr>
          <p:cNvPr id="30" name="矩形 29">
            <a:extLst>
              <a:ext uri="{FF2B5EF4-FFF2-40B4-BE49-F238E27FC236}">
                <a16:creationId xmlns:a16="http://schemas.microsoft.com/office/drawing/2014/main" id="{70D113B4-0F9E-4FB2-AFF0-620365532540}"/>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E60AA137-419E-4D63-B0F6-3C9C5C6734D5}"/>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对称二元</a:t>
            </a:r>
          </a:p>
        </p:txBody>
      </p:sp>
      <p:sp>
        <p:nvSpPr>
          <p:cNvPr id="32" name="矩形 31">
            <a:extLst>
              <a:ext uri="{FF2B5EF4-FFF2-40B4-BE49-F238E27FC236}">
                <a16:creationId xmlns:a16="http://schemas.microsoft.com/office/drawing/2014/main" id="{41BA438F-FAD2-4DAC-92DC-C5DE9C59AE35}"/>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63708118-BD34-41F0-8E95-26F2E2B7E7B8}"/>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同时为 </a:t>
            </a:r>
            <a:r>
              <a:rPr>
                <a:latin typeface="Times New Roman"/>
                <a:ea typeface="Times New Roman"/>
                <a:cs typeface="Times New Roman"/>
              </a:rPr>
              <a:t>0 </a:t>
            </a:r>
            <a:r>
              <a:rPr>
                <a:latin typeface="黑体"/>
                <a:ea typeface="黑体"/>
                <a:cs typeface="黑体"/>
              </a:rPr>
              <a:t>和同时为 </a:t>
            </a:r>
            <a:r>
              <a:rPr>
                <a:latin typeface="Times New Roman"/>
                <a:ea typeface="Times New Roman"/>
                <a:cs typeface="Times New Roman"/>
              </a:rPr>
              <a:t>1 </a:t>
            </a:r>
            <a:r>
              <a:rPr>
                <a:latin typeface="黑体"/>
                <a:ea typeface="黑体"/>
                <a:cs typeface="黑体"/>
              </a:rPr>
              <a:t>都重要</a:t>
            </a:r>
          </a:p>
        </p:txBody>
      </p:sp>
      <p:sp>
        <p:nvSpPr>
          <p:cNvPr id="34" name="矩形 33">
            <a:extLst>
              <a:ext uri="{FF2B5EF4-FFF2-40B4-BE49-F238E27FC236}">
                <a16:creationId xmlns:a16="http://schemas.microsoft.com/office/drawing/2014/main" id="{7940E72A-1BF6-4999-8381-FE96795B07FB}"/>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A35D1E48-B194-45E5-8900-9B8FFAA5AF9B}"/>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是否住校</a:t>
            </a:r>
          </a:p>
        </p:txBody>
      </p:sp>
      <p:sp>
        <p:nvSpPr>
          <p:cNvPr id="36" name="矩形 35">
            <a:extLst>
              <a:ext uri="{FF2B5EF4-FFF2-40B4-BE49-F238E27FC236}">
                <a16:creationId xmlns:a16="http://schemas.microsoft.com/office/drawing/2014/main" id="{1FA32139-80A1-4404-96DC-262EFFD4AB96}"/>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0F847B30-30D1-48E4-A262-22AA33C6AE63}"/>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非对称二元</a:t>
            </a:r>
          </a:p>
        </p:txBody>
      </p:sp>
      <p:sp>
        <p:nvSpPr>
          <p:cNvPr id="38" name="矩形 37">
            <a:extLst>
              <a:ext uri="{FF2B5EF4-FFF2-40B4-BE49-F238E27FC236}">
                <a16:creationId xmlns:a16="http://schemas.microsoft.com/office/drawing/2014/main" id="{AD7CF0F0-D8D4-4B7F-AE9A-4AD9DFA9BE59}"/>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974CC1F5-312E-4612-9FDC-86A2566CD844}"/>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共同缺席通常不算相似</a:t>
            </a:r>
          </a:p>
        </p:txBody>
      </p:sp>
      <p:sp>
        <p:nvSpPr>
          <p:cNvPr id="40" name="矩形 39">
            <a:extLst>
              <a:ext uri="{FF2B5EF4-FFF2-40B4-BE49-F238E27FC236}">
                <a16:creationId xmlns:a16="http://schemas.microsoft.com/office/drawing/2014/main" id="{B6106B5A-1C05-485E-A08F-8D6F87A3E8DE}"/>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4997885D-634C-4BDD-A4EA-59F963821B2B}"/>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是否退课、是否患病</a:t>
            </a:r>
          </a:p>
        </p:txBody>
      </p:sp>
      <p:sp>
        <p:nvSpPr>
          <p:cNvPr id="42" name="矩形 41">
            <a:extLst>
              <a:ext uri="{FF2B5EF4-FFF2-40B4-BE49-F238E27FC236}">
                <a16:creationId xmlns:a16="http://schemas.microsoft.com/office/drawing/2014/main" id="{CC2EA2A3-9F93-4171-B97F-B9BD4FA786EE}"/>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742222DF-C14F-4DE4-8C3E-992AEE13E60C}"/>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数据类型决定怎样比较，不能对所有列统一套欧氏距离。</a:t>
            </a:r>
          </a:p>
        </p:txBody>
      </p:sp>
    </p:spTree>
    <p:extLst>
      <p:ext uri="{BB962C8B-B14F-4D97-AF65-F5344CB8AC3E}">
        <p14:creationId xmlns:p14="http://schemas.microsoft.com/office/powerpoint/2010/main" val="20886207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a:extLst>
              <a:ext uri="{FF2B5EF4-FFF2-40B4-BE49-F238E27FC236}">
                <a16:creationId xmlns:a16="http://schemas.microsoft.com/office/drawing/2014/main" id="{19C7016C-A586-40A3-8674-8C5138C37F3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6012B52A-AB90-4F4F-B3AA-A7EFD9E35ABA}"/>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31F37415-93BF-4B90-B3AA-197F88005EB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4C300900-406A-4E0A-974A-8C6CC82D6C42}"/>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Euclidean distance</a:t>
            </a:r>
          </a:p>
        </p:txBody>
      </p:sp>
      <p:sp>
        <p:nvSpPr>
          <p:cNvPr id="5" name="矩形 4">
            <a:extLst>
              <a:ext uri="{FF2B5EF4-FFF2-40B4-BE49-F238E27FC236}">
                <a16:creationId xmlns:a16="http://schemas.microsoft.com/office/drawing/2014/main" id="{EAA14243-AC3E-4C29-8143-36EC02772C88}"/>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67/90</a:t>
            </a:r>
          </a:p>
        </p:txBody>
      </p:sp>
      <p:sp>
        <p:nvSpPr>
          <p:cNvPr id="6" name="矩形 5">
            <a:extLst>
              <a:ext uri="{FF2B5EF4-FFF2-40B4-BE49-F238E27FC236}">
                <a16:creationId xmlns:a16="http://schemas.microsoft.com/office/drawing/2014/main" id="{83C23E09-69F1-431C-BE9D-3457A12CBFD4}"/>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0BCF1F25-DCF9-4C4E-9C6C-EC225DFDA76F}"/>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d(x, y) = √[Σᵢ (xᵢ − yᵢ)²]</a:t>
            </a:r>
          </a:p>
        </p:txBody>
      </p:sp>
      <p:sp>
        <p:nvSpPr>
          <p:cNvPr id="8" name="矩形 7">
            <a:extLst>
              <a:ext uri="{FF2B5EF4-FFF2-40B4-BE49-F238E27FC236}">
                <a16:creationId xmlns:a16="http://schemas.microsoft.com/office/drawing/2014/main" id="{CEB22F92-9FB5-467D-AC64-110D15C3066F}"/>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19B02CD1-6F87-4020-A137-7C12ABBF044D}"/>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计算每个维度的差</a:t>
            </a:r>
          </a:p>
        </p:txBody>
      </p:sp>
      <p:sp>
        <p:nvSpPr>
          <p:cNvPr id="10" name="矩形 9">
            <a:extLst>
              <a:ext uri="{FF2B5EF4-FFF2-40B4-BE49-F238E27FC236}">
                <a16:creationId xmlns:a16="http://schemas.microsoft.com/office/drawing/2014/main" id="{B9A42F04-6903-442A-9E51-30BC92001DB5}"/>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EF28BA17-AF6E-4ADC-B3A7-CE9BA8F089C6}"/>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将差值平方后求和</a:t>
            </a:r>
          </a:p>
        </p:txBody>
      </p:sp>
      <p:sp>
        <p:nvSpPr>
          <p:cNvPr id="12" name="矩形 11">
            <a:extLst>
              <a:ext uri="{FF2B5EF4-FFF2-40B4-BE49-F238E27FC236}">
                <a16:creationId xmlns:a16="http://schemas.microsoft.com/office/drawing/2014/main" id="{71217BA9-89D4-4131-A6C4-27527B9121AA}"/>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EFE1F723-4409-46AB-B133-E15D9BEA5BE9}"/>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最后开平方</a:t>
            </a:r>
          </a:p>
        </p:txBody>
      </p:sp>
      <p:sp>
        <p:nvSpPr>
          <p:cNvPr id="14" name="矩形 13">
            <a:extLst>
              <a:ext uri="{FF2B5EF4-FFF2-40B4-BE49-F238E27FC236}">
                <a16:creationId xmlns:a16="http://schemas.microsoft.com/office/drawing/2014/main" id="{4CEECE7C-FFEC-4DB6-ACA4-E9714AC659F3}"/>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787480E0-AECE-4458-B224-DCB7E68F3D4C}"/>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适合连续数值且各维度尺度可比较的情况</a:t>
            </a:r>
          </a:p>
        </p:txBody>
      </p:sp>
      <p:sp>
        <p:nvSpPr>
          <p:cNvPr id="16" name="矩形 15">
            <a:extLst>
              <a:ext uri="{FF2B5EF4-FFF2-40B4-BE49-F238E27FC236}">
                <a16:creationId xmlns:a16="http://schemas.microsoft.com/office/drawing/2014/main" id="{4B8C1C87-17E9-479D-B477-EAD0AD634CB9}"/>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62EDDF3C-74D7-4BE2-8270-BF4A480EACBA}"/>
              </a:ext>
            </a:extLst>
          </p:cNvPr>
          <p:cNvSpPr>
            <a:spLocks noGrp="1"/>
          </p:cNvSpPr>
          <p:nvPr/>
        </p:nvSpPr>
        <p:spPr>
          <a:xfrm>
            <a:off x="6305550" y="1485900"/>
            <a:ext cx="4724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直线连接两点</a:t>
            </a:r>
          </a:p>
        </p:txBody>
      </p:sp>
      <p:sp>
        <p:nvSpPr>
          <p:cNvPr id="18" name="矩形 17">
            <a:extLst>
              <a:ext uri="{FF2B5EF4-FFF2-40B4-BE49-F238E27FC236}">
                <a16:creationId xmlns:a16="http://schemas.microsoft.com/office/drawing/2014/main" id="{FED0F0E9-D50E-44C9-93E3-8CBF7805C94A}"/>
              </a:ext>
            </a:extLst>
          </p:cNvPr>
          <p:cNvSpPr>
            <a:spLocks noGrp="1"/>
          </p:cNvSpPr>
          <p:nvPr/>
        </p:nvSpPr>
        <p:spPr>
          <a:xfrm>
            <a:off x="6629400" y="4400550"/>
            <a:ext cx="4095750" cy="19050"/>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DBA1E997-333F-44A2-A20F-CC97912A25FA}"/>
              </a:ext>
            </a:extLst>
          </p:cNvPr>
          <p:cNvSpPr>
            <a:spLocks noGrp="1"/>
          </p:cNvSpPr>
          <p:nvPr/>
        </p:nvSpPr>
        <p:spPr>
          <a:xfrm>
            <a:off x="6838950" y="2000250"/>
            <a:ext cx="19050" cy="2419350"/>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95F25952-7DD9-4244-B10B-4FEBA130CA70}"/>
              </a:ext>
            </a:extLst>
          </p:cNvPr>
          <p:cNvSpPr>
            <a:spLocks noGrp="1"/>
          </p:cNvSpPr>
          <p:nvPr/>
        </p:nvSpPr>
        <p:spPr>
          <a:xfrm>
            <a:off x="7067550" y="2362200"/>
            <a:ext cx="2990850" cy="28575"/>
          </a:xfrm>
          <a:prstGeom prst="rect">
            <a:avLst/>
          </a:prstGeom>
          <a:solidFill>
            <a:srgbClr val="B9C4D1"/>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A2451D7B-B32B-4F55-A67E-C876E71225EE}"/>
              </a:ext>
            </a:extLst>
          </p:cNvPr>
          <p:cNvSpPr>
            <a:spLocks noGrp="1"/>
          </p:cNvSpPr>
          <p:nvPr/>
        </p:nvSpPr>
        <p:spPr>
          <a:xfrm>
            <a:off x="10058400" y="2362200"/>
            <a:ext cx="28575" cy="1847850"/>
          </a:xfrm>
          <a:prstGeom prst="rect">
            <a:avLst/>
          </a:prstGeom>
          <a:solidFill>
            <a:srgbClr val="B9C4D1"/>
          </a:solidFill>
          <a:ln w="0">
            <a:solidFill>
              <a:srgbClr val="000000">
                <a:alpha val="0"/>
              </a:srgbClr>
            </a:solidFill>
            <a:prstDash val="solid"/>
          </a:ln>
        </p:spPr>
        <p:txBody>
          <a:bodyPr/>
          <a:lstStyle/>
          <a:p>
            <a:endParaRPr lang="zh-CN" altLang="en-US"/>
          </a:p>
        </p:txBody>
      </p:sp>
      <p:sp>
        <p:nvSpPr>
          <p:cNvPr id="22" name="椭圆 21">
            <a:extLst>
              <a:ext uri="{FF2B5EF4-FFF2-40B4-BE49-F238E27FC236}">
                <a16:creationId xmlns:a16="http://schemas.microsoft.com/office/drawing/2014/main" id="{ADE47B70-F9C5-44A2-A015-D5F8B7833733}"/>
              </a:ext>
            </a:extLst>
          </p:cNvPr>
          <p:cNvSpPr>
            <a:spLocks noGrp="1"/>
          </p:cNvSpPr>
          <p:nvPr/>
        </p:nvSpPr>
        <p:spPr>
          <a:xfrm>
            <a:off x="7043738" y="418623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3" name="椭圆 22">
            <a:extLst>
              <a:ext uri="{FF2B5EF4-FFF2-40B4-BE49-F238E27FC236}">
                <a16:creationId xmlns:a16="http://schemas.microsoft.com/office/drawing/2014/main" id="{FD1C47FB-1A2B-49FA-B5D9-14A803575619}"/>
              </a:ext>
            </a:extLst>
          </p:cNvPr>
          <p:cNvSpPr>
            <a:spLocks noGrp="1"/>
          </p:cNvSpPr>
          <p:nvPr/>
        </p:nvSpPr>
        <p:spPr>
          <a:xfrm>
            <a:off x="7101254" y="415070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4" name="椭圆 23">
            <a:extLst>
              <a:ext uri="{FF2B5EF4-FFF2-40B4-BE49-F238E27FC236}">
                <a16:creationId xmlns:a16="http://schemas.microsoft.com/office/drawing/2014/main" id="{F38184A0-5177-43AA-852D-0AC7895ECC4F}"/>
              </a:ext>
            </a:extLst>
          </p:cNvPr>
          <p:cNvSpPr>
            <a:spLocks noGrp="1"/>
          </p:cNvSpPr>
          <p:nvPr/>
        </p:nvSpPr>
        <p:spPr>
          <a:xfrm>
            <a:off x="7158770" y="411516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5" name="椭圆 24">
            <a:extLst>
              <a:ext uri="{FF2B5EF4-FFF2-40B4-BE49-F238E27FC236}">
                <a16:creationId xmlns:a16="http://schemas.microsoft.com/office/drawing/2014/main" id="{26BD3F5E-17DD-4F2C-9690-45C824ECCBB9}"/>
              </a:ext>
            </a:extLst>
          </p:cNvPr>
          <p:cNvSpPr>
            <a:spLocks noGrp="1"/>
          </p:cNvSpPr>
          <p:nvPr/>
        </p:nvSpPr>
        <p:spPr>
          <a:xfrm>
            <a:off x="7216287" y="407963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6" name="椭圆 25">
            <a:extLst>
              <a:ext uri="{FF2B5EF4-FFF2-40B4-BE49-F238E27FC236}">
                <a16:creationId xmlns:a16="http://schemas.microsoft.com/office/drawing/2014/main" id="{BC2310CF-79EE-40EF-B673-7C7EEDE3EFF1}"/>
              </a:ext>
            </a:extLst>
          </p:cNvPr>
          <p:cNvSpPr>
            <a:spLocks noGrp="1"/>
          </p:cNvSpPr>
          <p:nvPr/>
        </p:nvSpPr>
        <p:spPr>
          <a:xfrm>
            <a:off x="7273803" y="404409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7" name="椭圆 26">
            <a:extLst>
              <a:ext uri="{FF2B5EF4-FFF2-40B4-BE49-F238E27FC236}">
                <a16:creationId xmlns:a16="http://schemas.microsoft.com/office/drawing/2014/main" id="{B71C2A1B-28F3-4CB2-84AC-86ED86C24598}"/>
              </a:ext>
            </a:extLst>
          </p:cNvPr>
          <p:cNvSpPr>
            <a:spLocks noGrp="1"/>
          </p:cNvSpPr>
          <p:nvPr/>
        </p:nvSpPr>
        <p:spPr>
          <a:xfrm>
            <a:off x="7331319" y="400856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8" name="椭圆 27">
            <a:extLst>
              <a:ext uri="{FF2B5EF4-FFF2-40B4-BE49-F238E27FC236}">
                <a16:creationId xmlns:a16="http://schemas.microsoft.com/office/drawing/2014/main" id="{3008EF22-0D36-40A4-BC7A-4E840C0AB199}"/>
              </a:ext>
            </a:extLst>
          </p:cNvPr>
          <p:cNvSpPr>
            <a:spLocks noGrp="1"/>
          </p:cNvSpPr>
          <p:nvPr/>
        </p:nvSpPr>
        <p:spPr>
          <a:xfrm>
            <a:off x="7388836" y="397302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9" name="椭圆 28">
            <a:extLst>
              <a:ext uri="{FF2B5EF4-FFF2-40B4-BE49-F238E27FC236}">
                <a16:creationId xmlns:a16="http://schemas.microsoft.com/office/drawing/2014/main" id="{AAD4A848-A5DE-4865-9614-98E4E560C8C2}"/>
              </a:ext>
            </a:extLst>
          </p:cNvPr>
          <p:cNvSpPr>
            <a:spLocks noGrp="1"/>
          </p:cNvSpPr>
          <p:nvPr/>
        </p:nvSpPr>
        <p:spPr>
          <a:xfrm>
            <a:off x="7446352" y="393748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0" name="椭圆 29">
            <a:extLst>
              <a:ext uri="{FF2B5EF4-FFF2-40B4-BE49-F238E27FC236}">
                <a16:creationId xmlns:a16="http://schemas.microsoft.com/office/drawing/2014/main" id="{9B31D35F-08E3-4162-A205-A6FB4B029902}"/>
              </a:ext>
            </a:extLst>
          </p:cNvPr>
          <p:cNvSpPr>
            <a:spLocks noGrp="1"/>
          </p:cNvSpPr>
          <p:nvPr/>
        </p:nvSpPr>
        <p:spPr>
          <a:xfrm>
            <a:off x="7503868" y="390195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1" name="椭圆 30">
            <a:extLst>
              <a:ext uri="{FF2B5EF4-FFF2-40B4-BE49-F238E27FC236}">
                <a16:creationId xmlns:a16="http://schemas.microsoft.com/office/drawing/2014/main" id="{32FB10D0-ECF8-4904-9842-8A19AE0470BC}"/>
              </a:ext>
            </a:extLst>
          </p:cNvPr>
          <p:cNvSpPr>
            <a:spLocks noGrp="1"/>
          </p:cNvSpPr>
          <p:nvPr/>
        </p:nvSpPr>
        <p:spPr>
          <a:xfrm>
            <a:off x="7561385" y="386641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2" name="椭圆 31">
            <a:extLst>
              <a:ext uri="{FF2B5EF4-FFF2-40B4-BE49-F238E27FC236}">
                <a16:creationId xmlns:a16="http://schemas.microsoft.com/office/drawing/2014/main" id="{908D86EC-35A5-41A6-B77E-BAE0BF2EBDB0}"/>
              </a:ext>
            </a:extLst>
          </p:cNvPr>
          <p:cNvSpPr>
            <a:spLocks noGrp="1"/>
          </p:cNvSpPr>
          <p:nvPr/>
        </p:nvSpPr>
        <p:spPr>
          <a:xfrm>
            <a:off x="7618901" y="383088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3" name="椭圆 32">
            <a:extLst>
              <a:ext uri="{FF2B5EF4-FFF2-40B4-BE49-F238E27FC236}">
                <a16:creationId xmlns:a16="http://schemas.microsoft.com/office/drawing/2014/main" id="{3E073814-D4DE-40DD-879F-B87F373074AE}"/>
              </a:ext>
            </a:extLst>
          </p:cNvPr>
          <p:cNvSpPr>
            <a:spLocks noGrp="1"/>
          </p:cNvSpPr>
          <p:nvPr/>
        </p:nvSpPr>
        <p:spPr>
          <a:xfrm>
            <a:off x="7676417" y="379534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4" name="椭圆 33">
            <a:extLst>
              <a:ext uri="{FF2B5EF4-FFF2-40B4-BE49-F238E27FC236}">
                <a16:creationId xmlns:a16="http://schemas.microsoft.com/office/drawing/2014/main" id="{87F398B1-DBBF-4201-8748-17F37DD6FD78}"/>
              </a:ext>
            </a:extLst>
          </p:cNvPr>
          <p:cNvSpPr>
            <a:spLocks noGrp="1"/>
          </p:cNvSpPr>
          <p:nvPr/>
        </p:nvSpPr>
        <p:spPr>
          <a:xfrm>
            <a:off x="7733934" y="375981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5" name="椭圆 34">
            <a:extLst>
              <a:ext uri="{FF2B5EF4-FFF2-40B4-BE49-F238E27FC236}">
                <a16:creationId xmlns:a16="http://schemas.microsoft.com/office/drawing/2014/main" id="{81279088-F7BE-44AC-8A53-D6C2069F8BD0}"/>
              </a:ext>
            </a:extLst>
          </p:cNvPr>
          <p:cNvSpPr>
            <a:spLocks noGrp="1"/>
          </p:cNvSpPr>
          <p:nvPr/>
        </p:nvSpPr>
        <p:spPr>
          <a:xfrm>
            <a:off x="7791450" y="372427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6" name="椭圆 35">
            <a:extLst>
              <a:ext uri="{FF2B5EF4-FFF2-40B4-BE49-F238E27FC236}">
                <a16:creationId xmlns:a16="http://schemas.microsoft.com/office/drawing/2014/main" id="{7BA096BD-2320-4286-8EDD-052228703FD6}"/>
              </a:ext>
            </a:extLst>
          </p:cNvPr>
          <p:cNvSpPr>
            <a:spLocks noGrp="1"/>
          </p:cNvSpPr>
          <p:nvPr/>
        </p:nvSpPr>
        <p:spPr>
          <a:xfrm>
            <a:off x="7848966" y="368873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7" name="椭圆 36">
            <a:extLst>
              <a:ext uri="{FF2B5EF4-FFF2-40B4-BE49-F238E27FC236}">
                <a16:creationId xmlns:a16="http://schemas.microsoft.com/office/drawing/2014/main" id="{1249B7CF-06EF-4CE6-B182-CC00EFBB1004}"/>
              </a:ext>
            </a:extLst>
          </p:cNvPr>
          <p:cNvSpPr>
            <a:spLocks noGrp="1"/>
          </p:cNvSpPr>
          <p:nvPr/>
        </p:nvSpPr>
        <p:spPr>
          <a:xfrm>
            <a:off x="7906483" y="365320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8" name="椭圆 37">
            <a:extLst>
              <a:ext uri="{FF2B5EF4-FFF2-40B4-BE49-F238E27FC236}">
                <a16:creationId xmlns:a16="http://schemas.microsoft.com/office/drawing/2014/main" id="{CB29537B-4D21-4DDF-BD0D-D1CAFE19CFF5}"/>
              </a:ext>
            </a:extLst>
          </p:cNvPr>
          <p:cNvSpPr>
            <a:spLocks noGrp="1"/>
          </p:cNvSpPr>
          <p:nvPr/>
        </p:nvSpPr>
        <p:spPr>
          <a:xfrm>
            <a:off x="7963999" y="361766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9" name="椭圆 38">
            <a:extLst>
              <a:ext uri="{FF2B5EF4-FFF2-40B4-BE49-F238E27FC236}">
                <a16:creationId xmlns:a16="http://schemas.microsoft.com/office/drawing/2014/main" id="{B0A16ED5-DA26-4BF4-B17D-7E2C496B9C57}"/>
              </a:ext>
            </a:extLst>
          </p:cNvPr>
          <p:cNvSpPr>
            <a:spLocks noGrp="1"/>
          </p:cNvSpPr>
          <p:nvPr/>
        </p:nvSpPr>
        <p:spPr>
          <a:xfrm>
            <a:off x="8021515" y="358213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0" name="椭圆 39">
            <a:extLst>
              <a:ext uri="{FF2B5EF4-FFF2-40B4-BE49-F238E27FC236}">
                <a16:creationId xmlns:a16="http://schemas.microsoft.com/office/drawing/2014/main" id="{2E6BADC2-1F08-4EC0-A65B-2FF4580F132C}"/>
              </a:ext>
            </a:extLst>
          </p:cNvPr>
          <p:cNvSpPr>
            <a:spLocks noGrp="1"/>
          </p:cNvSpPr>
          <p:nvPr/>
        </p:nvSpPr>
        <p:spPr>
          <a:xfrm>
            <a:off x="8079032" y="354659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1" name="椭圆 40">
            <a:extLst>
              <a:ext uri="{FF2B5EF4-FFF2-40B4-BE49-F238E27FC236}">
                <a16:creationId xmlns:a16="http://schemas.microsoft.com/office/drawing/2014/main" id="{71C5303F-46BD-4989-A44F-2E612096CAEE}"/>
              </a:ext>
            </a:extLst>
          </p:cNvPr>
          <p:cNvSpPr>
            <a:spLocks noGrp="1"/>
          </p:cNvSpPr>
          <p:nvPr/>
        </p:nvSpPr>
        <p:spPr>
          <a:xfrm>
            <a:off x="8136548" y="351106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863AB6FF-FAAE-4CD3-94DA-0E2F54EF027E}"/>
              </a:ext>
            </a:extLst>
          </p:cNvPr>
          <p:cNvSpPr>
            <a:spLocks noGrp="1"/>
          </p:cNvSpPr>
          <p:nvPr/>
        </p:nvSpPr>
        <p:spPr>
          <a:xfrm>
            <a:off x="8194064" y="347552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C416C95F-0717-4D8F-9463-734418CE30CA}"/>
              </a:ext>
            </a:extLst>
          </p:cNvPr>
          <p:cNvSpPr>
            <a:spLocks noGrp="1"/>
          </p:cNvSpPr>
          <p:nvPr/>
        </p:nvSpPr>
        <p:spPr>
          <a:xfrm>
            <a:off x="8251581" y="343999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9F63378B-92BD-4FE9-9E36-FC03EEAAD2D4}"/>
              </a:ext>
            </a:extLst>
          </p:cNvPr>
          <p:cNvSpPr>
            <a:spLocks noGrp="1"/>
          </p:cNvSpPr>
          <p:nvPr/>
        </p:nvSpPr>
        <p:spPr>
          <a:xfrm>
            <a:off x="8309097" y="340445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8331AD9F-F29E-46F9-A100-4BE72856D16E}"/>
              </a:ext>
            </a:extLst>
          </p:cNvPr>
          <p:cNvSpPr>
            <a:spLocks noGrp="1"/>
          </p:cNvSpPr>
          <p:nvPr/>
        </p:nvSpPr>
        <p:spPr>
          <a:xfrm>
            <a:off x="8366613" y="336891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F96005E0-C415-4972-AFF3-B502962870F8}"/>
              </a:ext>
            </a:extLst>
          </p:cNvPr>
          <p:cNvSpPr>
            <a:spLocks noGrp="1"/>
          </p:cNvSpPr>
          <p:nvPr/>
        </p:nvSpPr>
        <p:spPr>
          <a:xfrm>
            <a:off x="8424130" y="333338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C36C2AF1-5B86-440E-AC12-7C1230D3A174}"/>
              </a:ext>
            </a:extLst>
          </p:cNvPr>
          <p:cNvSpPr>
            <a:spLocks noGrp="1"/>
          </p:cNvSpPr>
          <p:nvPr/>
        </p:nvSpPr>
        <p:spPr>
          <a:xfrm>
            <a:off x="8481646" y="329784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ACB96A0B-7208-40E0-B243-CFF81ABE7542}"/>
              </a:ext>
            </a:extLst>
          </p:cNvPr>
          <p:cNvSpPr>
            <a:spLocks noGrp="1"/>
          </p:cNvSpPr>
          <p:nvPr/>
        </p:nvSpPr>
        <p:spPr>
          <a:xfrm>
            <a:off x="8539163" y="326231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7AF540AB-F87E-4BF3-9B63-544BBF0CA5C4}"/>
              </a:ext>
            </a:extLst>
          </p:cNvPr>
          <p:cNvSpPr>
            <a:spLocks noGrp="1"/>
          </p:cNvSpPr>
          <p:nvPr/>
        </p:nvSpPr>
        <p:spPr>
          <a:xfrm>
            <a:off x="8596679" y="322677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E7DD2653-DBE1-493B-86DD-B0030FC1F4EB}"/>
              </a:ext>
            </a:extLst>
          </p:cNvPr>
          <p:cNvSpPr>
            <a:spLocks noGrp="1"/>
          </p:cNvSpPr>
          <p:nvPr/>
        </p:nvSpPr>
        <p:spPr>
          <a:xfrm>
            <a:off x="8654195" y="319124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A7D4426D-087D-4CF2-9B1F-9D430F2B25CF}"/>
              </a:ext>
            </a:extLst>
          </p:cNvPr>
          <p:cNvSpPr>
            <a:spLocks noGrp="1"/>
          </p:cNvSpPr>
          <p:nvPr/>
        </p:nvSpPr>
        <p:spPr>
          <a:xfrm>
            <a:off x="8711712" y="315570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59E83AD0-1778-493A-80CD-05DE3B71B65F}"/>
              </a:ext>
            </a:extLst>
          </p:cNvPr>
          <p:cNvSpPr>
            <a:spLocks noGrp="1"/>
          </p:cNvSpPr>
          <p:nvPr/>
        </p:nvSpPr>
        <p:spPr>
          <a:xfrm>
            <a:off x="8769228" y="312017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4A0011CE-4843-4F46-AB1C-6285CA9D169E}"/>
              </a:ext>
            </a:extLst>
          </p:cNvPr>
          <p:cNvSpPr>
            <a:spLocks noGrp="1"/>
          </p:cNvSpPr>
          <p:nvPr/>
        </p:nvSpPr>
        <p:spPr>
          <a:xfrm>
            <a:off x="8826744" y="308463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BDE78B41-8A8F-45D3-876D-0D197D790B1F}"/>
              </a:ext>
            </a:extLst>
          </p:cNvPr>
          <p:cNvSpPr>
            <a:spLocks noGrp="1"/>
          </p:cNvSpPr>
          <p:nvPr/>
        </p:nvSpPr>
        <p:spPr>
          <a:xfrm>
            <a:off x="8884261" y="304909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99109928-6B09-4486-9CC8-FA008D126873}"/>
              </a:ext>
            </a:extLst>
          </p:cNvPr>
          <p:cNvSpPr>
            <a:spLocks noGrp="1"/>
          </p:cNvSpPr>
          <p:nvPr/>
        </p:nvSpPr>
        <p:spPr>
          <a:xfrm>
            <a:off x="8941777" y="301356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602CE0A8-249A-4310-A9F8-F060AE6BC5C7}"/>
              </a:ext>
            </a:extLst>
          </p:cNvPr>
          <p:cNvSpPr>
            <a:spLocks noGrp="1"/>
          </p:cNvSpPr>
          <p:nvPr/>
        </p:nvSpPr>
        <p:spPr>
          <a:xfrm>
            <a:off x="8999293" y="297802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98389971-888B-450A-A6AA-71AB872142C1}"/>
              </a:ext>
            </a:extLst>
          </p:cNvPr>
          <p:cNvSpPr>
            <a:spLocks noGrp="1"/>
          </p:cNvSpPr>
          <p:nvPr/>
        </p:nvSpPr>
        <p:spPr>
          <a:xfrm>
            <a:off x="9056810" y="294249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0FA7A4EA-4B7D-4542-B774-3854438E6641}"/>
              </a:ext>
            </a:extLst>
          </p:cNvPr>
          <p:cNvSpPr>
            <a:spLocks noGrp="1"/>
          </p:cNvSpPr>
          <p:nvPr/>
        </p:nvSpPr>
        <p:spPr>
          <a:xfrm>
            <a:off x="9114326" y="290695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DF46B37E-3FD9-421F-A4F1-A31914C88F9C}"/>
              </a:ext>
            </a:extLst>
          </p:cNvPr>
          <p:cNvSpPr>
            <a:spLocks noGrp="1"/>
          </p:cNvSpPr>
          <p:nvPr/>
        </p:nvSpPr>
        <p:spPr>
          <a:xfrm>
            <a:off x="9171842" y="287142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FD53E6E9-0D70-46A1-AC7A-FA6A01C6737D}"/>
              </a:ext>
            </a:extLst>
          </p:cNvPr>
          <p:cNvSpPr>
            <a:spLocks noGrp="1"/>
          </p:cNvSpPr>
          <p:nvPr/>
        </p:nvSpPr>
        <p:spPr>
          <a:xfrm>
            <a:off x="9229359" y="283588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4B473D1E-D550-49DC-B567-7D2B47886BF0}"/>
              </a:ext>
            </a:extLst>
          </p:cNvPr>
          <p:cNvSpPr>
            <a:spLocks noGrp="1"/>
          </p:cNvSpPr>
          <p:nvPr/>
        </p:nvSpPr>
        <p:spPr>
          <a:xfrm>
            <a:off x="9286875" y="280035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7E9473BB-26BA-4B5A-95D5-8424B6F65766}"/>
              </a:ext>
            </a:extLst>
          </p:cNvPr>
          <p:cNvSpPr>
            <a:spLocks noGrp="1"/>
          </p:cNvSpPr>
          <p:nvPr/>
        </p:nvSpPr>
        <p:spPr>
          <a:xfrm>
            <a:off x="9344391" y="276481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F042C004-8F72-461F-A9FA-C0FACACB044C}"/>
              </a:ext>
            </a:extLst>
          </p:cNvPr>
          <p:cNvSpPr>
            <a:spLocks noGrp="1"/>
          </p:cNvSpPr>
          <p:nvPr/>
        </p:nvSpPr>
        <p:spPr>
          <a:xfrm>
            <a:off x="9401908" y="272927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7888859F-A94B-4D8E-8D8F-18564568D776}"/>
              </a:ext>
            </a:extLst>
          </p:cNvPr>
          <p:cNvSpPr>
            <a:spLocks noGrp="1"/>
          </p:cNvSpPr>
          <p:nvPr/>
        </p:nvSpPr>
        <p:spPr>
          <a:xfrm>
            <a:off x="9459424" y="269374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EF8CEB44-9A4D-4CC6-9E40-029E4AC594B2}"/>
              </a:ext>
            </a:extLst>
          </p:cNvPr>
          <p:cNvSpPr>
            <a:spLocks noGrp="1"/>
          </p:cNvSpPr>
          <p:nvPr/>
        </p:nvSpPr>
        <p:spPr>
          <a:xfrm>
            <a:off x="9516940" y="265820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373AB3AA-4A82-4ED4-AFC6-C4B3C2B1F6E7}"/>
              </a:ext>
            </a:extLst>
          </p:cNvPr>
          <p:cNvSpPr>
            <a:spLocks noGrp="1"/>
          </p:cNvSpPr>
          <p:nvPr/>
        </p:nvSpPr>
        <p:spPr>
          <a:xfrm>
            <a:off x="9574457" y="262267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FACC68E5-4410-4DFE-866B-1E8437E141A5}"/>
              </a:ext>
            </a:extLst>
          </p:cNvPr>
          <p:cNvSpPr>
            <a:spLocks noGrp="1"/>
          </p:cNvSpPr>
          <p:nvPr/>
        </p:nvSpPr>
        <p:spPr>
          <a:xfrm>
            <a:off x="9631973" y="258713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9286D8F9-0B1D-49C7-993D-0A3F1A24D7F0}"/>
              </a:ext>
            </a:extLst>
          </p:cNvPr>
          <p:cNvSpPr>
            <a:spLocks noGrp="1"/>
          </p:cNvSpPr>
          <p:nvPr/>
        </p:nvSpPr>
        <p:spPr>
          <a:xfrm>
            <a:off x="9689489" y="255160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C577C856-CA5A-4832-B55E-1DCA85AD426D}"/>
              </a:ext>
            </a:extLst>
          </p:cNvPr>
          <p:cNvSpPr>
            <a:spLocks noGrp="1"/>
          </p:cNvSpPr>
          <p:nvPr/>
        </p:nvSpPr>
        <p:spPr>
          <a:xfrm>
            <a:off x="9747006" y="251606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5A393400-2541-4427-88D7-D075BEA8D5C1}"/>
              </a:ext>
            </a:extLst>
          </p:cNvPr>
          <p:cNvSpPr>
            <a:spLocks noGrp="1"/>
          </p:cNvSpPr>
          <p:nvPr/>
        </p:nvSpPr>
        <p:spPr>
          <a:xfrm>
            <a:off x="9804522" y="248053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F9E783D1-F34C-461E-92B1-E8C947EAF72E}"/>
              </a:ext>
            </a:extLst>
          </p:cNvPr>
          <p:cNvSpPr>
            <a:spLocks noGrp="1"/>
          </p:cNvSpPr>
          <p:nvPr/>
        </p:nvSpPr>
        <p:spPr>
          <a:xfrm>
            <a:off x="9862038" y="244499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88FE680C-2459-4F17-8CBB-7792BE8ED874}"/>
              </a:ext>
            </a:extLst>
          </p:cNvPr>
          <p:cNvSpPr>
            <a:spLocks noGrp="1"/>
          </p:cNvSpPr>
          <p:nvPr/>
        </p:nvSpPr>
        <p:spPr>
          <a:xfrm>
            <a:off x="9919555" y="240945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0EC15633-2FAD-40D4-AD9F-4D66570481E6}"/>
              </a:ext>
            </a:extLst>
          </p:cNvPr>
          <p:cNvSpPr>
            <a:spLocks noGrp="1"/>
          </p:cNvSpPr>
          <p:nvPr/>
        </p:nvSpPr>
        <p:spPr>
          <a:xfrm>
            <a:off x="9977071" y="237392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196A0364-FCEC-472C-8C06-E02F3BE7787F}"/>
              </a:ext>
            </a:extLst>
          </p:cNvPr>
          <p:cNvSpPr>
            <a:spLocks noGrp="1"/>
          </p:cNvSpPr>
          <p:nvPr/>
        </p:nvSpPr>
        <p:spPr>
          <a:xfrm>
            <a:off x="10034588" y="233838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16A23790-B6B3-4EE4-84D9-F7E8546911EA}"/>
              </a:ext>
            </a:extLst>
          </p:cNvPr>
          <p:cNvSpPr>
            <a:spLocks noGrp="1"/>
          </p:cNvSpPr>
          <p:nvPr/>
        </p:nvSpPr>
        <p:spPr>
          <a:xfrm>
            <a:off x="6972300" y="4114800"/>
            <a:ext cx="190500" cy="190500"/>
          </a:xfrm>
          <a:prstGeom prst="ellipse">
            <a:avLst/>
          </a:prstGeom>
          <a:solidFill>
            <a:srgbClr val="B4964B"/>
          </a:solidFill>
          <a:ln w="19050">
            <a:solidFill>
              <a:srgbClr val="FFFFFF"/>
            </a:solidFill>
            <a:prstDash val="solid"/>
          </a:ln>
        </p:spPr>
        <p:txBody>
          <a:bodyPr/>
          <a:lstStyle/>
          <a:p>
            <a:endParaRPr lang="zh-CN" altLang="en-US"/>
          </a:p>
        </p:txBody>
      </p:sp>
      <p:sp>
        <p:nvSpPr>
          <p:cNvPr id="76" name="矩形 75">
            <a:extLst>
              <a:ext uri="{FF2B5EF4-FFF2-40B4-BE49-F238E27FC236}">
                <a16:creationId xmlns:a16="http://schemas.microsoft.com/office/drawing/2014/main" id="{678505C5-35BB-46D5-8C89-08CAB5A5F5C1}"/>
              </a:ext>
            </a:extLst>
          </p:cNvPr>
          <p:cNvSpPr>
            <a:spLocks noGrp="1"/>
          </p:cNvSpPr>
          <p:nvPr/>
        </p:nvSpPr>
        <p:spPr>
          <a:xfrm>
            <a:off x="6838950" y="3867150"/>
            <a:ext cx="4572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Times New Roman"/>
                <a:ea typeface="Times New Roman"/>
                <a:cs typeface="Times New Roman"/>
              </a:rPr>
              <a:t>A</a:t>
            </a:r>
          </a:p>
        </p:txBody>
      </p:sp>
      <p:sp>
        <p:nvSpPr>
          <p:cNvPr id="77" name="椭圆 76">
            <a:extLst>
              <a:ext uri="{FF2B5EF4-FFF2-40B4-BE49-F238E27FC236}">
                <a16:creationId xmlns:a16="http://schemas.microsoft.com/office/drawing/2014/main" id="{F9314AA9-01BD-44E5-BA48-B1F050728200}"/>
              </a:ext>
            </a:extLst>
          </p:cNvPr>
          <p:cNvSpPr>
            <a:spLocks noGrp="1"/>
          </p:cNvSpPr>
          <p:nvPr/>
        </p:nvSpPr>
        <p:spPr>
          <a:xfrm>
            <a:off x="9963150" y="2266950"/>
            <a:ext cx="190500" cy="190500"/>
          </a:xfrm>
          <a:prstGeom prst="ellipse">
            <a:avLst/>
          </a:prstGeom>
          <a:solidFill>
            <a:srgbClr val="014DA1"/>
          </a:solidFill>
          <a:ln w="19050">
            <a:solidFill>
              <a:srgbClr val="FFFFFF"/>
            </a:solidFill>
            <a:prstDash val="solid"/>
          </a:ln>
        </p:spPr>
        <p:txBody>
          <a:bodyPr/>
          <a:lstStyle/>
          <a:p>
            <a:endParaRPr lang="zh-CN" altLang="en-US"/>
          </a:p>
        </p:txBody>
      </p:sp>
      <p:sp>
        <p:nvSpPr>
          <p:cNvPr id="78" name="矩形 77">
            <a:extLst>
              <a:ext uri="{FF2B5EF4-FFF2-40B4-BE49-F238E27FC236}">
                <a16:creationId xmlns:a16="http://schemas.microsoft.com/office/drawing/2014/main" id="{75E88DB3-B925-4109-AD87-D33A0014BE93}"/>
              </a:ext>
            </a:extLst>
          </p:cNvPr>
          <p:cNvSpPr>
            <a:spLocks noGrp="1"/>
          </p:cNvSpPr>
          <p:nvPr/>
        </p:nvSpPr>
        <p:spPr>
          <a:xfrm>
            <a:off x="9829800" y="2019300"/>
            <a:ext cx="4572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Times New Roman"/>
                <a:ea typeface="Times New Roman"/>
                <a:cs typeface="Times New Roman"/>
              </a:rPr>
              <a:t>B</a:t>
            </a:r>
          </a:p>
        </p:txBody>
      </p:sp>
      <p:sp>
        <p:nvSpPr>
          <p:cNvPr id="79" name="矩形 78">
            <a:extLst>
              <a:ext uri="{FF2B5EF4-FFF2-40B4-BE49-F238E27FC236}">
                <a16:creationId xmlns:a16="http://schemas.microsoft.com/office/drawing/2014/main" id="{13A739BC-C17A-4CD5-A0D6-00B1973BF826}"/>
              </a:ext>
            </a:extLst>
          </p:cNvPr>
          <p:cNvSpPr>
            <a:spLocks noGrp="1"/>
          </p:cNvSpPr>
          <p:nvPr/>
        </p:nvSpPr>
        <p:spPr>
          <a:xfrm>
            <a:off x="8458200" y="2095500"/>
            <a:ext cx="609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4B5563"/>
                </a:solidFill>
                <a:latin typeface="黑体"/>
                <a:ea typeface="黑体"/>
                <a:cs typeface="黑体"/>
              </a:defRPr>
            </a:pPr>
            <a:r>
              <a:rPr>
                <a:latin typeface="Times New Roman"/>
                <a:ea typeface="Times New Roman"/>
                <a:cs typeface="Times New Roman"/>
              </a:rPr>
              <a:t>Δx</a:t>
            </a:r>
          </a:p>
        </p:txBody>
      </p:sp>
      <p:sp>
        <p:nvSpPr>
          <p:cNvPr id="80" name="矩形 79">
            <a:extLst>
              <a:ext uri="{FF2B5EF4-FFF2-40B4-BE49-F238E27FC236}">
                <a16:creationId xmlns:a16="http://schemas.microsoft.com/office/drawing/2014/main" id="{3ACE1D21-DAEE-4C2E-9397-5F513F3A0414}"/>
              </a:ext>
            </a:extLst>
          </p:cNvPr>
          <p:cNvSpPr>
            <a:spLocks noGrp="1"/>
          </p:cNvSpPr>
          <p:nvPr/>
        </p:nvSpPr>
        <p:spPr>
          <a:xfrm>
            <a:off x="10172700" y="3200400"/>
            <a:ext cx="514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4B5563"/>
                </a:solidFill>
                <a:latin typeface="黑体"/>
                <a:ea typeface="黑体"/>
                <a:cs typeface="黑体"/>
              </a:defRPr>
            </a:pPr>
            <a:r>
              <a:rPr>
                <a:latin typeface="Times New Roman"/>
                <a:ea typeface="Times New Roman"/>
                <a:cs typeface="Times New Roman"/>
              </a:rPr>
              <a:t>Δy</a:t>
            </a:r>
          </a:p>
        </p:txBody>
      </p:sp>
      <p:sp>
        <p:nvSpPr>
          <p:cNvPr id="81" name="矩形 80">
            <a:extLst>
              <a:ext uri="{FF2B5EF4-FFF2-40B4-BE49-F238E27FC236}">
                <a16:creationId xmlns:a16="http://schemas.microsoft.com/office/drawing/2014/main" id="{172CDC05-9801-43FD-8412-DC789C7B653B}"/>
              </a:ext>
            </a:extLst>
          </p:cNvPr>
          <p:cNvSpPr>
            <a:spLocks noGrp="1"/>
          </p:cNvSpPr>
          <p:nvPr/>
        </p:nvSpPr>
        <p:spPr>
          <a:xfrm>
            <a:off x="8648700" y="31432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14DA1"/>
                </a:solidFill>
                <a:latin typeface="黑体"/>
                <a:ea typeface="黑体"/>
                <a:cs typeface="黑体"/>
              </a:defRPr>
            </a:pPr>
            <a:r>
              <a:rPr>
                <a:latin typeface="Times New Roman"/>
                <a:ea typeface="Times New Roman"/>
                <a:cs typeface="Times New Roman"/>
              </a:rPr>
              <a:t>d₂</a:t>
            </a:r>
          </a:p>
        </p:txBody>
      </p:sp>
      <p:sp>
        <p:nvSpPr>
          <p:cNvPr id="82" name="矩形 81">
            <a:extLst>
              <a:ext uri="{FF2B5EF4-FFF2-40B4-BE49-F238E27FC236}">
                <a16:creationId xmlns:a16="http://schemas.microsoft.com/office/drawing/2014/main" id="{7BD41D87-0565-489A-8489-776634743B6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83" name="矩形 82">
            <a:extLst>
              <a:ext uri="{FF2B5EF4-FFF2-40B4-BE49-F238E27FC236}">
                <a16:creationId xmlns:a16="http://schemas.microsoft.com/office/drawing/2014/main" id="{FDC7F598-99B3-4A79-875B-8EC8A8386A77}"/>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欧氏距离把每个维度的平方差累加。</a:t>
            </a:r>
          </a:p>
        </p:txBody>
      </p:sp>
    </p:spTree>
    <p:extLst>
      <p:ext uri="{BB962C8B-B14F-4D97-AF65-F5344CB8AC3E}">
        <p14:creationId xmlns:p14="http://schemas.microsoft.com/office/powerpoint/2010/main" val="12567873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1AF9D49D-ACFC-4F3E-B785-577D0BEEA1ED}"/>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478F470B-8F00-477D-81A1-CFAE2AF50DE0}"/>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6475DA59-6A59-4284-9164-5291AD4D1588}"/>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8727CE07-ACD8-4F67-B1CC-656B3FB34764}"/>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例：计算两名学生的欧氏距离</a:t>
            </a:r>
          </a:p>
        </p:txBody>
      </p:sp>
      <p:sp>
        <p:nvSpPr>
          <p:cNvPr id="5" name="矩形 4">
            <a:extLst>
              <a:ext uri="{FF2B5EF4-FFF2-40B4-BE49-F238E27FC236}">
                <a16:creationId xmlns:a16="http://schemas.microsoft.com/office/drawing/2014/main" id="{946C9720-0843-4BA6-A69B-87AE9430BA83}"/>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68/90</a:t>
            </a:r>
          </a:p>
        </p:txBody>
      </p:sp>
      <p:sp>
        <p:nvSpPr>
          <p:cNvPr id="6" name="矩形 5">
            <a:extLst>
              <a:ext uri="{FF2B5EF4-FFF2-40B4-BE49-F238E27FC236}">
                <a16:creationId xmlns:a16="http://schemas.microsoft.com/office/drawing/2014/main" id="{413B9034-476F-403A-9E6B-3B9D4CF24AFB}"/>
              </a:ext>
            </a:extLst>
          </p:cNvPr>
          <p:cNvSpPr>
            <a:spLocks noGrp="1"/>
          </p:cNvSpPr>
          <p:nvPr/>
        </p:nvSpPr>
        <p:spPr>
          <a:xfrm>
            <a:off x="609600" y="1200150"/>
            <a:ext cx="10763250" cy="4114800"/>
          </a:xfrm>
          <a:prstGeom prst="rect">
            <a:avLst/>
          </a:prstGeom>
          <a:solidFill>
            <a:srgbClr val="FFFFFF"/>
          </a:solidFill>
          <a:ln w="9525">
            <a:solidFill>
              <a:srgbClr val="BAC4D0"/>
            </a:solidFill>
            <a:prstDash val="solid"/>
          </a:ln>
        </p:spPr>
        <p:txBody>
          <a:bodyPr/>
          <a:lstStyle/>
          <a:p>
            <a:endParaRPr lang="zh-CN" altLang="en-US"/>
          </a:p>
        </p:txBody>
      </p:sp>
      <p:sp>
        <p:nvSpPr>
          <p:cNvPr id="7" name="矩形 6">
            <a:extLst>
              <a:ext uri="{FF2B5EF4-FFF2-40B4-BE49-F238E27FC236}">
                <a16:creationId xmlns:a16="http://schemas.microsoft.com/office/drawing/2014/main" id="{B1458847-A405-4AFB-AEFF-C88C0CF6ECE3}"/>
              </a:ext>
            </a:extLst>
          </p:cNvPr>
          <p:cNvSpPr>
            <a:spLocks noGrp="1"/>
          </p:cNvSpPr>
          <p:nvPr/>
        </p:nvSpPr>
        <p:spPr>
          <a:xfrm>
            <a:off x="800100" y="13525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8" name="矩形 7">
            <a:extLst>
              <a:ext uri="{FF2B5EF4-FFF2-40B4-BE49-F238E27FC236}">
                <a16:creationId xmlns:a16="http://schemas.microsoft.com/office/drawing/2014/main" id="{52E47B29-581A-4AFA-9FA5-C1DE06ED07FA}"/>
              </a:ext>
            </a:extLst>
          </p:cNvPr>
          <p:cNvSpPr>
            <a:spLocks noGrp="1"/>
          </p:cNvSpPr>
          <p:nvPr/>
        </p:nvSpPr>
        <p:spPr>
          <a:xfrm>
            <a:off x="1066800" y="14287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标准化特征</a:t>
            </a:r>
          </a:p>
        </p:txBody>
      </p:sp>
      <p:sp>
        <p:nvSpPr>
          <p:cNvPr id="9" name="矩形 8">
            <a:extLst>
              <a:ext uri="{FF2B5EF4-FFF2-40B4-BE49-F238E27FC236}">
                <a16:creationId xmlns:a16="http://schemas.microsoft.com/office/drawing/2014/main" id="{3471636E-80D0-4483-A50F-7656A21C745D}"/>
              </a:ext>
            </a:extLst>
          </p:cNvPr>
          <p:cNvSpPr>
            <a:spLocks noGrp="1"/>
          </p:cNvSpPr>
          <p:nvPr/>
        </p:nvSpPr>
        <p:spPr>
          <a:xfrm>
            <a:off x="2819400" y="14287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A = (0.20, 0.90)，B = (0.60, 0.50)</a:t>
            </a:r>
          </a:p>
        </p:txBody>
      </p:sp>
      <p:sp>
        <p:nvSpPr>
          <p:cNvPr id="10" name="矩形 9">
            <a:extLst>
              <a:ext uri="{FF2B5EF4-FFF2-40B4-BE49-F238E27FC236}">
                <a16:creationId xmlns:a16="http://schemas.microsoft.com/office/drawing/2014/main" id="{52295092-05D7-422B-902E-629453A6C225}"/>
              </a:ext>
            </a:extLst>
          </p:cNvPr>
          <p:cNvSpPr>
            <a:spLocks noGrp="1"/>
          </p:cNvSpPr>
          <p:nvPr/>
        </p:nvSpPr>
        <p:spPr>
          <a:xfrm>
            <a:off x="800100" y="2095500"/>
            <a:ext cx="10382250" cy="590550"/>
          </a:xfrm>
          <a:prstGeom prst="rect">
            <a:avLst/>
          </a:prstGeom>
          <a:solidFill>
            <a:srgbClr val="FFFFFF"/>
          </a:solidFill>
          <a:ln w="9525">
            <a:solidFill>
              <a:srgbClr val="EEF2F7"/>
            </a:solidFill>
            <a:prstDash val="solid"/>
          </a:ln>
        </p:spPr>
        <p:txBody>
          <a:bodyPr/>
          <a:lstStyle/>
          <a:p>
            <a:endParaRPr lang="zh-CN" altLang="en-US"/>
          </a:p>
        </p:txBody>
      </p:sp>
      <p:sp>
        <p:nvSpPr>
          <p:cNvPr id="11" name="矩形 10">
            <a:extLst>
              <a:ext uri="{FF2B5EF4-FFF2-40B4-BE49-F238E27FC236}">
                <a16:creationId xmlns:a16="http://schemas.microsoft.com/office/drawing/2014/main" id="{B3C5827D-1EFC-4D5F-BBDD-BAAC8ABA5C16}"/>
              </a:ext>
            </a:extLst>
          </p:cNvPr>
          <p:cNvSpPr>
            <a:spLocks noGrp="1"/>
          </p:cNvSpPr>
          <p:nvPr/>
        </p:nvSpPr>
        <p:spPr>
          <a:xfrm>
            <a:off x="1066800" y="217170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第一维差</a:t>
            </a:r>
          </a:p>
        </p:txBody>
      </p:sp>
      <p:sp>
        <p:nvSpPr>
          <p:cNvPr id="12" name="矩形 11">
            <a:extLst>
              <a:ext uri="{FF2B5EF4-FFF2-40B4-BE49-F238E27FC236}">
                <a16:creationId xmlns:a16="http://schemas.microsoft.com/office/drawing/2014/main" id="{5225A957-4EAA-4200-80CC-65CD8994B307}"/>
              </a:ext>
            </a:extLst>
          </p:cNvPr>
          <p:cNvSpPr>
            <a:spLocks noGrp="1"/>
          </p:cNvSpPr>
          <p:nvPr/>
        </p:nvSpPr>
        <p:spPr>
          <a:xfrm>
            <a:off x="2819400" y="217170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0.20 − 0.60 = −0.40</a:t>
            </a:r>
          </a:p>
        </p:txBody>
      </p:sp>
      <p:sp>
        <p:nvSpPr>
          <p:cNvPr id="13" name="矩形 12">
            <a:extLst>
              <a:ext uri="{FF2B5EF4-FFF2-40B4-BE49-F238E27FC236}">
                <a16:creationId xmlns:a16="http://schemas.microsoft.com/office/drawing/2014/main" id="{76E3A475-F612-418F-B844-EEA69E1E37EB}"/>
              </a:ext>
            </a:extLst>
          </p:cNvPr>
          <p:cNvSpPr>
            <a:spLocks noGrp="1"/>
          </p:cNvSpPr>
          <p:nvPr/>
        </p:nvSpPr>
        <p:spPr>
          <a:xfrm>
            <a:off x="800100" y="28384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14" name="矩形 13">
            <a:extLst>
              <a:ext uri="{FF2B5EF4-FFF2-40B4-BE49-F238E27FC236}">
                <a16:creationId xmlns:a16="http://schemas.microsoft.com/office/drawing/2014/main" id="{1974049A-DD82-4827-98FD-A1D5295DC7BA}"/>
              </a:ext>
            </a:extLst>
          </p:cNvPr>
          <p:cNvSpPr>
            <a:spLocks noGrp="1"/>
          </p:cNvSpPr>
          <p:nvPr/>
        </p:nvSpPr>
        <p:spPr>
          <a:xfrm>
            <a:off x="1066800" y="29146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第二维差</a:t>
            </a:r>
          </a:p>
        </p:txBody>
      </p:sp>
      <p:sp>
        <p:nvSpPr>
          <p:cNvPr id="15" name="矩形 14">
            <a:extLst>
              <a:ext uri="{FF2B5EF4-FFF2-40B4-BE49-F238E27FC236}">
                <a16:creationId xmlns:a16="http://schemas.microsoft.com/office/drawing/2014/main" id="{17732BB2-ACB8-4984-844E-A516F2F27671}"/>
              </a:ext>
            </a:extLst>
          </p:cNvPr>
          <p:cNvSpPr>
            <a:spLocks noGrp="1"/>
          </p:cNvSpPr>
          <p:nvPr/>
        </p:nvSpPr>
        <p:spPr>
          <a:xfrm>
            <a:off x="2819400" y="29146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0.90 − 0.50 = 0.40</a:t>
            </a:r>
          </a:p>
        </p:txBody>
      </p:sp>
      <p:sp>
        <p:nvSpPr>
          <p:cNvPr id="16" name="矩形 15">
            <a:extLst>
              <a:ext uri="{FF2B5EF4-FFF2-40B4-BE49-F238E27FC236}">
                <a16:creationId xmlns:a16="http://schemas.microsoft.com/office/drawing/2014/main" id="{E0DB48E0-DEE6-4275-B35A-E5FC49241DAE}"/>
              </a:ext>
            </a:extLst>
          </p:cNvPr>
          <p:cNvSpPr>
            <a:spLocks noGrp="1"/>
          </p:cNvSpPr>
          <p:nvPr/>
        </p:nvSpPr>
        <p:spPr>
          <a:xfrm>
            <a:off x="800100" y="3581400"/>
            <a:ext cx="10382250" cy="590550"/>
          </a:xfrm>
          <a:prstGeom prst="rect">
            <a:avLst/>
          </a:prstGeom>
          <a:solidFill>
            <a:srgbClr val="FFFFFF"/>
          </a:solidFill>
          <a:ln w="9525">
            <a:solidFill>
              <a:srgbClr val="EEF2F7"/>
            </a:solidFill>
            <a:prstDash val="solid"/>
          </a:ln>
        </p:spPr>
        <p:txBody>
          <a:bodyPr/>
          <a:lstStyle/>
          <a:p>
            <a:endParaRPr lang="zh-CN" altLang="en-US"/>
          </a:p>
        </p:txBody>
      </p:sp>
      <p:sp>
        <p:nvSpPr>
          <p:cNvPr id="17" name="矩形 16">
            <a:extLst>
              <a:ext uri="{FF2B5EF4-FFF2-40B4-BE49-F238E27FC236}">
                <a16:creationId xmlns:a16="http://schemas.microsoft.com/office/drawing/2014/main" id="{BAE3DF24-1345-4585-B314-2653CBADF068}"/>
              </a:ext>
            </a:extLst>
          </p:cNvPr>
          <p:cNvSpPr>
            <a:spLocks noGrp="1"/>
          </p:cNvSpPr>
          <p:nvPr/>
        </p:nvSpPr>
        <p:spPr>
          <a:xfrm>
            <a:off x="1066800" y="365760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平方和</a:t>
            </a:r>
          </a:p>
        </p:txBody>
      </p:sp>
      <p:sp>
        <p:nvSpPr>
          <p:cNvPr id="18" name="矩形 17">
            <a:extLst>
              <a:ext uri="{FF2B5EF4-FFF2-40B4-BE49-F238E27FC236}">
                <a16:creationId xmlns:a16="http://schemas.microsoft.com/office/drawing/2014/main" id="{4F04B4C9-98BF-40DF-AE0B-18FD82622024}"/>
              </a:ext>
            </a:extLst>
          </p:cNvPr>
          <p:cNvSpPr>
            <a:spLocks noGrp="1"/>
          </p:cNvSpPr>
          <p:nvPr/>
        </p:nvSpPr>
        <p:spPr>
          <a:xfrm>
            <a:off x="2819400" y="365760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(−0.40)² + 0.40² = 0.32</a:t>
            </a:r>
          </a:p>
        </p:txBody>
      </p:sp>
      <p:sp>
        <p:nvSpPr>
          <p:cNvPr id="19" name="矩形 18">
            <a:extLst>
              <a:ext uri="{FF2B5EF4-FFF2-40B4-BE49-F238E27FC236}">
                <a16:creationId xmlns:a16="http://schemas.microsoft.com/office/drawing/2014/main" id="{38EEBAF2-2237-42AA-B6F0-E5940D693FBD}"/>
              </a:ext>
            </a:extLst>
          </p:cNvPr>
          <p:cNvSpPr>
            <a:spLocks noGrp="1"/>
          </p:cNvSpPr>
          <p:nvPr/>
        </p:nvSpPr>
        <p:spPr>
          <a:xfrm>
            <a:off x="800100" y="4324350"/>
            <a:ext cx="10382250" cy="590550"/>
          </a:xfrm>
          <a:prstGeom prst="rect">
            <a:avLst/>
          </a:prstGeom>
          <a:solidFill>
            <a:srgbClr val="F7FAFF"/>
          </a:solidFill>
          <a:ln w="9525">
            <a:solidFill>
              <a:srgbClr val="EEF2F7"/>
            </a:solidFill>
            <a:prstDash val="solid"/>
          </a:ln>
        </p:spPr>
        <p:txBody>
          <a:bodyPr/>
          <a:lstStyle/>
          <a:p>
            <a:endParaRPr lang="zh-CN" altLang="en-US"/>
          </a:p>
        </p:txBody>
      </p:sp>
      <p:sp>
        <p:nvSpPr>
          <p:cNvPr id="20" name="矩形 19">
            <a:extLst>
              <a:ext uri="{FF2B5EF4-FFF2-40B4-BE49-F238E27FC236}">
                <a16:creationId xmlns:a16="http://schemas.microsoft.com/office/drawing/2014/main" id="{AA68FBF6-F2AB-4440-8B4C-1084AEBEC98A}"/>
              </a:ext>
            </a:extLst>
          </p:cNvPr>
          <p:cNvSpPr>
            <a:spLocks noGrp="1"/>
          </p:cNvSpPr>
          <p:nvPr/>
        </p:nvSpPr>
        <p:spPr>
          <a:xfrm>
            <a:off x="1066800" y="4400550"/>
            <a:ext cx="1562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黑体"/>
                <a:ea typeface="黑体"/>
                <a:cs typeface="黑体"/>
              </a:rPr>
              <a:t>距离</a:t>
            </a:r>
          </a:p>
        </p:txBody>
      </p:sp>
      <p:sp>
        <p:nvSpPr>
          <p:cNvPr id="21" name="矩形 20">
            <a:extLst>
              <a:ext uri="{FF2B5EF4-FFF2-40B4-BE49-F238E27FC236}">
                <a16:creationId xmlns:a16="http://schemas.microsoft.com/office/drawing/2014/main" id="{2E60010A-F4B3-4709-9325-4F7592319717}"/>
              </a:ext>
            </a:extLst>
          </p:cNvPr>
          <p:cNvSpPr>
            <a:spLocks noGrp="1"/>
          </p:cNvSpPr>
          <p:nvPr/>
        </p:nvSpPr>
        <p:spPr>
          <a:xfrm>
            <a:off x="2819400" y="4400550"/>
            <a:ext cx="75247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3"/>
                </a:solidFill>
                <a:latin typeface="黑体"/>
                <a:ea typeface="黑体"/>
                <a:cs typeface="黑体"/>
              </a:defRPr>
            </a:pPr>
            <a:r>
              <a:rPr>
                <a:latin typeface="Times New Roman"/>
                <a:ea typeface="Times New Roman"/>
                <a:cs typeface="Times New Roman"/>
              </a:rPr>
              <a:t>√0.32 ≈ 0.566</a:t>
            </a:r>
          </a:p>
        </p:txBody>
      </p:sp>
      <p:sp>
        <p:nvSpPr>
          <p:cNvPr id="22" name="矩形 21">
            <a:extLst>
              <a:ext uri="{FF2B5EF4-FFF2-40B4-BE49-F238E27FC236}">
                <a16:creationId xmlns:a16="http://schemas.microsoft.com/office/drawing/2014/main" id="{E697BAAE-DD8E-4C08-B5E9-676A20C6C3B1}"/>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3" name="矩形 22">
            <a:extLst>
              <a:ext uri="{FF2B5EF4-FFF2-40B4-BE49-F238E27FC236}">
                <a16:creationId xmlns:a16="http://schemas.microsoft.com/office/drawing/2014/main" id="{F90974D3-A93C-4DAB-B960-F369DE929059}"/>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距离的意义来自相对比较，而不是单个数字。</a:t>
            </a:r>
          </a:p>
        </p:txBody>
      </p:sp>
    </p:spTree>
    <p:extLst>
      <p:ext uri="{BB962C8B-B14F-4D97-AF65-F5344CB8AC3E}">
        <p14:creationId xmlns:p14="http://schemas.microsoft.com/office/powerpoint/2010/main" val="13428392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a:extLst>
              <a:ext uri="{FF2B5EF4-FFF2-40B4-BE49-F238E27FC236}">
                <a16:creationId xmlns:a16="http://schemas.microsoft.com/office/drawing/2014/main" id="{AC663DCC-1007-454F-892B-B7CB585DA9F8}"/>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8733323-D5E1-450D-B2B6-AFF2949173C9}"/>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6EC057D6-67CA-4809-A0B5-BC547C06A25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0FC154CC-0A85-4FA7-89FC-2BA0683DC3C2}"/>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Manhattan distance</a:t>
            </a:r>
          </a:p>
        </p:txBody>
      </p:sp>
      <p:sp>
        <p:nvSpPr>
          <p:cNvPr id="5" name="矩形 4">
            <a:extLst>
              <a:ext uri="{FF2B5EF4-FFF2-40B4-BE49-F238E27FC236}">
                <a16:creationId xmlns:a16="http://schemas.microsoft.com/office/drawing/2014/main" id="{B3D61AA1-9405-4C6D-B3A0-D365AD87C797}"/>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69/90</a:t>
            </a:r>
          </a:p>
        </p:txBody>
      </p:sp>
      <p:sp>
        <p:nvSpPr>
          <p:cNvPr id="6" name="矩形 5">
            <a:extLst>
              <a:ext uri="{FF2B5EF4-FFF2-40B4-BE49-F238E27FC236}">
                <a16:creationId xmlns:a16="http://schemas.microsoft.com/office/drawing/2014/main" id="{E2AE60B3-8C13-4E8D-8B9D-657BA4F9A71A}"/>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E1155811-CB13-4AD9-94A3-B3D42A80C09E}"/>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d₁(x, y) = Σᵢ |xᵢ − yᵢ|</a:t>
            </a:r>
          </a:p>
        </p:txBody>
      </p:sp>
      <p:sp>
        <p:nvSpPr>
          <p:cNvPr id="8" name="矩形 7">
            <a:extLst>
              <a:ext uri="{FF2B5EF4-FFF2-40B4-BE49-F238E27FC236}">
                <a16:creationId xmlns:a16="http://schemas.microsoft.com/office/drawing/2014/main" id="{F275E89E-EC38-499A-BE7C-606411EED7D8}"/>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6C9FF077-738C-4A57-956D-96E81E7027D8}"/>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对每个维度计算绝对差</a:t>
            </a:r>
          </a:p>
        </p:txBody>
      </p:sp>
      <p:sp>
        <p:nvSpPr>
          <p:cNvPr id="10" name="矩形 9">
            <a:extLst>
              <a:ext uri="{FF2B5EF4-FFF2-40B4-BE49-F238E27FC236}">
                <a16:creationId xmlns:a16="http://schemas.microsoft.com/office/drawing/2014/main" id="{346C2200-0AC8-4FC2-BE44-EADEACC23620}"/>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A11D3F5C-BFAA-48BE-B7F3-B60BCA39D3E9}"/>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直接累加，不对差值平方</a:t>
            </a:r>
          </a:p>
        </p:txBody>
      </p:sp>
      <p:sp>
        <p:nvSpPr>
          <p:cNvPr id="12" name="矩形 11">
            <a:extLst>
              <a:ext uri="{FF2B5EF4-FFF2-40B4-BE49-F238E27FC236}">
                <a16:creationId xmlns:a16="http://schemas.microsoft.com/office/drawing/2014/main" id="{797E2F48-1FA8-45CC-9715-52E4E37C0D61}"/>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8B85A11C-AD1C-4ECF-8FE7-14250249192B}"/>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对单个维度的大偏差没有平方放大</a:t>
            </a:r>
          </a:p>
        </p:txBody>
      </p:sp>
      <p:sp>
        <p:nvSpPr>
          <p:cNvPr id="14" name="矩形 13">
            <a:extLst>
              <a:ext uri="{FF2B5EF4-FFF2-40B4-BE49-F238E27FC236}">
                <a16:creationId xmlns:a16="http://schemas.microsoft.com/office/drawing/2014/main" id="{FAC8BAE2-D630-42A2-8FE5-BEC5A171A38C}"/>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A9F0C4C5-6735-4A3F-8F0C-935E09CEA558}"/>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适合网格路径或希望降低极端差影响的场景</a:t>
            </a:r>
          </a:p>
        </p:txBody>
      </p:sp>
      <p:sp>
        <p:nvSpPr>
          <p:cNvPr id="16" name="矩形 15">
            <a:extLst>
              <a:ext uri="{FF2B5EF4-FFF2-40B4-BE49-F238E27FC236}">
                <a16:creationId xmlns:a16="http://schemas.microsoft.com/office/drawing/2014/main" id="{01C67B54-EB24-4BDF-8480-1BE34C6CF8F3}"/>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32E0B84D-1944-438E-97D3-9F2BF3F4B231}"/>
              </a:ext>
            </a:extLst>
          </p:cNvPr>
          <p:cNvSpPr>
            <a:spLocks noGrp="1"/>
          </p:cNvSpPr>
          <p:nvPr/>
        </p:nvSpPr>
        <p:spPr>
          <a:xfrm>
            <a:off x="6305550" y="1485900"/>
            <a:ext cx="4724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沿坐标方向累计绝对差</a:t>
            </a:r>
          </a:p>
        </p:txBody>
      </p:sp>
      <p:sp>
        <p:nvSpPr>
          <p:cNvPr id="18" name="矩形 17">
            <a:extLst>
              <a:ext uri="{FF2B5EF4-FFF2-40B4-BE49-F238E27FC236}">
                <a16:creationId xmlns:a16="http://schemas.microsoft.com/office/drawing/2014/main" id="{DA4794F8-FDA1-4CF9-8D32-D429591014AA}"/>
              </a:ext>
            </a:extLst>
          </p:cNvPr>
          <p:cNvSpPr>
            <a:spLocks noGrp="1"/>
          </p:cNvSpPr>
          <p:nvPr/>
        </p:nvSpPr>
        <p:spPr>
          <a:xfrm>
            <a:off x="6896100" y="2000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19" name="矩形 18">
            <a:extLst>
              <a:ext uri="{FF2B5EF4-FFF2-40B4-BE49-F238E27FC236}">
                <a16:creationId xmlns:a16="http://schemas.microsoft.com/office/drawing/2014/main" id="{3170CED2-5088-4F95-A979-62FAFC827AEF}"/>
              </a:ext>
            </a:extLst>
          </p:cNvPr>
          <p:cNvSpPr>
            <a:spLocks noGrp="1"/>
          </p:cNvSpPr>
          <p:nvPr/>
        </p:nvSpPr>
        <p:spPr>
          <a:xfrm>
            <a:off x="7353300" y="2000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0" name="矩形 19">
            <a:extLst>
              <a:ext uri="{FF2B5EF4-FFF2-40B4-BE49-F238E27FC236}">
                <a16:creationId xmlns:a16="http://schemas.microsoft.com/office/drawing/2014/main" id="{8C4F7B18-3DF5-42AC-ADD4-7B3A49172F04}"/>
              </a:ext>
            </a:extLst>
          </p:cNvPr>
          <p:cNvSpPr>
            <a:spLocks noGrp="1"/>
          </p:cNvSpPr>
          <p:nvPr/>
        </p:nvSpPr>
        <p:spPr>
          <a:xfrm>
            <a:off x="7810500" y="2000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1" name="矩形 20">
            <a:extLst>
              <a:ext uri="{FF2B5EF4-FFF2-40B4-BE49-F238E27FC236}">
                <a16:creationId xmlns:a16="http://schemas.microsoft.com/office/drawing/2014/main" id="{31F362F7-6350-4E17-84E1-D220F9B99607}"/>
              </a:ext>
            </a:extLst>
          </p:cNvPr>
          <p:cNvSpPr>
            <a:spLocks noGrp="1"/>
          </p:cNvSpPr>
          <p:nvPr/>
        </p:nvSpPr>
        <p:spPr>
          <a:xfrm>
            <a:off x="8267700" y="2000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2" name="矩形 21">
            <a:extLst>
              <a:ext uri="{FF2B5EF4-FFF2-40B4-BE49-F238E27FC236}">
                <a16:creationId xmlns:a16="http://schemas.microsoft.com/office/drawing/2014/main" id="{B9DFE3CB-E8D4-4443-8F53-31175209022B}"/>
              </a:ext>
            </a:extLst>
          </p:cNvPr>
          <p:cNvSpPr>
            <a:spLocks noGrp="1"/>
          </p:cNvSpPr>
          <p:nvPr/>
        </p:nvSpPr>
        <p:spPr>
          <a:xfrm>
            <a:off x="8724900" y="2000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3" name="矩形 22">
            <a:extLst>
              <a:ext uri="{FF2B5EF4-FFF2-40B4-BE49-F238E27FC236}">
                <a16:creationId xmlns:a16="http://schemas.microsoft.com/office/drawing/2014/main" id="{2D6D52BA-2C60-41B3-B929-E983D3153B50}"/>
              </a:ext>
            </a:extLst>
          </p:cNvPr>
          <p:cNvSpPr>
            <a:spLocks noGrp="1"/>
          </p:cNvSpPr>
          <p:nvPr/>
        </p:nvSpPr>
        <p:spPr>
          <a:xfrm>
            <a:off x="9182100" y="2000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4" name="矩形 23">
            <a:extLst>
              <a:ext uri="{FF2B5EF4-FFF2-40B4-BE49-F238E27FC236}">
                <a16:creationId xmlns:a16="http://schemas.microsoft.com/office/drawing/2014/main" id="{9C24AA69-FB13-4526-A538-AFDA0504C148}"/>
              </a:ext>
            </a:extLst>
          </p:cNvPr>
          <p:cNvSpPr>
            <a:spLocks noGrp="1"/>
          </p:cNvSpPr>
          <p:nvPr/>
        </p:nvSpPr>
        <p:spPr>
          <a:xfrm>
            <a:off x="9639300" y="2000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5" name="矩形 24">
            <a:extLst>
              <a:ext uri="{FF2B5EF4-FFF2-40B4-BE49-F238E27FC236}">
                <a16:creationId xmlns:a16="http://schemas.microsoft.com/office/drawing/2014/main" id="{B25C72DB-E7F6-44DA-A5B5-52DBB1D0B630}"/>
              </a:ext>
            </a:extLst>
          </p:cNvPr>
          <p:cNvSpPr>
            <a:spLocks noGrp="1"/>
          </p:cNvSpPr>
          <p:nvPr/>
        </p:nvSpPr>
        <p:spPr>
          <a:xfrm>
            <a:off x="10096500" y="2000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6" name="矩形 25">
            <a:extLst>
              <a:ext uri="{FF2B5EF4-FFF2-40B4-BE49-F238E27FC236}">
                <a16:creationId xmlns:a16="http://schemas.microsoft.com/office/drawing/2014/main" id="{355E9979-88F8-4DFB-A267-B7238F8E2083}"/>
              </a:ext>
            </a:extLst>
          </p:cNvPr>
          <p:cNvSpPr>
            <a:spLocks noGrp="1"/>
          </p:cNvSpPr>
          <p:nvPr/>
        </p:nvSpPr>
        <p:spPr>
          <a:xfrm>
            <a:off x="6896100" y="24574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7" name="矩形 26">
            <a:extLst>
              <a:ext uri="{FF2B5EF4-FFF2-40B4-BE49-F238E27FC236}">
                <a16:creationId xmlns:a16="http://schemas.microsoft.com/office/drawing/2014/main" id="{5BE5560F-E79C-45EB-9CF5-56A914C20FEF}"/>
              </a:ext>
            </a:extLst>
          </p:cNvPr>
          <p:cNvSpPr>
            <a:spLocks noGrp="1"/>
          </p:cNvSpPr>
          <p:nvPr/>
        </p:nvSpPr>
        <p:spPr>
          <a:xfrm>
            <a:off x="7353300" y="24574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8" name="矩形 27">
            <a:extLst>
              <a:ext uri="{FF2B5EF4-FFF2-40B4-BE49-F238E27FC236}">
                <a16:creationId xmlns:a16="http://schemas.microsoft.com/office/drawing/2014/main" id="{4746076B-FF2C-428E-AEDF-B9C22CF9D519}"/>
              </a:ext>
            </a:extLst>
          </p:cNvPr>
          <p:cNvSpPr>
            <a:spLocks noGrp="1"/>
          </p:cNvSpPr>
          <p:nvPr/>
        </p:nvSpPr>
        <p:spPr>
          <a:xfrm>
            <a:off x="7810500" y="24574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29" name="矩形 28">
            <a:extLst>
              <a:ext uri="{FF2B5EF4-FFF2-40B4-BE49-F238E27FC236}">
                <a16:creationId xmlns:a16="http://schemas.microsoft.com/office/drawing/2014/main" id="{54963B5C-D09F-4281-AFA7-78E80960EBA4}"/>
              </a:ext>
            </a:extLst>
          </p:cNvPr>
          <p:cNvSpPr>
            <a:spLocks noGrp="1"/>
          </p:cNvSpPr>
          <p:nvPr/>
        </p:nvSpPr>
        <p:spPr>
          <a:xfrm>
            <a:off x="8267700" y="24574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0" name="矩形 29">
            <a:extLst>
              <a:ext uri="{FF2B5EF4-FFF2-40B4-BE49-F238E27FC236}">
                <a16:creationId xmlns:a16="http://schemas.microsoft.com/office/drawing/2014/main" id="{5A5C5D31-A029-497B-A947-D2E9D0C1E90F}"/>
              </a:ext>
            </a:extLst>
          </p:cNvPr>
          <p:cNvSpPr>
            <a:spLocks noGrp="1"/>
          </p:cNvSpPr>
          <p:nvPr/>
        </p:nvSpPr>
        <p:spPr>
          <a:xfrm>
            <a:off x="8724900" y="24574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1" name="矩形 30">
            <a:extLst>
              <a:ext uri="{FF2B5EF4-FFF2-40B4-BE49-F238E27FC236}">
                <a16:creationId xmlns:a16="http://schemas.microsoft.com/office/drawing/2014/main" id="{FC6323E6-E904-433F-ACDF-87A2630CD73E}"/>
              </a:ext>
            </a:extLst>
          </p:cNvPr>
          <p:cNvSpPr>
            <a:spLocks noGrp="1"/>
          </p:cNvSpPr>
          <p:nvPr/>
        </p:nvSpPr>
        <p:spPr>
          <a:xfrm>
            <a:off x="9182100" y="24574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2" name="矩形 31">
            <a:extLst>
              <a:ext uri="{FF2B5EF4-FFF2-40B4-BE49-F238E27FC236}">
                <a16:creationId xmlns:a16="http://schemas.microsoft.com/office/drawing/2014/main" id="{51E27687-3647-4406-829F-A26DD0F8AFF5}"/>
              </a:ext>
            </a:extLst>
          </p:cNvPr>
          <p:cNvSpPr>
            <a:spLocks noGrp="1"/>
          </p:cNvSpPr>
          <p:nvPr/>
        </p:nvSpPr>
        <p:spPr>
          <a:xfrm>
            <a:off x="9639300" y="24574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3" name="矩形 32">
            <a:extLst>
              <a:ext uri="{FF2B5EF4-FFF2-40B4-BE49-F238E27FC236}">
                <a16:creationId xmlns:a16="http://schemas.microsoft.com/office/drawing/2014/main" id="{4F134360-AC64-4410-8D6A-9522695B73E8}"/>
              </a:ext>
            </a:extLst>
          </p:cNvPr>
          <p:cNvSpPr>
            <a:spLocks noGrp="1"/>
          </p:cNvSpPr>
          <p:nvPr/>
        </p:nvSpPr>
        <p:spPr>
          <a:xfrm>
            <a:off x="10096500" y="24574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4" name="矩形 33">
            <a:extLst>
              <a:ext uri="{FF2B5EF4-FFF2-40B4-BE49-F238E27FC236}">
                <a16:creationId xmlns:a16="http://schemas.microsoft.com/office/drawing/2014/main" id="{DFE35132-2757-4D35-9227-373A4E20D2E8}"/>
              </a:ext>
            </a:extLst>
          </p:cNvPr>
          <p:cNvSpPr>
            <a:spLocks noGrp="1"/>
          </p:cNvSpPr>
          <p:nvPr/>
        </p:nvSpPr>
        <p:spPr>
          <a:xfrm>
            <a:off x="6896100" y="29146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5" name="矩形 34">
            <a:extLst>
              <a:ext uri="{FF2B5EF4-FFF2-40B4-BE49-F238E27FC236}">
                <a16:creationId xmlns:a16="http://schemas.microsoft.com/office/drawing/2014/main" id="{3527276B-503C-493E-A3B1-4686F96713D5}"/>
              </a:ext>
            </a:extLst>
          </p:cNvPr>
          <p:cNvSpPr>
            <a:spLocks noGrp="1"/>
          </p:cNvSpPr>
          <p:nvPr/>
        </p:nvSpPr>
        <p:spPr>
          <a:xfrm>
            <a:off x="7353300" y="29146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6" name="矩形 35">
            <a:extLst>
              <a:ext uri="{FF2B5EF4-FFF2-40B4-BE49-F238E27FC236}">
                <a16:creationId xmlns:a16="http://schemas.microsoft.com/office/drawing/2014/main" id="{185EFC21-34EC-4E6A-8141-A4EB2A2CCB75}"/>
              </a:ext>
            </a:extLst>
          </p:cNvPr>
          <p:cNvSpPr>
            <a:spLocks noGrp="1"/>
          </p:cNvSpPr>
          <p:nvPr/>
        </p:nvSpPr>
        <p:spPr>
          <a:xfrm>
            <a:off x="7810500" y="29146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7" name="矩形 36">
            <a:extLst>
              <a:ext uri="{FF2B5EF4-FFF2-40B4-BE49-F238E27FC236}">
                <a16:creationId xmlns:a16="http://schemas.microsoft.com/office/drawing/2014/main" id="{F1BD1A7A-31CB-4D75-BA2F-91BAC00F4C56}"/>
              </a:ext>
            </a:extLst>
          </p:cNvPr>
          <p:cNvSpPr>
            <a:spLocks noGrp="1"/>
          </p:cNvSpPr>
          <p:nvPr/>
        </p:nvSpPr>
        <p:spPr>
          <a:xfrm>
            <a:off x="8267700" y="29146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8" name="矩形 37">
            <a:extLst>
              <a:ext uri="{FF2B5EF4-FFF2-40B4-BE49-F238E27FC236}">
                <a16:creationId xmlns:a16="http://schemas.microsoft.com/office/drawing/2014/main" id="{639B2D83-F77C-4F6F-8AD5-998347B8331A}"/>
              </a:ext>
            </a:extLst>
          </p:cNvPr>
          <p:cNvSpPr>
            <a:spLocks noGrp="1"/>
          </p:cNvSpPr>
          <p:nvPr/>
        </p:nvSpPr>
        <p:spPr>
          <a:xfrm>
            <a:off x="8724900" y="29146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39" name="矩形 38">
            <a:extLst>
              <a:ext uri="{FF2B5EF4-FFF2-40B4-BE49-F238E27FC236}">
                <a16:creationId xmlns:a16="http://schemas.microsoft.com/office/drawing/2014/main" id="{A8AF8FA3-957B-4279-B16D-85A51BFCB1B1}"/>
              </a:ext>
            </a:extLst>
          </p:cNvPr>
          <p:cNvSpPr>
            <a:spLocks noGrp="1"/>
          </p:cNvSpPr>
          <p:nvPr/>
        </p:nvSpPr>
        <p:spPr>
          <a:xfrm>
            <a:off x="9182100" y="29146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0" name="矩形 39">
            <a:extLst>
              <a:ext uri="{FF2B5EF4-FFF2-40B4-BE49-F238E27FC236}">
                <a16:creationId xmlns:a16="http://schemas.microsoft.com/office/drawing/2014/main" id="{3929FA20-4EEE-4EFD-B5C0-635AC6D017BF}"/>
              </a:ext>
            </a:extLst>
          </p:cNvPr>
          <p:cNvSpPr>
            <a:spLocks noGrp="1"/>
          </p:cNvSpPr>
          <p:nvPr/>
        </p:nvSpPr>
        <p:spPr>
          <a:xfrm>
            <a:off x="9639300" y="29146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1" name="矩形 40">
            <a:extLst>
              <a:ext uri="{FF2B5EF4-FFF2-40B4-BE49-F238E27FC236}">
                <a16:creationId xmlns:a16="http://schemas.microsoft.com/office/drawing/2014/main" id="{805F16D9-C03F-4955-AE7D-C7492F10A458}"/>
              </a:ext>
            </a:extLst>
          </p:cNvPr>
          <p:cNvSpPr>
            <a:spLocks noGrp="1"/>
          </p:cNvSpPr>
          <p:nvPr/>
        </p:nvSpPr>
        <p:spPr>
          <a:xfrm>
            <a:off x="10096500" y="29146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2" name="矩形 41">
            <a:extLst>
              <a:ext uri="{FF2B5EF4-FFF2-40B4-BE49-F238E27FC236}">
                <a16:creationId xmlns:a16="http://schemas.microsoft.com/office/drawing/2014/main" id="{DD5138DA-C717-4CA3-8640-2E645B0465B9}"/>
              </a:ext>
            </a:extLst>
          </p:cNvPr>
          <p:cNvSpPr>
            <a:spLocks noGrp="1"/>
          </p:cNvSpPr>
          <p:nvPr/>
        </p:nvSpPr>
        <p:spPr>
          <a:xfrm>
            <a:off x="6896100" y="33718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3" name="矩形 42">
            <a:extLst>
              <a:ext uri="{FF2B5EF4-FFF2-40B4-BE49-F238E27FC236}">
                <a16:creationId xmlns:a16="http://schemas.microsoft.com/office/drawing/2014/main" id="{4541C404-66DE-46D8-B556-9CB18A3F5CB3}"/>
              </a:ext>
            </a:extLst>
          </p:cNvPr>
          <p:cNvSpPr>
            <a:spLocks noGrp="1"/>
          </p:cNvSpPr>
          <p:nvPr/>
        </p:nvSpPr>
        <p:spPr>
          <a:xfrm>
            <a:off x="7353300" y="33718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4" name="矩形 43">
            <a:extLst>
              <a:ext uri="{FF2B5EF4-FFF2-40B4-BE49-F238E27FC236}">
                <a16:creationId xmlns:a16="http://schemas.microsoft.com/office/drawing/2014/main" id="{EA33F8C8-CACD-4038-BC82-4BD223E66E9D}"/>
              </a:ext>
            </a:extLst>
          </p:cNvPr>
          <p:cNvSpPr>
            <a:spLocks noGrp="1"/>
          </p:cNvSpPr>
          <p:nvPr/>
        </p:nvSpPr>
        <p:spPr>
          <a:xfrm>
            <a:off x="7810500" y="33718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5" name="矩形 44">
            <a:extLst>
              <a:ext uri="{FF2B5EF4-FFF2-40B4-BE49-F238E27FC236}">
                <a16:creationId xmlns:a16="http://schemas.microsoft.com/office/drawing/2014/main" id="{A06A3836-D218-41B6-86BA-03A0AFC32AD9}"/>
              </a:ext>
            </a:extLst>
          </p:cNvPr>
          <p:cNvSpPr>
            <a:spLocks noGrp="1"/>
          </p:cNvSpPr>
          <p:nvPr/>
        </p:nvSpPr>
        <p:spPr>
          <a:xfrm>
            <a:off x="8267700" y="33718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6" name="矩形 45">
            <a:extLst>
              <a:ext uri="{FF2B5EF4-FFF2-40B4-BE49-F238E27FC236}">
                <a16:creationId xmlns:a16="http://schemas.microsoft.com/office/drawing/2014/main" id="{E33C1D45-C8E3-4CDC-B4A6-8580F22174A4}"/>
              </a:ext>
            </a:extLst>
          </p:cNvPr>
          <p:cNvSpPr>
            <a:spLocks noGrp="1"/>
          </p:cNvSpPr>
          <p:nvPr/>
        </p:nvSpPr>
        <p:spPr>
          <a:xfrm>
            <a:off x="8724900" y="33718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7" name="矩形 46">
            <a:extLst>
              <a:ext uri="{FF2B5EF4-FFF2-40B4-BE49-F238E27FC236}">
                <a16:creationId xmlns:a16="http://schemas.microsoft.com/office/drawing/2014/main" id="{249AC56C-9D47-4D50-83AB-C22EBB1B80FD}"/>
              </a:ext>
            </a:extLst>
          </p:cNvPr>
          <p:cNvSpPr>
            <a:spLocks noGrp="1"/>
          </p:cNvSpPr>
          <p:nvPr/>
        </p:nvSpPr>
        <p:spPr>
          <a:xfrm>
            <a:off x="9182100" y="33718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8" name="矩形 47">
            <a:extLst>
              <a:ext uri="{FF2B5EF4-FFF2-40B4-BE49-F238E27FC236}">
                <a16:creationId xmlns:a16="http://schemas.microsoft.com/office/drawing/2014/main" id="{6AA9D4D6-07F3-483C-9F59-35C5762174C3}"/>
              </a:ext>
            </a:extLst>
          </p:cNvPr>
          <p:cNvSpPr>
            <a:spLocks noGrp="1"/>
          </p:cNvSpPr>
          <p:nvPr/>
        </p:nvSpPr>
        <p:spPr>
          <a:xfrm>
            <a:off x="9639300" y="33718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49" name="矩形 48">
            <a:extLst>
              <a:ext uri="{FF2B5EF4-FFF2-40B4-BE49-F238E27FC236}">
                <a16:creationId xmlns:a16="http://schemas.microsoft.com/office/drawing/2014/main" id="{ACBA72F0-6A48-4B07-B9E1-F143FA89D051}"/>
              </a:ext>
            </a:extLst>
          </p:cNvPr>
          <p:cNvSpPr>
            <a:spLocks noGrp="1"/>
          </p:cNvSpPr>
          <p:nvPr/>
        </p:nvSpPr>
        <p:spPr>
          <a:xfrm>
            <a:off x="10096500" y="33718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0" name="矩形 49">
            <a:extLst>
              <a:ext uri="{FF2B5EF4-FFF2-40B4-BE49-F238E27FC236}">
                <a16:creationId xmlns:a16="http://schemas.microsoft.com/office/drawing/2014/main" id="{7848AD2D-0058-40A4-9A9E-BB86653256E7}"/>
              </a:ext>
            </a:extLst>
          </p:cNvPr>
          <p:cNvSpPr>
            <a:spLocks noGrp="1"/>
          </p:cNvSpPr>
          <p:nvPr/>
        </p:nvSpPr>
        <p:spPr>
          <a:xfrm>
            <a:off x="6896100" y="38290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1" name="矩形 50">
            <a:extLst>
              <a:ext uri="{FF2B5EF4-FFF2-40B4-BE49-F238E27FC236}">
                <a16:creationId xmlns:a16="http://schemas.microsoft.com/office/drawing/2014/main" id="{F6DFA440-9BC6-48FC-9614-6E87DDC82918}"/>
              </a:ext>
            </a:extLst>
          </p:cNvPr>
          <p:cNvSpPr>
            <a:spLocks noGrp="1"/>
          </p:cNvSpPr>
          <p:nvPr/>
        </p:nvSpPr>
        <p:spPr>
          <a:xfrm>
            <a:off x="7353300" y="38290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2" name="矩形 51">
            <a:extLst>
              <a:ext uri="{FF2B5EF4-FFF2-40B4-BE49-F238E27FC236}">
                <a16:creationId xmlns:a16="http://schemas.microsoft.com/office/drawing/2014/main" id="{E85FFD15-692F-400E-8708-359B1052F443}"/>
              </a:ext>
            </a:extLst>
          </p:cNvPr>
          <p:cNvSpPr>
            <a:spLocks noGrp="1"/>
          </p:cNvSpPr>
          <p:nvPr/>
        </p:nvSpPr>
        <p:spPr>
          <a:xfrm>
            <a:off x="7810500" y="38290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3" name="矩形 52">
            <a:extLst>
              <a:ext uri="{FF2B5EF4-FFF2-40B4-BE49-F238E27FC236}">
                <a16:creationId xmlns:a16="http://schemas.microsoft.com/office/drawing/2014/main" id="{B4EA392A-C2DA-43CD-B3B3-6001C0CB9B1E}"/>
              </a:ext>
            </a:extLst>
          </p:cNvPr>
          <p:cNvSpPr>
            <a:spLocks noGrp="1"/>
          </p:cNvSpPr>
          <p:nvPr/>
        </p:nvSpPr>
        <p:spPr>
          <a:xfrm>
            <a:off x="8267700" y="38290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4" name="矩形 53">
            <a:extLst>
              <a:ext uri="{FF2B5EF4-FFF2-40B4-BE49-F238E27FC236}">
                <a16:creationId xmlns:a16="http://schemas.microsoft.com/office/drawing/2014/main" id="{3396EF2E-6AD4-4B95-9131-0952F13E9D2F}"/>
              </a:ext>
            </a:extLst>
          </p:cNvPr>
          <p:cNvSpPr>
            <a:spLocks noGrp="1"/>
          </p:cNvSpPr>
          <p:nvPr/>
        </p:nvSpPr>
        <p:spPr>
          <a:xfrm>
            <a:off x="8724900" y="38290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5" name="矩形 54">
            <a:extLst>
              <a:ext uri="{FF2B5EF4-FFF2-40B4-BE49-F238E27FC236}">
                <a16:creationId xmlns:a16="http://schemas.microsoft.com/office/drawing/2014/main" id="{303B77F4-6469-477C-8BB9-62E69AEF013B}"/>
              </a:ext>
            </a:extLst>
          </p:cNvPr>
          <p:cNvSpPr>
            <a:spLocks noGrp="1"/>
          </p:cNvSpPr>
          <p:nvPr/>
        </p:nvSpPr>
        <p:spPr>
          <a:xfrm>
            <a:off x="9182100" y="38290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6" name="矩形 55">
            <a:extLst>
              <a:ext uri="{FF2B5EF4-FFF2-40B4-BE49-F238E27FC236}">
                <a16:creationId xmlns:a16="http://schemas.microsoft.com/office/drawing/2014/main" id="{3409303D-5021-4888-A087-472FEC6A6C75}"/>
              </a:ext>
            </a:extLst>
          </p:cNvPr>
          <p:cNvSpPr>
            <a:spLocks noGrp="1"/>
          </p:cNvSpPr>
          <p:nvPr/>
        </p:nvSpPr>
        <p:spPr>
          <a:xfrm>
            <a:off x="9639300" y="38290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7" name="矩形 56">
            <a:extLst>
              <a:ext uri="{FF2B5EF4-FFF2-40B4-BE49-F238E27FC236}">
                <a16:creationId xmlns:a16="http://schemas.microsoft.com/office/drawing/2014/main" id="{8A06E29C-5CEF-4826-821C-F8765C61528A}"/>
              </a:ext>
            </a:extLst>
          </p:cNvPr>
          <p:cNvSpPr>
            <a:spLocks noGrp="1"/>
          </p:cNvSpPr>
          <p:nvPr/>
        </p:nvSpPr>
        <p:spPr>
          <a:xfrm>
            <a:off x="10096500" y="38290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8" name="矩形 57">
            <a:extLst>
              <a:ext uri="{FF2B5EF4-FFF2-40B4-BE49-F238E27FC236}">
                <a16:creationId xmlns:a16="http://schemas.microsoft.com/office/drawing/2014/main" id="{B7F2E9A1-F0B0-462B-8BF8-08A6A182142A}"/>
              </a:ext>
            </a:extLst>
          </p:cNvPr>
          <p:cNvSpPr>
            <a:spLocks noGrp="1"/>
          </p:cNvSpPr>
          <p:nvPr/>
        </p:nvSpPr>
        <p:spPr>
          <a:xfrm>
            <a:off x="6896100" y="4286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59" name="矩形 58">
            <a:extLst>
              <a:ext uri="{FF2B5EF4-FFF2-40B4-BE49-F238E27FC236}">
                <a16:creationId xmlns:a16="http://schemas.microsoft.com/office/drawing/2014/main" id="{2CA99537-1063-47C9-A737-B4FC7E52FA4E}"/>
              </a:ext>
            </a:extLst>
          </p:cNvPr>
          <p:cNvSpPr>
            <a:spLocks noGrp="1"/>
          </p:cNvSpPr>
          <p:nvPr/>
        </p:nvSpPr>
        <p:spPr>
          <a:xfrm>
            <a:off x="7353300" y="4286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60" name="矩形 59">
            <a:extLst>
              <a:ext uri="{FF2B5EF4-FFF2-40B4-BE49-F238E27FC236}">
                <a16:creationId xmlns:a16="http://schemas.microsoft.com/office/drawing/2014/main" id="{8E138126-1F1B-4BF8-9C15-C67020BB9037}"/>
              </a:ext>
            </a:extLst>
          </p:cNvPr>
          <p:cNvSpPr>
            <a:spLocks noGrp="1"/>
          </p:cNvSpPr>
          <p:nvPr/>
        </p:nvSpPr>
        <p:spPr>
          <a:xfrm>
            <a:off x="7810500" y="4286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61" name="矩形 60">
            <a:extLst>
              <a:ext uri="{FF2B5EF4-FFF2-40B4-BE49-F238E27FC236}">
                <a16:creationId xmlns:a16="http://schemas.microsoft.com/office/drawing/2014/main" id="{F9D64BFB-6E3A-4B80-BAB6-CD0D7235D1D9}"/>
              </a:ext>
            </a:extLst>
          </p:cNvPr>
          <p:cNvSpPr>
            <a:spLocks noGrp="1"/>
          </p:cNvSpPr>
          <p:nvPr/>
        </p:nvSpPr>
        <p:spPr>
          <a:xfrm>
            <a:off x="8267700" y="4286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62" name="矩形 61">
            <a:extLst>
              <a:ext uri="{FF2B5EF4-FFF2-40B4-BE49-F238E27FC236}">
                <a16:creationId xmlns:a16="http://schemas.microsoft.com/office/drawing/2014/main" id="{3500407C-C516-4D78-8E27-C9B396193786}"/>
              </a:ext>
            </a:extLst>
          </p:cNvPr>
          <p:cNvSpPr>
            <a:spLocks noGrp="1"/>
          </p:cNvSpPr>
          <p:nvPr/>
        </p:nvSpPr>
        <p:spPr>
          <a:xfrm>
            <a:off x="8724900" y="4286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63" name="矩形 62">
            <a:extLst>
              <a:ext uri="{FF2B5EF4-FFF2-40B4-BE49-F238E27FC236}">
                <a16:creationId xmlns:a16="http://schemas.microsoft.com/office/drawing/2014/main" id="{41244856-4007-45AD-874B-343BEE63F791}"/>
              </a:ext>
            </a:extLst>
          </p:cNvPr>
          <p:cNvSpPr>
            <a:spLocks noGrp="1"/>
          </p:cNvSpPr>
          <p:nvPr/>
        </p:nvSpPr>
        <p:spPr>
          <a:xfrm>
            <a:off x="9182100" y="4286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64" name="矩形 63">
            <a:extLst>
              <a:ext uri="{FF2B5EF4-FFF2-40B4-BE49-F238E27FC236}">
                <a16:creationId xmlns:a16="http://schemas.microsoft.com/office/drawing/2014/main" id="{A0F40DA5-F868-4BCF-842D-FC1C026AABB2}"/>
              </a:ext>
            </a:extLst>
          </p:cNvPr>
          <p:cNvSpPr>
            <a:spLocks noGrp="1"/>
          </p:cNvSpPr>
          <p:nvPr/>
        </p:nvSpPr>
        <p:spPr>
          <a:xfrm>
            <a:off x="9639300" y="4286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65" name="矩形 64">
            <a:extLst>
              <a:ext uri="{FF2B5EF4-FFF2-40B4-BE49-F238E27FC236}">
                <a16:creationId xmlns:a16="http://schemas.microsoft.com/office/drawing/2014/main" id="{46A80F29-C01D-4AA5-BB0C-FB2A9D8FAF9F}"/>
              </a:ext>
            </a:extLst>
          </p:cNvPr>
          <p:cNvSpPr>
            <a:spLocks noGrp="1"/>
          </p:cNvSpPr>
          <p:nvPr/>
        </p:nvSpPr>
        <p:spPr>
          <a:xfrm>
            <a:off x="10096500" y="4286250"/>
            <a:ext cx="438150" cy="438150"/>
          </a:xfrm>
          <a:prstGeom prst="rect">
            <a:avLst/>
          </a:prstGeom>
          <a:solidFill>
            <a:srgbClr val="FFFFFF"/>
          </a:solidFill>
          <a:ln w="9525">
            <a:solidFill>
              <a:srgbClr val="D3DAE4"/>
            </a:solidFill>
            <a:prstDash val="solid"/>
          </a:ln>
        </p:spPr>
        <p:txBody>
          <a:bodyPr/>
          <a:lstStyle/>
          <a:p>
            <a:endParaRPr lang="zh-CN" altLang="en-US"/>
          </a:p>
        </p:txBody>
      </p:sp>
      <p:sp>
        <p:nvSpPr>
          <p:cNvPr id="66" name="矩形 65">
            <a:extLst>
              <a:ext uri="{FF2B5EF4-FFF2-40B4-BE49-F238E27FC236}">
                <a16:creationId xmlns:a16="http://schemas.microsoft.com/office/drawing/2014/main" id="{D0269EF5-CE20-47D3-9539-E20B36910CB7}"/>
              </a:ext>
            </a:extLst>
          </p:cNvPr>
          <p:cNvSpPr>
            <a:spLocks noGrp="1"/>
          </p:cNvSpPr>
          <p:nvPr/>
        </p:nvSpPr>
        <p:spPr>
          <a:xfrm>
            <a:off x="7353300" y="4286250"/>
            <a:ext cx="2286000"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67" name="矩形 66">
            <a:extLst>
              <a:ext uri="{FF2B5EF4-FFF2-40B4-BE49-F238E27FC236}">
                <a16:creationId xmlns:a16="http://schemas.microsoft.com/office/drawing/2014/main" id="{56FF86DF-9178-4FB5-AE65-B2098AB9344B}"/>
              </a:ext>
            </a:extLst>
          </p:cNvPr>
          <p:cNvSpPr>
            <a:spLocks noGrp="1"/>
          </p:cNvSpPr>
          <p:nvPr/>
        </p:nvSpPr>
        <p:spPr>
          <a:xfrm>
            <a:off x="9639300" y="2457450"/>
            <a:ext cx="57150" cy="18859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09769CC8-8D22-48EF-9BF3-7927B6AC84A3}"/>
              </a:ext>
            </a:extLst>
          </p:cNvPr>
          <p:cNvSpPr>
            <a:spLocks noGrp="1"/>
          </p:cNvSpPr>
          <p:nvPr/>
        </p:nvSpPr>
        <p:spPr>
          <a:xfrm>
            <a:off x="7267575" y="4200525"/>
            <a:ext cx="171450" cy="171450"/>
          </a:xfrm>
          <a:prstGeom prst="ellipse">
            <a:avLst/>
          </a:prstGeom>
          <a:solidFill>
            <a:srgbClr val="014DA1"/>
          </a:solidFill>
          <a:ln w="19050">
            <a:solidFill>
              <a:srgbClr val="FFFFFF"/>
            </a:solidFill>
            <a:prstDash val="solid"/>
          </a:ln>
        </p:spPr>
        <p:txBody>
          <a:bodyPr/>
          <a:lstStyle/>
          <a:p>
            <a:endParaRPr lang="zh-CN" altLang="en-US"/>
          </a:p>
        </p:txBody>
      </p:sp>
      <p:sp>
        <p:nvSpPr>
          <p:cNvPr id="69" name="矩形 68">
            <a:extLst>
              <a:ext uri="{FF2B5EF4-FFF2-40B4-BE49-F238E27FC236}">
                <a16:creationId xmlns:a16="http://schemas.microsoft.com/office/drawing/2014/main" id="{F15FCAD2-CDD0-41E8-A932-532CCC9F8BBD}"/>
              </a:ext>
            </a:extLst>
          </p:cNvPr>
          <p:cNvSpPr>
            <a:spLocks noGrp="1"/>
          </p:cNvSpPr>
          <p:nvPr/>
        </p:nvSpPr>
        <p:spPr>
          <a:xfrm>
            <a:off x="7124700" y="39624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A</a:t>
            </a:r>
          </a:p>
        </p:txBody>
      </p:sp>
      <p:sp>
        <p:nvSpPr>
          <p:cNvPr id="70" name="椭圆 69">
            <a:extLst>
              <a:ext uri="{FF2B5EF4-FFF2-40B4-BE49-F238E27FC236}">
                <a16:creationId xmlns:a16="http://schemas.microsoft.com/office/drawing/2014/main" id="{F74893BA-B7A7-459F-97E0-DAC1A692F201}"/>
              </a:ext>
            </a:extLst>
          </p:cNvPr>
          <p:cNvSpPr>
            <a:spLocks noGrp="1"/>
          </p:cNvSpPr>
          <p:nvPr/>
        </p:nvSpPr>
        <p:spPr>
          <a:xfrm>
            <a:off x="9553575" y="2371725"/>
            <a:ext cx="171450" cy="171450"/>
          </a:xfrm>
          <a:prstGeom prst="ellipse">
            <a:avLst/>
          </a:prstGeom>
          <a:solidFill>
            <a:srgbClr val="A33A3A"/>
          </a:solidFill>
          <a:ln w="19050">
            <a:solidFill>
              <a:srgbClr val="FFFFFF"/>
            </a:solidFill>
            <a:prstDash val="solid"/>
          </a:ln>
        </p:spPr>
        <p:txBody>
          <a:bodyPr/>
          <a:lstStyle/>
          <a:p>
            <a:endParaRPr lang="zh-CN" altLang="en-US"/>
          </a:p>
        </p:txBody>
      </p:sp>
      <p:sp>
        <p:nvSpPr>
          <p:cNvPr id="71" name="矩形 70">
            <a:extLst>
              <a:ext uri="{FF2B5EF4-FFF2-40B4-BE49-F238E27FC236}">
                <a16:creationId xmlns:a16="http://schemas.microsoft.com/office/drawing/2014/main" id="{9C88CE04-DCFF-463B-A00C-86FDF10E0E4A}"/>
              </a:ext>
            </a:extLst>
          </p:cNvPr>
          <p:cNvSpPr>
            <a:spLocks noGrp="1"/>
          </p:cNvSpPr>
          <p:nvPr/>
        </p:nvSpPr>
        <p:spPr>
          <a:xfrm>
            <a:off x="9410700" y="2133600"/>
            <a:ext cx="457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B</a:t>
            </a:r>
          </a:p>
        </p:txBody>
      </p:sp>
      <p:sp>
        <p:nvSpPr>
          <p:cNvPr id="72" name="矩形 71">
            <a:extLst>
              <a:ext uri="{FF2B5EF4-FFF2-40B4-BE49-F238E27FC236}">
                <a16:creationId xmlns:a16="http://schemas.microsoft.com/office/drawing/2014/main" id="{AEFE5792-C920-4009-BEE9-C04A52B851CC}"/>
              </a:ext>
            </a:extLst>
          </p:cNvPr>
          <p:cNvSpPr>
            <a:spLocks noGrp="1"/>
          </p:cNvSpPr>
          <p:nvPr/>
        </p:nvSpPr>
        <p:spPr>
          <a:xfrm>
            <a:off x="7791450" y="4495800"/>
            <a:ext cx="1809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B4964B"/>
                </a:solidFill>
                <a:latin typeface="黑体"/>
                <a:ea typeface="黑体"/>
                <a:cs typeface="黑体"/>
              </a:defRPr>
            </a:pPr>
            <a:r>
              <a:rPr>
                <a:latin typeface="Times New Roman"/>
                <a:ea typeface="Times New Roman"/>
                <a:cs typeface="Times New Roman"/>
              </a:rPr>
              <a:t>|Δx| + |Δy|</a:t>
            </a:r>
          </a:p>
        </p:txBody>
      </p:sp>
      <p:sp>
        <p:nvSpPr>
          <p:cNvPr id="73" name="矩形 72">
            <a:extLst>
              <a:ext uri="{FF2B5EF4-FFF2-40B4-BE49-F238E27FC236}">
                <a16:creationId xmlns:a16="http://schemas.microsoft.com/office/drawing/2014/main" id="{51707212-BFEA-40AF-89F7-05E48206B0D6}"/>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74" name="矩形 73">
            <a:extLst>
              <a:ext uri="{FF2B5EF4-FFF2-40B4-BE49-F238E27FC236}">
                <a16:creationId xmlns:a16="http://schemas.microsoft.com/office/drawing/2014/main" id="{A67F91E2-093D-459B-85EA-62BD934E4BE0}"/>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Manhattan </a:t>
            </a:r>
            <a:r>
              <a:rPr>
                <a:latin typeface="黑体"/>
                <a:ea typeface="黑体"/>
                <a:cs typeface="黑体"/>
              </a:rPr>
              <a:t>与 </a:t>
            </a:r>
            <a:r>
              <a:rPr>
                <a:latin typeface="Times New Roman"/>
                <a:ea typeface="Times New Roman"/>
                <a:cs typeface="Times New Roman"/>
              </a:rPr>
              <a:t>Euclidean </a:t>
            </a:r>
            <a:r>
              <a:rPr>
                <a:latin typeface="黑体"/>
                <a:ea typeface="黑体"/>
                <a:cs typeface="黑体"/>
              </a:rPr>
              <a:t>对多维差异的组合方式不同。</a:t>
            </a:r>
          </a:p>
        </p:txBody>
      </p:sp>
    </p:spTree>
    <p:extLst>
      <p:ext uri="{BB962C8B-B14F-4D97-AF65-F5344CB8AC3E}">
        <p14:creationId xmlns:p14="http://schemas.microsoft.com/office/powerpoint/2010/main" val="4048320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2D7D591D-EF1F-4FAF-81A4-9A0098EA6CA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0B4F5B1F-E72A-4011-99A1-B2FF30D67AB4}"/>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74BD9D2B-6D01-4CFA-8C15-B870935D7B0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1F19889D-0814-4EE6-A968-2E3189294AE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同一组点，不同距离产生不同邻域</a:t>
            </a:r>
          </a:p>
        </p:txBody>
      </p:sp>
      <p:sp>
        <p:nvSpPr>
          <p:cNvPr id="5" name="矩形 4">
            <a:extLst>
              <a:ext uri="{FF2B5EF4-FFF2-40B4-BE49-F238E27FC236}">
                <a16:creationId xmlns:a16="http://schemas.microsoft.com/office/drawing/2014/main" id="{03ACE465-49A3-4CA8-99E7-9E8BCA786AE0}"/>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70/90</a:t>
            </a:r>
          </a:p>
        </p:txBody>
      </p:sp>
      <p:sp>
        <p:nvSpPr>
          <p:cNvPr id="6" name="矩形 5">
            <a:extLst>
              <a:ext uri="{FF2B5EF4-FFF2-40B4-BE49-F238E27FC236}">
                <a16:creationId xmlns:a16="http://schemas.microsoft.com/office/drawing/2014/main" id="{8857FBB4-E976-44FA-9B22-FB6402A6F9F9}"/>
              </a:ext>
            </a:extLst>
          </p:cNvPr>
          <p:cNvSpPr>
            <a:spLocks noGrp="1"/>
          </p:cNvSpPr>
          <p:nvPr/>
        </p:nvSpPr>
        <p:spPr>
          <a:xfrm>
            <a:off x="704850" y="1257300"/>
            <a:ext cx="5257800" cy="4000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AF919C20-18DA-4A2F-9D00-DF8911D4DA7E}"/>
              </a:ext>
            </a:extLst>
          </p:cNvPr>
          <p:cNvSpPr>
            <a:spLocks noGrp="1"/>
          </p:cNvSpPr>
          <p:nvPr/>
        </p:nvSpPr>
        <p:spPr>
          <a:xfrm>
            <a:off x="933450" y="1466850"/>
            <a:ext cx="4800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014DA1"/>
                </a:solidFill>
                <a:latin typeface="黑体"/>
                <a:ea typeface="黑体"/>
                <a:cs typeface="黑体"/>
              </a:defRPr>
            </a:pPr>
            <a:r>
              <a:rPr>
                <a:latin typeface="Times New Roman"/>
                <a:ea typeface="Times New Roman"/>
                <a:cs typeface="Times New Roman"/>
              </a:rPr>
              <a:t>Euclidean </a:t>
            </a:r>
            <a:r>
              <a:rPr>
                <a:latin typeface="黑体"/>
                <a:ea typeface="黑体"/>
                <a:cs typeface="黑体"/>
              </a:rPr>
              <a:t>邻域</a:t>
            </a:r>
          </a:p>
        </p:txBody>
      </p:sp>
      <p:sp>
        <p:nvSpPr>
          <p:cNvPr id="8" name="矩形 7">
            <a:extLst>
              <a:ext uri="{FF2B5EF4-FFF2-40B4-BE49-F238E27FC236}">
                <a16:creationId xmlns:a16="http://schemas.microsoft.com/office/drawing/2014/main" id="{96CF80DE-4B84-4E05-8758-3CB87E9F7236}"/>
              </a:ext>
            </a:extLst>
          </p:cNvPr>
          <p:cNvSpPr>
            <a:spLocks noGrp="1"/>
          </p:cNvSpPr>
          <p:nvPr/>
        </p:nvSpPr>
        <p:spPr>
          <a:xfrm>
            <a:off x="1409700" y="4514850"/>
            <a:ext cx="3848100" cy="19050"/>
          </a:xfrm>
          <a:prstGeom prst="rect">
            <a:avLst/>
          </a:prstGeom>
          <a:solidFill>
            <a:srgbClr val="8998A9"/>
          </a:solidFill>
          <a:ln w="0">
            <a:solidFill>
              <a:srgbClr val="000000">
                <a:alpha val="0"/>
              </a:srgbClr>
            </a:solidFill>
            <a:prstDash val="solid"/>
          </a:ln>
        </p:spPr>
        <p:txBody>
          <a:bodyPr/>
          <a:lstStyle/>
          <a:p>
            <a:endParaRPr lang="zh-CN" altLang="en-US"/>
          </a:p>
        </p:txBody>
      </p:sp>
      <p:sp>
        <p:nvSpPr>
          <p:cNvPr id="9" name="矩形 8">
            <a:extLst>
              <a:ext uri="{FF2B5EF4-FFF2-40B4-BE49-F238E27FC236}">
                <a16:creationId xmlns:a16="http://schemas.microsoft.com/office/drawing/2014/main" id="{29120E5A-6A6C-4123-A3CB-9591CF8443B7}"/>
              </a:ext>
            </a:extLst>
          </p:cNvPr>
          <p:cNvSpPr>
            <a:spLocks noGrp="1"/>
          </p:cNvSpPr>
          <p:nvPr/>
        </p:nvSpPr>
        <p:spPr>
          <a:xfrm>
            <a:off x="3314700" y="2057400"/>
            <a:ext cx="19050" cy="2476500"/>
          </a:xfrm>
          <a:prstGeom prst="rect">
            <a:avLst/>
          </a:prstGeom>
          <a:solidFill>
            <a:srgbClr val="8998A9"/>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BA805F22-4F3F-4BA6-92E6-40AE3BA3DB6D}"/>
              </a:ext>
            </a:extLst>
          </p:cNvPr>
          <p:cNvSpPr>
            <a:spLocks noGrp="1"/>
          </p:cNvSpPr>
          <p:nvPr/>
        </p:nvSpPr>
        <p:spPr>
          <a:xfrm>
            <a:off x="6229350" y="1257300"/>
            <a:ext cx="5257800" cy="4000500"/>
          </a:xfrm>
          <a:prstGeom prst="rect">
            <a:avLst/>
          </a:prstGeom>
          <a:solidFill>
            <a:srgbClr val="FFFFFF"/>
          </a:solidFill>
          <a:ln w="9525">
            <a:solidFill>
              <a:srgbClr val="B8C3D1"/>
            </a:solidFill>
            <a:prstDash val="solid"/>
          </a:ln>
        </p:spPr>
        <p:txBody>
          <a:bodyPr/>
          <a:lstStyle/>
          <a:p>
            <a:endParaRPr lang="zh-CN" altLang="en-US"/>
          </a:p>
        </p:txBody>
      </p:sp>
      <p:sp>
        <p:nvSpPr>
          <p:cNvPr id="11" name="矩形 10">
            <a:extLst>
              <a:ext uri="{FF2B5EF4-FFF2-40B4-BE49-F238E27FC236}">
                <a16:creationId xmlns:a16="http://schemas.microsoft.com/office/drawing/2014/main" id="{38DEFB22-D1E7-47B5-8295-9DF689543E74}"/>
              </a:ext>
            </a:extLst>
          </p:cNvPr>
          <p:cNvSpPr>
            <a:spLocks noGrp="1"/>
          </p:cNvSpPr>
          <p:nvPr/>
        </p:nvSpPr>
        <p:spPr>
          <a:xfrm>
            <a:off x="6457950" y="1466850"/>
            <a:ext cx="4800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B4964B"/>
                </a:solidFill>
                <a:latin typeface="黑体"/>
                <a:ea typeface="黑体"/>
                <a:cs typeface="黑体"/>
              </a:defRPr>
            </a:pPr>
            <a:r>
              <a:rPr>
                <a:latin typeface="Times New Roman"/>
                <a:ea typeface="Times New Roman"/>
                <a:cs typeface="Times New Roman"/>
              </a:rPr>
              <a:t>Manhattan </a:t>
            </a:r>
            <a:r>
              <a:rPr>
                <a:latin typeface="黑体"/>
                <a:ea typeface="黑体"/>
                <a:cs typeface="黑体"/>
              </a:rPr>
              <a:t>邻域</a:t>
            </a:r>
          </a:p>
        </p:txBody>
      </p:sp>
      <p:sp>
        <p:nvSpPr>
          <p:cNvPr id="12" name="矩形 11">
            <a:extLst>
              <a:ext uri="{FF2B5EF4-FFF2-40B4-BE49-F238E27FC236}">
                <a16:creationId xmlns:a16="http://schemas.microsoft.com/office/drawing/2014/main" id="{2E2BC680-9FB6-441E-8549-C11610153B13}"/>
              </a:ext>
            </a:extLst>
          </p:cNvPr>
          <p:cNvSpPr>
            <a:spLocks noGrp="1"/>
          </p:cNvSpPr>
          <p:nvPr/>
        </p:nvSpPr>
        <p:spPr>
          <a:xfrm>
            <a:off x="6934200" y="4514850"/>
            <a:ext cx="3848100" cy="19050"/>
          </a:xfrm>
          <a:prstGeom prst="rect">
            <a:avLst/>
          </a:prstGeom>
          <a:solidFill>
            <a:srgbClr val="8998A9"/>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CD2EFF35-5D73-4B88-BD47-D75A046861FF}"/>
              </a:ext>
            </a:extLst>
          </p:cNvPr>
          <p:cNvSpPr>
            <a:spLocks noGrp="1"/>
          </p:cNvSpPr>
          <p:nvPr/>
        </p:nvSpPr>
        <p:spPr>
          <a:xfrm>
            <a:off x="8839200" y="2057400"/>
            <a:ext cx="19050" cy="2476500"/>
          </a:xfrm>
          <a:prstGeom prst="rect">
            <a:avLst/>
          </a:prstGeom>
          <a:solidFill>
            <a:srgbClr val="8998A9"/>
          </a:solidFill>
          <a:ln w="0">
            <a:solidFill>
              <a:srgbClr val="000000">
                <a:alpha val="0"/>
              </a:srgbClr>
            </a:solidFill>
            <a:prstDash val="solid"/>
          </a:ln>
        </p:spPr>
        <p:txBody>
          <a:bodyPr/>
          <a:lstStyle/>
          <a:p>
            <a:endParaRPr lang="zh-CN" altLang="en-US"/>
          </a:p>
        </p:txBody>
      </p:sp>
      <p:sp>
        <p:nvSpPr>
          <p:cNvPr id="14" name="椭圆 13">
            <a:extLst>
              <a:ext uri="{FF2B5EF4-FFF2-40B4-BE49-F238E27FC236}">
                <a16:creationId xmlns:a16="http://schemas.microsoft.com/office/drawing/2014/main" id="{3F76BA1C-8169-4B47-A7B2-A6246BA5DFFA}"/>
              </a:ext>
            </a:extLst>
          </p:cNvPr>
          <p:cNvSpPr>
            <a:spLocks noGrp="1"/>
          </p:cNvSpPr>
          <p:nvPr/>
        </p:nvSpPr>
        <p:spPr>
          <a:xfrm>
            <a:off x="2114550" y="2286000"/>
            <a:ext cx="2400300" cy="2400300"/>
          </a:xfrm>
          <a:prstGeom prst="ellipse">
            <a:avLst/>
          </a:prstGeom>
          <a:solidFill>
            <a:srgbClr val="DCEBFA">
              <a:alpha val="33333"/>
            </a:srgbClr>
          </a:solidFill>
          <a:ln w="28575">
            <a:solidFill>
              <a:srgbClr val="014DA1"/>
            </a:solidFill>
            <a:prstDash val="solid"/>
          </a:ln>
        </p:spPr>
        <p:txBody>
          <a:bodyPr/>
          <a:lstStyle/>
          <a:p>
            <a:endParaRPr lang="zh-CN" altLang="en-US"/>
          </a:p>
        </p:txBody>
      </p:sp>
      <p:sp>
        <p:nvSpPr>
          <p:cNvPr id="15" name="菱形 14">
            <a:extLst>
              <a:ext uri="{FF2B5EF4-FFF2-40B4-BE49-F238E27FC236}">
                <a16:creationId xmlns:a16="http://schemas.microsoft.com/office/drawing/2014/main" id="{5D68BCD9-0020-4444-92DD-36251180F256}"/>
              </a:ext>
            </a:extLst>
          </p:cNvPr>
          <p:cNvSpPr>
            <a:spLocks noGrp="1"/>
          </p:cNvSpPr>
          <p:nvPr/>
        </p:nvSpPr>
        <p:spPr>
          <a:xfrm>
            <a:off x="7639050" y="2286000"/>
            <a:ext cx="2400300" cy="2400300"/>
          </a:xfrm>
          <a:prstGeom prst="diamond">
            <a:avLst/>
          </a:prstGeom>
          <a:solidFill>
            <a:srgbClr val="F4EBC2">
              <a:alpha val="33333"/>
            </a:srgbClr>
          </a:solidFill>
          <a:ln w="28575">
            <a:solidFill>
              <a:srgbClr val="B4964B"/>
            </a:solidFill>
            <a:prstDash val="solid"/>
          </a:ln>
        </p:spPr>
        <p:txBody>
          <a:bodyPr/>
          <a:lstStyle/>
          <a:p>
            <a:endParaRPr lang="zh-CN" altLang="en-US"/>
          </a:p>
        </p:txBody>
      </p:sp>
      <p:sp>
        <p:nvSpPr>
          <p:cNvPr id="16" name="椭圆 15">
            <a:extLst>
              <a:ext uri="{FF2B5EF4-FFF2-40B4-BE49-F238E27FC236}">
                <a16:creationId xmlns:a16="http://schemas.microsoft.com/office/drawing/2014/main" id="{86659BE6-5D5F-48DC-8929-AB485D3E16A6}"/>
              </a:ext>
            </a:extLst>
          </p:cNvPr>
          <p:cNvSpPr>
            <a:spLocks noGrp="1"/>
          </p:cNvSpPr>
          <p:nvPr/>
        </p:nvSpPr>
        <p:spPr>
          <a:xfrm>
            <a:off x="3333750" y="339090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17" name="椭圆 16">
            <a:extLst>
              <a:ext uri="{FF2B5EF4-FFF2-40B4-BE49-F238E27FC236}">
                <a16:creationId xmlns:a16="http://schemas.microsoft.com/office/drawing/2014/main" id="{369C1F23-FC81-49FE-A2A6-D55D86AA4279}"/>
              </a:ext>
            </a:extLst>
          </p:cNvPr>
          <p:cNvSpPr>
            <a:spLocks noGrp="1"/>
          </p:cNvSpPr>
          <p:nvPr/>
        </p:nvSpPr>
        <p:spPr>
          <a:xfrm>
            <a:off x="2990850" y="299085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18" name="椭圆 17">
            <a:extLst>
              <a:ext uri="{FF2B5EF4-FFF2-40B4-BE49-F238E27FC236}">
                <a16:creationId xmlns:a16="http://schemas.microsoft.com/office/drawing/2014/main" id="{56D29AE7-DF8F-4C31-BB30-EA901231F922}"/>
              </a:ext>
            </a:extLst>
          </p:cNvPr>
          <p:cNvSpPr>
            <a:spLocks noGrp="1"/>
          </p:cNvSpPr>
          <p:nvPr/>
        </p:nvSpPr>
        <p:spPr>
          <a:xfrm>
            <a:off x="3810000" y="371475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19" name="椭圆 18">
            <a:extLst>
              <a:ext uri="{FF2B5EF4-FFF2-40B4-BE49-F238E27FC236}">
                <a16:creationId xmlns:a16="http://schemas.microsoft.com/office/drawing/2014/main" id="{1A93F814-8C13-4B43-A303-75A1558F1F3E}"/>
              </a:ext>
            </a:extLst>
          </p:cNvPr>
          <p:cNvSpPr>
            <a:spLocks noGrp="1"/>
          </p:cNvSpPr>
          <p:nvPr/>
        </p:nvSpPr>
        <p:spPr>
          <a:xfrm>
            <a:off x="2647950" y="388620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20" name="椭圆 19">
            <a:extLst>
              <a:ext uri="{FF2B5EF4-FFF2-40B4-BE49-F238E27FC236}">
                <a16:creationId xmlns:a16="http://schemas.microsoft.com/office/drawing/2014/main" id="{C5EF2EFC-70D0-4C1F-BF5A-EF70A16E787C}"/>
              </a:ext>
            </a:extLst>
          </p:cNvPr>
          <p:cNvSpPr>
            <a:spLocks noGrp="1"/>
          </p:cNvSpPr>
          <p:nvPr/>
        </p:nvSpPr>
        <p:spPr>
          <a:xfrm>
            <a:off x="4143375" y="3143250"/>
            <a:ext cx="114300" cy="114300"/>
          </a:xfrm>
          <a:prstGeom prst="ellipse">
            <a:avLst/>
          </a:prstGeom>
          <a:solidFill>
            <a:srgbClr val="014DA1"/>
          </a:solidFill>
          <a:ln w="9525">
            <a:solidFill>
              <a:srgbClr val="FFFFFF"/>
            </a:solidFill>
            <a:prstDash val="solid"/>
          </a:ln>
        </p:spPr>
        <p:txBody>
          <a:bodyPr/>
          <a:lstStyle/>
          <a:p>
            <a:endParaRPr lang="zh-CN" altLang="en-US"/>
          </a:p>
        </p:txBody>
      </p:sp>
      <p:sp>
        <p:nvSpPr>
          <p:cNvPr id="21" name="椭圆 20">
            <a:extLst>
              <a:ext uri="{FF2B5EF4-FFF2-40B4-BE49-F238E27FC236}">
                <a16:creationId xmlns:a16="http://schemas.microsoft.com/office/drawing/2014/main" id="{FD200D57-B3B0-4DE7-B05A-E5EA1C79928A}"/>
              </a:ext>
            </a:extLst>
          </p:cNvPr>
          <p:cNvSpPr>
            <a:spLocks noGrp="1"/>
          </p:cNvSpPr>
          <p:nvPr/>
        </p:nvSpPr>
        <p:spPr>
          <a:xfrm>
            <a:off x="8858250" y="3390900"/>
            <a:ext cx="114300" cy="114300"/>
          </a:xfrm>
          <a:prstGeom prst="ellipse">
            <a:avLst/>
          </a:prstGeom>
          <a:solidFill>
            <a:srgbClr val="B4964B"/>
          </a:solidFill>
          <a:ln w="9525">
            <a:solidFill>
              <a:srgbClr val="FFFFFF"/>
            </a:solidFill>
            <a:prstDash val="solid"/>
          </a:ln>
        </p:spPr>
        <p:txBody>
          <a:bodyPr/>
          <a:lstStyle/>
          <a:p>
            <a:endParaRPr lang="zh-CN" altLang="en-US"/>
          </a:p>
        </p:txBody>
      </p:sp>
      <p:sp>
        <p:nvSpPr>
          <p:cNvPr id="22" name="椭圆 21">
            <a:extLst>
              <a:ext uri="{FF2B5EF4-FFF2-40B4-BE49-F238E27FC236}">
                <a16:creationId xmlns:a16="http://schemas.microsoft.com/office/drawing/2014/main" id="{98EB588C-7790-4F00-B35C-EB8078509611}"/>
              </a:ext>
            </a:extLst>
          </p:cNvPr>
          <p:cNvSpPr>
            <a:spLocks noGrp="1"/>
          </p:cNvSpPr>
          <p:nvPr/>
        </p:nvSpPr>
        <p:spPr>
          <a:xfrm>
            <a:off x="8515350" y="2990850"/>
            <a:ext cx="114300" cy="114300"/>
          </a:xfrm>
          <a:prstGeom prst="ellipse">
            <a:avLst/>
          </a:prstGeom>
          <a:solidFill>
            <a:srgbClr val="B4964B"/>
          </a:solidFill>
          <a:ln w="9525">
            <a:solidFill>
              <a:srgbClr val="FFFFFF"/>
            </a:solidFill>
            <a:prstDash val="solid"/>
          </a:ln>
        </p:spPr>
        <p:txBody>
          <a:bodyPr/>
          <a:lstStyle/>
          <a:p>
            <a:endParaRPr lang="zh-CN" altLang="en-US"/>
          </a:p>
        </p:txBody>
      </p:sp>
      <p:sp>
        <p:nvSpPr>
          <p:cNvPr id="23" name="椭圆 22">
            <a:extLst>
              <a:ext uri="{FF2B5EF4-FFF2-40B4-BE49-F238E27FC236}">
                <a16:creationId xmlns:a16="http://schemas.microsoft.com/office/drawing/2014/main" id="{62AAF7E0-42C0-4C3B-9EE6-C4671EDE085E}"/>
              </a:ext>
            </a:extLst>
          </p:cNvPr>
          <p:cNvSpPr>
            <a:spLocks noGrp="1"/>
          </p:cNvSpPr>
          <p:nvPr/>
        </p:nvSpPr>
        <p:spPr>
          <a:xfrm>
            <a:off x="9334500" y="3714750"/>
            <a:ext cx="114300" cy="114300"/>
          </a:xfrm>
          <a:prstGeom prst="ellipse">
            <a:avLst/>
          </a:prstGeom>
          <a:solidFill>
            <a:srgbClr val="B4964B"/>
          </a:solidFill>
          <a:ln w="9525">
            <a:solidFill>
              <a:srgbClr val="FFFFFF"/>
            </a:solidFill>
            <a:prstDash val="solid"/>
          </a:ln>
        </p:spPr>
        <p:txBody>
          <a:bodyPr/>
          <a:lstStyle/>
          <a:p>
            <a:endParaRPr lang="zh-CN" altLang="en-US"/>
          </a:p>
        </p:txBody>
      </p:sp>
      <p:sp>
        <p:nvSpPr>
          <p:cNvPr id="24" name="椭圆 23">
            <a:extLst>
              <a:ext uri="{FF2B5EF4-FFF2-40B4-BE49-F238E27FC236}">
                <a16:creationId xmlns:a16="http://schemas.microsoft.com/office/drawing/2014/main" id="{FB1C108E-620D-4F2C-A382-98C67F90C377}"/>
              </a:ext>
            </a:extLst>
          </p:cNvPr>
          <p:cNvSpPr>
            <a:spLocks noGrp="1"/>
          </p:cNvSpPr>
          <p:nvPr/>
        </p:nvSpPr>
        <p:spPr>
          <a:xfrm>
            <a:off x="8172450" y="3886200"/>
            <a:ext cx="114300" cy="114300"/>
          </a:xfrm>
          <a:prstGeom prst="ellipse">
            <a:avLst/>
          </a:prstGeom>
          <a:solidFill>
            <a:srgbClr val="B4964B"/>
          </a:solidFill>
          <a:ln w="9525">
            <a:solidFill>
              <a:srgbClr val="FFFFFF"/>
            </a:solidFill>
            <a:prstDash val="solid"/>
          </a:ln>
        </p:spPr>
        <p:txBody>
          <a:bodyPr/>
          <a:lstStyle/>
          <a:p>
            <a:endParaRPr lang="zh-CN" altLang="en-US"/>
          </a:p>
        </p:txBody>
      </p:sp>
      <p:sp>
        <p:nvSpPr>
          <p:cNvPr id="25" name="椭圆 24">
            <a:extLst>
              <a:ext uri="{FF2B5EF4-FFF2-40B4-BE49-F238E27FC236}">
                <a16:creationId xmlns:a16="http://schemas.microsoft.com/office/drawing/2014/main" id="{B59F6C81-62F1-4A76-8C05-DA76C6D9B357}"/>
              </a:ext>
            </a:extLst>
          </p:cNvPr>
          <p:cNvSpPr>
            <a:spLocks noGrp="1"/>
          </p:cNvSpPr>
          <p:nvPr/>
        </p:nvSpPr>
        <p:spPr>
          <a:xfrm>
            <a:off x="9667875" y="3143250"/>
            <a:ext cx="114300" cy="114300"/>
          </a:xfrm>
          <a:prstGeom prst="ellipse">
            <a:avLst/>
          </a:prstGeom>
          <a:solidFill>
            <a:srgbClr val="B4964B"/>
          </a:solidFill>
          <a:ln w="9525">
            <a:solidFill>
              <a:srgbClr val="FFFFFF"/>
            </a:solidFill>
            <a:prstDash val="solid"/>
          </a:ln>
        </p:spPr>
        <p:txBody>
          <a:bodyPr/>
          <a:lstStyle/>
          <a:p>
            <a:endParaRPr lang="zh-CN" altLang="en-US"/>
          </a:p>
        </p:txBody>
      </p:sp>
      <p:sp>
        <p:nvSpPr>
          <p:cNvPr id="26" name="椭圆 25">
            <a:extLst>
              <a:ext uri="{FF2B5EF4-FFF2-40B4-BE49-F238E27FC236}">
                <a16:creationId xmlns:a16="http://schemas.microsoft.com/office/drawing/2014/main" id="{4D05B88B-B958-4839-9D64-CC421BEAF026}"/>
              </a:ext>
            </a:extLst>
          </p:cNvPr>
          <p:cNvSpPr>
            <a:spLocks noGrp="1"/>
          </p:cNvSpPr>
          <p:nvPr/>
        </p:nvSpPr>
        <p:spPr>
          <a:xfrm>
            <a:off x="3276600" y="3333750"/>
            <a:ext cx="228600" cy="228600"/>
          </a:xfrm>
          <a:prstGeom prst="ellipse">
            <a:avLst/>
          </a:prstGeom>
          <a:solidFill>
            <a:srgbClr val="00204A"/>
          </a:solidFill>
          <a:ln w="19050">
            <a:solidFill>
              <a:srgbClr val="FFFFFF"/>
            </a:solidFill>
            <a:prstDash val="solid"/>
          </a:ln>
        </p:spPr>
        <p:txBody>
          <a:bodyPr/>
          <a:lstStyle/>
          <a:p>
            <a:endParaRPr lang="zh-CN" altLang="en-US"/>
          </a:p>
        </p:txBody>
      </p:sp>
      <p:sp>
        <p:nvSpPr>
          <p:cNvPr id="27" name="椭圆 26">
            <a:extLst>
              <a:ext uri="{FF2B5EF4-FFF2-40B4-BE49-F238E27FC236}">
                <a16:creationId xmlns:a16="http://schemas.microsoft.com/office/drawing/2014/main" id="{2FB103CA-2553-4248-A640-71B3856F5EBC}"/>
              </a:ext>
            </a:extLst>
          </p:cNvPr>
          <p:cNvSpPr>
            <a:spLocks noGrp="1"/>
          </p:cNvSpPr>
          <p:nvPr/>
        </p:nvSpPr>
        <p:spPr>
          <a:xfrm>
            <a:off x="8801100" y="3333750"/>
            <a:ext cx="228600" cy="228600"/>
          </a:xfrm>
          <a:prstGeom prst="ellipse">
            <a:avLst/>
          </a:prstGeom>
          <a:solidFill>
            <a:srgbClr val="00204A"/>
          </a:solidFill>
          <a:ln w="19050">
            <a:solidFill>
              <a:srgbClr val="FFFFFF"/>
            </a:solidFill>
            <a:prstDash val="solid"/>
          </a:ln>
        </p:spPr>
        <p:txBody>
          <a:bodyPr/>
          <a:lstStyle/>
          <a:p>
            <a:endParaRPr lang="zh-CN" altLang="en-US"/>
          </a:p>
        </p:txBody>
      </p:sp>
      <p:sp>
        <p:nvSpPr>
          <p:cNvPr id="28" name="矩形 27">
            <a:extLst>
              <a:ext uri="{FF2B5EF4-FFF2-40B4-BE49-F238E27FC236}">
                <a16:creationId xmlns:a16="http://schemas.microsoft.com/office/drawing/2014/main" id="{E2C92066-BD6D-4753-874B-73DD2630EA4B}"/>
              </a:ext>
            </a:extLst>
          </p:cNvPr>
          <p:cNvSpPr>
            <a:spLocks noGrp="1"/>
          </p:cNvSpPr>
          <p:nvPr/>
        </p:nvSpPr>
        <p:spPr>
          <a:xfrm>
            <a:off x="1809750" y="4838700"/>
            <a:ext cx="3048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14DA1"/>
                </a:solidFill>
                <a:latin typeface="黑体"/>
                <a:ea typeface="黑体"/>
                <a:cs typeface="黑体"/>
              </a:defRPr>
            </a:pPr>
            <a:r>
              <a:rPr>
                <a:latin typeface="黑体"/>
                <a:ea typeface="黑体"/>
                <a:cs typeface="黑体"/>
              </a:rPr>
              <a:t>相同 </a:t>
            </a:r>
            <a:r>
              <a:rPr>
                <a:latin typeface="Times New Roman"/>
                <a:ea typeface="Times New Roman"/>
                <a:cs typeface="Times New Roman"/>
              </a:rPr>
              <a:t>d₂ </a:t>
            </a:r>
            <a:r>
              <a:rPr>
                <a:latin typeface="黑体"/>
                <a:ea typeface="黑体"/>
                <a:cs typeface="黑体"/>
              </a:rPr>
              <a:t>半径形成圆</a:t>
            </a:r>
          </a:p>
        </p:txBody>
      </p:sp>
      <p:sp>
        <p:nvSpPr>
          <p:cNvPr id="29" name="矩形 28">
            <a:extLst>
              <a:ext uri="{FF2B5EF4-FFF2-40B4-BE49-F238E27FC236}">
                <a16:creationId xmlns:a16="http://schemas.microsoft.com/office/drawing/2014/main" id="{7D0EAF33-D28C-4217-A275-E4E0F7EB81E6}"/>
              </a:ext>
            </a:extLst>
          </p:cNvPr>
          <p:cNvSpPr>
            <a:spLocks noGrp="1"/>
          </p:cNvSpPr>
          <p:nvPr/>
        </p:nvSpPr>
        <p:spPr>
          <a:xfrm>
            <a:off x="7334250" y="4838700"/>
            <a:ext cx="3048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黑体"/>
                <a:ea typeface="黑体"/>
                <a:cs typeface="黑体"/>
              </a:rPr>
              <a:t>相同 </a:t>
            </a:r>
            <a:r>
              <a:rPr>
                <a:latin typeface="Times New Roman"/>
                <a:ea typeface="Times New Roman"/>
                <a:cs typeface="Times New Roman"/>
              </a:rPr>
              <a:t>d₁ </a:t>
            </a:r>
            <a:r>
              <a:rPr>
                <a:latin typeface="黑体"/>
                <a:ea typeface="黑体"/>
                <a:cs typeface="黑体"/>
              </a:rPr>
              <a:t>半径形成菱形</a:t>
            </a:r>
          </a:p>
        </p:txBody>
      </p:sp>
      <p:sp>
        <p:nvSpPr>
          <p:cNvPr id="30" name="矩形 29">
            <a:extLst>
              <a:ext uri="{FF2B5EF4-FFF2-40B4-BE49-F238E27FC236}">
                <a16:creationId xmlns:a16="http://schemas.microsoft.com/office/drawing/2014/main" id="{2BF761D8-8109-44BA-BC7D-52D67152AE04}"/>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1" name="矩形 30">
            <a:extLst>
              <a:ext uri="{FF2B5EF4-FFF2-40B4-BE49-F238E27FC236}">
                <a16:creationId xmlns:a16="http://schemas.microsoft.com/office/drawing/2014/main" id="{FF9DAC5A-1A9E-4106-A452-CD01BAE73C1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选择距离函数，就是在选择什么样的差异可以互相补偿。</a:t>
            </a:r>
          </a:p>
        </p:txBody>
      </p:sp>
    </p:spTree>
    <p:extLst>
      <p:ext uri="{BB962C8B-B14F-4D97-AF65-F5344CB8AC3E}">
        <p14:creationId xmlns:p14="http://schemas.microsoft.com/office/powerpoint/2010/main" val="14733496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71A7139E-93C7-4CC5-9315-7FE4EDF0A8D7}"/>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DC7F5D77-1CF9-48C4-B058-153C27634220}"/>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F45190E-9931-497A-8912-B06C5EDAEBF6}"/>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D6BEA39D-396C-468C-AFC5-C7280E96BDA2}"/>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缩放会改变谁是最近邻</a:t>
            </a:r>
          </a:p>
        </p:txBody>
      </p:sp>
      <p:sp>
        <p:nvSpPr>
          <p:cNvPr id="5" name="矩形 4">
            <a:extLst>
              <a:ext uri="{FF2B5EF4-FFF2-40B4-BE49-F238E27FC236}">
                <a16:creationId xmlns:a16="http://schemas.microsoft.com/office/drawing/2014/main" id="{D5AE89ED-E84B-4712-9B17-BEB36D4FC7BE}"/>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71/90</a:t>
            </a:r>
          </a:p>
        </p:txBody>
      </p:sp>
      <p:sp>
        <p:nvSpPr>
          <p:cNvPr id="6" name="矩形 5">
            <a:extLst>
              <a:ext uri="{FF2B5EF4-FFF2-40B4-BE49-F238E27FC236}">
                <a16:creationId xmlns:a16="http://schemas.microsoft.com/office/drawing/2014/main" id="{353828DB-342B-43E7-B63C-5DC5B22AF9F2}"/>
              </a:ext>
            </a:extLst>
          </p:cNvPr>
          <p:cNvSpPr>
            <a:spLocks noGrp="1"/>
          </p:cNvSpPr>
          <p:nvPr/>
        </p:nvSpPr>
        <p:spPr>
          <a:xfrm>
            <a:off x="704850" y="1257300"/>
            <a:ext cx="5257800" cy="4000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3559A12A-2930-47C1-B8F3-0D6B99E978A8}"/>
              </a:ext>
            </a:extLst>
          </p:cNvPr>
          <p:cNvSpPr>
            <a:spLocks noGrp="1"/>
          </p:cNvSpPr>
          <p:nvPr/>
        </p:nvSpPr>
        <p:spPr>
          <a:xfrm>
            <a:off x="933450" y="1466850"/>
            <a:ext cx="48006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014DA1"/>
                </a:solidFill>
                <a:latin typeface="黑体"/>
                <a:ea typeface="黑体"/>
                <a:cs typeface="黑体"/>
              </a:defRPr>
            </a:pPr>
            <a:r>
              <a:rPr>
                <a:latin typeface="黑体"/>
                <a:ea typeface="黑体"/>
                <a:cs typeface="黑体"/>
              </a:rPr>
              <a:t>原始量纲</a:t>
            </a:r>
          </a:p>
        </p:txBody>
      </p:sp>
      <p:sp>
        <p:nvSpPr>
          <p:cNvPr id="8" name="矩形 7">
            <a:extLst>
              <a:ext uri="{FF2B5EF4-FFF2-40B4-BE49-F238E27FC236}">
                <a16:creationId xmlns:a16="http://schemas.microsoft.com/office/drawing/2014/main" id="{29B98F5A-44DA-4AE4-AA65-174263BA0184}"/>
              </a:ext>
            </a:extLst>
          </p:cNvPr>
          <p:cNvSpPr>
            <a:spLocks noGrp="1"/>
          </p:cNvSpPr>
          <p:nvPr/>
        </p:nvSpPr>
        <p:spPr>
          <a:xfrm>
            <a:off x="6229350" y="1257300"/>
            <a:ext cx="5257800" cy="4000500"/>
          </a:xfrm>
          <a:prstGeom prst="rect">
            <a:avLst/>
          </a:prstGeom>
          <a:solidFill>
            <a:srgbClr val="FFFFFF"/>
          </a:solidFill>
          <a:ln w="9525">
            <a:solidFill>
              <a:srgbClr val="B8C3D1"/>
            </a:solidFill>
            <a:prstDash val="solid"/>
          </a:ln>
        </p:spPr>
        <p:txBody>
          <a:bodyPr/>
          <a:lstStyle/>
          <a:p>
            <a:endParaRPr lang="zh-CN" altLang="en-US"/>
          </a:p>
        </p:txBody>
      </p:sp>
      <p:sp>
        <p:nvSpPr>
          <p:cNvPr id="9" name="矩形 8">
            <a:extLst>
              <a:ext uri="{FF2B5EF4-FFF2-40B4-BE49-F238E27FC236}">
                <a16:creationId xmlns:a16="http://schemas.microsoft.com/office/drawing/2014/main" id="{9A84C931-6E61-42D9-BC43-4BC4C4E7CD53}"/>
              </a:ext>
            </a:extLst>
          </p:cNvPr>
          <p:cNvSpPr>
            <a:spLocks noGrp="1"/>
          </p:cNvSpPr>
          <p:nvPr/>
        </p:nvSpPr>
        <p:spPr>
          <a:xfrm>
            <a:off x="6457950" y="1466850"/>
            <a:ext cx="48006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B4964B"/>
                </a:solidFill>
                <a:latin typeface="黑体"/>
                <a:ea typeface="黑体"/>
                <a:cs typeface="黑体"/>
              </a:defRPr>
            </a:pPr>
            <a:r>
              <a:rPr>
                <a:latin typeface="黑体"/>
                <a:ea typeface="黑体"/>
                <a:cs typeface="黑体"/>
              </a:rPr>
              <a:t>标准化后</a:t>
            </a:r>
          </a:p>
        </p:txBody>
      </p:sp>
      <p:sp>
        <p:nvSpPr>
          <p:cNvPr id="10" name="矩形 9">
            <a:extLst>
              <a:ext uri="{FF2B5EF4-FFF2-40B4-BE49-F238E27FC236}">
                <a16:creationId xmlns:a16="http://schemas.microsoft.com/office/drawing/2014/main" id="{61EB1F61-0AFE-4E0E-9D2D-E0BD9E613467}"/>
              </a:ext>
            </a:extLst>
          </p:cNvPr>
          <p:cNvSpPr>
            <a:spLocks noGrp="1"/>
          </p:cNvSpPr>
          <p:nvPr/>
        </p:nvSpPr>
        <p:spPr>
          <a:xfrm>
            <a:off x="1200150" y="2095500"/>
            <a:ext cx="990600" cy="457200"/>
          </a:xfrm>
          <a:prstGeom prst="rect">
            <a:avLst/>
          </a:prstGeom>
          <a:solidFill>
            <a:srgbClr val="00204A"/>
          </a:solidFill>
          <a:ln w="9525">
            <a:solidFill>
              <a:srgbClr val="FFFFFF"/>
            </a:solidFill>
            <a:prstDash val="solid"/>
          </a:ln>
        </p:spPr>
        <p:txBody>
          <a:bodyPr/>
          <a:lstStyle/>
          <a:p>
            <a:endParaRPr lang="zh-CN" altLang="en-US"/>
          </a:p>
        </p:txBody>
      </p:sp>
      <p:sp>
        <p:nvSpPr>
          <p:cNvPr id="11" name="矩形 10">
            <a:extLst>
              <a:ext uri="{FF2B5EF4-FFF2-40B4-BE49-F238E27FC236}">
                <a16:creationId xmlns:a16="http://schemas.microsoft.com/office/drawing/2014/main" id="{10B233A6-2FDB-4EC3-A15F-A89D92A3C43E}"/>
              </a:ext>
            </a:extLst>
          </p:cNvPr>
          <p:cNvSpPr>
            <a:spLocks noGrp="1"/>
          </p:cNvSpPr>
          <p:nvPr/>
        </p:nvSpPr>
        <p:spPr>
          <a:xfrm>
            <a:off x="1257300" y="2228850"/>
            <a:ext cx="876300" cy="190500"/>
          </a:xfrm>
          <a:prstGeom prst="rect">
            <a:avLst/>
          </a:prstGeom>
          <a:solidFill>
            <a:srgbClr val="00204A"/>
          </a:solidFill>
          <a:ln w="0">
            <a:solidFill>
              <a:srgbClr val="000000">
                <a:alpha val="0"/>
              </a:srgbClr>
            </a:solidFill>
            <a:prstDash val="solid"/>
          </a:ln>
        </p:spPr>
        <p:txBody>
          <a:bodyPr lIns="0" tIns="0" rIns="0" bIns="0" anchor="t"/>
          <a:lstStyle/>
          <a:p>
            <a:pPr algn="ctr">
              <a:defRPr sz="1050" b="1">
                <a:solidFill>
                  <a:srgbClr val="FFFFFF"/>
                </a:solidFill>
                <a:latin typeface="黑体"/>
                <a:ea typeface="黑体"/>
                <a:cs typeface="黑体"/>
              </a:defRPr>
            </a:pPr>
            <a:r>
              <a:rPr>
                <a:latin typeface="黑体"/>
                <a:ea typeface="黑体"/>
                <a:cs typeface="黑体"/>
              </a:rPr>
              <a:t>学生</a:t>
            </a:r>
          </a:p>
        </p:txBody>
      </p:sp>
      <p:sp>
        <p:nvSpPr>
          <p:cNvPr id="12" name="矩形 11">
            <a:extLst>
              <a:ext uri="{FF2B5EF4-FFF2-40B4-BE49-F238E27FC236}">
                <a16:creationId xmlns:a16="http://schemas.microsoft.com/office/drawing/2014/main" id="{7D700222-2E71-4D9F-83FD-0DB5C526DD07}"/>
              </a:ext>
            </a:extLst>
          </p:cNvPr>
          <p:cNvSpPr>
            <a:spLocks noGrp="1"/>
          </p:cNvSpPr>
          <p:nvPr/>
        </p:nvSpPr>
        <p:spPr>
          <a:xfrm>
            <a:off x="2190750" y="2095500"/>
            <a:ext cx="1638300" cy="457200"/>
          </a:xfrm>
          <a:prstGeom prst="rect">
            <a:avLst/>
          </a:prstGeom>
          <a:solidFill>
            <a:srgbClr val="00204A"/>
          </a:solidFill>
          <a:ln w="9525">
            <a:solidFill>
              <a:srgbClr val="FFFFFF"/>
            </a:solidFill>
            <a:prstDash val="solid"/>
          </a:ln>
        </p:spPr>
        <p:txBody>
          <a:bodyPr/>
          <a:lstStyle/>
          <a:p>
            <a:endParaRPr lang="zh-CN" altLang="en-US"/>
          </a:p>
        </p:txBody>
      </p:sp>
      <p:sp>
        <p:nvSpPr>
          <p:cNvPr id="13" name="矩形 12">
            <a:extLst>
              <a:ext uri="{FF2B5EF4-FFF2-40B4-BE49-F238E27FC236}">
                <a16:creationId xmlns:a16="http://schemas.microsoft.com/office/drawing/2014/main" id="{435D8618-A62D-4037-9B3C-BBA4ADD6E170}"/>
              </a:ext>
            </a:extLst>
          </p:cNvPr>
          <p:cNvSpPr>
            <a:spLocks noGrp="1"/>
          </p:cNvSpPr>
          <p:nvPr/>
        </p:nvSpPr>
        <p:spPr>
          <a:xfrm>
            <a:off x="2247900" y="2228850"/>
            <a:ext cx="1524000" cy="190500"/>
          </a:xfrm>
          <a:prstGeom prst="rect">
            <a:avLst/>
          </a:prstGeom>
          <a:solidFill>
            <a:srgbClr val="00204A"/>
          </a:solidFill>
          <a:ln w="0">
            <a:solidFill>
              <a:srgbClr val="000000">
                <a:alpha val="0"/>
              </a:srgbClr>
            </a:solidFill>
            <a:prstDash val="solid"/>
          </a:ln>
        </p:spPr>
        <p:txBody>
          <a:bodyPr lIns="0" tIns="0" rIns="0" bIns="0" anchor="t"/>
          <a:lstStyle/>
          <a:p>
            <a:pPr algn="ctr">
              <a:defRPr sz="1050" b="1">
                <a:solidFill>
                  <a:srgbClr val="FFFFFF"/>
                </a:solidFill>
                <a:latin typeface="黑体"/>
                <a:ea typeface="黑体"/>
                <a:cs typeface="黑体"/>
              </a:defRPr>
            </a:pPr>
            <a:r>
              <a:rPr>
                <a:latin typeface="Times New Roman"/>
                <a:ea typeface="Times New Roman"/>
                <a:cs typeface="Times New Roman"/>
              </a:rPr>
              <a:t>login_count</a:t>
            </a:r>
          </a:p>
        </p:txBody>
      </p:sp>
      <p:sp>
        <p:nvSpPr>
          <p:cNvPr id="14" name="矩形 13">
            <a:extLst>
              <a:ext uri="{FF2B5EF4-FFF2-40B4-BE49-F238E27FC236}">
                <a16:creationId xmlns:a16="http://schemas.microsoft.com/office/drawing/2014/main" id="{94D5EC0F-7D91-497C-A509-03BFA557B7AB}"/>
              </a:ext>
            </a:extLst>
          </p:cNvPr>
          <p:cNvSpPr>
            <a:spLocks noGrp="1"/>
          </p:cNvSpPr>
          <p:nvPr/>
        </p:nvSpPr>
        <p:spPr>
          <a:xfrm>
            <a:off x="3829050" y="2095500"/>
            <a:ext cx="1638300" cy="457200"/>
          </a:xfrm>
          <a:prstGeom prst="rect">
            <a:avLst/>
          </a:prstGeom>
          <a:solidFill>
            <a:srgbClr val="00204A"/>
          </a:solidFill>
          <a:ln w="9525">
            <a:solidFill>
              <a:srgbClr val="FFFFFF"/>
            </a:solidFill>
            <a:prstDash val="solid"/>
          </a:ln>
        </p:spPr>
        <p:txBody>
          <a:bodyPr/>
          <a:lstStyle/>
          <a:p>
            <a:endParaRPr lang="zh-CN" altLang="en-US"/>
          </a:p>
        </p:txBody>
      </p:sp>
      <p:sp>
        <p:nvSpPr>
          <p:cNvPr id="15" name="矩形 14">
            <a:extLst>
              <a:ext uri="{FF2B5EF4-FFF2-40B4-BE49-F238E27FC236}">
                <a16:creationId xmlns:a16="http://schemas.microsoft.com/office/drawing/2014/main" id="{C9A11C08-CC07-4E78-BD33-E3B107DFDA9D}"/>
              </a:ext>
            </a:extLst>
          </p:cNvPr>
          <p:cNvSpPr>
            <a:spLocks noGrp="1"/>
          </p:cNvSpPr>
          <p:nvPr/>
        </p:nvSpPr>
        <p:spPr>
          <a:xfrm>
            <a:off x="3886200" y="2228850"/>
            <a:ext cx="1524000" cy="190500"/>
          </a:xfrm>
          <a:prstGeom prst="rect">
            <a:avLst/>
          </a:prstGeom>
          <a:solidFill>
            <a:srgbClr val="00204A"/>
          </a:solidFill>
          <a:ln w="0">
            <a:solidFill>
              <a:srgbClr val="000000">
                <a:alpha val="0"/>
              </a:srgbClr>
            </a:solidFill>
            <a:prstDash val="solid"/>
          </a:ln>
        </p:spPr>
        <p:txBody>
          <a:bodyPr lIns="0" tIns="0" rIns="0" bIns="0" anchor="t"/>
          <a:lstStyle/>
          <a:p>
            <a:pPr algn="ctr">
              <a:defRPr sz="1050" b="1">
                <a:solidFill>
                  <a:srgbClr val="FFFFFF"/>
                </a:solidFill>
                <a:latin typeface="黑体"/>
                <a:ea typeface="黑体"/>
                <a:cs typeface="黑体"/>
              </a:defRPr>
            </a:pPr>
            <a:r>
              <a:rPr>
                <a:latin typeface="Times New Roman"/>
                <a:ea typeface="Times New Roman"/>
                <a:cs typeface="Times New Roman"/>
              </a:rPr>
              <a:t>video_rate</a:t>
            </a:r>
          </a:p>
        </p:txBody>
      </p:sp>
      <p:sp>
        <p:nvSpPr>
          <p:cNvPr id="16" name="矩形 15">
            <a:extLst>
              <a:ext uri="{FF2B5EF4-FFF2-40B4-BE49-F238E27FC236}">
                <a16:creationId xmlns:a16="http://schemas.microsoft.com/office/drawing/2014/main" id="{082695D4-A704-438B-BFEC-06A4091277ED}"/>
              </a:ext>
            </a:extLst>
          </p:cNvPr>
          <p:cNvSpPr>
            <a:spLocks noGrp="1"/>
          </p:cNvSpPr>
          <p:nvPr/>
        </p:nvSpPr>
        <p:spPr>
          <a:xfrm>
            <a:off x="1200150" y="2552700"/>
            <a:ext cx="990600" cy="495300"/>
          </a:xfrm>
          <a:prstGeom prst="rect">
            <a:avLst/>
          </a:prstGeom>
          <a:solidFill>
            <a:srgbClr val="F5F8FC"/>
          </a:solidFill>
          <a:ln w="9525">
            <a:solidFill>
              <a:srgbClr val="C5CFDB"/>
            </a:solidFill>
            <a:prstDash val="solid"/>
          </a:ln>
        </p:spPr>
        <p:txBody>
          <a:bodyPr/>
          <a:lstStyle/>
          <a:p>
            <a:endParaRPr lang="zh-CN" altLang="en-US"/>
          </a:p>
        </p:txBody>
      </p:sp>
      <p:sp>
        <p:nvSpPr>
          <p:cNvPr id="17" name="矩形 16">
            <a:extLst>
              <a:ext uri="{FF2B5EF4-FFF2-40B4-BE49-F238E27FC236}">
                <a16:creationId xmlns:a16="http://schemas.microsoft.com/office/drawing/2014/main" id="{09D0199F-1444-4E17-8AE2-72EE431D2BE9}"/>
              </a:ext>
            </a:extLst>
          </p:cNvPr>
          <p:cNvSpPr>
            <a:spLocks noGrp="1"/>
          </p:cNvSpPr>
          <p:nvPr/>
        </p:nvSpPr>
        <p:spPr>
          <a:xfrm>
            <a:off x="1276350" y="2695575"/>
            <a:ext cx="8382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Times New Roman"/>
                <a:ea typeface="Times New Roman"/>
                <a:cs typeface="Times New Roman"/>
              </a:rPr>
              <a:t>Q</a:t>
            </a:r>
          </a:p>
        </p:txBody>
      </p:sp>
      <p:sp>
        <p:nvSpPr>
          <p:cNvPr id="18" name="矩形 17">
            <a:extLst>
              <a:ext uri="{FF2B5EF4-FFF2-40B4-BE49-F238E27FC236}">
                <a16:creationId xmlns:a16="http://schemas.microsoft.com/office/drawing/2014/main" id="{F076470D-6B08-4B77-B5FF-69D665584DC7}"/>
              </a:ext>
            </a:extLst>
          </p:cNvPr>
          <p:cNvSpPr>
            <a:spLocks noGrp="1"/>
          </p:cNvSpPr>
          <p:nvPr/>
        </p:nvSpPr>
        <p:spPr>
          <a:xfrm>
            <a:off x="2190750" y="2552700"/>
            <a:ext cx="1638300" cy="495300"/>
          </a:xfrm>
          <a:prstGeom prst="rect">
            <a:avLst/>
          </a:prstGeom>
          <a:solidFill>
            <a:srgbClr val="F5F8FC"/>
          </a:solidFill>
          <a:ln w="9525">
            <a:solidFill>
              <a:srgbClr val="C5CFDB"/>
            </a:solidFill>
            <a:prstDash val="solid"/>
          </a:ln>
        </p:spPr>
        <p:txBody>
          <a:bodyPr/>
          <a:lstStyle/>
          <a:p>
            <a:endParaRPr lang="zh-CN" altLang="en-US"/>
          </a:p>
        </p:txBody>
      </p:sp>
      <p:sp>
        <p:nvSpPr>
          <p:cNvPr id="19" name="矩形 18">
            <a:extLst>
              <a:ext uri="{FF2B5EF4-FFF2-40B4-BE49-F238E27FC236}">
                <a16:creationId xmlns:a16="http://schemas.microsoft.com/office/drawing/2014/main" id="{C62E65B0-52B3-4D5D-9544-F63D028D342F}"/>
              </a:ext>
            </a:extLst>
          </p:cNvPr>
          <p:cNvSpPr>
            <a:spLocks noGrp="1"/>
          </p:cNvSpPr>
          <p:nvPr/>
        </p:nvSpPr>
        <p:spPr>
          <a:xfrm>
            <a:off x="2266950" y="2695575"/>
            <a:ext cx="14859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10</a:t>
            </a:r>
          </a:p>
        </p:txBody>
      </p:sp>
      <p:sp>
        <p:nvSpPr>
          <p:cNvPr id="20" name="矩形 19">
            <a:extLst>
              <a:ext uri="{FF2B5EF4-FFF2-40B4-BE49-F238E27FC236}">
                <a16:creationId xmlns:a16="http://schemas.microsoft.com/office/drawing/2014/main" id="{6B759A79-B292-4B1D-8091-FB9238B32F30}"/>
              </a:ext>
            </a:extLst>
          </p:cNvPr>
          <p:cNvSpPr>
            <a:spLocks noGrp="1"/>
          </p:cNvSpPr>
          <p:nvPr/>
        </p:nvSpPr>
        <p:spPr>
          <a:xfrm>
            <a:off x="3829050" y="2552700"/>
            <a:ext cx="1638300" cy="495300"/>
          </a:xfrm>
          <a:prstGeom prst="rect">
            <a:avLst/>
          </a:prstGeom>
          <a:solidFill>
            <a:srgbClr val="F5F8FC"/>
          </a:solidFill>
          <a:ln w="9525">
            <a:solidFill>
              <a:srgbClr val="C5CFDB"/>
            </a:solidFill>
            <a:prstDash val="solid"/>
          </a:ln>
        </p:spPr>
        <p:txBody>
          <a:bodyPr/>
          <a:lstStyle/>
          <a:p>
            <a:endParaRPr lang="zh-CN" altLang="en-US"/>
          </a:p>
        </p:txBody>
      </p:sp>
      <p:sp>
        <p:nvSpPr>
          <p:cNvPr id="21" name="矩形 20">
            <a:extLst>
              <a:ext uri="{FF2B5EF4-FFF2-40B4-BE49-F238E27FC236}">
                <a16:creationId xmlns:a16="http://schemas.microsoft.com/office/drawing/2014/main" id="{F1DF4082-A1FB-4C76-9C7F-239F1D9E5B8A}"/>
              </a:ext>
            </a:extLst>
          </p:cNvPr>
          <p:cNvSpPr>
            <a:spLocks noGrp="1"/>
          </p:cNvSpPr>
          <p:nvPr/>
        </p:nvSpPr>
        <p:spPr>
          <a:xfrm>
            <a:off x="3905250" y="2695575"/>
            <a:ext cx="14859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0.40</a:t>
            </a:r>
          </a:p>
        </p:txBody>
      </p:sp>
      <p:sp>
        <p:nvSpPr>
          <p:cNvPr id="22" name="矩形 21">
            <a:extLst>
              <a:ext uri="{FF2B5EF4-FFF2-40B4-BE49-F238E27FC236}">
                <a16:creationId xmlns:a16="http://schemas.microsoft.com/office/drawing/2014/main" id="{EB56531E-3123-49CD-8C28-EA42A73DAA85}"/>
              </a:ext>
            </a:extLst>
          </p:cNvPr>
          <p:cNvSpPr>
            <a:spLocks noGrp="1"/>
          </p:cNvSpPr>
          <p:nvPr/>
        </p:nvSpPr>
        <p:spPr>
          <a:xfrm>
            <a:off x="1200150" y="3086100"/>
            <a:ext cx="990600" cy="495300"/>
          </a:xfrm>
          <a:prstGeom prst="rect">
            <a:avLst/>
          </a:prstGeom>
          <a:solidFill>
            <a:srgbClr val="FFFFFF"/>
          </a:solidFill>
          <a:ln w="9525">
            <a:solidFill>
              <a:srgbClr val="C5CFDB"/>
            </a:solidFill>
            <a:prstDash val="solid"/>
          </a:ln>
        </p:spPr>
        <p:txBody>
          <a:bodyPr/>
          <a:lstStyle/>
          <a:p>
            <a:endParaRPr lang="zh-CN" altLang="en-US"/>
          </a:p>
        </p:txBody>
      </p:sp>
      <p:sp>
        <p:nvSpPr>
          <p:cNvPr id="23" name="矩形 22">
            <a:extLst>
              <a:ext uri="{FF2B5EF4-FFF2-40B4-BE49-F238E27FC236}">
                <a16:creationId xmlns:a16="http://schemas.microsoft.com/office/drawing/2014/main" id="{6E2DDCCD-C0D0-4A93-86B4-B457E88FAFE8}"/>
              </a:ext>
            </a:extLst>
          </p:cNvPr>
          <p:cNvSpPr>
            <a:spLocks noGrp="1"/>
          </p:cNvSpPr>
          <p:nvPr/>
        </p:nvSpPr>
        <p:spPr>
          <a:xfrm>
            <a:off x="1276350" y="3228975"/>
            <a:ext cx="838200" cy="209550"/>
          </a:xfrm>
          <a:prstGeom prst="rect">
            <a:avLst/>
          </a:prstGeom>
          <a:solidFill>
            <a:srgbClr val="FFFFFF"/>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Times New Roman"/>
                <a:ea typeface="Times New Roman"/>
                <a:cs typeface="Times New Roman"/>
              </a:rPr>
              <a:t>A</a:t>
            </a:r>
          </a:p>
        </p:txBody>
      </p:sp>
      <p:sp>
        <p:nvSpPr>
          <p:cNvPr id="24" name="矩形 23">
            <a:extLst>
              <a:ext uri="{FF2B5EF4-FFF2-40B4-BE49-F238E27FC236}">
                <a16:creationId xmlns:a16="http://schemas.microsoft.com/office/drawing/2014/main" id="{B1EAB6C4-856B-4173-A999-75DF72D38133}"/>
              </a:ext>
            </a:extLst>
          </p:cNvPr>
          <p:cNvSpPr>
            <a:spLocks noGrp="1"/>
          </p:cNvSpPr>
          <p:nvPr/>
        </p:nvSpPr>
        <p:spPr>
          <a:xfrm>
            <a:off x="2190750" y="3086100"/>
            <a:ext cx="1638300" cy="495300"/>
          </a:xfrm>
          <a:prstGeom prst="rect">
            <a:avLst/>
          </a:prstGeom>
          <a:solidFill>
            <a:srgbClr val="FFFFFF"/>
          </a:solidFill>
          <a:ln w="9525">
            <a:solidFill>
              <a:srgbClr val="C5CFDB"/>
            </a:solidFill>
            <a:prstDash val="solid"/>
          </a:ln>
        </p:spPr>
        <p:txBody>
          <a:bodyPr/>
          <a:lstStyle/>
          <a:p>
            <a:endParaRPr lang="zh-CN" altLang="en-US"/>
          </a:p>
        </p:txBody>
      </p:sp>
      <p:sp>
        <p:nvSpPr>
          <p:cNvPr id="25" name="矩形 24">
            <a:extLst>
              <a:ext uri="{FF2B5EF4-FFF2-40B4-BE49-F238E27FC236}">
                <a16:creationId xmlns:a16="http://schemas.microsoft.com/office/drawing/2014/main" id="{84B69AEC-61DD-4971-AC50-ACCCE90FE478}"/>
              </a:ext>
            </a:extLst>
          </p:cNvPr>
          <p:cNvSpPr>
            <a:spLocks noGrp="1"/>
          </p:cNvSpPr>
          <p:nvPr/>
        </p:nvSpPr>
        <p:spPr>
          <a:xfrm>
            <a:off x="2266950" y="3228975"/>
            <a:ext cx="1485900" cy="209550"/>
          </a:xfrm>
          <a:prstGeom prst="rect">
            <a:avLst/>
          </a:prstGeom>
          <a:solidFill>
            <a:srgbClr val="FFFFFF"/>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11</a:t>
            </a:r>
          </a:p>
        </p:txBody>
      </p:sp>
      <p:sp>
        <p:nvSpPr>
          <p:cNvPr id="26" name="矩形 25">
            <a:extLst>
              <a:ext uri="{FF2B5EF4-FFF2-40B4-BE49-F238E27FC236}">
                <a16:creationId xmlns:a16="http://schemas.microsoft.com/office/drawing/2014/main" id="{AF20B359-5987-4516-B948-374027FB7EC1}"/>
              </a:ext>
            </a:extLst>
          </p:cNvPr>
          <p:cNvSpPr>
            <a:spLocks noGrp="1"/>
          </p:cNvSpPr>
          <p:nvPr/>
        </p:nvSpPr>
        <p:spPr>
          <a:xfrm>
            <a:off x="3829050" y="3086100"/>
            <a:ext cx="1638300" cy="495300"/>
          </a:xfrm>
          <a:prstGeom prst="rect">
            <a:avLst/>
          </a:prstGeom>
          <a:solidFill>
            <a:srgbClr val="FFFFFF"/>
          </a:solidFill>
          <a:ln w="9525">
            <a:solidFill>
              <a:srgbClr val="C5CFDB"/>
            </a:solidFill>
            <a:prstDash val="solid"/>
          </a:ln>
        </p:spPr>
        <p:txBody>
          <a:bodyPr/>
          <a:lstStyle/>
          <a:p>
            <a:endParaRPr lang="zh-CN" altLang="en-US"/>
          </a:p>
        </p:txBody>
      </p:sp>
      <p:sp>
        <p:nvSpPr>
          <p:cNvPr id="27" name="矩形 26">
            <a:extLst>
              <a:ext uri="{FF2B5EF4-FFF2-40B4-BE49-F238E27FC236}">
                <a16:creationId xmlns:a16="http://schemas.microsoft.com/office/drawing/2014/main" id="{DDE3023F-7715-49C5-8DF7-20DC7D29A73D}"/>
              </a:ext>
            </a:extLst>
          </p:cNvPr>
          <p:cNvSpPr>
            <a:spLocks noGrp="1"/>
          </p:cNvSpPr>
          <p:nvPr/>
        </p:nvSpPr>
        <p:spPr>
          <a:xfrm>
            <a:off x="3905250" y="3228975"/>
            <a:ext cx="1485900" cy="209550"/>
          </a:xfrm>
          <a:prstGeom prst="rect">
            <a:avLst/>
          </a:prstGeom>
          <a:solidFill>
            <a:srgbClr val="FFFFFF"/>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0.90</a:t>
            </a:r>
          </a:p>
        </p:txBody>
      </p:sp>
      <p:sp>
        <p:nvSpPr>
          <p:cNvPr id="28" name="矩形 27">
            <a:extLst>
              <a:ext uri="{FF2B5EF4-FFF2-40B4-BE49-F238E27FC236}">
                <a16:creationId xmlns:a16="http://schemas.microsoft.com/office/drawing/2014/main" id="{C1A589E7-FCF4-4E1F-8A70-C2ADE00B06D0}"/>
              </a:ext>
            </a:extLst>
          </p:cNvPr>
          <p:cNvSpPr>
            <a:spLocks noGrp="1"/>
          </p:cNvSpPr>
          <p:nvPr/>
        </p:nvSpPr>
        <p:spPr>
          <a:xfrm>
            <a:off x="1200150" y="3619500"/>
            <a:ext cx="990600" cy="495300"/>
          </a:xfrm>
          <a:prstGeom prst="rect">
            <a:avLst/>
          </a:prstGeom>
          <a:solidFill>
            <a:srgbClr val="F5F8FC"/>
          </a:solidFill>
          <a:ln w="9525">
            <a:solidFill>
              <a:srgbClr val="C5CFDB"/>
            </a:solidFill>
            <a:prstDash val="solid"/>
          </a:ln>
        </p:spPr>
        <p:txBody>
          <a:bodyPr/>
          <a:lstStyle/>
          <a:p>
            <a:endParaRPr lang="zh-CN" altLang="en-US"/>
          </a:p>
        </p:txBody>
      </p:sp>
      <p:sp>
        <p:nvSpPr>
          <p:cNvPr id="29" name="矩形 28">
            <a:extLst>
              <a:ext uri="{FF2B5EF4-FFF2-40B4-BE49-F238E27FC236}">
                <a16:creationId xmlns:a16="http://schemas.microsoft.com/office/drawing/2014/main" id="{A6CDA3EE-FCD0-4D4E-8099-DEC72FC68EC6}"/>
              </a:ext>
            </a:extLst>
          </p:cNvPr>
          <p:cNvSpPr>
            <a:spLocks noGrp="1"/>
          </p:cNvSpPr>
          <p:nvPr/>
        </p:nvSpPr>
        <p:spPr>
          <a:xfrm>
            <a:off x="1276350" y="3762375"/>
            <a:ext cx="8382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1">
                <a:solidFill>
                  <a:srgbClr val="1F2933"/>
                </a:solidFill>
                <a:latin typeface="黑体"/>
                <a:ea typeface="黑体"/>
                <a:cs typeface="黑体"/>
              </a:defRPr>
            </a:pPr>
            <a:r>
              <a:rPr>
                <a:latin typeface="Times New Roman"/>
                <a:ea typeface="Times New Roman"/>
                <a:cs typeface="Times New Roman"/>
              </a:rPr>
              <a:t>B</a:t>
            </a:r>
          </a:p>
        </p:txBody>
      </p:sp>
      <p:sp>
        <p:nvSpPr>
          <p:cNvPr id="30" name="矩形 29">
            <a:extLst>
              <a:ext uri="{FF2B5EF4-FFF2-40B4-BE49-F238E27FC236}">
                <a16:creationId xmlns:a16="http://schemas.microsoft.com/office/drawing/2014/main" id="{AECF4554-B86E-4C68-A57E-B95FF9FC57DF}"/>
              </a:ext>
            </a:extLst>
          </p:cNvPr>
          <p:cNvSpPr>
            <a:spLocks noGrp="1"/>
          </p:cNvSpPr>
          <p:nvPr/>
        </p:nvSpPr>
        <p:spPr>
          <a:xfrm>
            <a:off x="2190750" y="3619500"/>
            <a:ext cx="1638300" cy="495300"/>
          </a:xfrm>
          <a:prstGeom prst="rect">
            <a:avLst/>
          </a:prstGeom>
          <a:solidFill>
            <a:srgbClr val="F5F8FC"/>
          </a:solidFill>
          <a:ln w="9525">
            <a:solidFill>
              <a:srgbClr val="C5CFDB"/>
            </a:solidFill>
            <a:prstDash val="solid"/>
          </a:ln>
        </p:spPr>
        <p:txBody>
          <a:bodyPr/>
          <a:lstStyle/>
          <a:p>
            <a:endParaRPr lang="zh-CN" altLang="en-US"/>
          </a:p>
        </p:txBody>
      </p:sp>
      <p:sp>
        <p:nvSpPr>
          <p:cNvPr id="31" name="矩形 30">
            <a:extLst>
              <a:ext uri="{FF2B5EF4-FFF2-40B4-BE49-F238E27FC236}">
                <a16:creationId xmlns:a16="http://schemas.microsoft.com/office/drawing/2014/main" id="{8230824C-D3AA-4463-A559-2C8543C9ABD0}"/>
              </a:ext>
            </a:extLst>
          </p:cNvPr>
          <p:cNvSpPr>
            <a:spLocks noGrp="1"/>
          </p:cNvSpPr>
          <p:nvPr/>
        </p:nvSpPr>
        <p:spPr>
          <a:xfrm>
            <a:off x="2266950" y="3762375"/>
            <a:ext cx="14859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15</a:t>
            </a:r>
          </a:p>
        </p:txBody>
      </p:sp>
      <p:sp>
        <p:nvSpPr>
          <p:cNvPr id="32" name="矩形 31">
            <a:extLst>
              <a:ext uri="{FF2B5EF4-FFF2-40B4-BE49-F238E27FC236}">
                <a16:creationId xmlns:a16="http://schemas.microsoft.com/office/drawing/2014/main" id="{B7D83F17-A787-46BF-80A6-7F84A3033D43}"/>
              </a:ext>
            </a:extLst>
          </p:cNvPr>
          <p:cNvSpPr>
            <a:spLocks noGrp="1"/>
          </p:cNvSpPr>
          <p:nvPr/>
        </p:nvSpPr>
        <p:spPr>
          <a:xfrm>
            <a:off x="3829050" y="3619500"/>
            <a:ext cx="1638300" cy="495300"/>
          </a:xfrm>
          <a:prstGeom prst="rect">
            <a:avLst/>
          </a:prstGeom>
          <a:solidFill>
            <a:srgbClr val="F5F8FC"/>
          </a:solidFill>
          <a:ln w="9525">
            <a:solidFill>
              <a:srgbClr val="C5CFDB"/>
            </a:solidFill>
            <a:prstDash val="solid"/>
          </a:ln>
        </p:spPr>
        <p:txBody>
          <a:bodyPr/>
          <a:lstStyle/>
          <a:p>
            <a:endParaRPr lang="zh-CN" altLang="en-US"/>
          </a:p>
        </p:txBody>
      </p:sp>
      <p:sp>
        <p:nvSpPr>
          <p:cNvPr id="33" name="矩形 32">
            <a:extLst>
              <a:ext uri="{FF2B5EF4-FFF2-40B4-BE49-F238E27FC236}">
                <a16:creationId xmlns:a16="http://schemas.microsoft.com/office/drawing/2014/main" id="{73E378F1-3A9C-4892-B49E-5FCD9D9B27EB}"/>
              </a:ext>
            </a:extLst>
          </p:cNvPr>
          <p:cNvSpPr>
            <a:spLocks noGrp="1"/>
          </p:cNvSpPr>
          <p:nvPr/>
        </p:nvSpPr>
        <p:spPr>
          <a:xfrm>
            <a:off x="3905250" y="3762375"/>
            <a:ext cx="1485900" cy="209550"/>
          </a:xfrm>
          <a:prstGeom prst="rect">
            <a:avLst/>
          </a:prstGeom>
          <a:solidFill>
            <a:srgbClr val="F5F8FC"/>
          </a:solidFill>
          <a:ln w="0">
            <a:solidFill>
              <a:srgbClr val="000000">
                <a:alpha val="0"/>
              </a:srgbClr>
            </a:solidFill>
            <a:prstDash val="solid"/>
          </a:ln>
        </p:spPr>
        <p:txBody>
          <a:bodyPr lIns="0" tIns="0" rIns="0" bIns="0" anchor="t"/>
          <a:lstStyle/>
          <a:p>
            <a:pPr algn="ctr">
              <a:defRPr sz="1275" b="0">
                <a:solidFill>
                  <a:srgbClr val="1F2933"/>
                </a:solidFill>
                <a:latin typeface="黑体"/>
                <a:ea typeface="黑体"/>
                <a:cs typeface="黑体"/>
              </a:defRPr>
            </a:pPr>
            <a:r>
              <a:rPr>
                <a:latin typeface="Times New Roman"/>
                <a:ea typeface="Times New Roman"/>
                <a:cs typeface="Times New Roman"/>
              </a:rPr>
              <a:t>0.42</a:t>
            </a:r>
          </a:p>
        </p:txBody>
      </p:sp>
      <p:sp>
        <p:nvSpPr>
          <p:cNvPr id="34" name="矩形 33">
            <a:extLst>
              <a:ext uri="{FF2B5EF4-FFF2-40B4-BE49-F238E27FC236}">
                <a16:creationId xmlns:a16="http://schemas.microsoft.com/office/drawing/2014/main" id="{C3A6FEE9-FAB6-4A81-B8EB-6DF1E73E7D74}"/>
              </a:ext>
            </a:extLst>
          </p:cNvPr>
          <p:cNvSpPr>
            <a:spLocks noGrp="1"/>
          </p:cNvSpPr>
          <p:nvPr/>
        </p:nvSpPr>
        <p:spPr>
          <a:xfrm>
            <a:off x="6858000" y="2247900"/>
            <a:ext cx="4000500" cy="876300"/>
          </a:xfrm>
          <a:prstGeom prst="rect">
            <a:avLst/>
          </a:prstGeom>
          <a:solidFill>
            <a:srgbClr val="F4F8FD"/>
          </a:solidFill>
          <a:ln w="9525">
            <a:solidFill>
              <a:srgbClr val="B8C3D1"/>
            </a:solidFill>
            <a:prstDash val="solid"/>
          </a:ln>
        </p:spPr>
        <p:txBody>
          <a:bodyPr/>
          <a:lstStyle/>
          <a:p>
            <a:endParaRPr lang="zh-CN" altLang="en-US"/>
          </a:p>
        </p:txBody>
      </p:sp>
      <p:sp>
        <p:nvSpPr>
          <p:cNvPr id="35" name="矩形 34">
            <a:extLst>
              <a:ext uri="{FF2B5EF4-FFF2-40B4-BE49-F238E27FC236}">
                <a16:creationId xmlns:a16="http://schemas.microsoft.com/office/drawing/2014/main" id="{6BD4377D-FFA3-4A66-A4BD-9FF45A9B077E}"/>
              </a:ext>
            </a:extLst>
          </p:cNvPr>
          <p:cNvSpPr>
            <a:spLocks noGrp="1"/>
          </p:cNvSpPr>
          <p:nvPr/>
        </p:nvSpPr>
        <p:spPr>
          <a:xfrm>
            <a:off x="7067550" y="241935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Times New Roman"/>
                <a:ea typeface="Times New Roman"/>
                <a:cs typeface="Times New Roman"/>
              </a:rPr>
              <a:t>Q → A</a:t>
            </a:r>
          </a:p>
        </p:txBody>
      </p:sp>
      <p:sp>
        <p:nvSpPr>
          <p:cNvPr id="36" name="矩形 35">
            <a:extLst>
              <a:ext uri="{FF2B5EF4-FFF2-40B4-BE49-F238E27FC236}">
                <a16:creationId xmlns:a16="http://schemas.microsoft.com/office/drawing/2014/main" id="{1FAF7037-A784-433B-B718-850B76F4D247}"/>
              </a:ext>
            </a:extLst>
          </p:cNvPr>
          <p:cNvSpPr>
            <a:spLocks noGrp="1"/>
          </p:cNvSpPr>
          <p:nvPr/>
        </p:nvSpPr>
        <p:spPr>
          <a:xfrm>
            <a:off x="8020050" y="2381250"/>
            <a:ext cx="1200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014DA1"/>
                </a:solidFill>
                <a:latin typeface="黑体"/>
                <a:ea typeface="黑体"/>
                <a:cs typeface="黑体"/>
              </a:defRPr>
            </a:pPr>
            <a:r>
              <a:rPr>
                <a:latin typeface="黑体"/>
                <a:ea typeface="黑体"/>
                <a:cs typeface="黑体"/>
              </a:rPr>
              <a:t>原始：</a:t>
            </a:r>
            <a:r>
              <a:rPr>
                <a:latin typeface="Times New Roman"/>
                <a:ea typeface="Times New Roman"/>
                <a:cs typeface="Times New Roman"/>
              </a:rPr>
              <a:t>1.12</a:t>
            </a:r>
          </a:p>
        </p:txBody>
      </p:sp>
      <p:sp>
        <p:nvSpPr>
          <p:cNvPr id="37" name="矩形 36">
            <a:extLst>
              <a:ext uri="{FF2B5EF4-FFF2-40B4-BE49-F238E27FC236}">
                <a16:creationId xmlns:a16="http://schemas.microsoft.com/office/drawing/2014/main" id="{7A091B48-903A-491A-8A89-B6098802730F}"/>
              </a:ext>
            </a:extLst>
          </p:cNvPr>
          <p:cNvSpPr>
            <a:spLocks noGrp="1"/>
          </p:cNvSpPr>
          <p:nvPr/>
        </p:nvSpPr>
        <p:spPr>
          <a:xfrm>
            <a:off x="9334500" y="2381250"/>
            <a:ext cx="1352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B4964B"/>
                </a:solidFill>
                <a:latin typeface="黑体"/>
                <a:ea typeface="黑体"/>
                <a:cs typeface="黑体"/>
              </a:defRPr>
            </a:pPr>
            <a:r>
              <a:rPr>
                <a:latin typeface="黑体"/>
                <a:ea typeface="黑体"/>
                <a:cs typeface="黑体"/>
              </a:rPr>
              <a:t>标准化：</a:t>
            </a:r>
            <a:r>
              <a:rPr>
                <a:latin typeface="Times New Roman"/>
                <a:ea typeface="Times New Roman"/>
                <a:cs typeface="Times New Roman"/>
              </a:rPr>
              <a:t>2.10</a:t>
            </a:r>
          </a:p>
        </p:txBody>
      </p:sp>
      <p:sp>
        <p:nvSpPr>
          <p:cNvPr id="38" name="矩形 37">
            <a:extLst>
              <a:ext uri="{FF2B5EF4-FFF2-40B4-BE49-F238E27FC236}">
                <a16:creationId xmlns:a16="http://schemas.microsoft.com/office/drawing/2014/main" id="{FBFAA143-7D9B-4206-9525-031C805F48E9}"/>
              </a:ext>
            </a:extLst>
          </p:cNvPr>
          <p:cNvSpPr>
            <a:spLocks noGrp="1"/>
          </p:cNvSpPr>
          <p:nvPr/>
        </p:nvSpPr>
        <p:spPr>
          <a:xfrm>
            <a:off x="8020050" y="2743200"/>
            <a:ext cx="266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14DA1"/>
                </a:solidFill>
                <a:latin typeface="黑体"/>
                <a:ea typeface="黑体"/>
                <a:cs typeface="黑体"/>
              </a:defRPr>
            </a:pPr>
            <a:r>
              <a:rPr>
                <a:latin typeface="黑体"/>
                <a:ea typeface="黑体"/>
                <a:cs typeface="黑体"/>
              </a:rPr>
              <a:t>原始更近</a:t>
            </a:r>
          </a:p>
        </p:txBody>
      </p:sp>
      <p:sp>
        <p:nvSpPr>
          <p:cNvPr id="39" name="矩形 38">
            <a:extLst>
              <a:ext uri="{FF2B5EF4-FFF2-40B4-BE49-F238E27FC236}">
                <a16:creationId xmlns:a16="http://schemas.microsoft.com/office/drawing/2014/main" id="{1F7EEB0C-2FB5-4C61-A2E4-2EB40F06ABA5}"/>
              </a:ext>
            </a:extLst>
          </p:cNvPr>
          <p:cNvSpPr>
            <a:spLocks noGrp="1"/>
          </p:cNvSpPr>
          <p:nvPr/>
        </p:nvSpPr>
        <p:spPr>
          <a:xfrm>
            <a:off x="6858000" y="3390900"/>
            <a:ext cx="4000500" cy="876300"/>
          </a:xfrm>
          <a:prstGeom prst="rect">
            <a:avLst/>
          </a:prstGeom>
          <a:solidFill>
            <a:srgbClr val="FFF9EA"/>
          </a:solidFill>
          <a:ln w="9525">
            <a:solidFill>
              <a:srgbClr val="B8C3D1"/>
            </a:solidFill>
            <a:prstDash val="solid"/>
          </a:ln>
        </p:spPr>
        <p:txBody>
          <a:bodyPr/>
          <a:lstStyle/>
          <a:p>
            <a:endParaRPr lang="zh-CN" altLang="en-US"/>
          </a:p>
        </p:txBody>
      </p:sp>
      <p:sp>
        <p:nvSpPr>
          <p:cNvPr id="40" name="矩形 39">
            <a:extLst>
              <a:ext uri="{FF2B5EF4-FFF2-40B4-BE49-F238E27FC236}">
                <a16:creationId xmlns:a16="http://schemas.microsoft.com/office/drawing/2014/main" id="{09663630-6F3A-41AB-8EE3-3A66BD068C78}"/>
              </a:ext>
            </a:extLst>
          </p:cNvPr>
          <p:cNvSpPr>
            <a:spLocks noGrp="1"/>
          </p:cNvSpPr>
          <p:nvPr/>
        </p:nvSpPr>
        <p:spPr>
          <a:xfrm>
            <a:off x="7067550" y="356235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Times New Roman"/>
                <a:ea typeface="Times New Roman"/>
                <a:cs typeface="Times New Roman"/>
              </a:rPr>
              <a:t>Q → B</a:t>
            </a:r>
          </a:p>
        </p:txBody>
      </p:sp>
      <p:sp>
        <p:nvSpPr>
          <p:cNvPr id="41" name="矩形 40">
            <a:extLst>
              <a:ext uri="{FF2B5EF4-FFF2-40B4-BE49-F238E27FC236}">
                <a16:creationId xmlns:a16="http://schemas.microsoft.com/office/drawing/2014/main" id="{BACE0E3F-D363-476B-91CB-E9F5B50E6709}"/>
              </a:ext>
            </a:extLst>
          </p:cNvPr>
          <p:cNvSpPr>
            <a:spLocks noGrp="1"/>
          </p:cNvSpPr>
          <p:nvPr/>
        </p:nvSpPr>
        <p:spPr>
          <a:xfrm>
            <a:off x="8020050" y="3524250"/>
            <a:ext cx="1200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014DA1"/>
                </a:solidFill>
                <a:latin typeface="黑体"/>
                <a:ea typeface="黑体"/>
                <a:cs typeface="黑体"/>
              </a:defRPr>
            </a:pPr>
            <a:r>
              <a:rPr>
                <a:latin typeface="黑体"/>
                <a:ea typeface="黑体"/>
                <a:cs typeface="黑体"/>
              </a:rPr>
              <a:t>原始：</a:t>
            </a:r>
            <a:r>
              <a:rPr>
                <a:latin typeface="Times New Roman"/>
                <a:ea typeface="Times New Roman"/>
                <a:cs typeface="Times New Roman"/>
              </a:rPr>
              <a:t>5.00</a:t>
            </a:r>
          </a:p>
        </p:txBody>
      </p:sp>
      <p:sp>
        <p:nvSpPr>
          <p:cNvPr id="42" name="矩形 41">
            <a:extLst>
              <a:ext uri="{FF2B5EF4-FFF2-40B4-BE49-F238E27FC236}">
                <a16:creationId xmlns:a16="http://schemas.microsoft.com/office/drawing/2014/main" id="{6F59E106-0A2F-4637-A4D6-71D0E73F98A8}"/>
              </a:ext>
            </a:extLst>
          </p:cNvPr>
          <p:cNvSpPr>
            <a:spLocks noGrp="1"/>
          </p:cNvSpPr>
          <p:nvPr/>
        </p:nvSpPr>
        <p:spPr>
          <a:xfrm>
            <a:off x="9334500" y="3524250"/>
            <a:ext cx="1352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B4964B"/>
                </a:solidFill>
                <a:latin typeface="黑体"/>
                <a:ea typeface="黑体"/>
                <a:cs typeface="黑体"/>
              </a:defRPr>
            </a:pPr>
            <a:r>
              <a:rPr>
                <a:latin typeface="黑体"/>
                <a:ea typeface="黑体"/>
                <a:cs typeface="黑体"/>
              </a:rPr>
              <a:t>标准化：</a:t>
            </a:r>
            <a:r>
              <a:rPr>
                <a:latin typeface="Times New Roman"/>
                <a:ea typeface="Times New Roman"/>
                <a:cs typeface="Times New Roman"/>
              </a:rPr>
              <a:t>1.35</a:t>
            </a:r>
          </a:p>
        </p:txBody>
      </p:sp>
      <p:sp>
        <p:nvSpPr>
          <p:cNvPr id="43" name="矩形 42">
            <a:extLst>
              <a:ext uri="{FF2B5EF4-FFF2-40B4-BE49-F238E27FC236}">
                <a16:creationId xmlns:a16="http://schemas.microsoft.com/office/drawing/2014/main" id="{C23BE749-0F82-4A39-9F32-4BE131B250A8}"/>
              </a:ext>
            </a:extLst>
          </p:cNvPr>
          <p:cNvSpPr>
            <a:spLocks noGrp="1"/>
          </p:cNvSpPr>
          <p:nvPr/>
        </p:nvSpPr>
        <p:spPr>
          <a:xfrm>
            <a:off x="8020050" y="3886200"/>
            <a:ext cx="2667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黑体"/>
                <a:ea typeface="黑体"/>
                <a:cs typeface="黑体"/>
              </a:rPr>
              <a:t>缩放后更近</a:t>
            </a:r>
          </a:p>
        </p:txBody>
      </p:sp>
      <p:sp>
        <p:nvSpPr>
          <p:cNvPr id="44" name="矩形 43">
            <a:extLst>
              <a:ext uri="{FF2B5EF4-FFF2-40B4-BE49-F238E27FC236}">
                <a16:creationId xmlns:a16="http://schemas.microsoft.com/office/drawing/2014/main" id="{18CDCD40-BAC7-428A-8FEF-7FECA93910BE}"/>
              </a:ext>
            </a:extLst>
          </p:cNvPr>
          <p:cNvSpPr>
            <a:spLocks noGrp="1"/>
          </p:cNvSpPr>
          <p:nvPr/>
        </p:nvSpPr>
        <p:spPr>
          <a:xfrm>
            <a:off x="7143750" y="4552950"/>
            <a:ext cx="3429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A33A3A"/>
                </a:solidFill>
                <a:latin typeface="黑体"/>
                <a:ea typeface="黑体"/>
                <a:cs typeface="黑体"/>
              </a:defRPr>
            </a:pPr>
            <a:r>
              <a:rPr>
                <a:latin typeface="黑体"/>
                <a:ea typeface="黑体"/>
                <a:cs typeface="黑体"/>
              </a:rPr>
              <a:t>最近邻从 </a:t>
            </a:r>
            <a:r>
              <a:rPr>
                <a:latin typeface="Times New Roman"/>
                <a:ea typeface="Times New Roman"/>
                <a:cs typeface="Times New Roman"/>
              </a:rPr>
              <a:t>A </a:t>
            </a:r>
            <a:r>
              <a:rPr>
                <a:latin typeface="黑体"/>
                <a:ea typeface="黑体"/>
                <a:cs typeface="黑体"/>
              </a:rPr>
              <a:t>变为 </a:t>
            </a:r>
            <a:r>
              <a:rPr>
                <a:latin typeface="Times New Roman"/>
                <a:ea typeface="Times New Roman"/>
                <a:cs typeface="Times New Roman"/>
              </a:rPr>
              <a:t>B</a:t>
            </a:r>
          </a:p>
        </p:txBody>
      </p:sp>
      <p:sp>
        <p:nvSpPr>
          <p:cNvPr id="45" name="矩形 44">
            <a:extLst>
              <a:ext uri="{FF2B5EF4-FFF2-40B4-BE49-F238E27FC236}">
                <a16:creationId xmlns:a16="http://schemas.microsoft.com/office/drawing/2014/main" id="{64B51EF9-8AD0-4269-9A00-57D28B2C82D7}"/>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6" name="矩形 45">
            <a:extLst>
              <a:ext uri="{FF2B5EF4-FFF2-40B4-BE49-F238E27FC236}">
                <a16:creationId xmlns:a16="http://schemas.microsoft.com/office/drawing/2014/main" id="{7C9E2A23-31A7-4371-8E52-06AB8466F7CF}"/>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距离算法的结果与预处理方案不可分割。</a:t>
            </a:r>
          </a:p>
        </p:txBody>
      </p:sp>
    </p:spTree>
    <p:extLst>
      <p:ext uri="{BB962C8B-B14F-4D97-AF65-F5344CB8AC3E}">
        <p14:creationId xmlns:p14="http://schemas.microsoft.com/office/powerpoint/2010/main" val="10329929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矩形 143">
            <a:extLst>
              <a:ext uri="{FF2B5EF4-FFF2-40B4-BE49-F238E27FC236}">
                <a16:creationId xmlns:a16="http://schemas.microsoft.com/office/drawing/2014/main" id="{CCD7E0BC-728B-4FF7-A4C7-DE4FC4D331D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5B16BC37-C70B-444B-BFEE-732ACB640633}"/>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F250F6E1-1225-4656-9F95-3FD10FA76C9E}"/>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8B4178CD-1B30-45BF-914E-AE36F1FB460C}"/>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Cosine similarity </a:t>
            </a:r>
            <a:r>
              <a:rPr>
                <a:latin typeface="黑体"/>
                <a:ea typeface="黑体"/>
                <a:cs typeface="黑体"/>
              </a:rPr>
              <a:t>比较方向</a:t>
            </a:r>
          </a:p>
        </p:txBody>
      </p:sp>
      <p:sp>
        <p:nvSpPr>
          <p:cNvPr id="5" name="矩形 4">
            <a:extLst>
              <a:ext uri="{FF2B5EF4-FFF2-40B4-BE49-F238E27FC236}">
                <a16:creationId xmlns:a16="http://schemas.microsoft.com/office/drawing/2014/main" id="{8E314506-9716-4BE6-86F9-DA8D007B0D4A}"/>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72/90</a:t>
            </a:r>
          </a:p>
        </p:txBody>
      </p:sp>
      <p:sp>
        <p:nvSpPr>
          <p:cNvPr id="6" name="矩形 5">
            <a:extLst>
              <a:ext uri="{FF2B5EF4-FFF2-40B4-BE49-F238E27FC236}">
                <a16:creationId xmlns:a16="http://schemas.microsoft.com/office/drawing/2014/main" id="{8A27DAC9-32EF-4186-8720-DD93D21B562A}"/>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2FF8BA77-BB37-48B5-9DF0-5F7E06C7161C}"/>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cos(x, y) = (x · y) / (‖x‖ ‖y‖)</a:t>
            </a:r>
          </a:p>
        </p:txBody>
      </p:sp>
      <p:sp>
        <p:nvSpPr>
          <p:cNvPr id="8" name="矩形 7">
            <a:extLst>
              <a:ext uri="{FF2B5EF4-FFF2-40B4-BE49-F238E27FC236}">
                <a16:creationId xmlns:a16="http://schemas.microsoft.com/office/drawing/2014/main" id="{2E86FDDE-B248-4430-97AE-226E6FF771CE}"/>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145BA27F-4FE8-43B3-9DBE-561A573E1915}"/>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分子是两个向量的点积</a:t>
            </a:r>
          </a:p>
        </p:txBody>
      </p:sp>
      <p:sp>
        <p:nvSpPr>
          <p:cNvPr id="10" name="矩形 9">
            <a:extLst>
              <a:ext uri="{FF2B5EF4-FFF2-40B4-BE49-F238E27FC236}">
                <a16:creationId xmlns:a16="http://schemas.microsoft.com/office/drawing/2014/main" id="{23269E26-8BF0-45C0-9BE6-4A4F9D38EF95}"/>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ED54AF9E-D962-447E-BA74-AA7D740A7E0E}"/>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分母用两个向量长度归一化</a:t>
            </a:r>
          </a:p>
        </p:txBody>
      </p:sp>
      <p:sp>
        <p:nvSpPr>
          <p:cNvPr id="12" name="矩形 11">
            <a:extLst>
              <a:ext uri="{FF2B5EF4-FFF2-40B4-BE49-F238E27FC236}">
                <a16:creationId xmlns:a16="http://schemas.microsoft.com/office/drawing/2014/main" id="{EEA4942D-987E-4060-9D48-814679D79531}"/>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13F40CB7-4FF1-4370-A0BF-F4B7993263EF}"/>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关注出现模式的方向，而不是总量</a:t>
            </a:r>
          </a:p>
        </p:txBody>
      </p:sp>
      <p:sp>
        <p:nvSpPr>
          <p:cNvPr id="14" name="矩形 13">
            <a:extLst>
              <a:ext uri="{FF2B5EF4-FFF2-40B4-BE49-F238E27FC236}">
                <a16:creationId xmlns:a16="http://schemas.microsoft.com/office/drawing/2014/main" id="{DD64A0E5-C053-4F4E-B6F4-16835FA5ACCD}"/>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D12A9DBB-74F0-4150-A289-097763CFE494}"/>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适合文本词频和高维稀疏向量</a:t>
            </a:r>
          </a:p>
        </p:txBody>
      </p:sp>
      <p:sp>
        <p:nvSpPr>
          <p:cNvPr id="16" name="矩形 15">
            <a:extLst>
              <a:ext uri="{FF2B5EF4-FFF2-40B4-BE49-F238E27FC236}">
                <a16:creationId xmlns:a16="http://schemas.microsoft.com/office/drawing/2014/main" id="{98164910-A8EB-4AA4-8542-FC8904031C04}"/>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8F851B59-E7AB-4855-903B-59B674A027F9}"/>
              </a:ext>
            </a:extLst>
          </p:cNvPr>
          <p:cNvSpPr>
            <a:spLocks noGrp="1"/>
          </p:cNvSpPr>
          <p:nvPr/>
        </p:nvSpPr>
        <p:spPr>
          <a:xfrm>
            <a:off x="6305550" y="1485900"/>
            <a:ext cx="4724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夹角越小，方向越相似</a:t>
            </a:r>
          </a:p>
        </p:txBody>
      </p:sp>
      <p:sp>
        <p:nvSpPr>
          <p:cNvPr id="18" name="矩形 17">
            <a:extLst>
              <a:ext uri="{FF2B5EF4-FFF2-40B4-BE49-F238E27FC236}">
                <a16:creationId xmlns:a16="http://schemas.microsoft.com/office/drawing/2014/main" id="{6BE82D25-2F55-47D6-BEA9-28392F42DDCE}"/>
              </a:ext>
            </a:extLst>
          </p:cNvPr>
          <p:cNvSpPr>
            <a:spLocks noGrp="1"/>
          </p:cNvSpPr>
          <p:nvPr/>
        </p:nvSpPr>
        <p:spPr>
          <a:xfrm>
            <a:off x="6800850" y="4229100"/>
            <a:ext cx="3714750" cy="19050"/>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7A8CE657-73FE-4C36-9EA2-50A61E45C2A3}"/>
              </a:ext>
            </a:extLst>
          </p:cNvPr>
          <p:cNvSpPr>
            <a:spLocks noGrp="1"/>
          </p:cNvSpPr>
          <p:nvPr/>
        </p:nvSpPr>
        <p:spPr>
          <a:xfrm>
            <a:off x="7162800" y="1962150"/>
            <a:ext cx="19050" cy="2286000"/>
          </a:xfrm>
          <a:prstGeom prst="rect">
            <a:avLst/>
          </a:prstGeom>
          <a:solidFill>
            <a:srgbClr val="8B99A9"/>
          </a:solidFill>
          <a:ln w="0">
            <a:solidFill>
              <a:srgbClr val="000000">
                <a:alpha val="0"/>
              </a:srgbClr>
            </a:solidFill>
            <a:prstDash val="solid"/>
          </a:ln>
        </p:spPr>
        <p:txBody>
          <a:bodyPr/>
          <a:lstStyle/>
          <a:p>
            <a:endParaRPr lang="zh-CN" altLang="en-US"/>
          </a:p>
        </p:txBody>
      </p:sp>
      <p:sp>
        <p:nvSpPr>
          <p:cNvPr id="20" name="椭圆 19">
            <a:extLst>
              <a:ext uri="{FF2B5EF4-FFF2-40B4-BE49-F238E27FC236}">
                <a16:creationId xmlns:a16="http://schemas.microsoft.com/office/drawing/2014/main" id="{1D3624E0-5DEE-4EFC-88D7-862A1E520E19}"/>
              </a:ext>
            </a:extLst>
          </p:cNvPr>
          <p:cNvSpPr>
            <a:spLocks noGrp="1"/>
          </p:cNvSpPr>
          <p:nvPr/>
        </p:nvSpPr>
        <p:spPr>
          <a:xfrm>
            <a:off x="7138988" y="420528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1" name="椭圆 20">
            <a:extLst>
              <a:ext uri="{FF2B5EF4-FFF2-40B4-BE49-F238E27FC236}">
                <a16:creationId xmlns:a16="http://schemas.microsoft.com/office/drawing/2014/main" id="{9FCE1568-998E-43EC-88AD-EEE4A7DF2F3B}"/>
              </a:ext>
            </a:extLst>
          </p:cNvPr>
          <p:cNvSpPr>
            <a:spLocks noGrp="1"/>
          </p:cNvSpPr>
          <p:nvPr/>
        </p:nvSpPr>
        <p:spPr>
          <a:xfrm>
            <a:off x="7198702" y="416865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2" name="椭圆 21">
            <a:extLst>
              <a:ext uri="{FF2B5EF4-FFF2-40B4-BE49-F238E27FC236}">
                <a16:creationId xmlns:a16="http://schemas.microsoft.com/office/drawing/2014/main" id="{5AEB588D-06D3-4BD4-9253-73FD9F516139}"/>
              </a:ext>
            </a:extLst>
          </p:cNvPr>
          <p:cNvSpPr>
            <a:spLocks noGrp="1"/>
          </p:cNvSpPr>
          <p:nvPr/>
        </p:nvSpPr>
        <p:spPr>
          <a:xfrm>
            <a:off x="7258416" y="413201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3" name="椭圆 22">
            <a:extLst>
              <a:ext uri="{FF2B5EF4-FFF2-40B4-BE49-F238E27FC236}">
                <a16:creationId xmlns:a16="http://schemas.microsoft.com/office/drawing/2014/main" id="{14F1E816-DBC1-431B-B38F-669AFB663F2D}"/>
              </a:ext>
            </a:extLst>
          </p:cNvPr>
          <p:cNvSpPr>
            <a:spLocks noGrp="1"/>
          </p:cNvSpPr>
          <p:nvPr/>
        </p:nvSpPr>
        <p:spPr>
          <a:xfrm>
            <a:off x="7318131" y="409538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4" name="椭圆 23">
            <a:extLst>
              <a:ext uri="{FF2B5EF4-FFF2-40B4-BE49-F238E27FC236}">
                <a16:creationId xmlns:a16="http://schemas.microsoft.com/office/drawing/2014/main" id="{7EDFB919-80FD-400A-B0BE-857FE80C85F5}"/>
              </a:ext>
            </a:extLst>
          </p:cNvPr>
          <p:cNvSpPr>
            <a:spLocks noGrp="1"/>
          </p:cNvSpPr>
          <p:nvPr/>
        </p:nvSpPr>
        <p:spPr>
          <a:xfrm>
            <a:off x="7377845" y="405874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5" name="椭圆 24">
            <a:extLst>
              <a:ext uri="{FF2B5EF4-FFF2-40B4-BE49-F238E27FC236}">
                <a16:creationId xmlns:a16="http://schemas.microsoft.com/office/drawing/2014/main" id="{09E36CF6-7740-4982-8A2D-D636F36249FB}"/>
              </a:ext>
            </a:extLst>
          </p:cNvPr>
          <p:cNvSpPr>
            <a:spLocks noGrp="1"/>
          </p:cNvSpPr>
          <p:nvPr/>
        </p:nvSpPr>
        <p:spPr>
          <a:xfrm>
            <a:off x="7437560" y="402211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6" name="椭圆 25">
            <a:extLst>
              <a:ext uri="{FF2B5EF4-FFF2-40B4-BE49-F238E27FC236}">
                <a16:creationId xmlns:a16="http://schemas.microsoft.com/office/drawing/2014/main" id="{4B886152-06C0-46C3-AF8E-58014A22231C}"/>
              </a:ext>
            </a:extLst>
          </p:cNvPr>
          <p:cNvSpPr>
            <a:spLocks noGrp="1"/>
          </p:cNvSpPr>
          <p:nvPr/>
        </p:nvSpPr>
        <p:spPr>
          <a:xfrm>
            <a:off x="7497274" y="398548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7" name="椭圆 26">
            <a:extLst>
              <a:ext uri="{FF2B5EF4-FFF2-40B4-BE49-F238E27FC236}">
                <a16:creationId xmlns:a16="http://schemas.microsoft.com/office/drawing/2014/main" id="{4985EEE1-7C4B-4101-95E9-9F64B24D7806}"/>
              </a:ext>
            </a:extLst>
          </p:cNvPr>
          <p:cNvSpPr>
            <a:spLocks noGrp="1"/>
          </p:cNvSpPr>
          <p:nvPr/>
        </p:nvSpPr>
        <p:spPr>
          <a:xfrm>
            <a:off x="7556988" y="394884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8" name="椭圆 27">
            <a:extLst>
              <a:ext uri="{FF2B5EF4-FFF2-40B4-BE49-F238E27FC236}">
                <a16:creationId xmlns:a16="http://schemas.microsoft.com/office/drawing/2014/main" id="{FA22396D-69A9-4B80-A1D8-D4BBAB793EBB}"/>
              </a:ext>
            </a:extLst>
          </p:cNvPr>
          <p:cNvSpPr>
            <a:spLocks noGrp="1"/>
          </p:cNvSpPr>
          <p:nvPr/>
        </p:nvSpPr>
        <p:spPr>
          <a:xfrm>
            <a:off x="7616703" y="391221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29" name="椭圆 28">
            <a:extLst>
              <a:ext uri="{FF2B5EF4-FFF2-40B4-BE49-F238E27FC236}">
                <a16:creationId xmlns:a16="http://schemas.microsoft.com/office/drawing/2014/main" id="{21E00914-D949-48E1-8002-995E2E606BD2}"/>
              </a:ext>
            </a:extLst>
          </p:cNvPr>
          <p:cNvSpPr>
            <a:spLocks noGrp="1"/>
          </p:cNvSpPr>
          <p:nvPr/>
        </p:nvSpPr>
        <p:spPr>
          <a:xfrm>
            <a:off x="7676417" y="387557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0" name="椭圆 29">
            <a:extLst>
              <a:ext uri="{FF2B5EF4-FFF2-40B4-BE49-F238E27FC236}">
                <a16:creationId xmlns:a16="http://schemas.microsoft.com/office/drawing/2014/main" id="{D07F7918-F327-4B2D-AC15-17161F9BAFF2}"/>
              </a:ext>
            </a:extLst>
          </p:cNvPr>
          <p:cNvSpPr>
            <a:spLocks noGrp="1"/>
          </p:cNvSpPr>
          <p:nvPr/>
        </p:nvSpPr>
        <p:spPr>
          <a:xfrm>
            <a:off x="7736132" y="383894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1" name="椭圆 30">
            <a:extLst>
              <a:ext uri="{FF2B5EF4-FFF2-40B4-BE49-F238E27FC236}">
                <a16:creationId xmlns:a16="http://schemas.microsoft.com/office/drawing/2014/main" id="{2E13696C-8A12-4395-A958-F48A48960F13}"/>
              </a:ext>
            </a:extLst>
          </p:cNvPr>
          <p:cNvSpPr>
            <a:spLocks noGrp="1"/>
          </p:cNvSpPr>
          <p:nvPr/>
        </p:nvSpPr>
        <p:spPr>
          <a:xfrm>
            <a:off x="7795846" y="380230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2" name="椭圆 31">
            <a:extLst>
              <a:ext uri="{FF2B5EF4-FFF2-40B4-BE49-F238E27FC236}">
                <a16:creationId xmlns:a16="http://schemas.microsoft.com/office/drawing/2014/main" id="{B8E46BF7-F3F4-4570-8672-08ABC53E5BEF}"/>
              </a:ext>
            </a:extLst>
          </p:cNvPr>
          <p:cNvSpPr>
            <a:spLocks noGrp="1"/>
          </p:cNvSpPr>
          <p:nvPr/>
        </p:nvSpPr>
        <p:spPr>
          <a:xfrm>
            <a:off x="7855561" y="376567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3" name="椭圆 32">
            <a:extLst>
              <a:ext uri="{FF2B5EF4-FFF2-40B4-BE49-F238E27FC236}">
                <a16:creationId xmlns:a16="http://schemas.microsoft.com/office/drawing/2014/main" id="{B230EAA5-7C51-49E9-92E1-E673BE4C2D61}"/>
              </a:ext>
            </a:extLst>
          </p:cNvPr>
          <p:cNvSpPr>
            <a:spLocks noGrp="1"/>
          </p:cNvSpPr>
          <p:nvPr/>
        </p:nvSpPr>
        <p:spPr>
          <a:xfrm>
            <a:off x="7915275" y="372903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4" name="椭圆 33">
            <a:extLst>
              <a:ext uri="{FF2B5EF4-FFF2-40B4-BE49-F238E27FC236}">
                <a16:creationId xmlns:a16="http://schemas.microsoft.com/office/drawing/2014/main" id="{FA30F01C-52FF-457C-BF57-48E608ABA203}"/>
              </a:ext>
            </a:extLst>
          </p:cNvPr>
          <p:cNvSpPr>
            <a:spLocks noGrp="1"/>
          </p:cNvSpPr>
          <p:nvPr/>
        </p:nvSpPr>
        <p:spPr>
          <a:xfrm>
            <a:off x="7974989" y="369240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5" name="椭圆 34">
            <a:extLst>
              <a:ext uri="{FF2B5EF4-FFF2-40B4-BE49-F238E27FC236}">
                <a16:creationId xmlns:a16="http://schemas.microsoft.com/office/drawing/2014/main" id="{5F154D69-BD2C-4588-8598-6C3D5CE01057}"/>
              </a:ext>
            </a:extLst>
          </p:cNvPr>
          <p:cNvSpPr>
            <a:spLocks noGrp="1"/>
          </p:cNvSpPr>
          <p:nvPr/>
        </p:nvSpPr>
        <p:spPr>
          <a:xfrm>
            <a:off x="8034704" y="365576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6" name="椭圆 35">
            <a:extLst>
              <a:ext uri="{FF2B5EF4-FFF2-40B4-BE49-F238E27FC236}">
                <a16:creationId xmlns:a16="http://schemas.microsoft.com/office/drawing/2014/main" id="{63A129BC-D969-48AE-B2F2-9ED447FEF104}"/>
              </a:ext>
            </a:extLst>
          </p:cNvPr>
          <p:cNvSpPr>
            <a:spLocks noGrp="1"/>
          </p:cNvSpPr>
          <p:nvPr/>
        </p:nvSpPr>
        <p:spPr>
          <a:xfrm>
            <a:off x="8094418" y="361913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7" name="椭圆 36">
            <a:extLst>
              <a:ext uri="{FF2B5EF4-FFF2-40B4-BE49-F238E27FC236}">
                <a16:creationId xmlns:a16="http://schemas.microsoft.com/office/drawing/2014/main" id="{6A2BEFC7-8767-4B5C-8CA0-C79833A670AA}"/>
              </a:ext>
            </a:extLst>
          </p:cNvPr>
          <p:cNvSpPr>
            <a:spLocks noGrp="1"/>
          </p:cNvSpPr>
          <p:nvPr/>
        </p:nvSpPr>
        <p:spPr>
          <a:xfrm>
            <a:off x="8154133" y="358249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8" name="椭圆 37">
            <a:extLst>
              <a:ext uri="{FF2B5EF4-FFF2-40B4-BE49-F238E27FC236}">
                <a16:creationId xmlns:a16="http://schemas.microsoft.com/office/drawing/2014/main" id="{815671AB-ED70-4879-A700-FC7399C7DEB0}"/>
              </a:ext>
            </a:extLst>
          </p:cNvPr>
          <p:cNvSpPr>
            <a:spLocks noGrp="1"/>
          </p:cNvSpPr>
          <p:nvPr/>
        </p:nvSpPr>
        <p:spPr>
          <a:xfrm>
            <a:off x="8213847" y="354586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39" name="椭圆 38">
            <a:extLst>
              <a:ext uri="{FF2B5EF4-FFF2-40B4-BE49-F238E27FC236}">
                <a16:creationId xmlns:a16="http://schemas.microsoft.com/office/drawing/2014/main" id="{11F01FE0-CA3D-49BC-BEBF-03C9D5266624}"/>
              </a:ext>
            </a:extLst>
          </p:cNvPr>
          <p:cNvSpPr>
            <a:spLocks noGrp="1"/>
          </p:cNvSpPr>
          <p:nvPr/>
        </p:nvSpPr>
        <p:spPr>
          <a:xfrm>
            <a:off x="8273562" y="350923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0" name="椭圆 39">
            <a:extLst>
              <a:ext uri="{FF2B5EF4-FFF2-40B4-BE49-F238E27FC236}">
                <a16:creationId xmlns:a16="http://schemas.microsoft.com/office/drawing/2014/main" id="{FA3E26B5-D2FD-4DE1-8338-A0E8E647C771}"/>
              </a:ext>
            </a:extLst>
          </p:cNvPr>
          <p:cNvSpPr>
            <a:spLocks noGrp="1"/>
          </p:cNvSpPr>
          <p:nvPr/>
        </p:nvSpPr>
        <p:spPr>
          <a:xfrm>
            <a:off x="8333276" y="347259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1" name="椭圆 40">
            <a:extLst>
              <a:ext uri="{FF2B5EF4-FFF2-40B4-BE49-F238E27FC236}">
                <a16:creationId xmlns:a16="http://schemas.microsoft.com/office/drawing/2014/main" id="{80E9CB60-4913-4451-85AC-E73B72F06D96}"/>
              </a:ext>
            </a:extLst>
          </p:cNvPr>
          <p:cNvSpPr>
            <a:spLocks noGrp="1"/>
          </p:cNvSpPr>
          <p:nvPr/>
        </p:nvSpPr>
        <p:spPr>
          <a:xfrm>
            <a:off x="8392990" y="343596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A3A78DDB-1CB0-4104-862A-D79CFC8DC04D}"/>
              </a:ext>
            </a:extLst>
          </p:cNvPr>
          <p:cNvSpPr>
            <a:spLocks noGrp="1"/>
          </p:cNvSpPr>
          <p:nvPr/>
        </p:nvSpPr>
        <p:spPr>
          <a:xfrm>
            <a:off x="8452705" y="339932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7098B7A2-2728-4B21-916A-38F135029793}"/>
              </a:ext>
            </a:extLst>
          </p:cNvPr>
          <p:cNvSpPr>
            <a:spLocks noGrp="1"/>
          </p:cNvSpPr>
          <p:nvPr/>
        </p:nvSpPr>
        <p:spPr>
          <a:xfrm>
            <a:off x="8512419" y="336269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7381A91E-B5E1-4F26-9D23-0E2B2B67014F}"/>
              </a:ext>
            </a:extLst>
          </p:cNvPr>
          <p:cNvSpPr>
            <a:spLocks noGrp="1"/>
          </p:cNvSpPr>
          <p:nvPr/>
        </p:nvSpPr>
        <p:spPr>
          <a:xfrm>
            <a:off x="8572134" y="332605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CA0F2CEA-7125-4FA5-AB3F-068026A3D313}"/>
              </a:ext>
            </a:extLst>
          </p:cNvPr>
          <p:cNvSpPr>
            <a:spLocks noGrp="1"/>
          </p:cNvSpPr>
          <p:nvPr/>
        </p:nvSpPr>
        <p:spPr>
          <a:xfrm>
            <a:off x="8631848" y="328942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55911B5E-754E-481F-99FF-95866EC56737}"/>
              </a:ext>
            </a:extLst>
          </p:cNvPr>
          <p:cNvSpPr>
            <a:spLocks noGrp="1"/>
          </p:cNvSpPr>
          <p:nvPr/>
        </p:nvSpPr>
        <p:spPr>
          <a:xfrm>
            <a:off x="8691563" y="325278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75DF0C2B-4AD2-4790-829F-DE552F11C149}"/>
              </a:ext>
            </a:extLst>
          </p:cNvPr>
          <p:cNvSpPr>
            <a:spLocks noGrp="1"/>
          </p:cNvSpPr>
          <p:nvPr/>
        </p:nvSpPr>
        <p:spPr>
          <a:xfrm>
            <a:off x="8751277" y="321615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CAC39CB1-C7ED-4CFB-9A4E-F9A78D9B5CCA}"/>
              </a:ext>
            </a:extLst>
          </p:cNvPr>
          <p:cNvSpPr>
            <a:spLocks noGrp="1"/>
          </p:cNvSpPr>
          <p:nvPr/>
        </p:nvSpPr>
        <p:spPr>
          <a:xfrm>
            <a:off x="8810991" y="317951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68A64537-D879-4C29-AC6B-A75EDF353BA6}"/>
              </a:ext>
            </a:extLst>
          </p:cNvPr>
          <p:cNvSpPr>
            <a:spLocks noGrp="1"/>
          </p:cNvSpPr>
          <p:nvPr/>
        </p:nvSpPr>
        <p:spPr>
          <a:xfrm>
            <a:off x="8870706" y="314288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337C3FA5-72BE-4FB1-BAE8-28E5F8595555}"/>
              </a:ext>
            </a:extLst>
          </p:cNvPr>
          <p:cNvSpPr>
            <a:spLocks noGrp="1"/>
          </p:cNvSpPr>
          <p:nvPr/>
        </p:nvSpPr>
        <p:spPr>
          <a:xfrm>
            <a:off x="8930420" y="310624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FBB15CDD-7818-4C1D-8244-1B856FFDBBD9}"/>
              </a:ext>
            </a:extLst>
          </p:cNvPr>
          <p:cNvSpPr>
            <a:spLocks noGrp="1"/>
          </p:cNvSpPr>
          <p:nvPr/>
        </p:nvSpPr>
        <p:spPr>
          <a:xfrm>
            <a:off x="8990135" y="306961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4508A203-3EF5-4C91-B94A-222C6D8AE31A}"/>
              </a:ext>
            </a:extLst>
          </p:cNvPr>
          <p:cNvSpPr>
            <a:spLocks noGrp="1"/>
          </p:cNvSpPr>
          <p:nvPr/>
        </p:nvSpPr>
        <p:spPr>
          <a:xfrm>
            <a:off x="9049849" y="303298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A96531F9-1039-4E48-A5A1-A35D49B18BD5}"/>
              </a:ext>
            </a:extLst>
          </p:cNvPr>
          <p:cNvSpPr>
            <a:spLocks noGrp="1"/>
          </p:cNvSpPr>
          <p:nvPr/>
        </p:nvSpPr>
        <p:spPr>
          <a:xfrm>
            <a:off x="9109563" y="299634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1588CD2F-C38A-498D-A64C-28A1A29FCC6F}"/>
              </a:ext>
            </a:extLst>
          </p:cNvPr>
          <p:cNvSpPr>
            <a:spLocks noGrp="1"/>
          </p:cNvSpPr>
          <p:nvPr/>
        </p:nvSpPr>
        <p:spPr>
          <a:xfrm>
            <a:off x="9169278" y="295971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47E5C8B4-2C8C-4CCF-A90D-2E77D9661E63}"/>
              </a:ext>
            </a:extLst>
          </p:cNvPr>
          <p:cNvSpPr>
            <a:spLocks noGrp="1"/>
          </p:cNvSpPr>
          <p:nvPr/>
        </p:nvSpPr>
        <p:spPr>
          <a:xfrm>
            <a:off x="9228992" y="292307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DA49CF2F-7CEB-4F71-837D-29F8DE146388}"/>
              </a:ext>
            </a:extLst>
          </p:cNvPr>
          <p:cNvSpPr>
            <a:spLocks noGrp="1"/>
          </p:cNvSpPr>
          <p:nvPr/>
        </p:nvSpPr>
        <p:spPr>
          <a:xfrm>
            <a:off x="9288707" y="288644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B0CDDA54-FBB8-4217-B9E5-CF24AFF1DB65}"/>
              </a:ext>
            </a:extLst>
          </p:cNvPr>
          <p:cNvSpPr>
            <a:spLocks noGrp="1"/>
          </p:cNvSpPr>
          <p:nvPr/>
        </p:nvSpPr>
        <p:spPr>
          <a:xfrm>
            <a:off x="9348421" y="284980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6B99AAEC-F107-48B4-8FD7-12CE3134BC23}"/>
              </a:ext>
            </a:extLst>
          </p:cNvPr>
          <p:cNvSpPr>
            <a:spLocks noGrp="1"/>
          </p:cNvSpPr>
          <p:nvPr/>
        </p:nvSpPr>
        <p:spPr>
          <a:xfrm>
            <a:off x="9408136" y="281317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0674B54A-8E5E-4993-9F62-15BE914FD16D}"/>
              </a:ext>
            </a:extLst>
          </p:cNvPr>
          <p:cNvSpPr>
            <a:spLocks noGrp="1"/>
          </p:cNvSpPr>
          <p:nvPr/>
        </p:nvSpPr>
        <p:spPr>
          <a:xfrm>
            <a:off x="9467850" y="277653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419EFDF6-1C6F-456A-AD21-A827E9C473C9}"/>
              </a:ext>
            </a:extLst>
          </p:cNvPr>
          <p:cNvSpPr>
            <a:spLocks noGrp="1"/>
          </p:cNvSpPr>
          <p:nvPr/>
        </p:nvSpPr>
        <p:spPr>
          <a:xfrm>
            <a:off x="9527564" y="2739903"/>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0F8BF014-B1EC-419E-A704-0510A7F657F7}"/>
              </a:ext>
            </a:extLst>
          </p:cNvPr>
          <p:cNvSpPr>
            <a:spLocks noGrp="1"/>
          </p:cNvSpPr>
          <p:nvPr/>
        </p:nvSpPr>
        <p:spPr>
          <a:xfrm>
            <a:off x="9587279" y="270326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244DD041-3021-48BF-A45B-C5E29D49DD38}"/>
              </a:ext>
            </a:extLst>
          </p:cNvPr>
          <p:cNvSpPr>
            <a:spLocks noGrp="1"/>
          </p:cNvSpPr>
          <p:nvPr/>
        </p:nvSpPr>
        <p:spPr>
          <a:xfrm>
            <a:off x="9646993" y="266663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56E403C7-0D89-4BA9-8D17-F49B630E651F}"/>
              </a:ext>
            </a:extLst>
          </p:cNvPr>
          <p:cNvSpPr>
            <a:spLocks noGrp="1"/>
          </p:cNvSpPr>
          <p:nvPr/>
        </p:nvSpPr>
        <p:spPr>
          <a:xfrm>
            <a:off x="9706708" y="2629999"/>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9AD97E54-9D91-4750-A7BB-EA6F03B41ED0}"/>
              </a:ext>
            </a:extLst>
          </p:cNvPr>
          <p:cNvSpPr>
            <a:spLocks noGrp="1"/>
          </p:cNvSpPr>
          <p:nvPr/>
        </p:nvSpPr>
        <p:spPr>
          <a:xfrm>
            <a:off x="9766422" y="2593364"/>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AA2D1F1D-0481-450E-AD48-01F86C263D7A}"/>
              </a:ext>
            </a:extLst>
          </p:cNvPr>
          <p:cNvSpPr>
            <a:spLocks noGrp="1"/>
          </p:cNvSpPr>
          <p:nvPr/>
        </p:nvSpPr>
        <p:spPr>
          <a:xfrm>
            <a:off x="9826137" y="2556730"/>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9FD12756-ADCB-4A53-BD62-CCF0535A01FF}"/>
              </a:ext>
            </a:extLst>
          </p:cNvPr>
          <p:cNvSpPr>
            <a:spLocks noGrp="1"/>
          </p:cNvSpPr>
          <p:nvPr/>
        </p:nvSpPr>
        <p:spPr>
          <a:xfrm>
            <a:off x="9885851" y="2520095"/>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1A9196E7-AB37-4532-B8E1-211CCA755DC1}"/>
              </a:ext>
            </a:extLst>
          </p:cNvPr>
          <p:cNvSpPr>
            <a:spLocks noGrp="1"/>
          </p:cNvSpPr>
          <p:nvPr/>
        </p:nvSpPr>
        <p:spPr>
          <a:xfrm>
            <a:off x="9945565" y="248346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A9AE7764-1164-4AB7-AE9B-2C00120DBAE0}"/>
              </a:ext>
            </a:extLst>
          </p:cNvPr>
          <p:cNvSpPr>
            <a:spLocks noGrp="1"/>
          </p:cNvSpPr>
          <p:nvPr/>
        </p:nvSpPr>
        <p:spPr>
          <a:xfrm>
            <a:off x="10005280" y="2446826"/>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A3C723B5-A482-44DD-A39F-A73A661EA420}"/>
              </a:ext>
            </a:extLst>
          </p:cNvPr>
          <p:cNvSpPr>
            <a:spLocks noGrp="1"/>
          </p:cNvSpPr>
          <p:nvPr/>
        </p:nvSpPr>
        <p:spPr>
          <a:xfrm>
            <a:off x="10064994" y="2410191"/>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BF3B9DB7-9778-4EDF-80FA-FBEA19BE341B}"/>
              </a:ext>
            </a:extLst>
          </p:cNvPr>
          <p:cNvSpPr>
            <a:spLocks noGrp="1"/>
          </p:cNvSpPr>
          <p:nvPr/>
        </p:nvSpPr>
        <p:spPr>
          <a:xfrm>
            <a:off x="10124709" y="2373557"/>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B1712121-1EC6-43C8-A0BD-635278F6884F}"/>
              </a:ext>
            </a:extLst>
          </p:cNvPr>
          <p:cNvSpPr>
            <a:spLocks noGrp="1"/>
          </p:cNvSpPr>
          <p:nvPr/>
        </p:nvSpPr>
        <p:spPr>
          <a:xfrm>
            <a:off x="10184423" y="2336922"/>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929F58CA-0540-4292-BD28-DCA4DF3DE69A}"/>
              </a:ext>
            </a:extLst>
          </p:cNvPr>
          <p:cNvSpPr>
            <a:spLocks noGrp="1"/>
          </p:cNvSpPr>
          <p:nvPr/>
        </p:nvSpPr>
        <p:spPr>
          <a:xfrm>
            <a:off x="10244138" y="2300288"/>
            <a:ext cx="47625" cy="4762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9FBBAF6B-C472-422B-8199-5611840A6F72}"/>
              </a:ext>
            </a:extLst>
          </p:cNvPr>
          <p:cNvSpPr>
            <a:spLocks noGrp="1"/>
          </p:cNvSpPr>
          <p:nvPr/>
        </p:nvSpPr>
        <p:spPr>
          <a:xfrm>
            <a:off x="7138988" y="4205288"/>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F9A06590-58CF-4777-9D19-4609A7A75324}"/>
              </a:ext>
            </a:extLst>
          </p:cNvPr>
          <p:cNvSpPr>
            <a:spLocks noGrp="1"/>
          </p:cNvSpPr>
          <p:nvPr/>
        </p:nvSpPr>
        <p:spPr>
          <a:xfrm>
            <a:off x="7202732" y="4188436"/>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3134C426-DC3B-4DA5-A0FB-F7E501D9DC13}"/>
              </a:ext>
            </a:extLst>
          </p:cNvPr>
          <p:cNvSpPr>
            <a:spLocks noGrp="1"/>
          </p:cNvSpPr>
          <p:nvPr/>
        </p:nvSpPr>
        <p:spPr>
          <a:xfrm>
            <a:off x="7266476" y="4171584"/>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6" name="椭圆 75">
            <a:extLst>
              <a:ext uri="{FF2B5EF4-FFF2-40B4-BE49-F238E27FC236}">
                <a16:creationId xmlns:a16="http://schemas.microsoft.com/office/drawing/2014/main" id="{EEB70617-D214-4478-829F-A033BDC2E040}"/>
              </a:ext>
            </a:extLst>
          </p:cNvPr>
          <p:cNvSpPr>
            <a:spLocks noGrp="1"/>
          </p:cNvSpPr>
          <p:nvPr/>
        </p:nvSpPr>
        <p:spPr>
          <a:xfrm>
            <a:off x="7330220" y="4154732"/>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7" name="椭圆 76">
            <a:extLst>
              <a:ext uri="{FF2B5EF4-FFF2-40B4-BE49-F238E27FC236}">
                <a16:creationId xmlns:a16="http://schemas.microsoft.com/office/drawing/2014/main" id="{67325DF9-B5C3-455A-A4B6-A1119474D74E}"/>
              </a:ext>
            </a:extLst>
          </p:cNvPr>
          <p:cNvSpPr>
            <a:spLocks noGrp="1"/>
          </p:cNvSpPr>
          <p:nvPr/>
        </p:nvSpPr>
        <p:spPr>
          <a:xfrm>
            <a:off x="7393964" y="4137880"/>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8" name="椭圆 77">
            <a:extLst>
              <a:ext uri="{FF2B5EF4-FFF2-40B4-BE49-F238E27FC236}">
                <a16:creationId xmlns:a16="http://schemas.microsoft.com/office/drawing/2014/main" id="{7FC6F891-F377-47AD-BFAB-457B7591EF66}"/>
              </a:ext>
            </a:extLst>
          </p:cNvPr>
          <p:cNvSpPr>
            <a:spLocks noGrp="1"/>
          </p:cNvSpPr>
          <p:nvPr/>
        </p:nvSpPr>
        <p:spPr>
          <a:xfrm>
            <a:off x="7457709" y="4121028"/>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8CF13674-B10C-41F3-8C57-96F3A93FA57C}"/>
              </a:ext>
            </a:extLst>
          </p:cNvPr>
          <p:cNvSpPr>
            <a:spLocks noGrp="1"/>
          </p:cNvSpPr>
          <p:nvPr/>
        </p:nvSpPr>
        <p:spPr>
          <a:xfrm>
            <a:off x="7521453" y="4104176"/>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65E28171-383A-4B33-92CF-D8826CE18D3B}"/>
              </a:ext>
            </a:extLst>
          </p:cNvPr>
          <p:cNvSpPr>
            <a:spLocks noGrp="1"/>
          </p:cNvSpPr>
          <p:nvPr/>
        </p:nvSpPr>
        <p:spPr>
          <a:xfrm>
            <a:off x="7585197" y="4087324"/>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26C2945F-4F56-4B34-BAE0-79F323D48BDE}"/>
              </a:ext>
            </a:extLst>
          </p:cNvPr>
          <p:cNvSpPr>
            <a:spLocks noGrp="1"/>
          </p:cNvSpPr>
          <p:nvPr/>
        </p:nvSpPr>
        <p:spPr>
          <a:xfrm>
            <a:off x="7648941" y="4070472"/>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2" name="椭圆 81">
            <a:extLst>
              <a:ext uri="{FF2B5EF4-FFF2-40B4-BE49-F238E27FC236}">
                <a16:creationId xmlns:a16="http://schemas.microsoft.com/office/drawing/2014/main" id="{35C46B11-C6A2-4661-9B73-EC7AE502A43C}"/>
              </a:ext>
            </a:extLst>
          </p:cNvPr>
          <p:cNvSpPr>
            <a:spLocks noGrp="1"/>
          </p:cNvSpPr>
          <p:nvPr/>
        </p:nvSpPr>
        <p:spPr>
          <a:xfrm>
            <a:off x="7712686" y="4053620"/>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3" name="椭圆 82">
            <a:extLst>
              <a:ext uri="{FF2B5EF4-FFF2-40B4-BE49-F238E27FC236}">
                <a16:creationId xmlns:a16="http://schemas.microsoft.com/office/drawing/2014/main" id="{FC8AC8D5-EDFE-4CA0-B002-C11E718BF305}"/>
              </a:ext>
            </a:extLst>
          </p:cNvPr>
          <p:cNvSpPr>
            <a:spLocks noGrp="1"/>
          </p:cNvSpPr>
          <p:nvPr/>
        </p:nvSpPr>
        <p:spPr>
          <a:xfrm>
            <a:off x="7776430" y="4036768"/>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4" name="椭圆 83">
            <a:extLst>
              <a:ext uri="{FF2B5EF4-FFF2-40B4-BE49-F238E27FC236}">
                <a16:creationId xmlns:a16="http://schemas.microsoft.com/office/drawing/2014/main" id="{A9338FEC-1C58-498E-B101-29E75317804D}"/>
              </a:ext>
            </a:extLst>
          </p:cNvPr>
          <p:cNvSpPr>
            <a:spLocks noGrp="1"/>
          </p:cNvSpPr>
          <p:nvPr/>
        </p:nvSpPr>
        <p:spPr>
          <a:xfrm>
            <a:off x="7840174" y="4019916"/>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5" name="椭圆 84">
            <a:extLst>
              <a:ext uri="{FF2B5EF4-FFF2-40B4-BE49-F238E27FC236}">
                <a16:creationId xmlns:a16="http://schemas.microsoft.com/office/drawing/2014/main" id="{711B3098-B43F-4783-B073-E647CE043349}"/>
              </a:ext>
            </a:extLst>
          </p:cNvPr>
          <p:cNvSpPr>
            <a:spLocks noGrp="1"/>
          </p:cNvSpPr>
          <p:nvPr/>
        </p:nvSpPr>
        <p:spPr>
          <a:xfrm>
            <a:off x="7903918" y="4003064"/>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6" name="椭圆 85">
            <a:extLst>
              <a:ext uri="{FF2B5EF4-FFF2-40B4-BE49-F238E27FC236}">
                <a16:creationId xmlns:a16="http://schemas.microsoft.com/office/drawing/2014/main" id="{AAF96D14-223E-48DA-ABC0-5C83C2C81948}"/>
              </a:ext>
            </a:extLst>
          </p:cNvPr>
          <p:cNvSpPr>
            <a:spLocks noGrp="1"/>
          </p:cNvSpPr>
          <p:nvPr/>
        </p:nvSpPr>
        <p:spPr>
          <a:xfrm>
            <a:off x="7967663" y="3986213"/>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7" name="椭圆 86">
            <a:extLst>
              <a:ext uri="{FF2B5EF4-FFF2-40B4-BE49-F238E27FC236}">
                <a16:creationId xmlns:a16="http://schemas.microsoft.com/office/drawing/2014/main" id="{BEAF3CBF-C974-4CEF-B048-E888F8766523}"/>
              </a:ext>
            </a:extLst>
          </p:cNvPr>
          <p:cNvSpPr>
            <a:spLocks noGrp="1"/>
          </p:cNvSpPr>
          <p:nvPr/>
        </p:nvSpPr>
        <p:spPr>
          <a:xfrm>
            <a:off x="8031407" y="3969361"/>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8" name="椭圆 87">
            <a:extLst>
              <a:ext uri="{FF2B5EF4-FFF2-40B4-BE49-F238E27FC236}">
                <a16:creationId xmlns:a16="http://schemas.microsoft.com/office/drawing/2014/main" id="{0A15E48A-FBEB-491A-BA98-654C0C3FEB86}"/>
              </a:ext>
            </a:extLst>
          </p:cNvPr>
          <p:cNvSpPr>
            <a:spLocks noGrp="1"/>
          </p:cNvSpPr>
          <p:nvPr/>
        </p:nvSpPr>
        <p:spPr>
          <a:xfrm>
            <a:off x="8095151" y="3952509"/>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9" name="椭圆 88">
            <a:extLst>
              <a:ext uri="{FF2B5EF4-FFF2-40B4-BE49-F238E27FC236}">
                <a16:creationId xmlns:a16="http://schemas.microsoft.com/office/drawing/2014/main" id="{19475729-EB1A-42D2-9357-44C16F60FD71}"/>
              </a:ext>
            </a:extLst>
          </p:cNvPr>
          <p:cNvSpPr>
            <a:spLocks noGrp="1"/>
          </p:cNvSpPr>
          <p:nvPr/>
        </p:nvSpPr>
        <p:spPr>
          <a:xfrm>
            <a:off x="8158895" y="3935657"/>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0" name="椭圆 89">
            <a:extLst>
              <a:ext uri="{FF2B5EF4-FFF2-40B4-BE49-F238E27FC236}">
                <a16:creationId xmlns:a16="http://schemas.microsoft.com/office/drawing/2014/main" id="{94713F83-2546-40FA-B20E-1618D404B6FD}"/>
              </a:ext>
            </a:extLst>
          </p:cNvPr>
          <p:cNvSpPr>
            <a:spLocks noGrp="1"/>
          </p:cNvSpPr>
          <p:nvPr/>
        </p:nvSpPr>
        <p:spPr>
          <a:xfrm>
            <a:off x="8222639" y="3918805"/>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1" name="椭圆 90">
            <a:extLst>
              <a:ext uri="{FF2B5EF4-FFF2-40B4-BE49-F238E27FC236}">
                <a16:creationId xmlns:a16="http://schemas.microsoft.com/office/drawing/2014/main" id="{C1CB3946-25AF-49FA-8BDC-4AA6E5FDECBF}"/>
              </a:ext>
            </a:extLst>
          </p:cNvPr>
          <p:cNvSpPr>
            <a:spLocks noGrp="1"/>
          </p:cNvSpPr>
          <p:nvPr/>
        </p:nvSpPr>
        <p:spPr>
          <a:xfrm>
            <a:off x="8286384" y="3901953"/>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2" name="椭圆 91">
            <a:extLst>
              <a:ext uri="{FF2B5EF4-FFF2-40B4-BE49-F238E27FC236}">
                <a16:creationId xmlns:a16="http://schemas.microsoft.com/office/drawing/2014/main" id="{1573B826-A81D-4B63-9A30-1B7B9759472F}"/>
              </a:ext>
            </a:extLst>
          </p:cNvPr>
          <p:cNvSpPr>
            <a:spLocks noGrp="1"/>
          </p:cNvSpPr>
          <p:nvPr/>
        </p:nvSpPr>
        <p:spPr>
          <a:xfrm>
            <a:off x="8350128" y="3885101"/>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3" name="椭圆 92">
            <a:extLst>
              <a:ext uri="{FF2B5EF4-FFF2-40B4-BE49-F238E27FC236}">
                <a16:creationId xmlns:a16="http://schemas.microsoft.com/office/drawing/2014/main" id="{DD7D8A3C-9006-4D06-AF1B-640B524C9596}"/>
              </a:ext>
            </a:extLst>
          </p:cNvPr>
          <p:cNvSpPr>
            <a:spLocks noGrp="1"/>
          </p:cNvSpPr>
          <p:nvPr/>
        </p:nvSpPr>
        <p:spPr>
          <a:xfrm>
            <a:off x="8413872" y="3868249"/>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4" name="椭圆 93">
            <a:extLst>
              <a:ext uri="{FF2B5EF4-FFF2-40B4-BE49-F238E27FC236}">
                <a16:creationId xmlns:a16="http://schemas.microsoft.com/office/drawing/2014/main" id="{45D92020-489A-492D-99D5-EA48E2C84896}"/>
              </a:ext>
            </a:extLst>
          </p:cNvPr>
          <p:cNvSpPr>
            <a:spLocks noGrp="1"/>
          </p:cNvSpPr>
          <p:nvPr/>
        </p:nvSpPr>
        <p:spPr>
          <a:xfrm>
            <a:off x="8477616" y="3851397"/>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5" name="椭圆 94">
            <a:extLst>
              <a:ext uri="{FF2B5EF4-FFF2-40B4-BE49-F238E27FC236}">
                <a16:creationId xmlns:a16="http://schemas.microsoft.com/office/drawing/2014/main" id="{CA48C4E5-4457-4FCF-9327-6849AE0F9B37}"/>
              </a:ext>
            </a:extLst>
          </p:cNvPr>
          <p:cNvSpPr>
            <a:spLocks noGrp="1"/>
          </p:cNvSpPr>
          <p:nvPr/>
        </p:nvSpPr>
        <p:spPr>
          <a:xfrm>
            <a:off x="8541361" y="3834545"/>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6" name="椭圆 95">
            <a:extLst>
              <a:ext uri="{FF2B5EF4-FFF2-40B4-BE49-F238E27FC236}">
                <a16:creationId xmlns:a16="http://schemas.microsoft.com/office/drawing/2014/main" id="{3FFAC106-A073-49D9-97DC-086098FE3724}"/>
              </a:ext>
            </a:extLst>
          </p:cNvPr>
          <p:cNvSpPr>
            <a:spLocks noGrp="1"/>
          </p:cNvSpPr>
          <p:nvPr/>
        </p:nvSpPr>
        <p:spPr>
          <a:xfrm>
            <a:off x="8605105" y="3817693"/>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7" name="椭圆 96">
            <a:extLst>
              <a:ext uri="{FF2B5EF4-FFF2-40B4-BE49-F238E27FC236}">
                <a16:creationId xmlns:a16="http://schemas.microsoft.com/office/drawing/2014/main" id="{D4B64091-2E4F-4C9A-8C0C-2DC785A80214}"/>
              </a:ext>
            </a:extLst>
          </p:cNvPr>
          <p:cNvSpPr>
            <a:spLocks noGrp="1"/>
          </p:cNvSpPr>
          <p:nvPr/>
        </p:nvSpPr>
        <p:spPr>
          <a:xfrm>
            <a:off x="8668849" y="3800841"/>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8" name="椭圆 97">
            <a:extLst>
              <a:ext uri="{FF2B5EF4-FFF2-40B4-BE49-F238E27FC236}">
                <a16:creationId xmlns:a16="http://schemas.microsoft.com/office/drawing/2014/main" id="{D6200839-6AB6-49A1-802D-7B969142227E}"/>
              </a:ext>
            </a:extLst>
          </p:cNvPr>
          <p:cNvSpPr>
            <a:spLocks noGrp="1"/>
          </p:cNvSpPr>
          <p:nvPr/>
        </p:nvSpPr>
        <p:spPr>
          <a:xfrm>
            <a:off x="8732593" y="3783989"/>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9" name="椭圆 98">
            <a:extLst>
              <a:ext uri="{FF2B5EF4-FFF2-40B4-BE49-F238E27FC236}">
                <a16:creationId xmlns:a16="http://schemas.microsoft.com/office/drawing/2014/main" id="{9B2DE735-06FD-42D2-B62D-0B707A69163E}"/>
              </a:ext>
            </a:extLst>
          </p:cNvPr>
          <p:cNvSpPr>
            <a:spLocks noGrp="1"/>
          </p:cNvSpPr>
          <p:nvPr/>
        </p:nvSpPr>
        <p:spPr>
          <a:xfrm>
            <a:off x="8796338" y="3767138"/>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0" name="椭圆 99">
            <a:extLst>
              <a:ext uri="{FF2B5EF4-FFF2-40B4-BE49-F238E27FC236}">
                <a16:creationId xmlns:a16="http://schemas.microsoft.com/office/drawing/2014/main" id="{F5D21FFD-6642-4AF8-B261-1DAD28EB3311}"/>
              </a:ext>
            </a:extLst>
          </p:cNvPr>
          <p:cNvSpPr>
            <a:spLocks noGrp="1"/>
          </p:cNvSpPr>
          <p:nvPr/>
        </p:nvSpPr>
        <p:spPr>
          <a:xfrm>
            <a:off x="8860082" y="3750286"/>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1" name="椭圆 100">
            <a:extLst>
              <a:ext uri="{FF2B5EF4-FFF2-40B4-BE49-F238E27FC236}">
                <a16:creationId xmlns:a16="http://schemas.microsoft.com/office/drawing/2014/main" id="{18F8B6E7-F126-4E7A-932D-5AC9AE0C94F6}"/>
              </a:ext>
            </a:extLst>
          </p:cNvPr>
          <p:cNvSpPr>
            <a:spLocks noGrp="1"/>
          </p:cNvSpPr>
          <p:nvPr/>
        </p:nvSpPr>
        <p:spPr>
          <a:xfrm>
            <a:off x="8923826" y="3733434"/>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2" name="椭圆 101">
            <a:extLst>
              <a:ext uri="{FF2B5EF4-FFF2-40B4-BE49-F238E27FC236}">
                <a16:creationId xmlns:a16="http://schemas.microsoft.com/office/drawing/2014/main" id="{67A42120-20AE-4CC4-B3FE-01A835C4D366}"/>
              </a:ext>
            </a:extLst>
          </p:cNvPr>
          <p:cNvSpPr>
            <a:spLocks noGrp="1"/>
          </p:cNvSpPr>
          <p:nvPr/>
        </p:nvSpPr>
        <p:spPr>
          <a:xfrm>
            <a:off x="8987570" y="3716582"/>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3" name="椭圆 102">
            <a:extLst>
              <a:ext uri="{FF2B5EF4-FFF2-40B4-BE49-F238E27FC236}">
                <a16:creationId xmlns:a16="http://schemas.microsoft.com/office/drawing/2014/main" id="{5E2D15BE-B7DA-4B1B-85FD-3C56C3A9D582}"/>
              </a:ext>
            </a:extLst>
          </p:cNvPr>
          <p:cNvSpPr>
            <a:spLocks noGrp="1"/>
          </p:cNvSpPr>
          <p:nvPr/>
        </p:nvSpPr>
        <p:spPr>
          <a:xfrm>
            <a:off x="9051314" y="3699730"/>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4" name="椭圆 103">
            <a:extLst>
              <a:ext uri="{FF2B5EF4-FFF2-40B4-BE49-F238E27FC236}">
                <a16:creationId xmlns:a16="http://schemas.microsoft.com/office/drawing/2014/main" id="{F1CCB1B9-5F4F-4E23-8A89-E9AC9568E50D}"/>
              </a:ext>
            </a:extLst>
          </p:cNvPr>
          <p:cNvSpPr>
            <a:spLocks noGrp="1"/>
          </p:cNvSpPr>
          <p:nvPr/>
        </p:nvSpPr>
        <p:spPr>
          <a:xfrm>
            <a:off x="9115059" y="3682878"/>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5" name="椭圆 104">
            <a:extLst>
              <a:ext uri="{FF2B5EF4-FFF2-40B4-BE49-F238E27FC236}">
                <a16:creationId xmlns:a16="http://schemas.microsoft.com/office/drawing/2014/main" id="{590419A5-ABC5-4220-87A1-A4D6E35C17D3}"/>
              </a:ext>
            </a:extLst>
          </p:cNvPr>
          <p:cNvSpPr>
            <a:spLocks noGrp="1"/>
          </p:cNvSpPr>
          <p:nvPr/>
        </p:nvSpPr>
        <p:spPr>
          <a:xfrm>
            <a:off x="9178803" y="3666026"/>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6" name="椭圆 105">
            <a:extLst>
              <a:ext uri="{FF2B5EF4-FFF2-40B4-BE49-F238E27FC236}">
                <a16:creationId xmlns:a16="http://schemas.microsoft.com/office/drawing/2014/main" id="{781F1E5C-1DA5-40D9-B257-BDD2AB1A721A}"/>
              </a:ext>
            </a:extLst>
          </p:cNvPr>
          <p:cNvSpPr>
            <a:spLocks noGrp="1"/>
          </p:cNvSpPr>
          <p:nvPr/>
        </p:nvSpPr>
        <p:spPr>
          <a:xfrm>
            <a:off x="9242547" y="3649174"/>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7" name="椭圆 106">
            <a:extLst>
              <a:ext uri="{FF2B5EF4-FFF2-40B4-BE49-F238E27FC236}">
                <a16:creationId xmlns:a16="http://schemas.microsoft.com/office/drawing/2014/main" id="{5EAD225B-6696-4142-BD7B-BCE70FC4B146}"/>
              </a:ext>
            </a:extLst>
          </p:cNvPr>
          <p:cNvSpPr>
            <a:spLocks noGrp="1"/>
          </p:cNvSpPr>
          <p:nvPr/>
        </p:nvSpPr>
        <p:spPr>
          <a:xfrm>
            <a:off x="9306291" y="3632322"/>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8" name="椭圆 107">
            <a:extLst>
              <a:ext uri="{FF2B5EF4-FFF2-40B4-BE49-F238E27FC236}">
                <a16:creationId xmlns:a16="http://schemas.microsoft.com/office/drawing/2014/main" id="{01E56EA4-78CD-4FFC-ACF5-BBAB0CCA48C8}"/>
              </a:ext>
            </a:extLst>
          </p:cNvPr>
          <p:cNvSpPr>
            <a:spLocks noGrp="1"/>
          </p:cNvSpPr>
          <p:nvPr/>
        </p:nvSpPr>
        <p:spPr>
          <a:xfrm>
            <a:off x="9370036" y="3615470"/>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9" name="椭圆 108">
            <a:extLst>
              <a:ext uri="{FF2B5EF4-FFF2-40B4-BE49-F238E27FC236}">
                <a16:creationId xmlns:a16="http://schemas.microsoft.com/office/drawing/2014/main" id="{5DF25925-9C4E-4631-B7C3-F02E88D2E28F}"/>
              </a:ext>
            </a:extLst>
          </p:cNvPr>
          <p:cNvSpPr>
            <a:spLocks noGrp="1"/>
          </p:cNvSpPr>
          <p:nvPr/>
        </p:nvSpPr>
        <p:spPr>
          <a:xfrm>
            <a:off x="9433780" y="3598618"/>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0" name="椭圆 109">
            <a:extLst>
              <a:ext uri="{FF2B5EF4-FFF2-40B4-BE49-F238E27FC236}">
                <a16:creationId xmlns:a16="http://schemas.microsoft.com/office/drawing/2014/main" id="{D54347FC-F7E4-4DAA-A551-AA9B33C48EED}"/>
              </a:ext>
            </a:extLst>
          </p:cNvPr>
          <p:cNvSpPr>
            <a:spLocks noGrp="1"/>
          </p:cNvSpPr>
          <p:nvPr/>
        </p:nvSpPr>
        <p:spPr>
          <a:xfrm>
            <a:off x="9497524" y="3581766"/>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1" name="椭圆 110">
            <a:extLst>
              <a:ext uri="{FF2B5EF4-FFF2-40B4-BE49-F238E27FC236}">
                <a16:creationId xmlns:a16="http://schemas.microsoft.com/office/drawing/2014/main" id="{5625CA2C-1009-4F44-B89B-5EA0229EB3A9}"/>
              </a:ext>
            </a:extLst>
          </p:cNvPr>
          <p:cNvSpPr>
            <a:spLocks noGrp="1"/>
          </p:cNvSpPr>
          <p:nvPr/>
        </p:nvSpPr>
        <p:spPr>
          <a:xfrm>
            <a:off x="9561268" y="3564914"/>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2" name="椭圆 111">
            <a:extLst>
              <a:ext uri="{FF2B5EF4-FFF2-40B4-BE49-F238E27FC236}">
                <a16:creationId xmlns:a16="http://schemas.microsoft.com/office/drawing/2014/main" id="{45057A06-4F12-430B-9505-AC6C6FDA6F06}"/>
              </a:ext>
            </a:extLst>
          </p:cNvPr>
          <p:cNvSpPr>
            <a:spLocks noGrp="1"/>
          </p:cNvSpPr>
          <p:nvPr/>
        </p:nvSpPr>
        <p:spPr>
          <a:xfrm>
            <a:off x="9625013" y="3548063"/>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3" name="椭圆 112">
            <a:extLst>
              <a:ext uri="{FF2B5EF4-FFF2-40B4-BE49-F238E27FC236}">
                <a16:creationId xmlns:a16="http://schemas.microsoft.com/office/drawing/2014/main" id="{D12D26B6-C868-40DE-AC4C-99907F0EE2B4}"/>
              </a:ext>
            </a:extLst>
          </p:cNvPr>
          <p:cNvSpPr>
            <a:spLocks noGrp="1"/>
          </p:cNvSpPr>
          <p:nvPr/>
        </p:nvSpPr>
        <p:spPr>
          <a:xfrm>
            <a:off x="9688757" y="3531211"/>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4" name="椭圆 113">
            <a:extLst>
              <a:ext uri="{FF2B5EF4-FFF2-40B4-BE49-F238E27FC236}">
                <a16:creationId xmlns:a16="http://schemas.microsoft.com/office/drawing/2014/main" id="{808B1902-7C5E-4499-B108-C2DBB5309F5E}"/>
              </a:ext>
            </a:extLst>
          </p:cNvPr>
          <p:cNvSpPr>
            <a:spLocks noGrp="1"/>
          </p:cNvSpPr>
          <p:nvPr/>
        </p:nvSpPr>
        <p:spPr>
          <a:xfrm>
            <a:off x="9752501" y="3514359"/>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5" name="椭圆 114">
            <a:extLst>
              <a:ext uri="{FF2B5EF4-FFF2-40B4-BE49-F238E27FC236}">
                <a16:creationId xmlns:a16="http://schemas.microsoft.com/office/drawing/2014/main" id="{754F62C5-F7A3-4719-B7E4-511414087782}"/>
              </a:ext>
            </a:extLst>
          </p:cNvPr>
          <p:cNvSpPr>
            <a:spLocks noGrp="1"/>
          </p:cNvSpPr>
          <p:nvPr/>
        </p:nvSpPr>
        <p:spPr>
          <a:xfrm>
            <a:off x="9816245" y="3497507"/>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6" name="椭圆 115">
            <a:extLst>
              <a:ext uri="{FF2B5EF4-FFF2-40B4-BE49-F238E27FC236}">
                <a16:creationId xmlns:a16="http://schemas.microsoft.com/office/drawing/2014/main" id="{A37F846B-BD7D-4130-B390-C449D76EADA2}"/>
              </a:ext>
            </a:extLst>
          </p:cNvPr>
          <p:cNvSpPr>
            <a:spLocks noGrp="1"/>
          </p:cNvSpPr>
          <p:nvPr/>
        </p:nvSpPr>
        <p:spPr>
          <a:xfrm>
            <a:off x="9879989" y="3480655"/>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7" name="椭圆 116">
            <a:extLst>
              <a:ext uri="{FF2B5EF4-FFF2-40B4-BE49-F238E27FC236}">
                <a16:creationId xmlns:a16="http://schemas.microsoft.com/office/drawing/2014/main" id="{420F9DB9-72C2-42DA-A024-F51B0972B9C9}"/>
              </a:ext>
            </a:extLst>
          </p:cNvPr>
          <p:cNvSpPr>
            <a:spLocks noGrp="1"/>
          </p:cNvSpPr>
          <p:nvPr/>
        </p:nvSpPr>
        <p:spPr>
          <a:xfrm>
            <a:off x="9943734" y="3463803"/>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8" name="椭圆 117">
            <a:extLst>
              <a:ext uri="{FF2B5EF4-FFF2-40B4-BE49-F238E27FC236}">
                <a16:creationId xmlns:a16="http://schemas.microsoft.com/office/drawing/2014/main" id="{10E19A4C-1A26-43BF-850A-032C9D237198}"/>
              </a:ext>
            </a:extLst>
          </p:cNvPr>
          <p:cNvSpPr>
            <a:spLocks noGrp="1"/>
          </p:cNvSpPr>
          <p:nvPr/>
        </p:nvSpPr>
        <p:spPr>
          <a:xfrm>
            <a:off x="10007478" y="3446951"/>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19" name="椭圆 118">
            <a:extLst>
              <a:ext uri="{FF2B5EF4-FFF2-40B4-BE49-F238E27FC236}">
                <a16:creationId xmlns:a16="http://schemas.microsoft.com/office/drawing/2014/main" id="{CA66BBB0-3CE8-4AC6-92B6-ED4C845B2187}"/>
              </a:ext>
            </a:extLst>
          </p:cNvPr>
          <p:cNvSpPr>
            <a:spLocks noGrp="1"/>
          </p:cNvSpPr>
          <p:nvPr/>
        </p:nvSpPr>
        <p:spPr>
          <a:xfrm>
            <a:off x="10071222" y="3430099"/>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20" name="椭圆 119">
            <a:extLst>
              <a:ext uri="{FF2B5EF4-FFF2-40B4-BE49-F238E27FC236}">
                <a16:creationId xmlns:a16="http://schemas.microsoft.com/office/drawing/2014/main" id="{84FB09EE-2351-423E-9B7B-4DE93B02CCD0}"/>
              </a:ext>
            </a:extLst>
          </p:cNvPr>
          <p:cNvSpPr>
            <a:spLocks noGrp="1"/>
          </p:cNvSpPr>
          <p:nvPr/>
        </p:nvSpPr>
        <p:spPr>
          <a:xfrm>
            <a:off x="10134966" y="3413247"/>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21" name="椭圆 120">
            <a:extLst>
              <a:ext uri="{FF2B5EF4-FFF2-40B4-BE49-F238E27FC236}">
                <a16:creationId xmlns:a16="http://schemas.microsoft.com/office/drawing/2014/main" id="{6385035A-6710-4C9F-B74E-7E5B6D4461FF}"/>
              </a:ext>
            </a:extLst>
          </p:cNvPr>
          <p:cNvSpPr>
            <a:spLocks noGrp="1"/>
          </p:cNvSpPr>
          <p:nvPr/>
        </p:nvSpPr>
        <p:spPr>
          <a:xfrm>
            <a:off x="10198711" y="3396395"/>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22" name="椭圆 121">
            <a:extLst>
              <a:ext uri="{FF2B5EF4-FFF2-40B4-BE49-F238E27FC236}">
                <a16:creationId xmlns:a16="http://schemas.microsoft.com/office/drawing/2014/main" id="{07612DDA-CF22-4C3C-8BA1-A646C53EAAA0}"/>
              </a:ext>
            </a:extLst>
          </p:cNvPr>
          <p:cNvSpPr>
            <a:spLocks noGrp="1"/>
          </p:cNvSpPr>
          <p:nvPr/>
        </p:nvSpPr>
        <p:spPr>
          <a:xfrm>
            <a:off x="10262455" y="3379543"/>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23" name="椭圆 122">
            <a:extLst>
              <a:ext uri="{FF2B5EF4-FFF2-40B4-BE49-F238E27FC236}">
                <a16:creationId xmlns:a16="http://schemas.microsoft.com/office/drawing/2014/main" id="{19520D12-0E54-4A22-BCB2-939C76453A0F}"/>
              </a:ext>
            </a:extLst>
          </p:cNvPr>
          <p:cNvSpPr>
            <a:spLocks noGrp="1"/>
          </p:cNvSpPr>
          <p:nvPr/>
        </p:nvSpPr>
        <p:spPr>
          <a:xfrm>
            <a:off x="10326199" y="3362691"/>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24" name="椭圆 123">
            <a:extLst>
              <a:ext uri="{FF2B5EF4-FFF2-40B4-BE49-F238E27FC236}">
                <a16:creationId xmlns:a16="http://schemas.microsoft.com/office/drawing/2014/main" id="{F30BE41E-55B0-4C31-B2C0-51734E686157}"/>
              </a:ext>
            </a:extLst>
          </p:cNvPr>
          <p:cNvSpPr>
            <a:spLocks noGrp="1"/>
          </p:cNvSpPr>
          <p:nvPr/>
        </p:nvSpPr>
        <p:spPr>
          <a:xfrm>
            <a:off x="10389943" y="3345839"/>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25" name="椭圆 124">
            <a:extLst>
              <a:ext uri="{FF2B5EF4-FFF2-40B4-BE49-F238E27FC236}">
                <a16:creationId xmlns:a16="http://schemas.microsoft.com/office/drawing/2014/main" id="{F8B6C479-2C49-44AF-AEDA-671B3C0D744C}"/>
              </a:ext>
            </a:extLst>
          </p:cNvPr>
          <p:cNvSpPr>
            <a:spLocks noGrp="1"/>
          </p:cNvSpPr>
          <p:nvPr/>
        </p:nvSpPr>
        <p:spPr>
          <a:xfrm>
            <a:off x="10453688" y="3328988"/>
            <a:ext cx="47625" cy="4762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26" name="椭圆 125">
            <a:extLst>
              <a:ext uri="{FF2B5EF4-FFF2-40B4-BE49-F238E27FC236}">
                <a16:creationId xmlns:a16="http://schemas.microsoft.com/office/drawing/2014/main" id="{81BCBC03-82A8-4C05-9FE0-CF33DC0535F2}"/>
              </a:ext>
            </a:extLst>
          </p:cNvPr>
          <p:cNvSpPr>
            <a:spLocks noGrp="1"/>
          </p:cNvSpPr>
          <p:nvPr/>
        </p:nvSpPr>
        <p:spPr>
          <a:xfrm>
            <a:off x="7890123" y="3753960"/>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27" name="椭圆 126">
            <a:extLst>
              <a:ext uri="{FF2B5EF4-FFF2-40B4-BE49-F238E27FC236}">
                <a16:creationId xmlns:a16="http://schemas.microsoft.com/office/drawing/2014/main" id="{D18424FC-27AD-40C2-90FA-820D35C01D5A}"/>
              </a:ext>
            </a:extLst>
          </p:cNvPr>
          <p:cNvSpPr>
            <a:spLocks noGrp="1"/>
          </p:cNvSpPr>
          <p:nvPr/>
        </p:nvSpPr>
        <p:spPr>
          <a:xfrm>
            <a:off x="7901680" y="3773777"/>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28" name="椭圆 127">
            <a:extLst>
              <a:ext uri="{FF2B5EF4-FFF2-40B4-BE49-F238E27FC236}">
                <a16:creationId xmlns:a16="http://schemas.microsoft.com/office/drawing/2014/main" id="{30A61810-E5A2-4B30-A22C-9A23757CBE62}"/>
              </a:ext>
            </a:extLst>
          </p:cNvPr>
          <p:cNvSpPr>
            <a:spLocks noGrp="1"/>
          </p:cNvSpPr>
          <p:nvPr/>
        </p:nvSpPr>
        <p:spPr>
          <a:xfrm>
            <a:off x="7912714" y="3793890"/>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29" name="椭圆 128">
            <a:extLst>
              <a:ext uri="{FF2B5EF4-FFF2-40B4-BE49-F238E27FC236}">
                <a16:creationId xmlns:a16="http://schemas.microsoft.com/office/drawing/2014/main" id="{812706A3-8EF6-4BC5-A134-ED73B0AB4ED4}"/>
              </a:ext>
            </a:extLst>
          </p:cNvPr>
          <p:cNvSpPr>
            <a:spLocks noGrp="1"/>
          </p:cNvSpPr>
          <p:nvPr/>
        </p:nvSpPr>
        <p:spPr>
          <a:xfrm>
            <a:off x="7923218" y="3814284"/>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0" name="椭圆 129">
            <a:extLst>
              <a:ext uri="{FF2B5EF4-FFF2-40B4-BE49-F238E27FC236}">
                <a16:creationId xmlns:a16="http://schemas.microsoft.com/office/drawing/2014/main" id="{4BCDD250-D85F-43F7-90FB-0B37E02241D3}"/>
              </a:ext>
            </a:extLst>
          </p:cNvPr>
          <p:cNvSpPr>
            <a:spLocks noGrp="1"/>
          </p:cNvSpPr>
          <p:nvPr/>
        </p:nvSpPr>
        <p:spPr>
          <a:xfrm>
            <a:off x="7933185" y="3834947"/>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1" name="椭圆 130">
            <a:extLst>
              <a:ext uri="{FF2B5EF4-FFF2-40B4-BE49-F238E27FC236}">
                <a16:creationId xmlns:a16="http://schemas.microsoft.com/office/drawing/2014/main" id="{B237DC14-35E8-4566-AEDF-1031CB0F65E1}"/>
              </a:ext>
            </a:extLst>
          </p:cNvPr>
          <p:cNvSpPr>
            <a:spLocks noGrp="1"/>
          </p:cNvSpPr>
          <p:nvPr/>
        </p:nvSpPr>
        <p:spPr>
          <a:xfrm>
            <a:off x="7942607" y="3855864"/>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2" name="椭圆 131">
            <a:extLst>
              <a:ext uri="{FF2B5EF4-FFF2-40B4-BE49-F238E27FC236}">
                <a16:creationId xmlns:a16="http://schemas.microsoft.com/office/drawing/2014/main" id="{BA4923C1-C10A-4E91-AC1F-A028156D123D}"/>
              </a:ext>
            </a:extLst>
          </p:cNvPr>
          <p:cNvSpPr>
            <a:spLocks noGrp="1"/>
          </p:cNvSpPr>
          <p:nvPr/>
        </p:nvSpPr>
        <p:spPr>
          <a:xfrm>
            <a:off x="7951479" y="3877020"/>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3" name="椭圆 132">
            <a:extLst>
              <a:ext uri="{FF2B5EF4-FFF2-40B4-BE49-F238E27FC236}">
                <a16:creationId xmlns:a16="http://schemas.microsoft.com/office/drawing/2014/main" id="{34083D63-6F71-4D5A-A69D-2B8D22F2195F}"/>
              </a:ext>
            </a:extLst>
          </p:cNvPr>
          <p:cNvSpPr>
            <a:spLocks noGrp="1"/>
          </p:cNvSpPr>
          <p:nvPr/>
        </p:nvSpPr>
        <p:spPr>
          <a:xfrm>
            <a:off x="7959793" y="3898401"/>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4" name="椭圆 133">
            <a:extLst>
              <a:ext uri="{FF2B5EF4-FFF2-40B4-BE49-F238E27FC236}">
                <a16:creationId xmlns:a16="http://schemas.microsoft.com/office/drawing/2014/main" id="{8BFAF7E0-C75A-47CA-8587-17C9E9162B1A}"/>
              </a:ext>
            </a:extLst>
          </p:cNvPr>
          <p:cNvSpPr>
            <a:spLocks noGrp="1"/>
          </p:cNvSpPr>
          <p:nvPr/>
        </p:nvSpPr>
        <p:spPr>
          <a:xfrm>
            <a:off x="7967545" y="3919992"/>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5" name="椭圆 134">
            <a:extLst>
              <a:ext uri="{FF2B5EF4-FFF2-40B4-BE49-F238E27FC236}">
                <a16:creationId xmlns:a16="http://schemas.microsoft.com/office/drawing/2014/main" id="{25D60AE6-7FA2-4719-81E6-4DF99DF16D51}"/>
              </a:ext>
            </a:extLst>
          </p:cNvPr>
          <p:cNvSpPr>
            <a:spLocks noGrp="1"/>
          </p:cNvSpPr>
          <p:nvPr/>
        </p:nvSpPr>
        <p:spPr>
          <a:xfrm>
            <a:off x="7974730" y="3941779"/>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6" name="椭圆 135">
            <a:extLst>
              <a:ext uri="{FF2B5EF4-FFF2-40B4-BE49-F238E27FC236}">
                <a16:creationId xmlns:a16="http://schemas.microsoft.com/office/drawing/2014/main" id="{352D1D65-4AAD-4B89-B723-6DE394680D2E}"/>
              </a:ext>
            </a:extLst>
          </p:cNvPr>
          <p:cNvSpPr>
            <a:spLocks noGrp="1"/>
          </p:cNvSpPr>
          <p:nvPr/>
        </p:nvSpPr>
        <p:spPr>
          <a:xfrm>
            <a:off x="7981341" y="3963746"/>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7" name="椭圆 136">
            <a:extLst>
              <a:ext uri="{FF2B5EF4-FFF2-40B4-BE49-F238E27FC236}">
                <a16:creationId xmlns:a16="http://schemas.microsoft.com/office/drawing/2014/main" id="{C36490F3-8E2B-4059-87F9-8463C8F5F603}"/>
              </a:ext>
            </a:extLst>
          </p:cNvPr>
          <p:cNvSpPr>
            <a:spLocks noGrp="1"/>
          </p:cNvSpPr>
          <p:nvPr/>
        </p:nvSpPr>
        <p:spPr>
          <a:xfrm>
            <a:off x="7987375" y="3985880"/>
            <a:ext cx="47625" cy="47625"/>
          </a:xfrm>
          <a:prstGeom prst="ellipse">
            <a:avLst/>
          </a:prstGeom>
          <a:solidFill>
            <a:srgbClr val="A33A3A"/>
          </a:solidFill>
          <a:ln w="0">
            <a:solidFill>
              <a:srgbClr val="000000">
                <a:alpha val="0"/>
              </a:srgbClr>
            </a:solidFill>
            <a:prstDash val="solid"/>
          </a:ln>
        </p:spPr>
        <p:txBody>
          <a:bodyPr/>
          <a:lstStyle/>
          <a:p>
            <a:endParaRPr lang="zh-CN" altLang="en-US"/>
          </a:p>
        </p:txBody>
      </p:sp>
      <p:sp>
        <p:nvSpPr>
          <p:cNvPr id="138" name="矩形 137">
            <a:extLst>
              <a:ext uri="{FF2B5EF4-FFF2-40B4-BE49-F238E27FC236}">
                <a16:creationId xmlns:a16="http://schemas.microsoft.com/office/drawing/2014/main" id="{D3B52708-70EA-4CD3-A2CA-E2B068573BAE}"/>
              </a:ext>
            </a:extLst>
          </p:cNvPr>
          <p:cNvSpPr>
            <a:spLocks noGrp="1"/>
          </p:cNvSpPr>
          <p:nvPr/>
        </p:nvSpPr>
        <p:spPr>
          <a:xfrm>
            <a:off x="10306050" y="2095500"/>
            <a:ext cx="285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14DA1"/>
                </a:solidFill>
                <a:latin typeface="黑体"/>
                <a:ea typeface="黑体"/>
                <a:cs typeface="黑体"/>
              </a:defRPr>
            </a:pPr>
            <a:r>
              <a:rPr>
                <a:latin typeface="Times New Roman"/>
                <a:ea typeface="Times New Roman"/>
                <a:cs typeface="Times New Roman"/>
              </a:rPr>
              <a:t>x</a:t>
            </a:r>
          </a:p>
        </p:txBody>
      </p:sp>
      <p:sp>
        <p:nvSpPr>
          <p:cNvPr id="139" name="矩形 138">
            <a:extLst>
              <a:ext uri="{FF2B5EF4-FFF2-40B4-BE49-F238E27FC236}">
                <a16:creationId xmlns:a16="http://schemas.microsoft.com/office/drawing/2014/main" id="{A295244B-68F1-4F24-ABDC-6773249AECCE}"/>
              </a:ext>
            </a:extLst>
          </p:cNvPr>
          <p:cNvSpPr>
            <a:spLocks noGrp="1"/>
          </p:cNvSpPr>
          <p:nvPr/>
        </p:nvSpPr>
        <p:spPr>
          <a:xfrm>
            <a:off x="10553700" y="3219450"/>
            <a:ext cx="285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B4964B"/>
                </a:solidFill>
                <a:latin typeface="黑体"/>
                <a:ea typeface="黑体"/>
                <a:cs typeface="黑体"/>
              </a:defRPr>
            </a:pPr>
            <a:r>
              <a:rPr>
                <a:latin typeface="Times New Roman"/>
                <a:ea typeface="Times New Roman"/>
                <a:cs typeface="Times New Roman"/>
              </a:rPr>
              <a:t>y</a:t>
            </a:r>
          </a:p>
        </p:txBody>
      </p:sp>
      <p:sp>
        <p:nvSpPr>
          <p:cNvPr id="140" name="矩形 139">
            <a:extLst>
              <a:ext uri="{FF2B5EF4-FFF2-40B4-BE49-F238E27FC236}">
                <a16:creationId xmlns:a16="http://schemas.microsoft.com/office/drawing/2014/main" id="{7758382E-4A49-4A9E-95A8-F04AFA00FED2}"/>
              </a:ext>
            </a:extLst>
          </p:cNvPr>
          <p:cNvSpPr>
            <a:spLocks noGrp="1"/>
          </p:cNvSpPr>
          <p:nvPr/>
        </p:nvSpPr>
        <p:spPr>
          <a:xfrm>
            <a:off x="8039100" y="3676650"/>
            <a:ext cx="381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A33A3A"/>
                </a:solidFill>
                <a:latin typeface="黑体"/>
                <a:ea typeface="黑体"/>
                <a:cs typeface="黑体"/>
              </a:defRPr>
            </a:pPr>
            <a:r>
              <a:rPr>
                <a:latin typeface="Times New Roman"/>
                <a:ea typeface="Times New Roman"/>
                <a:cs typeface="Times New Roman"/>
              </a:rPr>
              <a:t>θ</a:t>
            </a:r>
          </a:p>
        </p:txBody>
      </p:sp>
      <p:sp>
        <p:nvSpPr>
          <p:cNvPr id="141" name="矩形 140">
            <a:extLst>
              <a:ext uri="{FF2B5EF4-FFF2-40B4-BE49-F238E27FC236}">
                <a16:creationId xmlns:a16="http://schemas.microsoft.com/office/drawing/2014/main" id="{FFDE1BE2-7A53-4D55-A9CA-A5C99BEB39C7}"/>
              </a:ext>
            </a:extLst>
          </p:cNvPr>
          <p:cNvSpPr>
            <a:spLocks noGrp="1"/>
          </p:cNvSpPr>
          <p:nvPr/>
        </p:nvSpPr>
        <p:spPr>
          <a:xfrm>
            <a:off x="8039100" y="4495800"/>
            <a:ext cx="1238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cos θ</a:t>
            </a:r>
          </a:p>
        </p:txBody>
      </p:sp>
      <p:sp>
        <p:nvSpPr>
          <p:cNvPr id="142" name="矩形 141">
            <a:extLst>
              <a:ext uri="{FF2B5EF4-FFF2-40B4-BE49-F238E27FC236}">
                <a16:creationId xmlns:a16="http://schemas.microsoft.com/office/drawing/2014/main" id="{EF2BB877-9886-4B2A-9D71-81E9BB1E1B23}"/>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143" name="矩形 142">
            <a:extLst>
              <a:ext uri="{FF2B5EF4-FFF2-40B4-BE49-F238E27FC236}">
                <a16:creationId xmlns:a16="http://schemas.microsoft.com/office/drawing/2014/main" id="{EFEB36C5-87E1-4507-8734-1EB94BC2386C}"/>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当总量差异不重要而相对模式重要时，</a:t>
            </a:r>
            <a:r>
              <a:rPr>
                <a:latin typeface="Times New Roman"/>
                <a:ea typeface="Times New Roman"/>
                <a:cs typeface="Times New Roman"/>
              </a:rPr>
              <a:t>cosine </a:t>
            </a:r>
            <a:r>
              <a:rPr>
                <a:latin typeface="黑体"/>
                <a:ea typeface="黑体"/>
                <a:cs typeface="黑体"/>
              </a:rPr>
              <a:t>更合适。</a:t>
            </a:r>
          </a:p>
        </p:txBody>
      </p:sp>
    </p:spTree>
    <p:extLst>
      <p:ext uri="{BB962C8B-B14F-4D97-AF65-F5344CB8AC3E}">
        <p14:creationId xmlns:p14="http://schemas.microsoft.com/office/powerpoint/2010/main" val="12061320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矩形 159">
            <a:extLst>
              <a:ext uri="{FF2B5EF4-FFF2-40B4-BE49-F238E27FC236}">
                <a16:creationId xmlns:a16="http://schemas.microsoft.com/office/drawing/2014/main" id="{F682EB23-963A-4997-8C8D-09106F0036A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9C86003F-2345-4E22-B1D4-88EB911AF8A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DB331C72-9BD0-462C-BEC6-5BB23217DB97}"/>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789AAEB6-CB14-4886-A28F-3D1CC4E57092}"/>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例：访问总量不同，访问模式相同</a:t>
            </a:r>
          </a:p>
        </p:txBody>
      </p:sp>
      <p:sp>
        <p:nvSpPr>
          <p:cNvPr id="5" name="矩形 4">
            <a:extLst>
              <a:ext uri="{FF2B5EF4-FFF2-40B4-BE49-F238E27FC236}">
                <a16:creationId xmlns:a16="http://schemas.microsoft.com/office/drawing/2014/main" id="{2258F71B-541E-46FC-B6A2-8B8AB815EE63}"/>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73/90</a:t>
            </a:r>
          </a:p>
        </p:txBody>
      </p:sp>
      <p:sp>
        <p:nvSpPr>
          <p:cNvPr id="6" name="矩形 5">
            <a:extLst>
              <a:ext uri="{FF2B5EF4-FFF2-40B4-BE49-F238E27FC236}">
                <a16:creationId xmlns:a16="http://schemas.microsoft.com/office/drawing/2014/main" id="{477B9442-BE6D-405E-910B-A4961011F332}"/>
              </a:ext>
            </a:extLst>
          </p:cNvPr>
          <p:cNvSpPr>
            <a:spLocks noGrp="1"/>
          </p:cNvSpPr>
          <p:nvPr/>
        </p:nvSpPr>
        <p:spPr>
          <a:xfrm>
            <a:off x="609600" y="1257300"/>
            <a:ext cx="3219450" cy="4000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243F640C-9664-4F37-A9DD-365479940999}"/>
              </a:ext>
            </a:extLst>
          </p:cNvPr>
          <p:cNvSpPr>
            <a:spLocks noGrp="1"/>
          </p:cNvSpPr>
          <p:nvPr/>
        </p:nvSpPr>
        <p:spPr>
          <a:xfrm>
            <a:off x="609600" y="1257300"/>
            <a:ext cx="321945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174B710A-BBB1-4733-B120-6ADDEDC97823}"/>
              </a:ext>
            </a:extLst>
          </p:cNvPr>
          <p:cNvSpPr>
            <a:spLocks noGrp="1"/>
          </p:cNvSpPr>
          <p:nvPr/>
        </p:nvSpPr>
        <p:spPr>
          <a:xfrm>
            <a:off x="781050" y="1466850"/>
            <a:ext cx="28765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14DA1"/>
                </a:solidFill>
                <a:latin typeface="黑体"/>
                <a:ea typeface="黑体"/>
                <a:cs typeface="黑体"/>
              </a:defRPr>
            </a:pPr>
            <a:r>
              <a:rPr>
                <a:latin typeface="黑体"/>
                <a:ea typeface="黑体"/>
                <a:cs typeface="黑体"/>
              </a:rPr>
              <a:t>资源访问向量</a:t>
            </a:r>
          </a:p>
        </p:txBody>
      </p:sp>
      <p:sp>
        <p:nvSpPr>
          <p:cNvPr id="9" name="矩形 8">
            <a:extLst>
              <a:ext uri="{FF2B5EF4-FFF2-40B4-BE49-F238E27FC236}">
                <a16:creationId xmlns:a16="http://schemas.microsoft.com/office/drawing/2014/main" id="{89066959-4ACC-4062-BA0F-1B424E57730B}"/>
              </a:ext>
            </a:extLst>
          </p:cNvPr>
          <p:cNvSpPr>
            <a:spLocks noGrp="1"/>
          </p:cNvSpPr>
          <p:nvPr/>
        </p:nvSpPr>
        <p:spPr>
          <a:xfrm>
            <a:off x="4057650" y="1257300"/>
            <a:ext cx="3829050" cy="4000500"/>
          </a:xfrm>
          <a:prstGeom prst="rect">
            <a:avLst/>
          </a:prstGeom>
          <a:solidFill>
            <a:srgbClr val="FFFFFF"/>
          </a:solidFill>
          <a:ln w="9525">
            <a:solidFill>
              <a:srgbClr val="B8C3D1"/>
            </a:solidFill>
            <a:prstDash val="solid"/>
          </a:ln>
        </p:spPr>
        <p:txBody>
          <a:bodyPr/>
          <a:lstStyle/>
          <a:p>
            <a:endParaRPr lang="zh-CN" altLang="en-US"/>
          </a:p>
        </p:txBody>
      </p:sp>
      <p:sp>
        <p:nvSpPr>
          <p:cNvPr id="10" name="矩形 9">
            <a:extLst>
              <a:ext uri="{FF2B5EF4-FFF2-40B4-BE49-F238E27FC236}">
                <a16:creationId xmlns:a16="http://schemas.microsoft.com/office/drawing/2014/main" id="{9F1CD6D1-CF71-4B69-98BF-FAEFB635092D}"/>
              </a:ext>
            </a:extLst>
          </p:cNvPr>
          <p:cNvSpPr>
            <a:spLocks noGrp="1"/>
          </p:cNvSpPr>
          <p:nvPr/>
        </p:nvSpPr>
        <p:spPr>
          <a:xfrm>
            <a:off x="4057650" y="1257300"/>
            <a:ext cx="3829050" cy="762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1" name="矩形 10">
            <a:extLst>
              <a:ext uri="{FF2B5EF4-FFF2-40B4-BE49-F238E27FC236}">
                <a16:creationId xmlns:a16="http://schemas.microsoft.com/office/drawing/2014/main" id="{8E9273B5-99D5-4FF8-8BC2-53C38B3FB672}"/>
              </a:ext>
            </a:extLst>
          </p:cNvPr>
          <p:cNvSpPr>
            <a:spLocks noGrp="1"/>
          </p:cNvSpPr>
          <p:nvPr/>
        </p:nvSpPr>
        <p:spPr>
          <a:xfrm>
            <a:off x="4229100" y="1466850"/>
            <a:ext cx="34861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B4964B"/>
                </a:solidFill>
                <a:latin typeface="黑体"/>
                <a:ea typeface="黑体"/>
                <a:cs typeface="黑体"/>
              </a:defRPr>
            </a:pPr>
            <a:r>
              <a:rPr>
                <a:latin typeface="黑体"/>
                <a:ea typeface="黑体"/>
                <a:cs typeface="黑体"/>
              </a:rPr>
              <a:t>方向图</a:t>
            </a:r>
          </a:p>
        </p:txBody>
      </p:sp>
      <p:sp>
        <p:nvSpPr>
          <p:cNvPr id="12" name="矩形 11">
            <a:extLst>
              <a:ext uri="{FF2B5EF4-FFF2-40B4-BE49-F238E27FC236}">
                <a16:creationId xmlns:a16="http://schemas.microsoft.com/office/drawing/2014/main" id="{5E6637FE-6047-4EE3-A6D1-59FCA93F87D0}"/>
              </a:ext>
            </a:extLst>
          </p:cNvPr>
          <p:cNvSpPr>
            <a:spLocks noGrp="1"/>
          </p:cNvSpPr>
          <p:nvPr/>
        </p:nvSpPr>
        <p:spPr>
          <a:xfrm>
            <a:off x="8115300" y="1257300"/>
            <a:ext cx="3467100" cy="4000500"/>
          </a:xfrm>
          <a:prstGeom prst="rect">
            <a:avLst/>
          </a:prstGeom>
          <a:solidFill>
            <a:srgbClr val="FFFFFF"/>
          </a:solidFill>
          <a:ln w="9525">
            <a:solidFill>
              <a:srgbClr val="B8C3D1"/>
            </a:solidFill>
            <a:prstDash val="solid"/>
          </a:ln>
        </p:spPr>
        <p:txBody>
          <a:bodyPr/>
          <a:lstStyle/>
          <a:p>
            <a:endParaRPr lang="zh-CN" altLang="en-US"/>
          </a:p>
        </p:txBody>
      </p:sp>
      <p:sp>
        <p:nvSpPr>
          <p:cNvPr id="13" name="矩形 12">
            <a:extLst>
              <a:ext uri="{FF2B5EF4-FFF2-40B4-BE49-F238E27FC236}">
                <a16:creationId xmlns:a16="http://schemas.microsoft.com/office/drawing/2014/main" id="{EF8D9423-84C3-4A37-9C37-63F803E3738F}"/>
              </a:ext>
            </a:extLst>
          </p:cNvPr>
          <p:cNvSpPr>
            <a:spLocks noGrp="1"/>
          </p:cNvSpPr>
          <p:nvPr/>
        </p:nvSpPr>
        <p:spPr>
          <a:xfrm>
            <a:off x="8115300" y="1257300"/>
            <a:ext cx="3467100" cy="7620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BABB1B25-718C-4815-9147-95645381064E}"/>
              </a:ext>
            </a:extLst>
          </p:cNvPr>
          <p:cNvSpPr>
            <a:spLocks noGrp="1"/>
          </p:cNvSpPr>
          <p:nvPr/>
        </p:nvSpPr>
        <p:spPr>
          <a:xfrm>
            <a:off x="8286750" y="1466850"/>
            <a:ext cx="3124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F7A5D"/>
                </a:solidFill>
                <a:latin typeface="黑体"/>
                <a:ea typeface="黑体"/>
                <a:cs typeface="黑体"/>
              </a:defRPr>
            </a:pPr>
            <a:r>
              <a:rPr>
                <a:latin typeface="黑体"/>
                <a:ea typeface="黑体"/>
                <a:cs typeface="黑体"/>
              </a:rPr>
              <a:t>逐步计算</a:t>
            </a:r>
          </a:p>
        </p:txBody>
      </p:sp>
      <p:sp>
        <p:nvSpPr>
          <p:cNvPr id="15" name="矩形 14">
            <a:extLst>
              <a:ext uri="{FF2B5EF4-FFF2-40B4-BE49-F238E27FC236}">
                <a16:creationId xmlns:a16="http://schemas.microsoft.com/office/drawing/2014/main" id="{3A655ED1-D77F-4061-8453-5F3831333D1C}"/>
              </a:ext>
            </a:extLst>
          </p:cNvPr>
          <p:cNvSpPr>
            <a:spLocks noGrp="1"/>
          </p:cNvSpPr>
          <p:nvPr/>
        </p:nvSpPr>
        <p:spPr>
          <a:xfrm>
            <a:off x="819150" y="1981200"/>
            <a:ext cx="5905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4B5563"/>
                </a:solidFill>
                <a:latin typeface="黑体"/>
                <a:ea typeface="黑体"/>
                <a:cs typeface="黑体"/>
              </a:defRPr>
            </a:pPr>
            <a:r>
              <a:rPr>
                <a:latin typeface="黑体"/>
                <a:ea typeface="黑体"/>
                <a:cs typeface="黑体"/>
              </a:rPr>
              <a:t>对象</a:t>
            </a:r>
          </a:p>
        </p:txBody>
      </p:sp>
      <p:sp>
        <p:nvSpPr>
          <p:cNvPr id="16" name="矩形 15">
            <a:extLst>
              <a:ext uri="{FF2B5EF4-FFF2-40B4-BE49-F238E27FC236}">
                <a16:creationId xmlns:a16="http://schemas.microsoft.com/office/drawing/2014/main" id="{B2481A68-2FBD-4A81-BC87-4EF9DBFBE286}"/>
              </a:ext>
            </a:extLst>
          </p:cNvPr>
          <p:cNvSpPr>
            <a:spLocks noGrp="1"/>
          </p:cNvSpPr>
          <p:nvPr/>
        </p:nvSpPr>
        <p:spPr>
          <a:xfrm>
            <a:off x="1428750" y="198120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4B5563"/>
                </a:solidFill>
                <a:latin typeface="黑体"/>
                <a:ea typeface="黑体"/>
                <a:cs typeface="黑体"/>
              </a:defRPr>
            </a:pPr>
            <a:r>
              <a:rPr>
                <a:latin typeface="黑体"/>
                <a:ea typeface="黑体"/>
                <a:cs typeface="黑体"/>
              </a:rPr>
              <a:t>资源 </a:t>
            </a:r>
            <a:r>
              <a:rPr>
                <a:latin typeface="Times New Roman"/>
                <a:ea typeface="Times New Roman"/>
                <a:cs typeface="Times New Roman"/>
              </a:rPr>
              <a:t>1</a:t>
            </a:r>
          </a:p>
        </p:txBody>
      </p:sp>
      <p:sp>
        <p:nvSpPr>
          <p:cNvPr id="17" name="矩形 16">
            <a:extLst>
              <a:ext uri="{FF2B5EF4-FFF2-40B4-BE49-F238E27FC236}">
                <a16:creationId xmlns:a16="http://schemas.microsoft.com/office/drawing/2014/main" id="{16A6AF35-2659-47DE-9342-9BD45A81C56D}"/>
              </a:ext>
            </a:extLst>
          </p:cNvPr>
          <p:cNvSpPr>
            <a:spLocks noGrp="1"/>
          </p:cNvSpPr>
          <p:nvPr/>
        </p:nvSpPr>
        <p:spPr>
          <a:xfrm>
            <a:off x="2114550" y="198120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4B5563"/>
                </a:solidFill>
                <a:latin typeface="黑体"/>
                <a:ea typeface="黑体"/>
                <a:cs typeface="黑体"/>
              </a:defRPr>
            </a:pPr>
            <a:r>
              <a:rPr>
                <a:latin typeface="黑体"/>
                <a:ea typeface="黑体"/>
                <a:cs typeface="黑体"/>
              </a:rPr>
              <a:t>资源 </a:t>
            </a:r>
            <a:r>
              <a:rPr>
                <a:latin typeface="Times New Roman"/>
                <a:ea typeface="Times New Roman"/>
                <a:cs typeface="Times New Roman"/>
              </a:rPr>
              <a:t>2</a:t>
            </a:r>
          </a:p>
        </p:txBody>
      </p:sp>
      <p:sp>
        <p:nvSpPr>
          <p:cNvPr id="18" name="矩形 17">
            <a:extLst>
              <a:ext uri="{FF2B5EF4-FFF2-40B4-BE49-F238E27FC236}">
                <a16:creationId xmlns:a16="http://schemas.microsoft.com/office/drawing/2014/main" id="{78FE95AD-63D0-4896-A693-165A64CE48C5}"/>
              </a:ext>
            </a:extLst>
          </p:cNvPr>
          <p:cNvSpPr>
            <a:spLocks noGrp="1"/>
          </p:cNvSpPr>
          <p:nvPr/>
        </p:nvSpPr>
        <p:spPr>
          <a:xfrm>
            <a:off x="2800350" y="198120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4B5563"/>
                </a:solidFill>
                <a:latin typeface="黑体"/>
                <a:ea typeface="黑体"/>
                <a:cs typeface="黑体"/>
              </a:defRPr>
            </a:pPr>
            <a:r>
              <a:rPr>
                <a:latin typeface="黑体"/>
                <a:ea typeface="黑体"/>
                <a:cs typeface="黑体"/>
              </a:rPr>
              <a:t>资源 </a:t>
            </a:r>
            <a:r>
              <a:rPr>
                <a:latin typeface="Times New Roman"/>
                <a:ea typeface="Times New Roman"/>
                <a:cs typeface="Times New Roman"/>
              </a:rPr>
              <a:t>3</a:t>
            </a:r>
          </a:p>
        </p:txBody>
      </p:sp>
      <p:sp>
        <p:nvSpPr>
          <p:cNvPr id="19" name="矩形 18">
            <a:extLst>
              <a:ext uri="{FF2B5EF4-FFF2-40B4-BE49-F238E27FC236}">
                <a16:creationId xmlns:a16="http://schemas.microsoft.com/office/drawing/2014/main" id="{49A9E0EB-22B5-46D2-85C5-EF7DE5C96BED}"/>
              </a:ext>
            </a:extLst>
          </p:cNvPr>
          <p:cNvSpPr>
            <a:spLocks noGrp="1"/>
          </p:cNvSpPr>
          <p:nvPr/>
        </p:nvSpPr>
        <p:spPr>
          <a:xfrm>
            <a:off x="819150" y="2286000"/>
            <a:ext cx="2667000" cy="495300"/>
          </a:xfrm>
          <a:prstGeom prst="rect">
            <a:avLst/>
          </a:prstGeom>
          <a:solidFill>
            <a:srgbClr val="EAF2FF"/>
          </a:solidFill>
          <a:ln w="9525">
            <a:solidFill>
              <a:srgbClr val="C3CDDA"/>
            </a:solidFill>
            <a:prstDash val="solid"/>
          </a:ln>
        </p:spPr>
        <p:txBody>
          <a:bodyPr/>
          <a:lstStyle/>
          <a:p>
            <a:endParaRPr lang="zh-CN" altLang="en-US"/>
          </a:p>
        </p:txBody>
      </p:sp>
      <p:sp>
        <p:nvSpPr>
          <p:cNvPr id="20" name="矩形 19">
            <a:extLst>
              <a:ext uri="{FF2B5EF4-FFF2-40B4-BE49-F238E27FC236}">
                <a16:creationId xmlns:a16="http://schemas.microsoft.com/office/drawing/2014/main" id="{5F9D02B2-E60D-4FCE-9128-2C2708D400B9}"/>
              </a:ext>
            </a:extLst>
          </p:cNvPr>
          <p:cNvSpPr>
            <a:spLocks noGrp="1"/>
          </p:cNvSpPr>
          <p:nvPr/>
        </p:nvSpPr>
        <p:spPr>
          <a:xfrm>
            <a:off x="895350" y="2419350"/>
            <a:ext cx="438150" cy="228600"/>
          </a:xfrm>
          <a:prstGeom prst="rect">
            <a:avLst/>
          </a:prstGeom>
          <a:solidFill>
            <a:srgbClr val="EAF2FF"/>
          </a:solidFill>
          <a:ln w="0">
            <a:solidFill>
              <a:srgbClr val="000000">
                <a:alpha val="0"/>
              </a:srgbClr>
            </a:solidFill>
            <a:prstDash val="solid"/>
          </a:ln>
        </p:spPr>
        <p:txBody>
          <a:bodyPr lIns="0" tIns="0" rIns="0" bIns="0" anchor="t"/>
          <a:lstStyle/>
          <a:p>
            <a:pPr algn="ctr">
              <a:defRPr sz="1350" b="1">
                <a:solidFill>
                  <a:srgbClr val="014DA1"/>
                </a:solidFill>
                <a:latin typeface="黑体"/>
                <a:ea typeface="黑体"/>
                <a:cs typeface="黑体"/>
              </a:defRPr>
            </a:pPr>
            <a:r>
              <a:rPr>
                <a:latin typeface="Times New Roman"/>
                <a:ea typeface="Times New Roman"/>
                <a:cs typeface="Times New Roman"/>
              </a:rPr>
              <a:t>A</a:t>
            </a:r>
          </a:p>
        </p:txBody>
      </p:sp>
      <p:sp>
        <p:nvSpPr>
          <p:cNvPr id="21" name="矩形 20">
            <a:extLst>
              <a:ext uri="{FF2B5EF4-FFF2-40B4-BE49-F238E27FC236}">
                <a16:creationId xmlns:a16="http://schemas.microsoft.com/office/drawing/2014/main" id="{4A13FCD6-A528-4FE5-B2F5-3298D6A90075}"/>
              </a:ext>
            </a:extLst>
          </p:cNvPr>
          <p:cNvSpPr>
            <a:spLocks noGrp="1"/>
          </p:cNvSpPr>
          <p:nvPr/>
        </p:nvSpPr>
        <p:spPr>
          <a:xfrm>
            <a:off x="1447800" y="2419350"/>
            <a:ext cx="609600" cy="228600"/>
          </a:xfrm>
          <a:prstGeom prst="rect">
            <a:avLst/>
          </a:prstGeom>
          <a:solidFill>
            <a:srgbClr val="EAF2FF"/>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3</a:t>
            </a:r>
          </a:p>
        </p:txBody>
      </p:sp>
      <p:sp>
        <p:nvSpPr>
          <p:cNvPr id="22" name="矩形 21">
            <a:extLst>
              <a:ext uri="{FF2B5EF4-FFF2-40B4-BE49-F238E27FC236}">
                <a16:creationId xmlns:a16="http://schemas.microsoft.com/office/drawing/2014/main" id="{BE0DACC9-8F68-437C-A301-FB8E31B726B3}"/>
              </a:ext>
            </a:extLst>
          </p:cNvPr>
          <p:cNvSpPr>
            <a:spLocks noGrp="1"/>
          </p:cNvSpPr>
          <p:nvPr/>
        </p:nvSpPr>
        <p:spPr>
          <a:xfrm>
            <a:off x="2133600" y="2419350"/>
            <a:ext cx="609600" cy="228600"/>
          </a:xfrm>
          <a:prstGeom prst="rect">
            <a:avLst/>
          </a:prstGeom>
          <a:solidFill>
            <a:srgbClr val="EAF2FF"/>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0</a:t>
            </a:r>
          </a:p>
        </p:txBody>
      </p:sp>
      <p:sp>
        <p:nvSpPr>
          <p:cNvPr id="23" name="矩形 22">
            <a:extLst>
              <a:ext uri="{FF2B5EF4-FFF2-40B4-BE49-F238E27FC236}">
                <a16:creationId xmlns:a16="http://schemas.microsoft.com/office/drawing/2014/main" id="{0BDF4B28-3FD8-4204-A598-0D6E32A88D5B}"/>
              </a:ext>
            </a:extLst>
          </p:cNvPr>
          <p:cNvSpPr>
            <a:spLocks noGrp="1"/>
          </p:cNvSpPr>
          <p:nvPr/>
        </p:nvSpPr>
        <p:spPr>
          <a:xfrm>
            <a:off x="2819400" y="2419350"/>
            <a:ext cx="609600" cy="228600"/>
          </a:xfrm>
          <a:prstGeom prst="rect">
            <a:avLst/>
          </a:prstGeom>
          <a:solidFill>
            <a:srgbClr val="EAF2FF"/>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4</a:t>
            </a:r>
          </a:p>
        </p:txBody>
      </p:sp>
      <p:sp>
        <p:nvSpPr>
          <p:cNvPr id="24" name="矩形 23">
            <a:extLst>
              <a:ext uri="{FF2B5EF4-FFF2-40B4-BE49-F238E27FC236}">
                <a16:creationId xmlns:a16="http://schemas.microsoft.com/office/drawing/2014/main" id="{53AC74FE-78DF-485D-A8AC-8D70A52F6F51}"/>
              </a:ext>
            </a:extLst>
          </p:cNvPr>
          <p:cNvSpPr>
            <a:spLocks noGrp="1"/>
          </p:cNvSpPr>
          <p:nvPr/>
        </p:nvSpPr>
        <p:spPr>
          <a:xfrm>
            <a:off x="819150" y="2914650"/>
            <a:ext cx="2667000" cy="495300"/>
          </a:xfrm>
          <a:prstGeom prst="rect">
            <a:avLst/>
          </a:prstGeom>
          <a:solidFill>
            <a:srgbClr val="FFF6DE"/>
          </a:solidFill>
          <a:ln w="9525">
            <a:solidFill>
              <a:srgbClr val="C3CDDA"/>
            </a:solidFill>
            <a:prstDash val="solid"/>
          </a:ln>
        </p:spPr>
        <p:txBody>
          <a:bodyPr/>
          <a:lstStyle/>
          <a:p>
            <a:endParaRPr lang="zh-CN" altLang="en-US"/>
          </a:p>
        </p:txBody>
      </p:sp>
      <p:sp>
        <p:nvSpPr>
          <p:cNvPr id="25" name="矩形 24">
            <a:extLst>
              <a:ext uri="{FF2B5EF4-FFF2-40B4-BE49-F238E27FC236}">
                <a16:creationId xmlns:a16="http://schemas.microsoft.com/office/drawing/2014/main" id="{4BCFBF69-950A-4A4A-8819-45E6E51ABAA2}"/>
              </a:ext>
            </a:extLst>
          </p:cNvPr>
          <p:cNvSpPr>
            <a:spLocks noGrp="1"/>
          </p:cNvSpPr>
          <p:nvPr/>
        </p:nvSpPr>
        <p:spPr>
          <a:xfrm>
            <a:off x="895350" y="3048000"/>
            <a:ext cx="438150" cy="228600"/>
          </a:xfrm>
          <a:prstGeom prst="rect">
            <a:avLst/>
          </a:prstGeom>
          <a:solidFill>
            <a:srgbClr val="FFF6DE"/>
          </a:solidFill>
          <a:ln w="0">
            <a:solidFill>
              <a:srgbClr val="000000">
                <a:alpha val="0"/>
              </a:srgbClr>
            </a:solidFill>
            <a:prstDash val="solid"/>
          </a:ln>
        </p:spPr>
        <p:txBody>
          <a:bodyPr lIns="0" tIns="0" rIns="0" bIns="0" anchor="t"/>
          <a:lstStyle/>
          <a:p>
            <a:pPr algn="ctr">
              <a:defRPr sz="1350" b="1">
                <a:solidFill>
                  <a:srgbClr val="8A6D1D"/>
                </a:solidFill>
                <a:latin typeface="黑体"/>
                <a:ea typeface="黑体"/>
                <a:cs typeface="黑体"/>
              </a:defRPr>
            </a:pPr>
            <a:r>
              <a:rPr>
                <a:latin typeface="Times New Roman"/>
                <a:ea typeface="Times New Roman"/>
                <a:cs typeface="Times New Roman"/>
              </a:rPr>
              <a:t>B</a:t>
            </a:r>
          </a:p>
        </p:txBody>
      </p:sp>
      <p:sp>
        <p:nvSpPr>
          <p:cNvPr id="26" name="矩形 25">
            <a:extLst>
              <a:ext uri="{FF2B5EF4-FFF2-40B4-BE49-F238E27FC236}">
                <a16:creationId xmlns:a16="http://schemas.microsoft.com/office/drawing/2014/main" id="{81E0B48A-C0A0-4478-A91B-3C196FAED50F}"/>
              </a:ext>
            </a:extLst>
          </p:cNvPr>
          <p:cNvSpPr>
            <a:spLocks noGrp="1"/>
          </p:cNvSpPr>
          <p:nvPr/>
        </p:nvSpPr>
        <p:spPr>
          <a:xfrm>
            <a:off x="1447800" y="3048000"/>
            <a:ext cx="609600" cy="228600"/>
          </a:xfrm>
          <a:prstGeom prst="rect">
            <a:avLst/>
          </a:prstGeom>
          <a:solidFill>
            <a:srgbClr val="FFF6DE"/>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6</a:t>
            </a:r>
          </a:p>
        </p:txBody>
      </p:sp>
      <p:sp>
        <p:nvSpPr>
          <p:cNvPr id="27" name="矩形 26">
            <a:extLst>
              <a:ext uri="{FF2B5EF4-FFF2-40B4-BE49-F238E27FC236}">
                <a16:creationId xmlns:a16="http://schemas.microsoft.com/office/drawing/2014/main" id="{32A3A0C6-0AB5-45F9-98D1-BB07BC8E984B}"/>
              </a:ext>
            </a:extLst>
          </p:cNvPr>
          <p:cNvSpPr>
            <a:spLocks noGrp="1"/>
          </p:cNvSpPr>
          <p:nvPr/>
        </p:nvSpPr>
        <p:spPr>
          <a:xfrm>
            <a:off x="2133600" y="3048000"/>
            <a:ext cx="609600" cy="228600"/>
          </a:xfrm>
          <a:prstGeom prst="rect">
            <a:avLst/>
          </a:prstGeom>
          <a:solidFill>
            <a:srgbClr val="FFF6DE"/>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0</a:t>
            </a:r>
          </a:p>
        </p:txBody>
      </p:sp>
      <p:sp>
        <p:nvSpPr>
          <p:cNvPr id="28" name="矩形 27">
            <a:extLst>
              <a:ext uri="{FF2B5EF4-FFF2-40B4-BE49-F238E27FC236}">
                <a16:creationId xmlns:a16="http://schemas.microsoft.com/office/drawing/2014/main" id="{5916BDE3-5BAA-4787-B67C-56C80E64EFF2}"/>
              </a:ext>
            </a:extLst>
          </p:cNvPr>
          <p:cNvSpPr>
            <a:spLocks noGrp="1"/>
          </p:cNvSpPr>
          <p:nvPr/>
        </p:nvSpPr>
        <p:spPr>
          <a:xfrm>
            <a:off x="2819400" y="3048000"/>
            <a:ext cx="609600" cy="228600"/>
          </a:xfrm>
          <a:prstGeom prst="rect">
            <a:avLst/>
          </a:prstGeom>
          <a:solidFill>
            <a:srgbClr val="FFF6DE"/>
          </a:solidFill>
          <a:ln w="0">
            <a:solidFill>
              <a:srgbClr val="000000">
                <a:alpha val="0"/>
              </a:srgbClr>
            </a:solidFill>
            <a:prstDash val="solid"/>
          </a:ln>
        </p:spPr>
        <p:txBody>
          <a:bodyPr lIns="0" tIns="0" rIns="0" bIns="0" anchor="t"/>
          <a:lstStyle/>
          <a:p>
            <a:pPr algn="ctr">
              <a:defRPr sz="1350" b="1">
                <a:solidFill>
                  <a:srgbClr val="00204A"/>
                </a:solidFill>
                <a:latin typeface="黑体"/>
                <a:ea typeface="黑体"/>
                <a:cs typeface="黑体"/>
              </a:defRPr>
            </a:pPr>
            <a:r>
              <a:rPr>
                <a:latin typeface="Times New Roman"/>
                <a:ea typeface="Times New Roman"/>
                <a:cs typeface="Times New Roman"/>
              </a:rPr>
              <a:t>8</a:t>
            </a:r>
          </a:p>
        </p:txBody>
      </p:sp>
      <p:sp>
        <p:nvSpPr>
          <p:cNvPr id="29" name="矩形 28">
            <a:extLst>
              <a:ext uri="{FF2B5EF4-FFF2-40B4-BE49-F238E27FC236}">
                <a16:creationId xmlns:a16="http://schemas.microsoft.com/office/drawing/2014/main" id="{DA6A912D-9479-4CA5-A829-98E18E73B70C}"/>
              </a:ext>
            </a:extLst>
          </p:cNvPr>
          <p:cNvSpPr>
            <a:spLocks noGrp="1"/>
          </p:cNvSpPr>
          <p:nvPr/>
        </p:nvSpPr>
        <p:spPr>
          <a:xfrm>
            <a:off x="838200" y="3638550"/>
            <a:ext cx="2609850" cy="495300"/>
          </a:xfrm>
          <a:prstGeom prst="rect">
            <a:avLst/>
          </a:prstGeom>
          <a:solidFill>
            <a:srgbClr val="F4F8FC"/>
          </a:solidFill>
          <a:ln w="9525">
            <a:solidFill>
              <a:srgbClr val="C7D2DF"/>
            </a:solidFill>
            <a:prstDash val="solid"/>
          </a:ln>
        </p:spPr>
        <p:txBody>
          <a:bodyPr/>
          <a:lstStyle/>
          <a:p>
            <a:endParaRPr lang="zh-CN" altLang="en-US"/>
          </a:p>
        </p:txBody>
      </p:sp>
      <p:sp>
        <p:nvSpPr>
          <p:cNvPr id="30" name="矩形 29">
            <a:extLst>
              <a:ext uri="{FF2B5EF4-FFF2-40B4-BE49-F238E27FC236}">
                <a16:creationId xmlns:a16="http://schemas.microsoft.com/office/drawing/2014/main" id="{3560FCA7-2C30-4612-9338-06DD119AF516}"/>
              </a:ext>
            </a:extLst>
          </p:cNvPr>
          <p:cNvSpPr>
            <a:spLocks noGrp="1"/>
          </p:cNvSpPr>
          <p:nvPr/>
        </p:nvSpPr>
        <p:spPr>
          <a:xfrm>
            <a:off x="990600" y="3752850"/>
            <a:ext cx="2305050" cy="266700"/>
          </a:xfrm>
          <a:prstGeom prst="rect">
            <a:avLst/>
          </a:prstGeom>
          <a:solidFill>
            <a:srgbClr val="F4F8FC"/>
          </a:solidFill>
          <a:ln w="0">
            <a:solidFill>
              <a:srgbClr val="000000">
                <a:alpha val="0"/>
              </a:srgbClr>
            </a:solidFill>
            <a:prstDash val="solid"/>
          </a:ln>
        </p:spPr>
        <p:txBody>
          <a:bodyPr lIns="0" tIns="0" rIns="0" bIns="0" anchor="t"/>
          <a:lstStyle/>
          <a:p>
            <a:pPr algn="ctr">
              <a:defRPr sz="1800" b="1">
                <a:solidFill>
                  <a:srgbClr val="014DA1"/>
                </a:solidFill>
                <a:latin typeface="黑体"/>
                <a:ea typeface="黑体"/>
                <a:cs typeface="黑体"/>
              </a:defRPr>
            </a:pPr>
            <a:r>
              <a:rPr>
                <a:latin typeface="Times New Roman"/>
                <a:ea typeface="Times New Roman"/>
                <a:cs typeface="Times New Roman"/>
              </a:rPr>
              <a:t>B = 2A</a:t>
            </a:r>
          </a:p>
        </p:txBody>
      </p:sp>
      <p:sp>
        <p:nvSpPr>
          <p:cNvPr id="31" name="矩形 30">
            <a:extLst>
              <a:ext uri="{FF2B5EF4-FFF2-40B4-BE49-F238E27FC236}">
                <a16:creationId xmlns:a16="http://schemas.microsoft.com/office/drawing/2014/main" id="{41E57414-23EB-4343-8954-DB491C82D1FC}"/>
              </a:ext>
            </a:extLst>
          </p:cNvPr>
          <p:cNvSpPr>
            <a:spLocks noGrp="1"/>
          </p:cNvSpPr>
          <p:nvPr/>
        </p:nvSpPr>
        <p:spPr>
          <a:xfrm>
            <a:off x="876300" y="4286250"/>
            <a:ext cx="2533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黑体"/>
                <a:ea typeface="黑体"/>
                <a:cs typeface="黑体"/>
              </a:rPr>
              <a:t>总访问量：</a:t>
            </a:r>
            <a:r>
              <a:rPr>
                <a:latin typeface="Times New Roman"/>
                <a:ea typeface="Times New Roman"/>
                <a:cs typeface="Times New Roman"/>
              </a:rPr>
              <a:t>7  vs  14</a:t>
            </a:r>
          </a:p>
        </p:txBody>
      </p:sp>
      <p:sp>
        <p:nvSpPr>
          <p:cNvPr id="32" name="矩形 31">
            <a:extLst>
              <a:ext uri="{FF2B5EF4-FFF2-40B4-BE49-F238E27FC236}">
                <a16:creationId xmlns:a16="http://schemas.microsoft.com/office/drawing/2014/main" id="{0DEF60AC-1BD9-439F-9C60-58785FC63EA8}"/>
              </a:ext>
            </a:extLst>
          </p:cNvPr>
          <p:cNvSpPr>
            <a:spLocks noGrp="1"/>
          </p:cNvSpPr>
          <p:nvPr/>
        </p:nvSpPr>
        <p:spPr>
          <a:xfrm>
            <a:off x="876300" y="4629150"/>
            <a:ext cx="2533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B4964B"/>
                </a:solidFill>
                <a:latin typeface="黑体"/>
                <a:ea typeface="黑体"/>
                <a:cs typeface="黑体"/>
              </a:defRPr>
            </a:pPr>
            <a:r>
              <a:rPr>
                <a:latin typeface="黑体"/>
                <a:ea typeface="黑体"/>
                <a:cs typeface="黑体"/>
              </a:rPr>
              <a:t>资源 </a:t>
            </a:r>
            <a:r>
              <a:rPr>
                <a:latin typeface="Times New Roman"/>
                <a:ea typeface="Times New Roman"/>
                <a:cs typeface="Times New Roman"/>
              </a:rPr>
              <a:t>1 : </a:t>
            </a:r>
            <a:r>
              <a:rPr>
                <a:latin typeface="黑体"/>
                <a:ea typeface="黑体"/>
                <a:cs typeface="黑体"/>
              </a:rPr>
              <a:t>资源 </a:t>
            </a:r>
            <a:r>
              <a:rPr>
                <a:latin typeface="Times New Roman"/>
                <a:ea typeface="Times New Roman"/>
                <a:cs typeface="Times New Roman"/>
              </a:rPr>
              <a:t>3 = 3 : 4</a:t>
            </a:r>
          </a:p>
        </p:txBody>
      </p:sp>
      <p:sp>
        <p:nvSpPr>
          <p:cNvPr id="33" name="矩形 32">
            <a:extLst>
              <a:ext uri="{FF2B5EF4-FFF2-40B4-BE49-F238E27FC236}">
                <a16:creationId xmlns:a16="http://schemas.microsoft.com/office/drawing/2014/main" id="{EAF82539-0ACD-4876-9C3E-E3AA32C0DAE3}"/>
              </a:ext>
            </a:extLst>
          </p:cNvPr>
          <p:cNvSpPr>
            <a:spLocks noGrp="1"/>
          </p:cNvSpPr>
          <p:nvPr/>
        </p:nvSpPr>
        <p:spPr>
          <a:xfrm>
            <a:off x="876300" y="4914900"/>
            <a:ext cx="2533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2F7A5D"/>
                </a:solidFill>
                <a:latin typeface="黑体"/>
                <a:ea typeface="黑体"/>
                <a:cs typeface="黑体"/>
              </a:defRPr>
            </a:pPr>
            <a:r>
              <a:rPr>
                <a:latin typeface="黑体"/>
                <a:ea typeface="黑体"/>
                <a:cs typeface="黑体"/>
              </a:rPr>
              <a:t>总量翻倍，组成比例不变</a:t>
            </a:r>
          </a:p>
        </p:txBody>
      </p:sp>
      <p:sp>
        <p:nvSpPr>
          <p:cNvPr id="34" name="矩形 33">
            <a:extLst>
              <a:ext uri="{FF2B5EF4-FFF2-40B4-BE49-F238E27FC236}">
                <a16:creationId xmlns:a16="http://schemas.microsoft.com/office/drawing/2014/main" id="{34EA652B-F3B7-4AD7-9CF7-DA94F5B916CB}"/>
              </a:ext>
            </a:extLst>
          </p:cNvPr>
          <p:cNvSpPr>
            <a:spLocks noGrp="1"/>
          </p:cNvSpPr>
          <p:nvPr/>
        </p:nvSpPr>
        <p:spPr>
          <a:xfrm>
            <a:off x="4400550" y="4762500"/>
            <a:ext cx="2895600" cy="1905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5" name="矩形 34">
            <a:extLst>
              <a:ext uri="{FF2B5EF4-FFF2-40B4-BE49-F238E27FC236}">
                <a16:creationId xmlns:a16="http://schemas.microsoft.com/office/drawing/2014/main" id="{F57B9753-C9CB-46B8-AB6F-291E156628D7}"/>
              </a:ext>
            </a:extLst>
          </p:cNvPr>
          <p:cNvSpPr>
            <a:spLocks noGrp="1"/>
          </p:cNvSpPr>
          <p:nvPr/>
        </p:nvSpPr>
        <p:spPr>
          <a:xfrm>
            <a:off x="4686300" y="1752600"/>
            <a:ext cx="19050" cy="302895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5E9FDFD1-4E58-4C7D-8713-9C96B98A3413}"/>
              </a:ext>
            </a:extLst>
          </p:cNvPr>
          <p:cNvSpPr>
            <a:spLocks noGrp="1"/>
          </p:cNvSpPr>
          <p:nvPr/>
        </p:nvSpPr>
        <p:spPr>
          <a:xfrm>
            <a:off x="6896100" y="4876800"/>
            <a:ext cx="685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4B5563"/>
                </a:solidFill>
                <a:latin typeface="黑体"/>
                <a:ea typeface="黑体"/>
                <a:cs typeface="黑体"/>
              </a:defRPr>
            </a:pPr>
            <a:r>
              <a:rPr>
                <a:latin typeface="黑体"/>
                <a:ea typeface="黑体"/>
                <a:cs typeface="黑体"/>
              </a:rPr>
              <a:t>资源 </a:t>
            </a:r>
            <a:r>
              <a:rPr>
                <a:latin typeface="Times New Roman"/>
                <a:ea typeface="Times New Roman"/>
                <a:cs typeface="Times New Roman"/>
              </a:rPr>
              <a:t>1</a:t>
            </a:r>
          </a:p>
        </p:txBody>
      </p:sp>
      <p:sp>
        <p:nvSpPr>
          <p:cNvPr id="37" name="矩形 36">
            <a:extLst>
              <a:ext uri="{FF2B5EF4-FFF2-40B4-BE49-F238E27FC236}">
                <a16:creationId xmlns:a16="http://schemas.microsoft.com/office/drawing/2014/main" id="{9F8462E3-7523-490E-9B5C-DAAA69F76E78}"/>
              </a:ext>
            </a:extLst>
          </p:cNvPr>
          <p:cNvSpPr>
            <a:spLocks noGrp="1"/>
          </p:cNvSpPr>
          <p:nvPr/>
        </p:nvSpPr>
        <p:spPr>
          <a:xfrm>
            <a:off x="4229100" y="175260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4B5563"/>
                </a:solidFill>
                <a:latin typeface="黑体"/>
                <a:ea typeface="黑体"/>
                <a:cs typeface="黑体"/>
              </a:defRPr>
            </a:pPr>
            <a:r>
              <a:rPr>
                <a:latin typeface="黑体"/>
                <a:ea typeface="黑体"/>
                <a:cs typeface="黑体"/>
              </a:rPr>
              <a:t>资源 </a:t>
            </a:r>
            <a:r>
              <a:rPr>
                <a:latin typeface="Times New Roman"/>
                <a:ea typeface="Times New Roman"/>
                <a:cs typeface="Times New Roman"/>
              </a:rPr>
              <a:t>3</a:t>
            </a:r>
          </a:p>
        </p:txBody>
      </p:sp>
      <p:sp>
        <p:nvSpPr>
          <p:cNvPr id="38" name="椭圆 37">
            <a:extLst>
              <a:ext uri="{FF2B5EF4-FFF2-40B4-BE49-F238E27FC236}">
                <a16:creationId xmlns:a16="http://schemas.microsoft.com/office/drawing/2014/main" id="{87B8101E-3276-4922-8698-07EB47161ADB}"/>
              </a:ext>
            </a:extLst>
          </p:cNvPr>
          <p:cNvSpPr>
            <a:spLocks noGrp="1"/>
          </p:cNvSpPr>
          <p:nvPr/>
        </p:nvSpPr>
        <p:spPr>
          <a:xfrm>
            <a:off x="4652963" y="472916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39" name="椭圆 38">
            <a:extLst>
              <a:ext uri="{FF2B5EF4-FFF2-40B4-BE49-F238E27FC236}">
                <a16:creationId xmlns:a16="http://schemas.microsoft.com/office/drawing/2014/main" id="{14BC6FF3-E642-4909-A57F-197057C96C18}"/>
              </a:ext>
            </a:extLst>
          </p:cNvPr>
          <p:cNvSpPr>
            <a:spLocks noGrp="1"/>
          </p:cNvSpPr>
          <p:nvPr/>
        </p:nvSpPr>
        <p:spPr>
          <a:xfrm>
            <a:off x="4691677" y="4683688"/>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0" name="椭圆 39">
            <a:extLst>
              <a:ext uri="{FF2B5EF4-FFF2-40B4-BE49-F238E27FC236}">
                <a16:creationId xmlns:a16="http://schemas.microsoft.com/office/drawing/2014/main" id="{62CA6D44-F048-474C-B8B4-72E6768DA069}"/>
              </a:ext>
            </a:extLst>
          </p:cNvPr>
          <p:cNvSpPr>
            <a:spLocks noGrp="1"/>
          </p:cNvSpPr>
          <p:nvPr/>
        </p:nvSpPr>
        <p:spPr>
          <a:xfrm>
            <a:off x="4730392" y="4638214"/>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1" name="椭圆 40">
            <a:extLst>
              <a:ext uri="{FF2B5EF4-FFF2-40B4-BE49-F238E27FC236}">
                <a16:creationId xmlns:a16="http://schemas.microsoft.com/office/drawing/2014/main" id="{AE7A07BB-69FB-44B0-88F7-B25E708C1B28}"/>
              </a:ext>
            </a:extLst>
          </p:cNvPr>
          <p:cNvSpPr>
            <a:spLocks noGrp="1"/>
          </p:cNvSpPr>
          <p:nvPr/>
        </p:nvSpPr>
        <p:spPr>
          <a:xfrm>
            <a:off x="4769106" y="4592740"/>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012FA67C-7CEE-4BBF-8407-BABE5B006140}"/>
              </a:ext>
            </a:extLst>
          </p:cNvPr>
          <p:cNvSpPr>
            <a:spLocks noGrp="1"/>
          </p:cNvSpPr>
          <p:nvPr/>
        </p:nvSpPr>
        <p:spPr>
          <a:xfrm>
            <a:off x="4807821" y="4547266"/>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6C9D26E7-E9CB-4269-88A6-22F7323F5132}"/>
              </a:ext>
            </a:extLst>
          </p:cNvPr>
          <p:cNvSpPr>
            <a:spLocks noGrp="1"/>
          </p:cNvSpPr>
          <p:nvPr/>
        </p:nvSpPr>
        <p:spPr>
          <a:xfrm>
            <a:off x="4846535" y="4501792"/>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D2881C3F-3F20-4BA0-A34D-AD8F542E0502}"/>
              </a:ext>
            </a:extLst>
          </p:cNvPr>
          <p:cNvSpPr>
            <a:spLocks noGrp="1"/>
          </p:cNvSpPr>
          <p:nvPr/>
        </p:nvSpPr>
        <p:spPr>
          <a:xfrm>
            <a:off x="4885250" y="4456317"/>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4CC4DAE9-3268-4D74-9C4C-ED98E10BD7C5}"/>
              </a:ext>
            </a:extLst>
          </p:cNvPr>
          <p:cNvSpPr>
            <a:spLocks noGrp="1"/>
          </p:cNvSpPr>
          <p:nvPr/>
        </p:nvSpPr>
        <p:spPr>
          <a:xfrm>
            <a:off x="4923964" y="441084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4CE3E025-D6CA-43F3-8E1B-ACDE95DDB49C}"/>
              </a:ext>
            </a:extLst>
          </p:cNvPr>
          <p:cNvSpPr>
            <a:spLocks noGrp="1"/>
          </p:cNvSpPr>
          <p:nvPr/>
        </p:nvSpPr>
        <p:spPr>
          <a:xfrm>
            <a:off x="4962679" y="4365369"/>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508E0876-97D2-43BC-8169-06F585BBF09F}"/>
              </a:ext>
            </a:extLst>
          </p:cNvPr>
          <p:cNvSpPr>
            <a:spLocks noGrp="1"/>
          </p:cNvSpPr>
          <p:nvPr/>
        </p:nvSpPr>
        <p:spPr>
          <a:xfrm>
            <a:off x="5001393" y="4319895"/>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5B9BD884-FCED-4216-B333-A56A36190693}"/>
              </a:ext>
            </a:extLst>
          </p:cNvPr>
          <p:cNvSpPr>
            <a:spLocks noGrp="1"/>
          </p:cNvSpPr>
          <p:nvPr/>
        </p:nvSpPr>
        <p:spPr>
          <a:xfrm>
            <a:off x="5040108" y="4274421"/>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097C0144-A37E-4C88-8D45-4CF8EE394FF9}"/>
              </a:ext>
            </a:extLst>
          </p:cNvPr>
          <p:cNvSpPr>
            <a:spLocks noGrp="1"/>
          </p:cNvSpPr>
          <p:nvPr/>
        </p:nvSpPr>
        <p:spPr>
          <a:xfrm>
            <a:off x="5078822" y="4228946"/>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22F26CE3-827D-42FC-87A4-E54A9D2F064C}"/>
              </a:ext>
            </a:extLst>
          </p:cNvPr>
          <p:cNvSpPr>
            <a:spLocks noGrp="1"/>
          </p:cNvSpPr>
          <p:nvPr/>
        </p:nvSpPr>
        <p:spPr>
          <a:xfrm>
            <a:off x="5117537" y="4183472"/>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02448F33-81E4-4706-9B9A-9DDEA10F703A}"/>
              </a:ext>
            </a:extLst>
          </p:cNvPr>
          <p:cNvSpPr>
            <a:spLocks noGrp="1"/>
          </p:cNvSpPr>
          <p:nvPr/>
        </p:nvSpPr>
        <p:spPr>
          <a:xfrm>
            <a:off x="5156251" y="4137998"/>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0D4D09D5-D3FF-4824-9AAA-043538C431FC}"/>
              </a:ext>
            </a:extLst>
          </p:cNvPr>
          <p:cNvSpPr>
            <a:spLocks noGrp="1"/>
          </p:cNvSpPr>
          <p:nvPr/>
        </p:nvSpPr>
        <p:spPr>
          <a:xfrm>
            <a:off x="5194966" y="4092524"/>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C3C47766-F0AF-4308-8B18-D66175BA35E5}"/>
              </a:ext>
            </a:extLst>
          </p:cNvPr>
          <p:cNvSpPr>
            <a:spLocks noGrp="1"/>
          </p:cNvSpPr>
          <p:nvPr/>
        </p:nvSpPr>
        <p:spPr>
          <a:xfrm>
            <a:off x="5233680" y="4047050"/>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1A69884D-3679-4075-87AE-DC3E22315522}"/>
              </a:ext>
            </a:extLst>
          </p:cNvPr>
          <p:cNvSpPr>
            <a:spLocks noGrp="1"/>
          </p:cNvSpPr>
          <p:nvPr/>
        </p:nvSpPr>
        <p:spPr>
          <a:xfrm>
            <a:off x="5272395" y="4001575"/>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3B75C234-6DB8-49CA-B934-084D5A0D5E5D}"/>
              </a:ext>
            </a:extLst>
          </p:cNvPr>
          <p:cNvSpPr>
            <a:spLocks noGrp="1"/>
          </p:cNvSpPr>
          <p:nvPr/>
        </p:nvSpPr>
        <p:spPr>
          <a:xfrm>
            <a:off x="5311109" y="3956101"/>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7EFF5EF8-8EC8-4367-8A22-FCF6AD1A39F8}"/>
              </a:ext>
            </a:extLst>
          </p:cNvPr>
          <p:cNvSpPr>
            <a:spLocks noGrp="1"/>
          </p:cNvSpPr>
          <p:nvPr/>
        </p:nvSpPr>
        <p:spPr>
          <a:xfrm>
            <a:off x="5349824" y="3910627"/>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B96D95A1-31FA-421E-86D8-E18B0111898D}"/>
              </a:ext>
            </a:extLst>
          </p:cNvPr>
          <p:cNvSpPr>
            <a:spLocks noGrp="1"/>
          </p:cNvSpPr>
          <p:nvPr/>
        </p:nvSpPr>
        <p:spPr>
          <a:xfrm>
            <a:off x="5388538" y="386515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F01C2247-D78B-45CE-98FE-23F8FC90EB3F}"/>
              </a:ext>
            </a:extLst>
          </p:cNvPr>
          <p:cNvSpPr>
            <a:spLocks noGrp="1"/>
          </p:cNvSpPr>
          <p:nvPr/>
        </p:nvSpPr>
        <p:spPr>
          <a:xfrm>
            <a:off x="5427253" y="3819679"/>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654B4345-70F7-458F-A4E4-F6E7E38F0056}"/>
              </a:ext>
            </a:extLst>
          </p:cNvPr>
          <p:cNvSpPr>
            <a:spLocks noGrp="1"/>
          </p:cNvSpPr>
          <p:nvPr/>
        </p:nvSpPr>
        <p:spPr>
          <a:xfrm>
            <a:off x="5465967" y="3774204"/>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C8CCC689-7B54-445C-8FCE-783EA2DEFC30}"/>
              </a:ext>
            </a:extLst>
          </p:cNvPr>
          <p:cNvSpPr>
            <a:spLocks noGrp="1"/>
          </p:cNvSpPr>
          <p:nvPr/>
        </p:nvSpPr>
        <p:spPr>
          <a:xfrm>
            <a:off x="5504682" y="3728730"/>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AE1276DE-E4B4-424E-AF87-DA40093F0A12}"/>
              </a:ext>
            </a:extLst>
          </p:cNvPr>
          <p:cNvSpPr>
            <a:spLocks noGrp="1"/>
          </p:cNvSpPr>
          <p:nvPr/>
        </p:nvSpPr>
        <p:spPr>
          <a:xfrm>
            <a:off x="5543396" y="3683256"/>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F959E956-C049-419F-A9D9-947CC2C7B3E0}"/>
              </a:ext>
            </a:extLst>
          </p:cNvPr>
          <p:cNvSpPr>
            <a:spLocks noGrp="1"/>
          </p:cNvSpPr>
          <p:nvPr/>
        </p:nvSpPr>
        <p:spPr>
          <a:xfrm>
            <a:off x="5582111" y="3637782"/>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CF210C55-5127-4806-9EE5-97A70AA647C3}"/>
              </a:ext>
            </a:extLst>
          </p:cNvPr>
          <p:cNvSpPr>
            <a:spLocks noGrp="1"/>
          </p:cNvSpPr>
          <p:nvPr/>
        </p:nvSpPr>
        <p:spPr>
          <a:xfrm>
            <a:off x="5620825" y="3592308"/>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E4E76CA2-33AC-4283-9196-4AD7E9859D28}"/>
              </a:ext>
            </a:extLst>
          </p:cNvPr>
          <p:cNvSpPr>
            <a:spLocks noGrp="1"/>
          </p:cNvSpPr>
          <p:nvPr/>
        </p:nvSpPr>
        <p:spPr>
          <a:xfrm>
            <a:off x="5659540" y="354683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A6DAB18B-0E20-4FA8-ABCD-1D157D94090B}"/>
              </a:ext>
            </a:extLst>
          </p:cNvPr>
          <p:cNvSpPr>
            <a:spLocks noGrp="1"/>
          </p:cNvSpPr>
          <p:nvPr/>
        </p:nvSpPr>
        <p:spPr>
          <a:xfrm>
            <a:off x="5698254" y="3501359"/>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8EB77EE3-6549-41E1-A695-965C422AA8A9}"/>
              </a:ext>
            </a:extLst>
          </p:cNvPr>
          <p:cNvSpPr>
            <a:spLocks noGrp="1"/>
          </p:cNvSpPr>
          <p:nvPr/>
        </p:nvSpPr>
        <p:spPr>
          <a:xfrm>
            <a:off x="5736969" y="3455885"/>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889F24C6-50D3-42F9-BC53-82C6E22F62B2}"/>
              </a:ext>
            </a:extLst>
          </p:cNvPr>
          <p:cNvSpPr>
            <a:spLocks noGrp="1"/>
          </p:cNvSpPr>
          <p:nvPr/>
        </p:nvSpPr>
        <p:spPr>
          <a:xfrm>
            <a:off x="5775683" y="3410411"/>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ABA2DE69-3752-4E9C-A4D5-7DE2DA670F17}"/>
              </a:ext>
            </a:extLst>
          </p:cNvPr>
          <p:cNvSpPr>
            <a:spLocks noGrp="1"/>
          </p:cNvSpPr>
          <p:nvPr/>
        </p:nvSpPr>
        <p:spPr>
          <a:xfrm>
            <a:off x="5814398" y="3364937"/>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6813F17D-6D09-4AEA-B296-BCE65F8725C8}"/>
              </a:ext>
            </a:extLst>
          </p:cNvPr>
          <p:cNvSpPr>
            <a:spLocks noGrp="1"/>
          </p:cNvSpPr>
          <p:nvPr/>
        </p:nvSpPr>
        <p:spPr>
          <a:xfrm>
            <a:off x="5853113" y="331946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646642C8-DDBA-4B5E-8473-9992AEA3EB52}"/>
              </a:ext>
            </a:extLst>
          </p:cNvPr>
          <p:cNvSpPr>
            <a:spLocks noGrp="1"/>
          </p:cNvSpPr>
          <p:nvPr/>
        </p:nvSpPr>
        <p:spPr>
          <a:xfrm>
            <a:off x="5891827" y="3273988"/>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20B855F6-3EE2-43B3-B0B4-D28C0D5DC56A}"/>
              </a:ext>
            </a:extLst>
          </p:cNvPr>
          <p:cNvSpPr>
            <a:spLocks noGrp="1"/>
          </p:cNvSpPr>
          <p:nvPr/>
        </p:nvSpPr>
        <p:spPr>
          <a:xfrm>
            <a:off x="5930542" y="3228514"/>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1AD12A2F-2CCD-4EBA-BE6C-9A9171511725}"/>
              </a:ext>
            </a:extLst>
          </p:cNvPr>
          <p:cNvSpPr>
            <a:spLocks noGrp="1"/>
          </p:cNvSpPr>
          <p:nvPr/>
        </p:nvSpPr>
        <p:spPr>
          <a:xfrm>
            <a:off x="5969256" y="3183040"/>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D9AE5153-79FF-40EA-8C0C-BFD07EBD863B}"/>
              </a:ext>
            </a:extLst>
          </p:cNvPr>
          <p:cNvSpPr>
            <a:spLocks noGrp="1"/>
          </p:cNvSpPr>
          <p:nvPr/>
        </p:nvSpPr>
        <p:spPr>
          <a:xfrm>
            <a:off x="6007971" y="3137566"/>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F62DC910-5131-473E-9196-10E2E5B73271}"/>
              </a:ext>
            </a:extLst>
          </p:cNvPr>
          <p:cNvSpPr>
            <a:spLocks noGrp="1"/>
          </p:cNvSpPr>
          <p:nvPr/>
        </p:nvSpPr>
        <p:spPr>
          <a:xfrm>
            <a:off x="6046685" y="3092092"/>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EBC12637-256C-45A4-919D-2E377E2020A1}"/>
              </a:ext>
            </a:extLst>
          </p:cNvPr>
          <p:cNvSpPr>
            <a:spLocks noGrp="1"/>
          </p:cNvSpPr>
          <p:nvPr/>
        </p:nvSpPr>
        <p:spPr>
          <a:xfrm>
            <a:off x="6085400" y="3046617"/>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6" name="椭圆 75">
            <a:extLst>
              <a:ext uri="{FF2B5EF4-FFF2-40B4-BE49-F238E27FC236}">
                <a16:creationId xmlns:a16="http://schemas.microsoft.com/office/drawing/2014/main" id="{555132C0-127F-4A07-B072-A613B0CDD998}"/>
              </a:ext>
            </a:extLst>
          </p:cNvPr>
          <p:cNvSpPr>
            <a:spLocks noGrp="1"/>
          </p:cNvSpPr>
          <p:nvPr/>
        </p:nvSpPr>
        <p:spPr>
          <a:xfrm>
            <a:off x="6124114" y="300114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7" name="椭圆 76">
            <a:extLst>
              <a:ext uri="{FF2B5EF4-FFF2-40B4-BE49-F238E27FC236}">
                <a16:creationId xmlns:a16="http://schemas.microsoft.com/office/drawing/2014/main" id="{F6725DCB-87F4-4220-998B-C2443F703FAF}"/>
              </a:ext>
            </a:extLst>
          </p:cNvPr>
          <p:cNvSpPr>
            <a:spLocks noGrp="1"/>
          </p:cNvSpPr>
          <p:nvPr/>
        </p:nvSpPr>
        <p:spPr>
          <a:xfrm>
            <a:off x="6162829" y="2955669"/>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8" name="椭圆 77">
            <a:extLst>
              <a:ext uri="{FF2B5EF4-FFF2-40B4-BE49-F238E27FC236}">
                <a16:creationId xmlns:a16="http://schemas.microsoft.com/office/drawing/2014/main" id="{B10E7030-549A-451E-8E1F-44060D87D7A2}"/>
              </a:ext>
            </a:extLst>
          </p:cNvPr>
          <p:cNvSpPr>
            <a:spLocks noGrp="1"/>
          </p:cNvSpPr>
          <p:nvPr/>
        </p:nvSpPr>
        <p:spPr>
          <a:xfrm>
            <a:off x="6201543" y="2910195"/>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FBF87600-A313-48F9-B2A0-0E5C2E564007}"/>
              </a:ext>
            </a:extLst>
          </p:cNvPr>
          <p:cNvSpPr>
            <a:spLocks noGrp="1"/>
          </p:cNvSpPr>
          <p:nvPr/>
        </p:nvSpPr>
        <p:spPr>
          <a:xfrm>
            <a:off x="6240258" y="2864721"/>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D4A489BE-1B13-4476-A28F-8051F435676E}"/>
              </a:ext>
            </a:extLst>
          </p:cNvPr>
          <p:cNvSpPr>
            <a:spLocks noGrp="1"/>
          </p:cNvSpPr>
          <p:nvPr/>
        </p:nvSpPr>
        <p:spPr>
          <a:xfrm>
            <a:off x="6278972" y="2819246"/>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4826DE9B-3416-46CF-AE23-C12A648F0935}"/>
              </a:ext>
            </a:extLst>
          </p:cNvPr>
          <p:cNvSpPr>
            <a:spLocks noGrp="1"/>
          </p:cNvSpPr>
          <p:nvPr/>
        </p:nvSpPr>
        <p:spPr>
          <a:xfrm>
            <a:off x="6317687" y="2773772"/>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2" name="椭圆 81">
            <a:extLst>
              <a:ext uri="{FF2B5EF4-FFF2-40B4-BE49-F238E27FC236}">
                <a16:creationId xmlns:a16="http://schemas.microsoft.com/office/drawing/2014/main" id="{EF06C7EE-F618-4DE5-8883-7CE981656686}"/>
              </a:ext>
            </a:extLst>
          </p:cNvPr>
          <p:cNvSpPr>
            <a:spLocks noGrp="1"/>
          </p:cNvSpPr>
          <p:nvPr/>
        </p:nvSpPr>
        <p:spPr>
          <a:xfrm>
            <a:off x="6356401" y="2728298"/>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3" name="椭圆 82">
            <a:extLst>
              <a:ext uri="{FF2B5EF4-FFF2-40B4-BE49-F238E27FC236}">
                <a16:creationId xmlns:a16="http://schemas.microsoft.com/office/drawing/2014/main" id="{D30F22B9-DB98-4EA6-AB4F-DF9331CA9773}"/>
              </a:ext>
            </a:extLst>
          </p:cNvPr>
          <p:cNvSpPr>
            <a:spLocks noGrp="1"/>
          </p:cNvSpPr>
          <p:nvPr/>
        </p:nvSpPr>
        <p:spPr>
          <a:xfrm>
            <a:off x="6395116" y="2682824"/>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4" name="椭圆 83">
            <a:extLst>
              <a:ext uri="{FF2B5EF4-FFF2-40B4-BE49-F238E27FC236}">
                <a16:creationId xmlns:a16="http://schemas.microsoft.com/office/drawing/2014/main" id="{FF9A03B6-EC66-4FB8-8F2C-97BD9409946B}"/>
              </a:ext>
            </a:extLst>
          </p:cNvPr>
          <p:cNvSpPr>
            <a:spLocks noGrp="1"/>
          </p:cNvSpPr>
          <p:nvPr/>
        </p:nvSpPr>
        <p:spPr>
          <a:xfrm>
            <a:off x="6433830" y="2637350"/>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5" name="椭圆 84">
            <a:extLst>
              <a:ext uri="{FF2B5EF4-FFF2-40B4-BE49-F238E27FC236}">
                <a16:creationId xmlns:a16="http://schemas.microsoft.com/office/drawing/2014/main" id="{0AEFC2F8-40F4-4EB8-A290-95437DEBD3B5}"/>
              </a:ext>
            </a:extLst>
          </p:cNvPr>
          <p:cNvSpPr>
            <a:spLocks noGrp="1"/>
          </p:cNvSpPr>
          <p:nvPr/>
        </p:nvSpPr>
        <p:spPr>
          <a:xfrm>
            <a:off x="6472545" y="2591875"/>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6" name="椭圆 85">
            <a:extLst>
              <a:ext uri="{FF2B5EF4-FFF2-40B4-BE49-F238E27FC236}">
                <a16:creationId xmlns:a16="http://schemas.microsoft.com/office/drawing/2014/main" id="{F742EE01-DEFE-426D-A9A5-22D36D9164BE}"/>
              </a:ext>
            </a:extLst>
          </p:cNvPr>
          <p:cNvSpPr>
            <a:spLocks noGrp="1"/>
          </p:cNvSpPr>
          <p:nvPr/>
        </p:nvSpPr>
        <p:spPr>
          <a:xfrm>
            <a:off x="6511259" y="2546401"/>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7" name="椭圆 86">
            <a:extLst>
              <a:ext uri="{FF2B5EF4-FFF2-40B4-BE49-F238E27FC236}">
                <a16:creationId xmlns:a16="http://schemas.microsoft.com/office/drawing/2014/main" id="{D2651F96-F9BF-470E-979C-54F66F00AC38}"/>
              </a:ext>
            </a:extLst>
          </p:cNvPr>
          <p:cNvSpPr>
            <a:spLocks noGrp="1"/>
          </p:cNvSpPr>
          <p:nvPr/>
        </p:nvSpPr>
        <p:spPr>
          <a:xfrm>
            <a:off x="6549974" y="2500927"/>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8" name="椭圆 87">
            <a:extLst>
              <a:ext uri="{FF2B5EF4-FFF2-40B4-BE49-F238E27FC236}">
                <a16:creationId xmlns:a16="http://schemas.microsoft.com/office/drawing/2014/main" id="{0485A2FD-DE3A-4BAC-8AF4-866747DDDD41}"/>
              </a:ext>
            </a:extLst>
          </p:cNvPr>
          <p:cNvSpPr>
            <a:spLocks noGrp="1"/>
          </p:cNvSpPr>
          <p:nvPr/>
        </p:nvSpPr>
        <p:spPr>
          <a:xfrm>
            <a:off x="6588688" y="245545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89" name="椭圆 88">
            <a:extLst>
              <a:ext uri="{FF2B5EF4-FFF2-40B4-BE49-F238E27FC236}">
                <a16:creationId xmlns:a16="http://schemas.microsoft.com/office/drawing/2014/main" id="{31EB311E-3281-461B-8334-76383F917077}"/>
              </a:ext>
            </a:extLst>
          </p:cNvPr>
          <p:cNvSpPr>
            <a:spLocks noGrp="1"/>
          </p:cNvSpPr>
          <p:nvPr/>
        </p:nvSpPr>
        <p:spPr>
          <a:xfrm>
            <a:off x="6627403" y="2409979"/>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0" name="椭圆 89">
            <a:extLst>
              <a:ext uri="{FF2B5EF4-FFF2-40B4-BE49-F238E27FC236}">
                <a16:creationId xmlns:a16="http://schemas.microsoft.com/office/drawing/2014/main" id="{458EFB71-49B3-4E25-9D2D-B0C63036EFDF}"/>
              </a:ext>
            </a:extLst>
          </p:cNvPr>
          <p:cNvSpPr>
            <a:spLocks noGrp="1"/>
          </p:cNvSpPr>
          <p:nvPr/>
        </p:nvSpPr>
        <p:spPr>
          <a:xfrm>
            <a:off x="6666117" y="2364504"/>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1" name="椭圆 90">
            <a:extLst>
              <a:ext uri="{FF2B5EF4-FFF2-40B4-BE49-F238E27FC236}">
                <a16:creationId xmlns:a16="http://schemas.microsoft.com/office/drawing/2014/main" id="{E114A361-6815-491B-9983-7CAB1BF86EE8}"/>
              </a:ext>
            </a:extLst>
          </p:cNvPr>
          <p:cNvSpPr>
            <a:spLocks noGrp="1"/>
          </p:cNvSpPr>
          <p:nvPr/>
        </p:nvSpPr>
        <p:spPr>
          <a:xfrm>
            <a:off x="6704832" y="2319030"/>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2" name="椭圆 91">
            <a:extLst>
              <a:ext uri="{FF2B5EF4-FFF2-40B4-BE49-F238E27FC236}">
                <a16:creationId xmlns:a16="http://schemas.microsoft.com/office/drawing/2014/main" id="{F01D9BAB-836B-4561-9173-1CC0C0C4251D}"/>
              </a:ext>
            </a:extLst>
          </p:cNvPr>
          <p:cNvSpPr>
            <a:spLocks noGrp="1"/>
          </p:cNvSpPr>
          <p:nvPr/>
        </p:nvSpPr>
        <p:spPr>
          <a:xfrm>
            <a:off x="6743546" y="2273556"/>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3" name="椭圆 92">
            <a:extLst>
              <a:ext uri="{FF2B5EF4-FFF2-40B4-BE49-F238E27FC236}">
                <a16:creationId xmlns:a16="http://schemas.microsoft.com/office/drawing/2014/main" id="{E9A6A924-CB51-4EEF-A11C-25C076B7451F}"/>
              </a:ext>
            </a:extLst>
          </p:cNvPr>
          <p:cNvSpPr>
            <a:spLocks noGrp="1"/>
          </p:cNvSpPr>
          <p:nvPr/>
        </p:nvSpPr>
        <p:spPr>
          <a:xfrm>
            <a:off x="6782261" y="2228082"/>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4" name="椭圆 93">
            <a:extLst>
              <a:ext uri="{FF2B5EF4-FFF2-40B4-BE49-F238E27FC236}">
                <a16:creationId xmlns:a16="http://schemas.microsoft.com/office/drawing/2014/main" id="{D84C2405-6BEA-4FEB-A9C5-37E53CBE20F7}"/>
              </a:ext>
            </a:extLst>
          </p:cNvPr>
          <p:cNvSpPr>
            <a:spLocks noGrp="1"/>
          </p:cNvSpPr>
          <p:nvPr/>
        </p:nvSpPr>
        <p:spPr>
          <a:xfrm>
            <a:off x="6820975" y="2182608"/>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5" name="椭圆 94">
            <a:extLst>
              <a:ext uri="{FF2B5EF4-FFF2-40B4-BE49-F238E27FC236}">
                <a16:creationId xmlns:a16="http://schemas.microsoft.com/office/drawing/2014/main" id="{D66161E0-81DC-4FA4-949A-4ECEE0B14AAD}"/>
              </a:ext>
            </a:extLst>
          </p:cNvPr>
          <p:cNvSpPr>
            <a:spLocks noGrp="1"/>
          </p:cNvSpPr>
          <p:nvPr/>
        </p:nvSpPr>
        <p:spPr>
          <a:xfrm>
            <a:off x="6859690" y="213713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6" name="椭圆 95">
            <a:extLst>
              <a:ext uri="{FF2B5EF4-FFF2-40B4-BE49-F238E27FC236}">
                <a16:creationId xmlns:a16="http://schemas.microsoft.com/office/drawing/2014/main" id="{19FC200C-6AC4-45F5-90CF-C29F0F3C97D0}"/>
              </a:ext>
            </a:extLst>
          </p:cNvPr>
          <p:cNvSpPr>
            <a:spLocks noGrp="1"/>
          </p:cNvSpPr>
          <p:nvPr/>
        </p:nvSpPr>
        <p:spPr>
          <a:xfrm>
            <a:off x="6898404" y="2091659"/>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7" name="椭圆 96">
            <a:extLst>
              <a:ext uri="{FF2B5EF4-FFF2-40B4-BE49-F238E27FC236}">
                <a16:creationId xmlns:a16="http://schemas.microsoft.com/office/drawing/2014/main" id="{7C27F60A-5609-4192-89E9-B272C3B1AC31}"/>
              </a:ext>
            </a:extLst>
          </p:cNvPr>
          <p:cNvSpPr>
            <a:spLocks noGrp="1"/>
          </p:cNvSpPr>
          <p:nvPr/>
        </p:nvSpPr>
        <p:spPr>
          <a:xfrm>
            <a:off x="6937119" y="2046185"/>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8" name="椭圆 97">
            <a:extLst>
              <a:ext uri="{FF2B5EF4-FFF2-40B4-BE49-F238E27FC236}">
                <a16:creationId xmlns:a16="http://schemas.microsoft.com/office/drawing/2014/main" id="{38388DAB-68C9-49A8-A910-F4921ACDDC5B}"/>
              </a:ext>
            </a:extLst>
          </p:cNvPr>
          <p:cNvSpPr>
            <a:spLocks noGrp="1"/>
          </p:cNvSpPr>
          <p:nvPr/>
        </p:nvSpPr>
        <p:spPr>
          <a:xfrm>
            <a:off x="6975833" y="2000711"/>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99" name="椭圆 98">
            <a:extLst>
              <a:ext uri="{FF2B5EF4-FFF2-40B4-BE49-F238E27FC236}">
                <a16:creationId xmlns:a16="http://schemas.microsoft.com/office/drawing/2014/main" id="{8719DACA-675C-4273-9CFB-E907097E5C71}"/>
              </a:ext>
            </a:extLst>
          </p:cNvPr>
          <p:cNvSpPr>
            <a:spLocks noGrp="1"/>
          </p:cNvSpPr>
          <p:nvPr/>
        </p:nvSpPr>
        <p:spPr>
          <a:xfrm>
            <a:off x="7014548" y="1955237"/>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0" name="椭圆 99">
            <a:extLst>
              <a:ext uri="{FF2B5EF4-FFF2-40B4-BE49-F238E27FC236}">
                <a16:creationId xmlns:a16="http://schemas.microsoft.com/office/drawing/2014/main" id="{05333821-B9CB-463A-8581-7183DB33B618}"/>
              </a:ext>
            </a:extLst>
          </p:cNvPr>
          <p:cNvSpPr>
            <a:spLocks noGrp="1"/>
          </p:cNvSpPr>
          <p:nvPr/>
        </p:nvSpPr>
        <p:spPr>
          <a:xfrm>
            <a:off x="7053263" y="1909763"/>
            <a:ext cx="66675" cy="66675"/>
          </a:xfrm>
          <a:prstGeom prst="ellipse">
            <a:avLst/>
          </a:prstGeom>
          <a:solidFill>
            <a:srgbClr val="B4964B"/>
          </a:solidFill>
          <a:ln w="0">
            <a:solidFill>
              <a:srgbClr val="000000">
                <a:alpha val="0"/>
              </a:srgbClr>
            </a:solidFill>
            <a:prstDash val="solid"/>
          </a:ln>
        </p:spPr>
        <p:txBody>
          <a:bodyPr/>
          <a:lstStyle/>
          <a:p>
            <a:endParaRPr lang="zh-CN" altLang="en-US"/>
          </a:p>
        </p:txBody>
      </p:sp>
      <p:sp>
        <p:nvSpPr>
          <p:cNvPr id="101" name="椭圆 100">
            <a:extLst>
              <a:ext uri="{FF2B5EF4-FFF2-40B4-BE49-F238E27FC236}">
                <a16:creationId xmlns:a16="http://schemas.microsoft.com/office/drawing/2014/main" id="{A71EE1A0-FAA5-4EC1-88FE-061947242687}"/>
              </a:ext>
            </a:extLst>
          </p:cNvPr>
          <p:cNvSpPr>
            <a:spLocks noGrp="1"/>
          </p:cNvSpPr>
          <p:nvPr/>
        </p:nvSpPr>
        <p:spPr>
          <a:xfrm>
            <a:off x="4652963" y="4729163"/>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02" name="椭圆 101">
            <a:extLst>
              <a:ext uri="{FF2B5EF4-FFF2-40B4-BE49-F238E27FC236}">
                <a16:creationId xmlns:a16="http://schemas.microsoft.com/office/drawing/2014/main" id="{589B52A4-BA72-4613-B160-0D2A1CF06601}"/>
              </a:ext>
            </a:extLst>
          </p:cNvPr>
          <p:cNvSpPr>
            <a:spLocks noGrp="1"/>
          </p:cNvSpPr>
          <p:nvPr/>
        </p:nvSpPr>
        <p:spPr>
          <a:xfrm>
            <a:off x="4688261" y="4687701"/>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03" name="椭圆 102">
            <a:extLst>
              <a:ext uri="{FF2B5EF4-FFF2-40B4-BE49-F238E27FC236}">
                <a16:creationId xmlns:a16="http://schemas.microsoft.com/office/drawing/2014/main" id="{C6AF7CC9-B9F2-433B-9DB8-2C18E92445BE}"/>
              </a:ext>
            </a:extLst>
          </p:cNvPr>
          <p:cNvSpPr>
            <a:spLocks noGrp="1"/>
          </p:cNvSpPr>
          <p:nvPr/>
        </p:nvSpPr>
        <p:spPr>
          <a:xfrm>
            <a:off x="4723560" y="4646239"/>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04" name="椭圆 103">
            <a:extLst>
              <a:ext uri="{FF2B5EF4-FFF2-40B4-BE49-F238E27FC236}">
                <a16:creationId xmlns:a16="http://schemas.microsoft.com/office/drawing/2014/main" id="{C54422F8-F585-4472-8DDA-816F8AE8BA72}"/>
              </a:ext>
            </a:extLst>
          </p:cNvPr>
          <p:cNvSpPr>
            <a:spLocks noGrp="1"/>
          </p:cNvSpPr>
          <p:nvPr/>
        </p:nvSpPr>
        <p:spPr>
          <a:xfrm>
            <a:off x="4758858" y="4604777"/>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05" name="椭圆 104">
            <a:extLst>
              <a:ext uri="{FF2B5EF4-FFF2-40B4-BE49-F238E27FC236}">
                <a16:creationId xmlns:a16="http://schemas.microsoft.com/office/drawing/2014/main" id="{658AF6CD-EC55-4ECB-94F9-11AAB0EB4A7A}"/>
              </a:ext>
            </a:extLst>
          </p:cNvPr>
          <p:cNvSpPr>
            <a:spLocks noGrp="1"/>
          </p:cNvSpPr>
          <p:nvPr/>
        </p:nvSpPr>
        <p:spPr>
          <a:xfrm>
            <a:off x="4794157" y="4563315"/>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06" name="椭圆 105">
            <a:extLst>
              <a:ext uri="{FF2B5EF4-FFF2-40B4-BE49-F238E27FC236}">
                <a16:creationId xmlns:a16="http://schemas.microsoft.com/office/drawing/2014/main" id="{BC4EBCDB-17CB-479F-AA68-BD41DE08846D}"/>
              </a:ext>
            </a:extLst>
          </p:cNvPr>
          <p:cNvSpPr>
            <a:spLocks noGrp="1"/>
          </p:cNvSpPr>
          <p:nvPr/>
        </p:nvSpPr>
        <p:spPr>
          <a:xfrm>
            <a:off x="4829455" y="4521854"/>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07" name="椭圆 106">
            <a:extLst>
              <a:ext uri="{FF2B5EF4-FFF2-40B4-BE49-F238E27FC236}">
                <a16:creationId xmlns:a16="http://schemas.microsoft.com/office/drawing/2014/main" id="{6B66FB52-7E42-4CF2-AC46-57309C54FD31}"/>
              </a:ext>
            </a:extLst>
          </p:cNvPr>
          <p:cNvSpPr>
            <a:spLocks noGrp="1"/>
          </p:cNvSpPr>
          <p:nvPr/>
        </p:nvSpPr>
        <p:spPr>
          <a:xfrm>
            <a:off x="4864754" y="4480392"/>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08" name="椭圆 107">
            <a:extLst>
              <a:ext uri="{FF2B5EF4-FFF2-40B4-BE49-F238E27FC236}">
                <a16:creationId xmlns:a16="http://schemas.microsoft.com/office/drawing/2014/main" id="{93DD339A-C276-4AD3-A3F0-157E06625FC4}"/>
              </a:ext>
            </a:extLst>
          </p:cNvPr>
          <p:cNvSpPr>
            <a:spLocks noGrp="1"/>
          </p:cNvSpPr>
          <p:nvPr/>
        </p:nvSpPr>
        <p:spPr>
          <a:xfrm>
            <a:off x="4900052" y="4438930"/>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09" name="椭圆 108">
            <a:extLst>
              <a:ext uri="{FF2B5EF4-FFF2-40B4-BE49-F238E27FC236}">
                <a16:creationId xmlns:a16="http://schemas.microsoft.com/office/drawing/2014/main" id="{DA156406-8E35-4A6C-85CF-3D5DDF16FB8E}"/>
              </a:ext>
            </a:extLst>
          </p:cNvPr>
          <p:cNvSpPr>
            <a:spLocks noGrp="1"/>
          </p:cNvSpPr>
          <p:nvPr/>
        </p:nvSpPr>
        <p:spPr>
          <a:xfrm>
            <a:off x="4935351" y="4397468"/>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0" name="椭圆 109">
            <a:extLst>
              <a:ext uri="{FF2B5EF4-FFF2-40B4-BE49-F238E27FC236}">
                <a16:creationId xmlns:a16="http://schemas.microsoft.com/office/drawing/2014/main" id="{02A1B41C-885C-4ED5-B257-0E3BEC4F33DE}"/>
              </a:ext>
            </a:extLst>
          </p:cNvPr>
          <p:cNvSpPr>
            <a:spLocks noGrp="1"/>
          </p:cNvSpPr>
          <p:nvPr/>
        </p:nvSpPr>
        <p:spPr>
          <a:xfrm>
            <a:off x="4970649" y="4356007"/>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1" name="椭圆 110">
            <a:extLst>
              <a:ext uri="{FF2B5EF4-FFF2-40B4-BE49-F238E27FC236}">
                <a16:creationId xmlns:a16="http://schemas.microsoft.com/office/drawing/2014/main" id="{734270ED-B043-43C3-8F0A-804A92D574A8}"/>
              </a:ext>
            </a:extLst>
          </p:cNvPr>
          <p:cNvSpPr>
            <a:spLocks noGrp="1"/>
          </p:cNvSpPr>
          <p:nvPr/>
        </p:nvSpPr>
        <p:spPr>
          <a:xfrm>
            <a:off x="5005948" y="4314545"/>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2" name="椭圆 111">
            <a:extLst>
              <a:ext uri="{FF2B5EF4-FFF2-40B4-BE49-F238E27FC236}">
                <a16:creationId xmlns:a16="http://schemas.microsoft.com/office/drawing/2014/main" id="{A52D9EF8-0137-480F-8A56-B313FD9EC092}"/>
              </a:ext>
            </a:extLst>
          </p:cNvPr>
          <p:cNvSpPr>
            <a:spLocks noGrp="1"/>
          </p:cNvSpPr>
          <p:nvPr/>
        </p:nvSpPr>
        <p:spPr>
          <a:xfrm>
            <a:off x="5041246" y="4273083"/>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3" name="椭圆 112">
            <a:extLst>
              <a:ext uri="{FF2B5EF4-FFF2-40B4-BE49-F238E27FC236}">
                <a16:creationId xmlns:a16="http://schemas.microsoft.com/office/drawing/2014/main" id="{54D2074E-CA5A-4A44-97AF-7AFD87E17391}"/>
              </a:ext>
            </a:extLst>
          </p:cNvPr>
          <p:cNvSpPr>
            <a:spLocks noGrp="1"/>
          </p:cNvSpPr>
          <p:nvPr/>
        </p:nvSpPr>
        <p:spPr>
          <a:xfrm>
            <a:off x="5076545" y="4231621"/>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4" name="椭圆 113">
            <a:extLst>
              <a:ext uri="{FF2B5EF4-FFF2-40B4-BE49-F238E27FC236}">
                <a16:creationId xmlns:a16="http://schemas.microsoft.com/office/drawing/2014/main" id="{585271FF-B01D-4A01-B859-BEECEAB26B30}"/>
              </a:ext>
            </a:extLst>
          </p:cNvPr>
          <p:cNvSpPr>
            <a:spLocks noGrp="1"/>
          </p:cNvSpPr>
          <p:nvPr/>
        </p:nvSpPr>
        <p:spPr>
          <a:xfrm>
            <a:off x="5111843" y="4190160"/>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5" name="椭圆 114">
            <a:extLst>
              <a:ext uri="{FF2B5EF4-FFF2-40B4-BE49-F238E27FC236}">
                <a16:creationId xmlns:a16="http://schemas.microsoft.com/office/drawing/2014/main" id="{23EC0715-38FC-45B2-B31C-83DD37EFADD1}"/>
              </a:ext>
            </a:extLst>
          </p:cNvPr>
          <p:cNvSpPr>
            <a:spLocks noGrp="1"/>
          </p:cNvSpPr>
          <p:nvPr/>
        </p:nvSpPr>
        <p:spPr>
          <a:xfrm>
            <a:off x="5147142" y="4148698"/>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6" name="椭圆 115">
            <a:extLst>
              <a:ext uri="{FF2B5EF4-FFF2-40B4-BE49-F238E27FC236}">
                <a16:creationId xmlns:a16="http://schemas.microsoft.com/office/drawing/2014/main" id="{F6B61B68-215A-4F46-8CA9-14333415F863}"/>
              </a:ext>
            </a:extLst>
          </p:cNvPr>
          <p:cNvSpPr>
            <a:spLocks noGrp="1"/>
          </p:cNvSpPr>
          <p:nvPr/>
        </p:nvSpPr>
        <p:spPr>
          <a:xfrm>
            <a:off x="5182440" y="4107236"/>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7" name="椭圆 116">
            <a:extLst>
              <a:ext uri="{FF2B5EF4-FFF2-40B4-BE49-F238E27FC236}">
                <a16:creationId xmlns:a16="http://schemas.microsoft.com/office/drawing/2014/main" id="{991F7C39-110B-45F0-A01E-F1A0654FA2B1}"/>
              </a:ext>
            </a:extLst>
          </p:cNvPr>
          <p:cNvSpPr>
            <a:spLocks noGrp="1"/>
          </p:cNvSpPr>
          <p:nvPr/>
        </p:nvSpPr>
        <p:spPr>
          <a:xfrm>
            <a:off x="5217739" y="4065774"/>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8" name="椭圆 117">
            <a:extLst>
              <a:ext uri="{FF2B5EF4-FFF2-40B4-BE49-F238E27FC236}">
                <a16:creationId xmlns:a16="http://schemas.microsoft.com/office/drawing/2014/main" id="{95B8E836-E1C9-4A84-807A-C45196C63566}"/>
              </a:ext>
            </a:extLst>
          </p:cNvPr>
          <p:cNvSpPr>
            <a:spLocks noGrp="1"/>
          </p:cNvSpPr>
          <p:nvPr/>
        </p:nvSpPr>
        <p:spPr>
          <a:xfrm>
            <a:off x="5253038" y="4024313"/>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19" name="椭圆 118">
            <a:extLst>
              <a:ext uri="{FF2B5EF4-FFF2-40B4-BE49-F238E27FC236}">
                <a16:creationId xmlns:a16="http://schemas.microsoft.com/office/drawing/2014/main" id="{0871E883-5647-46BB-B31D-C9023B50FF29}"/>
              </a:ext>
            </a:extLst>
          </p:cNvPr>
          <p:cNvSpPr>
            <a:spLocks noGrp="1"/>
          </p:cNvSpPr>
          <p:nvPr/>
        </p:nvSpPr>
        <p:spPr>
          <a:xfrm>
            <a:off x="5288336" y="3982851"/>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0" name="椭圆 119">
            <a:extLst>
              <a:ext uri="{FF2B5EF4-FFF2-40B4-BE49-F238E27FC236}">
                <a16:creationId xmlns:a16="http://schemas.microsoft.com/office/drawing/2014/main" id="{99EBFA87-D564-458B-8FB9-778F7D87D02D}"/>
              </a:ext>
            </a:extLst>
          </p:cNvPr>
          <p:cNvSpPr>
            <a:spLocks noGrp="1"/>
          </p:cNvSpPr>
          <p:nvPr/>
        </p:nvSpPr>
        <p:spPr>
          <a:xfrm>
            <a:off x="5323635" y="3941389"/>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1" name="椭圆 120">
            <a:extLst>
              <a:ext uri="{FF2B5EF4-FFF2-40B4-BE49-F238E27FC236}">
                <a16:creationId xmlns:a16="http://schemas.microsoft.com/office/drawing/2014/main" id="{253F338F-7228-4F5D-ADC1-C7519A0BD8F6}"/>
              </a:ext>
            </a:extLst>
          </p:cNvPr>
          <p:cNvSpPr>
            <a:spLocks noGrp="1"/>
          </p:cNvSpPr>
          <p:nvPr/>
        </p:nvSpPr>
        <p:spPr>
          <a:xfrm>
            <a:off x="5358933" y="3899927"/>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2" name="椭圆 121">
            <a:extLst>
              <a:ext uri="{FF2B5EF4-FFF2-40B4-BE49-F238E27FC236}">
                <a16:creationId xmlns:a16="http://schemas.microsoft.com/office/drawing/2014/main" id="{F2FE9ED8-2C74-47A8-80E4-0B937EE0B22E}"/>
              </a:ext>
            </a:extLst>
          </p:cNvPr>
          <p:cNvSpPr>
            <a:spLocks noGrp="1"/>
          </p:cNvSpPr>
          <p:nvPr/>
        </p:nvSpPr>
        <p:spPr>
          <a:xfrm>
            <a:off x="5394232" y="3858465"/>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3" name="椭圆 122">
            <a:extLst>
              <a:ext uri="{FF2B5EF4-FFF2-40B4-BE49-F238E27FC236}">
                <a16:creationId xmlns:a16="http://schemas.microsoft.com/office/drawing/2014/main" id="{02328EB2-AF4F-41BA-8EBD-FFFBC5B4DBBD}"/>
              </a:ext>
            </a:extLst>
          </p:cNvPr>
          <p:cNvSpPr>
            <a:spLocks noGrp="1"/>
          </p:cNvSpPr>
          <p:nvPr/>
        </p:nvSpPr>
        <p:spPr>
          <a:xfrm>
            <a:off x="5429530" y="3817004"/>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4" name="椭圆 123">
            <a:extLst>
              <a:ext uri="{FF2B5EF4-FFF2-40B4-BE49-F238E27FC236}">
                <a16:creationId xmlns:a16="http://schemas.microsoft.com/office/drawing/2014/main" id="{59C010F4-6DD9-4A85-A222-EB0333826492}"/>
              </a:ext>
            </a:extLst>
          </p:cNvPr>
          <p:cNvSpPr>
            <a:spLocks noGrp="1"/>
          </p:cNvSpPr>
          <p:nvPr/>
        </p:nvSpPr>
        <p:spPr>
          <a:xfrm>
            <a:off x="5464829" y="3775542"/>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5" name="椭圆 124">
            <a:extLst>
              <a:ext uri="{FF2B5EF4-FFF2-40B4-BE49-F238E27FC236}">
                <a16:creationId xmlns:a16="http://schemas.microsoft.com/office/drawing/2014/main" id="{5A6C0D58-E7B1-4450-AA5F-B887B8A3A2DE}"/>
              </a:ext>
            </a:extLst>
          </p:cNvPr>
          <p:cNvSpPr>
            <a:spLocks noGrp="1"/>
          </p:cNvSpPr>
          <p:nvPr/>
        </p:nvSpPr>
        <p:spPr>
          <a:xfrm>
            <a:off x="5500127" y="3734080"/>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6" name="椭圆 125">
            <a:extLst>
              <a:ext uri="{FF2B5EF4-FFF2-40B4-BE49-F238E27FC236}">
                <a16:creationId xmlns:a16="http://schemas.microsoft.com/office/drawing/2014/main" id="{97F05973-C91E-4797-BAD3-B8A0FEBE6AD0}"/>
              </a:ext>
            </a:extLst>
          </p:cNvPr>
          <p:cNvSpPr>
            <a:spLocks noGrp="1"/>
          </p:cNvSpPr>
          <p:nvPr/>
        </p:nvSpPr>
        <p:spPr>
          <a:xfrm>
            <a:off x="5535426" y="3692618"/>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7" name="椭圆 126">
            <a:extLst>
              <a:ext uri="{FF2B5EF4-FFF2-40B4-BE49-F238E27FC236}">
                <a16:creationId xmlns:a16="http://schemas.microsoft.com/office/drawing/2014/main" id="{8B2F074C-13AB-4482-B0BB-252B3F7D62BA}"/>
              </a:ext>
            </a:extLst>
          </p:cNvPr>
          <p:cNvSpPr>
            <a:spLocks noGrp="1"/>
          </p:cNvSpPr>
          <p:nvPr/>
        </p:nvSpPr>
        <p:spPr>
          <a:xfrm>
            <a:off x="5570724" y="3651157"/>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8" name="椭圆 127">
            <a:extLst>
              <a:ext uri="{FF2B5EF4-FFF2-40B4-BE49-F238E27FC236}">
                <a16:creationId xmlns:a16="http://schemas.microsoft.com/office/drawing/2014/main" id="{9A762F97-8B49-4E4C-A082-24E090E0466B}"/>
              </a:ext>
            </a:extLst>
          </p:cNvPr>
          <p:cNvSpPr>
            <a:spLocks noGrp="1"/>
          </p:cNvSpPr>
          <p:nvPr/>
        </p:nvSpPr>
        <p:spPr>
          <a:xfrm>
            <a:off x="5606023" y="3609695"/>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29" name="椭圆 128">
            <a:extLst>
              <a:ext uri="{FF2B5EF4-FFF2-40B4-BE49-F238E27FC236}">
                <a16:creationId xmlns:a16="http://schemas.microsoft.com/office/drawing/2014/main" id="{1D81CAE6-F422-4C59-AD1D-1A152E51FF62}"/>
              </a:ext>
            </a:extLst>
          </p:cNvPr>
          <p:cNvSpPr>
            <a:spLocks noGrp="1"/>
          </p:cNvSpPr>
          <p:nvPr/>
        </p:nvSpPr>
        <p:spPr>
          <a:xfrm>
            <a:off x="5641321" y="3568233"/>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30" name="椭圆 129">
            <a:extLst>
              <a:ext uri="{FF2B5EF4-FFF2-40B4-BE49-F238E27FC236}">
                <a16:creationId xmlns:a16="http://schemas.microsoft.com/office/drawing/2014/main" id="{3120286F-C9AC-4523-BF22-576A9213C619}"/>
              </a:ext>
            </a:extLst>
          </p:cNvPr>
          <p:cNvSpPr>
            <a:spLocks noGrp="1"/>
          </p:cNvSpPr>
          <p:nvPr/>
        </p:nvSpPr>
        <p:spPr>
          <a:xfrm>
            <a:off x="5676620" y="3526771"/>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31" name="椭圆 130">
            <a:extLst>
              <a:ext uri="{FF2B5EF4-FFF2-40B4-BE49-F238E27FC236}">
                <a16:creationId xmlns:a16="http://schemas.microsoft.com/office/drawing/2014/main" id="{CB23DFDB-55A5-4859-931E-8BC17D5AE939}"/>
              </a:ext>
            </a:extLst>
          </p:cNvPr>
          <p:cNvSpPr>
            <a:spLocks noGrp="1"/>
          </p:cNvSpPr>
          <p:nvPr/>
        </p:nvSpPr>
        <p:spPr>
          <a:xfrm>
            <a:off x="5711918" y="3485310"/>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32" name="椭圆 131">
            <a:extLst>
              <a:ext uri="{FF2B5EF4-FFF2-40B4-BE49-F238E27FC236}">
                <a16:creationId xmlns:a16="http://schemas.microsoft.com/office/drawing/2014/main" id="{E3C13896-8B52-4CD1-92D3-EADD6C34CA42}"/>
              </a:ext>
            </a:extLst>
          </p:cNvPr>
          <p:cNvSpPr>
            <a:spLocks noGrp="1"/>
          </p:cNvSpPr>
          <p:nvPr/>
        </p:nvSpPr>
        <p:spPr>
          <a:xfrm>
            <a:off x="5747217" y="3443848"/>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33" name="椭圆 132">
            <a:extLst>
              <a:ext uri="{FF2B5EF4-FFF2-40B4-BE49-F238E27FC236}">
                <a16:creationId xmlns:a16="http://schemas.microsoft.com/office/drawing/2014/main" id="{7CC1E070-7660-44F3-88FB-2E9E9B11D6E9}"/>
              </a:ext>
            </a:extLst>
          </p:cNvPr>
          <p:cNvSpPr>
            <a:spLocks noGrp="1"/>
          </p:cNvSpPr>
          <p:nvPr/>
        </p:nvSpPr>
        <p:spPr>
          <a:xfrm>
            <a:off x="5782515" y="3402386"/>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34" name="椭圆 133">
            <a:extLst>
              <a:ext uri="{FF2B5EF4-FFF2-40B4-BE49-F238E27FC236}">
                <a16:creationId xmlns:a16="http://schemas.microsoft.com/office/drawing/2014/main" id="{35460DC8-72B6-469F-81AB-176E1B611096}"/>
              </a:ext>
            </a:extLst>
          </p:cNvPr>
          <p:cNvSpPr>
            <a:spLocks noGrp="1"/>
          </p:cNvSpPr>
          <p:nvPr/>
        </p:nvSpPr>
        <p:spPr>
          <a:xfrm>
            <a:off x="5817814" y="3360924"/>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35" name="椭圆 134">
            <a:extLst>
              <a:ext uri="{FF2B5EF4-FFF2-40B4-BE49-F238E27FC236}">
                <a16:creationId xmlns:a16="http://schemas.microsoft.com/office/drawing/2014/main" id="{894A5082-A9A7-43CA-A379-F4B25FFAAF77}"/>
              </a:ext>
            </a:extLst>
          </p:cNvPr>
          <p:cNvSpPr>
            <a:spLocks noGrp="1"/>
          </p:cNvSpPr>
          <p:nvPr/>
        </p:nvSpPr>
        <p:spPr>
          <a:xfrm>
            <a:off x="5853113" y="3319463"/>
            <a:ext cx="66675" cy="66675"/>
          </a:xfrm>
          <a:prstGeom prst="ellipse">
            <a:avLst/>
          </a:prstGeom>
          <a:solidFill>
            <a:srgbClr val="014DA1"/>
          </a:solidFill>
          <a:ln w="0">
            <a:solidFill>
              <a:srgbClr val="000000">
                <a:alpha val="0"/>
              </a:srgbClr>
            </a:solidFill>
            <a:prstDash val="solid"/>
          </a:ln>
        </p:spPr>
        <p:txBody>
          <a:bodyPr/>
          <a:lstStyle/>
          <a:p>
            <a:endParaRPr lang="zh-CN" altLang="en-US"/>
          </a:p>
        </p:txBody>
      </p:sp>
      <p:sp>
        <p:nvSpPr>
          <p:cNvPr id="136" name="椭圆 135">
            <a:extLst>
              <a:ext uri="{FF2B5EF4-FFF2-40B4-BE49-F238E27FC236}">
                <a16:creationId xmlns:a16="http://schemas.microsoft.com/office/drawing/2014/main" id="{23BBF342-070F-45DD-801B-549F7A31E83A}"/>
              </a:ext>
            </a:extLst>
          </p:cNvPr>
          <p:cNvSpPr>
            <a:spLocks noGrp="1"/>
          </p:cNvSpPr>
          <p:nvPr/>
        </p:nvSpPr>
        <p:spPr>
          <a:xfrm>
            <a:off x="5800725" y="3267075"/>
            <a:ext cx="180975" cy="180975"/>
          </a:xfrm>
          <a:prstGeom prst="ellipse">
            <a:avLst/>
          </a:prstGeom>
          <a:solidFill>
            <a:srgbClr val="014DA1"/>
          </a:solidFill>
          <a:ln w="19050">
            <a:solidFill>
              <a:srgbClr val="FFFFFF"/>
            </a:solidFill>
            <a:prstDash val="solid"/>
          </a:ln>
        </p:spPr>
        <p:txBody>
          <a:bodyPr/>
          <a:lstStyle/>
          <a:p>
            <a:endParaRPr lang="zh-CN" altLang="en-US"/>
          </a:p>
        </p:txBody>
      </p:sp>
      <p:sp>
        <p:nvSpPr>
          <p:cNvPr id="137" name="矩形 136">
            <a:extLst>
              <a:ext uri="{FF2B5EF4-FFF2-40B4-BE49-F238E27FC236}">
                <a16:creationId xmlns:a16="http://schemas.microsoft.com/office/drawing/2014/main" id="{201B6F1B-54D7-4E71-8A08-30F3998D85AE}"/>
              </a:ext>
            </a:extLst>
          </p:cNvPr>
          <p:cNvSpPr>
            <a:spLocks noGrp="1"/>
          </p:cNvSpPr>
          <p:nvPr/>
        </p:nvSpPr>
        <p:spPr>
          <a:xfrm>
            <a:off x="4819650" y="3524250"/>
            <a:ext cx="11239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Times New Roman"/>
                <a:ea typeface="Times New Roman"/>
                <a:cs typeface="Times New Roman"/>
              </a:rPr>
              <a:t>A = (3, 4)</a:t>
            </a:r>
          </a:p>
        </p:txBody>
      </p:sp>
      <p:sp>
        <p:nvSpPr>
          <p:cNvPr id="138" name="椭圆 137">
            <a:extLst>
              <a:ext uri="{FF2B5EF4-FFF2-40B4-BE49-F238E27FC236}">
                <a16:creationId xmlns:a16="http://schemas.microsoft.com/office/drawing/2014/main" id="{BF0952AD-6719-4BB7-B224-3BE9C37975A2}"/>
              </a:ext>
            </a:extLst>
          </p:cNvPr>
          <p:cNvSpPr>
            <a:spLocks noGrp="1"/>
          </p:cNvSpPr>
          <p:nvPr/>
        </p:nvSpPr>
        <p:spPr>
          <a:xfrm>
            <a:off x="7000875" y="1857375"/>
            <a:ext cx="180975" cy="180975"/>
          </a:xfrm>
          <a:prstGeom prst="ellipse">
            <a:avLst/>
          </a:prstGeom>
          <a:solidFill>
            <a:srgbClr val="B4964B"/>
          </a:solidFill>
          <a:ln w="19050">
            <a:solidFill>
              <a:srgbClr val="FFFFFF"/>
            </a:solidFill>
            <a:prstDash val="solid"/>
          </a:ln>
        </p:spPr>
        <p:txBody>
          <a:bodyPr/>
          <a:lstStyle/>
          <a:p>
            <a:endParaRPr lang="zh-CN" altLang="en-US"/>
          </a:p>
        </p:txBody>
      </p:sp>
      <p:sp>
        <p:nvSpPr>
          <p:cNvPr id="139" name="矩形 138">
            <a:extLst>
              <a:ext uri="{FF2B5EF4-FFF2-40B4-BE49-F238E27FC236}">
                <a16:creationId xmlns:a16="http://schemas.microsoft.com/office/drawing/2014/main" id="{B6A3E0CD-0867-4FB7-AB7E-2F082EFAA1E5}"/>
              </a:ext>
            </a:extLst>
          </p:cNvPr>
          <p:cNvSpPr>
            <a:spLocks noGrp="1"/>
          </p:cNvSpPr>
          <p:nvPr/>
        </p:nvSpPr>
        <p:spPr>
          <a:xfrm>
            <a:off x="6172200" y="1676400"/>
            <a:ext cx="11239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B4964B"/>
                </a:solidFill>
                <a:latin typeface="黑体"/>
                <a:ea typeface="黑体"/>
                <a:cs typeface="黑体"/>
              </a:defRPr>
            </a:pPr>
            <a:r>
              <a:rPr>
                <a:latin typeface="Times New Roman"/>
                <a:ea typeface="Times New Roman"/>
                <a:cs typeface="Times New Roman"/>
              </a:rPr>
              <a:t>B = (6, 8)</a:t>
            </a:r>
          </a:p>
        </p:txBody>
      </p:sp>
      <p:sp>
        <p:nvSpPr>
          <p:cNvPr id="140" name="矩形 139">
            <a:extLst>
              <a:ext uri="{FF2B5EF4-FFF2-40B4-BE49-F238E27FC236}">
                <a16:creationId xmlns:a16="http://schemas.microsoft.com/office/drawing/2014/main" id="{B091DC68-6215-4831-986F-FAEDD09C61D6}"/>
              </a:ext>
            </a:extLst>
          </p:cNvPr>
          <p:cNvSpPr>
            <a:spLocks noGrp="1"/>
          </p:cNvSpPr>
          <p:nvPr/>
        </p:nvSpPr>
        <p:spPr>
          <a:xfrm>
            <a:off x="5219700" y="2571750"/>
            <a:ext cx="1066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00204A"/>
                </a:solidFill>
                <a:latin typeface="黑体"/>
                <a:ea typeface="黑体"/>
                <a:cs typeface="黑体"/>
              </a:defRPr>
            </a:pPr>
            <a:r>
              <a:rPr>
                <a:latin typeface="黑体"/>
                <a:ea typeface="黑体"/>
                <a:cs typeface="黑体"/>
              </a:rPr>
              <a:t>同一射线</a:t>
            </a:r>
          </a:p>
        </p:txBody>
      </p:sp>
      <p:sp>
        <p:nvSpPr>
          <p:cNvPr id="141" name="矩形 140">
            <a:extLst>
              <a:ext uri="{FF2B5EF4-FFF2-40B4-BE49-F238E27FC236}">
                <a16:creationId xmlns:a16="http://schemas.microsoft.com/office/drawing/2014/main" id="{49E6D308-D899-435F-91DD-93E97AB86AF5}"/>
              </a:ext>
            </a:extLst>
          </p:cNvPr>
          <p:cNvSpPr>
            <a:spLocks noGrp="1"/>
          </p:cNvSpPr>
          <p:nvPr/>
        </p:nvSpPr>
        <p:spPr>
          <a:xfrm>
            <a:off x="5105400" y="4972050"/>
            <a:ext cx="1733550" cy="228600"/>
          </a:xfrm>
          <a:prstGeom prst="rect">
            <a:avLst/>
          </a:prstGeom>
          <a:solidFill>
            <a:srgbClr val="F4EBC2"/>
          </a:solidFill>
          <a:ln w="9525">
            <a:solidFill>
              <a:srgbClr val="D0B765"/>
            </a:solidFill>
            <a:prstDash val="solid"/>
          </a:ln>
        </p:spPr>
        <p:txBody>
          <a:bodyPr/>
          <a:lstStyle/>
          <a:p>
            <a:endParaRPr lang="zh-CN" altLang="en-US"/>
          </a:p>
        </p:txBody>
      </p:sp>
      <p:sp>
        <p:nvSpPr>
          <p:cNvPr id="142" name="矩形 141">
            <a:extLst>
              <a:ext uri="{FF2B5EF4-FFF2-40B4-BE49-F238E27FC236}">
                <a16:creationId xmlns:a16="http://schemas.microsoft.com/office/drawing/2014/main" id="{0DFE2D68-72B8-4A88-BACA-44E6D0BE814B}"/>
              </a:ext>
            </a:extLst>
          </p:cNvPr>
          <p:cNvSpPr>
            <a:spLocks noGrp="1"/>
          </p:cNvSpPr>
          <p:nvPr/>
        </p:nvSpPr>
        <p:spPr>
          <a:xfrm>
            <a:off x="5238750" y="5019675"/>
            <a:ext cx="1466850" cy="152400"/>
          </a:xfrm>
          <a:prstGeom prst="rect">
            <a:avLst/>
          </a:prstGeom>
          <a:solidFill>
            <a:srgbClr val="F4EBC2"/>
          </a:solidFill>
          <a:ln w="0">
            <a:solidFill>
              <a:srgbClr val="000000">
                <a:alpha val="0"/>
              </a:srgbClr>
            </a:solidFill>
            <a:prstDash val="solid"/>
          </a:ln>
        </p:spPr>
        <p:txBody>
          <a:bodyPr lIns="0" tIns="0" rIns="0" bIns="0" anchor="t"/>
          <a:lstStyle/>
          <a:p>
            <a:pPr algn="ctr">
              <a:defRPr sz="975" b="1">
                <a:solidFill>
                  <a:srgbClr val="7A5D13"/>
                </a:solidFill>
                <a:latin typeface="黑体"/>
                <a:ea typeface="黑体"/>
                <a:cs typeface="黑体"/>
              </a:defRPr>
            </a:pPr>
            <a:r>
              <a:rPr>
                <a:latin typeface="黑体"/>
                <a:ea typeface="黑体"/>
                <a:cs typeface="黑体"/>
              </a:rPr>
              <a:t>夹角 </a:t>
            </a:r>
            <a:r>
              <a:rPr>
                <a:latin typeface="Times New Roman"/>
                <a:ea typeface="Times New Roman"/>
                <a:cs typeface="Times New Roman"/>
              </a:rPr>
              <a:t>θ = 0°</a:t>
            </a:r>
          </a:p>
        </p:txBody>
      </p:sp>
      <p:sp>
        <p:nvSpPr>
          <p:cNvPr id="143" name="矩形 142">
            <a:extLst>
              <a:ext uri="{FF2B5EF4-FFF2-40B4-BE49-F238E27FC236}">
                <a16:creationId xmlns:a16="http://schemas.microsoft.com/office/drawing/2014/main" id="{EAEE32FA-156F-4C98-8A9F-9D49F7107CA2}"/>
              </a:ext>
            </a:extLst>
          </p:cNvPr>
          <p:cNvSpPr>
            <a:spLocks noGrp="1"/>
          </p:cNvSpPr>
          <p:nvPr/>
        </p:nvSpPr>
        <p:spPr>
          <a:xfrm>
            <a:off x="8305800" y="2057400"/>
            <a:ext cx="381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01</a:t>
            </a:r>
          </a:p>
        </p:txBody>
      </p:sp>
      <p:sp>
        <p:nvSpPr>
          <p:cNvPr id="144" name="矩形 143">
            <a:extLst>
              <a:ext uri="{FF2B5EF4-FFF2-40B4-BE49-F238E27FC236}">
                <a16:creationId xmlns:a16="http://schemas.microsoft.com/office/drawing/2014/main" id="{A1BC17AB-6446-4740-B42F-B68450329EEE}"/>
              </a:ext>
            </a:extLst>
          </p:cNvPr>
          <p:cNvSpPr>
            <a:spLocks noGrp="1"/>
          </p:cNvSpPr>
          <p:nvPr/>
        </p:nvSpPr>
        <p:spPr>
          <a:xfrm>
            <a:off x="8763000" y="198120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0204A"/>
                </a:solidFill>
                <a:latin typeface="黑体"/>
                <a:ea typeface="黑体"/>
                <a:cs typeface="黑体"/>
              </a:defRPr>
            </a:pPr>
            <a:r>
              <a:rPr>
                <a:latin typeface="黑体"/>
                <a:ea typeface="黑体"/>
                <a:cs typeface="黑体"/>
              </a:rPr>
              <a:t>点积</a:t>
            </a:r>
          </a:p>
        </p:txBody>
      </p:sp>
      <p:sp>
        <p:nvSpPr>
          <p:cNvPr id="145" name="矩形 144">
            <a:extLst>
              <a:ext uri="{FF2B5EF4-FFF2-40B4-BE49-F238E27FC236}">
                <a16:creationId xmlns:a16="http://schemas.microsoft.com/office/drawing/2014/main" id="{1E573BCF-A1E1-46F5-B20F-FD813C5943B7}"/>
              </a:ext>
            </a:extLst>
          </p:cNvPr>
          <p:cNvSpPr>
            <a:spLocks noGrp="1"/>
          </p:cNvSpPr>
          <p:nvPr/>
        </p:nvSpPr>
        <p:spPr>
          <a:xfrm>
            <a:off x="8763000" y="224790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3"/>
                </a:solidFill>
                <a:latin typeface="黑体"/>
                <a:ea typeface="黑体"/>
                <a:cs typeface="黑体"/>
              </a:defRPr>
            </a:pPr>
            <a:r>
              <a:rPr>
                <a:latin typeface="Times New Roman"/>
                <a:ea typeface="Times New Roman"/>
                <a:cs typeface="Times New Roman"/>
              </a:rPr>
              <a:t>3×6 + 0×0 + 4×8 = 50</a:t>
            </a:r>
          </a:p>
        </p:txBody>
      </p:sp>
      <p:sp>
        <p:nvSpPr>
          <p:cNvPr id="146" name="矩形 145">
            <a:extLst>
              <a:ext uri="{FF2B5EF4-FFF2-40B4-BE49-F238E27FC236}">
                <a16:creationId xmlns:a16="http://schemas.microsoft.com/office/drawing/2014/main" id="{82460400-DB52-4BC7-8B3A-42DD168EB855}"/>
              </a:ext>
            </a:extLst>
          </p:cNvPr>
          <p:cNvSpPr>
            <a:spLocks noGrp="1"/>
          </p:cNvSpPr>
          <p:nvPr/>
        </p:nvSpPr>
        <p:spPr>
          <a:xfrm>
            <a:off x="8305800" y="2609850"/>
            <a:ext cx="293370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47" name="矩形 146">
            <a:extLst>
              <a:ext uri="{FF2B5EF4-FFF2-40B4-BE49-F238E27FC236}">
                <a16:creationId xmlns:a16="http://schemas.microsoft.com/office/drawing/2014/main" id="{4BE2D29B-2F9B-42A3-A8CD-E6430AB79933}"/>
              </a:ext>
            </a:extLst>
          </p:cNvPr>
          <p:cNvSpPr>
            <a:spLocks noGrp="1"/>
          </p:cNvSpPr>
          <p:nvPr/>
        </p:nvSpPr>
        <p:spPr>
          <a:xfrm>
            <a:off x="8305800" y="2781300"/>
            <a:ext cx="381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02</a:t>
            </a:r>
          </a:p>
        </p:txBody>
      </p:sp>
      <p:sp>
        <p:nvSpPr>
          <p:cNvPr id="148" name="矩形 147">
            <a:extLst>
              <a:ext uri="{FF2B5EF4-FFF2-40B4-BE49-F238E27FC236}">
                <a16:creationId xmlns:a16="http://schemas.microsoft.com/office/drawing/2014/main" id="{C6E76B24-C71F-42BE-88B4-15C51B34CED1}"/>
              </a:ext>
            </a:extLst>
          </p:cNvPr>
          <p:cNvSpPr>
            <a:spLocks noGrp="1"/>
          </p:cNvSpPr>
          <p:nvPr/>
        </p:nvSpPr>
        <p:spPr>
          <a:xfrm>
            <a:off x="8763000" y="270510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0204A"/>
                </a:solidFill>
                <a:latin typeface="黑体"/>
                <a:ea typeface="黑体"/>
                <a:cs typeface="黑体"/>
              </a:defRPr>
            </a:pPr>
            <a:r>
              <a:rPr>
                <a:latin typeface="黑体"/>
                <a:ea typeface="黑体"/>
                <a:cs typeface="黑体"/>
              </a:rPr>
              <a:t>向量长度</a:t>
            </a:r>
          </a:p>
        </p:txBody>
      </p:sp>
      <p:sp>
        <p:nvSpPr>
          <p:cNvPr id="149" name="矩形 148">
            <a:extLst>
              <a:ext uri="{FF2B5EF4-FFF2-40B4-BE49-F238E27FC236}">
                <a16:creationId xmlns:a16="http://schemas.microsoft.com/office/drawing/2014/main" id="{4C087D2A-6E22-4B84-9089-E5D788EC537E}"/>
              </a:ext>
            </a:extLst>
          </p:cNvPr>
          <p:cNvSpPr>
            <a:spLocks noGrp="1"/>
          </p:cNvSpPr>
          <p:nvPr/>
        </p:nvSpPr>
        <p:spPr>
          <a:xfrm>
            <a:off x="8763000" y="297180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3"/>
                </a:solidFill>
                <a:latin typeface="黑体"/>
                <a:ea typeface="黑体"/>
                <a:cs typeface="黑体"/>
              </a:defRPr>
            </a:pPr>
            <a:r>
              <a:rPr>
                <a:latin typeface="Times New Roman"/>
                <a:ea typeface="Times New Roman"/>
                <a:cs typeface="Times New Roman"/>
              </a:rPr>
              <a:t>‖A‖ = 5，‖B‖ = 10</a:t>
            </a:r>
          </a:p>
        </p:txBody>
      </p:sp>
      <p:sp>
        <p:nvSpPr>
          <p:cNvPr id="150" name="矩形 149">
            <a:extLst>
              <a:ext uri="{FF2B5EF4-FFF2-40B4-BE49-F238E27FC236}">
                <a16:creationId xmlns:a16="http://schemas.microsoft.com/office/drawing/2014/main" id="{F0AA234A-D986-4621-8FF6-0AA214C3C789}"/>
              </a:ext>
            </a:extLst>
          </p:cNvPr>
          <p:cNvSpPr>
            <a:spLocks noGrp="1"/>
          </p:cNvSpPr>
          <p:nvPr/>
        </p:nvSpPr>
        <p:spPr>
          <a:xfrm>
            <a:off x="8305800" y="3333750"/>
            <a:ext cx="293370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51" name="矩形 150">
            <a:extLst>
              <a:ext uri="{FF2B5EF4-FFF2-40B4-BE49-F238E27FC236}">
                <a16:creationId xmlns:a16="http://schemas.microsoft.com/office/drawing/2014/main" id="{0C07601B-877E-477E-8E77-57D79E56A0FC}"/>
              </a:ext>
            </a:extLst>
          </p:cNvPr>
          <p:cNvSpPr>
            <a:spLocks noGrp="1"/>
          </p:cNvSpPr>
          <p:nvPr/>
        </p:nvSpPr>
        <p:spPr>
          <a:xfrm>
            <a:off x="8305800" y="3505200"/>
            <a:ext cx="381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03</a:t>
            </a:r>
          </a:p>
        </p:txBody>
      </p:sp>
      <p:sp>
        <p:nvSpPr>
          <p:cNvPr id="152" name="矩形 151">
            <a:extLst>
              <a:ext uri="{FF2B5EF4-FFF2-40B4-BE49-F238E27FC236}">
                <a16:creationId xmlns:a16="http://schemas.microsoft.com/office/drawing/2014/main" id="{E85EE1CF-ADEB-47C8-B0FE-E9903F91CC86}"/>
              </a:ext>
            </a:extLst>
          </p:cNvPr>
          <p:cNvSpPr>
            <a:spLocks noGrp="1"/>
          </p:cNvSpPr>
          <p:nvPr/>
        </p:nvSpPr>
        <p:spPr>
          <a:xfrm>
            <a:off x="8763000" y="342900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0204A"/>
                </a:solidFill>
                <a:latin typeface="黑体"/>
                <a:ea typeface="黑体"/>
                <a:cs typeface="黑体"/>
              </a:defRPr>
            </a:pPr>
            <a:r>
              <a:rPr>
                <a:latin typeface="黑体"/>
                <a:ea typeface="黑体"/>
                <a:cs typeface="黑体"/>
              </a:rPr>
              <a:t>余弦相似度</a:t>
            </a:r>
          </a:p>
        </p:txBody>
      </p:sp>
      <p:sp>
        <p:nvSpPr>
          <p:cNvPr id="153" name="矩形 152">
            <a:extLst>
              <a:ext uri="{FF2B5EF4-FFF2-40B4-BE49-F238E27FC236}">
                <a16:creationId xmlns:a16="http://schemas.microsoft.com/office/drawing/2014/main" id="{7CFC6389-979C-471D-B7F5-B32348DC5A3F}"/>
              </a:ext>
            </a:extLst>
          </p:cNvPr>
          <p:cNvSpPr>
            <a:spLocks noGrp="1"/>
          </p:cNvSpPr>
          <p:nvPr/>
        </p:nvSpPr>
        <p:spPr>
          <a:xfrm>
            <a:off x="8763000" y="369570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3"/>
                </a:solidFill>
                <a:latin typeface="黑体"/>
                <a:ea typeface="黑体"/>
                <a:cs typeface="黑体"/>
              </a:defRPr>
            </a:pPr>
            <a:r>
              <a:rPr>
                <a:latin typeface="Times New Roman"/>
                <a:ea typeface="Times New Roman"/>
                <a:cs typeface="Times New Roman"/>
              </a:rPr>
              <a:t>50 / (5×10) = 1.00</a:t>
            </a:r>
          </a:p>
        </p:txBody>
      </p:sp>
      <p:sp>
        <p:nvSpPr>
          <p:cNvPr id="154" name="矩形 153">
            <a:extLst>
              <a:ext uri="{FF2B5EF4-FFF2-40B4-BE49-F238E27FC236}">
                <a16:creationId xmlns:a16="http://schemas.microsoft.com/office/drawing/2014/main" id="{AB2ACE04-9F55-4540-9678-739C4C0F9060}"/>
              </a:ext>
            </a:extLst>
          </p:cNvPr>
          <p:cNvSpPr>
            <a:spLocks noGrp="1"/>
          </p:cNvSpPr>
          <p:nvPr/>
        </p:nvSpPr>
        <p:spPr>
          <a:xfrm>
            <a:off x="8324850" y="4210050"/>
            <a:ext cx="3048000" cy="400050"/>
          </a:xfrm>
          <a:prstGeom prst="rect">
            <a:avLst/>
          </a:prstGeom>
          <a:solidFill>
            <a:srgbClr val="EAF5EF"/>
          </a:solidFill>
          <a:ln w="9525">
            <a:solidFill>
              <a:srgbClr val="A8C6B4"/>
            </a:solidFill>
            <a:prstDash val="solid"/>
          </a:ln>
        </p:spPr>
        <p:txBody>
          <a:bodyPr/>
          <a:lstStyle/>
          <a:p>
            <a:endParaRPr lang="zh-CN" altLang="en-US"/>
          </a:p>
        </p:txBody>
      </p:sp>
      <p:sp>
        <p:nvSpPr>
          <p:cNvPr id="155" name="矩形 154">
            <a:extLst>
              <a:ext uri="{FF2B5EF4-FFF2-40B4-BE49-F238E27FC236}">
                <a16:creationId xmlns:a16="http://schemas.microsoft.com/office/drawing/2014/main" id="{208D8606-5FC8-46B0-862A-B04B16FD907E}"/>
              </a:ext>
            </a:extLst>
          </p:cNvPr>
          <p:cNvSpPr>
            <a:spLocks noGrp="1"/>
          </p:cNvSpPr>
          <p:nvPr/>
        </p:nvSpPr>
        <p:spPr>
          <a:xfrm>
            <a:off x="8458200" y="4314825"/>
            <a:ext cx="2781300" cy="190500"/>
          </a:xfrm>
          <a:prstGeom prst="rect">
            <a:avLst/>
          </a:prstGeom>
          <a:solidFill>
            <a:srgbClr val="EAF5EF"/>
          </a:solidFill>
          <a:ln w="0">
            <a:solidFill>
              <a:srgbClr val="000000">
                <a:alpha val="0"/>
              </a:srgbClr>
            </a:solidFill>
            <a:prstDash val="solid"/>
          </a:ln>
        </p:spPr>
        <p:txBody>
          <a:bodyPr lIns="0" tIns="0" rIns="0" bIns="0" anchor="t"/>
          <a:lstStyle/>
          <a:p>
            <a:pPr algn="ctr">
              <a:defRPr sz="1050" b="1">
                <a:solidFill>
                  <a:srgbClr val="2F7A5D"/>
                </a:solidFill>
                <a:latin typeface="黑体"/>
                <a:ea typeface="黑体"/>
                <a:cs typeface="黑体"/>
              </a:defRPr>
            </a:pPr>
            <a:r>
              <a:rPr>
                <a:latin typeface="Times New Roman"/>
                <a:ea typeface="Times New Roman"/>
                <a:cs typeface="Times New Roman"/>
              </a:rPr>
              <a:t>Cosine = 1.00  →  </a:t>
            </a:r>
            <a:r>
              <a:rPr>
                <a:latin typeface="黑体"/>
                <a:ea typeface="黑体"/>
                <a:cs typeface="黑体"/>
              </a:rPr>
              <a:t>组成模式相同</a:t>
            </a:r>
          </a:p>
        </p:txBody>
      </p:sp>
      <p:sp>
        <p:nvSpPr>
          <p:cNvPr id="156" name="矩形 155">
            <a:extLst>
              <a:ext uri="{FF2B5EF4-FFF2-40B4-BE49-F238E27FC236}">
                <a16:creationId xmlns:a16="http://schemas.microsoft.com/office/drawing/2014/main" id="{B36BA990-FE7C-4358-A0AE-591D4AF20447}"/>
              </a:ext>
            </a:extLst>
          </p:cNvPr>
          <p:cNvSpPr>
            <a:spLocks noGrp="1"/>
          </p:cNvSpPr>
          <p:nvPr/>
        </p:nvSpPr>
        <p:spPr>
          <a:xfrm>
            <a:off x="8324850" y="4705350"/>
            <a:ext cx="3048000" cy="400050"/>
          </a:xfrm>
          <a:prstGeom prst="rect">
            <a:avLst/>
          </a:prstGeom>
          <a:solidFill>
            <a:srgbClr val="FFF2F2"/>
          </a:solidFill>
          <a:ln w="9525">
            <a:solidFill>
              <a:srgbClr val="D8B8B8"/>
            </a:solidFill>
            <a:prstDash val="solid"/>
          </a:ln>
        </p:spPr>
        <p:txBody>
          <a:bodyPr/>
          <a:lstStyle/>
          <a:p>
            <a:endParaRPr lang="zh-CN" altLang="en-US"/>
          </a:p>
        </p:txBody>
      </p:sp>
      <p:sp>
        <p:nvSpPr>
          <p:cNvPr id="157" name="矩形 156">
            <a:extLst>
              <a:ext uri="{FF2B5EF4-FFF2-40B4-BE49-F238E27FC236}">
                <a16:creationId xmlns:a16="http://schemas.microsoft.com/office/drawing/2014/main" id="{EB9E5D0C-5906-4F10-879A-D4194999233D}"/>
              </a:ext>
            </a:extLst>
          </p:cNvPr>
          <p:cNvSpPr>
            <a:spLocks noGrp="1"/>
          </p:cNvSpPr>
          <p:nvPr/>
        </p:nvSpPr>
        <p:spPr>
          <a:xfrm>
            <a:off x="8458200" y="4810125"/>
            <a:ext cx="2781300" cy="190500"/>
          </a:xfrm>
          <a:prstGeom prst="rect">
            <a:avLst/>
          </a:prstGeom>
          <a:solidFill>
            <a:srgbClr val="FFF2F2"/>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Times New Roman"/>
                <a:ea typeface="Times New Roman"/>
                <a:cs typeface="Times New Roman"/>
              </a:rPr>
              <a:t>Euclidean = 5.00  →  </a:t>
            </a:r>
            <a:r>
              <a:rPr>
                <a:latin typeface="黑体"/>
                <a:ea typeface="黑体"/>
                <a:cs typeface="黑体"/>
              </a:rPr>
              <a:t>绝对总量不同</a:t>
            </a:r>
          </a:p>
        </p:txBody>
      </p:sp>
      <p:sp>
        <p:nvSpPr>
          <p:cNvPr id="158" name="矩形 157">
            <a:extLst>
              <a:ext uri="{FF2B5EF4-FFF2-40B4-BE49-F238E27FC236}">
                <a16:creationId xmlns:a16="http://schemas.microsoft.com/office/drawing/2014/main" id="{2DD592B6-421E-483C-9FF1-B25C820AD1E4}"/>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159" name="矩形 158">
            <a:extLst>
              <a:ext uri="{FF2B5EF4-FFF2-40B4-BE49-F238E27FC236}">
                <a16:creationId xmlns:a16="http://schemas.microsoft.com/office/drawing/2014/main" id="{3A09120C-D1A6-4DEC-8D98-1BA171B3A0D2}"/>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Cosine </a:t>
            </a:r>
            <a:r>
              <a:rPr>
                <a:latin typeface="黑体"/>
                <a:ea typeface="黑体"/>
                <a:cs typeface="黑体"/>
              </a:rPr>
              <a:t>比较组成方向；</a:t>
            </a:r>
            <a:r>
              <a:rPr>
                <a:latin typeface="Times New Roman"/>
                <a:ea typeface="Times New Roman"/>
                <a:cs typeface="Times New Roman"/>
              </a:rPr>
              <a:t>Euclidean distance </a:t>
            </a:r>
            <a:r>
              <a:rPr>
                <a:latin typeface="黑体"/>
                <a:ea typeface="黑体"/>
                <a:cs typeface="黑体"/>
              </a:rPr>
              <a:t>比较绝对差异。</a:t>
            </a:r>
          </a:p>
        </p:txBody>
      </p:sp>
    </p:spTree>
    <p:extLst>
      <p:ext uri="{BB962C8B-B14F-4D97-AF65-F5344CB8AC3E}">
        <p14:creationId xmlns:p14="http://schemas.microsoft.com/office/powerpoint/2010/main" val="74477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3687578F-8024-4CEE-9417-9696A549E05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1DB0F950-CCBD-4662-8952-CC369C655794}"/>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95179AA4-F9FB-40D4-868C-0B6C66E49056}"/>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669166E-2092-44E7-9319-4CB315F9D82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Jaccard similarity </a:t>
            </a:r>
            <a:r>
              <a:rPr>
                <a:latin typeface="黑体"/>
                <a:ea typeface="黑体"/>
                <a:cs typeface="黑体"/>
              </a:rPr>
              <a:t>适合非对称二元数据</a:t>
            </a:r>
          </a:p>
        </p:txBody>
      </p:sp>
      <p:sp>
        <p:nvSpPr>
          <p:cNvPr id="5" name="矩形 4">
            <a:extLst>
              <a:ext uri="{FF2B5EF4-FFF2-40B4-BE49-F238E27FC236}">
                <a16:creationId xmlns:a16="http://schemas.microsoft.com/office/drawing/2014/main" id="{E513125A-3F88-4096-A1DD-5DEAD914BC04}"/>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74/90</a:t>
            </a:r>
          </a:p>
        </p:txBody>
      </p:sp>
      <p:sp>
        <p:nvSpPr>
          <p:cNvPr id="6" name="矩形 5">
            <a:extLst>
              <a:ext uri="{FF2B5EF4-FFF2-40B4-BE49-F238E27FC236}">
                <a16:creationId xmlns:a16="http://schemas.microsoft.com/office/drawing/2014/main" id="{9721FDF4-A84F-4C33-8EED-A1E98BBFCB02}"/>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B551A499-FA7D-42C4-BF36-7AAE90A73BEA}"/>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J(A, B) = |A ∩ B| / |A ∪ B| = 2 / 4 = 0.50</a:t>
            </a:r>
          </a:p>
        </p:txBody>
      </p:sp>
      <p:sp>
        <p:nvSpPr>
          <p:cNvPr id="8" name="矩形 7">
            <a:extLst>
              <a:ext uri="{FF2B5EF4-FFF2-40B4-BE49-F238E27FC236}">
                <a16:creationId xmlns:a16="http://schemas.microsoft.com/office/drawing/2014/main" id="{A0587D62-A580-44BE-865A-2EF2E8C54C8D}"/>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BE90D6A5-170E-465D-B571-C1ED49FC5A2E}"/>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只关心至少一个对象出现过的项目</a:t>
            </a:r>
          </a:p>
        </p:txBody>
      </p:sp>
      <p:sp>
        <p:nvSpPr>
          <p:cNvPr id="10" name="矩形 9">
            <a:extLst>
              <a:ext uri="{FF2B5EF4-FFF2-40B4-BE49-F238E27FC236}">
                <a16:creationId xmlns:a16="http://schemas.microsoft.com/office/drawing/2014/main" id="{24EB83A9-AA71-4E3D-AF7B-523AC0460B28}"/>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5E7B2A8A-93EB-4D19-81C6-452F80ADC775}"/>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共同为 </a:t>
            </a:r>
            <a:r>
              <a:rPr>
                <a:latin typeface="Times New Roman"/>
                <a:ea typeface="Times New Roman"/>
                <a:cs typeface="Times New Roman"/>
              </a:rPr>
              <a:t>1 </a:t>
            </a:r>
            <a:r>
              <a:rPr>
                <a:latin typeface="黑体"/>
                <a:ea typeface="黑体"/>
                <a:cs typeface="黑体"/>
              </a:rPr>
              <a:t>计入交集</a:t>
            </a:r>
          </a:p>
        </p:txBody>
      </p:sp>
      <p:sp>
        <p:nvSpPr>
          <p:cNvPr id="12" name="矩形 11">
            <a:extLst>
              <a:ext uri="{FF2B5EF4-FFF2-40B4-BE49-F238E27FC236}">
                <a16:creationId xmlns:a16="http://schemas.microsoft.com/office/drawing/2014/main" id="{3FCDBBEA-12A1-4DED-BF41-B29E6ABD6DF3}"/>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5C7CE1C7-3261-48BA-BA6D-F04890572F72}"/>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至少一个为 </a:t>
            </a:r>
            <a:r>
              <a:rPr>
                <a:latin typeface="Times New Roman"/>
                <a:ea typeface="Times New Roman"/>
                <a:cs typeface="Times New Roman"/>
              </a:rPr>
              <a:t>1 </a:t>
            </a:r>
            <a:r>
              <a:rPr>
                <a:latin typeface="黑体"/>
                <a:ea typeface="黑体"/>
                <a:cs typeface="黑体"/>
              </a:rPr>
              <a:t>计入并集</a:t>
            </a:r>
          </a:p>
        </p:txBody>
      </p:sp>
      <p:sp>
        <p:nvSpPr>
          <p:cNvPr id="14" name="矩形 13">
            <a:extLst>
              <a:ext uri="{FF2B5EF4-FFF2-40B4-BE49-F238E27FC236}">
                <a16:creationId xmlns:a16="http://schemas.microsoft.com/office/drawing/2014/main" id="{88938430-68FE-4C15-877D-DD3CB3FAE890}"/>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A0AD635E-0268-4E49-B2C4-3D82464A8AD4}"/>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共同为 </a:t>
            </a:r>
            <a:r>
              <a:rPr>
                <a:latin typeface="Times New Roman"/>
                <a:ea typeface="Times New Roman"/>
                <a:cs typeface="Times New Roman"/>
              </a:rPr>
              <a:t>0 </a:t>
            </a:r>
            <a:r>
              <a:rPr>
                <a:latin typeface="黑体"/>
                <a:ea typeface="黑体"/>
                <a:cs typeface="黑体"/>
              </a:rPr>
              <a:t>不增加相似度</a:t>
            </a:r>
          </a:p>
        </p:txBody>
      </p:sp>
      <p:sp>
        <p:nvSpPr>
          <p:cNvPr id="16" name="矩形 15">
            <a:extLst>
              <a:ext uri="{FF2B5EF4-FFF2-40B4-BE49-F238E27FC236}">
                <a16:creationId xmlns:a16="http://schemas.microsoft.com/office/drawing/2014/main" id="{2BBB2375-FDDE-4C4B-9574-27D3005C7211}"/>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7B07B7CF-38E9-456C-9DE8-559DE7FF4958}"/>
              </a:ext>
            </a:extLst>
          </p:cNvPr>
          <p:cNvSpPr>
            <a:spLocks noGrp="1"/>
          </p:cNvSpPr>
          <p:nvPr/>
        </p:nvSpPr>
        <p:spPr>
          <a:xfrm>
            <a:off x="6305550" y="1485900"/>
            <a:ext cx="4724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交集 </a:t>
            </a:r>
            <a:r>
              <a:rPr>
                <a:latin typeface="Times New Roman"/>
                <a:ea typeface="Times New Roman"/>
                <a:cs typeface="Times New Roman"/>
              </a:rPr>
              <a:t>÷ </a:t>
            </a:r>
            <a:r>
              <a:rPr>
                <a:latin typeface="黑体"/>
                <a:ea typeface="黑体"/>
                <a:cs typeface="黑体"/>
              </a:rPr>
              <a:t>并集</a:t>
            </a:r>
          </a:p>
        </p:txBody>
      </p:sp>
      <p:sp>
        <p:nvSpPr>
          <p:cNvPr id="18" name="椭圆 17">
            <a:extLst>
              <a:ext uri="{FF2B5EF4-FFF2-40B4-BE49-F238E27FC236}">
                <a16:creationId xmlns:a16="http://schemas.microsoft.com/office/drawing/2014/main" id="{0B79FC9C-103C-4D98-8773-E4292C2D4BC6}"/>
              </a:ext>
            </a:extLst>
          </p:cNvPr>
          <p:cNvSpPr>
            <a:spLocks noGrp="1"/>
          </p:cNvSpPr>
          <p:nvPr/>
        </p:nvSpPr>
        <p:spPr>
          <a:xfrm>
            <a:off x="6877050" y="2133600"/>
            <a:ext cx="2571750" cy="2190750"/>
          </a:xfrm>
          <a:prstGeom prst="ellipse">
            <a:avLst/>
          </a:prstGeom>
          <a:solidFill>
            <a:srgbClr val="4F8CC9">
              <a:alpha val="33333"/>
            </a:srgbClr>
          </a:solidFill>
          <a:ln w="19050">
            <a:solidFill>
              <a:srgbClr val="014DA1"/>
            </a:solidFill>
            <a:prstDash val="solid"/>
          </a:ln>
        </p:spPr>
        <p:txBody>
          <a:bodyPr/>
          <a:lstStyle/>
          <a:p>
            <a:endParaRPr lang="zh-CN" altLang="en-US"/>
          </a:p>
        </p:txBody>
      </p:sp>
      <p:sp>
        <p:nvSpPr>
          <p:cNvPr id="19" name="椭圆 18">
            <a:extLst>
              <a:ext uri="{FF2B5EF4-FFF2-40B4-BE49-F238E27FC236}">
                <a16:creationId xmlns:a16="http://schemas.microsoft.com/office/drawing/2014/main" id="{51B25341-3046-49F9-862C-82A70009E847}"/>
              </a:ext>
            </a:extLst>
          </p:cNvPr>
          <p:cNvSpPr>
            <a:spLocks noGrp="1"/>
          </p:cNvSpPr>
          <p:nvPr/>
        </p:nvSpPr>
        <p:spPr>
          <a:xfrm>
            <a:off x="8248650" y="2133600"/>
            <a:ext cx="2571750" cy="2190750"/>
          </a:xfrm>
          <a:prstGeom prst="ellipse">
            <a:avLst/>
          </a:prstGeom>
          <a:solidFill>
            <a:srgbClr val="D6AE4F">
              <a:alpha val="33333"/>
            </a:srgbClr>
          </a:solidFill>
          <a:ln w="19050">
            <a:solidFill>
              <a:srgbClr val="B4964B"/>
            </a:solidFill>
            <a:prstDash val="solid"/>
          </a:ln>
        </p:spPr>
        <p:txBody>
          <a:bodyPr/>
          <a:lstStyle/>
          <a:p>
            <a:endParaRPr lang="zh-CN" altLang="en-US"/>
          </a:p>
        </p:txBody>
      </p:sp>
      <p:sp>
        <p:nvSpPr>
          <p:cNvPr id="20" name="矩形 19">
            <a:extLst>
              <a:ext uri="{FF2B5EF4-FFF2-40B4-BE49-F238E27FC236}">
                <a16:creationId xmlns:a16="http://schemas.microsoft.com/office/drawing/2014/main" id="{57C3976C-CDD0-4096-A9C6-36E72ED81F8E}"/>
              </a:ext>
            </a:extLst>
          </p:cNvPr>
          <p:cNvSpPr>
            <a:spLocks noGrp="1"/>
          </p:cNvSpPr>
          <p:nvPr/>
        </p:nvSpPr>
        <p:spPr>
          <a:xfrm>
            <a:off x="7143750" y="2266950"/>
            <a:ext cx="381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014DA1"/>
                </a:solidFill>
                <a:latin typeface="黑体"/>
                <a:ea typeface="黑体"/>
                <a:cs typeface="黑体"/>
              </a:defRPr>
            </a:pPr>
            <a:r>
              <a:rPr>
                <a:latin typeface="Times New Roman"/>
                <a:ea typeface="Times New Roman"/>
                <a:cs typeface="Times New Roman"/>
              </a:rPr>
              <a:t>A</a:t>
            </a:r>
          </a:p>
        </p:txBody>
      </p:sp>
      <p:sp>
        <p:nvSpPr>
          <p:cNvPr id="21" name="矩形 20">
            <a:extLst>
              <a:ext uri="{FF2B5EF4-FFF2-40B4-BE49-F238E27FC236}">
                <a16:creationId xmlns:a16="http://schemas.microsoft.com/office/drawing/2014/main" id="{99CFE475-1060-4B68-82D5-CAE95356815B}"/>
              </a:ext>
            </a:extLst>
          </p:cNvPr>
          <p:cNvSpPr>
            <a:spLocks noGrp="1"/>
          </p:cNvSpPr>
          <p:nvPr/>
        </p:nvSpPr>
        <p:spPr>
          <a:xfrm>
            <a:off x="10267950" y="2266950"/>
            <a:ext cx="381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B4964B"/>
                </a:solidFill>
                <a:latin typeface="黑体"/>
                <a:ea typeface="黑体"/>
                <a:cs typeface="黑体"/>
              </a:defRPr>
            </a:pPr>
            <a:r>
              <a:rPr>
                <a:latin typeface="Times New Roman"/>
                <a:ea typeface="Times New Roman"/>
                <a:cs typeface="Times New Roman"/>
              </a:rPr>
              <a:t>B</a:t>
            </a:r>
          </a:p>
        </p:txBody>
      </p:sp>
      <p:sp>
        <p:nvSpPr>
          <p:cNvPr id="22" name="矩形 21">
            <a:extLst>
              <a:ext uri="{FF2B5EF4-FFF2-40B4-BE49-F238E27FC236}">
                <a16:creationId xmlns:a16="http://schemas.microsoft.com/office/drawing/2014/main" id="{66C19319-56C6-424B-B5BC-CB45EE9C2365}"/>
              </a:ext>
            </a:extLst>
          </p:cNvPr>
          <p:cNvSpPr>
            <a:spLocks noGrp="1"/>
          </p:cNvSpPr>
          <p:nvPr/>
        </p:nvSpPr>
        <p:spPr>
          <a:xfrm>
            <a:off x="7353300" y="3105150"/>
            <a:ext cx="742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Times New Roman"/>
                <a:ea typeface="Times New Roman"/>
                <a:cs typeface="Times New Roman"/>
              </a:rPr>
              <a:t>{1}</a:t>
            </a:r>
          </a:p>
        </p:txBody>
      </p:sp>
      <p:sp>
        <p:nvSpPr>
          <p:cNvPr id="23" name="矩形 22">
            <a:extLst>
              <a:ext uri="{FF2B5EF4-FFF2-40B4-BE49-F238E27FC236}">
                <a16:creationId xmlns:a16="http://schemas.microsoft.com/office/drawing/2014/main" id="{B208DB29-5D24-4B65-9E1C-0004F8CDADD7}"/>
              </a:ext>
            </a:extLst>
          </p:cNvPr>
          <p:cNvSpPr>
            <a:spLocks noGrp="1"/>
          </p:cNvSpPr>
          <p:nvPr/>
        </p:nvSpPr>
        <p:spPr>
          <a:xfrm>
            <a:off x="8401050" y="3067050"/>
            <a:ext cx="914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2F7A5D"/>
                </a:solidFill>
                <a:latin typeface="黑体"/>
                <a:ea typeface="黑体"/>
                <a:cs typeface="黑体"/>
              </a:defRPr>
            </a:pPr>
            <a:r>
              <a:rPr>
                <a:latin typeface="Times New Roman"/>
                <a:ea typeface="Times New Roman"/>
                <a:cs typeface="Times New Roman"/>
              </a:rPr>
              <a:t>{2, 4}</a:t>
            </a:r>
          </a:p>
        </p:txBody>
      </p:sp>
      <p:sp>
        <p:nvSpPr>
          <p:cNvPr id="24" name="矩形 23">
            <a:extLst>
              <a:ext uri="{FF2B5EF4-FFF2-40B4-BE49-F238E27FC236}">
                <a16:creationId xmlns:a16="http://schemas.microsoft.com/office/drawing/2014/main" id="{7B8F7517-5E55-4FF0-B318-B454C58BEA51}"/>
              </a:ext>
            </a:extLst>
          </p:cNvPr>
          <p:cNvSpPr>
            <a:spLocks noGrp="1"/>
          </p:cNvSpPr>
          <p:nvPr/>
        </p:nvSpPr>
        <p:spPr>
          <a:xfrm>
            <a:off x="9791700" y="3105150"/>
            <a:ext cx="742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Times New Roman"/>
                <a:ea typeface="Times New Roman"/>
                <a:cs typeface="Times New Roman"/>
              </a:rPr>
              <a:t>{5}</a:t>
            </a:r>
          </a:p>
        </p:txBody>
      </p:sp>
      <p:sp>
        <p:nvSpPr>
          <p:cNvPr id="25" name="矩形 24">
            <a:extLst>
              <a:ext uri="{FF2B5EF4-FFF2-40B4-BE49-F238E27FC236}">
                <a16:creationId xmlns:a16="http://schemas.microsoft.com/office/drawing/2014/main" id="{FD79F76E-3F31-4BD1-ADEC-89C57E0B6154}"/>
              </a:ext>
            </a:extLst>
          </p:cNvPr>
          <p:cNvSpPr>
            <a:spLocks noGrp="1"/>
          </p:cNvSpPr>
          <p:nvPr/>
        </p:nvSpPr>
        <p:spPr>
          <a:xfrm>
            <a:off x="8153400" y="4457700"/>
            <a:ext cx="133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2F7A5D"/>
                </a:solidFill>
                <a:latin typeface="黑体"/>
                <a:ea typeface="黑体"/>
                <a:cs typeface="黑体"/>
              </a:defRPr>
            </a:pPr>
            <a:r>
              <a:rPr>
                <a:latin typeface="黑体"/>
                <a:ea typeface="黑体"/>
                <a:cs typeface="黑体"/>
              </a:rPr>
              <a:t>交集 </a:t>
            </a:r>
            <a:r>
              <a:rPr>
                <a:latin typeface="Times New Roman"/>
                <a:ea typeface="Times New Roman"/>
                <a:cs typeface="Times New Roman"/>
              </a:rPr>
              <a:t>= 2</a:t>
            </a:r>
          </a:p>
        </p:txBody>
      </p:sp>
      <p:sp>
        <p:nvSpPr>
          <p:cNvPr id="26" name="矩形 25">
            <a:extLst>
              <a:ext uri="{FF2B5EF4-FFF2-40B4-BE49-F238E27FC236}">
                <a16:creationId xmlns:a16="http://schemas.microsoft.com/office/drawing/2014/main" id="{A7DCB1C2-8014-4615-89FC-7F6E6F771D40}"/>
              </a:ext>
            </a:extLst>
          </p:cNvPr>
          <p:cNvSpPr>
            <a:spLocks noGrp="1"/>
          </p:cNvSpPr>
          <p:nvPr/>
        </p:nvSpPr>
        <p:spPr>
          <a:xfrm>
            <a:off x="9639300" y="4457700"/>
            <a:ext cx="1333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并集 </a:t>
            </a:r>
            <a:r>
              <a:rPr>
                <a:latin typeface="Times New Roman"/>
                <a:ea typeface="Times New Roman"/>
                <a:cs typeface="Times New Roman"/>
              </a:rPr>
              <a:t>= 4</a:t>
            </a:r>
          </a:p>
        </p:txBody>
      </p:sp>
      <p:sp>
        <p:nvSpPr>
          <p:cNvPr id="27" name="矩形 26">
            <a:extLst>
              <a:ext uri="{FF2B5EF4-FFF2-40B4-BE49-F238E27FC236}">
                <a16:creationId xmlns:a16="http://schemas.microsoft.com/office/drawing/2014/main" id="{BAA96242-A4AC-4FB8-8261-6912ED19BFCF}"/>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28" name="矩形 27">
            <a:extLst>
              <a:ext uri="{FF2B5EF4-FFF2-40B4-BE49-F238E27FC236}">
                <a16:creationId xmlns:a16="http://schemas.microsoft.com/office/drawing/2014/main" id="{5D7B906F-EDD7-4EBC-AE31-59FA3EF5E31A}"/>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Jaccard </a:t>
            </a:r>
            <a:r>
              <a:rPr>
                <a:latin typeface="黑体"/>
                <a:ea typeface="黑体"/>
                <a:cs typeface="黑体"/>
              </a:rPr>
              <a:t>强调共同出现，而不把共同缺席当作相似。</a:t>
            </a:r>
          </a:p>
        </p:txBody>
      </p:sp>
    </p:spTree>
    <p:extLst>
      <p:ext uri="{BB962C8B-B14F-4D97-AF65-F5344CB8AC3E}">
        <p14:creationId xmlns:p14="http://schemas.microsoft.com/office/powerpoint/2010/main" val="20030777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51C00C12-130C-449E-9A40-1B72E312E5B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9C9B720E-64A9-4363-AEE7-47E4B700BCB0}"/>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12C33C8-B841-4597-BD5A-BB066FC9AFB4}"/>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67AF5E9C-373A-4B02-BB2F-C1936299FABC}"/>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怎样选择相似度或距离</a:t>
            </a:r>
          </a:p>
        </p:txBody>
      </p:sp>
      <p:sp>
        <p:nvSpPr>
          <p:cNvPr id="5" name="矩形 4">
            <a:extLst>
              <a:ext uri="{FF2B5EF4-FFF2-40B4-BE49-F238E27FC236}">
                <a16:creationId xmlns:a16="http://schemas.microsoft.com/office/drawing/2014/main" id="{E67111C6-50D6-4708-93E8-18639425518F}"/>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75/90</a:t>
            </a:r>
          </a:p>
        </p:txBody>
      </p:sp>
      <p:sp>
        <p:nvSpPr>
          <p:cNvPr id="6" name="矩形 5">
            <a:extLst>
              <a:ext uri="{FF2B5EF4-FFF2-40B4-BE49-F238E27FC236}">
                <a16:creationId xmlns:a16="http://schemas.microsoft.com/office/drawing/2014/main" id="{476EE9C4-05F4-4935-BF9B-29A8EEC0718C}"/>
              </a:ext>
            </a:extLst>
          </p:cNvPr>
          <p:cNvSpPr>
            <a:spLocks noGrp="1"/>
          </p:cNvSpPr>
          <p:nvPr/>
        </p:nvSpPr>
        <p:spPr>
          <a:xfrm>
            <a:off x="666750" y="11620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70D83BC6-A0D2-45C5-8AC1-64CE4D3E93D9}"/>
              </a:ext>
            </a:extLst>
          </p:cNvPr>
          <p:cNvSpPr>
            <a:spLocks noGrp="1"/>
          </p:cNvSpPr>
          <p:nvPr/>
        </p:nvSpPr>
        <p:spPr>
          <a:xfrm>
            <a:off x="819150" y="12954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数据 </a:t>
            </a:r>
            <a:r>
              <a:rPr>
                <a:latin typeface="Times New Roman"/>
                <a:ea typeface="Times New Roman"/>
                <a:cs typeface="Times New Roman"/>
              </a:rPr>
              <a:t>/ </a:t>
            </a:r>
            <a:r>
              <a:rPr>
                <a:latin typeface="黑体"/>
                <a:ea typeface="黑体"/>
                <a:cs typeface="黑体"/>
              </a:rPr>
              <a:t>目的</a:t>
            </a:r>
          </a:p>
        </p:txBody>
      </p:sp>
      <p:sp>
        <p:nvSpPr>
          <p:cNvPr id="8" name="矩形 7">
            <a:extLst>
              <a:ext uri="{FF2B5EF4-FFF2-40B4-BE49-F238E27FC236}">
                <a16:creationId xmlns:a16="http://schemas.microsoft.com/office/drawing/2014/main" id="{38A58D42-B566-430B-8CBB-609A70C4B06D}"/>
              </a:ext>
            </a:extLst>
          </p:cNvPr>
          <p:cNvSpPr>
            <a:spLocks noGrp="1"/>
          </p:cNvSpPr>
          <p:nvPr/>
        </p:nvSpPr>
        <p:spPr>
          <a:xfrm>
            <a:off x="3048000" y="11620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92825E84-70E4-4B76-B3E7-718AE005C90C}"/>
              </a:ext>
            </a:extLst>
          </p:cNvPr>
          <p:cNvSpPr>
            <a:spLocks noGrp="1"/>
          </p:cNvSpPr>
          <p:nvPr/>
        </p:nvSpPr>
        <p:spPr>
          <a:xfrm>
            <a:off x="3200400" y="12954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优先考虑</a:t>
            </a:r>
          </a:p>
        </p:txBody>
      </p:sp>
      <p:sp>
        <p:nvSpPr>
          <p:cNvPr id="10" name="矩形 9">
            <a:extLst>
              <a:ext uri="{FF2B5EF4-FFF2-40B4-BE49-F238E27FC236}">
                <a16:creationId xmlns:a16="http://schemas.microsoft.com/office/drawing/2014/main" id="{E2D5E6D9-1BF3-457B-8E56-BB44454B9735}"/>
              </a:ext>
            </a:extLst>
          </p:cNvPr>
          <p:cNvSpPr>
            <a:spLocks noGrp="1"/>
          </p:cNvSpPr>
          <p:nvPr/>
        </p:nvSpPr>
        <p:spPr>
          <a:xfrm>
            <a:off x="5619750" y="11620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22D4BB2E-4106-4967-83F8-63510E557068}"/>
              </a:ext>
            </a:extLst>
          </p:cNvPr>
          <p:cNvSpPr>
            <a:spLocks noGrp="1"/>
          </p:cNvSpPr>
          <p:nvPr/>
        </p:nvSpPr>
        <p:spPr>
          <a:xfrm>
            <a:off x="5772150" y="12954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原因</a:t>
            </a:r>
          </a:p>
        </p:txBody>
      </p:sp>
      <p:sp>
        <p:nvSpPr>
          <p:cNvPr id="12" name="矩形 11">
            <a:extLst>
              <a:ext uri="{FF2B5EF4-FFF2-40B4-BE49-F238E27FC236}">
                <a16:creationId xmlns:a16="http://schemas.microsoft.com/office/drawing/2014/main" id="{E944DD30-6F89-4292-A299-D53D7C1AB173}"/>
              </a:ext>
            </a:extLst>
          </p:cNvPr>
          <p:cNvSpPr>
            <a:spLocks noGrp="1"/>
          </p:cNvSpPr>
          <p:nvPr/>
        </p:nvSpPr>
        <p:spPr>
          <a:xfrm>
            <a:off x="666750" y="17907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57AE7AA9-8F21-40E0-AD67-05A8750CB64D}"/>
              </a:ext>
            </a:extLst>
          </p:cNvPr>
          <p:cNvSpPr>
            <a:spLocks noGrp="1"/>
          </p:cNvSpPr>
          <p:nvPr/>
        </p:nvSpPr>
        <p:spPr>
          <a:xfrm>
            <a:off x="819150" y="19240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连续数值、量纲可比</a:t>
            </a:r>
          </a:p>
        </p:txBody>
      </p:sp>
      <p:sp>
        <p:nvSpPr>
          <p:cNvPr id="14" name="矩形 13">
            <a:extLst>
              <a:ext uri="{FF2B5EF4-FFF2-40B4-BE49-F238E27FC236}">
                <a16:creationId xmlns:a16="http://schemas.microsoft.com/office/drawing/2014/main" id="{30731019-BF88-482D-9B4E-22483881A814}"/>
              </a:ext>
            </a:extLst>
          </p:cNvPr>
          <p:cNvSpPr>
            <a:spLocks noGrp="1"/>
          </p:cNvSpPr>
          <p:nvPr/>
        </p:nvSpPr>
        <p:spPr>
          <a:xfrm>
            <a:off x="3048000" y="17907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65D8C9DF-3AE0-4FFA-8F28-A3BB45A4C793}"/>
              </a:ext>
            </a:extLst>
          </p:cNvPr>
          <p:cNvSpPr>
            <a:spLocks noGrp="1"/>
          </p:cNvSpPr>
          <p:nvPr/>
        </p:nvSpPr>
        <p:spPr>
          <a:xfrm>
            <a:off x="3200400" y="19240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Euclidean</a:t>
            </a:r>
          </a:p>
        </p:txBody>
      </p:sp>
      <p:sp>
        <p:nvSpPr>
          <p:cNvPr id="16" name="矩形 15">
            <a:extLst>
              <a:ext uri="{FF2B5EF4-FFF2-40B4-BE49-F238E27FC236}">
                <a16:creationId xmlns:a16="http://schemas.microsoft.com/office/drawing/2014/main" id="{5F13B8FA-EE1F-4544-88B9-BDB3E08BCC56}"/>
              </a:ext>
            </a:extLst>
          </p:cNvPr>
          <p:cNvSpPr>
            <a:spLocks noGrp="1"/>
          </p:cNvSpPr>
          <p:nvPr/>
        </p:nvSpPr>
        <p:spPr>
          <a:xfrm>
            <a:off x="5619750" y="17907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A3C2ABE2-FE32-4B35-8BDC-4E484F69933F}"/>
              </a:ext>
            </a:extLst>
          </p:cNvPr>
          <p:cNvSpPr>
            <a:spLocks noGrp="1"/>
          </p:cNvSpPr>
          <p:nvPr/>
        </p:nvSpPr>
        <p:spPr>
          <a:xfrm>
            <a:off x="5772150" y="19240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直线距离，几何解释清楚</a:t>
            </a:r>
          </a:p>
        </p:txBody>
      </p:sp>
      <p:sp>
        <p:nvSpPr>
          <p:cNvPr id="18" name="矩形 17">
            <a:extLst>
              <a:ext uri="{FF2B5EF4-FFF2-40B4-BE49-F238E27FC236}">
                <a16:creationId xmlns:a16="http://schemas.microsoft.com/office/drawing/2014/main" id="{140AFB9B-2A40-4EBB-A32D-A8E2A82434A8}"/>
              </a:ext>
            </a:extLst>
          </p:cNvPr>
          <p:cNvSpPr>
            <a:spLocks noGrp="1"/>
          </p:cNvSpPr>
          <p:nvPr/>
        </p:nvSpPr>
        <p:spPr>
          <a:xfrm>
            <a:off x="666750" y="24193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9A23CC35-76C6-477E-9DE4-F60FDF770C81}"/>
              </a:ext>
            </a:extLst>
          </p:cNvPr>
          <p:cNvSpPr>
            <a:spLocks noGrp="1"/>
          </p:cNvSpPr>
          <p:nvPr/>
        </p:nvSpPr>
        <p:spPr>
          <a:xfrm>
            <a:off x="819150" y="25527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连续数值、希望减弱大偏差</a:t>
            </a:r>
          </a:p>
        </p:txBody>
      </p:sp>
      <p:sp>
        <p:nvSpPr>
          <p:cNvPr id="20" name="矩形 19">
            <a:extLst>
              <a:ext uri="{FF2B5EF4-FFF2-40B4-BE49-F238E27FC236}">
                <a16:creationId xmlns:a16="http://schemas.microsoft.com/office/drawing/2014/main" id="{C353A419-AB57-4470-A8EA-BE37ED129EFC}"/>
              </a:ext>
            </a:extLst>
          </p:cNvPr>
          <p:cNvSpPr>
            <a:spLocks noGrp="1"/>
          </p:cNvSpPr>
          <p:nvPr/>
        </p:nvSpPr>
        <p:spPr>
          <a:xfrm>
            <a:off x="3048000" y="24193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FE95A9A3-1413-4622-9390-706D1160FF5A}"/>
              </a:ext>
            </a:extLst>
          </p:cNvPr>
          <p:cNvSpPr>
            <a:spLocks noGrp="1"/>
          </p:cNvSpPr>
          <p:nvPr/>
        </p:nvSpPr>
        <p:spPr>
          <a:xfrm>
            <a:off x="3200400" y="25527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Manhattan</a:t>
            </a:r>
          </a:p>
        </p:txBody>
      </p:sp>
      <p:sp>
        <p:nvSpPr>
          <p:cNvPr id="22" name="矩形 21">
            <a:extLst>
              <a:ext uri="{FF2B5EF4-FFF2-40B4-BE49-F238E27FC236}">
                <a16:creationId xmlns:a16="http://schemas.microsoft.com/office/drawing/2014/main" id="{6EA41E18-60AF-4FC0-9F5F-F560E4DBB216}"/>
              </a:ext>
            </a:extLst>
          </p:cNvPr>
          <p:cNvSpPr>
            <a:spLocks noGrp="1"/>
          </p:cNvSpPr>
          <p:nvPr/>
        </p:nvSpPr>
        <p:spPr>
          <a:xfrm>
            <a:off x="5619750" y="24193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82E70D77-19D6-4B87-BF46-30F4FE9E686D}"/>
              </a:ext>
            </a:extLst>
          </p:cNvPr>
          <p:cNvSpPr>
            <a:spLocks noGrp="1"/>
          </p:cNvSpPr>
          <p:nvPr/>
        </p:nvSpPr>
        <p:spPr>
          <a:xfrm>
            <a:off x="5772150" y="25527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绝对差累加</a:t>
            </a:r>
          </a:p>
        </p:txBody>
      </p:sp>
      <p:sp>
        <p:nvSpPr>
          <p:cNvPr id="24" name="矩形 23">
            <a:extLst>
              <a:ext uri="{FF2B5EF4-FFF2-40B4-BE49-F238E27FC236}">
                <a16:creationId xmlns:a16="http://schemas.microsoft.com/office/drawing/2014/main" id="{64CC56B8-5E0F-4B30-8C02-F5F1EB88873E}"/>
              </a:ext>
            </a:extLst>
          </p:cNvPr>
          <p:cNvSpPr>
            <a:spLocks noGrp="1"/>
          </p:cNvSpPr>
          <p:nvPr/>
        </p:nvSpPr>
        <p:spPr>
          <a:xfrm>
            <a:off x="666750" y="30480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313E57BD-5BE4-49B7-ABFD-E90886F817EB}"/>
              </a:ext>
            </a:extLst>
          </p:cNvPr>
          <p:cNvSpPr>
            <a:spLocks noGrp="1"/>
          </p:cNvSpPr>
          <p:nvPr/>
        </p:nvSpPr>
        <p:spPr>
          <a:xfrm>
            <a:off x="819150" y="31813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文本词频或高维稀疏向量</a:t>
            </a:r>
          </a:p>
        </p:txBody>
      </p:sp>
      <p:sp>
        <p:nvSpPr>
          <p:cNvPr id="26" name="矩形 25">
            <a:extLst>
              <a:ext uri="{FF2B5EF4-FFF2-40B4-BE49-F238E27FC236}">
                <a16:creationId xmlns:a16="http://schemas.microsoft.com/office/drawing/2014/main" id="{7F1978CE-0B59-405D-88D2-94613124138F}"/>
              </a:ext>
            </a:extLst>
          </p:cNvPr>
          <p:cNvSpPr>
            <a:spLocks noGrp="1"/>
          </p:cNvSpPr>
          <p:nvPr/>
        </p:nvSpPr>
        <p:spPr>
          <a:xfrm>
            <a:off x="3048000" y="30480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65BA52CF-B278-4AB5-B9B3-FFD38C777258}"/>
              </a:ext>
            </a:extLst>
          </p:cNvPr>
          <p:cNvSpPr>
            <a:spLocks noGrp="1"/>
          </p:cNvSpPr>
          <p:nvPr/>
        </p:nvSpPr>
        <p:spPr>
          <a:xfrm>
            <a:off x="3200400" y="31813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Cosine</a:t>
            </a:r>
          </a:p>
        </p:txBody>
      </p:sp>
      <p:sp>
        <p:nvSpPr>
          <p:cNvPr id="28" name="矩形 27">
            <a:extLst>
              <a:ext uri="{FF2B5EF4-FFF2-40B4-BE49-F238E27FC236}">
                <a16:creationId xmlns:a16="http://schemas.microsoft.com/office/drawing/2014/main" id="{C66FD934-CE2D-4A96-8586-72C4A32479C9}"/>
              </a:ext>
            </a:extLst>
          </p:cNvPr>
          <p:cNvSpPr>
            <a:spLocks noGrp="1"/>
          </p:cNvSpPr>
          <p:nvPr/>
        </p:nvSpPr>
        <p:spPr>
          <a:xfrm>
            <a:off x="5619750" y="30480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4B313D42-E379-4F27-922A-C7B000DFD1C3}"/>
              </a:ext>
            </a:extLst>
          </p:cNvPr>
          <p:cNvSpPr>
            <a:spLocks noGrp="1"/>
          </p:cNvSpPr>
          <p:nvPr/>
        </p:nvSpPr>
        <p:spPr>
          <a:xfrm>
            <a:off x="5772150" y="31813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关注方向，不受总长度直接支配</a:t>
            </a:r>
          </a:p>
        </p:txBody>
      </p:sp>
      <p:sp>
        <p:nvSpPr>
          <p:cNvPr id="30" name="矩形 29">
            <a:extLst>
              <a:ext uri="{FF2B5EF4-FFF2-40B4-BE49-F238E27FC236}">
                <a16:creationId xmlns:a16="http://schemas.microsoft.com/office/drawing/2014/main" id="{E6A3EA1D-6671-4D32-913F-E7C93DD65688}"/>
              </a:ext>
            </a:extLst>
          </p:cNvPr>
          <p:cNvSpPr>
            <a:spLocks noGrp="1"/>
          </p:cNvSpPr>
          <p:nvPr/>
        </p:nvSpPr>
        <p:spPr>
          <a:xfrm>
            <a:off x="666750" y="367665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1" name="矩形 30">
            <a:extLst>
              <a:ext uri="{FF2B5EF4-FFF2-40B4-BE49-F238E27FC236}">
                <a16:creationId xmlns:a16="http://schemas.microsoft.com/office/drawing/2014/main" id="{4EF45E28-6572-4CB4-A79C-F979899644BB}"/>
              </a:ext>
            </a:extLst>
          </p:cNvPr>
          <p:cNvSpPr>
            <a:spLocks noGrp="1"/>
          </p:cNvSpPr>
          <p:nvPr/>
        </p:nvSpPr>
        <p:spPr>
          <a:xfrm>
            <a:off x="819150" y="381000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集合或非对称二元</a:t>
            </a:r>
          </a:p>
        </p:txBody>
      </p:sp>
      <p:sp>
        <p:nvSpPr>
          <p:cNvPr id="32" name="矩形 31">
            <a:extLst>
              <a:ext uri="{FF2B5EF4-FFF2-40B4-BE49-F238E27FC236}">
                <a16:creationId xmlns:a16="http://schemas.microsoft.com/office/drawing/2014/main" id="{10EBA8AD-8631-47DD-A7A1-50456074017E}"/>
              </a:ext>
            </a:extLst>
          </p:cNvPr>
          <p:cNvSpPr>
            <a:spLocks noGrp="1"/>
          </p:cNvSpPr>
          <p:nvPr/>
        </p:nvSpPr>
        <p:spPr>
          <a:xfrm>
            <a:off x="3048000" y="367665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3" name="矩形 32">
            <a:extLst>
              <a:ext uri="{FF2B5EF4-FFF2-40B4-BE49-F238E27FC236}">
                <a16:creationId xmlns:a16="http://schemas.microsoft.com/office/drawing/2014/main" id="{284A8726-D1F7-48E0-9BB0-7BAAFB03E88C}"/>
              </a:ext>
            </a:extLst>
          </p:cNvPr>
          <p:cNvSpPr>
            <a:spLocks noGrp="1"/>
          </p:cNvSpPr>
          <p:nvPr/>
        </p:nvSpPr>
        <p:spPr>
          <a:xfrm>
            <a:off x="3200400" y="381000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Jaccard</a:t>
            </a:r>
          </a:p>
        </p:txBody>
      </p:sp>
      <p:sp>
        <p:nvSpPr>
          <p:cNvPr id="34" name="矩形 33">
            <a:extLst>
              <a:ext uri="{FF2B5EF4-FFF2-40B4-BE49-F238E27FC236}">
                <a16:creationId xmlns:a16="http://schemas.microsoft.com/office/drawing/2014/main" id="{F1ECE21F-57B1-4605-B1A5-88D8E63C6B11}"/>
              </a:ext>
            </a:extLst>
          </p:cNvPr>
          <p:cNvSpPr>
            <a:spLocks noGrp="1"/>
          </p:cNvSpPr>
          <p:nvPr/>
        </p:nvSpPr>
        <p:spPr>
          <a:xfrm>
            <a:off x="5619750" y="367665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5" name="矩形 34">
            <a:extLst>
              <a:ext uri="{FF2B5EF4-FFF2-40B4-BE49-F238E27FC236}">
                <a16:creationId xmlns:a16="http://schemas.microsoft.com/office/drawing/2014/main" id="{B1B45D31-52C7-4C60-A763-1476807E3C56}"/>
              </a:ext>
            </a:extLst>
          </p:cNvPr>
          <p:cNvSpPr>
            <a:spLocks noGrp="1"/>
          </p:cNvSpPr>
          <p:nvPr/>
        </p:nvSpPr>
        <p:spPr>
          <a:xfrm>
            <a:off x="5772150" y="381000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忽略共同为 </a:t>
            </a:r>
            <a:r>
              <a:rPr>
                <a:latin typeface="Times New Roman"/>
                <a:ea typeface="Times New Roman"/>
                <a:cs typeface="Times New Roman"/>
              </a:rPr>
              <a:t>0</a:t>
            </a:r>
          </a:p>
        </p:txBody>
      </p:sp>
      <p:sp>
        <p:nvSpPr>
          <p:cNvPr id="36" name="矩形 35">
            <a:extLst>
              <a:ext uri="{FF2B5EF4-FFF2-40B4-BE49-F238E27FC236}">
                <a16:creationId xmlns:a16="http://schemas.microsoft.com/office/drawing/2014/main" id="{53F24FDE-7781-421D-8CE9-5D26BE8EDF8A}"/>
              </a:ext>
            </a:extLst>
          </p:cNvPr>
          <p:cNvSpPr>
            <a:spLocks noGrp="1"/>
          </p:cNvSpPr>
          <p:nvPr/>
        </p:nvSpPr>
        <p:spPr>
          <a:xfrm>
            <a:off x="666750" y="4305300"/>
            <a:ext cx="2381250" cy="59055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37" name="矩形 36">
            <a:extLst>
              <a:ext uri="{FF2B5EF4-FFF2-40B4-BE49-F238E27FC236}">
                <a16:creationId xmlns:a16="http://schemas.microsoft.com/office/drawing/2014/main" id="{F5A505EF-7C23-48D2-B678-66180B6639A5}"/>
              </a:ext>
            </a:extLst>
          </p:cNvPr>
          <p:cNvSpPr>
            <a:spLocks noGrp="1"/>
          </p:cNvSpPr>
          <p:nvPr/>
        </p:nvSpPr>
        <p:spPr>
          <a:xfrm>
            <a:off x="819150" y="4438650"/>
            <a:ext cx="2076450" cy="38100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125" b="1">
                <a:solidFill>
                  <a:srgbClr val="00204A"/>
                </a:solidFill>
                <a:latin typeface="黑体"/>
                <a:ea typeface="黑体"/>
                <a:cs typeface="黑体"/>
              </a:defRPr>
            </a:pPr>
            <a:r>
              <a:rPr>
                <a:latin typeface="黑体"/>
                <a:ea typeface="黑体"/>
                <a:cs typeface="黑体"/>
              </a:rPr>
              <a:t>混合属性</a:t>
            </a:r>
          </a:p>
        </p:txBody>
      </p:sp>
      <p:sp>
        <p:nvSpPr>
          <p:cNvPr id="38" name="矩形 37">
            <a:extLst>
              <a:ext uri="{FF2B5EF4-FFF2-40B4-BE49-F238E27FC236}">
                <a16:creationId xmlns:a16="http://schemas.microsoft.com/office/drawing/2014/main" id="{72A0DBBB-178E-43CA-A764-A62D2509A693}"/>
              </a:ext>
            </a:extLst>
          </p:cNvPr>
          <p:cNvSpPr>
            <a:spLocks noGrp="1"/>
          </p:cNvSpPr>
          <p:nvPr/>
        </p:nvSpPr>
        <p:spPr>
          <a:xfrm>
            <a:off x="3048000" y="4305300"/>
            <a:ext cx="257175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39" name="矩形 38">
            <a:extLst>
              <a:ext uri="{FF2B5EF4-FFF2-40B4-BE49-F238E27FC236}">
                <a16:creationId xmlns:a16="http://schemas.microsoft.com/office/drawing/2014/main" id="{0F78FB01-09A3-4348-9A4C-083A973B9045}"/>
              </a:ext>
            </a:extLst>
          </p:cNvPr>
          <p:cNvSpPr>
            <a:spLocks noGrp="1"/>
          </p:cNvSpPr>
          <p:nvPr/>
        </p:nvSpPr>
        <p:spPr>
          <a:xfrm>
            <a:off x="3200400" y="4438650"/>
            <a:ext cx="226695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分类型计算后加权组合</a:t>
            </a:r>
          </a:p>
        </p:txBody>
      </p:sp>
      <p:sp>
        <p:nvSpPr>
          <p:cNvPr id="40" name="矩形 39">
            <a:extLst>
              <a:ext uri="{FF2B5EF4-FFF2-40B4-BE49-F238E27FC236}">
                <a16:creationId xmlns:a16="http://schemas.microsoft.com/office/drawing/2014/main" id="{39A375AA-06E4-4C1A-9DDB-F212DDE53E9E}"/>
              </a:ext>
            </a:extLst>
          </p:cNvPr>
          <p:cNvSpPr>
            <a:spLocks noGrp="1"/>
          </p:cNvSpPr>
          <p:nvPr/>
        </p:nvSpPr>
        <p:spPr>
          <a:xfrm>
            <a:off x="5619750" y="4305300"/>
            <a:ext cx="5715000" cy="59055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41" name="矩形 40">
            <a:extLst>
              <a:ext uri="{FF2B5EF4-FFF2-40B4-BE49-F238E27FC236}">
                <a16:creationId xmlns:a16="http://schemas.microsoft.com/office/drawing/2014/main" id="{A9C27C82-32E0-4A1C-9874-CA50BD78EA57}"/>
              </a:ext>
            </a:extLst>
          </p:cNvPr>
          <p:cNvSpPr>
            <a:spLocks noGrp="1"/>
          </p:cNvSpPr>
          <p:nvPr/>
        </p:nvSpPr>
        <p:spPr>
          <a:xfrm>
            <a:off x="5772150" y="4438650"/>
            <a:ext cx="5410200" cy="38100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避免把类别硬转成连续距离</a:t>
            </a:r>
          </a:p>
        </p:txBody>
      </p:sp>
      <p:sp>
        <p:nvSpPr>
          <p:cNvPr id="42" name="矩形 41">
            <a:extLst>
              <a:ext uri="{FF2B5EF4-FFF2-40B4-BE49-F238E27FC236}">
                <a16:creationId xmlns:a16="http://schemas.microsoft.com/office/drawing/2014/main" id="{98728702-4431-4CD0-9385-CD3533FD0147}"/>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3" name="矩形 42">
            <a:extLst>
              <a:ext uri="{FF2B5EF4-FFF2-40B4-BE49-F238E27FC236}">
                <a16:creationId xmlns:a16="http://schemas.microsoft.com/office/drawing/2014/main" id="{1BAB5FBB-D83F-4B06-9D41-9A01EE5F1C3B}"/>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先定义业务上的相似，再选择数学度量。</a:t>
            </a:r>
          </a:p>
        </p:txBody>
      </p:sp>
    </p:spTree>
    <p:extLst>
      <p:ext uri="{BB962C8B-B14F-4D97-AF65-F5344CB8AC3E}">
        <p14:creationId xmlns:p14="http://schemas.microsoft.com/office/powerpoint/2010/main" val="6969105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06C3C42D-FC67-43A7-BD92-D90C1EE1CF3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F7C8125-0FD6-4A24-85FE-A36333E9DBAA}"/>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A04BB9A2-925C-480D-B212-94F0F06AD642}"/>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4E23EA5-9A6C-4E5B-B9B8-FD3D43C7758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混合属性可以分项计算后加权</a:t>
            </a:r>
          </a:p>
        </p:txBody>
      </p:sp>
      <p:sp>
        <p:nvSpPr>
          <p:cNvPr id="5" name="矩形 4">
            <a:extLst>
              <a:ext uri="{FF2B5EF4-FFF2-40B4-BE49-F238E27FC236}">
                <a16:creationId xmlns:a16="http://schemas.microsoft.com/office/drawing/2014/main" id="{4B9F644F-92E0-42FA-A300-B979A9378EC0}"/>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76/90</a:t>
            </a:r>
          </a:p>
        </p:txBody>
      </p:sp>
      <p:sp>
        <p:nvSpPr>
          <p:cNvPr id="6" name="矩形 5">
            <a:extLst>
              <a:ext uri="{FF2B5EF4-FFF2-40B4-BE49-F238E27FC236}">
                <a16:creationId xmlns:a16="http://schemas.microsoft.com/office/drawing/2014/main" id="{A1E49043-8DB8-44DF-8785-2E1775BD29C3}"/>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8522A123-A0F7-4FD1-8F47-E9B6111BD510}"/>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d(x, y) = [Σₖ wₖ δₖ(x, y)] / [Σₖ wₖ]</a:t>
            </a:r>
          </a:p>
        </p:txBody>
      </p:sp>
      <p:sp>
        <p:nvSpPr>
          <p:cNvPr id="8" name="矩形 7">
            <a:extLst>
              <a:ext uri="{FF2B5EF4-FFF2-40B4-BE49-F238E27FC236}">
                <a16:creationId xmlns:a16="http://schemas.microsoft.com/office/drawing/2014/main" id="{90297CB7-13FC-4EB9-82E3-A3F0D85AE765}"/>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A9E8EF49-574E-4150-9F6A-6FED69D2F75E}"/>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对数值、有序、标称和二元属性分别计算差异</a:t>
            </a:r>
          </a:p>
        </p:txBody>
      </p:sp>
      <p:sp>
        <p:nvSpPr>
          <p:cNvPr id="10" name="矩形 9">
            <a:extLst>
              <a:ext uri="{FF2B5EF4-FFF2-40B4-BE49-F238E27FC236}">
                <a16:creationId xmlns:a16="http://schemas.microsoft.com/office/drawing/2014/main" id="{20588867-144C-4A18-B67F-60091E69A0CB}"/>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BEB05F31-311C-44EA-98EE-5B0FEB6ADD49}"/>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把每项差异归一到相近范围</a:t>
            </a:r>
          </a:p>
        </p:txBody>
      </p:sp>
      <p:sp>
        <p:nvSpPr>
          <p:cNvPr id="12" name="矩形 11">
            <a:extLst>
              <a:ext uri="{FF2B5EF4-FFF2-40B4-BE49-F238E27FC236}">
                <a16:creationId xmlns:a16="http://schemas.microsoft.com/office/drawing/2014/main" id="{B7506AC1-B79A-4759-B778-322E0ABAB5AB}"/>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B089BDE0-01DF-4099-8C34-0A6D6F57BE16}"/>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缺失的属性不参与该对象对的分母</a:t>
            </a:r>
          </a:p>
        </p:txBody>
      </p:sp>
      <p:sp>
        <p:nvSpPr>
          <p:cNvPr id="14" name="矩形 13">
            <a:extLst>
              <a:ext uri="{FF2B5EF4-FFF2-40B4-BE49-F238E27FC236}">
                <a16:creationId xmlns:a16="http://schemas.microsoft.com/office/drawing/2014/main" id="{21BC2D68-C310-4463-96DE-51FEB67184C0}"/>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15D7D955-ED6B-4440-90A2-1EF7624C077A}"/>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权重反映业务重要性，也会改变结果</a:t>
            </a:r>
          </a:p>
        </p:txBody>
      </p:sp>
      <p:sp>
        <p:nvSpPr>
          <p:cNvPr id="16" name="矩形 15">
            <a:extLst>
              <a:ext uri="{FF2B5EF4-FFF2-40B4-BE49-F238E27FC236}">
                <a16:creationId xmlns:a16="http://schemas.microsoft.com/office/drawing/2014/main" id="{DFE5C5D0-96C1-4223-8BFA-AD1EFACF8414}"/>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D74D8CCB-7A44-433C-8716-C6F3BF6A64AA}"/>
              </a:ext>
            </a:extLst>
          </p:cNvPr>
          <p:cNvSpPr>
            <a:spLocks noGrp="1"/>
          </p:cNvSpPr>
          <p:nvPr/>
        </p:nvSpPr>
        <p:spPr>
          <a:xfrm>
            <a:off x="6248400" y="1485900"/>
            <a:ext cx="4838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00204A"/>
                </a:solidFill>
                <a:latin typeface="黑体"/>
                <a:ea typeface="黑体"/>
                <a:cs typeface="黑体"/>
              </a:defRPr>
            </a:pPr>
            <a:r>
              <a:rPr>
                <a:latin typeface="黑体"/>
                <a:ea typeface="黑体"/>
                <a:cs typeface="黑体"/>
              </a:rPr>
              <a:t>不同属性保留各自的比较规则</a:t>
            </a:r>
          </a:p>
        </p:txBody>
      </p:sp>
      <p:sp>
        <p:nvSpPr>
          <p:cNvPr id="18" name="矩形 17">
            <a:extLst>
              <a:ext uri="{FF2B5EF4-FFF2-40B4-BE49-F238E27FC236}">
                <a16:creationId xmlns:a16="http://schemas.microsoft.com/office/drawing/2014/main" id="{062EAAA4-F3E3-4AE5-99CA-E9A210166DD3}"/>
              </a:ext>
            </a:extLst>
          </p:cNvPr>
          <p:cNvSpPr>
            <a:spLocks noGrp="1"/>
          </p:cNvSpPr>
          <p:nvPr/>
        </p:nvSpPr>
        <p:spPr>
          <a:xfrm>
            <a:off x="6381750" y="21145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黑体"/>
                <a:ea typeface="黑体"/>
                <a:cs typeface="黑体"/>
              </a:rPr>
              <a:t>数值</a:t>
            </a:r>
          </a:p>
        </p:txBody>
      </p:sp>
      <p:sp>
        <p:nvSpPr>
          <p:cNvPr id="19" name="矩形 18">
            <a:extLst>
              <a:ext uri="{FF2B5EF4-FFF2-40B4-BE49-F238E27FC236}">
                <a16:creationId xmlns:a16="http://schemas.microsoft.com/office/drawing/2014/main" id="{C9C5A1F1-0963-47EE-A4D3-E6CF8C0FF9F5}"/>
              </a:ext>
            </a:extLst>
          </p:cNvPr>
          <p:cNvSpPr>
            <a:spLocks noGrp="1"/>
          </p:cNvSpPr>
          <p:nvPr/>
        </p:nvSpPr>
        <p:spPr>
          <a:xfrm>
            <a:off x="7162800" y="2038350"/>
            <a:ext cx="1200150" cy="381000"/>
          </a:xfrm>
          <a:prstGeom prst="rect">
            <a:avLst/>
          </a:prstGeom>
          <a:solidFill>
            <a:srgbClr val="FFFFFF"/>
          </a:solidFill>
          <a:ln w="9525">
            <a:solidFill>
              <a:srgbClr val="C5CFDB"/>
            </a:solidFill>
            <a:prstDash val="solid"/>
          </a:ln>
        </p:spPr>
        <p:txBody>
          <a:bodyPr/>
          <a:lstStyle/>
          <a:p>
            <a:endParaRPr lang="zh-CN" altLang="en-US"/>
          </a:p>
        </p:txBody>
      </p:sp>
      <p:sp>
        <p:nvSpPr>
          <p:cNvPr id="20" name="矩形 19">
            <a:extLst>
              <a:ext uri="{FF2B5EF4-FFF2-40B4-BE49-F238E27FC236}">
                <a16:creationId xmlns:a16="http://schemas.microsoft.com/office/drawing/2014/main" id="{48AC6711-0629-41C8-8894-79612BB486D6}"/>
              </a:ext>
            </a:extLst>
          </p:cNvPr>
          <p:cNvSpPr>
            <a:spLocks noGrp="1"/>
          </p:cNvSpPr>
          <p:nvPr/>
        </p:nvSpPr>
        <p:spPr>
          <a:xfrm>
            <a:off x="7258050" y="2133600"/>
            <a:ext cx="1009650" cy="190500"/>
          </a:xfrm>
          <a:prstGeom prst="rect">
            <a:avLst/>
          </a:prstGeom>
          <a:solidFill>
            <a:srgbClr val="FFFFFF"/>
          </a:solidFill>
          <a:ln w="0">
            <a:solidFill>
              <a:srgbClr val="000000">
                <a:alpha val="0"/>
              </a:srgbClr>
            </a:solidFill>
            <a:prstDash val="solid"/>
          </a:ln>
        </p:spPr>
        <p:txBody>
          <a:bodyPr lIns="0" tIns="0" rIns="0" bIns="0" anchor="t"/>
          <a:lstStyle/>
          <a:p>
            <a:pPr algn="ctr">
              <a:defRPr sz="1125" b="1">
                <a:solidFill>
                  <a:srgbClr val="014DA1"/>
                </a:solidFill>
                <a:latin typeface="黑体"/>
                <a:ea typeface="黑体"/>
                <a:cs typeface="黑体"/>
              </a:defRPr>
            </a:pPr>
            <a:r>
              <a:rPr>
                <a:latin typeface="Times New Roman"/>
                <a:ea typeface="Times New Roman"/>
                <a:cs typeface="Times New Roman"/>
              </a:rPr>
              <a:t>δ = 0.20</a:t>
            </a:r>
          </a:p>
        </p:txBody>
      </p:sp>
      <p:sp>
        <p:nvSpPr>
          <p:cNvPr id="21" name="矩形 20">
            <a:extLst>
              <a:ext uri="{FF2B5EF4-FFF2-40B4-BE49-F238E27FC236}">
                <a16:creationId xmlns:a16="http://schemas.microsoft.com/office/drawing/2014/main" id="{5F21EC2C-12CE-457E-B1DB-4040F14299C3}"/>
              </a:ext>
            </a:extLst>
          </p:cNvPr>
          <p:cNvSpPr>
            <a:spLocks noGrp="1"/>
          </p:cNvSpPr>
          <p:nvPr/>
        </p:nvSpPr>
        <p:spPr>
          <a:xfrm>
            <a:off x="8667750" y="2114550"/>
            <a:ext cx="1809750" cy="2286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3D334277-C6F7-4645-8041-55A080B4131B}"/>
              </a:ext>
            </a:extLst>
          </p:cNvPr>
          <p:cNvSpPr>
            <a:spLocks noGrp="1"/>
          </p:cNvSpPr>
          <p:nvPr/>
        </p:nvSpPr>
        <p:spPr>
          <a:xfrm>
            <a:off x="10458450" y="2124075"/>
            <a:ext cx="628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014DA1"/>
                </a:solidFill>
                <a:latin typeface="黑体"/>
                <a:ea typeface="黑体"/>
                <a:cs typeface="黑体"/>
              </a:defRPr>
            </a:pPr>
            <a:r>
              <a:rPr>
                <a:latin typeface="Times New Roman"/>
                <a:ea typeface="Times New Roman"/>
                <a:cs typeface="Times New Roman"/>
              </a:rPr>
              <a:t>w = 0.40</a:t>
            </a:r>
          </a:p>
        </p:txBody>
      </p:sp>
      <p:sp>
        <p:nvSpPr>
          <p:cNvPr id="23" name="矩形 22">
            <a:extLst>
              <a:ext uri="{FF2B5EF4-FFF2-40B4-BE49-F238E27FC236}">
                <a16:creationId xmlns:a16="http://schemas.microsoft.com/office/drawing/2014/main" id="{A9D99EFB-E097-4400-A4C8-2AFC1BFBAF97}"/>
              </a:ext>
            </a:extLst>
          </p:cNvPr>
          <p:cNvSpPr>
            <a:spLocks noGrp="1"/>
          </p:cNvSpPr>
          <p:nvPr/>
        </p:nvSpPr>
        <p:spPr>
          <a:xfrm>
            <a:off x="6381750" y="27622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黑体"/>
                <a:ea typeface="黑体"/>
                <a:cs typeface="黑体"/>
              </a:rPr>
              <a:t>标称</a:t>
            </a:r>
          </a:p>
        </p:txBody>
      </p:sp>
      <p:sp>
        <p:nvSpPr>
          <p:cNvPr id="24" name="矩形 23">
            <a:extLst>
              <a:ext uri="{FF2B5EF4-FFF2-40B4-BE49-F238E27FC236}">
                <a16:creationId xmlns:a16="http://schemas.microsoft.com/office/drawing/2014/main" id="{68A19110-C739-4DBB-AA80-D67D52D4140C}"/>
              </a:ext>
            </a:extLst>
          </p:cNvPr>
          <p:cNvSpPr>
            <a:spLocks noGrp="1"/>
          </p:cNvSpPr>
          <p:nvPr/>
        </p:nvSpPr>
        <p:spPr>
          <a:xfrm>
            <a:off x="7162800" y="2686050"/>
            <a:ext cx="1200150" cy="381000"/>
          </a:xfrm>
          <a:prstGeom prst="rect">
            <a:avLst/>
          </a:prstGeom>
          <a:solidFill>
            <a:srgbClr val="FFFFFF"/>
          </a:solidFill>
          <a:ln w="9525">
            <a:solidFill>
              <a:srgbClr val="C5CFDB"/>
            </a:solidFill>
            <a:prstDash val="solid"/>
          </a:ln>
        </p:spPr>
        <p:txBody>
          <a:bodyPr/>
          <a:lstStyle/>
          <a:p>
            <a:endParaRPr lang="zh-CN" altLang="en-US"/>
          </a:p>
        </p:txBody>
      </p:sp>
      <p:sp>
        <p:nvSpPr>
          <p:cNvPr id="25" name="矩形 24">
            <a:extLst>
              <a:ext uri="{FF2B5EF4-FFF2-40B4-BE49-F238E27FC236}">
                <a16:creationId xmlns:a16="http://schemas.microsoft.com/office/drawing/2014/main" id="{21EFEC1E-1E75-444D-ABAA-81E9525B6D5D}"/>
              </a:ext>
            </a:extLst>
          </p:cNvPr>
          <p:cNvSpPr>
            <a:spLocks noGrp="1"/>
          </p:cNvSpPr>
          <p:nvPr/>
        </p:nvSpPr>
        <p:spPr>
          <a:xfrm>
            <a:off x="7258050" y="2781300"/>
            <a:ext cx="1009650" cy="190500"/>
          </a:xfrm>
          <a:prstGeom prst="rect">
            <a:avLst/>
          </a:prstGeom>
          <a:solidFill>
            <a:srgbClr val="FFFFFF"/>
          </a:solidFill>
          <a:ln w="0">
            <a:solidFill>
              <a:srgbClr val="000000">
                <a:alpha val="0"/>
              </a:srgbClr>
            </a:solidFill>
            <a:prstDash val="solid"/>
          </a:ln>
        </p:spPr>
        <p:txBody>
          <a:bodyPr lIns="0" tIns="0" rIns="0" bIns="0" anchor="t"/>
          <a:lstStyle/>
          <a:p>
            <a:pPr algn="ctr">
              <a:defRPr sz="1125" b="1">
                <a:solidFill>
                  <a:srgbClr val="B4964B"/>
                </a:solidFill>
                <a:latin typeface="黑体"/>
                <a:ea typeface="黑体"/>
                <a:cs typeface="黑体"/>
              </a:defRPr>
            </a:pPr>
            <a:r>
              <a:rPr>
                <a:latin typeface="Times New Roman"/>
                <a:ea typeface="Times New Roman"/>
                <a:cs typeface="Times New Roman"/>
              </a:rPr>
              <a:t>δ = 1.00</a:t>
            </a:r>
          </a:p>
        </p:txBody>
      </p:sp>
      <p:sp>
        <p:nvSpPr>
          <p:cNvPr id="26" name="矩形 25">
            <a:extLst>
              <a:ext uri="{FF2B5EF4-FFF2-40B4-BE49-F238E27FC236}">
                <a16:creationId xmlns:a16="http://schemas.microsoft.com/office/drawing/2014/main" id="{1A1DBE9B-85B6-40A7-9953-995C23E1E8C2}"/>
              </a:ext>
            </a:extLst>
          </p:cNvPr>
          <p:cNvSpPr>
            <a:spLocks noGrp="1"/>
          </p:cNvSpPr>
          <p:nvPr/>
        </p:nvSpPr>
        <p:spPr>
          <a:xfrm>
            <a:off x="8667750" y="2762250"/>
            <a:ext cx="904875" cy="2286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27" name="矩形 26">
            <a:extLst>
              <a:ext uri="{FF2B5EF4-FFF2-40B4-BE49-F238E27FC236}">
                <a16:creationId xmlns:a16="http://schemas.microsoft.com/office/drawing/2014/main" id="{793C094D-60A7-4905-94FF-1A4890F4EFE7}"/>
              </a:ext>
            </a:extLst>
          </p:cNvPr>
          <p:cNvSpPr>
            <a:spLocks noGrp="1"/>
          </p:cNvSpPr>
          <p:nvPr/>
        </p:nvSpPr>
        <p:spPr>
          <a:xfrm>
            <a:off x="10458450" y="2771775"/>
            <a:ext cx="628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B4964B"/>
                </a:solidFill>
                <a:latin typeface="黑体"/>
                <a:ea typeface="黑体"/>
                <a:cs typeface="黑体"/>
              </a:defRPr>
            </a:pPr>
            <a:r>
              <a:rPr>
                <a:latin typeface="Times New Roman"/>
                <a:ea typeface="Times New Roman"/>
                <a:cs typeface="Times New Roman"/>
              </a:rPr>
              <a:t>w = 0.20</a:t>
            </a:r>
          </a:p>
        </p:txBody>
      </p:sp>
      <p:sp>
        <p:nvSpPr>
          <p:cNvPr id="28" name="矩形 27">
            <a:extLst>
              <a:ext uri="{FF2B5EF4-FFF2-40B4-BE49-F238E27FC236}">
                <a16:creationId xmlns:a16="http://schemas.microsoft.com/office/drawing/2014/main" id="{AC3AC6E8-ED67-48AB-8A02-A2B844BE6711}"/>
              </a:ext>
            </a:extLst>
          </p:cNvPr>
          <p:cNvSpPr>
            <a:spLocks noGrp="1"/>
          </p:cNvSpPr>
          <p:nvPr/>
        </p:nvSpPr>
        <p:spPr>
          <a:xfrm>
            <a:off x="6381750" y="34099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黑体"/>
                <a:ea typeface="黑体"/>
                <a:cs typeface="黑体"/>
              </a:rPr>
              <a:t>有序</a:t>
            </a:r>
          </a:p>
        </p:txBody>
      </p:sp>
      <p:sp>
        <p:nvSpPr>
          <p:cNvPr id="29" name="矩形 28">
            <a:extLst>
              <a:ext uri="{FF2B5EF4-FFF2-40B4-BE49-F238E27FC236}">
                <a16:creationId xmlns:a16="http://schemas.microsoft.com/office/drawing/2014/main" id="{A45EC4BF-1617-4360-9005-341C07EB9B33}"/>
              </a:ext>
            </a:extLst>
          </p:cNvPr>
          <p:cNvSpPr>
            <a:spLocks noGrp="1"/>
          </p:cNvSpPr>
          <p:nvPr/>
        </p:nvSpPr>
        <p:spPr>
          <a:xfrm>
            <a:off x="7162800" y="3333750"/>
            <a:ext cx="1200150" cy="381000"/>
          </a:xfrm>
          <a:prstGeom prst="rect">
            <a:avLst/>
          </a:prstGeom>
          <a:solidFill>
            <a:srgbClr val="FFFFFF"/>
          </a:solidFill>
          <a:ln w="9525">
            <a:solidFill>
              <a:srgbClr val="C5CFDB"/>
            </a:solidFill>
            <a:prstDash val="solid"/>
          </a:ln>
        </p:spPr>
        <p:txBody>
          <a:bodyPr/>
          <a:lstStyle/>
          <a:p>
            <a:endParaRPr lang="zh-CN" altLang="en-US"/>
          </a:p>
        </p:txBody>
      </p:sp>
      <p:sp>
        <p:nvSpPr>
          <p:cNvPr id="30" name="矩形 29">
            <a:extLst>
              <a:ext uri="{FF2B5EF4-FFF2-40B4-BE49-F238E27FC236}">
                <a16:creationId xmlns:a16="http://schemas.microsoft.com/office/drawing/2014/main" id="{40A4FD49-91C7-4C60-924A-47740594333B}"/>
              </a:ext>
            </a:extLst>
          </p:cNvPr>
          <p:cNvSpPr>
            <a:spLocks noGrp="1"/>
          </p:cNvSpPr>
          <p:nvPr/>
        </p:nvSpPr>
        <p:spPr>
          <a:xfrm>
            <a:off x="7258050" y="3429000"/>
            <a:ext cx="1009650" cy="190500"/>
          </a:xfrm>
          <a:prstGeom prst="rect">
            <a:avLst/>
          </a:prstGeom>
          <a:solidFill>
            <a:srgbClr val="FFFFFF"/>
          </a:solidFill>
          <a:ln w="0">
            <a:solidFill>
              <a:srgbClr val="000000">
                <a:alpha val="0"/>
              </a:srgbClr>
            </a:solidFill>
            <a:prstDash val="solid"/>
          </a:ln>
        </p:spPr>
        <p:txBody>
          <a:bodyPr lIns="0" tIns="0" rIns="0" bIns="0" anchor="t"/>
          <a:lstStyle/>
          <a:p>
            <a:pPr algn="ctr">
              <a:defRPr sz="1125" b="1">
                <a:solidFill>
                  <a:srgbClr val="2F7A5D"/>
                </a:solidFill>
                <a:latin typeface="黑体"/>
                <a:ea typeface="黑体"/>
                <a:cs typeface="黑体"/>
              </a:defRPr>
            </a:pPr>
            <a:r>
              <a:rPr>
                <a:latin typeface="Times New Roman"/>
                <a:ea typeface="Times New Roman"/>
                <a:cs typeface="Times New Roman"/>
              </a:rPr>
              <a:t>δ = 0.50</a:t>
            </a:r>
          </a:p>
        </p:txBody>
      </p:sp>
      <p:sp>
        <p:nvSpPr>
          <p:cNvPr id="31" name="矩形 30">
            <a:extLst>
              <a:ext uri="{FF2B5EF4-FFF2-40B4-BE49-F238E27FC236}">
                <a16:creationId xmlns:a16="http://schemas.microsoft.com/office/drawing/2014/main" id="{13B27694-D452-4F8C-9031-04813C18B446}"/>
              </a:ext>
            </a:extLst>
          </p:cNvPr>
          <p:cNvSpPr>
            <a:spLocks noGrp="1"/>
          </p:cNvSpPr>
          <p:nvPr/>
        </p:nvSpPr>
        <p:spPr>
          <a:xfrm>
            <a:off x="8667750" y="3409950"/>
            <a:ext cx="1131094" cy="22860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D16BB6F9-4D74-4FCC-9CF6-769D81091FFE}"/>
              </a:ext>
            </a:extLst>
          </p:cNvPr>
          <p:cNvSpPr>
            <a:spLocks noGrp="1"/>
          </p:cNvSpPr>
          <p:nvPr/>
        </p:nvSpPr>
        <p:spPr>
          <a:xfrm>
            <a:off x="10458450" y="3419475"/>
            <a:ext cx="628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2F7A5D"/>
                </a:solidFill>
                <a:latin typeface="黑体"/>
                <a:ea typeface="黑体"/>
                <a:cs typeface="黑体"/>
              </a:defRPr>
            </a:pPr>
            <a:r>
              <a:rPr>
                <a:latin typeface="Times New Roman"/>
                <a:ea typeface="Times New Roman"/>
                <a:cs typeface="Times New Roman"/>
              </a:rPr>
              <a:t>w = 0.25</a:t>
            </a:r>
          </a:p>
        </p:txBody>
      </p:sp>
      <p:sp>
        <p:nvSpPr>
          <p:cNvPr id="33" name="矩形 32">
            <a:extLst>
              <a:ext uri="{FF2B5EF4-FFF2-40B4-BE49-F238E27FC236}">
                <a16:creationId xmlns:a16="http://schemas.microsoft.com/office/drawing/2014/main" id="{9AD21A65-DEA2-4786-90D3-1A2B370FD0DC}"/>
              </a:ext>
            </a:extLst>
          </p:cNvPr>
          <p:cNvSpPr>
            <a:spLocks noGrp="1"/>
          </p:cNvSpPr>
          <p:nvPr/>
        </p:nvSpPr>
        <p:spPr>
          <a:xfrm>
            <a:off x="6381750" y="40576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0204A"/>
                </a:solidFill>
                <a:latin typeface="黑体"/>
                <a:ea typeface="黑体"/>
                <a:cs typeface="黑体"/>
              </a:defRPr>
            </a:pPr>
            <a:r>
              <a:rPr>
                <a:latin typeface="黑体"/>
                <a:ea typeface="黑体"/>
                <a:cs typeface="黑体"/>
              </a:rPr>
              <a:t>集合</a:t>
            </a:r>
          </a:p>
        </p:txBody>
      </p:sp>
      <p:sp>
        <p:nvSpPr>
          <p:cNvPr id="34" name="矩形 33">
            <a:extLst>
              <a:ext uri="{FF2B5EF4-FFF2-40B4-BE49-F238E27FC236}">
                <a16:creationId xmlns:a16="http://schemas.microsoft.com/office/drawing/2014/main" id="{3CC6A394-35AB-45C1-8031-5890454210FD}"/>
              </a:ext>
            </a:extLst>
          </p:cNvPr>
          <p:cNvSpPr>
            <a:spLocks noGrp="1"/>
          </p:cNvSpPr>
          <p:nvPr/>
        </p:nvSpPr>
        <p:spPr>
          <a:xfrm>
            <a:off x="7162800" y="3981450"/>
            <a:ext cx="1200150" cy="381000"/>
          </a:xfrm>
          <a:prstGeom prst="rect">
            <a:avLst/>
          </a:prstGeom>
          <a:solidFill>
            <a:srgbClr val="FFFFFF"/>
          </a:solidFill>
          <a:ln w="9525">
            <a:solidFill>
              <a:srgbClr val="C5CFDB"/>
            </a:solidFill>
            <a:prstDash val="solid"/>
          </a:ln>
        </p:spPr>
        <p:txBody>
          <a:bodyPr/>
          <a:lstStyle/>
          <a:p>
            <a:endParaRPr lang="zh-CN" altLang="en-US"/>
          </a:p>
        </p:txBody>
      </p:sp>
      <p:sp>
        <p:nvSpPr>
          <p:cNvPr id="35" name="矩形 34">
            <a:extLst>
              <a:ext uri="{FF2B5EF4-FFF2-40B4-BE49-F238E27FC236}">
                <a16:creationId xmlns:a16="http://schemas.microsoft.com/office/drawing/2014/main" id="{CC222EA2-C15A-4E38-9A3F-0466CC53314E}"/>
              </a:ext>
            </a:extLst>
          </p:cNvPr>
          <p:cNvSpPr>
            <a:spLocks noGrp="1"/>
          </p:cNvSpPr>
          <p:nvPr/>
        </p:nvSpPr>
        <p:spPr>
          <a:xfrm>
            <a:off x="7258050" y="4076700"/>
            <a:ext cx="1009650" cy="190500"/>
          </a:xfrm>
          <a:prstGeom prst="rect">
            <a:avLst/>
          </a:prstGeom>
          <a:solidFill>
            <a:srgbClr val="FFFFFF"/>
          </a:solidFill>
          <a:ln w="0">
            <a:solidFill>
              <a:srgbClr val="000000">
                <a:alpha val="0"/>
              </a:srgbClr>
            </a:solidFill>
            <a:prstDash val="solid"/>
          </a:ln>
        </p:spPr>
        <p:txBody>
          <a:bodyPr lIns="0" tIns="0" rIns="0" bIns="0" anchor="t"/>
          <a:lstStyle/>
          <a:p>
            <a:pPr algn="ctr">
              <a:defRPr sz="1125" b="1">
                <a:solidFill>
                  <a:srgbClr val="A33A3A"/>
                </a:solidFill>
                <a:latin typeface="黑体"/>
                <a:ea typeface="黑体"/>
                <a:cs typeface="黑体"/>
              </a:defRPr>
            </a:pPr>
            <a:r>
              <a:rPr>
                <a:latin typeface="Times New Roman"/>
                <a:ea typeface="Times New Roman"/>
                <a:cs typeface="Times New Roman"/>
              </a:rPr>
              <a:t>δ = 0.30</a:t>
            </a:r>
          </a:p>
        </p:txBody>
      </p:sp>
      <p:sp>
        <p:nvSpPr>
          <p:cNvPr id="36" name="矩形 35">
            <a:extLst>
              <a:ext uri="{FF2B5EF4-FFF2-40B4-BE49-F238E27FC236}">
                <a16:creationId xmlns:a16="http://schemas.microsoft.com/office/drawing/2014/main" id="{02909C8C-C230-431D-B0D9-1B0E2B74BD0C}"/>
              </a:ext>
            </a:extLst>
          </p:cNvPr>
          <p:cNvSpPr>
            <a:spLocks noGrp="1"/>
          </p:cNvSpPr>
          <p:nvPr/>
        </p:nvSpPr>
        <p:spPr>
          <a:xfrm>
            <a:off x="8667750" y="4057650"/>
            <a:ext cx="678656" cy="228600"/>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37" name="矩形 36">
            <a:extLst>
              <a:ext uri="{FF2B5EF4-FFF2-40B4-BE49-F238E27FC236}">
                <a16:creationId xmlns:a16="http://schemas.microsoft.com/office/drawing/2014/main" id="{DC6E4CE8-6F65-4333-B61E-685F7B5CE0F2}"/>
              </a:ext>
            </a:extLst>
          </p:cNvPr>
          <p:cNvSpPr>
            <a:spLocks noGrp="1"/>
          </p:cNvSpPr>
          <p:nvPr/>
        </p:nvSpPr>
        <p:spPr>
          <a:xfrm>
            <a:off x="10458450" y="4067175"/>
            <a:ext cx="628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A33A3A"/>
                </a:solidFill>
                <a:latin typeface="黑体"/>
                <a:ea typeface="黑体"/>
                <a:cs typeface="黑体"/>
              </a:defRPr>
            </a:pPr>
            <a:r>
              <a:rPr>
                <a:latin typeface="Times New Roman"/>
                <a:ea typeface="Times New Roman"/>
                <a:cs typeface="Times New Roman"/>
              </a:rPr>
              <a:t>w = 0.15</a:t>
            </a:r>
          </a:p>
        </p:txBody>
      </p:sp>
      <p:sp>
        <p:nvSpPr>
          <p:cNvPr id="38" name="矩形 37">
            <a:extLst>
              <a:ext uri="{FF2B5EF4-FFF2-40B4-BE49-F238E27FC236}">
                <a16:creationId xmlns:a16="http://schemas.microsoft.com/office/drawing/2014/main" id="{351D6CFC-62D5-49AD-B0A7-699111AAD3B2}"/>
              </a:ext>
            </a:extLst>
          </p:cNvPr>
          <p:cNvSpPr>
            <a:spLocks noGrp="1"/>
          </p:cNvSpPr>
          <p:nvPr/>
        </p:nvSpPr>
        <p:spPr>
          <a:xfrm>
            <a:off x="6381750" y="4533900"/>
            <a:ext cx="4572000" cy="323850"/>
          </a:xfrm>
          <a:prstGeom prst="rect">
            <a:avLst/>
          </a:prstGeom>
          <a:solidFill>
            <a:srgbClr val="F4EBC2"/>
          </a:solidFill>
          <a:ln w="9525">
            <a:solidFill>
              <a:srgbClr val="D4C388"/>
            </a:solidFill>
            <a:prstDash val="solid"/>
          </a:ln>
        </p:spPr>
        <p:txBody>
          <a:bodyPr/>
          <a:lstStyle/>
          <a:p>
            <a:endParaRPr lang="zh-CN" altLang="en-US"/>
          </a:p>
        </p:txBody>
      </p:sp>
      <p:sp>
        <p:nvSpPr>
          <p:cNvPr id="39" name="矩形 38">
            <a:extLst>
              <a:ext uri="{FF2B5EF4-FFF2-40B4-BE49-F238E27FC236}">
                <a16:creationId xmlns:a16="http://schemas.microsoft.com/office/drawing/2014/main" id="{EB87C168-19A0-4851-A51D-C92C448FC7A9}"/>
              </a:ext>
            </a:extLst>
          </p:cNvPr>
          <p:cNvSpPr>
            <a:spLocks noGrp="1"/>
          </p:cNvSpPr>
          <p:nvPr/>
        </p:nvSpPr>
        <p:spPr>
          <a:xfrm>
            <a:off x="6534150" y="4610100"/>
            <a:ext cx="4267200" cy="171450"/>
          </a:xfrm>
          <a:prstGeom prst="rect">
            <a:avLst/>
          </a:prstGeom>
          <a:solidFill>
            <a:srgbClr val="F4EBC2"/>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黑体"/>
                <a:ea typeface="黑体"/>
                <a:cs typeface="黑体"/>
              </a:rPr>
              <a:t>逐项距离 </a:t>
            </a:r>
            <a:r>
              <a:rPr>
                <a:latin typeface="Times New Roman"/>
                <a:ea typeface="Times New Roman"/>
                <a:cs typeface="Times New Roman"/>
              </a:rPr>
              <a:t>× </a:t>
            </a:r>
            <a:r>
              <a:rPr>
                <a:latin typeface="黑体"/>
                <a:ea typeface="黑体"/>
                <a:cs typeface="黑体"/>
              </a:rPr>
              <a:t>权重 </a:t>
            </a:r>
            <a:r>
              <a:rPr>
                <a:latin typeface="Times New Roman"/>
                <a:ea typeface="Times New Roman"/>
                <a:cs typeface="Times New Roman"/>
              </a:rPr>
              <a:t>→ </a:t>
            </a:r>
            <a:r>
              <a:rPr>
                <a:latin typeface="黑体"/>
                <a:ea typeface="黑体"/>
                <a:cs typeface="黑体"/>
              </a:rPr>
              <a:t>加权平均</a:t>
            </a:r>
          </a:p>
        </p:txBody>
      </p:sp>
      <p:sp>
        <p:nvSpPr>
          <p:cNvPr id="40" name="矩形 39">
            <a:extLst>
              <a:ext uri="{FF2B5EF4-FFF2-40B4-BE49-F238E27FC236}">
                <a16:creationId xmlns:a16="http://schemas.microsoft.com/office/drawing/2014/main" id="{91FDE7AA-16D8-4BDD-A19C-E4195CACA5A8}"/>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41" name="矩形 40">
            <a:extLst>
              <a:ext uri="{FF2B5EF4-FFF2-40B4-BE49-F238E27FC236}">
                <a16:creationId xmlns:a16="http://schemas.microsoft.com/office/drawing/2014/main" id="{CF29E27D-CBCE-4E14-84D1-3A59932A3A19}"/>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混合数据的距离应保留各属性类型的比较规则。</a:t>
            </a:r>
          </a:p>
        </p:txBody>
      </p:sp>
    </p:spTree>
    <p:extLst>
      <p:ext uri="{BB962C8B-B14F-4D97-AF65-F5344CB8AC3E}">
        <p14:creationId xmlns:p14="http://schemas.microsoft.com/office/powerpoint/2010/main" val="11004908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B64B90FF-A2EC-44C4-BEA8-A3F57520579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6063DCAC-0235-445E-ACF1-8B665D3D6D68}"/>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28C7748D-15CF-4A5D-9173-761472B4ED5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EA96606B-91F9-4444-A25E-7ECD794F4952}"/>
              </a:ext>
            </a:extLst>
          </p:cNvPr>
          <p:cNvSpPr>
            <a:spLocks noGrp="1"/>
          </p:cNvSpPr>
          <p:nvPr/>
        </p:nvSpPr>
        <p:spPr>
          <a:xfrm>
            <a:off x="685800" y="1752600"/>
            <a:ext cx="45720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925" b="1">
                <a:solidFill>
                  <a:srgbClr val="00204A"/>
                </a:solidFill>
                <a:latin typeface="黑体"/>
                <a:ea typeface="黑体"/>
                <a:cs typeface="黑体"/>
              </a:defRPr>
            </a:pPr>
            <a:r>
              <a:rPr>
                <a:latin typeface="Times New Roman"/>
                <a:ea typeface="Times New Roman"/>
                <a:cs typeface="Times New Roman"/>
              </a:rPr>
              <a:t>Part 6 · </a:t>
            </a:r>
            <a:r>
              <a:rPr>
                <a:latin typeface="黑体"/>
                <a:ea typeface="黑体"/>
                <a:cs typeface="黑体"/>
              </a:rPr>
              <a:t>探索性数据分析</a:t>
            </a:r>
          </a:p>
        </p:txBody>
      </p:sp>
      <p:sp>
        <p:nvSpPr>
          <p:cNvPr id="5" name="矩形 4">
            <a:extLst>
              <a:ext uri="{FF2B5EF4-FFF2-40B4-BE49-F238E27FC236}">
                <a16:creationId xmlns:a16="http://schemas.microsoft.com/office/drawing/2014/main" id="{CCD2B301-417F-4FB9-9ADF-F2A027E99044}"/>
              </a:ext>
            </a:extLst>
          </p:cNvPr>
          <p:cNvSpPr>
            <a:spLocks noGrp="1"/>
          </p:cNvSpPr>
          <p:nvPr/>
        </p:nvSpPr>
        <p:spPr>
          <a:xfrm>
            <a:off x="685800" y="3009900"/>
            <a:ext cx="42862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014DA1"/>
                </a:solidFill>
                <a:latin typeface="黑体"/>
                <a:ea typeface="黑体"/>
                <a:cs typeface="黑体"/>
              </a:defRPr>
            </a:pPr>
            <a:r>
              <a:rPr>
                <a:latin typeface="黑体"/>
                <a:ea typeface="黑体"/>
                <a:cs typeface="黑体"/>
              </a:rPr>
              <a:t>先理解数据，再选择模型</a:t>
            </a:r>
          </a:p>
        </p:txBody>
      </p:sp>
      <p:sp>
        <p:nvSpPr>
          <p:cNvPr id="6" name="矩形 5">
            <a:extLst>
              <a:ext uri="{FF2B5EF4-FFF2-40B4-BE49-F238E27FC236}">
                <a16:creationId xmlns:a16="http://schemas.microsoft.com/office/drawing/2014/main" id="{3FECE52E-CE9E-4DEB-97FC-46E097A6957C}"/>
              </a:ext>
            </a:extLst>
          </p:cNvPr>
          <p:cNvSpPr>
            <a:spLocks noGrp="1"/>
          </p:cNvSpPr>
          <p:nvPr/>
        </p:nvSpPr>
        <p:spPr>
          <a:xfrm>
            <a:off x="685800" y="4038600"/>
            <a:ext cx="3905250"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620739C3-BC06-4558-B43D-D339C5FCDFAF}"/>
              </a:ext>
            </a:extLst>
          </p:cNvPr>
          <p:cNvSpPr>
            <a:spLocks noGrp="1"/>
          </p:cNvSpPr>
          <p:nvPr/>
        </p:nvSpPr>
        <p:spPr>
          <a:xfrm>
            <a:off x="54292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26" name="图片 25"/>
          <p:cNvPicPr>
            <a:picLocks noChangeAspect="1"/>
          </p:cNvPicPr>
          <p:nvPr/>
        </p:nvPicPr>
        <p:blipFill>
          <a:blip r:embed="rId3"/>
          <a:srcRect l="24423" r="24423"/>
          <a:stretch>
            <a:fillRect/>
          </a:stretch>
        </p:blipFill>
        <p:spPr>
          <a:xfrm>
            <a:off x="5429250" y="1257300"/>
            <a:ext cx="1924050" cy="3409950"/>
          </a:xfrm>
          <a:prstGeom prst="rect">
            <a:avLst/>
          </a:prstGeom>
        </p:spPr>
      </p:pic>
      <p:sp>
        <p:nvSpPr>
          <p:cNvPr id="9" name="矩形 8">
            <a:extLst>
              <a:ext uri="{FF2B5EF4-FFF2-40B4-BE49-F238E27FC236}">
                <a16:creationId xmlns:a16="http://schemas.microsoft.com/office/drawing/2014/main" id="{697BB292-B9C7-4A91-AFF9-F43A3FD857A4}"/>
              </a:ext>
            </a:extLst>
          </p:cNvPr>
          <p:cNvSpPr>
            <a:spLocks noGrp="1"/>
          </p:cNvSpPr>
          <p:nvPr/>
        </p:nvSpPr>
        <p:spPr>
          <a:xfrm>
            <a:off x="54292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70E3B91B-BD57-40FE-859B-0BF04F7E5DF7}"/>
              </a:ext>
            </a:extLst>
          </p:cNvPr>
          <p:cNvSpPr>
            <a:spLocks noGrp="1"/>
          </p:cNvSpPr>
          <p:nvPr/>
        </p:nvSpPr>
        <p:spPr>
          <a:xfrm>
            <a:off x="55245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分布与异常</a:t>
            </a:r>
          </a:p>
        </p:txBody>
      </p:sp>
      <p:sp>
        <p:nvSpPr>
          <p:cNvPr id="11" name="矩形 10">
            <a:extLst>
              <a:ext uri="{FF2B5EF4-FFF2-40B4-BE49-F238E27FC236}">
                <a16:creationId xmlns:a16="http://schemas.microsoft.com/office/drawing/2014/main" id="{40AB1C93-6DFA-489D-AD4D-9E3D6F93326D}"/>
              </a:ext>
            </a:extLst>
          </p:cNvPr>
          <p:cNvSpPr>
            <a:spLocks noGrp="1"/>
          </p:cNvSpPr>
          <p:nvPr/>
        </p:nvSpPr>
        <p:spPr>
          <a:xfrm>
            <a:off x="750570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0" name="图片 29"/>
          <p:cNvPicPr>
            <a:picLocks noChangeAspect="1"/>
          </p:cNvPicPr>
          <p:nvPr/>
        </p:nvPicPr>
        <p:blipFill>
          <a:blip r:embed="rId4"/>
          <a:srcRect l="20110" r="20110"/>
          <a:stretch>
            <a:fillRect/>
          </a:stretch>
        </p:blipFill>
        <p:spPr>
          <a:xfrm>
            <a:off x="7505700" y="1257300"/>
            <a:ext cx="1924050" cy="3409950"/>
          </a:xfrm>
          <a:prstGeom prst="rect">
            <a:avLst/>
          </a:prstGeom>
        </p:spPr>
      </p:pic>
      <p:sp>
        <p:nvSpPr>
          <p:cNvPr id="13" name="矩形 12">
            <a:extLst>
              <a:ext uri="{FF2B5EF4-FFF2-40B4-BE49-F238E27FC236}">
                <a16:creationId xmlns:a16="http://schemas.microsoft.com/office/drawing/2014/main" id="{A19F24D0-1381-487E-8748-14BFE17096CA}"/>
              </a:ext>
            </a:extLst>
          </p:cNvPr>
          <p:cNvSpPr>
            <a:spLocks noGrp="1"/>
          </p:cNvSpPr>
          <p:nvPr/>
        </p:nvSpPr>
        <p:spPr>
          <a:xfrm>
            <a:off x="750570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D58D956F-EC1F-4F58-9B72-0E15B61114B7}"/>
              </a:ext>
            </a:extLst>
          </p:cNvPr>
          <p:cNvSpPr>
            <a:spLocks noGrp="1"/>
          </p:cNvSpPr>
          <p:nvPr/>
        </p:nvSpPr>
        <p:spPr>
          <a:xfrm>
            <a:off x="760095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变量关系</a:t>
            </a:r>
          </a:p>
        </p:txBody>
      </p:sp>
      <p:sp>
        <p:nvSpPr>
          <p:cNvPr id="15" name="矩形 14">
            <a:extLst>
              <a:ext uri="{FF2B5EF4-FFF2-40B4-BE49-F238E27FC236}">
                <a16:creationId xmlns:a16="http://schemas.microsoft.com/office/drawing/2014/main" id="{F7764D46-0EE4-4AFC-9281-44B89EE3B4CD}"/>
              </a:ext>
            </a:extLst>
          </p:cNvPr>
          <p:cNvSpPr>
            <a:spLocks noGrp="1"/>
          </p:cNvSpPr>
          <p:nvPr/>
        </p:nvSpPr>
        <p:spPr>
          <a:xfrm>
            <a:off x="9582150" y="1257300"/>
            <a:ext cx="1924050" cy="3733800"/>
          </a:xfrm>
          <a:prstGeom prst="rect">
            <a:avLst/>
          </a:prstGeom>
          <a:solidFill>
            <a:srgbClr val="FFFFFF"/>
          </a:solidFill>
          <a:ln w="9525">
            <a:solidFill>
              <a:srgbClr val="C7D0DC"/>
            </a:solidFill>
            <a:prstDash val="solid"/>
          </a:ln>
        </p:spPr>
        <p:txBody>
          <a:bodyPr/>
          <a:lstStyle/>
          <a:p>
            <a:endParaRPr lang="zh-CN" altLang="en-US"/>
          </a:p>
        </p:txBody>
      </p:sp>
      <p:pic>
        <p:nvPicPr>
          <p:cNvPr id="34" name="图片 33"/>
          <p:cNvPicPr>
            <a:picLocks noChangeAspect="1"/>
          </p:cNvPicPr>
          <p:nvPr/>
        </p:nvPicPr>
        <p:blipFill>
          <a:blip r:embed="rId5"/>
          <a:srcRect l="34317" r="34317"/>
          <a:stretch>
            <a:fillRect/>
          </a:stretch>
        </p:blipFill>
        <p:spPr>
          <a:xfrm>
            <a:off x="9582150" y="1257300"/>
            <a:ext cx="1924050" cy="3409950"/>
          </a:xfrm>
          <a:prstGeom prst="rect">
            <a:avLst/>
          </a:prstGeom>
        </p:spPr>
      </p:pic>
      <p:sp>
        <p:nvSpPr>
          <p:cNvPr id="17" name="矩形 16">
            <a:extLst>
              <a:ext uri="{FF2B5EF4-FFF2-40B4-BE49-F238E27FC236}">
                <a16:creationId xmlns:a16="http://schemas.microsoft.com/office/drawing/2014/main" id="{C8AAE8D6-015D-4195-8D28-EAF7BE182BC0}"/>
              </a:ext>
            </a:extLst>
          </p:cNvPr>
          <p:cNvSpPr>
            <a:spLocks noGrp="1"/>
          </p:cNvSpPr>
          <p:nvPr/>
        </p:nvSpPr>
        <p:spPr>
          <a:xfrm>
            <a:off x="9582150" y="4667250"/>
            <a:ext cx="1924050" cy="323850"/>
          </a:xfrm>
          <a:prstGeom prst="rect">
            <a:avLst/>
          </a:prstGeom>
          <a:solidFill>
            <a:srgbClr val="FFFFFF">
              <a:alpha val="90980"/>
            </a:srgbClr>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A8633348-A47B-42F2-A006-0D5DDB73C81E}"/>
              </a:ext>
            </a:extLst>
          </p:cNvPr>
          <p:cNvSpPr>
            <a:spLocks noGrp="1"/>
          </p:cNvSpPr>
          <p:nvPr/>
        </p:nvSpPr>
        <p:spPr>
          <a:xfrm>
            <a:off x="9677400" y="4733925"/>
            <a:ext cx="1733550" cy="209550"/>
          </a:xfrm>
          <a:prstGeom prst="rect">
            <a:avLst/>
          </a:prstGeom>
          <a:solidFill>
            <a:srgbClr val="FFFFFF">
              <a:alpha val="9098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黑体"/>
                <a:ea typeface="黑体"/>
                <a:cs typeface="黑体"/>
              </a:rPr>
              <a:t>时间变化</a:t>
            </a:r>
          </a:p>
        </p:txBody>
      </p:sp>
    </p:spTree>
    <p:extLst>
      <p:ext uri="{BB962C8B-B14F-4D97-AF65-F5344CB8AC3E}">
        <p14:creationId xmlns:p14="http://schemas.microsoft.com/office/powerpoint/2010/main" val="16389117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B012BD05-0A76-4DD3-BDC6-6D3495968BC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A8CA9138-B9B7-4963-B607-B1683D94462E}"/>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9CF03942-BA61-40F1-849D-6C5D9FB20EB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6660BED4-8141-4A8A-8B2D-B1B1CFBF25AF}"/>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EDA </a:t>
            </a:r>
            <a:r>
              <a:rPr>
                <a:latin typeface="黑体"/>
                <a:ea typeface="黑体"/>
                <a:cs typeface="黑体"/>
              </a:rPr>
              <a:t>从四类问题开始</a:t>
            </a:r>
          </a:p>
        </p:txBody>
      </p:sp>
      <p:sp>
        <p:nvSpPr>
          <p:cNvPr id="5" name="矩形 4">
            <a:extLst>
              <a:ext uri="{FF2B5EF4-FFF2-40B4-BE49-F238E27FC236}">
                <a16:creationId xmlns:a16="http://schemas.microsoft.com/office/drawing/2014/main" id="{3D06466F-7F86-478B-9445-1963E3BB7473}"/>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78/90</a:t>
            </a:r>
          </a:p>
        </p:txBody>
      </p:sp>
      <p:sp>
        <p:nvSpPr>
          <p:cNvPr id="6" name="矩形 5">
            <a:extLst>
              <a:ext uri="{FF2B5EF4-FFF2-40B4-BE49-F238E27FC236}">
                <a16:creationId xmlns:a16="http://schemas.microsoft.com/office/drawing/2014/main" id="{068E1BC8-AC72-433A-B923-9027E5314DB8}"/>
              </a:ext>
            </a:extLst>
          </p:cNvPr>
          <p:cNvSpPr>
            <a:spLocks noGrp="1"/>
          </p:cNvSpPr>
          <p:nvPr/>
        </p:nvSpPr>
        <p:spPr>
          <a:xfrm>
            <a:off x="685800" y="1219200"/>
            <a:ext cx="2576513" cy="4076700"/>
          </a:xfrm>
          <a:prstGeom prst="rect">
            <a:avLst/>
          </a:prstGeom>
          <a:solidFill>
            <a:srgbClr val="F6F9FD"/>
          </a:solidFill>
          <a:ln w="9525">
            <a:solidFill>
              <a:srgbClr val="B7C2D0"/>
            </a:solidFill>
            <a:prstDash val="solid"/>
          </a:ln>
        </p:spPr>
        <p:txBody>
          <a:bodyPr/>
          <a:lstStyle/>
          <a:p>
            <a:endParaRPr lang="zh-CN" altLang="en-US"/>
          </a:p>
        </p:txBody>
      </p:sp>
      <p:sp>
        <p:nvSpPr>
          <p:cNvPr id="7" name="矩形 6">
            <a:extLst>
              <a:ext uri="{FF2B5EF4-FFF2-40B4-BE49-F238E27FC236}">
                <a16:creationId xmlns:a16="http://schemas.microsoft.com/office/drawing/2014/main" id="{8505F6EF-D711-4988-A2E4-C4E2560E0370}"/>
              </a:ext>
            </a:extLst>
          </p:cNvPr>
          <p:cNvSpPr>
            <a:spLocks noGrp="1"/>
          </p:cNvSpPr>
          <p:nvPr/>
        </p:nvSpPr>
        <p:spPr>
          <a:xfrm>
            <a:off x="685800" y="1219200"/>
            <a:ext cx="2576513"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C4E6E63D-DCE0-41B8-9A0A-CB03C808A5BD}"/>
              </a:ext>
            </a:extLst>
          </p:cNvPr>
          <p:cNvSpPr>
            <a:spLocks noGrp="1"/>
          </p:cNvSpPr>
          <p:nvPr/>
        </p:nvSpPr>
        <p:spPr>
          <a:xfrm>
            <a:off x="3433763" y="1219200"/>
            <a:ext cx="2576513" cy="4076700"/>
          </a:xfrm>
          <a:prstGeom prst="rect">
            <a:avLst/>
          </a:prstGeom>
          <a:solidFill>
            <a:srgbClr val="FFFCF4"/>
          </a:solidFill>
          <a:ln w="9525">
            <a:solidFill>
              <a:srgbClr val="B7C2D0"/>
            </a:solidFill>
            <a:prstDash val="solid"/>
          </a:ln>
        </p:spPr>
        <p:txBody>
          <a:bodyPr/>
          <a:lstStyle/>
          <a:p>
            <a:endParaRPr lang="zh-CN" altLang="en-US"/>
          </a:p>
        </p:txBody>
      </p:sp>
      <p:sp>
        <p:nvSpPr>
          <p:cNvPr id="9" name="矩形 8">
            <a:extLst>
              <a:ext uri="{FF2B5EF4-FFF2-40B4-BE49-F238E27FC236}">
                <a16:creationId xmlns:a16="http://schemas.microsoft.com/office/drawing/2014/main" id="{7D53895D-621E-44A5-887D-6E78AE9191E7}"/>
              </a:ext>
            </a:extLst>
          </p:cNvPr>
          <p:cNvSpPr>
            <a:spLocks noGrp="1"/>
          </p:cNvSpPr>
          <p:nvPr/>
        </p:nvSpPr>
        <p:spPr>
          <a:xfrm>
            <a:off x="3433763" y="1219200"/>
            <a:ext cx="2576513"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B49315A6-BA60-4EAE-A220-1F8EAC41902F}"/>
              </a:ext>
            </a:extLst>
          </p:cNvPr>
          <p:cNvSpPr>
            <a:spLocks noGrp="1"/>
          </p:cNvSpPr>
          <p:nvPr/>
        </p:nvSpPr>
        <p:spPr>
          <a:xfrm>
            <a:off x="6181725" y="1219200"/>
            <a:ext cx="2576513" cy="4076700"/>
          </a:xfrm>
          <a:prstGeom prst="rect">
            <a:avLst/>
          </a:prstGeom>
          <a:solidFill>
            <a:srgbClr val="F6F9FD"/>
          </a:solidFill>
          <a:ln w="9525">
            <a:solidFill>
              <a:srgbClr val="B7C2D0"/>
            </a:solidFill>
            <a:prstDash val="solid"/>
          </a:ln>
        </p:spPr>
        <p:txBody>
          <a:bodyPr/>
          <a:lstStyle/>
          <a:p>
            <a:endParaRPr lang="zh-CN" altLang="en-US"/>
          </a:p>
        </p:txBody>
      </p:sp>
      <p:sp>
        <p:nvSpPr>
          <p:cNvPr id="11" name="矩形 10">
            <a:extLst>
              <a:ext uri="{FF2B5EF4-FFF2-40B4-BE49-F238E27FC236}">
                <a16:creationId xmlns:a16="http://schemas.microsoft.com/office/drawing/2014/main" id="{45CB06A1-00DE-4C69-ABEA-157DAB5B8562}"/>
              </a:ext>
            </a:extLst>
          </p:cNvPr>
          <p:cNvSpPr>
            <a:spLocks noGrp="1"/>
          </p:cNvSpPr>
          <p:nvPr/>
        </p:nvSpPr>
        <p:spPr>
          <a:xfrm>
            <a:off x="6181725" y="1219200"/>
            <a:ext cx="2576513"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0AEE19BD-A36F-4A61-A692-AC7B686FEF0D}"/>
              </a:ext>
            </a:extLst>
          </p:cNvPr>
          <p:cNvSpPr>
            <a:spLocks noGrp="1"/>
          </p:cNvSpPr>
          <p:nvPr/>
        </p:nvSpPr>
        <p:spPr>
          <a:xfrm>
            <a:off x="8929688" y="1219200"/>
            <a:ext cx="2576513" cy="4076700"/>
          </a:xfrm>
          <a:prstGeom prst="rect">
            <a:avLst/>
          </a:prstGeom>
          <a:solidFill>
            <a:srgbClr val="FFFCF4"/>
          </a:solidFill>
          <a:ln w="9525">
            <a:solidFill>
              <a:srgbClr val="B7C2D0"/>
            </a:solidFill>
            <a:prstDash val="solid"/>
          </a:ln>
        </p:spPr>
        <p:txBody>
          <a:bodyPr/>
          <a:lstStyle/>
          <a:p>
            <a:endParaRPr lang="zh-CN" altLang="en-US"/>
          </a:p>
        </p:txBody>
      </p:sp>
      <p:sp>
        <p:nvSpPr>
          <p:cNvPr id="13" name="矩形 12">
            <a:extLst>
              <a:ext uri="{FF2B5EF4-FFF2-40B4-BE49-F238E27FC236}">
                <a16:creationId xmlns:a16="http://schemas.microsoft.com/office/drawing/2014/main" id="{B9D78113-877C-491B-9C9A-95E7CB0C2F7D}"/>
              </a:ext>
            </a:extLst>
          </p:cNvPr>
          <p:cNvSpPr>
            <a:spLocks noGrp="1"/>
          </p:cNvSpPr>
          <p:nvPr/>
        </p:nvSpPr>
        <p:spPr>
          <a:xfrm>
            <a:off x="8929688" y="1219200"/>
            <a:ext cx="2576513"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B5E0E4DD-2EAA-4179-8920-C1F019DFC84C}"/>
              </a:ext>
            </a:extLst>
          </p:cNvPr>
          <p:cNvSpPr>
            <a:spLocks noGrp="1"/>
          </p:cNvSpPr>
          <p:nvPr/>
        </p:nvSpPr>
        <p:spPr>
          <a:xfrm>
            <a:off x="781050" y="1390650"/>
            <a:ext cx="2386013" cy="1428750"/>
          </a:xfrm>
          <a:prstGeom prst="rect">
            <a:avLst/>
          </a:prstGeom>
          <a:solidFill>
            <a:srgbClr val="E6F0FA"/>
          </a:solidFill>
          <a:ln w="9525">
            <a:solidFill>
              <a:srgbClr val="D4DCE6"/>
            </a:solidFill>
            <a:prstDash val="solid"/>
          </a:ln>
        </p:spPr>
        <p:txBody>
          <a:bodyPr/>
          <a:lstStyle/>
          <a:p>
            <a:endParaRPr lang="zh-CN" altLang="en-US"/>
          </a:p>
        </p:txBody>
      </p:sp>
      <p:sp>
        <p:nvSpPr>
          <p:cNvPr id="15" name="椭圆 14">
            <a:extLst>
              <a:ext uri="{FF2B5EF4-FFF2-40B4-BE49-F238E27FC236}">
                <a16:creationId xmlns:a16="http://schemas.microsoft.com/office/drawing/2014/main" id="{323B21E8-F70E-4D42-B32E-4E5C638E800E}"/>
              </a:ext>
            </a:extLst>
          </p:cNvPr>
          <p:cNvSpPr>
            <a:spLocks noGrp="1"/>
          </p:cNvSpPr>
          <p:nvPr/>
        </p:nvSpPr>
        <p:spPr>
          <a:xfrm>
            <a:off x="1650206"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16" name="矩形 15">
            <a:extLst>
              <a:ext uri="{FF2B5EF4-FFF2-40B4-BE49-F238E27FC236}">
                <a16:creationId xmlns:a16="http://schemas.microsoft.com/office/drawing/2014/main" id="{A9175C35-7F42-4730-A3DB-18C8565A4FFF}"/>
              </a:ext>
            </a:extLst>
          </p:cNvPr>
          <p:cNvSpPr>
            <a:spLocks noGrp="1"/>
          </p:cNvSpPr>
          <p:nvPr/>
        </p:nvSpPr>
        <p:spPr>
          <a:xfrm>
            <a:off x="1764506"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1</a:t>
            </a:r>
          </a:p>
        </p:txBody>
      </p:sp>
      <p:sp>
        <p:nvSpPr>
          <p:cNvPr id="17" name="矩形 16">
            <a:extLst>
              <a:ext uri="{FF2B5EF4-FFF2-40B4-BE49-F238E27FC236}">
                <a16:creationId xmlns:a16="http://schemas.microsoft.com/office/drawing/2014/main" id="{5EA6B23F-D824-4694-A322-6089B63FD338}"/>
              </a:ext>
            </a:extLst>
          </p:cNvPr>
          <p:cNvSpPr>
            <a:spLocks noGrp="1"/>
          </p:cNvSpPr>
          <p:nvPr/>
        </p:nvSpPr>
        <p:spPr>
          <a:xfrm>
            <a:off x="1149572" y="2400300"/>
            <a:ext cx="1648968"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FA9707DE-96E8-40C3-B023-6EF2D2F3B906}"/>
              </a:ext>
            </a:extLst>
          </p:cNvPr>
          <p:cNvSpPr>
            <a:spLocks noGrp="1"/>
          </p:cNvSpPr>
          <p:nvPr/>
        </p:nvSpPr>
        <p:spPr>
          <a:xfrm>
            <a:off x="1381458" y="2505075"/>
            <a:ext cx="118519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ED1812F8-B2F7-4135-8E96-D456F0102185}"/>
              </a:ext>
            </a:extLst>
          </p:cNvPr>
          <p:cNvSpPr>
            <a:spLocks noGrp="1"/>
          </p:cNvSpPr>
          <p:nvPr/>
        </p:nvSpPr>
        <p:spPr>
          <a:xfrm>
            <a:off x="1587579" y="2609850"/>
            <a:ext cx="772954"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D3D0D3E9-F039-4F62-86A6-1BB29888BA9F}"/>
              </a:ext>
            </a:extLst>
          </p:cNvPr>
          <p:cNvSpPr>
            <a:spLocks noGrp="1"/>
          </p:cNvSpPr>
          <p:nvPr/>
        </p:nvSpPr>
        <p:spPr>
          <a:xfrm>
            <a:off x="819150" y="2990850"/>
            <a:ext cx="2309813"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分布</a:t>
            </a:r>
          </a:p>
        </p:txBody>
      </p:sp>
      <p:sp>
        <p:nvSpPr>
          <p:cNvPr id="21" name="矩形 20">
            <a:extLst>
              <a:ext uri="{FF2B5EF4-FFF2-40B4-BE49-F238E27FC236}">
                <a16:creationId xmlns:a16="http://schemas.microsoft.com/office/drawing/2014/main" id="{4E80B73A-0350-4341-9ACB-D206AD22ABCA}"/>
              </a:ext>
            </a:extLst>
          </p:cNvPr>
          <p:cNvSpPr>
            <a:spLocks noGrp="1"/>
          </p:cNvSpPr>
          <p:nvPr/>
        </p:nvSpPr>
        <p:spPr>
          <a:xfrm>
            <a:off x="857250" y="3619500"/>
            <a:ext cx="2233613"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4E51B2D8-0F2A-457C-968E-B8D235040E61}"/>
              </a:ext>
            </a:extLst>
          </p:cNvPr>
          <p:cNvSpPr>
            <a:spLocks noGrp="1"/>
          </p:cNvSpPr>
          <p:nvPr/>
        </p:nvSpPr>
        <p:spPr>
          <a:xfrm>
            <a:off x="838200" y="3733800"/>
            <a:ext cx="2271713"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中心在哪里，偏态、长尾和缺失如何</a:t>
            </a:r>
          </a:p>
        </p:txBody>
      </p:sp>
      <p:sp>
        <p:nvSpPr>
          <p:cNvPr id="23" name="矩形 22">
            <a:extLst>
              <a:ext uri="{FF2B5EF4-FFF2-40B4-BE49-F238E27FC236}">
                <a16:creationId xmlns:a16="http://schemas.microsoft.com/office/drawing/2014/main" id="{A082CFE7-2750-4005-84ED-CC0E0066FA38}"/>
              </a:ext>
            </a:extLst>
          </p:cNvPr>
          <p:cNvSpPr>
            <a:spLocks noGrp="1"/>
          </p:cNvSpPr>
          <p:nvPr/>
        </p:nvSpPr>
        <p:spPr>
          <a:xfrm>
            <a:off x="3262313"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24" name="矩形 23">
            <a:extLst>
              <a:ext uri="{FF2B5EF4-FFF2-40B4-BE49-F238E27FC236}">
                <a16:creationId xmlns:a16="http://schemas.microsoft.com/office/drawing/2014/main" id="{C916DF39-E32C-4544-A141-B4995394EB61}"/>
              </a:ext>
            </a:extLst>
          </p:cNvPr>
          <p:cNvSpPr>
            <a:spLocks noGrp="1"/>
          </p:cNvSpPr>
          <p:nvPr/>
        </p:nvSpPr>
        <p:spPr>
          <a:xfrm>
            <a:off x="3529013" y="1390650"/>
            <a:ext cx="2386013" cy="1428750"/>
          </a:xfrm>
          <a:prstGeom prst="rect">
            <a:avLst/>
          </a:prstGeom>
          <a:solidFill>
            <a:srgbClr val="F7EFD6"/>
          </a:solidFill>
          <a:ln w="9525">
            <a:solidFill>
              <a:srgbClr val="D4DCE6"/>
            </a:solidFill>
            <a:prstDash val="solid"/>
          </a:ln>
        </p:spPr>
        <p:txBody>
          <a:bodyPr/>
          <a:lstStyle/>
          <a:p>
            <a:endParaRPr lang="zh-CN" altLang="en-US"/>
          </a:p>
        </p:txBody>
      </p:sp>
      <p:sp>
        <p:nvSpPr>
          <p:cNvPr id="25" name="椭圆 24">
            <a:extLst>
              <a:ext uri="{FF2B5EF4-FFF2-40B4-BE49-F238E27FC236}">
                <a16:creationId xmlns:a16="http://schemas.microsoft.com/office/drawing/2014/main" id="{855C0B09-82CD-4596-B449-17CB15F960FB}"/>
              </a:ext>
            </a:extLst>
          </p:cNvPr>
          <p:cNvSpPr>
            <a:spLocks noGrp="1"/>
          </p:cNvSpPr>
          <p:nvPr/>
        </p:nvSpPr>
        <p:spPr>
          <a:xfrm>
            <a:off x="4398169"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26" name="矩形 25">
            <a:extLst>
              <a:ext uri="{FF2B5EF4-FFF2-40B4-BE49-F238E27FC236}">
                <a16:creationId xmlns:a16="http://schemas.microsoft.com/office/drawing/2014/main" id="{FC524AEF-1AC8-484C-9A23-990E94FCF985}"/>
              </a:ext>
            </a:extLst>
          </p:cNvPr>
          <p:cNvSpPr>
            <a:spLocks noGrp="1"/>
          </p:cNvSpPr>
          <p:nvPr/>
        </p:nvSpPr>
        <p:spPr>
          <a:xfrm>
            <a:off x="4512469"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2</a:t>
            </a:r>
          </a:p>
        </p:txBody>
      </p:sp>
      <p:sp>
        <p:nvSpPr>
          <p:cNvPr id="27" name="矩形 26">
            <a:extLst>
              <a:ext uri="{FF2B5EF4-FFF2-40B4-BE49-F238E27FC236}">
                <a16:creationId xmlns:a16="http://schemas.microsoft.com/office/drawing/2014/main" id="{1B89A509-5F7C-431C-A06D-3D77BA758CB0}"/>
              </a:ext>
            </a:extLst>
          </p:cNvPr>
          <p:cNvSpPr>
            <a:spLocks noGrp="1"/>
          </p:cNvSpPr>
          <p:nvPr/>
        </p:nvSpPr>
        <p:spPr>
          <a:xfrm>
            <a:off x="3897535" y="2400300"/>
            <a:ext cx="1648968"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28" name="矩形 27">
            <a:extLst>
              <a:ext uri="{FF2B5EF4-FFF2-40B4-BE49-F238E27FC236}">
                <a16:creationId xmlns:a16="http://schemas.microsoft.com/office/drawing/2014/main" id="{57120B0D-E943-4D98-8213-78FBEF2F31AB}"/>
              </a:ext>
            </a:extLst>
          </p:cNvPr>
          <p:cNvSpPr>
            <a:spLocks noGrp="1"/>
          </p:cNvSpPr>
          <p:nvPr/>
        </p:nvSpPr>
        <p:spPr>
          <a:xfrm>
            <a:off x="4129421" y="2505075"/>
            <a:ext cx="118519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9" name="矩形 28">
            <a:extLst>
              <a:ext uri="{FF2B5EF4-FFF2-40B4-BE49-F238E27FC236}">
                <a16:creationId xmlns:a16="http://schemas.microsoft.com/office/drawing/2014/main" id="{EC2704B2-A065-4383-8646-97CB5584976C}"/>
              </a:ext>
            </a:extLst>
          </p:cNvPr>
          <p:cNvSpPr>
            <a:spLocks noGrp="1"/>
          </p:cNvSpPr>
          <p:nvPr/>
        </p:nvSpPr>
        <p:spPr>
          <a:xfrm>
            <a:off x="4335542" y="2609850"/>
            <a:ext cx="772954"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0" name="矩形 29">
            <a:extLst>
              <a:ext uri="{FF2B5EF4-FFF2-40B4-BE49-F238E27FC236}">
                <a16:creationId xmlns:a16="http://schemas.microsoft.com/office/drawing/2014/main" id="{DF882928-F7B4-4F9B-A3C0-C4D79ABD471E}"/>
              </a:ext>
            </a:extLst>
          </p:cNvPr>
          <p:cNvSpPr>
            <a:spLocks noGrp="1"/>
          </p:cNvSpPr>
          <p:nvPr/>
        </p:nvSpPr>
        <p:spPr>
          <a:xfrm>
            <a:off x="3567113" y="2990850"/>
            <a:ext cx="2309813" cy="552450"/>
          </a:xfrm>
          <a:prstGeom prst="rect">
            <a:avLst/>
          </a:prstGeom>
          <a:solidFill>
            <a:srgbClr val="FFFCF4"/>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群体差异</a:t>
            </a:r>
          </a:p>
        </p:txBody>
      </p:sp>
      <p:sp>
        <p:nvSpPr>
          <p:cNvPr id="31" name="矩形 30">
            <a:extLst>
              <a:ext uri="{FF2B5EF4-FFF2-40B4-BE49-F238E27FC236}">
                <a16:creationId xmlns:a16="http://schemas.microsoft.com/office/drawing/2014/main" id="{9BAD7284-C2DD-497C-9090-304CD4C79EFB}"/>
              </a:ext>
            </a:extLst>
          </p:cNvPr>
          <p:cNvSpPr>
            <a:spLocks noGrp="1"/>
          </p:cNvSpPr>
          <p:nvPr/>
        </p:nvSpPr>
        <p:spPr>
          <a:xfrm>
            <a:off x="3605213" y="3619500"/>
            <a:ext cx="2233613"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19F18634-0E1D-4CB8-9282-93F9EF80A265}"/>
              </a:ext>
            </a:extLst>
          </p:cNvPr>
          <p:cNvSpPr>
            <a:spLocks noGrp="1"/>
          </p:cNvSpPr>
          <p:nvPr/>
        </p:nvSpPr>
        <p:spPr>
          <a:xfrm>
            <a:off x="3586163" y="3733800"/>
            <a:ext cx="2271713" cy="876300"/>
          </a:xfrm>
          <a:prstGeom prst="rect">
            <a:avLst/>
          </a:prstGeom>
          <a:solidFill>
            <a:srgbClr val="FFFCF4"/>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不同课程或学生群体是否系统不同</a:t>
            </a:r>
          </a:p>
        </p:txBody>
      </p:sp>
      <p:sp>
        <p:nvSpPr>
          <p:cNvPr id="33" name="矩形 32">
            <a:extLst>
              <a:ext uri="{FF2B5EF4-FFF2-40B4-BE49-F238E27FC236}">
                <a16:creationId xmlns:a16="http://schemas.microsoft.com/office/drawing/2014/main" id="{40578874-F655-4B8A-BB92-0BFC911BB0DC}"/>
              </a:ext>
            </a:extLst>
          </p:cNvPr>
          <p:cNvSpPr>
            <a:spLocks noGrp="1"/>
          </p:cNvSpPr>
          <p:nvPr/>
        </p:nvSpPr>
        <p:spPr>
          <a:xfrm>
            <a:off x="6010275"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34" name="矩形 33">
            <a:extLst>
              <a:ext uri="{FF2B5EF4-FFF2-40B4-BE49-F238E27FC236}">
                <a16:creationId xmlns:a16="http://schemas.microsoft.com/office/drawing/2014/main" id="{2128BBB4-F9F1-4493-94DB-9BD7B3638E22}"/>
              </a:ext>
            </a:extLst>
          </p:cNvPr>
          <p:cNvSpPr>
            <a:spLocks noGrp="1"/>
          </p:cNvSpPr>
          <p:nvPr/>
        </p:nvSpPr>
        <p:spPr>
          <a:xfrm>
            <a:off x="6276975" y="1390650"/>
            <a:ext cx="2386013" cy="1428750"/>
          </a:xfrm>
          <a:prstGeom prst="rect">
            <a:avLst/>
          </a:prstGeom>
          <a:solidFill>
            <a:srgbClr val="E6F0FA"/>
          </a:solidFill>
          <a:ln w="9525">
            <a:solidFill>
              <a:srgbClr val="D4DCE6"/>
            </a:solidFill>
            <a:prstDash val="solid"/>
          </a:ln>
        </p:spPr>
        <p:txBody>
          <a:bodyPr/>
          <a:lstStyle/>
          <a:p>
            <a:endParaRPr lang="zh-CN" altLang="en-US"/>
          </a:p>
        </p:txBody>
      </p:sp>
      <p:sp>
        <p:nvSpPr>
          <p:cNvPr id="35" name="椭圆 34">
            <a:extLst>
              <a:ext uri="{FF2B5EF4-FFF2-40B4-BE49-F238E27FC236}">
                <a16:creationId xmlns:a16="http://schemas.microsoft.com/office/drawing/2014/main" id="{CD7F2EB5-4BED-471A-A968-E461BE917D7E}"/>
              </a:ext>
            </a:extLst>
          </p:cNvPr>
          <p:cNvSpPr>
            <a:spLocks noGrp="1"/>
          </p:cNvSpPr>
          <p:nvPr/>
        </p:nvSpPr>
        <p:spPr>
          <a:xfrm>
            <a:off x="7146131"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36" name="矩形 35">
            <a:extLst>
              <a:ext uri="{FF2B5EF4-FFF2-40B4-BE49-F238E27FC236}">
                <a16:creationId xmlns:a16="http://schemas.microsoft.com/office/drawing/2014/main" id="{696DC87B-010B-4D07-99F4-627F33193943}"/>
              </a:ext>
            </a:extLst>
          </p:cNvPr>
          <p:cNvSpPr>
            <a:spLocks noGrp="1"/>
          </p:cNvSpPr>
          <p:nvPr/>
        </p:nvSpPr>
        <p:spPr>
          <a:xfrm>
            <a:off x="7260431"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3</a:t>
            </a:r>
          </a:p>
        </p:txBody>
      </p:sp>
      <p:sp>
        <p:nvSpPr>
          <p:cNvPr id="37" name="矩形 36">
            <a:extLst>
              <a:ext uri="{FF2B5EF4-FFF2-40B4-BE49-F238E27FC236}">
                <a16:creationId xmlns:a16="http://schemas.microsoft.com/office/drawing/2014/main" id="{7F94E9C7-7438-4FCD-B47B-ABC545901873}"/>
              </a:ext>
            </a:extLst>
          </p:cNvPr>
          <p:cNvSpPr>
            <a:spLocks noGrp="1"/>
          </p:cNvSpPr>
          <p:nvPr/>
        </p:nvSpPr>
        <p:spPr>
          <a:xfrm>
            <a:off x="6645497" y="2400300"/>
            <a:ext cx="1648968"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8" name="矩形 37">
            <a:extLst>
              <a:ext uri="{FF2B5EF4-FFF2-40B4-BE49-F238E27FC236}">
                <a16:creationId xmlns:a16="http://schemas.microsoft.com/office/drawing/2014/main" id="{25366F65-5788-4382-A928-8D43E57607F1}"/>
              </a:ext>
            </a:extLst>
          </p:cNvPr>
          <p:cNvSpPr>
            <a:spLocks noGrp="1"/>
          </p:cNvSpPr>
          <p:nvPr/>
        </p:nvSpPr>
        <p:spPr>
          <a:xfrm>
            <a:off x="6877383" y="2505075"/>
            <a:ext cx="118519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9" name="矩形 38">
            <a:extLst>
              <a:ext uri="{FF2B5EF4-FFF2-40B4-BE49-F238E27FC236}">
                <a16:creationId xmlns:a16="http://schemas.microsoft.com/office/drawing/2014/main" id="{70B739C0-4EF5-45C3-B26B-4269B7D794E1}"/>
              </a:ext>
            </a:extLst>
          </p:cNvPr>
          <p:cNvSpPr>
            <a:spLocks noGrp="1"/>
          </p:cNvSpPr>
          <p:nvPr/>
        </p:nvSpPr>
        <p:spPr>
          <a:xfrm>
            <a:off x="7083504" y="2609850"/>
            <a:ext cx="772954"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0" name="矩形 39">
            <a:extLst>
              <a:ext uri="{FF2B5EF4-FFF2-40B4-BE49-F238E27FC236}">
                <a16:creationId xmlns:a16="http://schemas.microsoft.com/office/drawing/2014/main" id="{D89DDD4C-1FAB-420C-A15D-F022547C0142}"/>
              </a:ext>
            </a:extLst>
          </p:cNvPr>
          <p:cNvSpPr>
            <a:spLocks noGrp="1"/>
          </p:cNvSpPr>
          <p:nvPr/>
        </p:nvSpPr>
        <p:spPr>
          <a:xfrm>
            <a:off x="6315075" y="2990850"/>
            <a:ext cx="2309813"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变量关系</a:t>
            </a:r>
          </a:p>
        </p:txBody>
      </p:sp>
      <p:sp>
        <p:nvSpPr>
          <p:cNvPr id="41" name="矩形 40">
            <a:extLst>
              <a:ext uri="{FF2B5EF4-FFF2-40B4-BE49-F238E27FC236}">
                <a16:creationId xmlns:a16="http://schemas.microsoft.com/office/drawing/2014/main" id="{B61FBE43-AC45-4775-B30A-AA3ED394F5AE}"/>
              </a:ext>
            </a:extLst>
          </p:cNvPr>
          <p:cNvSpPr>
            <a:spLocks noGrp="1"/>
          </p:cNvSpPr>
          <p:nvPr/>
        </p:nvSpPr>
        <p:spPr>
          <a:xfrm>
            <a:off x="6353175" y="3619500"/>
            <a:ext cx="2233613"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EA3991B0-68CA-40B5-8A51-A070E6CC3667}"/>
              </a:ext>
            </a:extLst>
          </p:cNvPr>
          <p:cNvSpPr>
            <a:spLocks noGrp="1"/>
          </p:cNvSpPr>
          <p:nvPr/>
        </p:nvSpPr>
        <p:spPr>
          <a:xfrm>
            <a:off x="6334125" y="3733800"/>
            <a:ext cx="2271713"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哪些变量共同变化，关系是否非线性</a:t>
            </a:r>
          </a:p>
        </p:txBody>
      </p:sp>
      <p:sp>
        <p:nvSpPr>
          <p:cNvPr id="43" name="矩形 42">
            <a:extLst>
              <a:ext uri="{FF2B5EF4-FFF2-40B4-BE49-F238E27FC236}">
                <a16:creationId xmlns:a16="http://schemas.microsoft.com/office/drawing/2014/main" id="{66988B1E-8D1E-40E7-B347-B5A71AF9F9E9}"/>
              </a:ext>
            </a:extLst>
          </p:cNvPr>
          <p:cNvSpPr>
            <a:spLocks noGrp="1"/>
          </p:cNvSpPr>
          <p:nvPr/>
        </p:nvSpPr>
        <p:spPr>
          <a:xfrm>
            <a:off x="8758238"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44" name="矩形 43">
            <a:extLst>
              <a:ext uri="{FF2B5EF4-FFF2-40B4-BE49-F238E27FC236}">
                <a16:creationId xmlns:a16="http://schemas.microsoft.com/office/drawing/2014/main" id="{776080F6-21F0-434F-8411-4F637DB60CC9}"/>
              </a:ext>
            </a:extLst>
          </p:cNvPr>
          <p:cNvSpPr>
            <a:spLocks noGrp="1"/>
          </p:cNvSpPr>
          <p:nvPr/>
        </p:nvSpPr>
        <p:spPr>
          <a:xfrm>
            <a:off x="9024938" y="1390650"/>
            <a:ext cx="2386013" cy="1428750"/>
          </a:xfrm>
          <a:prstGeom prst="rect">
            <a:avLst/>
          </a:prstGeom>
          <a:solidFill>
            <a:srgbClr val="F7EFD6"/>
          </a:solidFill>
          <a:ln w="9525">
            <a:solidFill>
              <a:srgbClr val="D4DCE6"/>
            </a:solidFill>
            <a:prstDash val="solid"/>
          </a:ln>
        </p:spPr>
        <p:txBody>
          <a:bodyPr/>
          <a:lstStyle/>
          <a:p>
            <a:endParaRPr lang="zh-CN" altLang="en-US"/>
          </a:p>
        </p:txBody>
      </p:sp>
      <p:sp>
        <p:nvSpPr>
          <p:cNvPr id="45" name="椭圆 44">
            <a:extLst>
              <a:ext uri="{FF2B5EF4-FFF2-40B4-BE49-F238E27FC236}">
                <a16:creationId xmlns:a16="http://schemas.microsoft.com/office/drawing/2014/main" id="{F47D045C-CC1D-4D6D-80CF-0EE0D585FEB2}"/>
              </a:ext>
            </a:extLst>
          </p:cNvPr>
          <p:cNvSpPr>
            <a:spLocks noGrp="1"/>
          </p:cNvSpPr>
          <p:nvPr/>
        </p:nvSpPr>
        <p:spPr>
          <a:xfrm>
            <a:off x="9894094"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46" name="矩形 45">
            <a:extLst>
              <a:ext uri="{FF2B5EF4-FFF2-40B4-BE49-F238E27FC236}">
                <a16:creationId xmlns:a16="http://schemas.microsoft.com/office/drawing/2014/main" id="{4A286245-2F3A-4B69-A3F4-F132A054A17E}"/>
              </a:ext>
            </a:extLst>
          </p:cNvPr>
          <p:cNvSpPr>
            <a:spLocks noGrp="1"/>
          </p:cNvSpPr>
          <p:nvPr/>
        </p:nvSpPr>
        <p:spPr>
          <a:xfrm>
            <a:off x="10008394"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4</a:t>
            </a:r>
          </a:p>
        </p:txBody>
      </p:sp>
      <p:sp>
        <p:nvSpPr>
          <p:cNvPr id="47" name="矩形 46">
            <a:extLst>
              <a:ext uri="{FF2B5EF4-FFF2-40B4-BE49-F238E27FC236}">
                <a16:creationId xmlns:a16="http://schemas.microsoft.com/office/drawing/2014/main" id="{9357C632-3B66-4523-A8A3-CCAE0F90F251}"/>
              </a:ext>
            </a:extLst>
          </p:cNvPr>
          <p:cNvSpPr>
            <a:spLocks noGrp="1"/>
          </p:cNvSpPr>
          <p:nvPr/>
        </p:nvSpPr>
        <p:spPr>
          <a:xfrm>
            <a:off x="9393460" y="2400300"/>
            <a:ext cx="1648968"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48" name="矩形 47">
            <a:extLst>
              <a:ext uri="{FF2B5EF4-FFF2-40B4-BE49-F238E27FC236}">
                <a16:creationId xmlns:a16="http://schemas.microsoft.com/office/drawing/2014/main" id="{C73E8889-37E4-490F-8789-0B3236F17906}"/>
              </a:ext>
            </a:extLst>
          </p:cNvPr>
          <p:cNvSpPr>
            <a:spLocks noGrp="1"/>
          </p:cNvSpPr>
          <p:nvPr/>
        </p:nvSpPr>
        <p:spPr>
          <a:xfrm>
            <a:off x="9625346" y="2505075"/>
            <a:ext cx="118519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9" name="矩形 48">
            <a:extLst>
              <a:ext uri="{FF2B5EF4-FFF2-40B4-BE49-F238E27FC236}">
                <a16:creationId xmlns:a16="http://schemas.microsoft.com/office/drawing/2014/main" id="{2CA6D5B3-B348-4F5B-B107-74048FA2DDFA}"/>
              </a:ext>
            </a:extLst>
          </p:cNvPr>
          <p:cNvSpPr>
            <a:spLocks noGrp="1"/>
          </p:cNvSpPr>
          <p:nvPr/>
        </p:nvSpPr>
        <p:spPr>
          <a:xfrm>
            <a:off x="9831467" y="2609850"/>
            <a:ext cx="772954"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626FCFC8-0DAD-457B-A586-0F96C623776F}"/>
              </a:ext>
            </a:extLst>
          </p:cNvPr>
          <p:cNvSpPr>
            <a:spLocks noGrp="1"/>
          </p:cNvSpPr>
          <p:nvPr/>
        </p:nvSpPr>
        <p:spPr>
          <a:xfrm>
            <a:off x="9063038" y="2990850"/>
            <a:ext cx="2309813" cy="552450"/>
          </a:xfrm>
          <a:prstGeom prst="rect">
            <a:avLst/>
          </a:prstGeom>
          <a:solidFill>
            <a:srgbClr val="FFFCF4"/>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时间与异常</a:t>
            </a:r>
          </a:p>
        </p:txBody>
      </p:sp>
      <p:sp>
        <p:nvSpPr>
          <p:cNvPr id="51" name="矩形 50">
            <a:extLst>
              <a:ext uri="{FF2B5EF4-FFF2-40B4-BE49-F238E27FC236}">
                <a16:creationId xmlns:a16="http://schemas.microsoft.com/office/drawing/2014/main" id="{9609145B-3D53-40C8-806E-672AB8B3538F}"/>
              </a:ext>
            </a:extLst>
          </p:cNvPr>
          <p:cNvSpPr>
            <a:spLocks noGrp="1"/>
          </p:cNvSpPr>
          <p:nvPr/>
        </p:nvSpPr>
        <p:spPr>
          <a:xfrm>
            <a:off x="9101138" y="3619500"/>
            <a:ext cx="2233613"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52" name="矩形 51">
            <a:extLst>
              <a:ext uri="{FF2B5EF4-FFF2-40B4-BE49-F238E27FC236}">
                <a16:creationId xmlns:a16="http://schemas.microsoft.com/office/drawing/2014/main" id="{53A624B6-393E-4A50-BB77-3F80757FD622}"/>
              </a:ext>
            </a:extLst>
          </p:cNvPr>
          <p:cNvSpPr>
            <a:spLocks noGrp="1"/>
          </p:cNvSpPr>
          <p:nvPr/>
        </p:nvSpPr>
        <p:spPr>
          <a:xfrm>
            <a:off x="9082088" y="3733800"/>
            <a:ext cx="2271713" cy="876300"/>
          </a:xfrm>
          <a:prstGeom prst="rect">
            <a:avLst/>
          </a:prstGeom>
          <a:solidFill>
            <a:srgbClr val="FFFCF4"/>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模式是否随时间变化，极端点来自哪里</a:t>
            </a:r>
          </a:p>
        </p:txBody>
      </p:sp>
      <p:sp>
        <p:nvSpPr>
          <p:cNvPr id="53" name="矩形 52">
            <a:extLst>
              <a:ext uri="{FF2B5EF4-FFF2-40B4-BE49-F238E27FC236}">
                <a16:creationId xmlns:a16="http://schemas.microsoft.com/office/drawing/2014/main" id="{744DA757-1D93-4386-A74B-2D9CDA6653F5}"/>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54" name="矩形 53">
            <a:extLst>
              <a:ext uri="{FF2B5EF4-FFF2-40B4-BE49-F238E27FC236}">
                <a16:creationId xmlns:a16="http://schemas.microsoft.com/office/drawing/2014/main" id="{2F502A91-B7CB-4245-9D4E-A79899DE80F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每一张图都应对应一个可说明的问题。</a:t>
            </a:r>
          </a:p>
        </p:txBody>
      </p:sp>
    </p:spTree>
    <p:extLst>
      <p:ext uri="{BB962C8B-B14F-4D97-AF65-F5344CB8AC3E}">
        <p14:creationId xmlns:p14="http://schemas.microsoft.com/office/powerpoint/2010/main" val="1631342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01702851-0B39-46A5-A0B7-4DF60733C79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B00A782D-BC34-493A-BFAE-076A6677414B}"/>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C4B4F837-68B6-4BB9-8255-302A341A3284}"/>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886304A5-4F3E-4090-9DD5-8CEFEB79A34F}"/>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集中趋势：均值、中位数与众数</a:t>
            </a:r>
          </a:p>
        </p:txBody>
      </p:sp>
      <p:sp>
        <p:nvSpPr>
          <p:cNvPr id="5" name="矩形 4">
            <a:extLst>
              <a:ext uri="{FF2B5EF4-FFF2-40B4-BE49-F238E27FC236}">
                <a16:creationId xmlns:a16="http://schemas.microsoft.com/office/drawing/2014/main" id="{B18BF6D4-F186-4613-9289-17BEF367407A}"/>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79/90</a:t>
            </a:r>
          </a:p>
        </p:txBody>
      </p:sp>
      <p:sp>
        <p:nvSpPr>
          <p:cNvPr id="6" name="矩形 5">
            <a:extLst>
              <a:ext uri="{FF2B5EF4-FFF2-40B4-BE49-F238E27FC236}">
                <a16:creationId xmlns:a16="http://schemas.microsoft.com/office/drawing/2014/main" id="{05E1FEDD-FECE-4367-A59F-C64B20602C8F}"/>
              </a:ext>
            </a:extLst>
          </p:cNvPr>
          <p:cNvSpPr>
            <a:spLocks noGrp="1"/>
          </p:cNvSpPr>
          <p:nvPr/>
        </p:nvSpPr>
        <p:spPr>
          <a:xfrm>
            <a:off x="666750" y="1428750"/>
            <a:ext cx="2381250" cy="95250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7" name="矩形 6">
            <a:extLst>
              <a:ext uri="{FF2B5EF4-FFF2-40B4-BE49-F238E27FC236}">
                <a16:creationId xmlns:a16="http://schemas.microsoft.com/office/drawing/2014/main" id="{3F8AA054-A6AB-4676-8182-FD91DA17C1A9}"/>
              </a:ext>
            </a:extLst>
          </p:cNvPr>
          <p:cNvSpPr>
            <a:spLocks noGrp="1"/>
          </p:cNvSpPr>
          <p:nvPr/>
        </p:nvSpPr>
        <p:spPr>
          <a:xfrm>
            <a:off x="819150" y="1562100"/>
            <a:ext cx="2076450" cy="74295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统计量</a:t>
            </a:r>
          </a:p>
        </p:txBody>
      </p:sp>
      <p:sp>
        <p:nvSpPr>
          <p:cNvPr id="8" name="矩形 7">
            <a:extLst>
              <a:ext uri="{FF2B5EF4-FFF2-40B4-BE49-F238E27FC236}">
                <a16:creationId xmlns:a16="http://schemas.microsoft.com/office/drawing/2014/main" id="{0C0A1AA6-C328-4790-B354-0A4BDE435545}"/>
              </a:ext>
            </a:extLst>
          </p:cNvPr>
          <p:cNvSpPr>
            <a:spLocks noGrp="1"/>
          </p:cNvSpPr>
          <p:nvPr/>
        </p:nvSpPr>
        <p:spPr>
          <a:xfrm>
            <a:off x="3048000" y="1428750"/>
            <a:ext cx="257175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9" name="矩形 8">
            <a:extLst>
              <a:ext uri="{FF2B5EF4-FFF2-40B4-BE49-F238E27FC236}">
                <a16:creationId xmlns:a16="http://schemas.microsoft.com/office/drawing/2014/main" id="{AA9B618C-8A08-40CC-85A5-316989B0434F}"/>
              </a:ext>
            </a:extLst>
          </p:cNvPr>
          <p:cNvSpPr>
            <a:spLocks noGrp="1"/>
          </p:cNvSpPr>
          <p:nvPr/>
        </p:nvSpPr>
        <p:spPr>
          <a:xfrm>
            <a:off x="3200400" y="1562100"/>
            <a:ext cx="226695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定义</a:t>
            </a:r>
          </a:p>
        </p:txBody>
      </p:sp>
      <p:sp>
        <p:nvSpPr>
          <p:cNvPr id="10" name="矩形 9">
            <a:extLst>
              <a:ext uri="{FF2B5EF4-FFF2-40B4-BE49-F238E27FC236}">
                <a16:creationId xmlns:a16="http://schemas.microsoft.com/office/drawing/2014/main" id="{80DC0A9C-67B7-4352-A276-1EE8AE6A6C7F}"/>
              </a:ext>
            </a:extLst>
          </p:cNvPr>
          <p:cNvSpPr>
            <a:spLocks noGrp="1"/>
          </p:cNvSpPr>
          <p:nvPr/>
        </p:nvSpPr>
        <p:spPr>
          <a:xfrm>
            <a:off x="5619750" y="1428750"/>
            <a:ext cx="571500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1" name="矩形 10">
            <a:extLst>
              <a:ext uri="{FF2B5EF4-FFF2-40B4-BE49-F238E27FC236}">
                <a16:creationId xmlns:a16="http://schemas.microsoft.com/office/drawing/2014/main" id="{D3F875FC-840E-4FA6-B800-283150BBF6A4}"/>
              </a:ext>
            </a:extLst>
          </p:cNvPr>
          <p:cNvSpPr>
            <a:spLocks noGrp="1"/>
          </p:cNvSpPr>
          <p:nvPr/>
        </p:nvSpPr>
        <p:spPr>
          <a:xfrm>
            <a:off x="5772150" y="1562100"/>
            <a:ext cx="541020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适合情况</a:t>
            </a:r>
          </a:p>
        </p:txBody>
      </p:sp>
      <p:sp>
        <p:nvSpPr>
          <p:cNvPr id="12" name="矩形 11">
            <a:extLst>
              <a:ext uri="{FF2B5EF4-FFF2-40B4-BE49-F238E27FC236}">
                <a16:creationId xmlns:a16="http://schemas.microsoft.com/office/drawing/2014/main" id="{2BF38AED-C751-4394-ABE2-9357DD8D352F}"/>
              </a:ext>
            </a:extLst>
          </p:cNvPr>
          <p:cNvSpPr>
            <a:spLocks noGrp="1"/>
          </p:cNvSpPr>
          <p:nvPr/>
        </p:nvSpPr>
        <p:spPr>
          <a:xfrm>
            <a:off x="666750" y="2419350"/>
            <a:ext cx="2381250" cy="95250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3" name="矩形 12">
            <a:extLst>
              <a:ext uri="{FF2B5EF4-FFF2-40B4-BE49-F238E27FC236}">
                <a16:creationId xmlns:a16="http://schemas.microsoft.com/office/drawing/2014/main" id="{9C6BA7C1-3531-4220-8DDB-0C5A68AF363D}"/>
              </a:ext>
            </a:extLst>
          </p:cNvPr>
          <p:cNvSpPr>
            <a:spLocks noGrp="1"/>
          </p:cNvSpPr>
          <p:nvPr/>
        </p:nvSpPr>
        <p:spPr>
          <a:xfrm>
            <a:off x="819150" y="2552700"/>
            <a:ext cx="2076450" cy="74295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均值 </a:t>
            </a:r>
            <a:r>
              <a:rPr>
                <a:latin typeface="Times New Roman"/>
                <a:ea typeface="Times New Roman"/>
                <a:cs typeface="Times New Roman"/>
              </a:rPr>
              <a:t>Mean</a:t>
            </a:r>
          </a:p>
        </p:txBody>
      </p:sp>
      <p:sp>
        <p:nvSpPr>
          <p:cNvPr id="14" name="矩形 13">
            <a:extLst>
              <a:ext uri="{FF2B5EF4-FFF2-40B4-BE49-F238E27FC236}">
                <a16:creationId xmlns:a16="http://schemas.microsoft.com/office/drawing/2014/main" id="{220326F9-D636-4C93-9802-289D157F254F}"/>
              </a:ext>
            </a:extLst>
          </p:cNvPr>
          <p:cNvSpPr>
            <a:spLocks noGrp="1"/>
          </p:cNvSpPr>
          <p:nvPr/>
        </p:nvSpPr>
        <p:spPr>
          <a:xfrm>
            <a:off x="3048000" y="2419350"/>
            <a:ext cx="257175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5" name="矩形 14">
            <a:extLst>
              <a:ext uri="{FF2B5EF4-FFF2-40B4-BE49-F238E27FC236}">
                <a16:creationId xmlns:a16="http://schemas.microsoft.com/office/drawing/2014/main" id="{18186D2A-0D28-4A9D-A2C7-490062143AA8}"/>
              </a:ext>
            </a:extLst>
          </p:cNvPr>
          <p:cNvSpPr>
            <a:spLocks noGrp="1"/>
          </p:cNvSpPr>
          <p:nvPr/>
        </p:nvSpPr>
        <p:spPr>
          <a:xfrm>
            <a:off x="3200400" y="2552700"/>
            <a:ext cx="226695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所有值之和除以样本数</a:t>
            </a:r>
          </a:p>
        </p:txBody>
      </p:sp>
      <p:sp>
        <p:nvSpPr>
          <p:cNvPr id="16" name="矩形 15">
            <a:extLst>
              <a:ext uri="{FF2B5EF4-FFF2-40B4-BE49-F238E27FC236}">
                <a16:creationId xmlns:a16="http://schemas.microsoft.com/office/drawing/2014/main" id="{A9A142B7-156F-45FB-9C93-0C62145E069A}"/>
              </a:ext>
            </a:extLst>
          </p:cNvPr>
          <p:cNvSpPr>
            <a:spLocks noGrp="1"/>
          </p:cNvSpPr>
          <p:nvPr/>
        </p:nvSpPr>
        <p:spPr>
          <a:xfrm>
            <a:off x="5619750" y="2419350"/>
            <a:ext cx="571500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17" name="矩形 16">
            <a:extLst>
              <a:ext uri="{FF2B5EF4-FFF2-40B4-BE49-F238E27FC236}">
                <a16:creationId xmlns:a16="http://schemas.microsoft.com/office/drawing/2014/main" id="{FFFBB820-BC66-4BA7-B7FA-15373C11845D}"/>
              </a:ext>
            </a:extLst>
          </p:cNvPr>
          <p:cNvSpPr>
            <a:spLocks noGrp="1"/>
          </p:cNvSpPr>
          <p:nvPr/>
        </p:nvSpPr>
        <p:spPr>
          <a:xfrm>
            <a:off x="5772150" y="2552700"/>
            <a:ext cx="541020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分布较对称，数值尺度有意义</a:t>
            </a:r>
          </a:p>
        </p:txBody>
      </p:sp>
      <p:sp>
        <p:nvSpPr>
          <p:cNvPr id="18" name="矩形 17">
            <a:extLst>
              <a:ext uri="{FF2B5EF4-FFF2-40B4-BE49-F238E27FC236}">
                <a16:creationId xmlns:a16="http://schemas.microsoft.com/office/drawing/2014/main" id="{C536B802-3E91-4C54-8314-D41A4DEF89D0}"/>
              </a:ext>
            </a:extLst>
          </p:cNvPr>
          <p:cNvSpPr>
            <a:spLocks noGrp="1"/>
          </p:cNvSpPr>
          <p:nvPr/>
        </p:nvSpPr>
        <p:spPr>
          <a:xfrm>
            <a:off x="666750" y="3409950"/>
            <a:ext cx="2381250" cy="95250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19" name="矩形 18">
            <a:extLst>
              <a:ext uri="{FF2B5EF4-FFF2-40B4-BE49-F238E27FC236}">
                <a16:creationId xmlns:a16="http://schemas.microsoft.com/office/drawing/2014/main" id="{9A91B7DD-F2A9-4E66-BB90-68AF41E81C26}"/>
              </a:ext>
            </a:extLst>
          </p:cNvPr>
          <p:cNvSpPr>
            <a:spLocks noGrp="1"/>
          </p:cNvSpPr>
          <p:nvPr/>
        </p:nvSpPr>
        <p:spPr>
          <a:xfrm>
            <a:off x="819150" y="3543300"/>
            <a:ext cx="2076450" cy="74295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中位数 </a:t>
            </a:r>
            <a:r>
              <a:rPr>
                <a:latin typeface="Times New Roman"/>
                <a:ea typeface="Times New Roman"/>
                <a:cs typeface="Times New Roman"/>
              </a:rPr>
              <a:t>Median</a:t>
            </a:r>
          </a:p>
        </p:txBody>
      </p:sp>
      <p:sp>
        <p:nvSpPr>
          <p:cNvPr id="20" name="矩形 19">
            <a:extLst>
              <a:ext uri="{FF2B5EF4-FFF2-40B4-BE49-F238E27FC236}">
                <a16:creationId xmlns:a16="http://schemas.microsoft.com/office/drawing/2014/main" id="{E88B7890-DE97-48A5-A7F6-BBE2431B9A8C}"/>
              </a:ext>
            </a:extLst>
          </p:cNvPr>
          <p:cNvSpPr>
            <a:spLocks noGrp="1"/>
          </p:cNvSpPr>
          <p:nvPr/>
        </p:nvSpPr>
        <p:spPr>
          <a:xfrm>
            <a:off x="3048000" y="3409950"/>
            <a:ext cx="257175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1" name="矩形 20">
            <a:extLst>
              <a:ext uri="{FF2B5EF4-FFF2-40B4-BE49-F238E27FC236}">
                <a16:creationId xmlns:a16="http://schemas.microsoft.com/office/drawing/2014/main" id="{11A47C5F-BD2A-48A7-A3A4-2500D376053B}"/>
              </a:ext>
            </a:extLst>
          </p:cNvPr>
          <p:cNvSpPr>
            <a:spLocks noGrp="1"/>
          </p:cNvSpPr>
          <p:nvPr/>
        </p:nvSpPr>
        <p:spPr>
          <a:xfrm>
            <a:off x="3200400" y="3543300"/>
            <a:ext cx="226695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排序后位于中间的位置</a:t>
            </a:r>
          </a:p>
        </p:txBody>
      </p:sp>
      <p:sp>
        <p:nvSpPr>
          <p:cNvPr id="22" name="矩形 21">
            <a:extLst>
              <a:ext uri="{FF2B5EF4-FFF2-40B4-BE49-F238E27FC236}">
                <a16:creationId xmlns:a16="http://schemas.microsoft.com/office/drawing/2014/main" id="{DDE4081B-E734-4FA0-B7CC-2B5D383F237E}"/>
              </a:ext>
            </a:extLst>
          </p:cNvPr>
          <p:cNvSpPr>
            <a:spLocks noGrp="1"/>
          </p:cNvSpPr>
          <p:nvPr/>
        </p:nvSpPr>
        <p:spPr>
          <a:xfrm>
            <a:off x="5619750" y="3409950"/>
            <a:ext cx="571500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3" name="矩形 22">
            <a:extLst>
              <a:ext uri="{FF2B5EF4-FFF2-40B4-BE49-F238E27FC236}">
                <a16:creationId xmlns:a16="http://schemas.microsoft.com/office/drawing/2014/main" id="{DE54D6E4-FCCB-4A79-BE28-91E3B4A0141A}"/>
              </a:ext>
            </a:extLst>
          </p:cNvPr>
          <p:cNvSpPr>
            <a:spLocks noGrp="1"/>
          </p:cNvSpPr>
          <p:nvPr/>
        </p:nvSpPr>
        <p:spPr>
          <a:xfrm>
            <a:off x="5772150" y="3543300"/>
            <a:ext cx="541020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偏态分布或存在极端值</a:t>
            </a:r>
          </a:p>
        </p:txBody>
      </p:sp>
      <p:sp>
        <p:nvSpPr>
          <p:cNvPr id="24" name="矩形 23">
            <a:extLst>
              <a:ext uri="{FF2B5EF4-FFF2-40B4-BE49-F238E27FC236}">
                <a16:creationId xmlns:a16="http://schemas.microsoft.com/office/drawing/2014/main" id="{B00642B3-B492-49A3-81F2-E4B6F58FC503}"/>
              </a:ext>
            </a:extLst>
          </p:cNvPr>
          <p:cNvSpPr>
            <a:spLocks noGrp="1"/>
          </p:cNvSpPr>
          <p:nvPr/>
        </p:nvSpPr>
        <p:spPr>
          <a:xfrm>
            <a:off x="666750" y="4400550"/>
            <a:ext cx="2381250" cy="952500"/>
          </a:xfrm>
          <a:prstGeom prst="rect">
            <a:avLst/>
          </a:prstGeom>
          <a:solidFill>
            <a:srgbClr val="EAF2FF">
              <a:alpha val="86667"/>
            </a:srgbClr>
          </a:solidFill>
          <a:ln w="9525">
            <a:solidFill>
              <a:srgbClr val="AAB4C2"/>
            </a:solidFill>
            <a:prstDash val="solid"/>
          </a:ln>
        </p:spPr>
        <p:txBody>
          <a:bodyPr/>
          <a:lstStyle/>
          <a:p>
            <a:endParaRPr lang="zh-CN" altLang="en-US"/>
          </a:p>
        </p:txBody>
      </p:sp>
      <p:sp>
        <p:nvSpPr>
          <p:cNvPr id="25" name="矩形 24">
            <a:extLst>
              <a:ext uri="{FF2B5EF4-FFF2-40B4-BE49-F238E27FC236}">
                <a16:creationId xmlns:a16="http://schemas.microsoft.com/office/drawing/2014/main" id="{8B1CAF5C-5CBD-4E70-AF3D-ADA70BFE1C0B}"/>
              </a:ext>
            </a:extLst>
          </p:cNvPr>
          <p:cNvSpPr>
            <a:spLocks noGrp="1"/>
          </p:cNvSpPr>
          <p:nvPr/>
        </p:nvSpPr>
        <p:spPr>
          <a:xfrm>
            <a:off x="819150" y="4533900"/>
            <a:ext cx="2076450" cy="742950"/>
          </a:xfrm>
          <a:prstGeom prst="rect">
            <a:avLst/>
          </a:prstGeom>
          <a:solidFill>
            <a:srgbClr val="EAF2FF">
              <a:alpha val="86667"/>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众数 </a:t>
            </a:r>
            <a:r>
              <a:rPr>
                <a:latin typeface="Times New Roman"/>
                <a:ea typeface="Times New Roman"/>
                <a:cs typeface="Times New Roman"/>
              </a:rPr>
              <a:t>Mode</a:t>
            </a:r>
          </a:p>
        </p:txBody>
      </p:sp>
      <p:sp>
        <p:nvSpPr>
          <p:cNvPr id="26" name="矩形 25">
            <a:extLst>
              <a:ext uri="{FF2B5EF4-FFF2-40B4-BE49-F238E27FC236}">
                <a16:creationId xmlns:a16="http://schemas.microsoft.com/office/drawing/2014/main" id="{F18FB408-AF69-49C3-A9CB-C97F293ABE1E}"/>
              </a:ext>
            </a:extLst>
          </p:cNvPr>
          <p:cNvSpPr>
            <a:spLocks noGrp="1"/>
          </p:cNvSpPr>
          <p:nvPr/>
        </p:nvSpPr>
        <p:spPr>
          <a:xfrm>
            <a:off x="3048000" y="4400550"/>
            <a:ext cx="257175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7" name="矩形 26">
            <a:extLst>
              <a:ext uri="{FF2B5EF4-FFF2-40B4-BE49-F238E27FC236}">
                <a16:creationId xmlns:a16="http://schemas.microsoft.com/office/drawing/2014/main" id="{4CF65157-5F61-4546-996C-03F50D765486}"/>
              </a:ext>
            </a:extLst>
          </p:cNvPr>
          <p:cNvSpPr>
            <a:spLocks noGrp="1"/>
          </p:cNvSpPr>
          <p:nvPr/>
        </p:nvSpPr>
        <p:spPr>
          <a:xfrm>
            <a:off x="3200400" y="4533900"/>
            <a:ext cx="226695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出现频率最高的取值</a:t>
            </a:r>
          </a:p>
        </p:txBody>
      </p:sp>
      <p:sp>
        <p:nvSpPr>
          <p:cNvPr id="28" name="矩形 27">
            <a:extLst>
              <a:ext uri="{FF2B5EF4-FFF2-40B4-BE49-F238E27FC236}">
                <a16:creationId xmlns:a16="http://schemas.microsoft.com/office/drawing/2014/main" id="{989FB594-08CB-48B5-9883-9CA8CD093533}"/>
              </a:ext>
            </a:extLst>
          </p:cNvPr>
          <p:cNvSpPr>
            <a:spLocks noGrp="1"/>
          </p:cNvSpPr>
          <p:nvPr/>
        </p:nvSpPr>
        <p:spPr>
          <a:xfrm>
            <a:off x="5619750" y="4400550"/>
            <a:ext cx="5715000" cy="952500"/>
          </a:xfrm>
          <a:prstGeom prst="rect">
            <a:avLst/>
          </a:prstGeom>
          <a:solidFill>
            <a:srgbClr val="FFFFFF">
              <a:alpha val="86667"/>
            </a:srgbClr>
          </a:solidFill>
          <a:ln w="9525">
            <a:solidFill>
              <a:srgbClr val="AAB4C2"/>
            </a:solidFill>
            <a:prstDash val="solid"/>
          </a:ln>
        </p:spPr>
        <p:txBody>
          <a:bodyPr/>
          <a:lstStyle/>
          <a:p>
            <a:endParaRPr lang="zh-CN" altLang="en-US"/>
          </a:p>
        </p:txBody>
      </p:sp>
      <p:sp>
        <p:nvSpPr>
          <p:cNvPr id="29" name="矩形 28">
            <a:extLst>
              <a:ext uri="{FF2B5EF4-FFF2-40B4-BE49-F238E27FC236}">
                <a16:creationId xmlns:a16="http://schemas.microsoft.com/office/drawing/2014/main" id="{96C28B86-4B9B-447B-BD96-79A7A4F7D6FF}"/>
              </a:ext>
            </a:extLst>
          </p:cNvPr>
          <p:cNvSpPr>
            <a:spLocks noGrp="1"/>
          </p:cNvSpPr>
          <p:nvPr/>
        </p:nvSpPr>
        <p:spPr>
          <a:xfrm>
            <a:off x="5772150" y="4533900"/>
            <a:ext cx="5410200" cy="742950"/>
          </a:xfrm>
          <a:prstGeom prst="rect">
            <a:avLst/>
          </a:prstGeom>
          <a:solidFill>
            <a:srgbClr val="FFFFFF">
              <a:alpha val="86667"/>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类别变量或离散取值</a:t>
            </a:r>
          </a:p>
        </p:txBody>
      </p:sp>
      <p:sp>
        <p:nvSpPr>
          <p:cNvPr id="30" name="矩形 29">
            <a:extLst>
              <a:ext uri="{FF2B5EF4-FFF2-40B4-BE49-F238E27FC236}">
                <a16:creationId xmlns:a16="http://schemas.microsoft.com/office/drawing/2014/main" id="{DFD779A8-A301-4F03-BFC6-233D56E47FCB}"/>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1" name="矩形 30">
            <a:extLst>
              <a:ext uri="{FF2B5EF4-FFF2-40B4-BE49-F238E27FC236}">
                <a16:creationId xmlns:a16="http://schemas.microsoft.com/office/drawing/2014/main" id="{3D237429-2E53-480F-8017-8F504E93D97D}"/>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中心位置没有唯一答案，要看分布形状与变量类型。</a:t>
            </a:r>
          </a:p>
        </p:txBody>
      </p:sp>
    </p:spTree>
    <p:extLst>
      <p:ext uri="{BB962C8B-B14F-4D97-AF65-F5344CB8AC3E}">
        <p14:creationId xmlns:p14="http://schemas.microsoft.com/office/powerpoint/2010/main" val="7207343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a:extLst>
              <a:ext uri="{FF2B5EF4-FFF2-40B4-BE49-F238E27FC236}">
                <a16:creationId xmlns:a16="http://schemas.microsoft.com/office/drawing/2014/main" id="{626617BE-984A-43B0-A53C-F36F37B2A7D4}"/>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E9B26CF0-E72B-4F15-9A47-5D9613882E69}"/>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52755E2-BD30-40BF-BC13-D254EE1BF400}"/>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ADFF1DDD-F7ED-409E-B62F-B1A856E2D0EC}"/>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例：一个极端值如何拉动均值</a:t>
            </a:r>
          </a:p>
        </p:txBody>
      </p:sp>
      <p:sp>
        <p:nvSpPr>
          <p:cNvPr id="5" name="矩形 4">
            <a:extLst>
              <a:ext uri="{FF2B5EF4-FFF2-40B4-BE49-F238E27FC236}">
                <a16:creationId xmlns:a16="http://schemas.microsoft.com/office/drawing/2014/main" id="{B4551A69-079C-4C27-AC91-2D6B790AD98E}"/>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80/90</a:t>
            </a:r>
          </a:p>
        </p:txBody>
      </p:sp>
      <p:sp>
        <p:nvSpPr>
          <p:cNvPr id="6" name="矩形 5">
            <a:extLst>
              <a:ext uri="{FF2B5EF4-FFF2-40B4-BE49-F238E27FC236}">
                <a16:creationId xmlns:a16="http://schemas.microsoft.com/office/drawing/2014/main" id="{1E6A5EC4-91C4-4E3E-BAE4-A330D208613C}"/>
              </a:ext>
            </a:extLst>
          </p:cNvPr>
          <p:cNvSpPr>
            <a:spLocks noGrp="1"/>
          </p:cNvSpPr>
          <p:nvPr/>
        </p:nvSpPr>
        <p:spPr>
          <a:xfrm>
            <a:off x="609600" y="1257300"/>
            <a:ext cx="4953000" cy="2857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C57A77DD-7D49-4592-8361-5570865104B3}"/>
              </a:ext>
            </a:extLst>
          </p:cNvPr>
          <p:cNvSpPr>
            <a:spLocks noGrp="1"/>
          </p:cNvSpPr>
          <p:nvPr/>
        </p:nvSpPr>
        <p:spPr>
          <a:xfrm>
            <a:off x="609600" y="1257300"/>
            <a:ext cx="4953000" cy="7620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FA1BB99F-71DE-4514-A2D5-943CEAFC30B6}"/>
              </a:ext>
            </a:extLst>
          </p:cNvPr>
          <p:cNvSpPr>
            <a:spLocks noGrp="1"/>
          </p:cNvSpPr>
          <p:nvPr/>
        </p:nvSpPr>
        <p:spPr>
          <a:xfrm>
            <a:off x="819150" y="1466850"/>
            <a:ext cx="4533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014DA1"/>
                </a:solidFill>
                <a:latin typeface="黑体"/>
                <a:ea typeface="黑体"/>
                <a:cs typeface="黑体"/>
              </a:defRPr>
            </a:pPr>
            <a:r>
              <a:rPr>
                <a:latin typeface="黑体"/>
                <a:ea typeface="黑体"/>
                <a:cs typeface="黑体"/>
              </a:rPr>
              <a:t>原始数据</a:t>
            </a:r>
          </a:p>
        </p:txBody>
      </p:sp>
      <p:sp>
        <p:nvSpPr>
          <p:cNvPr id="9" name="矩形 8">
            <a:extLst>
              <a:ext uri="{FF2B5EF4-FFF2-40B4-BE49-F238E27FC236}">
                <a16:creationId xmlns:a16="http://schemas.microsoft.com/office/drawing/2014/main" id="{217FA666-EBCA-40C6-8EFE-3D065E9C26EF}"/>
              </a:ext>
            </a:extLst>
          </p:cNvPr>
          <p:cNvSpPr>
            <a:spLocks noGrp="1"/>
          </p:cNvSpPr>
          <p:nvPr/>
        </p:nvSpPr>
        <p:spPr>
          <a:xfrm>
            <a:off x="952500" y="1885950"/>
            <a:ext cx="4267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Times New Roman"/>
                <a:ea typeface="Times New Roman"/>
                <a:cs typeface="Times New Roman"/>
              </a:rPr>
              <a:t>2   ·   3   ·   3   ·   4   ·   8</a:t>
            </a:r>
          </a:p>
        </p:txBody>
      </p:sp>
      <p:sp>
        <p:nvSpPr>
          <p:cNvPr id="10" name="矩形 9">
            <a:extLst>
              <a:ext uri="{FF2B5EF4-FFF2-40B4-BE49-F238E27FC236}">
                <a16:creationId xmlns:a16="http://schemas.microsoft.com/office/drawing/2014/main" id="{C3E4A15D-2CE1-4A5B-A3CB-9A41875C439F}"/>
              </a:ext>
            </a:extLst>
          </p:cNvPr>
          <p:cNvSpPr>
            <a:spLocks noGrp="1"/>
          </p:cNvSpPr>
          <p:nvPr/>
        </p:nvSpPr>
        <p:spPr>
          <a:xfrm>
            <a:off x="6629400" y="1257300"/>
            <a:ext cx="4953000" cy="2857500"/>
          </a:xfrm>
          <a:prstGeom prst="rect">
            <a:avLst/>
          </a:prstGeom>
          <a:solidFill>
            <a:srgbClr val="FFFFFF"/>
          </a:solidFill>
          <a:ln w="9525">
            <a:solidFill>
              <a:srgbClr val="B8C3D1"/>
            </a:solidFill>
            <a:prstDash val="solid"/>
          </a:ln>
        </p:spPr>
        <p:txBody>
          <a:bodyPr/>
          <a:lstStyle/>
          <a:p>
            <a:endParaRPr lang="zh-CN" altLang="en-US"/>
          </a:p>
        </p:txBody>
      </p:sp>
      <p:sp>
        <p:nvSpPr>
          <p:cNvPr id="11" name="矩形 10">
            <a:extLst>
              <a:ext uri="{FF2B5EF4-FFF2-40B4-BE49-F238E27FC236}">
                <a16:creationId xmlns:a16="http://schemas.microsoft.com/office/drawing/2014/main" id="{9BC94EEF-2A74-4E5A-9C1E-CB8F3C910DE8}"/>
              </a:ext>
            </a:extLst>
          </p:cNvPr>
          <p:cNvSpPr>
            <a:spLocks noGrp="1"/>
          </p:cNvSpPr>
          <p:nvPr/>
        </p:nvSpPr>
        <p:spPr>
          <a:xfrm>
            <a:off x="6629400" y="1257300"/>
            <a:ext cx="4953000" cy="76200"/>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F0BEEC7D-3E5F-4278-ABE8-6166B4B8D64C}"/>
              </a:ext>
            </a:extLst>
          </p:cNvPr>
          <p:cNvSpPr>
            <a:spLocks noGrp="1"/>
          </p:cNvSpPr>
          <p:nvPr/>
        </p:nvSpPr>
        <p:spPr>
          <a:xfrm>
            <a:off x="6838950" y="1466850"/>
            <a:ext cx="45339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A33A3A"/>
                </a:solidFill>
                <a:latin typeface="黑体"/>
                <a:ea typeface="黑体"/>
                <a:cs typeface="黑体"/>
              </a:defRPr>
            </a:pPr>
            <a:r>
              <a:rPr>
                <a:latin typeface="Times New Roman"/>
                <a:ea typeface="Times New Roman"/>
                <a:cs typeface="Times New Roman"/>
              </a:rPr>
              <a:t>8 </a:t>
            </a:r>
            <a:r>
              <a:rPr>
                <a:latin typeface="黑体"/>
                <a:ea typeface="黑体"/>
                <a:cs typeface="黑体"/>
              </a:rPr>
              <a:t>被录成 </a:t>
            </a:r>
            <a:r>
              <a:rPr>
                <a:latin typeface="Times New Roman"/>
                <a:ea typeface="Times New Roman"/>
                <a:cs typeface="Times New Roman"/>
              </a:rPr>
              <a:t>80</a:t>
            </a:r>
          </a:p>
        </p:txBody>
      </p:sp>
      <p:sp>
        <p:nvSpPr>
          <p:cNvPr id="13" name="矩形 12">
            <a:extLst>
              <a:ext uri="{FF2B5EF4-FFF2-40B4-BE49-F238E27FC236}">
                <a16:creationId xmlns:a16="http://schemas.microsoft.com/office/drawing/2014/main" id="{D97D2278-2875-4DA1-AFE6-6472010A6888}"/>
              </a:ext>
            </a:extLst>
          </p:cNvPr>
          <p:cNvSpPr>
            <a:spLocks noGrp="1"/>
          </p:cNvSpPr>
          <p:nvPr/>
        </p:nvSpPr>
        <p:spPr>
          <a:xfrm>
            <a:off x="6972300" y="1885950"/>
            <a:ext cx="4267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Times New Roman"/>
                <a:ea typeface="Times New Roman"/>
                <a:cs typeface="Times New Roman"/>
              </a:rPr>
              <a:t>2   ·   3   ·   3   ·   4   ·   80</a:t>
            </a:r>
          </a:p>
        </p:txBody>
      </p:sp>
      <p:sp>
        <p:nvSpPr>
          <p:cNvPr id="14" name="矩形 13">
            <a:extLst>
              <a:ext uri="{FF2B5EF4-FFF2-40B4-BE49-F238E27FC236}">
                <a16:creationId xmlns:a16="http://schemas.microsoft.com/office/drawing/2014/main" id="{011F388E-E88F-4034-B168-B5A553401233}"/>
              </a:ext>
            </a:extLst>
          </p:cNvPr>
          <p:cNvSpPr>
            <a:spLocks noGrp="1"/>
          </p:cNvSpPr>
          <p:nvPr/>
        </p:nvSpPr>
        <p:spPr>
          <a:xfrm>
            <a:off x="1028700" y="2724150"/>
            <a:ext cx="4000500" cy="28575"/>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4D729D8B-6338-4D25-BF63-855950C8C356}"/>
              </a:ext>
            </a:extLst>
          </p:cNvPr>
          <p:cNvSpPr>
            <a:spLocks noGrp="1"/>
          </p:cNvSpPr>
          <p:nvPr/>
        </p:nvSpPr>
        <p:spPr>
          <a:xfrm>
            <a:off x="10287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09F09A44-E646-4FD0-8E6C-196B17B6ED7F}"/>
              </a:ext>
            </a:extLst>
          </p:cNvPr>
          <p:cNvSpPr>
            <a:spLocks noGrp="1"/>
          </p:cNvSpPr>
          <p:nvPr/>
        </p:nvSpPr>
        <p:spPr>
          <a:xfrm>
            <a:off x="838200" y="289560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0</a:t>
            </a:r>
          </a:p>
        </p:txBody>
      </p:sp>
      <p:sp>
        <p:nvSpPr>
          <p:cNvPr id="17" name="矩形 16">
            <a:extLst>
              <a:ext uri="{FF2B5EF4-FFF2-40B4-BE49-F238E27FC236}">
                <a16:creationId xmlns:a16="http://schemas.microsoft.com/office/drawing/2014/main" id="{1C4C5077-11AA-45D2-ACFE-4AFB58357D40}"/>
              </a:ext>
            </a:extLst>
          </p:cNvPr>
          <p:cNvSpPr>
            <a:spLocks noGrp="1"/>
          </p:cNvSpPr>
          <p:nvPr/>
        </p:nvSpPr>
        <p:spPr>
          <a:xfrm>
            <a:off x="18288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957712B8-2EAD-4864-88ED-288632FA14E8}"/>
              </a:ext>
            </a:extLst>
          </p:cNvPr>
          <p:cNvSpPr>
            <a:spLocks noGrp="1"/>
          </p:cNvSpPr>
          <p:nvPr/>
        </p:nvSpPr>
        <p:spPr>
          <a:xfrm>
            <a:off x="1638300" y="289560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2</a:t>
            </a:r>
          </a:p>
        </p:txBody>
      </p:sp>
      <p:sp>
        <p:nvSpPr>
          <p:cNvPr id="19" name="矩形 18">
            <a:extLst>
              <a:ext uri="{FF2B5EF4-FFF2-40B4-BE49-F238E27FC236}">
                <a16:creationId xmlns:a16="http://schemas.microsoft.com/office/drawing/2014/main" id="{28BD3AA9-6A3A-4619-A64D-81B80E8739E8}"/>
              </a:ext>
            </a:extLst>
          </p:cNvPr>
          <p:cNvSpPr>
            <a:spLocks noGrp="1"/>
          </p:cNvSpPr>
          <p:nvPr/>
        </p:nvSpPr>
        <p:spPr>
          <a:xfrm>
            <a:off x="26289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2F32724F-FAEA-4C78-A8C1-89BA62F1BB37}"/>
              </a:ext>
            </a:extLst>
          </p:cNvPr>
          <p:cNvSpPr>
            <a:spLocks noGrp="1"/>
          </p:cNvSpPr>
          <p:nvPr/>
        </p:nvSpPr>
        <p:spPr>
          <a:xfrm>
            <a:off x="2438400" y="289560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4</a:t>
            </a:r>
          </a:p>
        </p:txBody>
      </p:sp>
      <p:sp>
        <p:nvSpPr>
          <p:cNvPr id="21" name="矩形 20">
            <a:extLst>
              <a:ext uri="{FF2B5EF4-FFF2-40B4-BE49-F238E27FC236}">
                <a16:creationId xmlns:a16="http://schemas.microsoft.com/office/drawing/2014/main" id="{D51C4222-BDE9-4173-AAF1-FFC24D824C26}"/>
              </a:ext>
            </a:extLst>
          </p:cNvPr>
          <p:cNvSpPr>
            <a:spLocks noGrp="1"/>
          </p:cNvSpPr>
          <p:nvPr/>
        </p:nvSpPr>
        <p:spPr>
          <a:xfrm>
            <a:off x="34290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132CC489-BE69-4AF2-BE49-23ACD8277FDE}"/>
              </a:ext>
            </a:extLst>
          </p:cNvPr>
          <p:cNvSpPr>
            <a:spLocks noGrp="1"/>
          </p:cNvSpPr>
          <p:nvPr/>
        </p:nvSpPr>
        <p:spPr>
          <a:xfrm>
            <a:off x="3238500" y="289560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6</a:t>
            </a:r>
          </a:p>
        </p:txBody>
      </p:sp>
      <p:sp>
        <p:nvSpPr>
          <p:cNvPr id="23" name="矩形 22">
            <a:extLst>
              <a:ext uri="{FF2B5EF4-FFF2-40B4-BE49-F238E27FC236}">
                <a16:creationId xmlns:a16="http://schemas.microsoft.com/office/drawing/2014/main" id="{F9992E2C-E523-49BD-A2A2-B61330081B6B}"/>
              </a:ext>
            </a:extLst>
          </p:cNvPr>
          <p:cNvSpPr>
            <a:spLocks noGrp="1"/>
          </p:cNvSpPr>
          <p:nvPr/>
        </p:nvSpPr>
        <p:spPr>
          <a:xfrm>
            <a:off x="42291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69535610-8379-44F0-A7D7-3618EE6A9323}"/>
              </a:ext>
            </a:extLst>
          </p:cNvPr>
          <p:cNvSpPr>
            <a:spLocks noGrp="1"/>
          </p:cNvSpPr>
          <p:nvPr/>
        </p:nvSpPr>
        <p:spPr>
          <a:xfrm>
            <a:off x="4038600" y="289560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8</a:t>
            </a:r>
          </a:p>
        </p:txBody>
      </p:sp>
      <p:sp>
        <p:nvSpPr>
          <p:cNvPr id="25" name="矩形 24">
            <a:extLst>
              <a:ext uri="{FF2B5EF4-FFF2-40B4-BE49-F238E27FC236}">
                <a16:creationId xmlns:a16="http://schemas.microsoft.com/office/drawing/2014/main" id="{6F622955-0925-42CE-A322-FF2E6CC25E53}"/>
              </a:ext>
            </a:extLst>
          </p:cNvPr>
          <p:cNvSpPr>
            <a:spLocks noGrp="1"/>
          </p:cNvSpPr>
          <p:nvPr/>
        </p:nvSpPr>
        <p:spPr>
          <a:xfrm>
            <a:off x="50292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26" name="矩形 25">
            <a:extLst>
              <a:ext uri="{FF2B5EF4-FFF2-40B4-BE49-F238E27FC236}">
                <a16:creationId xmlns:a16="http://schemas.microsoft.com/office/drawing/2014/main" id="{8D99D579-4121-43E9-A37C-ECB94E486C21}"/>
              </a:ext>
            </a:extLst>
          </p:cNvPr>
          <p:cNvSpPr>
            <a:spLocks noGrp="1"/>
          </p:cNvSpPr>
          <p:nvPr/>
        </p:nvSpPr>
        <p:spPr>
          <a:xfrm>
            <a:off x="4838700" y="289560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4B5563"/>
                </a:solidFill>
                <a:latin typeface="黑体"/>
                <a:ea typeface="黑体"/>
                <a:cs typeface="黑体"/>
              </a:defRPr>
            </a:pPr>
            <a:r>
              <a:rPr>
                <a:latin typeface="Times New Roman"/>
                <a:ea typeface="Times New Roman"/>
                <a:cs typeface="Times New Roman"/>
              </a:rPr>
              <a:t>10</a:t>
            </a:r>
          </a:p>
        </p:txBody>
      </p:sp>
      <p:sp>
        <p:nvSpPr>
          <p:cNvPr id="27" name="椭圆 26">
            <a:extLst>
              <a:ext uri="{FF2B5EF4-FFF2-40B4-BE49-F238E27FC236}">
                <a16:creationId xmlns:a16="http://schemas.microsoft.com/office/drawing/2014/main" id="{91704AED-BAF4-4FBB-83B1-AAB825D3A34C}"/>
              </a:ext>
            </a:extLst>
          </p:cNvPr>
          <p:cNvSpPr>
            <a:spLocks noGrp="1"/>
          </p:cNvSpPr>
          <p:nvPr/>
        </p:nvSpPr>
        <p:spPr>
          <a:xfrm>
            <a:off x="1752600" y="2476500"/>
            <a:ext cx="161925" cy="161925"/>
          </a:xfrm>
          <a:prstGeom prst="ellipse">
            <a:avLst/>
          </a:prstGeom>
          <a:solidFill>
            <a:srgbClr val="014DA1"/>
          </a:solidFill>
          <a:ln w="9525">
            <a:solidFill>
              <a:srgbClr val="FFFFFF"/>
            </a:solidFill>
            <a:prstDash val="solid"/>
          </a:ln>
        </p:spPr>
        <p:txBody>
          <a:bodyPr/>
          <a:lstStyle/>
          <a:p>
            <a:endParaRPr lang="zh-CN" altLang="en-US"/>
          </a:p>
        </p:txBody>
      </p:sp>
      <p:sp>
        <p:nvSpPr>
          <p:cNvPr id="28" name="椭圆 27">
            <a:extLst>
              <a:ext uri="{FF2B5EF4-FFF2-40B4-BE49-F238E27FC236}">
                <a16:creationId xmlns:a16="http://schemas.microsoft.com/office/drawing/2014/main" id="{6B9E5E87-DD80-43A3-9354-1B75D3243CC3}"/>
              </a:ext>
            </a:extLst>
          </p:cNvPr>
          <p:cNvSpPr>
            <a:spLocks noGrp="1"/>
          </p:cNvSpPr>
          <p:nvPr/>
        </p:nvSpPr>
        <p:spPr>
          <a:xfrm>
            <a:off x="2152650" y="2476500"/>
            <a:ext cx="161925" cy="161925"/>
          </a:xfrm>
          <a:prstGeom prst="ellipse">
            <a:avLst/>
          </a:prstGeom>
          <a:solidFill>
            <a:srgbClr val="014DA1"/>
          </a:solidFill>
          <a:ln w="9525">
            <a:solidFill>
              <a:srgbClr val="FFFFFF"/>
            </a:solidFill>
            <a:prstDash val="solid"/>
          </a:ln>
        </p:spPr>
        <p:txBody>
          <a:bodyPr/>
          <a:lstStyle/>
          <a:p>
            <a:endParaRPr lang="zh-CN" altLang="en-US"/>
          </a:p>
        </p:txBody>
      </p:sp>
      <p:sp>
        <p:nvSpPr>
          <p:cNvPr id="29" name="椭圆 28">
            <a:extLst>
              <a:ext uri="{FF2B5EF4-FFF2-40B4-BE49-F238E27FC236}">
                <a16:creationId xmlns:a16="http://schemas.microsoft.com/office/drawing/2014/main" id="{FA039B5A-41A2-4728-97FF-386FBEBC70D6}"/>
              </a:ext>
            </a:extLst>
          </p:cNvPr>
          <p:cNvSpPr>
            <a:spLocks noGrp="1"/>
          </p:cNvSpPr>
          <p:nvPr/>
        </p:nvSpPr>
        <p:spPr>
          <a:xfrm>
            <a:off x="2152650" y="2247900"/>
            <a:ext cx="161925" cy="161925"/>
          </a:xfrm>
          <a:prstGeom prst="ellipse">
            <a:avLst/>
          </a:prstGeom>
          <a:solidFill>
            <a:srgbClr val="014DA1"/>
          </a:solidFill>
          <a:ln w="9525">
            <a:solidFill>
              <a:srgbClr val="FFFFFF"/>
            </a:solidFill>
            <a:prstDash val="solid"/>
          </a:ln>
        </p:spPr>
        <p:txBody>
          <a:bodyPr/>
          <a:lstStyle/>
          <a:p>
            <a:endParaRPr lang="zh-CN" altLang="en-US"/>
          </a:p>
        </p:txBody>
      </p:sp>
      <p:sp>
        <p:nvSpPr>
          <p:cNvPr id="30" name="椭圆 29">
            <a:extLst>
              <a:ext uri="{FF2B5EF4-FFF2-40B4-BE49-F238E27FC236}">
                <a16:creationId xmlns:a16="http://schemas.microsoft.com/office/drawing/2014/main" id="{43D6D118-CA7F-42A9-96B9-97264E5CCA7C}"/>
              </a:ext>
            </a:extLst>
          </p:cNvPr>
          <p:cNvSpPr>
            <a:spLocks noGrp="1"/>
          </p:cNvSpPr>
          <p:nvPr/>
        </p:nvSpPr>
        <p:spPr>
          <a:xfrm>
            <a:off x="2552700" y="2476500"/>
            <a:ext cx="161925" cy="161925"/>
          </a:xfrm>
          <a:prstGeom prst="ellipse">
            <a:avLst/>
          </a:prstGeom>
          <a:solidFill>
            <a:srgbClr val="014DA1"/>
          </a:solidFill>
          <a:ln w="9525">
            <a:solidFill>
              <a:srgbClr val="FFFFFF"/>
            </a:solidFill>
            <a:prstDash val="solid"/>
          </a:ln>
        </p:spPr>
        <p:txBody>
          <a:bodyPr/>
          <a:lstStyle/>
          <a:p>
            <a:endParaRPr lang="zh-CN" altLang="en-US"/>
          </a:p>
        </p:txBody>
      </p:sp>
      <p:sp>
        <p:nvSpPr>
          <p:cNvPr id="31" name="椭圆 30">
            <a:extLst>
              <a:ext uri="{FF2B5EF4-FFF2-40B4-BE49-F238E27FC236}">
                <a16:creationId xmlns:a16="http://schemas.microsoft.com/office/drawing/2014/main" id="{9C37EBBB-F7AB-4655-853B-988E0C1C655D}"/>
              </a:ext>
            </a:extLst>
          </p:cNvPr>
          <p:cNvSpPr>
            <a:spLocks noGrp="1"/>
          </p:cNvSpPr>
          <p:nvPr/>
        </p:nvSpPr>
        <p:spPr>
          <a:xfrm>
            <a:off x="4152900" y="2476500"/>
            <a:ext cx="161925" cy="161925"/>
          </a:xfrm>
          <a:prstGeom prst="ellipse">
            <a:avLst/>
          </a:prstGeom>
          <a:solidFill>
            <a:srgbClr val="B4964B"/>
          </a:solidFill>
          <a:ln w="9525">
            <a:solidFill>
              <a:srgbClr val="FFFFFF"/>
            </a:solidFill>
            <a:prstDash val="solid"/>
          </a:ln>
        </p:spPr>
        <p:txBody>
          <a:bodyPr/>
          <a:lstStyle/>
          <a:p>
            <a:endParaRPr lang="zh-CN" altLang="en-US"/>
          </a:p>
        </p:txBody>
      </p:sp>
      <p:sp>
        <p:nvSpPr>
          <p:cNvPr id="32" name="矩形 31">
            <a:extLst>
              <a:ext uri="{FF2B5EF4-FFF2-40B4-BE49-F238E27FC236}">
                <a16:creationId xmlns:a16="http://schemas.microsoft.com/office/drawing/2014/main" id="{C4645236-270C-4FB8-945E-4C172EA685DD}"/>
              </a:ext>
            </a:extLst>
          </p:cNvPr>
          <p:cNvSpPr>
            <a:spLocks noGrp="1"/>
          </p:cNvSpPr>
          <p:nvPr/>
        </p:nvSpPr>
        <p:spPr>
          <a:xfrm>
            <a:off x="876300" y="3333750"/>
            <a:ext cx="4419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多数观察集中在 </a:t>
            </a:r>
            <a:r>
              <a:rPr>
                <a:latin typeface="Times New Roman"/>
                <a:ea typeface="Times New Roman"/>
                <a:cs typeface="Times New Roman"/>
              </a:rPr>
              <a:t>2–4，8 </a:t>
            </a:r>
            <a:r>
              <a:rPr>
                <a:latin typeface="黑体"/>
                <a:ea typeface="黑体"/>
                <a:cs typeface="黑体"/>
              </a:rPr>
              <a:t>仍接近主体分布</a:t>
            </a:r>
          </a:p>
        </p:txBody>
      </p:sp>
      <p:sp>
        <p:nvSpPr>
          <p:cNvPr id="33" name="矩形 32">
            <a:extLst>
              <a:ext uri="{FF2B5EF4-FFF2-40B4-BE49-F238E27FC236}">
                <a16:creationId xmlns:a16="http://schemas.microsoft.com/office/drawing/2014/main" id="{31B2AACE-F365-4A88-A90D-3936290DCA8E}"/>
              </a:ext>
            </a:extLst>
          </p:cNvPr>
          <p:cNvSpPr>
            <a:spLocks noGrp="1"/>
          </p:cNvSpPr>
          <p:nvPr/>
        </p:nvSpPr>
        <p:spPr>
          <a:xfrm>
            <a:off x="876300" y="3638550"/>
            <a:ext cx="4419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均值 </a:t>
            </a:r>
            <a:r>
              <a:rPr>
                <a:latin typeface="Times New Roman"/>
                <a:ea typeface="Times New Roman"/>
                <a:cs typeface="Times New Roman"/>
              </a:rPr>
              <a:t>4.0    ·    </a:t>
            </a:r>
            <a:r>
              <a:rPr>
                <a:latin typeface="黑体"/>
                <a:ea typeface="黑体"/>
                <a:cs typeface="黑体"/>
              </a:rPr>
              <a:t>中位数 </a:t>
            </a:r>
            <a:r>
              <a:rPr>
                <a:latin typeface="Times New Roman"/>
                <a:ea typeface="Times New Roman"/>
                <a:cs typeface="Times New Roman"/>
              </a:rPr>
              <a:t>3.0</a:t>
            </a:r>
          </a:p>
        </p:txBody>
      </p:sp>
      <p:sp>
        <p:nvSpPr>
          <p:cNvPr id="34" name="矩形 33">
            <a:extLst>
              <a:ext uri="{FF2B5EF4-FFF2-40B4-BE49-F238E27FC236}">
                <a16:creationId xmlns:a16="http://schemas.microsoft.com/office/drawing/2014/main" id="{8C1E51E7-9202-4749-8595-0491F61ABFCC}"/>
              </a:ext>
            </a:extLst>
          </p:cNvPr>
          <p:cNvSpPr>
            <a:spLocks noGrp="1"/>
          </p:cNvSpPr>
          <p:nvPr/>
        </p:nvSpPr>
        <p:spPr>
          <a:xfrm>
            <a:off x="7029450" y="2724150"/>
            <a:ext cx="2952750" cy="28575"/>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5" name="矩形 34">
            <a:extLst>
              <a:ext uri="{FF2B5EF4-FFF2-40B4-BE49-F238E27FC236}">
                <a16:creationId xmlns:a16="http://schemas.microsoft.com/office/drawing/2014/main" id="{90355584-93C4-4615-A466-19737030D0FA}"/>
              </a:ext>
            </a:extLst>
          </p:cNvPr>
          <p:cNvSpPr>
            <a:spLocks noGrp="1"/>
          </p:cNvSpPr>
          <p:nvPr/>
        </p:nvSpPr>
        <p:spPr>
          <a:xfrm>
            <a:off x="10382250" y="2724150"/>
            <a:ext cx="781050" cy="28575"/>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A021DB2A-E353-4C50-8968-21A9A604CD9C}"/>
              </a:ext>
            </a:extLst>
          </p:cNvPr>
          <p:cNvSpPr>
            <a:spLocks noGrp="1"/>
          </p:cNvSpPr>
          <p:nvPr/>
        </p:nvSpPr>
        <p:spPr>
          <a:xfrm>
            <a:off x="702945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7" name="矩形 36">
            <a:extLst>
              <a:ext uri="{FF2B5EF4-FFF2-40B4-BE49-F238E27FC236}">
                <a16:creationId xmlns:a16="http://schemas.microsoft.com/office/drawing/2014/main" id="{33E43A39-564D-42BF-8FB8-9399B82B9D07}"/>
              </a:ext>
            </a:extLst>
          </p:cNvPr>
          <p:cNvSpPr>
            <a:spLocks noGrp="1"/>
          </p:cNvSpPr>
          <p:nvPr/>
        </p:nvSpPr>
        <p:spPr>
          <a:xfrm>
            <a:off x="6858000" y="28956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a:t>
            </a:r>
          </a:p>
        </p:txBody>
      </p:sp>
      <p:sp>
        <p:nvSpPr>
          <p:cNvPr id="38" name="矩形 37">
            <a:extLst>
              <a:ext uri="{FF2B5EF4-FFF2-40B4-BE49-F238E27FC236}">
                <a16:creationId xmlns:a16="http://schemas.microsoft.com/office/drawing/2014/main" id="{FAF4F09B-7037-48F3-8991-B2BDE7F1DC9B}"/>
              </a:ext>
            </a:extLst>
          </p:cNvPr>
          <p:cNvSpPr>
            <a:spLocks noGrp="1"/>
          </p:cNvSpPr>
          <p:nvPr/>
        </p:nvSpPr>
        <p:spPr>
          <a:xfrm>
            <a:off x="76200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9" name="矩形 38">
            <a:extLst>
              <a:ext uri="{FF2B5EF4-FFF2-40B4-BE49-F238E27FC236}">
                <a16:creationId xmlns:a16="http://schemas.microsoft.com/office/drawing/2014/main" id="{5B6A1455-7000-4F99-A3B1-6090F4B9C11C}"/>
              </a:ext>
            </a:extLst>
          </p:cNvPr>
          <p:cNvSpPr>
            <a:spLocks noGrp="1"/>
          </p:cNvSpPr>
          <p:nvPr/>
        </p:nvSpPr>
        <p:spPr>
          <a:xfrm>
            <a:off x="7448550" y="28956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2</a:t>
            </a:r>
          </a:p>
        </p:txBody>
      </p:sp>
      <p:sp>
        <p:nvSpPr>
          <p:cNvPr id="40" name="矩形 39">
            <a:extLst>
              <a:ext uri="{FF2B5EF4-FFF2-40B4-BE49-F238E27FC236}">
                <a16:creationId xmlns:a16="http://schemas.microsoft.com/office/drawing/2014/main" id="{7776E2B3-0B55-4EC5-9C94-CC67FF4ED034}"/>
              </a:ext>
            </a:extLst>
          </p:cNvPr>
          <p:cNvSpPr>
            <a:spLocks noGrp="1"/>
          </p:cNvSpPr>
          <p:nvPr/>
        </p:nvSpPr>
        <p:spPr>
          <a:xfrm>
            <a:off x="821055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41" name="矩形 40">
            <a:extLst>
              <a:ext uri="{FF2B5EF4-FFF2-40B4-BE49-F238E27FC236}">
                <a16:creationId xmlns:a16="http://schemas.microsoft.com/office/drawing/2014/main" id="{ACB7F860-CF5B-42A7-B94C-462F527E9688}"/>
              </a:ext>
            </a:extLst>
          </p:cNvPr>
          <p:cNvSpPr>
            <a:spLocks noGrp="1"/>
          </p:cNvSpPr>
          <p:nvPr/>
        </p:nvSpPr>
        <p:spPr>
          <a:xfrm>
            <a:off x="8039100" y="28956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4</a:t>
            </a:r>
          </a:p>
        </p:txBody>
      </p:sp>
      <p:sp>
        <p:nvSpPr>
          <p:cNvPr id="42" name="矩形 41">
            <a:extLst>
              <a:ext uri="{FF2B5EF4-FFF2-40B4-BE49-F238E27FC236}">
                <a16:creationId xmlns:a16="http://schemas.microsoft.com/office/drawing/2014/main" id="{200B83A7-CF58-415F-BF67-EC48C5D709F8}"/>
              </a:ext>
            </a:extLst>
          </p:cNvPr>
          <p:cNvSpPr>
            <a:spLocks noGrp="1"/>
          </p:cNvSpPr>
          <p:nvPr/>
        </p:nvSpPr>
        <p:spPr>
          <a:xfrm>
            <a:off x="88011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43" name="矩形 42">
            <a:extLst>
              <a:ext uri="{FF2B5EF4-FFF2-40B4-BE49-F238E27FC236}">
                <a16:creationId xmlns:a16="http://schemas.microsoft.com/office/drawing/2014/main" id="{81C2FA33-070A-40A7-AC92-B4F73FCFE470}"/>
              </a:ext>
            </a:extLst>
          </p:cNvPr>
          <p:cNvSpPr>
            <a:spLocks noGrp="1"/>
          </p:cNvSpPr>
          <p:nvPr/>
        </p:nvSpPr>
        <p:spPr>
          <a:xfrm>
            <a:off x="8629650" y="28956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6</a:t>
            </a:r>
          </a:p>
        </p:txBody>
      </p:sp>
      <p:sp>
        <p:nvSpPr>
          <p:cNvPr id="44" name="矩形 43">
            <a:extLst>
              <a:ext uri="{FF2B5EF4-FFF2-40B4-BE49-F238E27FC236}">
                <a16:creationId xmlns:a16="http://schemas.microsoft.com/office/drawing/2014/main" id="{9299B75C-26DE-4F8D-876F-4DB4FEAC447E}"/>
              </a:ext>
            </a:extLst>
          </p:cNvPr>
          <p:cNvSpPr>
            <a:spLocks noGrp="1"/>
          </p:cNvSpPr>
          <p:nvPr/>
        </p:nvSpPr>
        <p:spPr>
          <a:xfrm>
            <a:off x="939165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45" name="矩形 44">
            <a:extLst>
              <a:ext uri="{FF2B5EF4-FFF2-40B4-BE49-F238E27FC236}">
                <a16:creationId xmlns:a16="http://schemas.microsoft.com/office/drawing/2014/main" id="{B8ADE3D3-9C03-4C7E-B71B-6B364F3BDAE4}"/>
              </a:ext>
            </a:extLst>
          </p:cNvPr>
          <p:cNvSpPr>
            <a:spLocks noGrp="1"/>
          </p:cNvSpPr>
          <p:nvPr/>
        </p:nvSpPr>
        <p:spPr>
          <a:xfrm>
            <a:off x="9220200" y="28956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8</a:t>
            </a:r>
          </a:p>
        </p:txBody>
      </p:sp>
      <p:sp>
        <p:nvSpPr>
          <p:cNvPr id="46" name="矩形 45">
            <a:extLst>
              <a:ext uri="{FF2B5EF4-FFF2-40B4-BE49-F238E27FC236}">
                <a16:creationId xmlns:a16="http://schemas.microsoft.com/office/drawing/2014/main" id="{E67D3403-82B9-4A79-AD0F-3E60C2EF4C51}"/>
              </a:ext>
            </a:extLst>
          </p:cNvPr>
          <p:cNvSpPr>
            <a:spLocks noGrp="1"/>
          </p:cNvSpPr>
          <p:nvPr/>
        </p:nvSpPr>
        <p:spPr>
          <a:xfrm>
            <a:off x="9982200" y="26574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47" name="矩形 46">
            <a:extLst>
              <a:ext uri="{FF2B5EF4-FFF2-40B4-BE49-F238E27FC236}">
                <a16:creationId xmlns:a16="http://schemas.microsoft.com/office/drawing/2014/main" id="{CF000DBB-6952-4717-BE27-3BE65B8DF814}"/>
              </a:ext>
            </a:extLst>
          </p:cNvPr>
          <p:cNvSpPr>
            <a:spLocks noGrp="1"/>
          </p:cNvSpPr>
          <p:nvPr/>
        </p:nvSpPr>
        <p:spPr>
          <a:xfrm>
            <a:off x="9810750" y="2895600"/>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10</a:t>
            </a:r>
          </a:p>
        </p:txBody>
      </p:sp>
      <p:sp>
        <p:nvSpPr>
          <p:cNvPr id="48" name="矩形 47">
            <a:extLst>
              <a:ext uri="{FF2B5EF4-FFF2-40B4-BE49-F238E27FC236}">
                <a16:creationId xmlns:a16="http://schemas.microsoft.com/office/drawing/2014/main" id="{AD4C0DA7-C9D6-4087-918B-6CF5101E6FD9}"/>
              </a:ext>
            </a:extLst>
          </p:cNvPr>
          <p:cNvSpPr>
            <a:spLocks noGrp="1"/>
          </p:cNvSpPr>
          <p:nvPr/>
        </p:nvSpPr>
        <p:spPr>
          <a:xfrm>
            <a:off x="10058400" y="2590800"/>
            <a:ext cx="28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4B5563"/>
                </a:solidFill>
                <a:latin typeface="黑体"/>
                <a:ea typeface="黑体"/>
                <a:cs typeface="黑体"/>
              </a:defRPr>
            </a:pPr>
            <a:r>
              <a:rPr>
                <a:latin typeface="Times New Roman"/>
                <a:ea typeface="Times New Roman"/>
                <a:cs typeface="Times New Roman"/>
              </a:rPr>
              <a:t>//</a:t>
            </a:r>
          </a:p>
        </p:txBody>
      </p:sp>
      <p:sp>
        <p:nvSpPr>
          <p:cNvPr id="49" name="矩形 48">
            <a:extLst>
              <a:ext uri="{FF2B5EF4-FFF2-40B4-BE49-F238E27FC236}">
                <a16:creationId xmlns:a16="http://schemas.microsoft.com/office/drawing/2014/main" id="{81A95D46-6915-4439-B764-E158EC284B65}"/>
              </a:ext>
            </a:extLst>
          </p:cNvPr>
          <p:cNvSpPr>
            <a:spLocks noGrp="1"/>
          </p:cNvSpPr>
          <p:nvPr/>
        </p:nvSpPr>
        <p:spPr>
          <a:xfrm>
            <a:off x="11125200" y="2657475"/>
            <a:ext cx="19050" cy="152400"/>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7192432F-01A9-421C-BAF8-88E33FD2EB0D}"/>
              </a:ext>
            </a:extLst>
          </p:cNvPr>
          <p:cNvSpPr>
            <a:spLocks noGrp="1"/>
          </p:cNvSpPr>
          <p:nvPr/>
        </p:nvSpPr>
        <p:spPr>
          <a:xfrm>
            <a:off x="10953750" y="289560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A33A3A"/>
                </a:solidFill>
                <a:latin typeface="黑体"/>
                <a:ea typeface="黑体"/>
                <a:cs typeface="黑体"/>
              </a:defRPr>
            </a:pPr>
            <a:r>
              <a:rPr>
                <a:latin typeface="Times New Roman"/>
                <a:ea typeface="Times New Roman"/>
                <a:cs typeface="Times New Roman"/>
              </a:rPr>
              <a:t>80</a:t>
            </a:r>
          </a:p>
        </p:txBody>
      </p:sp>
      <p:sp>
        <p:nvSpPr>
          <p:cNvPr id="51" name="椭圆 50">
            <a:extLst>
              <a:ext uri="{FF2B5EF4-FFF2-40B4-BE49-F238E27FC236}">
                <a16:creationId xmlns:a16="http://schemas.microsoft.com/office/drawing/2014/main" id="{3A781512-31E4-447F-88EC-DA34D84A2E3E}"/>
              </a:ext>
            </a:extLst>
          </p:cNvPr>
          <p:cNvSpPr>
            <a:spLocks noGrp="1"/>
          </p:cNvSpPr>
          <p:nvPr/>
        </p:nvSpPr>
        <p:spPr>
          <a:xfrm>
            <a:off x="7543800" y="2476500"/>
            <a:ext cx="161925" cy="161925"/>
          </a:xfrm>
          <a:prstGeom prst="ellipse">
            <a:avLst/>
          </a:prstGeom>
          <a:solidFill>
            <a:srgbClr val="014DA1"/>
          </a:solidFill>
          <a:ln w="9525">
            <a:solidFill>
              <a:srgbClr val="FFFFFF"/>
            </a:solidFill>
            <a:prstDash val="solid"/>
          </a:ln>
        </p:spPr>
        <p:txBody>
          <a:bodyPr/>
          <a:lstStyle/>
          <a:p>
            <a:endParaRPr lang="zh-CN" altLang="en-US"/>
          </a:p>
        </p:txBody>
      </p:sp>
      <p:sp>
        <p:nvSpPr>
          <p:cNvPr id="52" name="椭圆 51">
            <a:extLst>
              <a:ext uri="{FF2B5EF4-FFF2-40B4-BE49-F238E27FC236}">
                <a16:creationId xmlns:a16="http://schemas.microsoft.com/office/drawing/2014/main" id="{D1E1FFA2-8A2C-450D-9F7A-737CC4AD494E}"/>
              </a:ext>
            </a:extLst>
          </p:cNvPr>
          <p:cNvSpPr>
            <a:spLocks noGrp="1"/>
          </p:cNvSpPr>
          <p:nvPr/>
        </p:nvSpPr>
        <p:spPr>
          <a:xfrm>
            <a:off x="7839075" y="2476500"/>
            <a:ext cx="161925" cy="161925"/>
          </a:xfrm>
          <a:prstGeom prst="ellipse">
            <a:avLst/>
          </a:prstGeom>
          <a:solidFill>
            <a:srgbClr val="014DA1"/>
          </a:solidFill>
          <a:ln w="9525">
            <a:solidFill>
              <a:srgbClr val="FFFFFF"/>
            </a:solidFill>
            <a:prstDash val="solid"/>
          </a:ln>
        </p:spPr>
        <p:txBody>
          <a:bodyPr/>
          <a:lstStyle/>
          <a:p>
            <a:endParaRPr lang="zh-CN" altLang="en-US"/>
          </a:p>
        </p:txBody>
      </p:sp>
      <p:sp>
        <p:nvSpPr>
          <p:cNvPr id="53" name="椭圆 52">
            <a:extLst>
              <a:ext uri="{FF2B5EF4-FFF2-40B4-BE49-F238E27FC236}">
                <a16:creationId xmlns:a16="http://schemas.microsoft.com/office/drawing/2014/main" id="{7C259866-6B92-4180-831B-77BE8DE7B425}"/>
              </a:ext>
            </a:extLst>
          </p:cNvPr>
          <p:cNvSpPr>
            <a:spLocks noGrp="1"/>
          </p:cNvSpPr>
          <p:nvPr/>
        </p:nvSpPr>
        <p:spPr>
          <a:xfrm>
            <a:off x="7839075" y="2247900"/>
            <a:ext cx="161925" cy="161925"/>
          </a:xfrm>
          <a:prstGeom prst="ellipse">
            <a:avLst/>
          </a:prstGeom>
          <a:solidFill>
            <a:srgbClr val="014DA1"/>
          </a:solidFill>
          <a:ln w="9525">
            <a:solidFill>
              <a:srgbClr val="FFFFFF"/>
            </a:solidFill>
            <a:prstDash val="solid"/>
          </a:ln>
        </p:spPr>
        <p:txBody>
          <a:bodyPr/>
          <a:lstStyle/>
          <a:p>
            <a:endParaRPr lang="zh-CN" altLang="en-US"/>
          </a:p>
        </p:txBody>
      </p:sp>
      <p:sp>
        <p:nvSpPr>
          <p:cNvPr id="54" name="椭圆 53">
            <a:extLst>
              <a:ext uri="{FF2B5EF4-FFF2-40B4-BE49-F238E27FC236}">
                <a16:creationId xmlns:a16="http://schemas.microsoft.com/office/drawing/2014/main" id="{6DCAA495-B619-48AD-992A-2FA1C0CA81BA}"/>
              </a:ext>
            </a:extLst>
          </p:cNvPr>
          <p:cNvSpPr>
            <a:spLocks noGrp="1"/>
          </p:cNvSpPr>
          <p:nvPr/>
        </p:nvSpPr>
        <p:spPr>
          <a:xfrm>
            <a:off x="8134350" y="2476500"/>
            <a:ext cx="161925" cy="161925"/>
          </a:xfrm>
          <a:prstGeom prst="ellipse">
            <a:avLst/>
          </a:prstGeom>
          <a:solidFill>
            <a:srgbClr val="014DA1"/>
          </a:solidFill>
          <a:ln w="9525">
            <a:solidFill>
              <a:srgbClr val="FFFFFF"/>
            </a:solidFill>
            <a:prstDash val="solid"/>
          </a:ln>
        </p:spPr>
        <p:txBody>
          <a:bodyPr/>
          <a:lstStyle/>
          <a:p>
            <a:endParaRPr lang="zh-CN" altLang="en-US"/>
          </a:p>
        </p:txBody>
      </p:sp>
      <p:sp>
        <p:nvSpPr>
          <p:cNvPr id="55" name="椭圆 54">
            <a:extLst>
              <a:ext uri="{FF2B5EF4-FFF2-40B4-BE49-F238E27FC236}">
                <a16:creationId xmlns:a16="http://schemas.microsoft.com/office/drawing/2014/main" id="{9947815D-2ED3-4741-922D-453A167B8217}"/>
              </a:ext>
            </a:extLst>
          </p:cNvPr>
          <p:cNvSpPr>
            <a:spLocks noGrp="1"/>
          </p:cNvSpPr>
          <p:nvPr/>
        </p:nvSpPr>
        <p:spPr>
          <a:xfrm>
            <a:off x="11058525" y="2476500"/>
            <a:ext cx="161925" cy="161925"/>
          </a:xfrm>
          <a:prstGeom prst="ellipse">
            <a:avLst/>
          </a:prstGeom>
          <a:solidFill>
            <a:srgbClr val="A33A3A"/>
          </a:solidFill>
          <a:ln w="9525">
            <a:solidFill>
              <a:srgbClr val="FFFFFF"/>
            </a:solidFill>
            <a:prstDash val="solid"/>
          </a:ln>
        </p:spPr>
        <p:txBody>
          <a:bodyPr/>
          <a:lstStyle/>
          <a:p>
            <a:endParaRPr lang="zh-CN" altLang="en-US"/>
          </a:p>
        </p:txBody>
      </p:sp>
      <p:sp>
        <p:nvSpPr>
          <p:cNvPr id="56" name="矩形 55">
            <a:extLst>
              <a:ext uri="{FF2B5EF4-FFF2-40B4-BE49-F238E27FC236}">
                <a16:creationId xmlns:a16="http://schemas.microsoft.com/office/drawing/2014/main" id="{517C1375-26E7-4079-B7F1-92152F8EA58D}"/>
              </a:ext>
            </a:extLst>
          </p:cNvPr>
          <p:cNvSpPr>
            <a:spLocks noGrp="1"/>
          </p:cNvSpPr>
          <p:nvPr/>
        </p:nvSpPr>
        <p:spPr>
          <a:xfrm>
            <a:off x="6896100" y="3333750"/>
            <a:ext cx="4419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Times New Roman"/>
                <a:ea typeface="Times New Roman"/>
                <a:cs typeface="Times New Roman"/>
              </a:rPr>
              <a:t>80 </a:t>
            </a:r>
            <a:r>
              <a:rPr>
                <a:latin typeface="黑体"/>
                <a:ea typeface="黑体"/>
                <a:cs typeface="黑体"/>
              </a:rPr>
              <a:t>远离其余观察，并把均值明显向右拉动</a:t>
            </a:r>
          </a:p>
        </p:txBody>
      </p:sp>
      <p:sp>
        <p:nvSpPr>
          <p:cNvPr id="57" name="矩形 56">
            <a:extLst>
              <a:ext uri="{FF2B5EF4-FFF2-40B4-BE49-F238E27FC236}">
                <a16:creationId xmlns:a16="http://schemas.microsoft.com/office/drawing/2014/main" id="{F1D4DD09-8D09-45CE-9C61-140D39498250}"/>
              </a:ext>
            </a:extLst>
          </p:cNvPr>
          <p:cNvSpPr>
            <a:spLocks noGrp="1"/>
          </p:cNvSpPr>
          <p:nvPr/>
        </p:nvSpPr>
        <p:spPr>
          <a:xfrm>
            <a:off x="6896100" y="3638550"/>
            <a:ext cx="4419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均值 </a:t>
            </a:r>
            <a:r>
              <a:rPr>
                <a:latin typeface="Times New Roman"/>
                <a:ea typeface="Times New Roman"/>
                <a:cs typeface="Times New Roman"/>
              </a:rPr>
              <a:t>18.4    ·    </a:t>
            </a:r>
            <a:r>
              <a:rPr>
                <a:latin typeface="黑体"/>
                <a:ea typeface="黑体"/>
                <a:cs typeface="黑体"/>
              </a:rPr>
              <a:t>中位数 </a:t>
            </a:r>
            <a:r>
              <a:rPr>
                <a:latin typeface="Times New Roman"/>
                <a:ea typeface="Times New Roman"/>
                <a:cs typeface="Times New Roman"/>
              </a:rPr>
              <a:t>3.0</a:t>
            </a:r>
          </a:p>
        </p:txBody>
      </p:sp>
      <p:sp>
        <p:nvSpPr>
          <p:cNvPr id="58" name="矩形 57">
            <a:extLst>
              <a:ext uri="{FF2B5EF4-FFF2-40B4-BE49-F238E27FC236}">
                <a16:creationId xmlns:a16="http://schemas.microsoft.com/office/drawing/2014/main" id="{8F65C3FC-1DE3-4146-833F-1E34335E1642}"/>
              </a:ext>
            </a:extLst>
          </p:cNvPr>
          <p:cNvSpPr>
            <a:spLocks noGrp="1"/>
          </p:cNvSpPr>
          <p:nvPr/>
        </p:nvSpPr>
        <p:spPr>
          <a:xfrm>
            <a:off x="5676900" y="2362200"/>
            <a:ext cx="838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A33A3A"/>
                </a:solidFill>
                <a:latin typeface="黑体"/>
                <a:ea typeface="黑体"/>
                <a:cs typeface="黑体"/>
              </a:defRPr>
            </a:pPr>
            <a:r>
              <a:rPr>
                <a:latin typeface="Times New Roman"/>
                <a:ea typeface="Times New Roman"/>
                <a:cs typeface="Times New Roman"/>
              </a:rPr>
              <a:t>8 → 80</a:t>
            </a:r>
          </a:p>
        </p:txBody>
      </p:sp>
      <p:sp>
        <p:nvSpPr>
          <p:cNvPr id="59" name="矩形 58">
            <a:extLst>
              <a:ext uri="{FF2B5EF4-FFF2-40B4-BE49-F238E27FC236}">
                <a16:creationId xmlns:a16="http://schemas.microsoft.com/office/drawing/2014/main" id="{34CEE8A8-A416-492C-9249-6B00C6174F70}"/>
              </a:ext>
            </a:extLst>
          </p:cNvPr>
          <p:cNvSpPr>
            <a:spLocks noGrp="1"/>
          </p:cNvSpPr>
          <p:nvPr/>
        </p:nvSpPr>
        <p:spPr>
          <a:xfrm>
            <a:off x="5791200" y="2724150"/>
            <a:ext cx="6096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B4964B"/>
                </a:solidFill>
                <a:latin typeface="黑体"/>
                <a:ea typeface="黑体"/>
                <a:cs typeface="黑体"/>
              </a:defRPr>
            </a:pPr>
            <a:r>
              <a:rPr>
                <a:latin typeface="Times New Roman"/>
                <a:ea typeface="Times New Roman"/>
                <a:cs typeface="Times New Roman"/>
              </a:rPr>
              <a:t>→</a:t>
            </a:r>
          </a:p>
        </p:txBody>
      </p:sp>
      <p:sp>
        <p:nvSpPr>
          <p:cNvPr id="60" name="矩形 59">
            <a:extLst>
              <a:ext uri="{FF2B5EF4-FFF2-40B4-BE49-F238E27FC236}">
                <a16:creationId xmlns:a16="http://schemas.microsoft.com/office/drawing/2014/main" id="{BF13B571-9CB6-4495-8DFC-5826A9E40F65}"/>
              </a:ext>
            </a:extLst>
          </p:cNvPr>
          <p:cNvSpPr>
            <a:spLocks noGrp="1"/>
          </p:cNvSpPr>
          <p:nvPr/>
        </p:nvSpPr>
        <p:spPr>
          <a:xfrm>
            <a:off x="609600" y="4324350"/>
            <a:ext cx="10972800" cy="933450"/>
          </a:xfrm>
          <a:prstGeom prst="rect">
            <a:avLst/>
          </a:prstGeom>
          <a:solidFill>
            <a:srgbClr val="FFFFFF"/>
          </a:solidFill>
          <a:ln w="9525">
            <a:solidFill>
              <a:srgbClr val="B8C3D1"/>
            </a:solidFill>
            <a:prstDash val="solid"/>
          </a:ln>
        </p:spPr>
        <p:txBody>
          <a:bodyPr/>
          <a:lstStyle/>
          <a:p>
            <a:endParaRPr lang="zh-CN" altLang="en-US"/>
          </a:p>
        </p:txBody>
      </p:sp>
      <p:sp>
        <p:nvSpPr>
          <p:cNvPr id="61" name="矩形 60">
            <a:extLst>
              <a:ext uri="{FF2B5EF4-FFF2-40B4-BE49-F238E27FC236}">
                <a16:creationId xmlns:a16="http://schemas.microsoft.com/office/drawing/2014/main" id="{E8C20B1D-1683-4029-A7AB-06BA486AE145}"/>
              </a:ext>
            </a:extLst>
          </p:cNvPr>
          <p:cNvSpPr>
            <a:spLocks noGrp="1"/>
          </p:cNvSpPr>
          <p:nvPr/>
        </p:nvSpPr>
        <p:spPr>
          <a:xfrm>
            <a:off x="4114800" y="4476750"/>
            <a:ext cx="9525" cy="62865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62" name="矩形 61">
            <a:extLst>
              <a:ext uri="{FF2B5EF4-FFF2-40B4-BE49-F238E27FC236}">
                <a16:creationId xmlns:a16="http://schemas.microsoft.com/office/drawing/2014/main" id="{89119EEE-E0BF-4E5A-B339-CCFD26B0CC98}"/>
              </a:ext>
            </a:extLst>
          </p:cNvPr>
          <p:cNvSpPr>
            <a:spLocks noGrp="1"/>
          </p:cNvSpPr>
          <p:nvPr/>
        </p:nvSpPr>
        <p:spPr>
          <a:xfrm>
            <a:off x="7677150" y="4476750"/>
            <a:ext cx="9525" cy="62865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63" name="矩形 62">
            <a:extLst>
              <a:ext uri="{FF2B5EF4-FFF2-40B4-BE49-F238E27FC236}">
                <a16:creationId xmlns:a16="http://schemas.microsoft.com/office/drawing/2014/main" id="{25A21A90-280F-473E-A0A1-CFCB1964FF36}"/>
              </a:ext>
            </a:extLst>
          </p:cNvPr>
          <p:cNvSpPr>
            <a:spLocks noGrp="1"/>
          </p:cNvSpPr>
          <p:nvPr/>
        </p:nvSpPr>
        <p:spPr>
          <a:xfrm>
            <a:off x="838200" y="4476750"/>
            <a:ext cx="3048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黑体"/>
                <a:ea typeface="黑体"/>
                <a:cs typeface="黑体"/>
              </a:rPr>
              <a:t>均值</a:t>
            </a:r>
          </a:p>
        </p:txBody>
      </p:sp>
      <p:sp>
        <p:nvSpPr>
          <p:cNvPr id="64" name="矩形 63">
            <a:extLst>
              <a:ext uri="{FF2B5EF4-FFF2-40B4-BE49-F238E27FC236}">
                <a16:creationId xmlns:a16="http://schemas.microsoft.com/office/drawing/2014/main" id="{D0C8FD6B-EFA4-4B47-85BA-5C9E2C03C3F2}"/>
              </a:ext>
            </a:extLst>
          </p:cNvPr>
          <p:cNvSpPr>
            <a:spLocks noGrp="1"/>
          </p:cNvSpPr>
          <p:nvPr/>
        </p:nvSpPr>
        <p:spPr>
          <a:xfrm>
            <a:off x="838200" y="4705350"/>
            <a:ext cx="304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725" b="1">
                <a:solidFill>
                  <a:srgbClr val="A33A3A"/>
                </a:solidFill>
                <a:latin typeface="黑体"/>
                <a:ea typeface="黑体"/>
                <a:cs typeface="黑体"/>
              </a:defRPr>
            </a:pPr>
            <a:r>
              <a:rPr>
                <a:latin typeface="Times New Roman"/>
                <a:ea typeface="Times New Roman"/>
                <a:cs typeface="Times New Roman"/>
              </a:rPr>
              <a:t>4.0  →  18.4</a:t>
            </a:r>
          </a:p>
        </p:txBody>
      </p:sp>
      <p:sp>
        <p:nvSpPr>
          <p:cNvPr id="65" name="矩形 64">
            <a:extLst>
              <a:ext uri="{FF2B5EF4-FFF2-40B4-BE49-F238E27FC236}">
                <a16:creationId xmlns:a16="http://schemas.microsoft.com/office/drawing/2014/main" id="{3ABCA12D-53F1-4951-AE3A-0BFD746B6DD5}"/>
              </a:ext>
            </a:extLst>
          </p:cNvPr>
          <p:cNvSpPr>
            <a:spLocks noGrp="1"/>
          </p:cNvSpPr>
          <p:nvPr/>
        </p:nvSpPr>
        <p:spPr>
          <a:xfrm>
            <a:off x="838200" y="5010150"/>
            <a:ext cx="304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A33A3A"/>
                </a:solidFill>
                <a:latin typeface="黑体"/>
                <a:ea typeface="黑体"/>
                <a:cs typeface="黑体"/>
              </a:defRPr>
            </a:pPr>
            <a:r>
              <a:rPr>
                <a:latin typeface="黑体"/>
                <a:ea typeface="黑体"/>
                <a:cs typeface="黑体"/>
              </a:rPr>
              <a:t>受到极端数值明显影响</a:t>
            </a:r>
          </a:p>
        </p:txBody>
      </p:sp>
      <p:sp>
        <p:nvSpPr>
          <p:cNvPr id="66" name="矩形 65">
            <a:extLst>
              <a:ext uri="{FF2B5EF4-FFF2-40B4-BE49-F238E27FC236}">
                <a16:creationId xmlns:a16="http://schemas.microsoft.com/office/drawing/2014/main" id="{06EF0545-A096-4B26-BC2D-7636A9F8D4C6}"/>
              </a:ext>
            </a:extLst>
          </p:cNvPr>
          <p:cNvSpPr>
            <a:spLocks noGrp="1"/>
          </p:cNvSpPr>
          <p:nvPr/>
        </p:nvSpPr>
        <p:spPr>
          <a:xfrm>
            <a:off x="4343400" y="4476750"/>
            <a:ext cx="31051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2F7A5D"/>
                </a:solidFill>
                <a:latin typeface="黑体"/>
                <a:ea typeface="黑体"/>
                <a:cs typeface="黑体"/>
              </a:defRPr>
            </a:pPr>
            <a:r>
              <a:rPr>
                <a:latin typeface="黑体"/>
                <a:ea typeface="黑体"/>
                <a:cs typeface="黑体"/>
              </a:rPr>
              <a:t>中位数</a:t>
            </a:r>
          </a:p>
        </p:txBody>
      </p:sp>
      <p:sp>
        <p:nvSpPr>
          <p:cNvPr id="67" name="矩形 66">
            <a:extLst>
              <a:ext uri="{FF2B5EF4-FFF2-40B4-BE49-F238E27FC236}">
                <a16:creationId xmlns:a16="http://schemas.microsoft.com/office/drawing/2014/main" id="{9D589E71-8A73-4C61-AE6D-507D66456B42}"/>
              </a:ext>
            </a:extLst>
          </p:cNvPr>
          <p:cNvSpPr>
            <a:spLocks noGrp="1"/>
          </p:cNvSpPr>
          <p:nvPr/>
        </p:nvSpPr>
        <p:spPr>
          <a:xfrm>
            <a:off x="4343400" y="4705350"/>
            <a:ext cx="3105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725" b="1">
                <a:solidFill>
                  <a:srgbClr val="2F7A5D"/>
                </a:solidFill>
                <a:latin typeface="黑体"/>
                <a:ea typeface="黑体"/>
                <a:cs typeface="黑体"/>
              </a:defRPr>
            </a:pPr>
            <a:r>
              <a:rPr>
                <a:latin typeface="Times New Roman"/>
                <a:ea typeface="Times New Roman"/>
                <a:cs typeface="Times New Roman"/>
              </a:rPr>
              <a:t>3.0  →  3.0</a:t>
            </a:r>
          </a:p>
        </p:txBody>
      </p:sp>
      <p:sp>
        <p:nvSpPr>
          <p:cNvPr id="68" name="矩形 67">
            <a:extLst>
              <a:ext uri="{FF2B5EF4-FFF2-40B4-BE49-F238E27FC236}">
                <a16:creationId xmlns:a16="http://schemas.microsoft.com/office/drawing/2014/main" id="{74E6F09D-1FBA-44FC-B1B6-9365114D7C47}"/>
              </a:ext>
            </a:extLst>
          </p:cNvPr>
          <p:cNvSpPr>
            <a:spLocks noGrp="1"/>
          </p:cNvSpPr>
          <p:nvPr/>
        </p:nvSpPr>
        <p:spPr>
          <a:xfrm>
            <a:off x="4343400" y="5010150"/>
            <a:ext cx="31051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2F7A5D"/>
                </a:solidFill>
                <a:latin typeface="黑体"/>
                <a:ea typeface="黑体"/>
                <a:cs typeface="黑体"/>
              </a:defRPr>
            </a:pPr>
            <a:r>
              <a:rPr>
                <a:latin typeface="黑体"/>
                <a:ea typeface="黑体"/>
                <a:cs typeface="黑体"/>
              </a:rPr>
              <a:t>排序中间位置没有改变</a:t>
            </a:r>
          </a:p>
        </p:txBody>
      </p:sp>
      <p:sp>
        <p:nvSpPr>
          <p:cNvPr id="69" name="矩形 68">
            <a:extLst>
              <a:ext uri="{FF2B5EF4-FFF2-40B4-BE49-F238E27FC236}">
                <a16:creationId xmlns:a16="http://schemas.microsoft.com/office/drawing/2014/main" id="{6ACDEB50-97C7-4C45-935A-3CB3CE12696B}"/>
              </a:ext>
            </a:extLst>
          </p:cNvPr>
          <p:cNvSpPr>
            <a:spLocks noGrp="1"/>
          </p:cNvSpPr>
          <p:nvPr/>
        </p:nvSpPr>
        <p:spPr>
          <a:xfrm>
            <a:off x="7905750" y="447675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B4964B"/>
                </a:solidFill>
                <a:latin typeface="黑体"/>
                <a:ea typeface="黑体"/>
                <a:cs typeface="黑体"/>
              </a:defRPr>
            </a:pPr>
            <a:r>
              <a:rPr>
                <a:latin typeface="黑体"/>
                <a:ea typeface="黑体"/>
                <a:cs typeface="黑体"/>
              </a:rPr>
              <a:t>先核实 </a:t>
            </a:r>
            <a:r>
              <a:rPr>
                <a:latin typeface="Times New Roman"/>
                <a:ea typeface="Times New Roman"/>
                <a:cs typeface="Times New Roman"/>
              </a:rPr>
              <a:t>80 </a:t>
            </a:r>
            <a:r>
              <a:rPr>
                <a:latin typeface="黑体"/>
                <a:ea typeface="黑体"/>
                <a:cs typeface="黑体"/>
              </a:rPr>
              <a:t>的来源</a:t>
            </a:r>
          </a:p>
        </p:txBody>
      </p:sp>
      <p:sp>
        <p:nvSpPr>
          <p:cNvPr id="70" name="矩形 69">
            <a:extLst>
              <a:ext uri="{FF2B5EF4-FFF2-40B4-BE49-F238E27FC236}">
                <a16:creationId xmlns:a16="http://schemas.microsoft.com/office/drawing/2014/main" id="{535FA4C1-8825-40C9-9B83-E2581C4446EB}"/>
              </a:ext>
            </a:extLst>
          </p:cNvPr>
          <p:cNvSpPr>
            <a:spLocks noGrp="1"/>
          </p:cNvSpPr>
          <p:nvPr/>
        </p:nvSpPr>
        <p:spPr>
          <a:xfrm>
            <a:off x="8020050" y="4724400"/>
            <a:ext cx="3200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0204A"/>
                </a:solidFill>
                <a:latin typeface="黑体"/>
                <a:ea typeface="黑体"/>
                <a:cs typeface="黑体"/>
              </a:defRPr>
            </a:pPr>
            <a:r>
              <a:rPr>
                <a:latin typeface="黑体"/>
                <a:ea typeface="黑体"/>
                <a:cs typeface="黑体"/>
              </a:rPr>
              <a:t>录入错误：更正原值
真实高活跃：保留并使用稳健统计</a:t>
            </a:r>
          </a:p>
        </p:txBody>
      </p:sp>
      <p:sp>
        <p:nvSpPr>
          <p:cNvPr id="71" name="矩形 70">
            <a:extLst>
              <a:ext uri="{FF2B5EF4-FFF2-40B4-BE49-F238E27FC236}">
                <a16:creationId xmlns:a16="http://schemas.microsoft.com/office/drawing/2014/main" id="{AD79E7A7-2CE3-4DF2-9F46-FDD006931EA9}"/>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72" name="矩形 71">
            <a:extLst>
              <a:ext uri="{FF2B5EF4-FFF2-40B4-BE49-F238E27FC236}">
                <a16:creationId xmlns:a16="http://schemas.microsoft.com/office/drawing/2014/main" id="{3A036FE3-1C44-43FA-8FC6-5CBF277F983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均值对数值大小敏感，中位数对极端值更稳健。</a:t>
            </a:r>
          </a:p>
        </p:txBody>
      </p:sp>
    </p:spTree>
    <p:extLst>
      <p:ext uri="{BB962C8B-B14F-4D97-AF65-F5344CB8AC3E}">
        <p14:creationId xmlns:p14="http://schemas.microsoft.com/office/powerpoint/2010/main" val="11772650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A9B56335-DB7B-4AE4-8BF7-DD91431E63E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558D026-B0BC-46EA-BBB7-4AE4C4225558}"/>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5498BF8B-E931-47FF-8282-910F94D14A52}"/>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83307E82-9135-4C5C-B27B-5D3C16A308C9}"/>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离散程度：极差、方差与标准差</a:t>
            </a:r>
          </a:p>
        </p:txBody>
      </p:sp>
      <p:sp>
        <p:nvSpPr>
          <p:cNvPr id="5" name="矩形 4">
            <a:extLst>
              <a:ext uri="{FF2B5EF4-FFF2-40B4-BE49-F238E27FC236}">
                <a16:creationId xmlns:a16="http://schemas.microsoft.com/office/drawing/2014/main" id="{314E11B7-D6BE-4036-A604-FE7D08D81019}"/>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81/90</a:t>
            </a:r>
          </a:p>
        </p:txBody>
      </p:sp>
      <p:sp>
        <p:nvSpPr>
          <p:cNvPr id="6" name="矩形 5">
            <a:extLst>
              <a:ext uri="{FF2B5EF4-FFF2-40B4-BE49-F238E27FC236}">
                <a16:creationId xmlns:a16="http://schemas.microsoft.com/office/drawing/2014/main" id="{69A3A5F7-1961-4CFF-8B34-7B46BFD600C7}"/>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035711C7-A035-4025-9E4B-CC9FA5C6D547}"/>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s² = Σᵢ (xᵢ − x̄)² / (n − 1)    ·    s = √s²</a:t>
            </a:r>
          </a:p>
        </p:txBody>
      </p:sp>
      <p:sp>
        <p:nvSpPr>
          <p:cNvPr id="8" name="矩形 7">
            <a:extLst>
              <a:ext uri="{FF2B5EF4-FFF2-40B4-BE49-F238E27FC236}">
                <a16:creationId xmlns:a16="http://schemas.microsoft.com/office/drawing/2014/main" id="{BD65D7F1-DF11-44D9-867E-E3D8E3FFDC24}"/>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EAE487C4-02E5-4B1F-AD51-75769094AB9B}"/>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极差 </a:t>
            </a:r>
            <a:r>
              <a:rPr>
                <a:latin typeface="Times New Roman"/>
                <a:ea typeface="Times New Roman"/>
                <a:cs typeface="Times New Roman"/>
              </a:rPr>
              <a:t>= </a:t>
            </a:r>
            <a:r>
              <a:rPr>
                <a:latin typeface="黑体"/>
                <a:ea typeface="黑体"/>
                <a:cs typeface="黑体"/>
              </a:rPr>
              <a:t>最大值 </a:t>
            </a:r>
            <a:r>
              <a:rPr>
                <a:latin typeface="Times New Roman"/>
                <a:ea typeface="Times New Roman"/>
                <a:cs typeface="Times New Roman"/>
              </a:rPr>
              <a:t>− </a:t>
            </a:r>
            <a:r>
              <a:rPr>
                <a:latin typeface="黑体"/>
                <a:ea typeface="黑体"/>
                <a:cs typeface="黑体"/>
              </a:rPr>
              <a:t>最小值，只使用两个端点</a:t>
            </a:r>
          </a:p>
        </p:txBody>
      </p:sp>
      <p:sp>
        <p:nvSpPr>
          <p:cNvPr id="10" name="矩形 9">
            <a:extLst>
              <a:ext uri="{FF2B5EF4-FFF2-40B4-BE49-F238E27FC236}">
                <a16:creationId xmlns:a16="http://schemas.microsoft.com/office/drawing/2014/main" id="{BD2CAC3A-C1CC-4AEB-AAC7-DAC83EE78AAA}"/>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BD345CAB-ED05-4DA0-9D14-5C1BEED747A4}"/>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方差计算每个值与均值的平方偏差</a:t>
            </a:r>
          </a:p>
        </p:txBody>
      </p:sp>
      <p:sp>
        <p:nvSpPr>
          <p:cNvPr id="12" name="矩形 11">
            <a:extLst>
              <a:ext uri="{FF2B5EF4-FFF2-40B4-BE49-F238E27FC236}">
                <a16:creationId xmlns:a16="http://schemas.microsoft.com/office/drawing/2014/main" id="{C152FE1E-8B96-4B21-86BD-648814271E17}"/>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DDFE7465-FAFC-4C99-A981-7DD852E46BD5}"/>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标准差与原变量单位相同，更容易解释</a:t>
            </a:r>
          </a:p>
        </p:txBody>
      </p:sp>
      <p:sp>
        <p:nvSpPr>
          <p:cNvPr id="14" name="矩形 13">
            <a:extLst>
              <a:ext uri="{FF2B5EF4-FFF2-40B4-BE49-F238E27FC236}">
                <a16:creationId xmlns:a16="http://schemas.microsoft.com/office/drawing/2014/main" id="{622674C7-2822-4B0F-9762-4B8BFA77BEFE}"/>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81BE80B1-8238-4D40-9B5B-ABE61837B824}"/>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方差和标准差都对极端值敏感</a:t>
            </a:r>
          </a:p>
        </p:txBody>
      </p:sp>
      <p:sp>
        <p:nvSpPr>
          <p:cNvPr id="16" name="矩形 15">
            <a:extLst>
              <a:ext uri="{FF2B5EF4-FFF2-40B4-BE49-F238E27FC236}">
                <a16:creationId xmlns:a16="http://schemas.microsoft.com/office/drawing/2014/main" id="{4838430C-D06E-4F06-A505-372FF1CAC3FE}"/>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76B43AAA-866C-4CA5-A6E3-127C0CB11C2B}"/>
              </a:ext>
            </a:extLst>
          </p:cNvPr>
          <p:cNvSpPr>
            <a:spLocks noGrp="1"/>
          </p:cNvSpPr>
          <p:nvPr/>
        </p:nvSpPr>
        <p:spPr>
          <a:xfrm>
            <a:off x="6305550" y="1485900"/>
            <a:ext cx="4724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0204A"/>
                </a:solidFill>
                <a:latin typeface="黑体"/>
                <a:ea typeface="黑体"/>
                <a:cs typeface="黑体"/>
              </a:defRPr>
            </a:pPr>
            <a:r>
              <a:rPr>
                <a:latin typeface="黑体"/>
                <a:ea typeface="黑体"/>
                <a:cs typeface="黑体"/>
              </a:rPr>
              <a:t>相同均值，不同离散程度</a:t>
            </a:r>
          </a:p>
        </p:txBody>
      </p:sp>
      <p:sp>
        <p:nvSpPr>
          <p:cNvPr id="18" name="矩形 17">
            <a:extLst>
              <a:ext uri="{FF2B5EF4-FFF2-40B4-BE49-F238E27FC236}">
                <a16:creationId xmlns:a16="http://schemas.microsoft.com/office/drawing/2014/main" id="{3B4AADB4-9A8A-4166-96F5-6C3F8782F12C}"/>
              </a:ext>
            </a:extLst>
          </p:cNvPr>
          <p:cNvSpPr>
            <a:spLocks noGrp="1"/>
          </p:cNvSpPr>
          <p:nvPr/>
        </p:nvSpPr>
        <p:spPr>
          <a:xfrm>
            <a:off x="6343650" y="2533650"/>
            <a:ext cx="704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14DA1"/>
                </a:solidFill>
                <a:latin typeface="黑体"/>
                <a:ea typeface="黑体"/>
                <a:cs typeface="黑体"/>
              </a:defRPr>
            </a:pPr>
            <a:r>
              <a:rPr>
                <a:latin typeface="黑体"/>
                <a:ea typeface="黑体"/>
                <a:cs typeface="黑体"/>
              </a:rPr>
              <a:t>集中</a:t>
            </a:r>
          </a:p>
        </p:txBody>
      </p:sp>
      <p:sp>
        <p:nvSpPr>
          <p:cNvPr id="19" name="矩形 18">
            <a:extLst>
              <a:ext uri="{FF2B5EF4-FFF2-40B4-BE49-F238E27FC236}">
                <a16:creationId xmlns:a16="http://schemas.microsoft.com/office/drawing/2014/main" id="{9B300827-58D8-4570-84C8-6FC85BC42BF8}"/>
              </a:ext>
            </a:extLst>
          </p:cNvPr>
          <p:cNvSpPr>
            <a:spLocks noGrp="1"/>
          </p:cNvSpPr>
          <p:nvPr/>
        </p:nvSpPr>
        <p:spPr>
          <a:xfrm>
            <a:off x="7124700" y="2647950"/>
            <a:ext cx="3714750" cy="190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20" name="椭圆 19">
            <a:extLst>
              <a:ext uri="{FF2B5EF4-FFF2-40B4-BE49-F238E27FC236}">
                <a16:creationId xmlns:a16="http://schemas.microsoft.com/office/drawing/2014/main" id="{7F374DC7-69CA-4E81-A35A-31260ADB4A91}"/>
              </a:ext>
            </a:extLst>
          </p:cNvPr>
          <p:cNvSpPr>
            <a:spLocks noGrp="1"/>
          </p:cNvSpPr>
          <p:nvPr/>
        </p:nvSpPr>
        <p:spPr>
          <a:xfrm>
            <a:off x="8372475" y="258127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1" name="椭圆 20">
            <a:extLst>
              <a:ext uri="{FF2B5EF4-FFF2-40B4-BE49-F238E27FC236}">
                <a16:creationId xmlns:a16="http://schemas.microsoft.com/office/drawing/2014/main" id="{A2769AF1-B167-4BD6-9901-2B9CB9C81A5D}"/>
              </a:ext>
            </a:extLst>
          </p:cNvPr>
          <p:cNvSpPr>
            <a:spLocks noGrp="1"/>
          </p:cNvSpPr>
          <p:nvPr/>
        </p:nvSpPr>
        <p:spPr>
          <a:xfrm>
            <a:off x="8543925" y="258127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2" name="椭圆 21">
            <a:extLst>
              <a:ext uri="{FF2B5EF4-FFF2-40B4-BE49-F238E27FC236}">
                <a16:creationId xmlns:a16="http://schemas.microsoft.com/office/drawing/2014/main" id="{A0F3B384-1A9E-4E22-94D6-D1CFDA917489}"/>
              </a:ext>
            </a:extLst>
          </p:cNvPr>
          <p:cNvSpPr>
            <a:spLocks noGrp="1"/>
          </p:cNvSpPr>
          <p:nvPr/>
        </p:nvSpPr>
        <p:spPr>
          <a:xfrm>
            <a:off x="8696325" y="258127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3" name="椭圆 22">
            <a:extLst>
              <a:ext uri="{FF2B5EF4-FFF2-40B4-BE49-F238E27FC236}">
                <a16:creationId xmlns:a16="http://schemas.microsoft.com/office/drawing/2014/main" id="{71EDCA2C-AB63-4AF0-A4F2-039F13BD90F7}"/>
              </a:ext>
            </a:extLst>
          </p:cNvPr>
          <p:cNvSpPr>
            <a:spLocks noGrp="1"/>
          </p:cNvSpPr>
          <p:nvPr/>
        </p:nvSpPr>
        <p:spPr>
          <a:xfrm>
            <a:off x="8848725" y="258127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4" name="椭圆 23">
            <a:extLst>
              <a:ext uri="{FF2B5EF4-FFF2-40B4-BE49-F238E27FC236}">
                <a16:creationId xmlns:a16="http://schemas.microsoft.com/office/drawing/2014/main" id="{312EBD85-3D60-432A-BEB5-4A883CE078B1}"/>
              </a:ext>
            </a:extLst>
          </p:cNvPr>
          <p:cNvSpPr>
            <a:spLocks noGrp="1"/>
          </p:cNvSpPr>
          <p:nvPr/>
        </p:nvSpPr>
        <p:spPr>
          <a:xfrm>
            <a:off x="9001125" y="258127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5" name="椭圆 24">
            <a:extLst>
              <a:ext uri="{FF2B5EF4-FFF2-40B4-BE49-F238E27FC236}">
                <a16:creationId xmlns:a16="http://schemas.microsoft.com/office/drawing/2014/main" id="{B3F6B2F1-F9C3-4BE6-A9F7-4ED4A5C463AA}"/>
              </a:ext>
            </a:extLst>
          </p:cNvPr>
          <p:cNvSpPr>
            <a:spLocks noGrp="1"/>
          </p:cNvSpPr>
          <p:nvPr/>
        </p:nvSpPr>
        <p:spPr>
          <a:xfrm>
            <a:off x="9172575" y="258127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6" name="矩形 25">
            <a:extLst>
              <a:ext uri="{FF2B5EF4-FFF2-40B4-BE49-F238E27FC236}">
                <a16:creationId xmlns:a16="http://schemas.microsoft.com/office/drawing/2014/main" id="{FCB47CD0-FABD-448A-9837-CEE4F638A547}"/>
              </a:ext>
            </a:extLst>
          </p:cNvPr>
          <p:cNvSpPr>
            <a:spLocks noGrp="1"/>
          </p:cNvSpPr>
          <p:nvPr/>
        </p:nvSpPr>
        <p:spPr>
          <a:xfrm>
            <a:off x="8839200" y="2419350"/>
            <a:ext cx="19050" cy="457200"/>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27" name="矩形 26">
            <a:extLst>
              <a:ext uri="{FF2B5EF4-FFF2-40B4-BE49-F238E27FC236}">
                <a16:creationId xmlns:a16="http://schemas.microsoft.com/office/drawing/2014/main" id="{18B874A9-ED55-4E31-A002-3DE68429A458}"/>
              </a:ext>
            </a:extLst>
          </p:cNvPr>
          <p:cNvSpPr>
            <a:spLocks noGrp="1"/>
          </p:cNvSpPr>
          <p:nvPr/>
        </p:nvSpPr>
        <p:spPr>
          <a:xfrm>
            <a:off x="6343650" y="3790950"/>
            <a:ext cx="704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B4964B"/>
                </a:solidFill>
                <a:latin typeface="黑体"/>
                <a:ea typeface="黑体"/>
                <a:cs typeface="黑体"/>
              </a:defRPr>
            </a:pPr>
            <a:r>
              <a:rPr>
                <a:latin typeface="黑体"/>
                <a:ea typeface="黑体"/>
                <a:cs typeface="黑体"/>
              </a:rPr>
              <a:t>分散</a:t>
            </a:r>
          </a:p>
        </p:txBody>
      </p:sp>
      <p:sp>
        <p:nvSpPr>
          <p:cNvPr id="28" name="矩形 27">
            <a:extLst>
              <a:ext uri="{FF2B5EF4-FFF2-40B4-BE49-F238E27FC236}">
                <a16:creationId xmlns:a16="http://schemas.microsoft.com/office/drawing/2014/main" id="{4FA79B92-DACF-4BAB-A970-4865D2D58682}"/>
              </a:ext>
            </a:extLst>
          </p:cNvPr>
          <p:cNvSpPr>
            <a:spLocks noGrp="1"/>
          </p:cNvSpPr>
          <p:nvPr/>
        </p:nvSpPr>
        <p:spPr>
          <a:xfrm>
            <a:off x="7124700" y="3905250"/>
            <a:ext cx="3714750" cy="190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29" name="椭圆 28">
            <a:extLst>
              <a:ext uri="{FF2B5EF4-FFF2-40B4-BE49-F238E27FC236}">
                <a16:creationId xmlns:a16="http://schemas.microsoft.com/office/drawing/2014/main" id="{67622DDA-C8B5-4DD6-8A44-EAEDCBC8FF0E}"/>
              </a:ext>
            </a:extLst>
          </p:cNvPr>
          <p:cNvSpPr>
            <a:spLocks noGrp="1"/>
          </p:cNvSpPr>
          <p:nvPr/>
        </p:nvSpPr>
        <p:spPr>
          <a:xfrm>
            <a:off x="6962775" y="3838575"/>
            <a:ext cx="133350" cy="133350"/>
          </a:xfrm>
          <a:prstGeom prst="ellipse">
            <a:avLst/>
          </a:prstGeom>
          <a:solidFill>
            <a:srgbClr val="B4964B"/>
          </a:solidFill>
          <a:ln w="9525">
            <a:solidFill>
              <a:srgbClr val="FFFFFF"/>
            </a:solidFill>
            <a:prstDash val="solid"/>
          </a:ln>
        </p:spPr>
        <p:txBody>
          <a:bodyPr/>
          <a:lstStyle/>
          <a:p>
            <a:endParaRPr lang="zh-CN" altLang="en-US"/>
          </a:p>
        </p:txBody>
      </p:sp>
      <p:sp>
        <p:nvSpPr>
          <p:cNvPr id="30" name="椭圆 29">
            <a:extLst>
              <a:ext uri="{FF2B5EF4-FFF2-40B4-BE49-F238E27FC236}">
                <a16:creationId xmlns:a16="http://schemas.microsoft.com/office/drawing/2014/main" id="{6A870FDF-1D82-45FA-BFCE-F3161F7DF987}"/>
              </a:ext>
            </a:extLst>
          </p:cNvPr>
          <p:cNvSpPr>
            <a:spLocks noGrp="1"/>
          </p:cNvSpPr>
          <p:nvPr/>
        </p:nvSpPr>
        <p:spPr>
          <a:xfrm>
            <a:off x="7705725" y="3838575"/>
            <a:ext cx="133350" cy="133350"/>
          </a:xfrm>
          <a:prstGeom prst="ellipse">
            <a:avLst/>
          </a:prstGeom>
          <a:solidFill>
            <a:srgbClr val="B4964B"/>
          </a:solidFill>
          <a:ln w="9525">
            <a:solidFill>
              <a:srgbClr val="FFFFFF"/>
            </a:solidFill>
            <a:prstDash val="solid"/>
          </a:ln>
        </p:spPr>
        <p:txBody>
          <a:bodyPr/>
          <a:lstStyle/>
          <a:p>
            <a:endParaRPr lang="zh-CN" altLang="en-US"/>
          </a:p>
        </p:txBody>
      </p:sp>
      <p:sp>
        <p:nvSpPr>
          <p:cNvPr id="31" name="椭圆 30">
            <a:extLst>
              <a:ext uri="{FF2B5EF4-FFF2-40B4-BE49-F238E27FC236}">
                <a16:creationId xmlns:a16="http://schemas.microsoft.com/office/drawing/2014/main" id="{893E80DF-F347-4AE4-B462-823DF35ECA6A}"/>
              </a:ext>
            </a:extLst>
          </p:cNvPr>
          <p:cNvSpPr>
            <a:spLocks noGrp="1"/>
          </p:cNvSpPr>
          <p:nvPr/>
        </p:nvSpPr>
        <p:spPr>
          <a:xfrm>
            <a:off x="8410575" y="3838575"/>
            <a:ext cx="133350" cy="133350"/>
          </a:xfrm>
          <a:prstGeom prst="ellipse">
            <a:avLst/>
          </a:prstGeom>
          <a:solidFill>
            <a:srgbClr val="B4964B"/>
          </a:solidFill>
          <a:ln w="9525">
            <a:solidFill>
              <a:srgbClr val="FFFFFF"/>
            </a:solidFill>
            <a:prstDash val="solid"/>
          </a:ln>
        </p:spPr>
        <p:txBody>
          <a:bodyPr/>
          <a:lstStyle/>
          <a:p>
            <a:endParaRPr lang="zh-CN" altLang="en-US"/>
          </a:p>
        </p:txBody>
      </p:sp>
      <p:sp>
        <p:nvSpPr>
          <p:cNvPr id="32" name="椭圆 31">
            <a:extLst>
              <a:ext uri="{FF2B5EF4-FFF2-40B4-BE49-F238E27FC236}">
                <a16:creationId xmlns:a16="http://schemas.microsoft.com/office/drawing/2014/main" id="{66EE095A-C6F6-4218-8E4C-8B4D70305B36}"/>
              </a:ext>
            </a:extLst>
          </p:cNvPr>
          <p:cNvSpPr>
            <a:spLocks noGrp="1"/>
          </p:cNvSpPr>
          <p:nvPr/>
        </p:nvSpPr>
        <p:spPr>
          <a:xfrm>
            <a:off x="9134475" y="3838575"/>
            <a:ext cx="133350" cy="133350"/>
          </a:xfrm>
          <a:prstGeom prst="ellipse">
            <a:avLst/>
          </a:prstGeom>
          <a:solidFill>
            <a:srgbClr val="B4964B"/>
          </a:solidFill>
          <a:ln w="9525">
            <a:solidFill>
              <a:srgbClr val="FFFFFF"/>
            </a:solidFill>
            <a:prstDash val="solid"/>
          </a:ln>
        </p:spPr>
        <p:txBody>
          <a:bodyPr/>
          <a:lstStyle/>
          <a:p>
            <a:endParaRPr lang="zh-CN" altLang="en-US"/>
          </a:p>
        </p:txBody>
      </p:sp>
      <p:sp>
        <p:nvSpPr>
          <p:cNvPr id="33" name="椭圆 32">
            <a:extLst>
              <a:ext uri="{FF2B5EF4-FFF2-40B4-BE49-F238E27FC236}">
                <a16:creationId xmlns:a16="http://schemas.microsoft.com/office/drawing/2014/main" id="{8C2511C6-35F3-4A5B-B60F-249F40FDDB52}"/>
              </a:ext>
            </a:extLst>
          </p:cNvPr>
          <p:cNvSpPr>
            <a:spLocks noGrp="1"/>
          </p:cNvSpPr>
          <p:nvPr/>
        </p:nvSpPr>
        <p:spPr>
          <a:xfrm>
            <a:off x="9839325" y="3838575"/>
            <a:ext cx="133350" cy="133350"/>
          </a:xfrm>
          <a:prstGeom prst="ellipse">
            <a:avLst/>
          </a:prstGeom>
          <a:solidFill>
            <a:srgbClr val="B4964B"/>
          </a:solidFill>
          <a:ln w="9525">
            <a:solidFill>
              <a:srgbClr val="FFFFFF"/>
            </a:solidFill>
            <a:prstDash val="solid"/>
          </a:ln>
        </p:spPr>
        <p:txBody>
          <a:bodyPr/>
          <a:lstStyle/>
          <a:p>
            <a:endParaRPr lang="zh-CN" altLang="en-US"/>
          </a:p>
        </p:txBody>
      </p:sp>
      <p:sp>
        <p:nvSpPr>
          <p:cNvPr id="34" name="椭圆 33">
            <a:extLst>
              <a:ext uri="{FF2B5EF4-FFF2-40B4-BE49-F238E27FC236}">
                <a16:creationId xmlns:a16="http://schemas.microsoft.com/office/drawing/2014/main" id="{B29E080A-4D11-4995-8ABD-E7312AFF9C39}"/>
              </a:ext>
            </a:extLst>
          </p:cNvPr>
          <p:cNvSpPr>
            <a:spLocks noGrp="1"/>
          </p:cNvSpPr>
          <p:nvPr/>
        </p:nvSpPr>
        <p:spPr>
          <a:xfrm>
            <a:off x="10582275" y="3838575"/>
            <a:ext cx="133350" cy="133350"/>
          </a:xfrm>
          <a:prstGeom prst="ellipse">
            <a:avLst/>
          </a:prstGeom>
          <a:solidFill>
            <a:srgbClr val="B4964B"/>
          </a:solidFill>
          <a:ln w="9525">
            <a:solidFill>
              <a:srgbClr val="FFFFFF"/>
            </a:solidFill>
            <a:prstDash val="solid"/>
          </a:ln>
        </p:spPr>
        <p:txBody>
          <a:bodyPr/>
          <a:lstStyle/>
          <a:p>
            <a:endParaRPr lang="zh-CN" altLang="en-US"/>
          </a:p>
        </p:txBody>
      </p:sp>
      <p:sp>
        <p:nvSpPr>
          <p:cNvPr id="35" name="矩形 34">
            <a:extLst>
              <a:ext uri="{FF2B5EF4-FFF2-40B4-BE49-F238E27FC236}">
                <a16:creationId xmlns:a16="http://schemas.microsoft.com/office/drawing/2014/main" id="{75CB1D8B-167C-4EBC-B071-E4F8C01CD6F8}"/>
              </a:ext>
            </a:extLst>
          </p:cNvPr>
          <p:cNvSpPr>
            <a:spLocks noGrp="1"/>
          </p:cNvSpPr>
          <p:nvPr/>
        </p:nvSpPr>
        <p:spPr>
          <a:xfrm>
            <a:off x="8839200" y="3676650"/>
            <a:ext cx="19050" cy="457200"/>
          </a:xfrm>
          <a:prstGeom prst="rect">
            <a:avLst/>
          </a:prstGeom>
          <a:solidFill>
            <a:srgbClr val="A33A3A"/>
          </a:solidFill>
          <a:ln w="0">
            <a:solidFill>
              <a:srgbClr val="000000">
                <a:alpha val="0"/>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A2BD3F5C-2D60-4202-8E3A-E3B3054FFA5E}"/>
              </a:ext>
            </a:extLst>
          </p:cNvPr>
          <p:cNvSpPr>
            <a:spLocks noGrp="1"/>
          </p:cNvSpPr>
          <p:nvPr/>
        </p:nvSpPr>
        <p:spPr>
          <a:xfrm>
            <a:off x="8267700" y="4476750"/>
            <a:ext cx="1143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A33A3A"/>
                </a:solidFill>
                <a:latin typeface="黑体"/>
                <a:ea typeface="黑体"/>
                <a:cs typeface="黑体"/>
              </a:defRPr>
            </a:pPr>
            <a:r>
              <a:rPr>
                <a:latin typeface="黑体"/>
                <a:ea typeface="黑体"/>
                <a:cs typeface="黑体"/>
              </a:rPr>
              <a:t>同一均值 </a:t>
            </a:r>
            <a:r>
              <a:rPr>
                <a:latin typeface="Times New Roman"/>
                <a:ea typeface="Times New Roman"/>
                <a:cs typeface="Times New Roman"/>
              </a:rPr>
              <a:t>x̄</a:t>
            </a:r>
          </a:p>
        </p:txBody>
      </p:sp>
      <p:sp>
        <p:nvSpPr>
          <p:cNvPr id="37" name="矩形 36">
            <a:extLst>
              <a:ext uri="{FF2B5EF4-FFF2-40B4-BE49-F238E27FC236}">
                <a16:creationId xmlns:a16="http://schemas.microsoft.com/office/drawing/2014/main" id="{298D9F76-AABE-4F16-8FF9-08F7F60F734B}"/>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8" name="矩形 37">
            <a:extLst>
              <a:ext uri="{FF2B5EF4-FFF2-40B4-BE49-F238E27FC236}">
                <a16:creationId xmlns:a16="http://schemas.microsoft.com/office/drawing/2014/main" id="{E5B03DC9-E40B-401B-9D2A-B5A3543BC7A0}"/>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中心相同的两组数据，离散程度可能完全不同。</a:t>
            </a:r>
          </a:p>
        </p:txBody>
      </p:sp>
    </p:spTree>
    <p:extLst>
      <p:ext uri="{BB962C8B-B14F-4D97-AF65-F5344CB8AC3E}">
        <p14:creationId xmlns:p14="http://schemas.microsoft.com/office/powerpoint/2010/main" val="13854924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矩形 120">
            <a:extLst>
              <a:ext uri="{FF2B5EF4-FFF2-40B4-BE49-F238E27FC236}">
                <a16:creationId xmlns:a16="http://schemas.microsoft.com/office/drawing/2014/main" id="{F984E9C0-41E5-48F8-AAB3-F4881788840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0BADAD4A-D28A-49A4-A446-4E58DEA282A7}"/>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FCC3EC33-632A-4C0B-8C4D-0365FFB2ECD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2585DB08-6EC2-48D5-A27F-770A38C4758F}"/>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例：四分位数如何描述偏态分布</a:t>
            </a:r>
          </a:p>
        </p:txBody>
      </p:sp>
      <p:sp>
        <p:nvSpPr>
          <p:cNvPr id="5" name="矩形 4">
            <a:extLst>
              <a:ext uri="{FF2B5EF4-FFF2-40B4-BE49-F238E27FC236}">
                <a16:creationId xmlns:a16="http://schemas.microsoft.com/office/drawing/2014/main" id="{D18DFE71-3C76-4C65-AB4E-99CF4DFE6DB3}"/>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82/90</a:t>
            </a:r>
          </a:p>
        </p:txBody>
      </p:sp>
      <p:sp>
        <p:nvSpPr>
          <p:cNvPr id="6" name="矩形 5">
            <a:extLst>
              <a:ext uri="{FF2B5EF4-FFF2-40B4-BE49-F238E27FC236}">
                <a16:creationId xmlns:a16="http://schemas.microsoft.com/office/drawing/2014/main" id="{21EA4845-76D5-437E-A67A-AA5A32D03715}"/>
              </a:ext>
            </a:extLst>
          </p:cNvPr>
          <p:cNvSpPr>
            <a:spLocks noGrp="1"/>
          </p:cNvSpPr>
          <p:nvPr/>
        </p:nvSpPr>
        <p:spPr>
          <a:xfrm>
            <a:off x="609600" y="1257300"/>
            <a:ext cx="10972800" cy="9525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E7FFFB04-E0C0-430A-847A-DF5999778A9F}"/>
              </a:ext>
            </a:extLst>
          </p:cNvPr>
          <p:cNvSpPr>
            <a:spLocks noGrp="1"/>
          </p:cNvSpPr>
          <p:nvPr/>
        </p:nvSpPr>
        <p:spPr>
          <a:xfrm>
            <a:off x="838200" y="1562100"/>
            <a:ext cx="1619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00204A"/>
                </a:solidFill>
                <a:latin typeface="黑体"/>
                <a:ea typeface="黑体"/>
                <a:cs typeface="黑体"/>
              </a:defRPr>
            </a:pPr>
            <a:r>
              <a:rPr>
                <a:latin typeface="黑体"/>
                <a:ea typeface="黑体"/>
                <a:cs typeface="黑体"/>
              </a:rPr>
              <a:t>排序后分组</a:t>
            </a:r>
          </a:p>
        </p:txBody>
      </p:sp>
      <p:sp>
        <p:nvSpPr>
          <p:cNvPr id="8" name="矩形 7">
            <a:extLst>
              <a:ext uri="{FF2B5EF4-FFF2-40B4-BE49-F238E27FC236}">
                <a16:creationId xmlns:a16="http://schemas.microsoft.com/office/drawing/2014/main" id="{90059F3F-4B38-4D0F-BB04-B86A56FF262C}"/>
              </a:ext>
            </a:extLst>
          </p:cNvPr>
          <p:cNvSpPr>
            <a:spLocks noGrp="1"/>
          </p:cNvSpPr>
          <p:nvPr/>
        </p:nvSpPr>
        <p:spPr>
          <a:xfrm>
            <a:off x="2762250" y="1371600"/>
            <a:ext cx="3752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14DA1"/>
                </a:solidFill>
                <a:latin typeface="黑体"/>
                <a:ea typeface="黑体"/>
                <a:cs typeface="黑体"/>
              </a:defRPr>
            </a:pPr>
            <a:r>
              <a:rPr>
                <a:latin typeface="黑体"/>
                <a:ea typeface="黑体"/>
                <a:cs typeface="黑体"/>
              </a:rPr>
              <a:t>下半组</a:t>
            </a:r>
          </a:p>
        </p:txBody>
      </p:sp>
      <p:sp>
        <p:nvSpPr>
          <p:cNvPr id="9" name="矩形 8">
            <a:extLst>
              <a:ext uri="{FF2B5EF4-FFF2-40B4-BE49-F238E27FC236}">
                <a16:creationId xmlns:a16="http://schemas.microsoft.com/office/drawing/2014/main" id="{77D52579-BB55-465E-8907-D59D975F3C9B}"/>
              </a:ext>
            </a:extLst>
          </p:cNvPr>
          <p:cNvSpPr>
            <a:spLocks noGrp="1"/>
          </p:cNvSpPr>
          <p:nvPr/>
        </p:nvSpPr>
        <p:spPr>
          <a:xfrm>
            <a:off x="6648450" y="1371600"/>
            <a:ext cx="3752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黑体"/>
                <a:ea typeface="黑体"/>
                <a:cs typeface="黑体"/>
              </a:rPr>
              <a:t>上半组</a:t>
            </a:r>
          </a:p>
        </p:txBody>
      </p:sp>
      <p:sp>
        <p:nvSpPr>
          <p:cNvPr id="10" name="矩形 9">
            <a:extLst>
              <a:ext uri="{FF2B5EF4-FFF2-40B4-BE49-F238E27FC236}">
                <a16:creationId xmlns:a16="http://schemas.microsoft.com/office/drawing/2014/main" id="{0BA410A8-5040-45E9-992A-96BB60C3089F}"/>
              </a:ext>
            </a:extLst>
          </p:cNvPr>
          <p:cNvSpPr>
            <a:spLocks noGrp="1"/>
          </p:cNvSpPr>
          <p:nvPr/>
        </p:nvSpPr>
        <p:spPr>
          <a:xfrm>
            <a:off x="2762250" y="1600200"/>
            <a:ext cx="838200" cy="419100"/>
          </a:xfrm>
          <a:prstGeom prst="rect">
            <a:avLst/>
          </a:prstGeom>
          <a:solidFill>
            <a:srgbClr val="EAF2FF"/>
          </a:solidFill>
          <a:ln w="9525">
            <a:solidFill>
              <a:srgbClr val="AFC3DA"/>
            </a:solidFill>
            <a:prstDash val="solid"/>
          </a:ln>
        </p:spPr>
        <p:txBody>
          <a:bodyPr/>
          <a:lstStyle/>
          <a:p>
            <a:endParaRPr lang="zh-CN" altLang="en-US"/>
          </a:p>
        </p:txBody>
      </p:sp>
      <p:sp>
        <p:nvSpPr>
          <p:cNvPr id="11" name="矩形 10">
            <a:extLst>
              <a:ext uri="{FF2B5EF4-FFF2-40B4-BE49-F238E27FC236}">
                <a16:creationId xmlns:a16="http://schemas.microsoft.com/office/drawing/2014/main" id="{DD51C8F6-AAD8-4997-8587-342E981E21FE}"/>
              </a:ext>
            </a:extLst>
          </p:cNvPr>
          <p:cNvSpPr>
            <a:spLocks noGrp="1"/>
          </p:cNvSpPr>
          <p:nvPr/>
        </p:nvSpPr>
        <p:spPr>
          <a:xfrm>
            <a:off x="2876550" y="1704975"/>
            <a:ext cx="609600" cy="209550"/>
          </a:xfrm>
          <a:prstGeom prst="rect">
            <a:avLst/>
          </a:prstGeom>
          <a:solidFill>
            <a:srgbClr val="EAF2FF"/>
          </a:solidFill>
          <a:ln w="0">
            <a:solidFill>
              <a:srgbClr val="000000">
                <a:alpha val="0"/>
              </a:srgbClr>
            </a:solidFill>
            <a:prstDash val="solid"/>
          </a:ln>
        </p:spPr>
        <p:txBody>
          <a:bodyPr lIns="0" tIns="0" rIns="0" bIns="0" anchor="t"/>
          <a:lstStyle/>
          <a:p>
            <a:pPr algn="ctr">
              <a:defRPr sz="1350" b="1">
                <a:solidFill>
                  <a:srgbClr val="014DA1"/>
                </a:solidFill>
                <a:latin typeface="黑体"/>
                <a:ea typeface="黑体"/>
                <a:cs typeface="黑体"/>
              </a:defRPr>
            </a:pPr>
            <a:r>
              <a:rPr>
                <a:latin typeface="Times New Roman"/>
                <a:ea typeface="Times New Roman"/>
                <a:cs typeface="Times New Roman"/>
              </a:rPr>
              <a:t>1</a:t>
            </a:r>
          </a:p>
        </p:txBody>
      </p:sp>
      <p:sp>
        <p:nvSpPr>
          <p:cNvPr id="12" name="矩形 11">
            <a:extLst>
              <a:ext uri="{FF2B5EF4-FFF2-40B4-BE49-F238E27FC236}">
                <a16:creationId xmlns:a16="http://schemas.microsoft.com/office/drawing/2014/main" id="{1F441152-CD51-41B4-9C06-5CC659AEABED}"/>
              </a:ext>
            </a:extLst>
          </p:cNvPr>
          <p:cNvSpPr>
            <a:spLocks noGrp="1"/>
          </p:cNvSpPr>
          <p:nvPr/>
        </p:nvSpPr>
        <p:spPr>
          <a:xfrm>
            <a:off x="3733800" y="1600200"/>
            <a:ext cx="838200" cy="419100"/>
          </a:xfrm>
          <a:prstGeom prst="rect">
            <a:avLst/>
          </a:prstGeom>
          <a:solidFill>
            <a:srgbClr val="EAF2FF"/>
          </a:solidFill>
          <a:ln w="9525">
            <a:solidFill>
              <a:srgbClr val="AFC3DA"/>
            </a:solidFill>
            <a:prstDash val="solid"/>
          </a:ln>
        </p:spPr>
        <p:txBody>
          <a:bodyPr/>
          <a:lstStyle/>
          <a:p>
            <a:endParaRPr lang="zh-CN" altLang="en-US"/>
          </a:p>
        </p:txBody>
      </p:sp>
      <p:sp>
        <p:nvSpPr>
          <p:cNvPr id="13" name="矩形 12">
            <a:extLst>
              <a:ext uri="{FF2B5EF4-FFF2-40B4-BE49-F238E27FC236}">
                <a16:creationId xmlns:a16="http://schemas.microsoft.com/office/drawing/2014/main" id="{98DF1A41-B8D1-4C8F-B6F9-FF93B8CEA959}"/>
              </a:ext>
            </a:extLst>
          </p:cNvPr>
          <p:cNvSpPr>
            <a:spLocks noGrp="1"/>
          </p:cNvSpPr>
          <p:nvPr/>
        </p:nvSpPr>
        <p:spPr>
          <a:xfrm>
            <a:off x="3848100" y="1704975"/>
            <a:ext cx="609600" cy="209550"/>
          </a:xfrm>
          <a:prstGeom prst="rect">
            <a:avLst/>
          </a:prstGeom>
          <a:solidFill>
            <a:srgbClr val="EAF2FF"/>
          </a:solidFill>
          <a:ln w="0">
            <a:solidFill>
              <a:srgbClr val="000000">
                <a:alpha val="0"/>
              </a:srgbClr>
            </a:solidFill>
            <a:prstDash val="solid"/>
          </a:ln>
        </p:spPr>
        <p:txBody>
          <a:bodyPr lIns="0" tIns="0" rIns="0" bIns="0" anchor="t"/>
          <a:lstStyle/>
          <a:p>
            <a:pPr algn="ctr">
              <a:defRPr sz="1350" b="1">
                <a:solidFill>
                  <a:srgbClr val="014DA1"/>
                </a:solidFill>
                <a:latin typeface="黑体"/>
                <a:ea typeface="黑体"/>
                <a:cs typeface="黑体"/>
              </a:defRPr>
            </a:pPr>
            <a:r>
              <a:rPr>
                <a:latin typeface="Times New Roman"/>
                <a:ea typeface="Times New Roman"/>
                <a:cs typeface="Times New Roman"/>
              </a:rPr>
              <a:t>2</a:t>
            </a:r>
          </a:p>
        </p:txBody>
      </p:sp>
      <p:sp>
        <p:nvSpPr>
          <p:cNvPr id="14" name="矩形 13">
            <a:extLst>
              <a:ext uri="{FF2B5EF4-FFF2-40B4-BE49-F238E27FC236}">
                <a16:creationId xmlns:a16="http://schemas.microsoft.com/office/drawing/2014/main" id="{B7C5ED62-4BEE-4BF8-900A-25258F1AF366}"/>
              </a:ext>
            </a:extLst>
          </p:cNvPr>
          <p:cNvSpPr>
            <a:spLocks noGrp="1"/>
          </p:cNvSpPr>
          <p:nvPr/>
        </p:nvSpPr>
        <p:spPr>
          <a:xfrm>
            <a:off x="4705350" y="1600200"/>
            <a:ext cx="838200" cy="419100"/>
          </a:xfrm>
          <a:prstGeom prst="rect">
            <a:avLst/>
          </a:prstGeom>
          <a:solidFill>
            <a:srgbClr val="EAF2FF"/>
          </a:solidFill>
          <a:ln w="9525">
            <a:solidFill>
              <a:srgbClr val="AFC3DA"/>
            </a:solidFill>
            <a:prstDash val="solid"/>
          </a:ln>
        </p:spPr>
        <p:txBody>
          <a:bodyPr/>
          <a:lstStyle/>
          <a:p>
            <a:endParaRPr lang="zh-CN" altLang="en-US"/>
          </a:p>
        </p:txBody>
      </p:sp>
      <p:sp>
        <p:nvSpPr>
          <p:cNvPr id="15" name="矩形 14">
            <a:extLst>
              <a:ext uri="{FF2B5EF4-FFF2-40B4-BE49-F238E27FC236}">
                <a16:creationId xmlns:a16="http://schemas.microsoft.com/office/drawing/2014/main" id="{55E46F50-C2DA-42CB-9338-A5C0643078DF}"/>
              </a:ext>
            </a:extLst>
          </p:cNvPr>
          <p:cNvSpPr>
            <a:spLocks noGrp="1"/>
          </p:cNvSpPr>
          <p:nvPr/>
        </p:nvSpPr>
        <p:spPr>
          <a:xfrm>
            <a:off x="4819650" y="1704975"/>
            <a:ext cx="609600" cy="209550"/>
          </a:xfrm>
          <a:prstGeom prst="rect">
            <a:avLst/>
          </a:prstGeom>
          <a:solidFill>
            <a:srgbClr val="EAF2FF"/>
          </a:solidFill>
          <a:ln w="0">
            <a:solidFill>
              <a:srgbClr val="000000">
                <a:alpha val="0"/>
              </a:srgbClr>
            </a:solidFill>
            <a:prstDash val="solid"/>
          </a:ln>
        </p:spPr>
        <p:txBody>
          <a:bodyPr lIns="0" tIns="0" rIns="0" bIns="0" anchor="t"/>
          <a:lstStyle/>
          <a:p>
            <a:pPr algn="ctr">
              <a:defRPr sz="1350" b="1">
                <a:solidFill>
                  <a:srgbClr val="014DA1"/>
                </a:solidFill>
                <a:latin typeface="黑体"/>
                <a:ea typeface="黑体"/>
                <a:cs typeface="黑体"/>
              </a:defRPr>
            </a:pPr>
            <a:r>
              <a:rPr>
                <a:latin typeface="Times New Roman"/>
                <a:ea typeface="Times New Roman"/>
                <a:cs typeface="Times New Roman"/>
              </a:rPr>
              <a:t>3</a:t>
            </a:r>
          </a:p>
        </p:txBody>
      </p:sp>
      <p:sp>
        <p:nvSpPr>
          <p:cNvPr id="16" name="矩形 15">
            <a:extLst>
              <a:ext uri="{FF2B5EF4-FFF2-40B4-BE49-F238E27FC236}">
                <a16:creationId xmlns:a16="http://schemas.microsoft.com/office/drawing/2014/main" id="{AA8FBA38-7427-4124-B6D2-FFA9EDAADD0D}"/>
              </a:ext>
            </a:extLst>
          </p:cNvPr>
          <p:cNvSpPr>
            <a:spLocks noGrp="1"/>
          </p:cNvSpPr>
          <p:nvPr/>
        </p:nvSpPr>
        <p:spPr>
          <a:xfrm>
            <a:off x="5676900" y="1600200"/>
            <a:ext cx="838200" cy="419100"/>
          </a:xfrm>
          <a:prstGeom prst="rect">
            <a:avLst/>
          </a:prstGeom>
          <a:solidFill>
            <a:srgbClr val="EAF2FF"/>
          </a:solidFill>
          <a:ln w="9525">
            <a:solidFill>
              <a:srgbClr val="AFC3DA"/>
            </a:solidFill>
            <a:prstDash val="solid"/>
          </a:ln>
        </p:spPr>
        <p:txBody>
          <a:bodyPr/>
          <a:lstStyle/>
          <a:p>
            <a:endParaRPr lang="zh-CN" altLang="en-US"/>
          </a:p>
        </p:txBody>
      </p:sp>
      <p:sp>
        <p:nvSpPr>
          <p:cNvPr id="17" name="矩形 16">
            <a:extLst>
              <a:ext uri="{FF2B5EF4-FFF2-40B4-BE49-F238E27FC236}">
                <a16:creationId xmlns:a16="http://schemas.microsoft.com/office/drawing/2014/main" id="{3A88F98A-7F00-4158-A7ED-572E72079399}"/>
              </a:ext>
            </a:extLst>
          </p:cNvPr>
          <p:cNvSpPr>
            <a:spLocks noGrp="1"/>
          </p:cNvSpPr>
          <p:nvPr/>
        </p:nvSpPr>
        <p:spPr>
          <a:xfrm>
            <a:off x="5791200" y="1704975"/>
            <a:ext cx="609600" cy="209550"/>
          </a:xfrm>
          <a:prstGeom prst="rect">
            <a:avLst/>
          </a:prstGeom>
          <a:solidFill>
            <a:srgbClr val="EAF2FF"/>
          </a:solidFill>
          <a:ln w="0">
            <a:solidFill>
              <a:srgbClr val="000000">
                <a:alpha val="0"/>
              </a:srgbClr>
            </a:solidFill>
            <a:prstDash val="solid"/>
          </a:ln>
        </p:spPr>
        <p:txBody>
          <a:bodyPr lIns="0" tIns="0" rIns="0" bIns="0" anchor="t"/>
          <a:lstStyle/>
          <a:p>
            <a:pPr algn="ctr">
              <a:defRPr sz="1350" b="1">
                <a:solidFill>
                  <a:srgbClr val="014DA1"/>
                </a:solidFill>
                <a:latin typeface="黑体"/>
                <a:ea typeface="黑体"/>
                <a:cs typeface="黑体"/>
              </a:defRPr>
            </a:pPr>
            <a:r>
              <a:rPr>
                <a:latin typeface="Times New Roman"/>
                <a:ea typeface="Times New Roman"/>
                <a:cs typeface="Times New Roman"/>
              </a:rPr>
              <a:t>4</a:t>
            </a:r>
          </a:p>
        </p:txBody>
      </p:sp>
      <p:sp>
        <p:nvSpPr>
          <p:cNvPr id="18" name="矩形 17">
            <a:extLst>
              <a:ext uri="{FF2B5EF4-FFF2-40B4-BE49-F238E27FC236}">
                <a16:creationId xmlns:a16="http://schemas.microsoft.com/office/drawing/2014/main" id="{17006DAF-9A36-4BC9-869D-438088616290}"/>
              </a:ext>
            </a:extLst>
          </p:cNvPr>
          <p:cNvSpPr>
            <a:spLocks noGrp="1"/>
          </p:cNvSpPr>
          <p:nvPr/>
        </p:nvSpPr>
        <p:spPr>
          <a:xfrm>
            <a:off x="6648450" y="1600200"/>
            <a:ext cx="838200" cy="419100"/>
          </a:xfrm>
          <a:prstGeom prst="rect">
            <a:avLst/>
          </a:prstGeom>
          <a:solidFill>
            <a:srgbClr val="FFF6DE"/>
          </a:solidFill>
          <a:ln w="9525">
            <a:solidFill>
              <a:srgbClr val="D8C589"/>
            </a:solidFill>
            <a:prstDash val="solid"/>
          </a:ln>
        </p:spPr>
        <p:txBody>
          <a:bodyPr/>
          <a:lstStyle/>
          <a:p>
            <a:endParaRPr lang="zh-CN" altLang="en-US"/>
          </a:p>
        </p:txBody>
      </p:sp>
      <p:sp>
        <p:nvSpPr>
          <p:cNvPr id="19" name="矩形 18">
            <a:extLst>
              <a:ext uri="{FF2B5EF4-FFF2-40B4-BE49-F238E27FC236}">
                <a16:creationId xmlns:a16="http://schemas.microsoft.com/office/drawing/2014/main" id="{59FC1F28-D84D-44CF-AA5F-5F9A71F68A2C}"/>
              </a:ext>
            </a:extLst>
          </p:cNvPr>
          <p:cNvSpPr>
            <a:spLocks noGrp="1"/>
          </p:cNvSpPr>
          <p:nvPr/>
        </p:nvSpPr>
        <p:spPr>
          <a:xfrm>
            <a:off x="6762750" y="1704975"/>
            <a:ext cx="609600" cy="209550"/>
          </a:xfrm>
          <a:prstGeom prst="rect">
            <a:avLst/>
          </a:prstGeom>
          <a:solidFill>
            <a:srgbClr val="FFF6DE"/>
          </a:solidFill>
          <a:ln w="0">
            <a:solidFill>
              <a:srgbClr val="000000">
                <a:alpha val="0"/>
              </a:srgbClr>
            </a:solidFill>
            <a:prstDash val="solid"/>
          </a:ln>
        </p:spPr>
        <p:txBody>
          <a:bodyPr lIns="0" tIns="0" rIns="0" bIns="0" anchor="t"/>
          <a:lstStyle/>
          <a:p>
            <a:pPr algn="ctr">
              <a:defRPr sz="1350" b="1">
                <a:solidFill>
                  <a:srgbClr val="8A6D1D"/>
                </a:solidFill>
                <a:latin typeface="黑体"/>
                <a:ea typeface="黑体"/>
                <a:cs typeface="黑体"/>
              </a:defRPr>
            </a:pPr>
            <a:r>
              <a:rPr>
                <a:latin typeface="Times New Roman"/>
                <a:ea typeface="Times New Roman"/>
                <a:cs typeface="Times New Roman"/>
              </a:rPr>
              <a:t>5</a:t>
            </a:r>
          </a:p>
        </p:txBody>
      </p:sp>
      <p:sp>
        <p:nvSpPr>
          <p:cNvPr id="20" name="矩形 19">
            <a:extLst>
              <a:ext uri="{FF2B5EF4-FFF2-40B4-BE49-F238E27FC236}">
                <a16:creationId xmlns:a16="http://schemas.microsoft.com/office/drawing/2014/main" id="{15CCE834-8E80-4453-B218-B41CCE0F4407}"/>
              </a:ext>
            </a:extLst>
          </p:cNvPr>
          <p:cNvSpPr>
            <a:spLocks noGrp="1"/>
          </p:cNvSpPr>
          <p:nvPr/>
        </p:nvSpPr>
        <p:spPr>
          <a:xfrm>
            <a:off x="7620000" y="1600200"/>
            <a:ext cx="838200" cy="419100"/>
          </a:xfrm>
          <a:prstGeom prst="rect">
            <a:avLst/>
          </a:prstGeom>
          <a:solidFill>
            <a:srgbClr val="FFF6DE"/>
          </a:solidFill>
          <a:ln w="9525">
            <a:solidFill>
              <a:srgbClr val="D8C589"/>
            </a:solidFill>
            <a:prstDash val="solid"/>
          </a:ln>
        </p:spPr>
        <p:txBody>
          <a:bodyPr/>
          <a:lstStyle/>
          <a:p>
            <a:endParaRPr lang="zh-CN" altLang="en-US"/>
          </a:p>
        </p:txBody>
      </p:sp>
      <p:sp>
        <p:nvSpPr>
          <p:cNvPr id="21" name="矩形 20">
            <a:extLst>
              <a:ext uri="{FF2B5EF4-FFF2-40B4-BE49-F238E27FC236}">
                <a16:creationId xmlns:a16="http://schemas.microsoft.com/office/drawing/2014/main" id="{BB308E34-1E75-494A-B874-AE28BCE68E25}"/>
              </a:ext>
            </a:extLst>
          </p:cNvPr>
          <p:cNvSpPr>
            <a:spLocks noGrp="1"/>
          </p:cNvSpPr>
          <p:nvPr/>
        </p:nvSpPr>
        <p:spPr>
          <a:xfrm>
            <a:off x="7734300" y="1704975"/>
            <a:ext cx="609600" cy="209550"/>
          </a:xfrm>
          <a:prstGeom prst="rect">
            <a:avLst/>
          </a:prstGeom>
          <a:solidFill>
            <a:srgbClr val="FFF6DE"/>
          </a:solidFill>
          <a:ln w="0">
            <a:solidFill>
              <a:srgbClr val="000000">
                <a:alpha val="0"/>
              </a:srgbClr>
            </a:solidFill>
            <a:prstDash val="solid"/>
          </a:ln>
        </p:spPr>
        <p:txBody>
          <a:bodyPr lIns="0" tIns="0" rIns="0" bIns="0" anchor="t"/>
          <a:lstStyle/>
          <a:p>
            <a:pPr algn="ctr">
              <a:defRPr sz="1350" b="1">
                <a:solidFill>
                  <a:srgbClr val="8A6D1D"/>
                </a:solidFill>
                <a:latin typeface="黑体"/>
                <a:ea typeface="黑体"/>
                <a:cs typeface="黑体"/>
              </a:defRPr>
            </a:pPr>
            <a:r>
              <a:rPr>
                <a:latin typeface="Times New Roman"/>
                <a:ea typeface="Times New Roman"/>
                <a:cs typeface="Times New Roman"/>
              </a:rPr>
              <a:t>8</a:t>
            </a:r>
          </a:p>
        </p:txBody>
      </p:sp>
      <p:sp>
        <p:nvSpPr>
          <p:cNvPr id="22" name="矩形 21">
            <a:extLst>
              <a:ext uri="{FF2B5EF4-FFF2-40B4-BE49-F238E27FC236}">
                <a16:creationId xmlns:a16="http://schemas.microsoft.com/office/drawing/2014/main" id="{D350B9BE-7F41-4B54-9FC6-877D071C763F}"/>
              </a:ext>
            </a:extLst>
          </p:cNvPr>
          <p:cNvSpPr>
            <a:spLocks noGrp="1"/>
          </p:cNvSpPr>
          <p:nvPr/>
        </p:nvSpPr>
        <p:spPr>
          <a:xfrm>
            <a:off x="8591550" y="1600200"/>
            <a:ext cx="838200" cy="419100"/>
          </a:xfrm>
          <a:prstGeom prst="rect">
            <a:avLst/>
          </a:prstGeom>
          <a:solidFill>
            <a:srgbClr val="FFF6DE"/>
          </a:solidFill>
          <a:ln w="9525">
            <a:solidFill>
              <a:srgbClr val="D8C589"/>
            </a:solidFill>
            <a:prstDash val="solid"/>
          </a:ln>
        </p:spPr>
        <p:txBody>
          <a:bodyPr/>
          <a:lstStyle/>
          <a:p>
            <a:endParaRPr lang="zh-CN" altLang="en-US"/>
          </a:p>
        </p:txBody>
      </p:sp>
      <p:sp>
        <p:nvSpPr>
          <p:cNvPr id="23" name="矩形 22">
            <a:extLst>
              <a:ext uri="{FF2B5EF4-FFF2-40B4-BE49-F238E27FC236}">
                <a16:creationId xmlns:a16="http://schemas.microsoft.com/office/drawing/2014/main" id="{DD76F8CF-9BE1-49F7-9636-52DF8375DF30}"/>
              </a:ext>
            </a:extLst>
          </p:cNvPr>
          <p:cNvSpPr>
            <a:spLocks noGrp="1"/>
          </p:cNvSpPr>
          <p:nvPr/>
        </p:nvSpPr>
        <p:spPr>
          <a:xfrm>
            <a:off x="8705850" y="1704975"/>
            <a:ext cx="609600" cy="209550"/>
          </a:xfrm>
          <a:prstGeom prst="rect">
            <a:avLst/>
          </a:prstGeom>
          <a:solidFill>
            <a:srgbClr val="FFF6DE"/>
          </a:solidFill>
          <a:ln w="0">
            <a:solidFill>
              <a:srgbClr val="000000">
                <a:alpha val="0"/>
              </a:srgbClr>
            </a:solidFill>
            <a:prstDash val="solid"/>
          </a:ln>
        </p:spPr>
        <p:txBody>
          <a:bodyPr lIns="0" tIns="0" rIns="0" bIns="0" anchor="t"/>
          <a:lstStyle/>
          <a:p>
            <a:pPr algn="ctr">
              <a:defRPr sz="1350" b="1">
                <a:solidFill>
                  <a:srgbClr val="8A6D1D"/>
                </a:solidFill>
                <a:latin typeface="黑体"/>
                <a:ea typeface="黑体"/>
                <a:cs typeface="黑体"/>
              </a:defRPr>
            </a:pPr>
            <a:r>
              <a:rPr>
                <a:latin typeface="Times New Roman"/>
                <a:ea typeface="Times New Roman"/>
                <a:cs typeface="Times New Roman"/>
              </a:rPr>
              <a:t>12</a:t>
            </a:r>
          </a:p>
        </p:txBody>
      </p:sp>
      <p:sp>
        <p:nvSpPr>
          <p:cNvPr id="24" name="矩形 23">
            <a:extLst>
              <a:ext uri="{FF2B5EF4-FFF2-40B4-BE49-F238E27FC236}">
                <a16:creationId xmlns:a16="http://schemas.microsoft.com/office/drawing/2014/main" id="{91261E01-25F4-4B51-8525-5525F5854D16}"/>
              </a:ext>
            </a:extLst>
          </p:cNvPr>
          <p:cNvSpPr>
            <a:spLocks noGrp="1"/>
          </p:cNvSpPr>
          <p:nvPr/>
        </p:nvSpPr>
        <p:spPr>
          <a:xfrm>
            <a:off x="9563100" y="1600200"/>
            <a:ext cx="838200" cy="419100"/>
          </a:xfrm>
          <a:prstGeom prst="rect">
            <a:avLst/>
          </a:prstGeom>
          <a:solidFill>
            <a:srgbClr val="FFF6DE"/>
          </a:solidFill>
          <a:ln w="9525">
            <a:solidFill>
              <a:srgbClr val="D8C589"/>
            </a:solidFill>
            <a:prstDash val="solid"/>
          </a:ln>
        </p:spPr>
        <p:txBody>
          <a:bodyPr/>
          <a:lstStyle/>
          <a:p>
            <a:endParaRPr lang="zh-CN" altLang="en-US"/>
          </a:p>
        </p:txBody>
      </p:sp>
      <p:sp>
        <p:nvSpPr>
          <p:cNvPr id="25" name="矩形 24">
            <a:extLst>
              <a:ext uri="{FF2B5EF4-FFF2-40B4-BE49-F238E27FC236}">
                <a16:creationId xmlns:a16="http://schemas.microsoft.com/office/drawing/2014/main" id="{DB0D5063-BF04-44A9-8147-4A9E27CB322B}"/>
              </a:ext>
            </a:extLst>
          </p:cNvPr>
          <p:cNvSpPr>
            <a:spLocks noGrp="1"/>
          </p:cNvSpPr>
          <p:nvPr/>
        </p:nvSpPr>
        <p:spPr>
          <a:xfrm>
            <a:off x="9677400" y="1704975"/>
            <a:ext cx="609600" cy="209550"/>
          </a:xfrm>
          <a:prstGeom prst="rect">
            <a:avLst/>
          </a:prstGeom>
          <a:solidFill>
            <a:srgbClr val="FFF6DE"/>
          </a:solidFill>
          <a:ln w="0">
            <a:solidFill>
              <a:srgbClr val="000000">
                <a:alpha val="0"/>
              </a:srgbClr>
            </a:solidFill>
            <a:prstDash val="solid"/>
          </a:ln>
        </p:spPr>
        <p:txBody>
          <a:bodyPr lIns="0" tIns="0" rIns="0" bIns="0" anchor="t"/>
          <a:lstStyle/>
          <a:p>
            <a:pPr algn="ctr">
              <a:defRPr sz="1350" b="1">
                <a:solidFill>
                  <a:srgbClr val="8A6D1D"/>
                </a:solidFill>
                <a:latin typeface="黑体"/>
                <a:ea typeface="黑体"/>
                <a:cs typeface="黑体"/>
              </a:defRPr>
            </a:pPr>
            <a:r>
              <a:rPr>
                <a:latin typeface="Times New Roman"/>
                <a:ea typeface="Times New Roman"/>
                <a:cs typeface="Times New Roman"/>
              </a:rPr>
              <a:t>20</a:t>
            </a:r>
          </a:p>
        </p:txBody>
      </p:sp>
      <p:sp>
        <p:nvSpPr>
          <p:cNvPr id="26" name="矩形 25">
            <a:extLst>
              <a:ext uri="{FF2B5EF4-FFF2-40B4-BE49-F238E27FC236}">
                <a16:creationId xmlns:a16="http://schemas.microsoft.com/office/drawing/2014/main" id="{4637F404-91A8-4F8A-A680-A562F066D5FF}"/>
              </a:ext>
            </a:extLst>
          </p:cNvPr>
          <p:cNvSpPr>
            <a:spLocks noGrp="1"/>
          </p:cNvSpPr>
          <p:nvPr/>
        </p:nvSpPr>
        <p:spPr>
          <a:xfrm>
            <a:off x="9906000" y="1962150"/>
            <a:ext cx="1447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4B5563"/>
                </a:solidFill>
                <a:latin typeface="黑体"/>
                <a:ea typeface="黑体"/>
                <a:cs typeface="黑体"/>
              </a:defRPr>
            </a:pPr>
            <a:r>
              <a:rPr>
                <a:latin typeface="黑体"/>
                <a:ea typeface="黑体"/>
                <a:cs typeface="黑体"/>
              </a:rPr>
              <a:t>本例采用上下半组中位数法</a:t>
            </a:r>
          </a:p>
        </p:txBody>
      </p:sp>
      <p:sp>
        <p:nvSpPr>
          <p:cNvPr id="27" name="矩形 26">
            <a:extLst>
              <a:ext uri="{FF2B5EF4-FFF2-40B4-BE49-F238E27FC236}">
                <a16:creationId xmlns:a16="http://schemas.microsoft.com/office/drawing/2014/main" id="{F1626B92-589F-48F7-AADF-7316D1A744F8}"/>
              </a:ext>
            </a:extLst>
          </p:cNvPr>
          <p:cNvSpPr>
            <a:spLocks noGrp="1"/>
          </p:cNvSpPr>
          <p:nvPr/>
        </p:nvSpPr>
        <p:spPr>
          <a:xfrm>
            <a:off x="609600" y="2343150"/>
            <a:ext cx="10972800" cy="1924050"/>
          </a:xfrm>
          <a:prstGeom prst="rect">
            <a:avLst/>
          </a:prstGeom>
          <a:solidFill>
            <a:srgbClr val="FFFFFF"/>
          </a:solidFill>
          <a:ln w="9525">
            <a:solidFill>
              <a:srgbClr val="B8C3D1"/>
            </a:solidFill>
            <a:prstDash val="solid"/>
          </a:ln>
        </p:spPr>
        <p:txBody>
          <a:bodyPr/>
          <a:lstStyle/>
          <a:p>
            <a:endParaRPr lang="zh-CN" altLang="en-US"/>
          </a:p>
        </p:txBody>
      </p:sp>
      <p:sp>
        <p:nvSpPr>
          <p:cNvPr id="28" name="矩形 27">
            <a:extLst>
              <a:ext uri="{FF2B5EF4-FFF2-40B4-BE49-F238E27FC236}">
                <a16:creationId xmlns:a16="http://schemas.microsoft.com/office/drawing/2014/main" id="{041DFB3C-0D02-48B2-B6AB-AF2A6F130C39}"/>
              </a:ext>
            </a:extLst>
          </p:cNvPr>
          <p:cNvSpPr>
            <a:spLocks noGrp="1"/>
          </p:cNvSpPr>
          <p:nvPr/>
        </p:nvSpPr>
        <p:spPr>
          <a:xfrm>
            <a:off x="838200" y="2495550"/>
            <a:ext cx="3143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00204A"/>
                </a:solidFill>
                <a:latin typeface="黑体"/>
                <a:ea typeface="黑体"/>
                <a:cs typeface="黑体"/>
              </a:defRPr>
            </a:pPr>
            <a:r>
              <a:rPr>
                <a:latin typeface="黑体"/>
                <a:ea typeface="黑体"/>
                <a:cs typeface="黑体"/>
              </a:rPr>
              <a:t>四分位数、</a:t>
            </a:r>
            <a:r>
              <a:rPr>
                <a:latin typeface="Times New Roman"/>
                <a:ea typeface="Times New Roman"/>
                <a:cs typeface="Times New Roman"/>
              </a:rPr>
              <a:t>IQR </a:t>
            </a:r>
            <a:r>
              <a:rPr>
                <a:latin typeface="黑体"/>
                <a:ea typeface="黑体"/>
                <a:cs typeface="黑体"/>
              </a:rPr>
              <a:t>与异常值边界</a:t>
            </a:r>
          </a:p>
        </p:txBody>
      </p:sp>
      <p:sp>
        <p:nvSpPr>
          <p:cNvPr id="29" name="矩形 28">
            <a:extLst>
              <a:ext uri="{FF2B5EF4-FFF2-40B4-BE49-F238E27FC236}">
                <a16:creationId xmlns:a16="http://schemas.microsoft.com/office/drawing/2014/main" id="{BDD2B705-7BFB-43A3-B2B9-B29859D21D06}"/>
              </a:ext>
            </a:extLst>
          </p:cNvPr>
          <p:cNvSpPr>
            <a:spLocks noGrp="1"/>
          </p:cNvSpPr>
          <p:nvPr/>
        </p:nvSpPr>
        <p:spPr>
          <a:xfrm>
            <a:off x="7334250" y="2514600"/>
            <a:ext cx="3943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2F7A5D"/>
                </a:solidFill>
                <a:latin typeface="黑体"/>
                <a:ea typeface="黑体"/>
                <a:cs typeface="黑体"/>
              </a:defRPr>
            </a:pPr>
            <a:r>
              <a:rPr>
                <a:latin typeface="Times New Roman"/>
                <a:ea typeface="Times New Roman"/>
                <a:cs typeface="Times New Roman"/>
              </a:rPr>
              <a:t>20 &lt; 21.25：</a:t>
            </a:r>
            <a:r>
              <a:rPr>
                <a:latin typeface="黑体"/>
                <a:ea typeface="黑体"/>
                <a:cs typeface="黑体"/>
              </a:rPr>
              <a:t>按 </a:t>
            </a:r>
            <a:r>
              <a:rPr>
                <a:latin typeface="Times New Roman"/>
                <a:ea typeface="Times New Roman"/>
                <a:cs typeface="Times New Roman"/>
              </a:rPr>
              <a:t>1.5 × IQR </a:t>
            </a:r>
            <a:r>
              <a:rPr>
                <a:latin typeface="黑体"/>
                <a:ea typeface="黑体"/>
                <a:cs typeface="黑体"/>
              </a:rPr>
              <a:t>规则不标记为异常值</a:t>
            </a:r>
          </a:p>
        </p:txBody>
      </p:sp>
      <p:sp>
        <p:nvSpPr>
          <p:cNvPr id="30" name="矩形 29">
            <a:extLst>
              <a:ext uri="{FF2B5EF4-FFF2-40B4-BE49-F238E27FC236}">
                <a16:creationId xmlns:a16="http://schemas.microsoft.com/office/drawing/2014/main" id="{B7FE0AB4-92C4-4CB7-8164-AB57CE30356E}"/>
              </a:ext>
            </a:extLst>
          </p:cNvPr>
          <p:cNvSpPr>
            <a:spLocks noGrp="1"/>
          </p:cNvSpPr>
          <p:nvPr/>
        </p:nvSpPr>
        <p:spPr>
          <a:xfrm>
            <a:off x="1104900" y="3333750"/>
            <a:ext cx="9906000" cy="28575"/>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8AD76B75-7B0E-40F1-9834-EB6860F6A059}"/>
              </a:ext>
            </a:extLst>
          </p:cNvPr>
          <p:cNvSpPr>
            <a:spLocks noGrp="1"/>
          </p:cNvSpPr>
          <p:nvPr/>
        </p:nvSpPr>
        <p:spPr>
          <a:xfrm>
            <a:off x="1104900" y="32670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94B91E0F-3312-42AC-BE89-35E28DEC103D}"/>
              </a:ext>
            </a:extLst>
          </p:cNvPr>
          <p:cNvSpPr>
            <a:spLocks noGrp="1"/>
          </p:cNvSpPr>
          <p:nvPr/>
        </p:nvSpPr>
        <p:spPr>
          <a:xfrm>
            <a:off x="876300" y="39433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-10</a:t>
            </a:r>
          </a:p>
        </p:txBody>
      </p:sp>
      <p:sp>
        <p:nvSpPr>
          <p:cNvPr id="33" name="矩形 32">
            <a:extLst>
              <a:ext uri="{FF2B5EF4-FFF2-40B4-BE49-F238E27FC236}">
                <a16:creationId xmlns:a16="http://schemas.microsoft.com/office/drawing/2014/main" id="{6BD870AD-2CFE-489E-A7BE-96AC90741933}"/>
              </a:ext>
            </a:extLst>
          </p:cNvPr>
          <p:cNvSpPr>
            <a:spLocks noGrp="1"/>
          </p:cNvSpPr>
          <p:nvPr/>
        </p:nvSpPr>
        <p:spPr>
          <a:xfrm>
            <a:off x="3935186" y="32670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3FEE6A11-5FB1-472F-974D-177EF537CF13}"/>
              </a:ext>
            </a:extLst>
          </p:cNvPr>
          <p:cNvSpPr>
            <a:spLocks noGrp="1"/>
          </p:cNvSpPr>
          <p:nvPr/>
        </p:nvSpPr>
        <p:spPr>
          <a:xfrm>
            <a:off x="3706586" y="39433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a:t>
            </a:r>
          </a:p>
        </p:txBody>
      </p:sp>
      <p:sp>
        <p:nvSpPr>
          <p:cNvPr id="35" name="矩形 34">
            <a:extLst>
              <a:ext uri="{FF2B5EF4-FFF2-40B4-BE49-F238E27FC236}">
                <a16:creationId xmlns:a16="http://schemas.microsoft.com/office/drawing/2014/main" id="{1903C1FD-A92D-457D-AE53-3586290FA891}"/>
              </a:ext>
            </a:extLst>
          </p:cNvPr>
          <p:cNvSpPr>
            <a:spLocks noGrp="1"/>
          </p:cNvSpPr>
          <p:nvPr/>
        </p:nvSpPr>
        <p:spPr>
          <a:xfrm>
            <a:off x="6765471" y="32670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6" name="矩形 35">
            <a:extLst>
              <a:ext uri="{FF2B5EF4-FFF2-40B4-BE49-F238E27FC236}">
                <a16:creationId xmlns:a16="http://schemas.microsoft.com/office/drawing/2014/main" id="{F532FCDF-5DBD-4AA4-B619-19AFED45383E}"/>
              </a:ext>
            </a:extLst>
          </p:cNvPr>
          <p:cNvSpPr>
            <a:spLocks noGrp="1"/>
          </p:cNvSpPr>
          <p:nvPr/>
        </p:nvSpPr>
        <p:spPr>
          <a:xfrm>
            <a:off x="6536871" y="39433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10</a:t>
            </a:r>
          </a:p>
        </p:txBody>
      </p:sp>
      <p:sp>
        <p:nvSpPr>
          <p:cNvPr id="37" name="矩形 36">
            <a:extLst>
              <a:ext uri="{FF2B5EF4-FFF2-40B4-BE49-F238E27FC236}">
                <a16:creationId xmlns:a16="http://schemas.microsoft.com/office/drawing/2014/main" id="{AB175251-4952-4B4B-A887-0C19BF349C53}"/>
              </a:ext>
            </a:extLst>
          </p:cNvPr>
          <p:cNvSpPr>
            <a:spLocks noGrp="1"/>
          </p:cNvSpPr>
          <p:nvPr/>
        </p:nvSpPr>
        <p:spPr>
          <a:xfrm>
            <a:off x="9595757" y="32670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38" name="矩形 37">
            <a:extLst>
              <a:ext uri="{FF2B5EF4-FFF2-40B4-BE49-F238E27FC236}">
                <a16:creationId xmlns:a16="http://schemas.microsoft.com/office/drawing/2014/main" id="{000424C8-453D-4592-BB6D-13D4197DE33E}"/>
              </a:ext>
            </a:extLst>
          </p:cNvPr>
          <p:cNvSpPr>
            <a:spLocks noGrp="1"/>
          </p:cNvSpPr>
          <p:nvPr/>
        </p:nvSpPr>
        <p:spPr>
          <a:xfrm>
            <a:off x="9367157" y="39433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20</a:t>
            </a:r>
          </a:p>
        </p:txBody>
      </p:sp>
      <p:sp>
        <p:nvSpPr>
          <p:cNvPr id="39" name="矩形 38">
            <a:extLst>
              <a:ext uri="{FF2B5EF4-FFF2-40B4-BE49-F238E27FC236}">
                <a16:creationId xmlns:a16="http://schemas.microsoft.com/office/drawing/2014/main" id="{C86AAE8F-270C-4BC9-AC11-2191AC3C3AF6}"/>
              </a:ext>
            </a:extLst>
          </p:cNvPr>
          <p:cNvSpPr>
            <a:spLocks noGrp="1"/>
          </p:cNvSpPr>
          <p:nvPr/>
        </p:nvSpPr>
        <p:spPr>
          <a:xfrm>
            <a:off x="11010900" y="3267075"/>
            <a:ext cx="19050" cy="152400"/>
          </a:xfrm>
          <a:prstGeom prst="rect">
            <a:avLst/>
          </a:prstGeom>
          <a:solidFill>
            <a:srgbClr val="8B99A8"/>
          </a:solidFill>
          <a:ln w="0">
            <a:solidFill>
              <a:srgbClr val="000000">
                <a:alpha val="0"/>
              </a:srgbClr>
            </a:solidFill>
            <a:prstDash val="solid"/>
          </a:ln>
        </p:spPr>
        <p:txBody>
          <a:bodyPr/>
          <a:lstStyle/>
          <a:p>
            <a:endParaRPr lang="zh-CN" altLang="en-US"/>
          </a:p>
        </p:txBody>
      </p:sp>
      <p:sp>
        <p:nvSpPr>
          <p:cNvPr id="40" name="矩形 39">
            <a:extLst>
              <a:ext uri="{FF2B5EF4-FFF2-40B4-BE49-F238E27FC236}">
                <a16:creationId xmlns:a16="http://schemas.microsoft.com/office/drawing/2014/main" id="{4834D962-0397-4CF3-9777-1A2BEE136A00}"/>
              </a:ext>
            </a:extLst>
          </p:cNvPr>
          <p:cNvSpPr>
            <a:spLocks noGrp="1"/>
          </p:cNvSpPr>
          <p:nvPr/>
        </p:nvSpPr>
        <p:spPr>
          <a:xfrm>
            <a:off x="10782300" y="39433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25</a:t>
            </a:r>
          </a:p>
        </p:txBody>
      </p:sp>
      <p:sp>
        <p:nvSpPr>
          <p:cNvPr id="41" name="椭圆 40">
            <a:extLst>
              <a:ext uri="{FF2B5EF4-FFF2-40B4-BE49-F238E27FC236}">
                <a16:creationId xmlns:a16="http://schemas.microsoft.com/office/drawing/2014/main" id="{F7DA6AB4-92D5-485F-9EDF-70D5EAB94509}"/>
              </a:ext>
            </a:extLst>
          </p:cNvPr>
          <p:cNvSpPr>
            <a:spLocks noGrp="1"/>
          </p:cNvSpPr>
          <p:nvPr/>
        </p:nvSpPr>
        <p:spPr>
          <a:xfrm>
            <a:off x="1449161" y="277177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8060F05B-CCDA-41FE-B42D-38A67993038B}"/>
              </a:ext>
            </a:extLst>
          </p:cNvPr>
          <p:cNvSpPr>
            <a:spLocks noGrp="1"/>
          </p:cNvSpPr>
          <p:nvPr/>
        </p:nvSpPr>
        <p:spPr>
          <a:xfrm>
            <a:off x="1449161" y="281844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6DB8B0DD-E668-4BF0-A6C8-8125BE9C8665}"/>
              </a:ext>
            </a:extLst>
          </p:cNvPr>
          <p:cNvSpPr>
            <a:spLocks noGrp="1"/>
          </p:cNvSpPr>
          <p:nvPr/>
        </p:nvSpPr>
        <p:spPr>
          <a:xfrm>
            <a:off x="1449161" y="286512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7F4F31B9-4BEA-40D0-BBD3-947D0563F1DC}"/>
              </a:ext>
            </a:extLst>
          </p:cNvPr>
          <p:cNvSpPr>
            <a:spLocks noGrp="1"/>
          </p:cNvSpPr>
          <p:nvPr/>
        </p:nvSpPr>
        <p:spPr>
          <a:xfrm>
            <a:off x="1449161" y="291179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2DA03356-295E-4B3F-AF83-55AA3ACEC916}"/>
              </a:ext>
            </a:extLst>
          </p:cNvPr>
          <p:cNvSpPr>
            <a:spLocks noGrp="1"/>
          </p:cNvSpPr>
          <p:nvPr/>
        </p:nvSpPr>
        <p:spPr>
          <a:xfrm>
            <a:off x="1449161" y="295846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EE95C0BB-854D-439F-8F7C-ED7BFE054823}"/>
              </a:ext>
            </a:extLst>
          </p:cNvPr>
          <p:cNvSpPr>
            <a:spLocks noGrp="1"/>
          </p:cNvSpPr>
          <p:nvPr/>
        </p:nvSpPr>
        <p:spPr>
          <a:xfrm>
            <a:off x="1449161" y="300513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2BBD93DB-CD28-4001-94AC-09EAB5508E36}"/>
              </a:ext>
            </a:extLst>
          </p:cNvPr>
          <p:cNvSpPr>
            <a:spLocks noGrp="1"/>
          </p:cNvSpPr>
          <p:nvPr/>
        </p:nvSpPr>
        <p:spPr>
          <a:xfrm>
            <a:off x="1449161" y="305181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0F00B4F5-0ED2-440A-88DF-3EE3344A134D}"/>
              </a:ext>
            </a:extLst>
          </p:cNvPr>
          <p:cNvSpPr>
            <a:spLocks noGrp="1"/>
          </p:cNvSpPr>
          <p:nvPr/>
        </p:nvSpPr>
        <p:spPr>
          <a:xfrm>
            <a:off x="1449161" y="309848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3E02DB42-0416-46EE-8C2C-5D9B328C222B}"/>
              </a:ext>
            </a:extLst>
          </p:cNvPr>
          <p:cNvSpPr>
            <a:spLocks noGrp="1"/>
          </p:cNvSpPr>
          <p:nvPr/>
        </p:nvSpPr>
        <p:spPr>
          <a:xfrm>
            <a:off x="1449161" y="314515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E2173653-D977-440A-998A-7D1A8649934E}"/>
              </a:ext>
            </a:extLst>
          </p:cNvPr>
          <p:cNvSpPr>
            <a:spLocks noGrp="1"/>
          </p:cNvSpPr>
          <p:nvPr/>
        </p:nvSpPr>
        <p:spPr>
          <a:xfrm>
            <a:off x="1449161" y="319182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2B34DCF2-00FF-43DA-B8B1-C08F86BB3AE1}"/>
              </a:ext>
            </a:extLst>
          </p:cNvPr>
          <p:cNvSpPr>
            <a:spLocks noGrp="1"/>
          </p:cNvSpPr>
          <p:nvPr/>
        </p:nvSpPr>
        <p:spPr>
          <a:xfrm>
            <a:off x="1449161" y="323850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18F8F042-12D7-4CD8-8BC9-4570D4ACB442}"/>
              </a:ext>
            </a:extLst>
          </p:cNvPr>
          <p:cNvSpPr>
            <a:spLocks noGrp="1"/>
          </p:cNvSpPr>
          <p:nvPr/>
        </p:nvSpPr>
        <p:spPr>
          <a:xfrm>
            <a:off x="1449161" y="328517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BEC1261F-8955-4119-B939-A4B84606BD69}"/>
              </a:ext>
            </a:extLst>
          </p:cNvPr>
          <p:cNvSpPr>
            <a:spLocks noGrp="1"/>
          </p:cNvSpPr>
          <p:nvPr/>
        </p:nvSpPr>
        <p:spPr>
          <a:xfrm>
            <a:off x="1449161" y="333184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63952BBC-A048-45C7-B73E-E669026DE3DC}"/>
              </a:ext>
            </a:extLst>
          </p:cNvPr>
          <p:cNvSpPr>
            <a:spLocks noGrp="1"/>
          </p:cNvSpPr>
          <p:nvPr/>
        </p:nvSpPr>
        <p:spPr>
          <a:xfrm>
            <a:off x="1449161" y="337851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6863B361-3DB4-4100-8A76-B1217E8C858B}"/>
              </a:ext>
            </a:extLst>
          </p:cNvPr>
          <p:cNvSpPr>
            <a:spLocks noGrp="1"/>
          </p:cNvSpPr>
          <p:nvPr/>
        </p:nvSpPr>
        <p:spPr>
          <a:xfrm>
            <a:off x="1449161" y="342519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3B2A9672-6CFD-4352-912A-6A5DCD744B56}"/>
              </a:ext>
            </a:extLst>
          </p:cNvPr>
          <p:cNvSpPr>
            <a:spLocks noGrp="1"/>
          </p:cNvSpPr>
          <p:nvPr/>
        </p:nvSpPr>
        <p:spPr>
          <a:xfrm>
            <a:off x="1449161" y="347186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559CE82F-DA78-4E2B-BFF2-4646D4141DEB}"/>
              </a:ext>
            </a:extLst>
          </p:cNvPr>
          <p:cNvSpPr>
            <a:spLocks noGrp="1"/>
          </p:cNvSpPr>
          <p:nvPr/>
        </p:nvSpPr>
        <p:spPr>
          <a:xfrm>
            <a:off x="1449161" y="351853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686B2D16-A600-4432-B47D-CAC9E4CFA728}"/>
              </a:ext>
            </a:extLst>
          </p:cNvPr>
          <p:cNvSpPr>
            <a:spLocks noGrp="1"/>
          </p:cNvSpPr>
          <p:nvPr/>
        </p:nvSpPr>
        <p:spPr>
          <a:xfrm>
            <a:off x="1449161" y="356520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711086C4-5ED3-4D6D-8CB2-30CB2092B618}"/>
              </a:ext>
            </a:extLst>
          </p:cNvPr>
          <p:cNvSpPr>
            <a:spLocks noGrp="1"/>
          </p:cNvSpPr>
          <p:nvPr/>
        </p:nvSpPr>
        <p:spPr>
          <a:xfrm>
            <a:off x="1449161" y="361188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9573F42E-5417-4DCB-BD42-1DB57A973790}"/>
              </a:ext>
            </a:extLst>
          </p:cNvPr>
          <p:cNvSpPr>
            <a:spLocks noGrp="1"/>
          </p:cNvSpPr>
          <p:nvPr/>
        </p:nvSpPr>
        <p:spPr>
          <a:xfrm>
            <a:off x="1449161" y="365855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D15B5545-F7AF-431C-904A-E9BB11BB37E0}"/>
              </a:ext>
            </a:extLst>
          </p:cNvPr>
          <p:cNvSpPr>
            <a:spLocks noGrp="1"/>
          </p:cNvSpPr>
          <p:nvPr/>
        </p:nvSpPr>
        <p:spPr>
          <a:xfrm>
            <a:off x="1449161" y="370522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D691EDAD-8BE7-459A-B3C3-56F9466964BB}"/>
              </a:ext>
            </a:extLst>
          </p:cNvPr>
          <p:cNvSpPr>
            <a:spLocks noGrp="1"/>
          </p:cNvSpPr>
          <p:nvPr/>
        </p:nvSpPr>
        <p:spPr>
          <a:xfrm>
            <a:off x="9940018" y="277177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41584807-873B-4878-9AEC-C0E3E58BE92E}"/>
              </a:ext>
            </a:extLst>
          </p:cNvPr>
          <p:cNvSpPr>
            <a:spLocks noGrp="1"/>
          </p:cNvSpPr>
          <p:nvPr/>
        </p:nvSpPr>
        <p:spPr>
          <a:xfrm>
            <a:off x="9940018" y="281844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7BAA9295-2E21-43E3-BB55-62FF6963D578}"/>
              </a:ext>
            </a:extLst>
          </p:cNvPr>
          <p:cNvSpPr>
            <a:spLocks noGrp="1"/>
          </p:cNvSpPr>
          <p:nvPr/>
        </p:nvSpPr>
        <p:spPr>
          <a:xfrm>
            <a:off x="9940018" y="286512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DA4C5331-C6C0-4CDC-90D6-5500B9BB936C}"/>
              </a:ext>
            </a:extLst>
          </p:cNvPr>
          <p:cNvSpPr>
            <a:spLocks noGrp="1"/>
          </p:cNvSpPr>
          <p:nvPr/>
        </p:nvSpPr>
        <p:spPr>
          <a:xfrm>
            <a:off x="9940018" y="291179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48742F10-2547-40B3-B787-F89180235288}"/>
              </a:ext>
            </a:extLst>
          </p:cNvPr>
          <p:cNvSpPr>
            <a:spLocks noGrp="1"/>
          </p:cNvSpPr>
          <p:nvPr/>
        </p:nvSpPr>
        <p:spPr>
          <a:xfrm>
            <a:off x="9940018" y="295846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9E803664-A998-40AF-9329-FF7C21248522}"/>
              </a:ext>
            </a:extLst>
          </p:cNvPr>
          <p:cNvSpPr>
            <a:spLocks noGrp="1"/>
          </p:cNvSpPr>
          <p:nvPr/>
        </p:nvSpPr>
        <p:spPr>
          <a:xfrm>
            <a:off x="9940018" y="300513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663AC2B3-83EF-47CD-86AC-361ED1C1A8FF}"/>
              </a:ext>
            </a:extLst>
          </p:cNvPr>
          <p:cNvSpPr>
            <a:spLocks noGrp="1"/>
          </p:cNvSpPr>
          <p:nvPr/>
        </p:nvSpPr>
        <p:spPr>
          <a:xfrm>
            <a:off x="9940018" y="305181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1E8ECA1D-4065-4CEC-A44F-F8B4EDEE74CF}"/>
              </a:ext>
            </a:extLst>
          </p:cNvPr>
          <p:cNvSpPr>
            <a:spLocks noGrp="1"/>
          </p:cNvSpPr>
          <p:nvPr/>
        </p:nvSpPr>
        <p:spPr>
          <a:xfrm>
            <a:off x="9940018" y="309848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22A2BABE-E4CA-43EE-A44F-63A5967AC05D}"/>
              </a:ext>
            </a:extLst>
          </p:cNvPr>
          <p:cNvSpPr>
            <a:spLocks noGrp="1"/>
          </p:cNvSpPr>
          <p:nvPr/>
        </p:nvSpPr>
        <p:spPr>
          <a:xfrm>
            <a:off x="9940018" y="314515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00A63287-DDBB-4F16-8CA7-8FCDF4A322DA}"/>
              </a:ext>
            </a:extLst>
          </p:cNvPr>
          <p:cNvSpPr>
            <a:spLocks noGrp="1"/>
          </p:cNvSpPr>
          <p:nvPr/>
        </p:nvSpPr>
        <p:spPr>
          <a:xfrm>
            <a:off x="9940018" y="319182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EB31AD2B-2949-4E55-8BC3-ABEFF2894513}"/>
              </a:ext>
            </a:extLst>
          </p:cNvPr>
          <p:cNvSpPr>
            <a:spLocks noGrp="1"/>
          </p:cNvSpPr>
          <p:nvPr/>
        </p:nvSpPr>
        <p:spPr>
          <a:xfrm>
            <a:off x="9940018" y="323850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61ACEF14-9669-441C-9325-57F329C635C8}"/>
              </a:ext>
            </a:extLst>
          </p:cNvPr>
          <p:cNvSpPr>
            <a:spLocks noGrp="1"/>
          </p:cNvSpPr>
          <p:nvPr/>
        </p:nvSpPr>
        <p:spPr>
          <a:xfrm>
            <a:off x="9940018" y="328517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B4455F8D-CEA9-4F14-B386-D678184BB0EE}"/>
              </a:ext>
            </a:extLst>
          </p:cNvPr>
          <p:cNvSpPr>
            <a:spLocks noGrp="1"/>
          </p:cNvSpPr>
          <p:nvPr/>
        </p:nvSpPr>
        <p:spPr>
          <a:xfrm>
            <a:off x="9940018" y="333184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9DDA2556-5D62-493B-BFF4-C994B3B7A120}"/>
              </a:ext>
            </a:extLst>
          </p:cNvPr>
          <p:cNvSpPr>
            <a:spLocks noGrp="1"/>
          </p:cNvSpPr>
          <p:nvPr/>
        </p:nvSpPr>
        <p:spPr>
          <a:xfrm>
            <a:off x="9940018" y="337851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6" name="椭圆 75">
            <a:extLst>
              <a:ext uri="{FF2B5EF4-FFF2-40B4-BE49-F238E27FC236}">
                <a16:creationId xmlns:a16="http://schemas.microsoft.com/office/drawing/2014/main" id="{89253478-8662-4F4F-8D3C-EEE5A68DACDC}"/>
              </a:ext>
            </a:extLst>
          </p:cNvPr>
          <p:cNvSpPr>
            <a:spLocks noGrp="1"/>
          </p:cNvSpPr>
          <p:nvPr/>
        </p:nvSpPr>
        <p:spPr>
          <a:xfrm>
            <a:off x="9940018" y="342519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7" name="椭圆 76">
            <a:extLst>
              <a:ext uri="{FF2B5EF4-FFF2-40B4-BE49-F238E27FC236}">
                <a16:creationId xmlns:a16="http://schemas.microsoft.com/office/drawing/2014/main" id="{C793B315-1AF7-434E-AB42-8AB3BC260997}"/>
              </a:ext>
            </a:extLst>
          </p:cNvPr>
          <p:cNvSpPr>
            <a:spLocks noGrp="1"/>
          </p:cNvSpPr>
          <p:nvPr/>
        </p:nvSpPr>
        <p:spPr>
          <a:xfrm>
            <a:off x="9940018" y="347186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8" name="椭圆 77">
            <a:extLst>
              <a:ext uri="{FF2B5EF4-FFF2-40B4-BE49-F238E27FC236}">
                <a16:creationId xmlns:a16="http://schemas.microsoft.com/office/drawing/2014/main" id="{A7A4FB23-8ED2-4089-8409-C2BDD615FA51}"/>
              </a:ext>
            </a:extLst>
          </p:cNvPr>
          <p:cNvSpPr>
            <a:spLocks noGrp="1"/>
          </p:cNvSpPr>
          <p:nvPr/>
        </p:nvSpPr>
        <p:spPr>
          <a:xfrm>
            <a:off x="9940018" y="351853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358BCFEC-E48B-48FF-BC55-54416DBC47B9}"/>
              </a:ext>
            </a:extLst>
          </p:cNvPr>
          <p:cNvSpPr>
            <a:spLocks noGrp="1"/>
          </p:cNvSpPr>
          <p:nvPr/>
        </p:nvSpPr>
        <p:spPr>
          <a:xfrm>
            <a:off x="9940018" y="3565208"/>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74BACC4A-5171-4DBB-826D-91551786A871}"/>
              </a:ext>
            </a:extLst>
          </p:cNvPr>
          <p:cNvSpPr>
            <a:spLocks noGrp="1"/>
          </p:cNvSpPr>
          <p:nvPr/>
        </p:nvSpPr>
        <p:spPr>
          <a:xfrm>
            <a:off x="9940018" y="3611880"/>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0DD483CE-CA43-4C94-9C8E-E0B9660D9AC1}"/>
              </a:ext>
            </a:extLst>
          </p:cNvPr>
          <p:cNvSpPr>
            <a:spLocks noGrp="1"/>
          </p:cNvSpPr>
          <p:nvPr/>
        </p:nvSpPr>
        <p:spPr>
          <a:xfrm>
            <a:off x="9940018" y="3658553"/>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82" name="椭圆 81">
            <a:extLst>
              <a:ext uri="{FF2B5EF4-FFF2-40B4-BE49-F238E27FC236}">
                <a16:creationId xmlns:a16="http://schemas.microsoft.com/office/drawing/2014/main" id="{BCC1B11A-085C-42A3-97C4-37DD5F56C4E3}"/>
              </a:ext>
            </a:extLst>
          </p:cNvPr>
          <p:cNvSpPr>
            <a:spLocks noGrp="1"/>
          </p:cNvSpPr>
          <p:nvPr/>
        </p:nvSpPr>
        <p:spPr>
          <a:xfrm>
            <a:off x="9940018" y="3705225"/>
            <a:ext cx="19050" cy="19050"/>
          </a:xfrm>
          <a:prstGeom prst="ellipse">
            <a:avLst/>
          </a:prstGeom>
          <a:solidFill>
            <a:srgbClr val="B64040"/>
          </a:solidFill>
          <a:ln w="0">
            <a:solidFill>
              <a:srgbClr val="000000">
                <a:alpha val="0"/>
              </a:srgbClr>
            </a:solidFill>
            <a:prstDash val="solid"/>
          </a:ln>
        </p:spPr>
        <p:txBody>
          <a:bodyPr/>
          <a:lstStyle/>
          <a:p>
            <a:endParaRPr lang="zh-CN" altLang="en-US"/>
          </a:p>
        </p:txBody>
      </p:sp>
      <p:sp>
        <p:nvSpPr>
          <p:cNvPr id="83" name="矩形 82">
            <a:extLst>
              <a:ext uri="{FF2B5EF4-FFF2-40B4-BE49-F238E27FC236}">
                <a16:creationId xmlns:a16="http://schemas.microsoft.com/office/drawing/2014/main" id="{A9705898-CF9F-4764-9901-AF48384B6F3C}"/>
              </a:ext>
            </a:extLst>
          </p:cNvPr>
          <p:cNvSpPr>
            <a:spLocks noGrp="1"/>
          </p:cNvSpPr>
          <p:nvPr/>
        </p:nvSpPr>
        <p:spPr>
          <a:xfrm>
            <a:off x="810986" y="2724150"/>
            <a:ext cx="1295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A33A3A"/>
                </a:solidFill>
                <a:latin typeface="黑体"/>
                <a:ea typeface="黑体"/>
                <a:cs typeface="黑体"/>
              </a:defRPr>
            </a:pPr>
            <a:r>
              <a:rPr>
                <a:latin typeface="黑体"/>
                <a:ea typeface="黑体"/>
                <a:cs typeface="黑体"/>
              </a:rPr>
              <a:t>下界 </a:t>
            </a:r>
            <a:r>
              <a:rPr>
                <a:latin typeface="Times New Roman"/>
                <a:ea typeface="Times New Roman"/>
                <a:cs typeface="Times New Roman"/>
              </a:rPr>
              <a:t>-8.75</a:t>
            </a:r>
          </a:p>
        </p:txBody>
      </p:sp>
      <p:sp>
        <p:nvSpPr>
          <p:cNvPr id="84" name="矩形 83">
            <a:extLst>
              <a:ext uri="{FF2B5EF4-FFF2-40B4-BE49-F238E27FC236}">
                <a16:creationId xmlns:a16="http://schemas.microsoft.com/office/drawing/2014/main" id="{C3D04B4D-9AF9-4399-9B8A-2827C03DE257}"/>
              </a:ext>
            </a:extLst>
          </p:cNvPr>
          <p:cNvSpPr>
            <a:spLocks noGrp="1"/>
          </p:cNvSpPr>
          <p:nvPr/>
        </p:nvSpPr>
        <p:spPr>
          <a:xfrm>
            <a:off x="9301843" y="2724150"/>
            <a:ext cx="1295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A33A3A"/>
                </a:solidFill>
                <a:latin typeface="黑体"/>
                <a:ea typeface="黑体"/>
                <a:cs typeface="黑体"/>
              </a:defRPr>
            </a:pPr>
            <a:r>
              <a:rPr>
                <a:latin typeface="黑体"/>
                <a:ea typeface="黑体"/>
                <a:cs typeface="黑体"/>
              </a:rPr>
              <a:t>上界 </a:t>
            </a:r>
            <a:r>
              <a:rPr>
                <a:latin typeface="Times New Roman"/>
                <a:ea typeface="Times New Roman"/>
                <a:cs typeface="Times New Roman"/>
              </a:rPr>
              <a:t>21.25</a:t>
            </a:r>
          </a:p>
        </p:txBody>
      </p:sp>
      <p:sp>
        <p:nvSpPr>
          <p:cNvPr id="85" name="矩形 84">
            <a:extLst>
              <a:ext uri="{FF2B5EF4-FFF2-40B4-BE49-F238E27FC236}">
                <a16:creationId xmlns:a16="http://schemas.microsoft.com/office/drawing/2014/main" id="{EFB69A33-2BD0-4814-94DA-52EDAB23C554}"/>
              </a:ext>
            </a:extLst>
          </p:cNvPr>
          <p:cNvSpPr>
            <a:spLocks noGrp="1"/>
          </p:cNvSpPr>
          <p:nvPr/>
        </p:nvSpPr>
        <p:spPr>
          <a:xfrm>
            <a:off x="4218214" y="3324225"/>
            <a:ext cx="5377543" cy="28575"/>
          </a:xfrm>
          <a:prstGeom prst="rect">
            <a:avLst/>
          </a:prstGeom>
          <a:solidFill>
            <a:srgbClr val="00204A"/>
          </a:solidFill>
          <a:ln w="0">
            <a:solidFill>
              <a:srgbClr val="000000">
                <a:alpha val="0"/>
              </a:srgbClr>
            </a:solidFill>
            <a:prstDash val="solid"/>
          </a:ln>
        </p:spPr>
        <p:txBody>
          <a:bodyPr/>
          <a:lstStyle/>
          <a:p>
            <a:endParaRPr lang="zh-CN" altLang="en-US"/>
          </a:p>
        </p:txBody>
      </p:sp>
      <p:sp>
        <p:nvSpPr>
          <p:cNvPr id="86" name="矩形 85">
            <a:extLst>
              <a:ext uri="{FF2B5EF4-FFF2-40B4-BE49-F238E27FC236}">
                <a16:creationId xmlns:a16="http://schemas.microsoft.com/office/drawing/2014/main" id="{A564D1E3-B640-4359-B1A5-CAB02ED60D4D}"/>
              </a:ext>
            </a:extLst>
          </p:cNvPr>
          <p:cNvSpPr>
            <a:spLocks noGrp="1"/>
          </p:cNvSpPr>
          <p:nvPr/>
        </p:nvSpPr>
        <p:spPr>
          <a:xfrm>
            <a:off x="4218214" y="3124200"/>
            <a:ext cx="19050" cy="438150"/>
          </a:xfrm>
          <a:prstGeom prst="rect">
            <a:avLst/>
          </a:prstGeom>
          <a:solidFill>
            <a:srgbClr val="00204A"/>
          </a:solidFill>
          <a:ln w="0">
            <a:solidFill>
              <a:srgbClr val="000000">
                <a:alpha val="0"/>
              </a:srgbClr>
            </a:solidFill>
            <a:prstDash val="solid"/>
          </a:ln>
        </p:spPr>
        <p:txBody>
          <a:bodyPr/>
          <a:lstStyle/>
          <a:p>
            <a:endParaRPr lang="zh-CN" altLang="en-US"/>
          </a:p>
        </p:txBody>
      </p:sp>
      <p:sp>
        <p:nvSpPr>
          <p:cNvPr id="87" name="矩形 86">
            <a:extLst>
              <a:ext uri="{FF2B5EF4-FFF2-40B4-BE49-F238E27FC236}">
                <a16:creationId xmlns:a16="http://schemas.microsoft.com/office/drawing/2014/main" id="{BC2A1D7C-7CF2-41FB-9801-F07A6E4654DE}"/>
              </a:ext>
            </a:extLst>
          </p:cNvPr>
          <p:cNvSpPr>
            <a:spLocks noGrp="1"/>
          </p:cNvSpPr>
          <p:nvPr/>
        </p:nvSpPr>
        <p:spPr>
          <a:xfrm>
            <a:off x="9595757" y="3124200"/>
            <a:ext cx="19050" cy="438150"/>
          </a:xfrm>
          <a:prstGeom prst="rect">
            <a:avLst/>
          </a:prstGeom>
          <a:solidFill>
            <a:srgbClr val="00204A"/>
          </a:solidFill>
          <a:ln w="0">
            <a:solidFill>
              <a:srgbClr val="000000">
                <a:alpha val="0"/>
              </a:srgbClr>
            </a:solidFill>
            <a:prstDash val="solid"/>
          </a:ln>
        </p:spPr>
        <p:txBody>
          <a:bodyPr/>
          <a:lstStyle/>
          <a:p>
            <a:endParaRPr lang="zh-CN" altLang="en-US"/>
          </a:p>
        </p:txBody>
      </p:sp>
      <p:sp>
        <p:nvSpPr>
          <p:cNvPr id="88" name="矩形 87">
            <a:extLst>
              <a:ext uri="{FF2B5EF4-FFF2-40B4-BE49-F238E27FC236}">
                <a16:creationId xmlns:a16="http://schemas.microsoft.com/office/drawing/2014/main" id="{D23E560D-4289-4768-AB8A-2B0E2F18CF39}"/>
              </a:ext>
            </a:extLst>
          </p:cNvPr>
          <p:cNvSpPr>
            <a:spLocks noGrp="1"/>
          </p:cNvSpPr>
          <p:nvPr/>
        </p:nvSpPr>
        <p:spPr>
          <a:xfrm>
            <a:off x="4642757" y="3086100"/>
            <a:ext cx="2122714" cy="514350"/>
          </a:xfrm>
          <a:prstGeom prst="rect">
            <a:avLst/>
          </a:prstGeom>
          <a:solidFill>
            <a:srgbClr val="DCEAF8"/>
          </a:solidFill>
          <a:ln w="19050">
            <a:solidFill>
              <a:srgbClr val="014DA1"/>
            </a:solidFill>
            <a:prstDash val="solid"/>
          </a:ln>
        </p:spPr>
        <p:txBody>
          <a:bodyPr/>
          <a:lstStyle/>
          <a:p>
            <a:endParaRPr lang="zh-CN" altLang="en-US"/>
          </a:p>
        </p:txBody>
      </p:sp>
      <p:sp>
        <p:nvSpPr>
          <p:cNvPr id="89" name="矩形 88">
            <a:extLst>
              <a:ext uri="{FF2B5EF4-FFF2-40B4-BE49-F238E27FC236}">
                <a16:creationId xmlns:a16="http://schemas.microsoft.com/office/drawing/2014/main" id="{4162B7ED-FE89-4562-B325-933BF217CAC7}"/>
              </a:ext>
            </a:extLst>
          </p:cNvPr>
          <p:cNvSpPr>
            <a:spLocks noGrp="1"/>
          </p:cNvSpPr>
          <p:nvPr/>
        </p:nvSpPr>
        <p:spPr>
          <a:xfrm>
            <a:off x="5208814" y="3067050"/>
            <a:ext cx="38100" cy="5524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90" name="矩形 89">
            <a:extLst>
              <a:ext uri="{FF2B5EF4-FFF2-40B4-BE49-F238E27FC236}">
                <a16:creationId xmlns:a16="http://schemas.microsoft.com/office/drawing/2014/main" id="{E270F512-2897-461F-8A8D-1EE0C9BBCDBA}"/>
              </a:ext>
            </a:extLst>
          </p:cNvPr>
          <p:cNvSpPr>
            <a:spLocks noGrp="1"/>
          </p:cNvSpPr>
          <p:nvPr/>
        </p:nvSpPr>
        <p:spPr>
          <a:xfrm>
            <a:off x="4757057" y="3248025"/>
            <a:ext cx="1894114" cy="190500"/>
          </a:xfrm>
          <a:prstGeom prst="rect">
            <a:avLst/>
          </a:prstGeom>
          <a:solidFill>
            <a:srgbClr val="DCEAF8"/>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中间 </a:t>
            </a:r>
            <a:r>
              <a:rPr>
                <a:latin typeface="Times New Roman"/>
                <a:ea typeface="Times New Roman"/>
                <a:cs typeface="Times New Roman"/>
              </a:rPr>
              <a:t>50%</a:t>
            </a:r>
          </a:p>
        </p:txBody>
      </p:sp>
      <p:sp>
        <p:nvSpPr>
          <p:cNvPr id="91" name="椭圆 90">
            <a:extLst>
              <a:ext uri="{FF2B5EF4-FFF2-40B4-BE49-F238E27FC236}">
                <a16:creationId xmlns:a16="http://schemas.microsoft.com/office/drawing/2014/main" id="{51524401-273F-4563-A5B5-0C7C27E05467}"/>
              </a:ext>
            </a:extLst>
          </p:cNvPr>
          <p:cNvSpPr>
            <a:spLocks noGrp="1"/>
          </p:cNvSpPr>
          <p:nvPr/>
        </p:nvSpPr>
        <p:spPr>
          <a:xfrm>
            <a:off x="4151539" y="2914650"/>
            <a:ext cx="142875" cy="142875"/>
          </a:xfrm>
          <a:prstGeom prst="ellipse">
            <a:avLst/>
          </a:prstGeom>
          <a:solidFill>
            <a:srgbClr val="014DA1"/>
          </a:solidFill>
          <a:ln w="9525">
            <a:solidFill>
              <a:srgbClr val="FFFFFF"/>
            </a:solidFill>
            <a:prstDash val="solid"/>
          </a:ln>
        </p:spPr>
        <p:txBody>
          <a:bodyPr/>
          <a:lstStyle/>
          <a:p>
            <a:endParaRPr lang="zh-CN" altLang="en-US"/>
          </a:p>
        </p:txBody>
      </p:sp>
      <p:sp>
        <p:nvSpPr>
          <p:cNvPr id="92" name="椭圆 91">
            <a:extLst>
              <a:ext uri="{FF2B5EF4-FFF2-40B4-BE49-F238E27FC236}">
                <a16:creationId xmlns:a16="http://schemas.microsoft.com/office/drawing/2014/main" id="{2511C8D4-C4ED-4AC7-8897-C8A29E613618}"/>
              </a:ext>
            </a:extLst>
          </p:cNvPr>
          <p:cNvSpPr>
            <a:spLocks noGrp="1"/>
          </p:cNvSpPr>
          <p:nvPr/>
        </p:nvSpPr>
        <p:spPr>
          <a:xfrm>
            <a:off x="4434568" y="2914650"/>
            <a:ext cx="142875" cy="142875"/>
          </a:xfrm>
          <a:prstGeom prst="ellipse">
            <a:avLst/>
          </a:prstGeom>
          <a:solidFill>
            <a:srgbClr val="014DA1"/>
          </a:solidFill>
          <a:ln w="9525">
            <a:solidFill>
              <a:srgbClr val="FFFFFF"/>
            </a:solidFill>
            <a:prstDash val="solid"/>
          </a:ln>
        </p:spPr>
        <p:txBody>
          <a:bodyPr/>
          <a:lstStyle/>
          <a:p>
            <a:endParaRPr lang="zh-CN" altLang="en-US"/>
          </a:p>
        </p:txBody>
      </p:sp>
      <p:sp>
        <p:nvSpPr>
          <p:cNvPr id="93" name="椭圆 92">
            <a:extLst>
              <a:ext uri="{FF2B5EF4-FFF2-40B4-BE49-F238E27FC236}">
                <a16:creationId xmlns:a16="http://schemas.microsoft.com/office/drawing/2014/main" id="{3BF84BE9-F2B8-4BAC-A9E2-3307DFD7FB8C}"/>
              </a:ext>
            </a:extLst>
          </p:cNvPr>
          <p:cNvSpPr>
            <a:spLocks noGrp="1"/>
          </p:cNvSpPr>
          <p:nvPr/>
        </p:nvSpPr>
        <p:spPr>
          <a:xfrm>
            <a:off x="4717596" y="2914650"/>
            <a:ext cx="142875" cy="142875"/>
          </a:xfrm>
          <a:prstGeom prst="ellipse">
            <a:avLst/>
          </a:prstGeom>
          <a:solidFill>
            <a:srgbClr val="014DA1"/>
          </a:solidFill>
          <a:ln w="9525">
            <a:solidFill>
              <a:srgbClr val="FFFFFF"/>
            </a:solidFill>
            <a:prstDash val="solid"/>
          </a:ln>
        </p:spPr>
        <p:txBody>
          <a:bodyPr/>
          <a:lstStyle/>
          <a:p>
            <a:endParaRPr lang="zh-CN" altLang="en-US"/>
          </a:p>
        </p:txBody>
      </p:sp>
      <p:sp>
        <p:nvSpPr>
          <p:cNvPr id="94" name="椭圆 93">
            <a:extLst>
              <a:ext uri="{FF2B5EF4-FFF2-40B4-BE49-F238E27FC236}">
                <a16:creationId xmlns:a16="http://schemas.microsoft.com/office/drawing/2014/main" id="{1632E74D-96AC-4CEE-9F91-AB880D551103}"/>
              </a:ext>
            </a:extLst>
          </p:cNvPr>
          <p:cNvSpPr>
            <a:spLocks noGrp="1"/>
          </p:cNvSpPr>
          <p:nvPr/>
        </p:nvSpPr>
        <p:spPr>
          <a:xfrm>
            <a:off x="5000625" y="2914650"/>
            <a:ext cx="142875" cy="142875"/>
          </a:xfrm>
          <a:prstGeom prst="ellipse">
            <a:avLst/>
          </a:prstGeom>
          <a:solidFill>
            <a:srgbClr val="014DA1"/>
          </a:solidFill>
          <a:ln w="9525">
            <a:solidFill>
              <a:srgbClr val="FFFFFF"/>
            </a:solidFill>
            <a:prstDash val="solid"/>
          </a:ln>
        </p:spPr>
        <p:txBody>
          <a:bodyPr/>
          <a:lstStyle/>
          <a:p>
            <a:endParaRPr lang="zh-CN" altLang="en-US"/>
          </a:p>
        </p:txBody>
      </p:sp>
      <p:sp>
        <p:nvSpPr>
          <p:cNvPr id="95" name="椭圆 94">
            <a:extLst>
              <a:ext uri="{FF2B5EF4-FFF2-40B4-BE49-F238E27FC236}">
                <a16:creationId xmlns:a16="http://schemas.microsoft.com/office/drawing/2014/main" id="{9F15B774-47FB-42ED-A8EE-0230C32F22EB}"/>
              </a:ext>
            </a:extLst>
          </p:cNvPr>
          <p:cNvSpPr>
            <a:spLocks noGrp="1"/>
          </p:cNvSpPr>
          <p:nvPr/>
        </p:nvSpPr>
        <p:spPr>
          <a:xfrm>
            <a:off x="5283654" y="2914650"/>
            <a:ext cx="142875" cy="142875"/>
          </a:xfrm>
          <a:prstGeom prst="ellipse">
            <a:avLst/>
          </a:prstGeom>
          <a:solidFill>
            <a:srgbClr val="014DA1"/>
          </a:solidFill>
          <a:ln w="9525">
            <a:solidFill>
              <a:srgbClr val="FFFFFF"/>
            </a:solidFill>
            <a:prstDash val="solid"/>
          </a:ln>
        </p:spPr>
        <p:txBody>
          <a:bodyPr/>
          <a:lstStyle/>
          <a:p>
            <a:endParaRPr lang="zh-CN" altLang="en-US"/>
          </a:p>
        </p:txBody>
      </p:sp>
      <p:sp>
        <p:nvSpPr>
          <p:cNvPr id="96" name="椭圆 95">
            <a:extLst>
              <a:ext uri="{FF2B5EF4-FFF2-40B4-BE49-F238E27FC236}">
                <a16:creationId xmlns:a16="http://schemas.microsoft.com/office/drawing/2014/main" id="{790F8629-02C3-4045-BCDF-2699781CD361}"/>
              </a:ext>
            </a:extLst>
          </p:cNvPr>
          <p:cNvSpPr>
            <a:spLocks noGrp="1"/>
          </p:cNvSpPr>
          <p:nvPr/>
        </p:nvSpPr>
        <p:spPr>
          <a:xfrm>
            <a:off x="6132739" y="2914650"/>
            <a:ext cx="142875" cy="142875"/>
          </a:xfrm>
          <a:prstGeom prst="ellipse">
            <a:avLst/>
          </a:prstGeom>
          <a:solidFill>
            <a:srgbClr val="014DA1"/>
          </a:solidFill>
          <a:ln w="9525">
            <a:solidFill>
              <a:srgbClr val="FFFFFF"/>
            </a:solidFill>
            <a:prstDash val="solid"/>
          </a:ln>
        </p:spPr>
        <p:txBody>
          <a:bodyPr/>
          <a:lstStyle/>
          <a:p>
            <a:endParaRPr lang="zh-CN" altLang="en-US"/>
          </a:p>
        </p:txBody>
      </p:sp>
      <p:sp>
        <p:nvSpPr>
          <p:cNvPr id="97" name="椭圆 96">
            <a:extLst>
              <a:ext uri="{FF2B5EF4-FFF2-40B4-BE49-F238E27FC236}">
                <a16:creationId xmlns:a16="http://schemas.microsoft.com/office/drawing/2014/main" id="{65B802F6-5C74-4BC0-8833-8ACF6A43FFF3}"/>
              </a:ext>
            </a:extLst>
          </p:cNvPr>
          <p:cNvSpPr>
            <a:spLocks noGrp="1"/>
          </p:cNvSpPr>
          <p:nvPr/>
        </p:nvSpPr>
        <p:spPr>
          <a:xfrm>
            <a:off x="7264854" y="2914650"/>
            <a:ext cx="142875" cy="142875"/>
          </a:xfrm>
          <a:prstGeom prst="ellipse">
            <a:avLst/>
          </a:prstGeom>
          <a:solidFill>
            <a:srgbClr val="014DA1"/>
          </a:solidFill>
          <a:ln w="9525">
            <a:solidFill>
              <a:srgbClr val="FFFFFF"/>
            </a:solidFill>
            <a:prstDash val="solid"/>
          </a:ln>
        </p:spPr>
        <p:txBody>
          <a:bodyPr/>
          <a:lstStyle/>
          <a:p>
            <a:endParaRPr lang="zh-CN" altLang="en-US"/>
          </a:p>
        </p:txBody>
      </p:sp>
      <p:sp>
        <p:nvSpPr>
          <p:cNvPr id="98" name="椭圆 97">
            <a:extLst>
              <a:ext uri="{FF2B5EF4-FFF2-40B4-BE49-F238E27FC236}">
                <a16:creationId xmlns:a16="http://schemas.microsoft.com/office/drawing/2014/main" id="{DA34E1C3-D19F-4869-9AAA-4E64E64E4D15}"/>
              </a:ext>
            </a:extLst>
          </p:cNvPr>
          <p:cNvSpPr>
            <a:spLocks noGrp="1"/>
          </p:cNvSpPr>
          <p:nvPr/>
        </p:nvSpPr>
        <p:spPr>
          <a:xfrm>
            <a:off x="9529082" y="2914650"/>
            <a:ext cx="142875" cy="142875"/>
          </a:xfrm>
          <a:prstGeom prst="ellipse">
            <a:avLst/>
          </a:prstGeom>
          <a:solidFill>
            <a:srgbClr val="B4964B"/>
          </a:solidFill>
          <a:ln w="9525">
            <a:solidFill>
              <a:srgbClr val="FFFFFF"/>
            </a:solidFill>
            <a:prstDash val="solid"/>
          </a:ln>
        </p:spPr>
        <p:txBody>
          <a:bodyPr/>
          <a:lstStyle/>
          <a:p>
            <a:endParaRPr lang="zh-CN" altLang="en-US"/>
          </a:p>
        </p:txBody>
      </p:sp>
      <p:sp>
        <p:nvSpPr>
          <p:cNvPr id="99" name="矩形 98">
            <a:extLst>
              <a:ext uri="{FF2B5EF4-FFF2-40B4-BE49-F238E27FC236}">
                <a16:creationId xmlns:a16="http://schemas.microsoft.com/office/drawing/2014/main" id="{75003923-D068-49AC-8E7C-0D97435BAA03}"/>
              </a:ext>
            </a:extLst>
          </p:cNvPr>
          <p:cNvSpPr>
            <a:spLocks noGrp="1"/>
          </p:cNvSpPr>
          <p:nvPr/>
        </p:nvSpPr>
        <p:spPr>
          <a:xfrm>
            <a:off x="9386207" y="2781300"/>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B4964B"/>
                </a:solidFill>
                <a:latin typeface="黑体"/>
                <a:ea typeface="黑体"/>
                <a:cs typeface="黑体"/>
              </a:defRPr>
            </a:pPr>
            <a:r>
              <a:rPr>
                <a:latin typeface="Times New Roman"/>
                <a:ea typeface="Times New Roman"/>
                <a:cs typeface="Times New Roman"/>
              </a:rPr>
              <a:t>20</a:t>
            </a:r>
          </a:p>
        </p:txBody>
      </p:sp>
      <p:sp>
        <p:nvSpPr>
          <p:cNvPr id="100" name="矩形 99">
            <a:extLst>
              <a:ext uri="{FF2B5EF4-FFF2-40B4-BE49-F238E27FC236}">
                <a16:creationId xmlns:a16="http://schemas.microsoft.com/office/drawing/2014/main" id="{5048EBB0-4AEE-4BEA-8B58-34F9ABD0BF93}"/>
              </a:ext>
            </a:extLst>
          </p:cNvPr>
          <p:cNvSpPr>
            <a:spLocks noGrp="1"/>
          </p:cNvSpPr>
          <p:nvPr/>
        </p:nvSpPr>
        <p:spPr>
          <a:xfrm>
            <a:off x="4185557" y="3657600"/>
            <a:ext cx="914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014DA1"/>
                </a:solidFill>
                <a:latin typeface="黑体"/>
                <a:ea typeface="黑体"/>
                <a:cs typeface="黑体"/>
              </a:defRPr>
            </a:pPr>
            <a:r>
              <a:rPr>
                <a:latin typeface="Times New Roman"/>
                <a:ea typeface="Times New Roman"/>
                <a:cs typeface="Times New Roman"/>
              </a:rPr>
              <a:t>Q1 = 2.5</a:t>
            </a:r>
          </a:p>
        </p:txBody>
      </p:sp>
      <p:sp>
        <p:nvSpPr>
          <p:cNvPr id="101" name="矩形 100">
            <a:extLst>
              <a:ext uri="{FF2B5EF4-FFF2-40B4-BE49-F238E27FC236}">
                <a16:creationId xmlns:a16="http://schemas.microsoft.com/office/drawing/2014/main" id="{AFE40E2E-3379-4E4A-ACE5-D133F9B57007}"/>
              </a:ext>
            </a:extLst>
          </p:cNvPr>
          <p:cNvSpPr>
            <a:spLocks noGrp="1"/>
          </p:cNvSpPr>
          <p:nvPr/>
        </p:nvSpPr>
        <p:spPr>
          <a:xfrm>
            <a:off x="4618264" y="3829050"/>
            <a:ext cx="1181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B4964B"/>
                </a:solidFill>
                <a:latin typeface="黑体"/>
                <a:ea typeface="黑体"/>
                <a:cs typeface="黑体"/>
              </a:defRPr>
            </a:pPr>
            <a:r>
              <a:rPr>
                <a:latin typeface="Times New Roman"/>
                <a:ea typeface="Times New Roman"/>
                <a:cs typeface="Times New Roman"/>
              </a:rPr>
              <a:t>Median = 4.5</a:t>
            </a:r>
          </a:p>
        </p:txBody>
      </p:sp>
      <p:sp>
        <p:nvSpPr>
          <p:cNvPr id="102" name="矩形 101">
            <a:extLst>
              <a:ext uri="{FF2B5EF4-FFF2-40B4-BE49-F238E27FC236}">
                <a16:creationId xmlns:a16="http://schemas.microsoft.com/office/drawing/2014/main" id="{B7A089F6-223D-4443-9137-9E240A7D8578}"/>
              </a:ext>
            </a:extLst>
          </p:cNvPr>
          <p:cNvSpPr>
            <a:spLocks noGrp="1"/>
          </p:cNvSpPr>
          <p:nvPr/>
        </p:nvSpPr>
        <p:spPr>
          <a:xfrm>
            <a:off x="6308271" y="3657600"/>
            <a:ext cx="914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014DA1"/>
                </a:solidFill>
                <a:latin typeface="黑体"/>
                <a:ea typeface="黑体"/>
                <a:cs typeface="黑体"/>
              </a:defRPr>
            </a:pPr>
            <a:r>
              <a:rPr>
                <a:latin typeface="Times New Roman"/>
                <a:ea typeface="Times New Roman"/>
                <a:cs typeface="Times New Roman"/>
              </a:rPr>
              <a:t>Q3 = 10</a:t>
            </a:r>
          </a:p>
        </p:txBody>
      </p:sp>
      <p:sp>
        <p:nvSpPr>
          <p:cNvPr id="103" name="矩形 102">
            <a:extLst>
              <a:ext uri="{FF2B5EF4-FFF2-40B4-BE49-F238E27FC236}">
                <a16:creationId xmlns:a16="http://schemas.microsoft.com/office/drawing/2014/main" id="{1C369826-5AD2-412C-8308-B0A4A3F5B7CD}"/>
              </a:ext>
            </a:extLst>
          </p:cNvPr>
          <p:cNvSpPr>
            <a:spLocks noGrp="1"/>
          </p:cNvSpPr>
          <p:nvPr/>
        </p:nvSpPr>
        <p:spPr>
          <a:xfrm>
            <a:off x="609600" y="4438650"/>
            <a:ext cx="10972800" cy="819150"/>
          </a:xfrm>
          <a:prstGeom prst="rect">
            <a:avLst/>
          </a:prstGeom>
          <a:solidFill>
            <a:srgbClr val="FFFFFF"/>
          </a:solidFill>
          <a:ln w="9525">
            <a:solidFill>
              <a:srgbClr val="B8C3D1"/>
            </a:solidFill>
            <a:prstDash val="solid"/>
          </a:ln>
        </p:spPr>
        <p:txBody>
          <a:bodyPr/>
          <a:lstStyle/>
          <a:p>
            <a:endParaRPr lang="zh-CN" altLang="en-US"/>
          </a:p>
        </p:txBody>
      </p:sp>
      <p:sp>
        <p:nvSpPr>
          <p:cNvPr id="104" name="矩形 103">
            <a:extLst>
              <a:ext uri="{FF2B5EF4-FFF2-40B4-BE49-F238E27FC236}">
                <a16:creationId xmlns:a16="http://schemas.microsoft.com/office/drawing/2014/main" id="{A5600EA5-B1DF-4A58-9C28-33D0C1979016}"/>
              </a:ext>
            </a:extLst>
          </p:cNvPr>
          <p:cNvSpPr>
            <a:spLocks noGrp="1"/>
          </p:cNvSpPr>
          <p:nvPr/>
        </p:nvSpPr>
        <p:spPr>
          <a:xfrm>
            <a:off x="800100" y="4552950"/>
            <a:ext cx="2362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Q1</a:t>
            </a:r>
          </a:p>
        </p:txBody>
      </p:sp>
      <p:sp>
        <p:nvSpPr>
          <p:cNvPr id="105" name="矩形 104">
            <a:extLst>
              <a:ext uri="{FF2B5EF4-FFF2-40B4-BE49-F238E27FC236}">
                <a16:creationId xmlns:a16="http://schemas.microsoft.com/office/drawing/2014/main" id="{FB7FA6DE-6C67-4C46-A3FA-AE4C8E19F413}"/>
              </a:ext>
            </a:extLst>
          </p:cNvPr>
          <p:cNvSpPr>
            <a:spLocks noGrp="1"/>
          </p:cNvSpPr>
          <p:nvPr/>
        </p:nvSpPr>
        <p:spPr>
          <a:xfrm>
            <a:off x="800100" y="4762500"/>
            <a:ext cx="2362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Times New Roman"/>
                <a:ea typeface="Times New Roman"/>
                <a:cs typeface="Times New Roman"/>
              </a:rPr>
              <a:t>2.5</a:t>
            </a:r>
          </a:p>
        </p:txBody>
      </p:sp>
      <p:sp>
        <p:nvSpPr>
          <p:cNvPr id="106" name="矩形 105">
            <a:extLst>
              <a:ext uri="{FF2B5EF4-FFF2-40B4-BE49-F238E27FC236}">
                <a16:creationId xmlns:a16="http://schemas.microsoft.com/office/drawing/2014/main" id="{B86E3E56-0AAE-4CCE-8405-9FC0BFC23B9B}"/>
              </a:ext>
            </a:extLst>
          </p:cNvPr>
          <p:cNvSpPr>
            <a:spLocks noGrp="1"/>
          </p:cNvSpPr>
          <p:nvPr/>
        </p:nvSpPr>
        <p:spPr>
          <a:xfrm>
            <a:off x="800100" y="5010150"/>
            <a:ext cx="23622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204A"/>
                </a:solidFill>
                <a:latin typeface="黑体"/>
                <a:ea typeface="黑体"/>
                <a:cs typeface="黑体"/>
              </a:defRPr>
            </a:pPr>
            <a:r>
              <a:rPr>
                <a:latin typeface="Times New Roman"/>
                <a:ea typeface="Times New Roman"/>
                <a:cs typeface="Times New Roman"/>
              </a:rPr>
              <a:t>(2 + 3) / 2</a:t>
            </a:r>
          </a:p>
        </p:txBody>
      </p:sp>
      <p:sp>
        <p:nvSpPr>
          <p:cNvPr id="107" name="矩形 106">
            <a:extLst>
              <a:ext uri="{FF2B5EF4-FFF2-40B4-BE49-F238E27FC236}">
                <a16:creationId xmlns:a16="http://schemas.microsoft.com/office/drawing/2014/main" id="{502B769E-4A0C-4C32-9629-7AAFF3CC1727}"/>
              </a:ext>
            </a:extLst>
          </p:cNvPr>
          <p:cNvSpPr>
            <a:spLocks noGrp="1"/>
          </p:cNvSpPr>
          <p:nvPr/>
        </p:nvSpPr>
        <p:spPr>
          <a:xfrm>
            <a:off x="3352800" y="4572000"/>
            <a:ext cx="9525" cy="55245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08" name="矩形 107">
            <a:extLst>
              <a:ext uri="{FF2B5EF4-FFF2-40B4-BE49-F238E27FC236}">
                <a16:creationId xmlns:a16="http://schemas.microsoft.com/office/drawing/2014/main" id="{72BD5B5E-14AA-4031-87D8-4EDB2119C983}"/>
              </a:ext>
            </a:extLst>
          </p:cNvPr>
          <p:cNvSpPr>
            <a:spLocks noGrp="1"/>
          </p:cNvSpPr>
          <p:nvPr/>
        </p:nvSpPr>
        <p:spPr>
          <a:xfrm>
            <a:off x="3543300" y="4552950"/>
            <a:ext cx="2362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Median</a:t>
            </a:r>
          </a:p>
        </p:txBody>
      </p:sp>
      <p:sp>
        <p:nvSpPr>
          <p:cNvPr id="109" name="矩形 108">
            <a:extLst>
              <a:ext uri="{FF2B5EF4-FFF2-40B4-BE49-F238E27FC236}">
                <a16:creationId xmlns:a16="http://schemas.microsoft.com/office/drawing/2014/main" id="{80DDB698-D772-4EA1-8833-C06164029A69}"/>
              </a:ext>
            </a:extLst>
          </p:cNvPr>
          <p:cNvSpPr>
            <a:spLocks noGrp="1"/>
          </p:cNvSpPr>
          <p:nvPr/>
        </p:nvSpPr>
        <p:spPr>
          <a:xfrm>
            <a:off x="3543300" y="4762500"/>
            <a:ext cx="2362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B4964B"/>
                </a:solidFill>
                <a:latin typeface="黑体"/>
                <a:ea typeface="黑体"/>
                <a:cs typeface="黑体"/>
              </a:defRPr>
            </a:pPr>
            <a:r>
              <a:rPr>
                <a:latin typeface="Times New Roman"/>
                <a:ea typeface="Times New Roman"/>
                <a:cs typeface="Times New Roman"/>
              </a:rPr>
              <a:t>4.5</a:t>
            </a:r>
          </a:p>
        </p:txBody>
      </p:sp>
      <p:sp>
        <p:nvSpPr>
          <p:cNvPr id="110" name="矩形 109">
            <a:extLst>
              <a:ext uri="{FF2B5EF4-FFF2-40B4-BE49-F238E27FC236}">
                <a16:creationId xmlns:a16="http://schemas.microsoft.com/office/drawing/2014/main" id="{5694B6B3-E548-4D85-BFF8-295DE9DC98BA}"/>
              </a:ext>
            </a:extLst>
          </p:cNvPr>
          <p:cNvSpPr>
            <a:spLocks noGrp="1"/>
          </p:cNvSpPr>
          <p:nvPr/>
        </p:nvSpPr>
        <p:spPr>
          <a:xfrm>
            <a:off x="3543300" y="5010150"/>
            <a:ext cx="23622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204A"/>
                </a:solidFill>
                <a:latin typeface="黑体"/>
                <a:ea typeface="黑体"/>
                <a:cs typeface="黑体"/>
              </a:defRPr>
            </a:pPr>
            <a:r>
              <a:rPr>
                <a:latin typeface="Times New Roman"/>
                <a:ea typeface="Times New Roman"/>
                <a:cs typeface="Times New Roman"/>
              </a:rPr>
              <a:t>(4 + 5) / 2</a:t>
            </a:r>
          </a:p>
        </p:txBody>
      </p:sp>
      <p:sp>
        <p:nvSpPr>
          <p:cNvPr id="111" name="矩形 110">
            <a:extLst>
              <a:ext uri="{FF2B5EF4-FFF2-40B4-BE49-F238E27FC236}">
                <a16:creationId xmlns:a16="http://schemas.microsoft.com/office/drawing/2014/main" id="{6E36927F-F4BB-49C5-B3A0-0D7E1476F9A3}"/>
              </a:ext>
            </a:extLst>
          </p:cNvPr>
          <p:cNvSpPr>
            <a:spLocks noGrp="1"/>
          </p:cNvSpPr>
          <p:nvPr/>
        </p:nvSpPr>
        <p:spPr>
          <a:xfrm>
            <a:off x="6096000" y="4572000"/>
            <a:ext cx="9525" cy="55245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12" name="矩形 111">
            <a:extLst>
              <a:ext uri="{FF2B5EF4-FFF2-40B4-BE49-F238E27FC236}">
                <a16:creationId xmlns:a16="http://schemas.microsoft.com/office/drawing/2014/main" id="{2923FF5F-0A9F-41CC-9AED-5070AF221312}"/>
              </a:ext>
            </a:extLst>
          </p:cNvPr>
          <p:cNvSpPr>
            <a:spLocks noGrp="1"/>
          </p:cNvSpPr>
          <p:nvPr/>
        </p:nvSpPr>
        <p:spPr>
          <a:xfrm>
            <a:off x="6286500" y="4552950"/>
            <a:ext cx="2362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4B5563"/>
                </a:solidFill>
                <a:latin typeface="黑体"/>
                <a:ea typeface="黑体"/>
                <a:cs typeface="黑体"/>
              </a:defRPr>
            </a:pPr>
            <a:r>
              <a:rPr>
                <a:latin typeface="Times New Roman"/>
                <a:ea typeface="Times New Roman"/>
                <a:cs typeface="Times New Roman"/>
              </a:rPr>
              <a:t>Q3</a:t>
            </a:r>
          </a:p>
        </p:txBody>
      </p:sp>
      <p:sp>
        <p:nvSpPr>
          <p:cNvPr id="113" name="矩形 112">
            <a:extLst>
              <a:ext uri="{FF2B5EF4-FFF2-40B4-BE49-F238E27FC236}">
                <a16:creationId xmlns:a16="http://schemas.microsoft.com/office/drawing/2014/main" id="{B4499CBA-C9A8-4D72-8F8C-2C5F305ABA55}"/>
              </a:ext>
            </a:extLst>
          </p:cNvPr>
          <p:cNvSpPr>
            <a:spLocks noGrp="1"/>
          </p:cNvSpPr>
          <p:nvPr/>
        </p:nvSpPr>
        <p:spPr>
          <a:xfrm>
            <a:off x="6286500" y="4762500"/>
            <a:ext cx="2362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014DA1"/>
                </a:solidFill>
                <a:latin typeface="黑体"/>
                <a:ea typeface="黑体"/>
                <a:cs typeface="黑体"/>
              </a:defRPr>
            </a:pPr>
            <a:r>
              <a:rPr>
                <a:latin typeface="Times New Roman"/>
                <a:ea typeface="Times New Roman"/>
                <a:cs typeface="Times New Roman"/>
              </a:rPr>
              <a:t>10</a:t>
            </a:r>
          </a:p>
        </p:txBody>
      </p:sp>
      <p:sp>
        <p:nvSpPr>
          <p:cNvPr id="114" name="矩形 113">
            <a:extLst>
              <a:ext uri="{FF2B5EF4-FFF2-40B4-BE49-F238E27FC236}">
                <a16:creationId xmlns:a16="http://schemas.microsoft.com/office/drawing/2014/main" id="{B1783C44-C85A-4AAF-A284-CFD17EA9B3DF}"/>
              </a:ext>
            </a:extLst>
          </p:cNvPr>
          <p:cNvSpPr>
            <a:spLocks noGrp="1"/>
          </p:cNvSpPr>
          <p:nvPr/>
        </p:nvSpPr>
        <p:spPr>
          <a:xfrm>
            <a:off x="6286500" y="5010150"/>
            <a:ext cx="23622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204A"/>
                </a:solidFill>
                <a:latin typeface="黑体"/>
                <a:ea typeface="黑体"/>
                <a:cs typeface="黑体"/>
              </a:defRPr>
            </a:pPr>
            <a:r>
              <a:rPr>
                <a:latin typeface="Times New Roman"/>
                <a:ea typeface="Times New Roman"/>
                <a:cs typeface="Times New Roman"/>
              </a:rPr>
              <a:t>(8 + 12) / 2</a:t>
            </a:r>
          </a:p>
        </p:txBody>
      </p:sp>
      <p:sp>
        <p:nvSpPr>
          <p:cNvPr id="115" name="矩形 114">
            <a:extLst>
              <a:ext uri="{FF2B5EF4-FFF2-40B4-BE49-F238E27FC236}">
                <a16:creationId xmlns:a16="http://schemas.microsoft.com/office/drawing/2014/main" id="{8669183A-1458-4A5A-828E-510C5DBE3E12}"/>
              </a:ext>
            </a:extLst>
          </p:cNvPr>
          <p:cNvSpPr>
            <a:spLocks noGrp="1"/>
          </p:cNvSpPr>
          <p:nvPr/>
        </p:nvSpPr>
        <p:spPr>
          <a:xfrm>
            <a:off x="8839200" y="4572000"/>
            <a:ext cx="9525" cy="552450"/>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16" name="矩形 115">
            <a:extLst>
              <a:ext uri="{FF2B5EF4-FFF2-40B4-BE49-F238E27FC236}">
                <a16:creationId xmlns:a16="http://schemas.microsoft.com/office/drawing/2014/main" id="{C58B1CF6-8C6E-4765-81CB-78C3D1A67791}"/>
              </a:ext>
            </a:extLst>
          </p:cNvPr>
          <p:cNvSpPr>
            <a:spLocks noGrp="1"/>
          </p:cNvSpPr>
          <p:nvPr/>
        </p:nvSpPr>
        <p:spPr>
          <a:xfrm>
            <a:off x="9029700" y="4552950"/>
            <a:ext cx="2362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Times New Roman"/>
                <a:ea typeface="Times New Roman"/>
                <a:cs typeface="Times New Roman"/>
              </a:rPr>
              <a:t>IQR</a:t>
            </a:r>
          </a:p>
        </p:txBody>
      </p:sp>
      <p:sp>
        <p:nvSpPr>
          <p:cNvPr id="117" name="矩形 116">
            <a:extLst>
              <a:ext uri="{FF2B5EF4-FFF2-40B4-BE49-F238E27FC236}">
                <a16:creationId xmlns:a16="http://schemas.microsoft.com/office/drawing/2014/main" id="{5B4A30A6-1B6D-4013-A86E-EF7B29778C1E}"/>
              </a:ext>
            </a:extLst>
          </p:cNvPr>
          <p:cNvSpPr>
            <a:spLocks noGrp="1"/>
          </p:cNvSpPr>
          <p:nvPr/>
        </p:nvSpPr>
        <p:spPr>
          <a:xfrm>
            <a:off x="9029700" y="4762500"/>
            <a:ext cx="2362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A33A3A"/>
                </a:solidFill>
                <a:latin typeface="黑体"/>
                <a:ea typeface="黑体"/>
                <a:cs typeface="黑体"/>
              </a:defRPr>
            </a:pPr>
            <a:r>
              <a:rPr>
                <a:latin typeface="Times New Roman"/>
                <a:ea typeface="Times New Roman"/>
                <a:cs typeface="Times New Roman"/>
              </a:rPr>
              <a:t>7.5</a:t>
            </a:r>
          </a:p>
        </p:txBody>
      </p:sp>
      <p:sp>
        <p:nvSpPr>
          <p:cNvPr id="118" name="矩形 117">
            <a:extLst>
              <a:ext uri="{FF2B5EF4-FFF2-40B4-BE49-F238E27FC236}">
                <a16:creationId xmlns:a16="http://schemas.microsoft.com/office/drawing/2014/main" id="{D39CF2B8-4915-4B98-90A2-97A4F8D5CF6E}"/>
              </a:ext>
            </a:extLst>
          </p:cNvPr>
          <p:cNvSpPr>
            <a:spLocks noGrp="1"/>
          </p:cNvSpPr>
          <p:nvPr/>
        </p:nvSpPr>
        <p:spPr>
          <a:xfrm>
            <a:off x="9029700" y="5010150"/>
            <a:ext cx="23622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00204A"/>
                </a:solidFill>
                <a:latin typeface="黑体"/>
                <a:ea typeface="黑体"/>
                <a:cs typeface="黑体"/>
              </a:defRPr>
            </a:pPr>
            <a:r>
              <a:rPr>
                <a:latin typeface="黑体"/>
                <a:ea typeface="黑体"/>
                <a:cs typeface="黑体"/>
              </a:rPr>
              <a:t>边界 [</a:t>
            </a:r>
            <a:r>
              <a:rPr>
                <a:latin typeface="Times New Roman"/>
                <a:ea typeface="Times New Roman"/>
                <a:cs typeface="Times New Roman"/>
              </a:rPr>
              <a:t>-8.75, 21.25]</a:t>
            </a:r>
          </a:p>
        </p:txBody>
      </p:sp>
      <p:sp>
        <p:nvSpPr>
          <p:cNvPr id="119" name="矩形 118">
            <a:extLst>
              <a:ext uri="{FF2B5EF4-FFF2-40B4-BE49-F238E27FC236}">
                <a16:creationId xmlns:a16="http://schemas.microsoft.com/office/drawing/2014/main" id="{6457C6A8-4208-42A9-9A4B-9D93E293164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120" name="矩形 119">
            <a:extLst>
              <a:ext uri="{FF2B5EF4-FFF2-40B4-BE49-F238E27FC236}">
                <a16:creationId xmlns:a16="http://schemas.microsoft.com/office/drawing/2014/main" id="{A4F10C68-AC59-448B-986D-8CE9D9288825}"/>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中间 </a:t>
            </a:r>
            <a:r>
              <a:rPr>
                <a:latin typeface="Times New Roman"/>
                <a:ea typeface="Times New Roman"/>
                <a:cs typeface="Times New Roman"/>
              </a:rPr>
              <a:t>50% </a:t>
            </a:r>
            <a:r>
              <a:rPr>
                <a:latin typeface="黑体"/>
                <a:ea typeface="黑体"/>
                <a:cs typeface="黑体"/>
              </a:rPr>
              <a:t>位于 </a:t>
            </a:r>
            <a:r>
              <a:rPr>
                <a:latin typeface="Times New Roman"/>
                <a:ea typeface="Times New Roman"/>
                <a:cs typeface="Times New Roman"/>
              </a:rPr>
              <a:t>2.5–10；20 </a:t>
            </a:r>
            <a:r>
              <a:rPr>
                <a:latin typeface="黑体"/>
                <a:ea typeface="黑体"/>
                <a:cs typeface="黑体"/>
              </a:rPr>
              <a:t>未超过 </a:t>
            </a:r>
            <a:r>
              <a:rPr>
                <a:latin typeface="Times New Roman"/>
                <a:ea typeface="Times New Roman"/>
                <a:cs typeface="Times New Roman"/>
              </a:rPr>
              <a:t>IQR </a:t>
            </a:r>
            <a:r>
              <a:rPr>
                <a:latin typeface="黑体"/>
                <a:ea typeface="黑体"/>
                <a:cs typeface="黑体"/>
              </a:rPr>
              <a:t>上界 </a:t>
            </a:r>
            <a:r>
              <a:rPr>
                <a:latin typeface="Times New Roman"/>
                <a:ea typeface="Times New Roman"/>
                <a:cs typeface="Times New Roman"/>
              </a:rPr>
              <a:t>21.25。</a:t>
            </a:r>
          </a:p>
        </p:txBody>
      </p:sp>
    </p:spTree>
    <p:extLst>
      <p:ext uri="{BB962C8B-B14F-4D97-AF65-F5344CB8AC3E}">
        <p14:creationId xmlns:p14="http://schemas.microsoft.com/office/powerpoint/2010/main" val="12344862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43DED7CD-461D-4607-A3FF-40DA928290E4}"/>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1B52CD7A-CE9B-45B9-9676-37B0665CAF4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7BC1F485-FB1E-489F-B47B-25268CD1B564}"/>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765B0408-7D1C-4C8D-A155-3F782F4055F8}"/>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直方图揭示分布形状</a:t>
            </a:r>
          </a:p>
        </p:txBody>
      </p:sp>
      <p:sp>
        <p:nvSpPr>
          <p:cNvPr id="5" name="矩形 4">
            <a:extLst>
              <a:ext uri="{FF2B5EF4-FFF2-40B4-BE49-F238E27FC236}">
                <a16:creationId xmlns:a16="http://schemas.microsoft.com/office/drawing/2014/main" id="{F0D95375-F70B-4E87-B1C6-45562C7ABEE7}"/>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83/90</a:t>
            </a:r>
          </a:p>
        </p:txBody>
      </p:sp>
      <p:sp>
        <p:nvSpPr>
          <p:cNvPr id="6" name="矩形 5">
            <a:extLst>
              <a:ext uri="{FF2B5EF4-FFF2-40B4-BE49-F238E27FC236}">
                <a16:creationId xmlns:a16="http://schemas.microsoft.com/office/drawing/2014/main" id="{BB1DC164-1BC8-4E9A-9E56-67D7A41156F9}"/>
              </a:ext>
            </a:extLst>
          </p:cNvPr>
          <p:cNvSpPr>
            <a:spLocks noGrp="1"/>
          </p:cNvSpPr>
          <p:nvPr/>
        </p:nvSpPr>
        <p:spPr>
          <a:xfrm>
            <a:off x="1066800" y="4857750"/>
            <a:ext cx="7239000" cy="1905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45170BCC-F62B-4E08-84A5-5DE48F1D6C67}"/>
              </a:ext>
            </a:extLst>
          </p:cNvPr>
          <p:cNvSpPr>
            <a:spLocks noGrp="1"/>
          </p:cNvSpPr>
          <p:nvPr/>
        </p:nvSpPr>
        <p:spPr>
          <a:xfrm>
            <a:off x="1066800" y="1905000"/>
            <a:ext cx="19050" cy="295275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3DC26A4C-3ECC-4055-B11E-A5D64139C49C}"/>
              </a:ext>
            </a:extLst>
          </p:cNvPr>
          <p:cNvSpPr>
            <a:spLocks noGrp="1"/>
          </p:cNvSpPr>
          <p:nvPr/>
        </p:nvSpPr>
        <p:spPr>
          <a:xfrm>
            <a:off x="1114425" y="2247900"/>
            <a:ext cx="1371600" cy="2609850"/>
          </a:xfrm>
          <a:prstGeom prst="rect">
            <a:avLst/>
          </a:prstGeom>
          <a:solidFill>
            <a:srgbClr val="014DA1"/>
          </a:solidFill>
          <a:ln w="9525">
            <a:solidFill>
              <a:srgbClr val="FFFFFF"/>
            </a:solidFill>
            <a:prstDash val="solid"/>
          </a:ln>
        </p:spPr>
        <p:txBody>
          <a:bodyPr/>
          <a:lstStyle/>
          <a:p>
            <a:endParaRPr lang="zh-CN" altLang="en-US"/>
          </a:p>
        </p:txBody>
      </p:sp>
      <p:sp>
        <p:nvSpPr>
          <p:cNvPr id="9" name="矩形 8">
            <a:extLst>
              <a:ext uri="{FF2B5EF4-FFF2-40B4-BE49-F238E27FC236}">
                <a16:creationId xmlns:a16="http://schemas.microsoft.com/office/drawing/2014/main" id="{2A577AE5-4F09-467B-A279-AA60F2196D66}"/>
              </a:ext>
            </a:extLst>
          </p:cNvPr>
          <p:cNvSpPr>
            <a:spLocks noGrp="1"/>
          </p:cNvSpPr>
          <p:nvPr/>
        </p:nvSpPr>
        <p:spPr>
          <a:xfrm>
            <a:off x="1114425" y="2000250"/>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8</a:t>
            </a:r>
          </a:p>
        </p:txBody>
      </p:sp>
      <p:sp>
        <p:nvSpPr>
          <p:cNvPr id="10" name="矩形 9">
            <a:extLst>
              <a:ext uri="{FF2B5EF4-FFF2-40B4-BE49-F238E27FC236}">
                <a16:creationId xmlns:a16="http://schemas.microsoft.com/office/drawing/2014/main" id="{65D56F63-B788-4AE6-8906-DBFE26CAED17}"/>
              </a:ext>
            </a:extLst>
          </p:cNvPr>
          <p:cNvSpPr>
            <a:spLocks noGrp="1"/>
          </p:cNvSpPr>
          <p:nvPr/>
        </p:nvSpPr>
        <p:spPr>
          <a:xfrm>
            <a:off x="1114425" y="4953000"/>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0–4</a:t>
            </a:r>
          </a:p>
        </p:txBody>
      </p:sp>
      <p:sp>
        <p:nvSpPr>
          <p:cNvPr id="11" name="矩形 10">
            <a:extLst>
              <a:ext uri="{FF2B5EF4-FFF2-40B4-BE49-F238E27FC236}">
                <a16:creationId xmlns:a16="http://schemas.microsoft.com/office/drawing/2014/main" id="{0B8410C1-9FAF-4EAF-8CD5-77DBE62F61B3}"/>
              </a:ext>
            </a:extLst>
          </p:cNvPr>
          <p:cNvSpPr>
            <a:spLocks noGrp="1"/>
          </p:cNvSpPr>
          <p:nvPr/>
        </p:nvSpPr>
        <p:spPr>
          <a:xfrm>
            <a:off x="2562225" y="3879056"/>
            <a:ext cx="1371600" cy="978694"/>
          </a:xfrm>
          <a:prstGeom prst="rect">
            <a:avLst/>
          </a:prstGeom>
          <a:solidFill>
            <a:srgbClr val="014DA1"/>
          </a:solidFill>
          <a:ln w="9525">
            <a:solidFill>
              <a:srgbClr val="FFFFFF"/>
            </a:solidFill>
            <a:prstDash val="solid"/>
          </a:ln>
        </p:spPr>
        <p:txBody>
          <a:bodyPr/>
          <a:lstStyle/>
          <a:p>
            <a:endParaRPr lang="zh-CN" altLang="en-US"/>
          </a:p>
        </p:txBody>
      </p:sp>
      <p:sp>
        <p:nvSpPr>
          <p:cNvPr id="12" name="矩形 11">
            <a:extLst>
              <a:ext uri="{FF2B5EF4-FFF2-40B4-BE49-F238E27FC236}">
                <a16:creationId xmlns:a16="http://schemas.microsoft.com/office/drawing/2014/main" id="{0C01D9AE-8EDE-49A0-A048-615283ED1C9A}"/>
              </a:ext>
            </a:extLst>
          </p:cNvPr>
          <p:cNvSpPr>
            <a:spLocks noGrp="1"/>
          </p:cNvSpPr>
          <p:nvPr/>
        </p:nvSpPr>
        <p:spPr>
          <a:xfrm>
            <a:off x="2562225" y="3631406"/>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3</a:t>
            </a:r>
          </a:p>
        </p:txBody>
      </p:sp>
      <p:sp>
        <p:nvSpPr>
          <p:cNvPr id="13" name="矩形 12">
            <a:extLst>
              <a:ext uri="{FF2B5EF4-FFF2-40B4-BE49-F238E27FC236}">
                <a16:creationId xmlns:a16="http://schemas.microsoft.com/office/drawing/2014/main" id="{712CD6EB-8F1F-4BA0-A9B3-0DC39C8D13C6}"/>
              </a:ext>
            </a:extLst>
          </p:cNvPr>
          <p:cNvSpPr>
            <a:spLocks noGrp="1"/>
          </p:cNvSpPr>
          <p:nvPr/>
        </p:nvSpPr>
        <p:spPr>
          <a:xfrm>
            <a:off x="2562225" y="4953000"/>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4–8</a:t>
            </a:r>
          </a:p>
        </p:txBody>
      </p:sp>
      <p:sp>
        <p:nvSpPr>
          <p:cNvPr id="14" name="矩形 13">
            <a:extLst>
              <a:ext uri="{FF2B5EF4-FFF2-40B4-BE49-F238E27FC236}">
                <a16:creationId xmlns:a16="http://schemas.microsoft.com/office/drawing/2014/main" id="{FBA78918-2821-4E36-82B8-3B1B4CFF281C}"/>
              </a:ext>
            </a:extLst>
          </p:cNvPr>
          <p:cNvSpPr>
            <a:spLocks noGrp="1"/>
          </p:cNvSpPr>
          <p:nvPr/>
        </p:nvSpPr>
        <p:spPr>
          <a:xfrm>
            <a:off x="4010025" y="4205288"/>
            <a:ext cx="1371600" cy="652463"/>
          </a:xfrm>
          <a:prstGeom prst="rect">
            <a:avLst/>
          </a:prstGeom>
          <a:solidFill>
            <a:srgbClr val="014DA1"/>
          </a:solidFill>
          <a:ln w="9525">
            <a:solidFill>
              <a:srgbClr val="FFFFFF"/>
            </a:solidFill>
            <a:prstDash val="solid"/>
          </a:ln>
        </p:spPr>
        <p:txBody>
          <a:bodyPr/>
          <a:lstStyle/>
          <a:p>
            <a:endParaRPr lang="zh-CN" altLang="en-US"/>
          </a:p>
        </p:txBody>
      </p:sp>
      <p:sp>
        <p:nvSpPr>
          <p:cNvPr id="15" name="矩形 14">
            <a:extLst>
              <a:ext uri="{FF2B5EF4-FFF2-40B4-BE49-F238E27FC236}">
                <a16:creationId xmlns:a16="http://schemas.microsoft.com/office/drawing/2014/main" id="{6164DE6F-49F0-444A-B6C8-1ED464F66030}"/>
              </a:ext>
            </a:extLst>
          </p:cNvPr>
          <p:cNvSpPr>
            <a:spLocks noGrp="1"/>
          </p:cNvSpPr>
          <p:nvPr/>
        </p:nvSpPr>
        <p:spPr>
          <a:xfrm>
            <a:off x="4010025" y="3957638"/>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2</a:t>
            </a:r>
          </a:p>
        </p:txBody>
      </p:sp>
      <p:sp>
        <p:nvSpPr>
          <p:cNvPr id="16" name="矩形 15">
            <a:extLst>
              <a:ext uri="{FF2B5EF4-FFF2-40B4-BE49-F238E27FC236}">
                <a16:creationId xmlns:a16="http://schemas.microsoft.com/office/drawing/2014/main" id="{C7250B64-1326-4B25-86BB-143A3AE0B540}"/>
              </a:ext>
            </a:extLst>
          </p:cNvPr>
          <p:cNvSpPr>
            <a:spLocks noGrp="1"/>
          </p:cNvSpPr>
          <p:nvPr/>
        </p:nvSpPr>
        <p:spPr>
          <a:xfrm>
            <a:off x="4010025" y="4953000"/>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8–12</a:t>
            </a:r>
          </a:p>
        </p:txBody>
      </p:sp>
      <p:sp>
        <p:nvSpPr>
          <p:cNvPr id="17" name="矩形 16">
            <a:extLst>
              <a:ext uri="{FF2B5EF4-FFF2-40B4-BE49-F238E27FC236}">
                <a16:creationId xmlns:a16="http://schemas.microsoft.com/office/drawing/2014/main" id="{C1EC3FE2-7572-4891-A677-025737184C87}"/>
              </a:ext>
            </a:extLst>
          </p:cNvPr>
          <p:cNvSpPr>
            <a:spLocks noGrp="1"/>
          </p:cNvSpPr>
          <p:nvPr/>
        </p:nvSpPr>
        <p:spPr>
          <a:xfrm>
            <a:off x="5457825" y="4531519"/>
            <a:ext cx="1371600" cy="326231"/>
          </a:xfrm>
          <a:prstGeom prst="rect">
            <a:avLst/>
          </a:prstGeom>
          <a:solidFill>
            <a:srgbClr val="014DA1"/>
          </a:solidFill>
          <a:ln w="9525">
            <a:solidFill>
              <a:srgbClr val="FFFFFF"/>
            </a:solidFill>
            <a:prstDash val="solid"/>
          </a:ln>
        </p:spPr>
        <p:txBody>
          <a:bodyPr/>
          <a:lstStyle/>
          <a:p>
            <a:endParaRPr lang="zh-CN" altLang="en-US"/>
          </a:p>
        </p:txBody>
      </p:sp>
      <p:sp>
        <p:nvSpPr>
          <p:cNvPr id="18" name="矩形 17">
            <a:extLst>
              <a:ext uri="{FF2B5EF4-FFF2-40B4-BE49-F238E27FC236}">
                <a16:creationId xmlns:a16="http://schemas.microsoft.com/office/drawing/2014/main" id="{0E6EE945-777F-482A-8DDB-94C456A2BE5F}"/>
              </a:ext>
            </a:extLst>
          </p:cNvPr>
          <p:cNvSpPr>
            <a:spLocks noGrp="1"/>
          </p:cNvSpPr>
          <p:nvPr/>
        </p:nvSpPr>
        <p:spPr>
          <a:xfrm>
            <a:off x="5457825" y="4283869"/>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1</a:t>
            </a:r>
          </a:p>
        </p:txBody>
      </p:sp>
      <p:sp>
        <p:nvSpPr>
          <p:cNvPr id="19" name="矩形 18">
            <a:extLst>
              <a:ext uri="{FF2B5EF4-FFF2-40B4-BE49-F238E27FC236}">
                <a16:creationId xmlns:a16="http://schemas.microsoft.com/office/drawing/2014/main" id="{F638B06C-E292-406E-AFC5-968C7BFF2C05}"/>
              </a:ext>
            </a:extLst>
          </p:cNvPr>
          <p:cNvSpPr>
            <a:spLocks noGrp="1"/>
          </p:cNvSpPr>
          <p:nvPr/>
        </p:nvSpPr>
        <p:spPr>
          <a:xfrm>
            <a:off x="5457825" y="4953000"/>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12–16</a:t>
            </a:r>
          </a:p>
        </p:txBody>
      </p:sp>
      <p:sp>
        <p:nvSpPr>
          <p:cNvPr id="20" name="矩形 19">
            <a:extLst>
              <a:ext uri="{FF2B5EF4-FFF2-40B4-BE49-F238E27FC236}">
                <a16:creationId xmlns:a16="http://schemas.microsoft.com/office/drawing/2014/main" id="{F180F121-A4D1-44D2-A080-C40E7AA846BA}"/>
              </a:ext>
            </a:extLst>
          </p:cNvPr>
          <p:cNvSpPr>
            <a:spLocks noGrp="1"/>
          </p:cNvSpPr>
          <p:nvPr/>
        </p:nvSpPr>
        <p:spPr>
          <a:xfrm>
            <a:off x="6905625" y="4531519"/>
            <a:ext cx="1371600" cy="326231"/>
          </a:xfrm>
          <a:prstGeom prst="rect">
            <a:avLst/>
          </a:prstGeom>
          <a:solidFill>
            <a:srgbClr val="B4964B"/>
          </a:solidFill>
          <a:ln w="9525">
            <a:solidFill>
              <a:srgbClr val="FFFFFF"/>
            </a:solidFill>
            <a:prstDash val="solid"/>
          </a:ln>
        </p:spPr>
        <p:txBody>
          <a:bodyPr/>
          <a:lstStyle/>
          <a:p>
            <a:endParaRPr lang="zh-CN" altLang="en-US"/>
          </a:p>
        </p:txBody>
      </p:sp>
      <p:sp>
        <p:nvSpPr>
          <p:cNvPr id="21" name="矩形 20">
            <a:extLst>
              <a:ext uri="{FF2B5EF4-FFF2-40B4-BE49-F238E27FC236}">
                <a16:creationId xmlns:a16="http://schemas.microsoft.com/office/drawing/2014/main" id="{39353D46-1D86-4A00-941A-54D2D16B98F4}"/>
              </a:ext>
            </a:extLst>
          </p:cNvPr>
          <p:cNvSpPr>
            <a:spLocks noGrp="1"/>
          </p:cNvSpPr>
          <p:nvPr/>
        </p:nvSpPr>
        <p:spPr>
          <a:xfrm>
            <a:off x="6905625" y="4283869"/>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1</a:t>
            </a:r>
          </a:p>
        </p:txBody>
      </p:sp>
      <p:sp>
        <p:nvSpPr>
          <p:cNvPr id="22" name="矩形 21">
            <a:extLst>
              <a:ext uri="{FF2B5EF4-FFF2-40B4-BE49-F238E27FC236}">
                <a16:creationId xmlns:a16="http://schemas.microsoft.com/office/drawing/2014/main" id="{200F95C3-9C8D-4477-B381-D200332944C5}"/>
              </a:ext>
            </a:extLst>
          </p:cNvPr>
          <p:cNvSpPr>
            <a:spLocks noGrp="1"/>
          </p:cNvSpPr>
          <p:nvPr/>
        </p:nvSpPr>
        <p:spPr>
          <a:xfrm>
            <a:off x="6905625" y="4953000"/>
            <a:ext cx="1371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4B5563"/>
                </a:solidFill>
                <a:latin typeface="黑体"/>
                <a:ea typeface="黑体"/>
                <a:cs typeface="黑体"/>
              </a:defRPr>
            </a:pPr>
            <a:r>
              <a:rPr>
                <a:latin typeface="Times New Roman"/>
                <a:ea typeface="Times New Roman"/>
                <a:cs typeface="Times New Roman"/>
              </a:rPr>
              <a:t>16–20</a:t>
            </a:r>
          </a:p>
        </p:txBody>
      </p:sp>
      <p:sp>
        <p:nvSpPr>
          <p:cNvPr id="23" name="矩形 22">
            <a:extLst>
              <a:ext uri="{FF2B5EF4-FFF2-40B4-BE49-F238E27FC236}">
                <a16:creationId xmlns:a16="http://schemas.microsoft.com/office/drawing/2014/main" id="{17EFE6A6-5061-4368-9653-3C28573878AB}"/>
              </a:ext>
            </a:extLst>
          </p:cNvPr>
          <p:cNvSpPr>
            <a:spLocks noGrp="1"/>
          </p:cNvSpPr>
          <p:nvPr/>
        </p:nvSpPr>
        <p:spPr>
          <a:xfrm>
            <a:off x="3848100" y="521970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Times New Roman"/>
                <a:ea typeface="Times New Roman"/>
                <a:cs typeface="Times New Roman"/>
              </a:rPr>
              <a:t>login_count</a:t>
            </a:r>
          </a:p>
        </p:txBody>
      </p:sp>
      <p:sp>
        <p:nvSpPr>
          <p:cNvPr id="24" name="矩形 23">
            <a:extLst>
              <a:ext uri="{FF2B5EF4-FFF2-40B4-BE49-F238E27FC236}">
                <a16:creationId xmlns:a16="http://schemas.microsoft.com/office/drawing/2014/main" id="{6B428A07-CE4F-4AA3-B7B2-6BB313A39363}"/>
              </a:ext>
            </a:extLst>
          </p:cNvPr>
          <p:cNvSpPr>
            <a:spLocks noGrp="1"/>
          </p:cNvSpPr>
          <p:nvPr/>
        </p:nvSpPr>
        <p:spPr>
          <a:xfrm>
            <a:off x="8953500" y="1676400"/>
            <a:ext cx="2628900" cy="838200"/>
          </a:xfrm>
          <a:prstGeom prst="rect">
            <a:avLst/>
          </a:prstGeom>
          <a:solidFill>
            <a:srgbClr val="F5F9FE"/>
          </a:solidFill>
          <a:ln w="9525">
            <a:solidFill>
              <a:srgbClr val="B8C3D1"/>
            </a:solidFill>
            <a:prstDash val="solid"/>
          </a:ln>
        </p:spPr>
        <p:txBody>
          <a:bodyPr/>
          <a:lstStyle/>
          <a:p>
            <a:endParaRPr lang="zh-CN" altLang="en-US"/>
          </a:p>
        </p:txBody>
      </p:sp>
      <p:sp>
        <p:nvSpPr>
          <p:cNvPr id="25" name="矩形 24">
            <a:extLst>
              <a:ext uri="{FF2B5EF4-FFF2-40B4-BE49-F238E27FC236}">
                <a16:creationId xmlns:a16="http://schemas.microsoft.com/office/drawing/2014/main" id="{37C676DB-0D63-457B-92DE-A3D675C07A23}"/>
              </a:ext>
            </a:extLst>
          </p:cNvPr>
          <p:cNvSpPr>
            <a:spLocks noGrp="1"/>
          </p:cNvSpPr>
          <p:nvPr/>
        </p:nvSpPr>
        <p:spPr>
          <a:xfrm>
            <a:off x="9144000" y="1819275"/>
            <a:ext cx="762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14DA1"/>
                </a:solidFill>
                <a:latin typeface="黑体"/>
                <a:ea typeface="黑体"/>
                <a:cs typeface="黑体"/>
              </a:defRPr>
            </a:pPr>
            <a:r>
              <a:rPr>
                <a:latin typeface="黑体"/>
                <a:ea typeface="黑体"/>
                <a:cs typeface="黑体"/>
              </a:rPr>
              <a:t>峰值</a:t>
            </a:r>
          </a:p>
        </p:txBody>
      </p:sp>
      <p:sp>
        <p:nvSpPr>
          <p:cNvPr id="26" name="矩形 25">
            <a:extLst>
              <a:ext uri="{FF2B5EF4-FFF2-40B4-BE49-F238E27FC236}">
                <a16:creationId xmlns:a16="http://schemas.microsoft.com/office/drawing/2014/main" id="{DA2906FE-1951-4B29-A882-10E2A8497D69}"/>
              </a:ext>
            </a:extLst>
          </p:cNvPr>
          <p:cNvSpPr>
            <a:spLocks noGrp="1"/>
          </p:cNvSpPr>
          <p:nvPr/>
        </p:nvSpPr>
        <p:spPr>
          <a:xfrm>
            <a:off x="9963150" y="1790700"/>
            <a:ext cx="14287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多数学生每周登录 </a:t>
            </a:r>
            <a:r>
              <a:rPr>
                <a:latin typeface="Times New Roman"/>
                <a:ea typeface="Times New Roman"/>
                <a:cs typeface="Times New Roman"/>
              </a:rPr>
              <a:t>0–4 </a:t>
            </a:r>
            <a:r>
              <a:rPr>
                <a:latin typeface="黑体"/>
                <a:ea typeface="黑体"/>
                <a:cs typeface="黑体"/>
              </a:rPr>
              <a:t>次</a:t>
            </a:r>
          </a:p>
        </p:txBody>
      </p:sp>
      <p:sp>
        <p:nvSpPr>
          <p:cNvPr id="27" name="矩形 26">
            <a:extLst>
              <a:ext uri="{FF2B5EF4-FFF2-40B4-BE49-F238E27FC236}">
                <a16:creationId xmlns:a16="http://schemas.microsoft.com/office/drawing/2014/main" id="{CBD3A4F8-3BBF-41D3-8801-853F0D4D5A21}"/>
              </a:ext>
            </a:extLst>
          </p:cNvPr>
          <p:cNvSpPr>
            <a:spLocks noGrp="1"/>
          </p:cNvSpPr>
          <p:nvPr/>
        </p:nvSpPr>
        <p:spPr>
          <a:xfrm>
            <a:off x="8953500" y="2724150"/>
            <a:ext cx="2628900" cy="838200"/>
          </a:xfrm>
          <a:prstGeom prst="rect">
            <a:avLst/>
          </a:prstGeom>
          <a:solidFill>
            <a:srgbClr val="FFF9ED"/>
          </a:solidFill>
          <a:ln w="9525">
            <a:solidFill>
              <a:srgbClr val="B8C3D1"/>
            </a:solidFill>
            <a:prstDash val="solid"/>
          </a:ln>
        </p:spPr>
        <p:txBody>
          <a:bodyPr/>
          <a:lstStyle/>
          <a:p>
            <a:endParaRPr lang="zh-CN" altLang="en-US"/>
          </a:p>
        </p:txBody>
      </p:sp>
      <p:sp>
        <p:nvSpPr>
          <p:cNvPr id="28" name="矩形 27">
            <a:extLst>
              <a:ext uri="{FF2B5EF4-FFF2-40B4-BE49-F238E27FC236}">
                <a16:creationId xmlns:a16="http://schemas.microsoft.com/office/drawing/2014/main" id="{4BE3FA15-7655-4DFF-9D87-6A763D3AF1D4}"/>
              </a:ext>
            </a:extLst>
          </p:cNvPr>
          <p:cNvSpPr>
            <a:spLocks noGrp="1"/>
          </p:cNvSpPr>
          <p:nvPr/>
        </p:nvSpPr>
        <p:spPr>
          <a:xfrm>
            <a:off x="9144000" y="2867025"/>
            <a:ext cx="762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B4964B"/>
                </a:solidFill>
                <a:latin typeface="黑体"/>
                <a:ea typeface="黑体"/>
                <a:cs typeface="黑体"/>
              </a:defRPr>
            </a:pPr>
            <a:r>
              <a:rPr>
                <a:latin typeface="黑体"/>
                <a:ea typeface="黑体"/>
                <a:cs typeface="黑体"/>
              </a:rPr>
              <a:t>右偏</a:t>
            </a:r>
          </a:p>
        </p:txBody>
      </p:sp>
      <p:sp>
        <p:nvSpPr>
          <p:cNvPr id="29" name="矩形 28">
            <a:extLst>
              <a:ext uri="{FF2B5EF4-FFF2-40B4-BE49-F238E27FC236}">
                <a16:creationId xmlns:a16="http://schemas.microsoft.com/office/drawing/2014/main" id="{CC36B630-3F3B-4332-BAD3-928E422D25A8}"/>
              </a:ext>
            </a:extLst>
          </p:cNvPr>
          <p:cNvSpPr>
            <a:spLocks noGrp="1"/>
          </p:cNvSpPr>
          <p:nvPr/>
        </p:nvSpPr>
        <p:spPr>
          <a:xfrm>
            <a:off x="9963150" y="2838450"/>
            <a:ext cx="14287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黑体"/>
                <a:ea typeface="黑体"/>
                <a:cs typeface="黑体"/>
              </a:rPr>
              <a:t>少数学生登录次数很高</a:t>
            </a:r>
          </a:p>
        </p:txBody>
      </p:sp>
      <p:sp>
        <p:nvSpPr>
          <p:cNvPr id="30" name="矩形 29">
            <a:extLst>
              <a:ext uri="{FF2B5EF4-FFF2-40B4-BE49-F238E27FC236}">
                <a16:creationId xmlns:a16="http://schemas.microsoft.com/office/drawing/2014/main" id="{38425445-E5AB-4604-A733-A6C84DE2B739}"/>
              </a:ext>
            </a:extLst>
          </p:cNvPr>
          <p:cNvSpPr>
            <a:spLocks noGrp="1"/>
          </p:cNvSpPr>
          <p:nvPr/>
        </p:nvSpPr>
        <p:spPr>
          <a:xfrm>
            <a:off x="8953500" y="3771900"/>
            <a:ext cx="2628900" cy="838200"/>
          </a:xfrm>
          <a:prstGeom prst="rect">
            <a:avLst/>
          </a:prstGeom>
          <a:solidFill>
            <a:srgbClr val="F5F9FE"/>
          </a:solidFill>
          <a:ln w="9525">
            <a:solidFill>
              <a:srgbClr val="B8C3D1"/>
            </a:solidFill>
            <a:prstDash val="solid"/>
          </a:ln>
        </p:spPr>
        <p:txBody>
          <a:bodyPr/>
          <a:lstStyle/>
          <a:p>
            <a:endParaRPr lang="zh-CN" altLang="en-US"/>
          </a:p>
        </p:txBody>
      </p:sp>
      <p:sp>
        <p:nvSpPr>
          <p:cNvPr id="31" name="矩形 30">
            <a:extLst>
              <a:ext uri="{FF2B5EF4-FFF2-40B4-BE49-F238E27FC236}">
                <a16:creationId xmlns:a16="http://schemas.microsoft.com/office/drawing/2014/main" id="{FDBED09B-4409-4574-A812-41D588D055B9}"/>
              </a:ext>
            </a:extLst>
          </p:cNvPr>
          <p:cNvSpPr>
            <a:spLocks noGrp="1"/>
          </p:cNvSpPr>
          <p:nvPr/>
        </p:nvSpPr>
        <p:spPr>
          <a:xfrm>
            <a:off x="9144000" y="3914775"/>
            <a:ext cx="762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014DA1"/>
                </a:solidFill>
                <a:latin typeface="黑体"/>
                <a:ea typeface="黑体"/>
                <a:cs typeface="黑体"/>
              </a:defRPr>
            </a:pPr>
            <a:r>
              <a:rPr>
                <a:latin typeface="黑体"/>
                <a:ea typeface="黑体"/>
                <a:cs typeface="黑体"/>
              </a:rPr>
              <a:t>长尾</a:t>
            </a:r>
          </a:p>
        </p:txBody>
      </p:sp>
      <p:sp>
        <p:nvSpPr>
          <p:cNvPr id="32" name="矩形 31">
            <a:extLst>
              <a:ext uri="{FF2B5EF4-FFF2-40B4-BE49-F238E27FC236}">
                <a16:creationId xmlns:a16="http://schemas.microsoft.com/office/drawing/2014/main" id="{5E01E80D-34B1-445D-92E7-85EA5F913004}"/>
              </a:ext>
            </a:extLst>
          </p:cNvPr>
          <p:cNvSpPr>
            <a:spLocks noGrp="1"/>
          </p:cNvSpPr>
          <p:nvPr/>
        </p:nvSpPr>
        <p:spPr>
          <a:xfrm>
            <a:off x="9963150" y="3886200"/>
            <a:ext cx="14287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F2933"/>
                </a:solidFill>
                <a:latin typeface="黑体"/>
                <a:ea typeface="黑体"/>
                <a:cs typeface="黑体"/>
              </a:defRPr>
            </a:pPr>
            <a:r>
              <a:rPr>
                <a:latin typeface="Times New Roman"/>
                <a:ea typeface="Times New Roman"/>
                <a:cs typeface="Times New Roman"/>
              </a:rPr>
              <a:t>12 </a:t>
            </a:r>
            <a:r>
              <a:rPr>
                <a:latin typeface="黑体"/>
                <a:ea typeface="黑体"/>
                <a:cs typeface="黑体"/>
              </a:rPr>
              <a:t>次以上仍有少量记录</a:t>
            </a:r>
          </a:p>
        </p:txBody>
      </p:sp>
      <p:sp>
        <p:nvSpPr>
          <p:cNvPr id="33" name="矩形 32">
            <a:extLst>
              <a:ext uri="{FF2B5EF4-FFF2-40B4-BE49-F238E27FC236}">
                <a16:creationId xmlns:a16="http://schemas.microsoft.com/office/drawing/2014/main" id="{9FC9ACFB-2286-4E3C-A4B6-19BE0FA7BBF1}"/>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4" name="矩形 33">
            <a:extLst>
              <a:ext uri="{FF2B5EF4-FFF2-40B4-BE49-F238E27FC236}">
                <a16:creationId xmlns:a16="http://schemas.microsoft.com/office/drawing/2014/main" id="{8A0390C3-96C7-47A1-8A6A-60138474A64C}"/>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直方图的结论依赖分箱，因此要同时检查不同合理粒度。</a:t>
            </a:r>
          </a:p>
        </p:txBody>
      </p:sp>
    </p:spTree>
    <p:extLst>
      <p:ext uri="{BB962C8B-B14F-4D97-AF65-F5344CB8AC3E}">
        <p14:creationId xmlns:p14="http://schemas.microsoft.com/office/powerpoint/2010/main" val="6169713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a:extLst>
              <a:ext uri="{FF2B5EF4-FFF2-40B4-BE49-F238E27FC236}">
                <a16:creationId xmlns:a16="http://schemas.microsoft.com/office/drawing/2014/main" id="{66B33D2E-6778-466A-A39F-67D116F27A77}"/>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A07BBB63-83AD-450C-A6AE-1E2949F25194}"/>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CD76663-BAC9-4231-82CD-E81D7752FD75}"/>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C96CFC82-27FB-41E8-8AA3-D4CC26C93355}"/>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箱线图适合比较多个群体</a:t>
            </a:r>
          </a:p>
        </p:txBody>
      </p:sp>
      <p:sp>
        <p:nvSpPr>
          <p:cNvPr id="5" name="矩形 4">
            <a:extLst>
              <a:ext uri="{FF2B5EF4-FFF2-40B4-BE49-F238E27FC236}">
                <a16:creationId xmlns:a16="http://schemas.microsoft.com/office/drawing/2014/main" id="{07EDDC9A-E7F9-473D-9609-B725341C251E}"/>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84/90</a:t>
            </a:r>
          </a:p>
        </p:txBody>
      </p:sp>
      <p:sp>
        <p:nvSpPr>
          <p:cNvPr id="6" name="矩形 5">
            <a:extLst>
              <a:ext uri="{FF2B5EF4-FFF2-40B4-BE49-F238E27FC236}">
                <a16:creationId xmlns:a16="http://schemas.microsoft.com/office/drawing/2014/main" id="{3571CB0D-D2BC-44BF-B869-EAFC6249520B}"/>
              </a:ext>
            </a:extLst>
          </p:cNvPr>
          <p:cNvSpPr>
            <a:spLocks noGrp="1"/>
          </p:cNvSpPr>
          <p:nvPr/>
        </p:nvSpPr>
        <p:spPr>
          <a:xfrm>
            <a:off x="609600" y="1257300"/>
            <a:ext cx="10972800" cy="37719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E5A40300-2A98-4304-BEC2-1D67A3C1A665}"/>
              </a:ext>
            </a:extLst>
          </p:cNvPr>
          <p:cNvSpPr>
            <a:spLocks noGrp="1"/>
          </p:cNvSpPr>
          <p:nvPr/>
        </p:nvSpPr>
        <p:spPr>
          <a:xfrm>
            <a:off x="838200" y="14478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Times New Roman"/>
                <a:ea typeface="Times New Roman"/>
                <a:cs typeface="Times New Roman"/>
              </a:rPr>
              <a:t>video_rate  (0–1)</a:t>
            </a:r>
          </a:p>
        </p:txBody>
      </p:sp>
      <p:sp>
        <p:nvSpPr>
          <p:cNvPr id="8" name="矩形 7">
            <a:extLst>
              <a:ext uri="{FF2B5EF4-FFF2-40B4-BE49-F238E27FC236}">
                <a16:creationId xmlns:a16="http://schemas.microsoft.com/office/drawing/2014/main" id="{32D2AADB-0370-4513-9A53-E6CEB42A8ABE}"/>
              </a:ext>
            </a:extLst>
          </p:cNvPr>
          <p:cNvSpPr>
            <a:spLocks noGrp="1"/>
          </p:cNvSpPr>
          <p:nvPr/>
        </p:nvSpPr>
        <p:spPr>
          <a:xfrm>
            <a:off x="3181350" y="1457325"/>
            <a:ext cx="2533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4964B"/>
                </a:solidFill>
                <a:latin typeface="黑体"/>
                <a:ea typeface="黑体"/>
                <a:cs typeface="黑体"/>
              </a:defRPr>
            </a:pPr>
            <a:r>
              <a:rPr>
                <a:latin typeface="黑体"/>
                <a:ea typeface="黑体"/>
                <a:cs typeface="黑体"/>
              </a:rPr>
              <a:t>中位数最高：</a:t>
            </a:r>
            <a:r>
              <a:rPr>
                <a:latin typeface="Times New Roman"/>
                <a:ea typeface="Times New Roman"/>
                <a:cs typeface="Times New Roman"/>
              </a:rPr>
              <a:t>Course B = 0.58</a:t>
            </a:r>
          </a:p>
        </p:txBody>
      </p:sp>
      <p:sp>
        <p:nvSpPr>
          <p:cNvPr id="9" name="矩形 8">
            <a:extLst>
              <a:ext uri="{FF2B5EF4-FFF2-40B4-BE49-F238E27FC236}">
                <a16:creationId xmlns:a16="http://schemas.microsoft.com/office/drawing/2014/main" id="{BCC7BD54-78C1-45CE-9D56-E642B8CE1C8B}"/>
              </a:ext>
            </a:extLst>
          </p:cNvPr>
          <p:cNvSpPr>
            <a:spLocks noGrp="1"/>
          </p:cNvSpPr>
          <p:nvPr/>
        </p:nvSpPr>
        <p:spPr>
          <a:xfrm>
            <a:off x="6191250" y="1457325"/>
            <a:ext cx="2343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014DA1"/>
                </a:solidFill>
                <a:latin typeface="黑体"/>
                <a:ea typeface="黑体"/>
                <a:cs typeface="黑体"/>
              </a:defRPr>
            </a:pPr>
            <a:r>
              <a:rPr>
                <a:latin typeface="Times New Roman"/>
                <a:ea typeface="Times New Roman"/>
                <a:cs typeface="Times New Roman"/>
              </a:rPr>
              <a:t>IQR </a:t>
            </a:r>
            <a:r>
              <a:rPr>
                <a:latin typeface="黑体"/>
                <a:ea typeface="黑体"/>
                <a:cs typeface="黑体"/>
              </a:rPr>
              <a:t>最大：</a:t>
            </a:r>
            <a:r>
              <a:rPr>
                <a:latin typeface="Times New Roman"/>
                <a:ea typeface="Times New Roman"/>
                <a:cs typeface="Times New Roman"/>
              </a:rPr>
              <a:t>Course A = 0.48</a:t>
            </a:r>
          </a:p>
        </p:txBody>
      </p:sp>
      <p:sp>
        <p:nvSpPr>
          <p:cNvPr id="10" name="矩形 9">
            <a:extLst>
              <a:ext uri="{FF2B5EF4-FFF2-40B4-BE49-F238E27FC236}">
                <a16:creationId xmlns:a16="http://schemas.microsoft.com/office/drawing/2014/main" id="{756ECAAF-6D13-49DD-A2A9-6F50E7EA402A}"/>
              </a:ext>
            </a:extLst>
          </p:cNvPr>
          <p:cNvSpPr>
            <a:spLocks noGrp="1"/>
          </p:cNvSpPr>
          <p:nvPr/>
        </p:nvSpPr>
        <p:spPr>
          <a:xfrm>
            <a:off x="8877300" y="1457325"/>
            <a:ext cx="23622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A33A3A"/>
                </a:solidFill>
                <a:latin typeface="黑体"/>
                <a:ea typeface="黑体"/>
                <a:cs typeface="黑体"/>
              </a:defRPr>
            </a:pPr>
            <a:r>
              <a:rPr>
                <a:latin typeface="黑体"/>
                <a:ea typeface="黑体"/>
                <a:cs typeface="黑体"/>
              </a:rPr>
              <a:t>潜在异常：</a:t>
            </a:r>
            <a:r>
              <a:rPr>
                <a:latin typeface="Times New Roman"/>
                <a:ea typeface="Times New Roman"/>
                <a:cs typeface="Times New Roman"/>
              </a:rPr>
              <a:t>A 0.05  ·  C 0.96</a:t>
            </a:r>
          </a:p>
        </p:txBody>
      </p:sp>
      <p:sp>
        <p:nvSpPr>
          <p:cNvPr id="11" name="矩形 10">
            <a:extLst>
              <a:ext uri="{FF2B5EF4-FFF2-40B4-BE49-F238E27FC236}">
                <a16:creationId xmlns:a16="http://schemas.microsoft.com/office/drawing/2014/main" id="{D55384CA-C1B1-4182-B490-B86D2C8D6F05}"/>
              </a:ext>
            </a:extLst>
          </p:cNvPr>
          <p:cNvSpPr>
            <a:spLocks noGrp="1"/>
          </p:cNvSpPr>
          <p:nvPr/>
        </p:nvSpPr>
        <p:spPr>
          <a:xfrm>
            <a:off x="819150" y="1752600"/>
            <a:ext cx="1055370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F4C1B417-499F-46E6-A3A2-67F8B14E8FDE}"/>
              </a:ext>
            </a:extLst>
          </p:cNvPr>
          <p:cNvSpPr>
            <a:spLocks noGrp="1"/>
          </p:cNvSpPr>
          <p:nvPr/>
        </p:nvSpPr>
        <p:spPr>
          <a:xfrm>
            <a:off x="238125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D153E2AF-0C0B-478F-A974-86D18BFEA525}"/>
              </a:ext>
            </a:extLst>
          </p:cNvPr>
          <p:cNvSpPr>
            <a:spLocks noGrp="1"/>
          </p:cNvSpPr>
          <p:nvPr/>
        </p:nvSpPr>
        <p:spPr>
          <a:xfrm>
            <a:off x="2171700" y="4838700"/>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0.0</a:t>
            </a:r>
          </a:p>
        </p:txBody>
      </p:sp>
      <p:sp>
        <p:nvSpPr>
          <p:cNvPr id="14" name="矩形 13">
            <a:extLst>
              <a:ext uri="{FF2B5EF4-FFF2-40B4-BE49-F238E27FC236}">
                <a16:creationId xmlns:a16="http://schemas.microsoft.com/office/drawing/2014/main" id="{1D1A46F0-11DB-4413-98FF-CF2C08EB48CF}"/>
              </a:ext>
            </a:extLst>
          </p:cNvPr>
          <p:cNvSpPr>
            <a:spLocks noGrp="1"/>
          </p:cNvSpPr>
          <p:nvPr/>
        </p:nvSpPr>
        <p:spPr>
          <a:xfrm>
            <a:off x="323850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6757A87C-1DC5-4742-9CEA-D4BE6C3C9715}"/>
              </a:ext>
            </a:extLst>
          </p:cNvPr>
          <p:cNvSpPr>
            <a:spLocks noGrp="1"/>
          </p:cNvSpPr>
          <p:nvPr/>
        </p:nvSpPr>
        <p:spPr>
          <a:xfrm>
            <a:off x="409575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F2594E6B-3365-4616-BDF3-4086CFD070AD}"/>
              </a:ext>
            </a:extLst>
          </p:cNvPr>
          <p:cNvSpPr>
            <a:spLocks noGrp="1"/>
          </p:cNvSpPr>
          <p:nvPr/>
        </p:nvSpPr>
        <p:spPr>
          <a:xfrm>
            <a:off x="3886200" y="4838700"/>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0.2</a:t>
            </a:r>
          </a:p>
        </p:txBody>
      </p:sp>
      <p:sp>
        <p:nvSpPr>
          <p:cNvPr id="17" name="矩形 16">
            <a:extLst>
              <a:ext uri="{FF2B5EF4-FFF2-40B4-BE49-F238E27FC236}">
                <a16:creationId xmlns:a16="http://schemas.microsoft.com/office/drawing/2014/main" id="{CD2944DB-4F85-44DC-8330-672B82D3C8AE}"/>
              </a:ext>
            </a:extLst>
          </p:cNvPr>
          <p:cNvSpPr>
            <a:spLocks noGrp="1"/>
          </p:cNvSpPr>
          <p:nvPr/>
        </p:nvSpPr>
        <p:spPr>
          <a:xfrm>
            <a:off x="495300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A4BBE8C7-3D0A-4E7F-88C4-B1CF57586C61}"/>
              </a:ext>
            </a:extLst>
          </p:cNvPr>
          <p:cNvSpPr>
            <a:spLocks noGrp="1"/>
          </p:cNvSpPr>
          <p:nvPr/>
        </p:nvSpPr>
        <p:spPr>
          <a:xfrm>
            <a:off x="581025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19" name="矩形 18">
            <a:extLst>
              <a:ext uri="{FF2B5EF4-FFF2-40B4-BE49-F238E27FC236}">
                <a16:creationId xmlns:a16="http://schemas.microsoft.com/office/drawing/2014/main" id="{F818A2D0-E279-4DE1-B3CC-F36C58A30902}"/>
              </a:ext>
            </a:extLst>
          </p:cNvPr>
          <p:cNvSpPr>
            <a:spLocks noGrp="1"/>
          </p:cNvSpPr>
          <p:nvPr/>
        </p:nvSpPr>
        <p:spPr>
          <a:xfrm>
            <a:off x="5600700" y="4838700"/>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0.4</a:t>
            </a:r>
          </a:p>
        </p:txBody>
      </p:sp>
      <p:sp>
        <p:nvSpPr>
          <p:cNvPr id="20" name="矩形 19">
            <a:extLst>
              <a:ext uri="{FF2B5EF4-FFF2-40B4-BE49-F238E27FC236}">
                <a16:creationId xmlns:a16="http://schemas.microsoft.com/office/drawing/2014/main" id="{0FD78A87-8AF9-400C-9AF4-63F143A42F29}"/>
              </a:ext>
            </a:extLst>
          </p:cNvPr>
          <p:cNvSpPr>
            <a:spLocks noGrp="1"/>
          </p:cNvSpPr>
          <p:nvPr/>
        </p:nvSpPr>
        <p:spPr>
          <a:xfrm>
            <a:off x="666750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AB2F6057-B3AD-40B4-8570-34A1B418F3E2}"/>
              </a:ext>
            </a:extLst>
          </p:cNvPr>
          <p:cNvSpPr>
            <a:spLocks noGrp="1"/>
          </p:cNvSpPr>
          <p:nvPr/>
        </p:nvSpPr>
        <p:spPr>
          <a:xfrm>
            <a:off x="752475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89ED0F39-875A-4729-90E3-BF6E02321720}"/>
              </a:ext>
            </a:extLst>
          </p:cNvPr>
          <p:cNvSpPr>
            <a:spLocks noGrp="1"/>
          </p:cNvSpPr>
          <p:nvPr/>
        </p:nvSpPr>
        <p:spPr>
          <a:xfrm>
            <a:off x="7315200" y="4838700"/>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0.6</a:t>
            </a:r>
          </a:p>
        </p:txBody>
      </p:sp>
      <p:sp>
        <p:nvSpPr>
          <p:cNvPr id="23" name="矩形 22">
            <a:extLst>
              <a:ext uri="{FF2B5EF4-FFF2-40B4-BE49-F238E27FC236}">
                <a16:creationId xmlns:a16="http://schemas.microsoft.com/office/drawing/2014/main" id="{4707CBDC-B301-4D12-B052-E023C012AE89}"/>
              </a:ext>
            </a:extLst>
          </p:cNvPr>
          <p:cNvSpPr>
            <a:spLocks noGrp="1"/>
          </p:cNvSpPr>
          <p:nvPr/>
        </p:nvSpPr>
        <p:spPr>
          <a:xfrm>
            <a:off x="838200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E6E78F18-7E83-41F8-A30E-F0AAB28968CF}"/>
              </a:ext>
            </a:extLst>
          </p:cNvPr>
          <p:cNvSpPr>
            <a:spLocks noGrp="1"/>
          </p:cNvSpPr>
          <p:nvPr/>
        </p:nvSpPr>
        <p:spPr>
          <a:xfrm>
            <a:off x="923925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25" name="矩形 24">
            <a:extLst>
              <a:ext uri="{FF2B5EF4-FFF2-40B4-BE49-F238E27FC236}">
                <a16:creationId xmlns:a16="http://schemas.microsoft.com/office/drawing/2014/main" id="{D829EF54-A901-4C07-9E23-9F35F8A173AD}"/>
              </a:ext>
            </a:extLst>
          </p:cNvPr>
          <p:cNvSpPr>
            <a:spLocks noGrp="1"/>
          </p:cNvSpPr>
          <p:nvPr/>
        </p:nvSpPr>
        <p:spPr>
          <a:xfrm>
            <a:off x="9029700" y="4838700"/>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0.8</a:t>
            </a:r>
          </a:p>
        </p:txBody>
      </p:sp>
      <p:sp>
        <p:nvSpPr>
          <p:cNvPr id="26" name="矩形 25">
            <a:extLst>
              <a:ext uri="{FF2B5EF4-FFF2-40B4-BE49-F238E27FC236}">
                <a16:creationId xmlns:a16="http://schemas.microsoft.com/office/drawing/2014/main" id="{B771DDCA-FE0A-4327-BA9C-BC9FD1FAAB42}"/>
              </a:ext>
            </a:extLst>
          </p:cNvPr>
          <p:cNvSpPr>
            <a:spLocks noGrp="1"/>
          </p:cNvSpPr>
          <p:nvPr/>
        </p:nvSpPr>
        <p:spPr>
          <a:xfrm>
            <a:off x="1009650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27" name="矩形 26">
            <a:extLst>
              <a:ext uri="{FF2B5EF4-FFF2-40B4-BE49-F238E27FC236}">
                <a16:creationId xmlns:a16="http://schemas.microsoft.com/office/drawing/2014/main" id="{50906B1E-4251-43AB-B69A-873374C39211}"/>
              </a:ext>
            </a:extLst>
          </p:cNvPr>
          <p:cNvSpPr>
            <a:spLocks noGrp="1"/>
          </p:cNvSpPr>
          <p:nvPr/>
        </p:nvSpPr>
        <p:spPr>
          <a:xfrm>
            <a:off x="10953750" y="4695825"/>
            <a:ext cx="9525" cy="11430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28" name="矩形 27">
            <a:extLst>
              <a:ext uri="{FF2B5EF4-FFF2-40B4-BE49-F238E27FC236}">
                <a16:creationId xmlns:a16="http://schemas.microsoft.com/office/drawing/2014/main" id="{051662B8-A711-4212-A032-E875BD2DE074}"/>
              </a:ext>
            </a:extLst>
          </p:cNvPr>
          <p:cNvSpPr>
            <a:spLocks noGrp="1"/>
          </p:cNvSpPr>
          <p:nvPr/>
        </p:nvSpPr>
        <p:spPr>
          <a:xfrm>
            <a:off x="10744200" y="4838700"/>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1.0</a:t>
            </a:r>
          </a:p>
        </p:txBody>
      </p:sp>
      <p:sp>
        <p:nvSpPr>
          <p:cNvPr id="29" name="矩形 28">
            <a:extLst>
              <a:ext uri="{FF2B5EF4-FFF2-40B4-BE49-F238E27FC236}">
                <a16:creationId xmlns:a16="http://schemas.microsoft.com/office/drawing/2014/main" id="{558BF1DF-B5A5-4734-8D30-F1074F6AD4D7}"/>
              </a:ext>
            </a:extLst>
          </p:cNvPr>
          <p:cNvSpPr>
            <a:spLocks noGrp="1"/>
          </p:cNvSpPr>
          <p:nvPr/>
        </p:nvSpPr>
        <p:spPr>
          <a:xfrm>
            <a:off x="800100" y="1924050"/>
            <a:ext cx="10591800" cy="685800"/>
          </a:xfrm>
          <a:prstGeom prst="rect">
            <a:avLst/>
          </a:prstGeom>
          <a:solidFill>
            <a:srgbClr val="F8FAFD"/>
          </a:solidFill>
          <a:ln w="9525">
            <a:solidFill>
              <a:srgbClr val="EDF1F5"/>
            </a:solidFill>
            <a:prstDash val="solid"/>
          </a:ln>
        </p:spPr>
        <p:txBody>
          <a:bodyPr/>
          <a:lstStyle/>
          <a:p>
            <a:endParaRPr lang="zh-CN" altLang="en-US"/>
          </a:p>
        </p:txBody>
      </p:sp>
      <p:sp>
        <p:nvSpPr>
          <p:cNvPr id="30" name="矩形 29">
            <a:extLst>
              <a:ext uri="{FF2B5EF4-FFF2-40B4-BE49-F238E27FC236}">
                <a16:creationId xmlns:a16="http://schemas.microsoft.com/office/drawing/2014/main" id="{7EBF8B37-5333-40C1-B733-C95FAE2E1611}"/>
              </a:ext>
            </a:extLst>
          </p:cNvPr>
          <p:cNvSpPr>
            <a:spLocks noGrp="1"/>
          </p:cNvSpPr>
          <p:nvPr/>
        </p:nvSpPr>
        <p:spPr>
          <a:xfrm>
            <a:off x="952500" y="2038350"/>
            <a:ext cx="57150" cy="438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16B851EE-9DC3-4902-AF85-CCC99C68D36C}"/>
              </a:ext>
            </a:extLst>
          </p:cNvPr>
          <p:cNvSpPr>
            <a:spLocks noGrp="1"/>
          </p:cNvSpPr>
          <p:nvPr/>
        </p:nvSpPr>
        <p:spPr>
          <a:xfrm>
            <a:off x="1143000" y="2143125"/>
            <a:ext cx="914400" cy="228600"/>
          </a:xfrm>
          <a:prstGeom prst="rect">
            <a:avLst/>
          </a:prstGeom>
          <a:solidFill>
            <a:srgbClr val="F8FAFD"/>
          </a:solidFill>
          <a:ln w="0">
            <a:solidFill>
              <a:srgbClr val="000000">
                <a:alpha val="0"/>
              </a:srgbClr>
            </a:solidFill>
            <a:prstDash val="solid"/>
          </a:ln>
        </p:spPr>
        <p:txBody>
          <a:bodyPr lIns="0" tIns="0" rIns="0" bIns="0" anchor="t"/>
          <a:lstStyle/>
          <a:p>
            <a:pPr algn="l">
              <a:defRPr sz="1275" b="1">
                <a:solidFill>
                  <a:srgbClr val="014DA1"/>
                </a:solidFill>
                <a:latin typeface="黑体"/>
                <a:ea typeface="黑体"/>
                <a:cs typeface="黑体"/>
              </a:defRPr>
            </a:pPr>
            <a:r>
              <a:rPr>
                <a:latin typeface="Times New Roman"/>
                <a:ea typeface="Times New Roman"/>
                <a:cs typeface="Times New Roman"/>
              </a:rPr>
              <a:t>Course A</a:t>
            </a:r>
          </a:p>
        </p:txBody>
      </p:sp>
      <p:sp>
        <p:nvSpPr>
          <p:cNvPr id="32" name="矩形 31">
            <a:extLst>
              <a:ext uri="{FF2B5EF4-FFF2-40B4-BE49-F238E27FC236}">
                <a16:creationId xmlns:a16="http://schemas.microsoft.com/office/drawing/2014/main" id="{33866E73-9A3A-417B-984B-123FB372B1D4}"/>
              </a:ext>
            </a:extLst>
          </p:cNvPr>
          <p:cNvSpPr>
            <a:spLocks noGrp="1"/>
          </p:cNvSpPr>
          <p:nvPr/>
        </p:nvSpPr>
        <p:spPr>
          <a:xfrm>
            <a:off x="2381250" y="2257425"/>
            <a:ext cx="7200900" cy="2857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E2337E9A-4490-4213-B59F-2CA48BCEA8F2}"/>
              </a:ext>
            </a:extLst>
          </p:cNvPr>
          <p:cNvSpPr>
            <a:spLocks noGrp="1"/>
          </p:cNvSpPr>
          <p:nvPr/>
        </p:nvSpPr>
        <p:spPr>
          <a:xfrm>
            <a:off x="2381250" y="2143125"/>
            <a:ext cx="19050" cy="2476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D4699BB6-5DD7-41FD-A40A-A973F7024C18}"/>
              </a:ext>
            </a:extLst>
          </p:cNvPr>
          <p:cNvSpPr>
            <a:spLocks noGrp="1"/>
          </p:cNvSpPr>
          <p:nvPr/>
        </p:nvSpPr>
        <p:spPr>
          <a:xfrm>
            <a:off x="9582150" y="2143125"/>
            <a:ext cx="19050" cy="2476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5" name="矩形 34">
            <a:extLst>
              <a:ext uri="{FF2B5EF4-FFF2-40B4-BE49-F238E27FC236}">
                <a16:creationId xmlns:a16="http://schemas.microsoft.com/office/drawing/2014/main" id="{A3C8EDB6-705A-457E-AB4E-8B4C8C84C235}"/>
              </a:ext>
            </a:extLst>
          </p:cNvPr>
          <p:cNvSpPr>
            <a:spLocks noGrp="1"/>
          </p:cNvSpPr>
          <p:nvPr/>
        </p:nvSpPr>
        <p:spPr>
          <a:xfrm>
            <a:off x="3924300" y="2038350"/>
            <a:ext cx="4114800" cy="438150"/>
          </a:xfrm>
          <a:prstGeom prst="rect">
            <a:avLst/>
          </a:prstGeom>
          <a:solidFill>
            <a:srgbClr val="014DA1">
              <a:alpha val="20000"/>
            </a:srgbClr>
          </a:solidFill>
          <a:ln w="19050">
            <a:solidFill>
              <a:srgbClr val="014DA1"/>
            </a:solidFill>
            <a:prstDash val="solid"/>
          </a:ln>
        </p:spPr>
        <p:txBody>
          <a:bodyPr/>
          <a:lstStyle/>
          <a:p>
            <a:endParaRPr lang="zh-CN" altLang="en-US"/>
          </a:p>
        </p:txBody>
      </p:sp>
      <p:sp>
        <p:nvSpPr>
          <p:cNvPr id="36" name="矩形 35">
            <a:extLst>
              <a:ext uri="{FF2B5EF4-FFF2-40B4-BE49-F238E27FC236}">
                <a16:creationId xmlns:a16="http://schemas.microsoft.com/office/drawing/2014/main" id="{0FC8E4A0-E0AE-490D-8A89-44888DCA77E8}"/>
              </a:ext>
            </a:extLst>
          </p:cNvPr>
          <p:cNvSpPr>
            <a:spLocks noGrp="1"/>
          </p:cNvSpPr>
          <p:nvPr/>
        </p:nvSpPr>
        <p:spPr>
          <a:xfrm>
            <a:off x="5981700" y="2038350"/>
            <a:ext cx="28575" cy="438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7" name="矩形 36">
            <a:extLst>
              <a:ext uri="{FF2B5EF4-FFF2-40B4-BE49-F238E27FC236}">
                <a16:creationId xmlns:a16="http://schemas.microsoft.com/office/drawing/2014/main" id="{CAB01C96-7C96-4C94-A00C-AF356847DE20}"/>
              </a:ext>
            </a:extLst>
          </p:cNvPr>
          <p:cNvSpPr>
            <a:spLocks noGrp="1"/>
          </p:cNvSpPr>
          <p:nvPr/>
        </p:nvSpPr>
        <p:spPr>
          <a:xfrm>
            <a:off x="6057900" y="2162175"/>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14DA1"/>
                </a:solidFill>
                <a:latin typeface="黑体"/>
                <a:ea typeface="黑体"/>
                <a:cs typeface="黑体"/>
              </a:defRPr>
            </a:pPr>
            <a:r>
              <a:rPr>
                <a:latin typeface="Times New Roman"/>
                <a:ea typeface="Times New Roman"/>
                <a:cs typeface="Times New Roman"/>
              </a:rPr>
              <a:t>0.42</a:t>
            </a:r>
          </a:p>
        </p:txBody>
      </p:sp>
      <p:sp>
        <p:nvSpPr>
          <p:cNvPr id="38" name="椭圆 37">
            <a:extLst>
              <a:ext uri="{FF2B5EF4-FFF2-40B4-BE49-F238E27FC236}">
                <a16:creationId xmlns:a16="http://schemas.microsoft.com/office/drawing/2014/main" id="{0043E5B7-C668-4380-8A38-954412902209}"/>
              </a:ext>
            </a:extLst>
          </p:cNvPr>
          <p:cNvSpPr>
            <a:spLocks noGrp="1"/>
          </p:cNvSpPr>
          <p:nvPr/>
        </p:nvSpPr>
        <p:spPr>
          <a:xfrm>
            <a:off x="2743200" y="2200275"/>
            <a:ext cx="133350" cy="133350"/>
          </a:xfrm>
          <a:prstGeom prst="ellipse">
            <a:avLst/>
          </a:prstGeom>
          <a:solidFill>
            <a:srgbClr val="B64040"/>
          </a:solidFill>
          <a:ln w="9525">
            <a:solidFill>
              <a:srgbClr val="FFFFFF"/>
            </a:solidFill>
            <a:prstDash val="solid"/>
          </a:ln>
        </p:spPr>
        <p:txBody>
          <a:bodyPr/>
          <a:lstStyle/>
          <a:p>
            <a:endParaRPr lang="zh-CN" altLang="en-US"/>
          </a:p>
        </p:txBody>
      </p:sp>
      <p:sp>
        <p:nvSpPr>
          <p:cNvPr id="39" name="矩形 38">
            <a:extLst>
              <a:ext uri="{FF2B5EF4-FFF2-40B4-BE49-F238E27FC236}">
                <a16:creationId xmlns:a16="http://schemas.microsoft.com/office/drawing/2014/main" id="{0024AA3D-5787-4C1B-9625-4F48E237F32B}"/>
              </a:ext>
            </a:extLst>
          </p:cNvPr>
          <p:cNvSpPr>
            <a:spLocks noGrp="1"/>
          </p:cNvSpPr>
          <p:nvPr/>
        </p:nvSpPr>
        <p:spPr>
          <a:xfrm>
            <a:off x="800100" y="2838450"/>
            <a:ext cx="10591800" cy="685800"/>
          </a:xfrm>
          <a:prstGeom prst="rect">
            <a:avLst/>
          </a:prstGeom>
          <a:solidFill>
            <a:srgbClr val="FFFFFF"/>
          </a:solidFill>
          <a:ln w="9525">
            <a:solidFill>
              <a:srgbClr val="EDF1F5"/>
            </a:solidFill>
            <a:prstDash val="solid"/>
          </a:ln>
        </p:spPr>
        <p:txBody>
          <a:bodyPr/>
          <a:lstStyle/>
          <a:p>
            <a:endParaRPr lang="zh-CN" altLang="en-US"/>
          </a:p>
        </p:txBody>
      </p:sp>
      <p:sp>
        <p:nvSpPr>
          <p:cNvPr id="40" name="矩形 39">
            <a:extLst>
              <a:ext uri="{FF2B5EF4-FFF2-40B4-BE49-F238E27FC236}">
                <a16:creationId xmlns:a16="http://schemas.microsoft.com/office/drawing/2014/main" id="{9157747F-49D9-40B2-8B59-9CBD97595DD9}"/>
              </a:ext>
            </a:extLst>
          </p:cNvPr>
          <p:cNvSpPr>
            <a:spLocks noGrp="1"/>
          </p:cNvSpPr>
          <p:nvPr/>
        </p:nvSpPr>
        <p:spPr>
          <a:xfrm>
            <a:off x="952500" y="2952750"/>
            <a:ext cx="57150" cy="438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41" name="矩形 40">
            <a:extLst>
              <a:ext uri="{FF2B5EF4-FFF2-40B4-BE49-F238E27FC236}">
                <a16:creationId xmlns:a16="http://schemas.microsoft.com/office/drawing/2014/main" id="{F7EF1269-828A-4A32-B72B-51313E074DF4}"/>
              </a:ext>
            </a:extLst>
          </p:cNvPr>
          <p:cNvSpPr>
            <a:spLocks noGrp="1"/>
          </p:cNvSpPr>
          <p:nvPr/>
        </p:nvSpPr>
        <p:spPr>
          <a:xfrm>
            <a:off x="1143000" y="3057525"/>
            <a:ext cx="914400" cy="228600"/>
          </a:xfrm>
          <a:prstGeom prst="rect">
            <a:avLst/>
          </a:prstGeom>
          <a:solidFill>
            <a:srgbClr val="FFFFFF"/>
          </a:solidFill>
          <a:ln w="0">
            <a:solidFill>
              <a:srgbClr val="000000">
                <a:alpha val="0"/>
              </a:srgbClr>
            </a:solidFill>
            <a:prstDash val="solid"/>
          </a:ln>
        </p:spPr>
        <p:txBody>
          <a:bodyPr lIns="0" tIns="0" rIns="0" bIns="0" anchor="t"/>
          <a:lstStyle/>
          <a:p>
            <a:pPr algn="l">
              <a:defRPr sz="1275" b="1">
                <a:solidFill>
                  <a:srgbClr val="B4964B"/>
                </a:solidFill>
                <a:latin typeface="黑体"/>
                <a:ea typeface="黑体"/>
                <a:cs typeface="黑体"/>
              </a:defRPr>
            </a:pPr>
            <a:r>
              <a:rPr>
                <a:latin typeface="Times New Roman"/>
                <a:ea typeface="Times New Roman"/>
                <a:cs typeface="Times New Roman"/>
              </a:rPr>
              <a:t>Course B</a:t>
            </a:r>
          </a:p>
        </p:txBody>
      </p:sp>
      <p:sp>
        <p:nvSpPr>
          <p:cNvPr id="42" name="矩形 41">
            <a:extLst>
              <a:ext uri="{FF2B5EF4-FFF2-40B4-BE49-F238E27FC236}">
                <a16:creationId xmlns:a16="http://schemas.microsoft.com/office/drawing/2014/main" id="{940592D5-480A-430B-A143-0784AF0DA00F}"/>
              </a:ext>
            </a:extLst>
          </p:cNvPr>
          <p:cNvSpPr>
            <a:spLocks noGrp="1"/>
          </p:cNvSpPr>
          <p:nvPr/>
        </p:nvSpPr>
        <p:spPr>
          <a:xfrm>
            <a:off x="2484120" y="3171825"/>
            <a:ext cx="7869555" cy="2857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43" name="矩形 42">
            <a:extLst>
              <a:ext uri="{FF2B5EF4-FFF2-40B4-BE49-F238E27FC236}">
                <a16:creationId xmlns:a16="http://schemas.microsoft.com/office/drawing/2014/main" id="{C13DC901-11CB-4A16-9E97-98EAB3D3175E}"/>
              </a:ext>
            </a:extLst>
          </p:cNvPr>
          <p:cNvSpPr>
            <a:spLocks noGrp="1"/>
          </p:cNvSpPr>
          <p:nvPr/>
        </p:nvSpPr>
        <p:spPr>
          <a:xfrm>
            <a:off x="2484120" y="3057525"/>
            <a:ext cx="19050" cy="2476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44" name="矩形 43">
            <a:extLst>
              <a:ext uri="{FF2B5EF4-FFF2-40B4-BE49-F238E27FC236}">
                <a16:creationId xmlns:a16="http://schemas.microsoft.com/office/drawing/2014/main" id="{DCFECA36-74A2-4B27-83EE-537C7DB9E3DE}"/>
              </a:ext>
            </a:extLst>
          </p:cNvPr>
          <p:cNvSpPr>
            <a:spLocks noGrp="1"/>
          </p:cNvSpPr>
          <p:nvPr/>
        </p:nvSpPr>
        <p:spPr>
          <a:xfrm>
            <a:off x="10353675" y="3057525"/>
            <a:ext cx="19050" cy="2476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45" name="矩形 44">
            <a:extLst>
              <a:ext uri="{FF2B5EF4-FFF2-40B4-BE49-F238E27FC236}">
                <a16:creationId xmlns:a16="http://schemas.microsoft.com/office/drawing/2014/main" id="{822E4AD7-F983-49CF-A497-0D029BF7324E}"/>
              </a:ext>
            </a:extLst>
          </p:cNvPr>
          <p:cNvSpPr>
            <a:spLocks noGrp="1"/>
          </p:cNvSpPr>
          <p:nvPr/>
        </p:nvSpPr>
        <p:spPr>
          <a:xfrm>
            <a:off x="5124450" y="2952750"/>
            <a:ext cx="3771900" cy="438150"/>
          </a:xfrm>
          <a:prstGeom prst="rect">
            <a:avLst/>
          </a:prstGeom>
          <a:solidFill>
            <a:srgbClr val="B4964B">
              <a:alpha val="20000"/>
            </a:srgbClr>
          </a:solidFill>
          <a:ln w="19050">
            <a:solidFill>
              <a:srgbClr val="B4964B"/>
            </a:solidFill>
            <a:prstDash val="solid"/>
          </a:ln>
        </p:spPr>
        <p:txBody>
          <a:bodyPr/>
          <a:lstStyle/>
          <a:p>
            <a:endParaRPr lang="zh-CN" altLang="en-US"/>
          </a:p>
        </p:txBody>
      </p:sp>
      <p:sp>
        <p:nvSpPr>
          <p:cNvPr id="46" name="矩形 45">
            <a:extLst>
              <a:ext uri="{FF2B5EF4-FFF2-40B4-BE49-F238E27FC236}">
                <a16:creationId xmlns:a16="http://schemas.microsoft.com/office/drawing/2014/main" id="{D15DB02B-31A6-4073-824C-5B2E0E190E89}"/>
              </a:ext>
            </a:extLst>
          </p:cNvPr>
          <p:cNvSpPr>
            <a:spLocks noGrp="1"/>
          </p:cNvSpPr>
          <p:nvPr/>
        </p:nvSpPr>
        <p:spPr>
          <a:xfrm>
            <a:off x="7353300" y="2952750"/>
            <a:ext cx="28575" cy="438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47" name="矩形 46">
            <a:extLst>
              <a:ext uri="{FF2B5EF4-FFF2-40B4-BE49-F238E27FC236}">
                <a16:creationId xmlns:a16="http://schemas.microsoft.com/office/drawing/2014/main" id="{40BEF6BC-D967-4E8D-B217-0426394A8857}"/>
              </a:ext>
            </a:extLst>
          </p:cNvPr>
          <p:cNvSpPr>
            <a:spLocks noGrp="1"/>
          </p:cNvSpPr>
          <p:nvPr/>
        </p:nvSpPr>
        <p:spPr>
          <a:xfrm>
            <a:off x="7429500" y="3076575"/>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B4964B"/>
                </a:solidFill>
                <a:latin typeface="黑体"/>
                <a:ea typeface="黑体"/>
                <a:cs typeface="黑体"/>
              </a:defRPr>
            </a:pPr>
            <a:r>
              <a:rPr>
                <a:latin typeface="Times New Roman"/>
                <a:ea typeface="Times New Roman"/>
                <a:cs typeface="Times New Roman"/>
              </a:rPr>
              <a:t>0.58</a:t>
            </a:r>
          </a:p>
        </p:txBody>
      </p:sp>
      <p:sp>
        <p:nvSpPr>
          <p:cNvPr id="48" name="矩形 47">
            <a:extLst>
              <a:ext uri="{FF2B5EF4-FFF2-40B4-BE49-F238E27FC236}">
                <a16:creationId xmlns:a16="http://schemas.microsoft.com/office/drawing/2014/main" id="{34FB6E5E-B5C1-4803-AACA-504D27BF53DD}"/>
              </a:ext>
            </a:extLst>
          </p:cNvPr>
          <p:cNvSpPr>
            <a:spLocks noGrp="1"/>
          </p:cNvSpPr>
          <p:nvPr/>
        </p:nvSpPr>
        <p:spPr>
          <a:xfrm>
            <a:off x="800100" y="3752850"/>
            <a:ext cx="10591800" cy="685800"/>
          </a:xfrm>
          <a:prstGeom prst="rect">
            <a:avLst/>
          </a:prstGeom>
          <a:solidFill>
            <a:srgbClr val="F8FAFD"/>
          </a:solidFill>
          <a:ln w="9525">
            <a:solidFill>
              <a:srgbClr val="EDF1F5"/>
            </a:solidFill>
            <a:prstDash val="solid"/>
          </a:ln>
        </p:spPr>
        <p:txBody>
          <a:bodyPr/>
          <a:lstStyle/>
          <a:p>
            <a:endParaRPr lang="zh-CN" altLang="en-US"/>
          </a:p>
        </p:txBody>
      </p:sp>
      <p:sp>
        <p:nvSpPr>
          <p:cNvPr id="49" name="矩形 48">
            <a:extLst>
              <a:ext uri="{FF2B5EF4-FFF2-40B4-BE49-F238E27FC236}">
                <a16:creationId xmlns:a16="http://schemas.microsoft.com/office/drawing/2014/main" id="{1DD502E3-26AC-49BB-A096-06BC6C04CCE9}"/>
              </a:ext>
            </a:extLst>
          </p:cNvPr>
          <p:cNvSpPr>
            <a:spLocks noGrp="1"/>
          </p:cNvSpPr>
          <p:nvPr/>
        </p:nvSpPr>
        <p:spPr>
          <a:xfrm>
            <a:off x="952500" y="3867150"/>
            <a:ext cx="57150" cy="43815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2016C9C8-18E3-4C63-8347-175AD6E1F879}"/>
              </a:ext>
            </a:extLst>
          </p:cNvPr>
          <p:cNvSpPr>
            <a:spLocks noGrp="1"/>
          </p:cNvSpPr>
          <p:nvPr/>
        </p:nvSpPr>
        <p:spPr>
          <a:xfrm>
            <a:off x="1143000" y="3971925"/>
            <a:ext cx="914400" cy="228600"/>
          </a:xfrm>
          <a:prstGeom prst="rect">
            <a:avLst/>
          </a:prstGeom>
          <a:solidFill>
            <a:srgbClr val="F8FAFD"/>
          </a:solidFill>
          <a:ln w="0">
            <a:solidFill>
              <a:srgbClr val="000000">
                <a:alpha val="0"/>
              </a:srgbClr>
            </a:solidFill>
            <a:prstDash val="solid"/>
          </a:ln>
        </p:spPr>
        <p:txBody>
          <a:bodyPr lIns="0" tIns="0" rIns="0" bIns="0" anchor="t"/>
          <a:lstStyle/>
          <a:p>
            <a:pPr algn="l">
              <a:defRPr sz="1275" b="1">
                <a:solidFill>
                  <a:srgbClr val="2F7A5D"/>
                </a:solidFill>
                <a:latin typeface="黑体"/>
                <a:ea typeface="黑体"/>
                <a:cs typeface="黑体"/>
              </a:defRPr>
            </a:pPr>
            <a:r>
              <a:rPr>
                <a:latin typeface="Times New Roman"/>
                <a:ea typeface="Times New Roman"/>
                <a:cs typeface="Times New Roman"/>
              </a:rPr>
              <a:t>Course C</a:t>
            </a:r>
          </a:p>
        </p:txBody>
      </p:sp>
      <p:sp>
        <p:nvSpPr>
          <p:cNvPr id="51" name="矩形 50">
            <a:extLst>
              <a:ext uri="{FF2B5EF4-FFF2-40B4-BE49-F238E27FC236}">
                <a16:creationId xmlns:a16="http://schemas.microsoft.com/office/drawing/2014/main" id="{8DB2F4B9-7818-4829-AE14-0F5A10FB4B7B}"/>
              </a:ext>
            </a:extLst>
          </p:cNvPr>
          <p:cNvSpPr>
            <a:spLocks noGrp="1"/>
          </p:cNvSpPr>
          <p:nvPr/>
        </p:nvSpPr>
        <p:spPr>
          <a:xfrm>
            <a:off x="2381250" y="4086225"/>
            <a:ext cx="6000750" cy="28575"/>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52" name="矩形 51">
            <a:extLst>
              <a:ext uri="{FF2B5EF4-FFF2-40B4-BE49-F238E27FC236}">
                <a16:creationId xmlns:a16="http://schemas.microsoft.com/office/drawing/2014/main" id="{516E4B90-956E-4F0B-A1FB-E5523B4E68FD}"/>
              </a:ext>
            </a:extLst>
          </p:cNvPr>
          <p:cNvSpPr>
            <a:spLocks noGrp="1"/>
          </p:cNvSpPr>
          <p:nvPr/>
        </p:nvSpPr>
        <p:spPr>
          <a:xfrm>
            <a:off x="2381250" y="3971925"/>
            <a:ext cx="19050" cy="24765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53" name="矩形 52">
            <a:extLst>
              <a:ext uri="{FF2B5EF4-FFF2-40B4-BE49-F238E27FC236}">
                <a16:creationId xmlns:a16="http://schemas.microsoft.com/office/drawing/2014/main" id="{3B5EE401-ECF4-412E-A379-9417A4F084C1}"/>
              </a:ext>
            </a:extLst>
          </p:cNvPr>
          <p:cNvSpPr>
            <a:spLocks noGrp="1"/>
          </p:cNvSpPr>
          <p:nvPr/>
        </p:nvSpPr>
        <p:spPr>
          <a:xfrm>
            <a:off x="8382000" y="3971925"/>
            <a:ext cx="19050" cy="24765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54" name="矩形 53">
            <a:extLst>
              <a:ext uri="{FF2B5EF4-FFF2-40B4-BE49-F238E27FC236}">
                <a16:creationId xmlns:a16="http://schemas.microsoft.com/office/drawing/2014/main" id="{E157C8E5-E140-420B-9DD1-86A7257461A7}"/>
              </a:ext>
            </a:extLst>
          </p:cNvPr>
          <p:cNvSpPr>
            <a:spLocks noGrp="1"/>
          </p:cNvSpPr>
          <p:nvPr/>
        </p:nvSpPr>
        <p:spPr>
          <a:xfrm>
            <a:off x="3067050" y="3867150"/>
            <a:ext cx="3686175" cy="438150"/>
          </a:xfrm>
          <a:prstGeom prst="rect">
            <a:avLst/>
          </a:prstGeom>
          <a:solidFill>
            <a:srgbClr val="2F7A5D">
              <a:alpha val="20000"/>
            </a:srgbClr>
          </a:solidFill>
          <a:ln w="19050">
            <a:solidFill>
              <a:srgbClr val="2F7A5D"/>
            </a:solidFill>
            <a:prstDash val="solid"/>
          </a:ln>
        </p:spPr>
        <p:txBody>
          <a:bodyPr/>
          <a:lstStyle/>
          <a:p>
            <a:endParaRPr lang="zh-CN" altLang="en-US"/>
          </a:p>
        </p:txBody>
      </p:sp>
      <p:sp>
        <p:nvSpPr>
          <p:cNvPr id="55" name="矩形 54">
            <a:extLst>
              <a:ext uri="{FF2B5EF4-FFF2-40B4-BE49-F238E27FC236}">
                <a16:creationId xmlns:a16="http://schemas.microsoft.com/office/drawing/2014/main" id="{3FB6F42C-6615-46FE-AE25-4BBCAA3507D8}"/>
              </a:ext>
            </a:extLst>
          </p:cNvPr>
          <p:cNvSpPr>
            <a:spLocks noGrp="1"/>
          </p:cNvSpPr>
          <p:nvPr/>
        </p:nvSpPr>
        <p:spPr>
          <a:xfrm>
            <a:off x="4438650" y="3867150"/>
            <a:ext cx="28575" cy="43815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56" name="矩形 55">
            <a:extLst>
              <a:ext uri="{FF2B5EF4-FFF2-40B4-BE49-F238E27FC236}">
                <a16:creationId xmlns:a16="http://schemas.microsoft.com/office/drawing/2014/main" id="{FEA74401-9AC9-4FDB-B7A4-A3D74045E02F}"/>
              </a:ext>
            </a:extLst>
          </p:cNvPr>
          <p:cNvSpPr>
            <a:spLocks noGrp="1"/>
          </p:cNvSpPr>
          <p:nvPr/>
        </p:nvSpPr>
        <p:spPr>
          <a:xfrm>
            <a:off x="4514850" y="3990975"/>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2F7A5D"/>
                </a:solidFill>
                <a:latin typeface="黑体"/>
                <a:ea typeface="黑体"/>
                <a:cs typeface="黑体"/>
              </a:defRPr>
            </a:pPr>
            <a:r>
              <a:rPr>
                <a:latin typeface="Times New Roman"/>
                <a:ea typeface="Times New Roman"/>
                <a:cs typeface="Times New Roman"/>
              </a:rPr>
              <a:t>0.24</a:t>
            </a:r>
          </a:p>
        </p:txBody>
      </p:sp>
      <p:sp>
        <p:nvSpPr>
          <p:cNvPr id="57" name="椭圆 56">
            <a:extLst>
              <a:ext uri="{FF2B5EF4-FFF2-40B4-BE49-F238E27FC236}">
                <a16:creationId xmlns:a16="http://schemas.microsoft.com/office/drawing/2014/main" id="{E3BDA067-C607-4858-9A8A-B09104124354}"/>
              </a:ext>
            </a:extLst>
          </p:cNvPr>
          <p:cNvSpPr>
            <a:spLocks noGrp="1"/>
          </p:cNvSpPr>
          <p:nvPr/>
        </p:nvSpPr>
        <p:spPr>
          <a:xfrm>
            <a:off x="10544175" y="4029075"/>
            <a:ext cx="133350" cy="133350"/>
          </a:xfrm>
          <a:prstGeom prst="ellipse">
            <a:avLst/>
          </a:prstGeom>
          <a:solidFill>
            <a:srgbClr val="B64040"/>
          </a:solidFill>
          <a:ln w="9525">
            <a:solidFill>
              <a:srgbClr val="FFFFFF"/>
            </a:solidFill>
            <a:prstDash val="solid"/>
          </a:ln>
        </p:spPr>
        <p:txBody>
          <a:bodyPr/>
          <a:lstStyle/>
          <a:p>
            <a:endParaRPr lang="zh-CN" altLang="en-US"/>
          </a:p>
        </p:txBody>
      </p:sp>
      <p:sp>
        <p:nvSpPr>
          <p:cNvPr id="58" name="矩形 57">
            <a:extLst>
              <a:ext uri="{FF2B5EF4-FFF2-40B4-BE49-F238E27FC236}">
                <a16:creationId xmlns:a16="http://schemas.microsoft.com/office/drawing/2014/main" id="{B930747A-FC88-4BFE-A729-677F9C9F1232}"/>
              </a:ext>
            </a:extLst>
          </p:cNvPr>
          <p:cNvSpPr>
            <a:spLocks noGrp="1"/>
          </p:cNvSpPr>
          <p:nvPr/>
        </p:nvSpPr>
        <p:spPr>
          <a:xfrm>
            <a:off x="2381250" y="4752975"/>
            <a:ext cx="8572500" cy="1905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59" name="矩形 58">
            <a:extLst>
              <a:ext uri="{FF2B5EF4-FFF2-40B4-BE49-F238E27FC236}">
                <a16:creationId xmlns:a16="http://schemas.microsoft.com/office/drawing/2014/main" id="{775C06D8-FDFF-45A8-82C8-499C08F590ED}"/>
              </a:ext>
            </a:extLst>
          </p:cNvPr>
          <p:cNvSpPr>
            <a:spLocks noGrp="1"/>
          </p:cNvSpPr>
          <p:nvPr/>
        </p:nvSpPr>
        <p:spPr>
          <a:xfrm>
            <a:off x="609600" y="5143500"/>
            <a:ext cx="10972800" cy="323850"/>
          </a:xfrm>
          <a:prstGeom prst="rect">
            <a:avLst/>
          </a:prstGeom>
          <a:solidFill>
            <a:srgbClr val="F8FAFD"/>
          </a:solidFill>
          <a:ln w="9525">
            <a:solidFill>
              <a:srgbClr val="D4DBE4"/>
            </a:solidFill>
            <a:prstDash val="solid"/>
          </a:ln>
        </p:spPr>
        <p:txBody>
          <a:bodyPr/>
          <a:lstStyle/>
          <a:p>
            <a:endParaRPr lang="zh-CN" altLang="en-US"/>
          </a:p>
        </p:txBody>
      </p:sp>
      <p:sp>
        <p:nvSpPr>
          <p:cNvPr id="60" name="矩形 59">
            <a:extLst>
              <a:ext uri="{FF2B5EF4-FFF2-40B4-BE49-F238E27FC236}">
                <a16:creationId xmlns:a16="http://schemas.microsoft.com/office/drawing/2014/main" id="{024D9672-FAD5-469F-90E2-12700C7BE78A}"/>
              </a:ext>
            </a:extLst>
          </p:cNvPr>
          <p:cNvSpPr>
            <a:spLocks noGrp="1"/>
          </p:cNvSpPr>
          <p:nvPr/>
        </p:nvSpPr>
        <p:spPr>
          <a:xfrm>
            <a:off x="1524000" y="5238750"/>
            <a:ext cx="323850" cy="133350"/>
          </a:xfrm>
          <a:prstGeom prst="rect">
            <a:avLst/>
          </a:prstGeom>
          <a:solidFill>
            <a:srgbClr val="DCEAF8"/>
          </a:solidFill>
          <a:ln w="9525">
            <a:solidFill>
              <a:srgbClr val="014DA1"/>
            </a:solidFill>
            <a:prstDash val="solid"/>
          </a:ln>
        </p:spPr>
        <p:txBody>
          <a:bodyPr/>
          <a:lstStyle/>
          <a:p>
            <a:endParaRPr lang="zh-CN" altLang="en-US"/>
          </a:p>
        </p:txBody>
      </p:sp>
      <p:sp>
        <p:nvSpPr>
          <p:cNvPr id="61" name="矩形 60">
            <a:extLst>
              <a:ext uri="{FF2B5EF4-FFF2-40B4-BE49-F238E27FC236}">
                <a16:creationId xmlns:a16="http://schemas.microsoft.com/office/drawing/2014/main" id="{2E00E389-4819-4314-A9CE-E4312191410D}"/>
              </a:ext>
            </a:extLst>
          </p:cNvPr>
          <p:cNvSpPr>
            <a:spLocks noGrp="1"/>
          </p:cNvSpPr>
          <p:nvPr/>
        </p:nvSpPr>
        <p:spPr>
          <a:xfrm>
            <a:off x="1962150" y="5210175"/>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0204A"/>
                </a:solidFill>
                <a:latin typeface="黑体"/>
                <a:ea typeface="黑体"/>
                <a:cs typeface="黑体"/>
              </a:defRPr>
            </a:pPr>
            <a:r>
              <a:rPr>
                <a:latin typeface="黑体"/>
                <a:ea typeface="黑体"/>
                <a:cs typeface="黑体"/>
              </a:rPr>
              <a:t>箱体：</a:t>
            </a:r>
            <a:r>
              <a:rPr>
                <a:latin typeface="Times New Roman"/>
                <a:ea typeface="Times New Roman"/>
                <a:cs typeface="Times New Roman"/>
              </a:rPr>
              <a:t>Q1–Q3</a:t>
            </a:r>
          </a:p>
        </p:txBody>
      </p:sp>
      <p:sp>
        <p:nvSpPr>
          <p:cNvPr id="62" name="矩形 61">
            <a:extLst>
              <a:ext uri="{FF2B5EF4-FFF2-40B4-BE49-F238E27FC236}">
                <a16:creationId xmlns:a16="http://schemas.microsoft.com/office/drawing/2014/main" id="{E3ABD5DB-85A6-40B1-858F-E544E9F819CE}"/>
              </a:ext>
            </a:extLst>
          </p:cNvPr>
          <p:cNvSpPr>
            <a:spLocks noGrp="1"/>
          </p:cNvSpPr>
          <p:nvPr/>
        </p:nvSpPr>
        <p:spPr>
          <a:xfrm>
            <a:off x="4171950" y="5210175"/>
            <a:ext cx="28575" cy="19050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63" name="矩形 62">
            <a:extLst>
              <a:ext uri="{FF2B5EF4-FFF2-40B4-BE49-F238E27FC236}">
                <a16:creationId xmlns:a16="http://schemas.microsoft.com/office/drawing/2014/main" id="{7596E7D2-05A0-4F26-AD5D-99319BEF6AAB}"/>
              </a:ext>
            </a:extLst>
          </p:cNvPr>
          <p:cNvSpPr>
            <a:spLocks noGrp="1"/>
          </p:cNvSpPr>
          <p:nvPr/>
        </p:nvSpPr>
        <p:spPr>
          <a:xfrm>
            <a:off x="4343400" y="5210175"/>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0204A"/>
                </a:solidFill>
                <a:latin typeface="黑体"/>
                <a:ea typeface="黑体"/>
                <a:cs typeface="黑体"/>
              </a:defRPr>
            </a:pPr>
            <a:r>
              <a:rPr>
                <a:latin typeface="黑体"/>
                <a:ea typeface="黑体"/>
                <a:cs typeface="黑体"/>
              </a:rPr>
              <a:t>中线：</a:t>
            </a:r>
            <a:r>
              <a:rPr>
                <a:latin typeface="Times New Roman"/>
                <a:ea typeface="Times New Roman"/>
                <a:cs typeface="Times New Roman"/>
              </a:rPr>
              <a:t>Median</a:t>
            </a:r>
          </a:p>
        </p:txBody>
      </p:sp>
      <p:sp>
        <p:nvSpPr>
          <p:cNvPr id="64" name="矩形 63">
            <a:extLst>
              <a:ext uri="{FF2B5EF4-FFF2-40B4-BE49-F238E27FC236}">
                <a16:creationId xmlns:a16="http://schemas.microsoft.com/office/drawing/2014/main" id="{DDD2D85A-034E-4734-BB6E-DE74A8BFBF73}"/>
              </a:ext>
            </a:extLst>
          </p:cNvPr>
          <p:cNvSpPr>
            <a:spLocks noGrp="1"/>
          </p:cNvSpPr>
          <p:nvPr/>
        </p:nvSpPr>
        <p:spPr>
          <a:xfrm>
            <a:off x="6629400" y="5305425"/>
            <a:ext cx="361950" cy="1905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65" name="矩形 64">
            <a:extLst>
              <a:ext uri="{FF2B5EF4-FFF2-40B4-BE49-F238E27FC236}">
                <a16:creationId xmlns:a16="http://schemas.microsoft.com/office/drawing/2014/main" id="{EDE4C860-454E-4B15-AD07-4EAC9A3B3DCC}"/>
              </a:ext>
            </a:extLst>
          </p:cNvPr>
          <p:cNvSpPr>
            <a:spLocks noGrp="1"/>
          </p:cNvSpPr>
          <p:nvPr/>
        </p:nvSpPr>
        <p:spPr>
          <a:xfrm>
            <a:off x="6629400" y="5238750"/>
            <a:ext cx="19050" cy="15240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66" name="矩形 65">
            <a:extLst>
              <a:ext uri="{FF2B5EF4-FFF2-40B4-BE49-F238E27FC236}">
                <a16:creationId xmlns:a16="http://schemas.microsoft.com/office/drawing/2014/main" id="{5008607F-B43E-426F-8D22-E12C03105043}"/>
              </a:ext>
            </a:extLst>
          </p:cNvPr>
          <p:cNvSpPr>
            <a:spLocks noGrp="1"/>
          </p:cNvSpPr>
          <p:nvPr/>
        </p:nvSpPr>
        <p:spPr>
          <a:xfrm>
            <a:off x="6972300" y="5238750"/>
            <a:ext cx="19050" cy="152400"/>
          </a:xfrm>
          <a:prstGeom prst="rect">
            <a:avLst/>
          </a:prstGeom>
          <a:solidFill>
            <a:srgbClr val="2F7A5D"/>
          </a:solidFill>
          <a:ln w="0">
            <a:solidFill>
              <a:srgbClr val="000000">
                <a:alpha val="0"/>
              </a:srgbClr>
            </a:solidFill>
            <a:prstDash val="solid"/>
          </a:ln>
        </p:spPr>
        <p:txBody>
          <a:bodyPr/>
          <a:lstStyle/>
          <a:p>
            <a:endParaRPr lang="zh-CN" altLang="en-US"/>
          </a:p>
        </p:txBody>
      </p:sp>
      <p:sp>
        <p:nvSpPr>
          <p:cNvPr id="67" name="矩形 66">
            <a:extLst>
              <a:ext uri="{FF2B5EF4-FFF2-40B4-BE49-F238E27FC236}">
                <a16:creationId xmlns:a16="http://schemas.microsoft.com/office/drawing/2014/main" id="{685E0FF4-0005-4D58-88D6-74B0B45B5254}"/>
              </a:ext>
            </a:extLst>
          </p:cNvPr>
          <p:cNvSpPr>
            <a:spLocks noGrp="1"/>
          </p:cNvSpPr>
          <p:nvPr/>
        </p:nvSpPr>
        <p:spPr>
          <a:xfrm>
            <a:off x="7086600" y="5210175"/>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0204A"/>
                </a:solidFill>
                <a:latin typeface="黑体"/>
                <a:ea typeface="黑体"/>
                <a:cs typeface="黑体"/>
              </a:defRPr>
            </a:pPr>
            <a:r>
              <a:rPr>
                <a:latin typeface="黑体"/>
                <a:ea typeface="黑体"/>
                <a:cs typeface="黑体"/>
              </a:rPr>
              <a:t>须：常规范围</a:t>
            </a:r>
          </a:p>
        </p:txBody>
      </p:sp>
      <p:sp>
        <p:nvSpPr>
          <p:cNvPr id="68" name="椭圆 67">
            <a:extLst>
              <a:ext uri="{FF2B5EF4-FFF2-40B4-BE49-F238E27FC236}">
                <a16:creationId xmlns:a16="http://schemas.microsoft.com/office/drawing/2014/main" id="{AE74B325-B9F0-4EB0-873E-335E4852BD95}"/>
              </a:ext>
            </a:extLst>
          </p:cNvPr>
          <p:cNvSpPr>
            <a:spLocks noGrp="1"/>
          </p:cNvSpPr>
          <p:nvPr/>
        </p:nvSpPr>
        <p:spPr>
          <a:xfrm>
            <a:off x="9258300" y="5248275"/>
            <a:ext cx="123825" cy="123825"/>
          </a:xfrm>
          <a:prstGeom prst="ellipse">
            <a:avLst/>
          </a:prstGeom>
          <a:solidFill>
            <a:srgbClr val="B64040"/>
          </a:solidFill>
          <a:ln w="9525">
            <a:solidFill>
              <a:srgbClr val="FFFFFF"/>
            </a:solidFill>
            <a:prstDash val="solid"/>
          </a:ln>
        </p:spPr>
        <p:txBody>
          <a:bodyPr/>
          <a:lstStyle/>
          <a:p>
            <a:endParaRPr lang="zh-CN" altLang="en-US"/>
          </a:p>
        </p:txBody>
      </p:sp>
      <p:sp>
        <p:nvSpPr>
          <p:cNvPr id="69" name="矩形 68">
            <a:extLst>
              <a:ext uri="{FF2B5EF4-FFF2-40B4-BE49-F238E27FC236}">
                <a16:creationId xmlns:a16="http://schemas.microsoft.com/office/drawing/2014/main" id="{F1927757-BF5B-40B9-9AB6-43E528B514B2}"/>
              </a:ext>
            </a:extLst>
          </p:cNvPr>
          <p:cNvSpPr>
            <a:spLocks noGrp="1"/>
          </p:cNvSpPr>
          <p:nvPr/>
        </p:nvSpPr>
        <p:spPr>
          <a:xfrm>
            <a:off x="9505950" y="5210175"/>
            <a:ext cx="1428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0204A"/>
                </a:solidFill>
                <a:latin typeface="黑体"/>
                <a:ea typeface="黑体"/>
                <a:cs typeface="黑体"/>
              </a:defRPr>
            </a:pPr>
            <a:r>
              <a:rPr>
                <a:latin typeface="黑体"/>
                <a:ea typeface="黑体"/>
                <a:cs typeface="黑体"/>
              </a:rPr>
              <a:t>点：潜在异常</a:t>
            </a:r>
          </a:p>
        </p:txBody>
      </p:sp>
      <p:sp>
        <p:nvSpPr>
          <p:cNvPr id="70" name="矩形 69">
            <a:extLst>
              <a:ext uri="{FF2B5EF4-FFF2-40B4-BE49-F238E27FC236}">
                <a16:creationId xmlns:a16="http://schemas.microsoft.com/office/drawing/2014/main" id="{19BBC067-C58B-476A-A7FC-C281780C334B}"/>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71" name="矩形 70">
            <a:extLst>
              <a:ext uri="{FF2B5EF4-FFF2-40B4-BE49-F238E27FC236}">
                <a16:creationId xmlns:a16="http://schemas.microsoft.com/office/drawing/2014/main" id="{E5378A26-0985-4A17-8315-C59705EE9E16}"/>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箱线图用于比较分布，不应只比较中位数一条线。</a:t>
            </a:r>
          </a:p>
        </p:txBody>
      </p:sp>
    </p:spTree>
    <p:extLst>
      <p:ext uri="{BB962C8B-B14F-4D97-AF65-F5344CB8AC3E}">
        <p14:creationId xmlns:p14="http://schemas.microsoft.com/office/powerpoint/2010/main" val="7385864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矩形 116">
            <a:extLst>
              <a:ext uri="{FF2B5EF4-FFF2-40B4-BE49-F238E27FC236}">
                <a16:creationId xmlns:a16="http://schemas.microsoft.com/office/drawing/2014/main" id="{27407AAC-C82C-4129-991D-55B0A20B01E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1081C69B-C43B-449A-BA22-89E04B82B087}"/>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714B02ED-17F8-48D2-BD37-E96A256B43F9}"/>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78503F0B-6A12-4623-BA08-2E08D9B71FF8}"/>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散点图同时显示关系、群体与异常</a:t>
            </a:r>
          </a:p>
        </p:txBody>
      </p:sp>
      <p:sp>
        <p:nvSpPr>
          <p:cNvPr id="5" name="矩形 4">
            <a:extLst>
              <a:ext uri="{FF2B5EF4-FFF2-40B4-BE49-F238E27FC236}">
                <a16:creationId xmlns:a16="http://schemas.microsoft.com/office/drawing/2014/main" id="{92F8B74A-9393-4426-8B7A-E933D42295DB}"/>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85/90</a:t>
            </a:r>
          </a:p>
        </p:txBody>
      </p:sp>
      <p:sp>
        <p:nvSpPr>
          <p:cNvPr id="6" name="矩形 5">
            <a:extLst>
              <a:ext uri="{FF2B5EF4-FFF2-40B4-BE49-F238E27FC236}">
                <a16:creationId xmlns:a16="http://schemas.microsoft.com/office/drawing/2014/main" id="{3CAD376F-A928-403D-96BE-4D13AEC4EBEC}"/>
              </a:ext>
            </a:extLst>
          </p:cNvPr>
          <p:cNvSpPr>
            <a:spLocks noGrp="1"/>
          </p:cNvSpPr>
          <p:nvPr/>
        </p:nvSpPr>
        <p:spPr>
          <a:xfrm>
            <a:off x="1162050" y="4953000"/>
            <a:ext cx="7524750" cy="1905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F5564A70-792E-495C-A5BA-68D6EF78AEB4}"/>
              </a:ext>
            </a:extLst>
          </p:cNvPr>
          <p:cNvSpPr>
            <a:spLocks noGrp="1"/>
          </p:cNvSpPr>
          <p:nvPr/>
        </p:nvSpPr>
        <p:spPr>
          <a:xfrm>
            <a:off x="1162050" y="1809750"/>
            <a:ext cx="19050" cy="3143250"/>
          </a:xfrm>
          <a:prstGeom prst="rect">
            <a:avLst/>
          </a:prstGeom>
          <a:solidFill>
            <a:srgbClr val="8795A6"/>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5835FB55-701A-4C09-8800-D052B34D5636}"/>
              </a:ext>
            </a:extLst>
          </p:cNvPr>
          <p:cNvSpPr>
            <a:spLocks noGrp="1"/>
          </p:cNvSpPr>
          <p:nvPr/>
        </p:nvSpPr>
        <p:spPr>
          <a:xfrm>
            <a:off x="971550" y="50482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0.0</a:t>
            </a:r>
          </a:p>
        </p:txBody>
      </p:sp>
      <p:sp>
        <p:nvSpPr>
          <p:cNvPr id="9" name="矩形 8">
            <a:extLst>
              <a:ext uri="{FF2B5EF4-FFF2-40B4-BE49-F238E27FC236}">
                <a16:creationId xmlns:a16="http://schemas.microsoft.com/office/drawing/2014/main" id="{16080FA6-D212-4AA4-B9C5-7E0FCAF8D3C9}"/>
              </a:ext>
            </a:extLst>
          </p:cNvPr>
          <p:cNvSpPr>
            <a:spLocks noGrp="1"/>
          </p:cNvSpPr>
          <p:nvPr/>
        </p:nvSpPr>
        <p:spPr>
          <a:xfrm>
            <a:off x="2476500" y="50482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0.2</a:t>
            </a:r>
          </a:p>
        </p:txBody>
      </p:sp>
      <p:sp>
        <p:nvSpPr>
          <p:cNvPr id="10" name="矩形 9">
            <a:extLst>
              <a:ext uri="{FF2B5EF4-FFF2-40B4-BE49-F238E27FC236}">
                <a16:creationId xmlns:a16="http://schemas.microsoft.com/office/drawing/2014/main" id="{82111535-EC1E-4F10-B836-8830708F915B}"/>
              </a:ext>
            </a:extLst>
          </p:cNvPr>
          <p:cNvSpPr>
            <a:spLocks noGrp="1"/>
          </p:cNvSpPr>
          <p:nvPr/>
        </p:nvSpPr>
        <p:spPr>
          <a:xfrm>
            <a:off x="3981450" y="50482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0.4</a:t>
            </a:r>
          </a:p>
        </p:txBody>
      </p:sp>
      <p:sp>
        <p:nvSpPr>
          <p:cNvPr id="11" name="矩形 10">
            <a:extLst>
              <a:ext uri="{FF2B5EF4-FFF2-40B4-BE49-F238E27FC236}">
                <a16:creationId xmlns:a16="http://schemas.microsoft.com/office/drawing/2014/main" id="{480CA3FE-148D-4F52-A646-9A675E83BE94}"/>
              </a:ext>
            </a:extLst>
          </p:cNvPr>
          <p:cNvSpPr>
            <a:spLocks noGrp="1"/>
          </p:cNvSpPr>
          <p:nvPr/>
        </p:nvSpPr>
        <p:spPr>
          <a:xfrm>
            <a:off x="5486400" y="50482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0.6</a:t>
            </a:r>
          </a:p>
        </p:txBody>
      </p:sp>
      <p:sp>
        <p:nvSpPr>
          <p:cNvPr id="12" name="矩形 11">
            <a:extLst>
              <a:ext uri="{FF2B5EF4-FFF2-40B4-BE49-F238E27FC236}">
                <a16:creationId xmlns:a16="http://schemas.microsoft.com/office/drawing/2014/main" id="{1546C29F-D910-4910-90D1-F285B9BEAF68}"/>
              </a:ext>
            </a:extLst>
          </p:cNvPr>
          <p:cNvSpPr>
            <a:spLocks noGrp="1"/>
          </p:cNvSpPr>
          <p:nvPr/>
        </p:nvSpPr>
        <p:spPr>
          <a:xfrm>
            <a:off x="6991350" y="50482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0.8</a:t>
            </a:r>
          </a:p>
        </p:txBody>
      </p:sp>
      <p:sp>
        <p:nvSpPr>
          <p:cNvPr id="13" name="矩形 12">
            <a:extLst>
              <a:ext uri="{FF2B5EF4-FFF2-40B4-BE49-F238E27FC236}">
                <a16:creationId xmlns:a16="http://schemas.microsoft.com/office/drawing/2014/main" id="{6E684BAE-0C13-4848-B537-4E0A9D3044F6}"/>
              </a:ext>
            </a:extLst>
          </p:cNvPr>
          <p:cNvSpPr>
            <a:spLocks noGrp="1"/>
          </p:cNvSpPr>
          <p:nvPr/>
        </p:nvSpPr>
        <p:spPr>
          <a:xfrm>
            <a:off x="8496300" y="50482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4B5563"/>
                </a:solidFill>
                <a:latin typeface="黑体"/>
                <a:ea typeface="黑体"/>
                <a:cs typeface="黑体"/>
              </a:defRPr>
            </a:pPr>
            <a:r>
              <a:rPr>
                <a:latin typeface="Times New Roman"/>
                <a:ea typeface="Times New Roman"/>
                <a:cs typeface="Times New Roman"/>
              </a:rPr>
              <a:t>1.0</a:t>
            </a:r>
          </a:p>
        </p:txBody>
      </p:sp>
      <p:sp>
        <p:nvSpPr>
          <p:cNvPr id="14" name="矩形 13">
            <a:extLst>
              <a:ext uri="{FF2B5EF4-FFF2-40B4-BE49-F238E27FC236}">
                <a16:creationId xmlns:a16="http://schemas.microsoft.com/office/drawing/2014/main" id="{D43635FB-02B4-4D4A-A657-3BE3BCB0DFDB}"/>
              </a:ext>
            </a:extLst>
          </p:cNvPr>
          <p:cNvSpPr>
            <a:spLocks noGrp="1"/>
          </p:cNvSpPr>
          <p:nvPr/>
        </p:nvSpPr>
        <p:spPr>
          <a:xfrm>
            <a:off x="742950" y="4857750"/>
            <a:ext cx="323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4B5563"/>
                </a:solidFill>
                <a:latin typeface="黑体"/>
                <a:ea typeface="黑体"/>
                <a:cs typeface="黑体"/>
              </a:defRPr>
            </a:pPr>
            <a:r>
              <a:rPr>
                <a:latin typeface="Times New Roman"/>
                <a:ea typeface="Times New Roman"/>
                <a:cs typeface="Times New Roman"/>
              </a:rPr>
              <a:t>20</a:t>
            </a:r>
          </a:p>
        </p:txBody>
      </p:sp>
      <p:sp>
        <p:nvSpPr>
          <p:cNvPr id="15" name="矩形 14">
            <a:extLst>
              <a:ext uri="{FF2B5EF4-FFF2-40B4-BE49-F238E27FC236}">
                <a16:creationId xmlns:a16="http://schemas.microsoft.com/office/drawing/2014/main" id="{0C7F752C-A080-499B-B488-4043F0AE6CB7}"/>
              </a:ext>
            </a:extLst>
          </p:cNvPr>
          <p:cNvSpPr>
            <a:spLocks noGrp="1"/>
          </p:cNvSpPr>
          <p:nvPr/>
        </p:nvSpPr>
        <p:spPr>
          <a:xfrm>
            <a:off x="742950" y="4019550"/>
            <a:ext cx="323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4B5563"/>
                </a:solidFill>
                <a:latin typeface="黑体"/>
                <a:ea typeface="黑体"/>
                <a:cs typeface="黑体"/>
              </a:defRPr>
            </a:pPr>
            <a:r>
              <a:rPr>
                <a:latin typeface="Times New Roman"/>
                <a:ea typeface="Times New Roman"/>
                <a:cs typeface="Times New Roman"/>
              </a:rPr>
              <a:t>40</a:t>
            </a:r>
          </a:p>
        </p:txBody>
      </p:sp>
      <p:sp>
        <p:nvSpPr>
          <p:cNvPr id="16" name="矩形 15">
            <a:extLst>
              <a:ext uri="{FF2B5EF4-FFF2-40B4-BE49-F238E27FC236}">
                <a16:creationId xmlns:a16="http://schemas.microsoft.com/office/drawing/2014/main" id="{37D8A07B-AA95-48A5-8866-72C8CA8ECEB3}"/>
              </a:ext>
            </a:extLst>
          </p:cNvPr>
          <p:cNvSpPr>
            <a:spLocks noGrp="1"/>
          </p:cNvSpPr>
          <p:nvPr/>
        </p:nvSpPr>
        <p:spPr>
          <a:xfrm>
            <a:off x="742950" y="3181350"/>
            <a:ext cx="323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4B5563"/>
                </a:solidFill>
                <a:latin typeface="黑体"/>
                <a:ea typeface="黑体"/>
                <a:cs typeface="黑体"/>
              </a:defRPr>
            </a:pPr>
            <a:r>
              <a:rPr>
                <a:latin typeface="Times New Roman"/>
                <a:ea typeface="Times New Roman"/>
                <a:cs typeface="Times New Roman"/>
              </a:rPr>
              <a:t>60</a:t>
            </a:r>
          </a:p>
        </p:txBody>
      </p:sp>
      <p:sp>
        <p:nvSpPr>
          <p:cNvPr id="17" name="矩形 16">
            <a:extLst>
              <a:ext uri="{FF2B5EF4-FFF2-40B4-BE49-F238E27FC236}">
                <a16:creationId xmlns:a16="http://schemas.microsoft.com/office/drawing/2014/main" id="{B8E9FFAD-D571-4FC0-A18E-901752CFDB38}"/>
              </a:ext>
            </a:extLst>
          </p:cNvPr>
          <p:cNvSpPr>
            <a:spLocks noGrp="1"/>
          </p:cNvSpPr>
          <p:nvPr/>
        </p:nvSpPr>
        <p:spPr>
          <a:xfrm>
            <a:off x="742950" y="2343150"/>
            <a:ext cx="323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4B5563"/>
                </a:solidFill>
                <a:latin typeface="黑体"/>
                <a:ea typeface="黑体"/>
                <a:cs typeface="黑体"/>
              </a:defRPr>
            </a:pPr>
            <a:r>
              <a:rPr>
                <a:latin typeface="Times New Roman"/>
                <a:ea typeface="Times New Roman"/>
                <a:cs typeface="Times New Roman"/>
              </a:rPr>
              <a:t>80</a:t>
            </a:r>
          </a:p>
        </p:txBody>
      </p:sp>
      <p:sp>
        <p:nvSpPr>
          <p:cNvPr id="18" name="椭圆 17">
            <a:extLst>
              <a:ext uri="{FF2B5EF4-FFF2-40B4-BE49-F238E27FC236}">
                <a16:creationId xmlns:a16="http://schemas.microsoft.com/office/drawing/2014/main" id="{EBE2389F-200C-4835-8D12-0A8E785B9309}"/>
              </a:ext>
            </a:extLst>
          </p:cNvPr>
          <p:cNvSpPr>
            <a:spLocks noGrp="1"/>
          </p:cNvSpPr>
          <p:nvPr/>
        </p:nvSpPr>
        <p:spPr>
          <a:xfrm>
            <a:off x="1847850" y="4551045"/>
            <a:ext cx="133350" cy="133350"/>
          </a:xfrm>
          <a:prstGeom prst="ellipse">
            <a:avLst/>
          </a:prstGeom>
          <a:solidFill>
            <a:srgbClr val="B64040"/>
          </a:solidFill>
          <a:ln w="9525">
            <a:solidFill>
              <a:srgbClr val="FFFFFF"/>
            </a:solidFill>
            <a:prstDash val="solid"/>
          </a:ln>
        </p:spPr>
        <p:txBody>
          <a:bodyPr/>
          <a:lstStyle/>
          <a:p>
            <a:endParaRPr lang="zh-CN" altLang="en-US"/>
          </a:p>
        </p:txBody>
      </p:sp>
      <p:sp>
        <p:nvSpPr>
          <p:cNvPr id="19" name="椭圆 18">
            <a:extLst>
              <a:ext uri="{FF2B5EF4-FFF2-40B4-BE49-F238E27FC236}">
                <a16:creationId xmlns:a16="http://schemas.microsoft.com/office/drawing/2014/main" id="{3DD688C1-C4A6-4E8A-94D6-E4AB5B05DF20}"/>
              </a:ext>
            </a:extLst>
          </p:cNvPr>
          <p:cNvSpPr>
            <a:spLocks noGrp="1"/>
          </p:cNvSpPr>
          <p:nvPr/>
        </p:nvSpPr>
        <p:spPr>
          <a:xfrm>
            <a:off x="2299335" y="4257675"/>
            <a:ext cx="133350" cy="133350"/>
          </a:xfrm>
          <a:prstGeom prst="ellipse">
            <a:avLst/>
          </a:prstGeom>
          <a:solidFill>
            <a:srgbClr val="B64040"/>
          </a:solidFill>
          <a:ln w="9525">
            <a:solidFill>
              <a:srgbClr val="FFFFFF"/>
            </a:solidFill>
            <a:prstDash val="solid"/>
          </a:ln>
        </p:spPr>
        <p:txBody>
          <a:bodyPr/>
          <a:lstStyle/>
          <a:p>
            <a:endParaRPr lang="zh-CN" altLang="en-US"/>
          </a:p>
        </p:txBody>
      </p:sp>
      <p:sp>
        <p:nvSpPr>
          <p:cNvPr id="20" name="椭圆 19">
            <a:extLst>
              <a:ext uri="{FF2B5EF4-FFF2-40B4-BE49-F238E27FC236}">
                <a16:creationId xmlns:a16="http://schemas.microsoft.com/office/drawing/2014/main" id="{ECCA6E53-D358-4519-BFCE-6F024C357A45}"/>
              </a:ext>
            </a:extLst>
          </p:cNvPr>
          <p:cNvSpPr>
            <a:spLocks noGrp="1"/>
          </p:cNvSpPr>
          <p:nvPr/>
        </p:nvSpPr>
        <p:spPr>
          <a:xfrm>
            <a:off x="2750820" y="4006215"/>
            <a:ext cx="133350" cy="133350"/>
          </a:xfrm>
          <a:prstGeom prst="ellipse">
            <a:avLst/>
          </a:prstGeom>
          <a:solidFill>
            <a:srgbClr val="B64040"/>
          </a:solidFill>
          <a:ln w="9525">
            <a:solidFill>
              <a:srgbClr val="FFFFFF"/>
            </a:solidFill>
            <a:prstDash val="solid"/>
          </a:ln>
        </p:spPr>
        <p:txBody>
          <a:bodyPr/>
          <a:lstStyle/>
          <a:p>
            <a:endParaRPr lang="zh-CN" altLang="en-US"/>
          </a:p>
        </p:txBody>
      </p:sp>
      <p:sp>
        <p:nvSpPr>
          <p:cNvPr id="21" name="椭圆 20">
            <a:extLst>
              <a:ext uri="{FF2B5EF4-FFF2-40B4-BE49-F238E27FC236}">
                <a16:creationId xmlns:a16="http://schemas.microsoft.com/office/drawing/2014/main" id="{A2EFB36B-62D2-41A5-878C-6C858B9C9635}"/>
              </a:ext>
            </a:extLst>
          </p:cNvPr>
          <p:cNvSpPr>
            <a:spLocks noGrp="1"/>
          </p:cNvSpPr>
          <p:nvPr/>
        </p:nvSpPr>
        <p:spPr>
          <a:xfrm>
            <a:off x="3352800" y="379666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2" name="椭圆 21">
            <a:extLst>
              <a:ext uri="{FF2B5EF4-FFF2-40B4-BE49-F238E27FC236}">
                <a16:creationId xmlns:a16="http://schemas.microsoft.com/office/drawing/2014/main" id="{146A273A-C3E7-43E2-A2A1-C9F1C821A6B3}"/>
              </a:ext>
            </a:extLst>
          </p:cNvPr>
          <p:cNvSpPr>
            <a:spLocks noGrp="1"/>
          </p:cNvSpPr>
          <p:nvPr/>
        </p:nvSpPr>
        <p:spPr>
          <a:xfrm>
            <a:off x="3804285" y="3545205"/>
            <a:ext cx="133350" cy="133350"/>
          </a:xfrm>
          <a:prstGeom prst="ellipse">
            <a:avLst/>
          </a:prstGeom>
          <a:solidFill>
            <a:srgbClr val="B64040"/>
          </a:solidFill>
          <a:ln w="9525">
            <a:solidFill>
              <a:srgbClr val="FFFFFF"/>
            </a:solidFill>
            <a:prstDash val="solid"/>
          </a:ln>
        </p:spPr>
        <p:txBody>
          <a:bodyPr/>
          <a:lstStyle/>
          <a:p>
            <a:endParaRPr lang="zh-CN" altLang="en-US"/>
          </a:p>
        </p:txBody>
      </p:sp>
      <p:sp>
        <p:nvSpPr>
          <p:cNvPr id="23" name="椭圆 22">
            <a:extLst>
              <a:ext uri="{FF2B5EF4-FFF2-40B4-BE49-F238E27FC236}">
                <a16:creationId xmlns:a16="http://schemas.microsoft.com/office/drawing/2014/main" id="{D0F8D4D1-B136-4B11-8723-E6AD099373D2}"/>
              </a:ext>
            </a:extLst>
          </p:cNvPr>
          <p:cNvSpPr>
            <a:spLocks noGrp="1"/>
          </p:cNvSpPr>
          <p:nvPr/>
        </p:nvSpPr>
        <p:spPr>
          <a:xfrm>
            <a:off x="4406265" y="329374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4" name="椭圆 23">
            <a:extLst>
              <a:ext uri="{FF2B5EF4-FFF2-40B4-BE49-F238E27FC236}">
                <a16:creationId xmlns:a16="http://schemas.microsoft.com/office/drawing/2014/main" id="{B21FCCC0-0D8B-4CAC-8CC5-681FC5A950EB}"/>
              </a:ext>
            </a:extLst>
          </p:cNvPr>
          <p:cNvSpPr>
            <a:spLocks noGrp="1"/>
          </p:cNvSpPr>
          <p:nvPr/>
        </p:nvSpPr>
        <p:spPr>
          <a:xfrm>
            <a:off x="5008245" y="316801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5" name="椭圆 24">
            <a:extLst>
              <a:ext uri="{FF2B5EF4-FFF2-40B4-BE49-F238E27FC236}">
                <a16:creationId xmlns:a16="http://schemas.microsoft.com/office/drawing/2014/main" id="{D0E7F940-77A5-4F7E-89E5-049CB05FBE5E}"/>
              </a:ext>
            </a:extLst>
          </p:cNvPr>
          <p:cNvSpPr>
            <a:spLocks noGrp="1"/>
          </p:cNvSpPr>
          <p:nvPr/>
        </p:nvSpPr>
        <p:spPr>
          <a:xfrm>
            <a:off x="5610225" y="287464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6" name="椭圆 25">
            <a:extLst>
              <a:ext uri="{FF2B5EF4-FFF2-40B4-BE49-F238E27FC236}">
                <a16:creationId xmlns:a16="http://schemas.microsoft.com/office/drawing/2014/main" id="{F93E34B3-CFA1-4DFB-B3E8-3F76111BA910}"/>
              </a:ext>
            </a:extLst>
          </p:cNvPr>
          <p:cNvSpPr>
            <a:spLocks noGrp="1"/>
          </p:cNvSpPr>
          <p:nvPr/>
        </p:nvSpPr>
        <p:spPr>
          <a:xfrm>
            <a:off x="6212205" y="266509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7" name="椭圆 26">
            <a:extLst>
              <a:ext uri="{FF2B5EF4-FFF2-40B4-BE49-F238E27FC236}">
                <a16:creationId xmlns:a16="http://schemas.microsoft.com/office/drawing/2014/main" id="{CE46C904-EEA2-4FBF-955C-722E11B2BAC7}"/>
              </a:ext>
            </a:extLst>
          </p:cNvPr>
          <p:cNvSpPr>
            <a:spLocks noGrp="1"/>
          </p:cNvSpPr>
          <p:nvPr/>
        </p:nvSpPr>
        <p:spPr>
          <a:xfrm>
            <a:off x="6738938" y="245554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8" name="椭圆 27">
            <a:extLst>
              <a:ext uri="{FF2B5EF4-FFF2-40B4-BE49-F238E27FC236}">
                <a16:creationId xmlns:a16="http://schemas.microsoft.com/office/drawing/2014/main" id="{41415080-8751-45B9-AF49-1BDAD5A8E49A}"/>
              </a:ext>
            </a:extLst>
          </p:cNvPr>
          <p:cNvSpPr>
            <a:spLocks noGrp="1"/>
          </p:cNvSpPr>
          <p:nvPr/>
        </p:nvSpPr>
        <p:spPr>
          <a:xfrm>
            <a:off x="7340917" y="220408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29" name="椭圆 28">
            <a:extLst>
              <a:ext uri="{FF2B5EF4-FFF2-40B4-BE49-F238E27FC236}">
                <a16:creationId xmlns:a16="http://schemas.microsoft.com/office/drawing/2014/main" id="{570F850A-CDC2-47DF-A359-96041E5180F7}"/>
              </a:ext>
            </a:extLst>
          </p:cNvPr>
          <p:cNvSpPr>
            <a:spLocks noGrp="1"/>
          </p:cNvSpPr>
          <p:nvPr/>
        </p:nvSpPr>
        <p:spPr>
          <a:xfrm>
            <a:off x="7942898" y="2036445"/>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30" name="椭圆 29">
            <a:extLst>
              <a:ext uri="{FF2B5EF4-FFF2-40B4-BE49-F238E27FC236}">
                <a16:creationId xmlns:a16="http://schemas.microsoft.com/office/drawing/2014/main" id="{0E1F2B1C-3EC5-4DB4-9D98-5DAD14F12663}"/>
              </a:ext>
            </a:extLst>
          </p:cNvPr>
          <p:cNvSpPr>
            <a:spLocks noGrp="1"/>
          </p:cNvSpPr>
          <p:nvPr/>
        </p:nvSpPr>
        <p:spPr>
          <a:xfrm>
            <a:off x="7717155" y="3880485"/>
            <a:ext cx="133350" cy="133350"/>
          </a:xfrm>
          <a:prstGeom prst="ellipse">
            <a:avLst/>
          </a:prstGeom>
          <a:solidFill>
            <a:srgbClr val="B64040"/>
          </a:solidFill>
          <a:ln w="9525">
            <a:solidFill>
              <a:srgbClr val="FFFFFF"/>
            </a:solidFill>
            <a:prstDash val="solid"/>
          </a:ln>
        </p:spPr>
        <p:txBody>
          <a:bodyPr/>
          <a:lstStyle/>
          <a:p>
            <a:endParaRPr lang="zh-CN" altLang="en-US"/>
          </a:p>
        </p:txBody>
      </p:sp>
      <p:sp>
        <p:nvSpPr>
          <p:cNvPr id="31" name="椭圆 30">
            <a:extLst>
              <a:ext uri="{FF2B5EF4-FFF2-40B4-BE49-F238E27FC236}">
                <a16:creationId xmlns:a16="http://schemas.microsoft.com/office/drawing/2014/main" id="{EF0BA7E5-D2C1-4B63-82A8-A6888EFF456D}"/>
              </a:ext>
            </a:extLst>
          </p:cNvPr>
          <p:cNvSpPr>
            <a:spLocks noGrp="1"/>
          </p:cNvSpPr>
          <p:nvPr/>
        </p:nvSpPr>
        <p:spPr>
          <a:xfrm>
            <a:off x="2095500" y="4533900"/>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32" name="椭圆 31">
            <a:extLst>
              <a:ext uri="{FF2B5EF4-FFF2-40B4-BE49-F238E27FC236}">
                <a16:creationId xmlns:a16="http://schemas.microsoft.com/office/drawing/2014/main" id="{D7F66DAE-2C54-4A17-A75A-35CDAABCFDDA}"/>
              </a:ext>
            </a:extLst>
          </p:cNvPr>
          <p:cNvSpPr>
            <a:spLocks noGrp="1"/>
          </p:cNvSpPr>
          <p:nvPr/>
        </p:nvSpPr>
        <p:spPr>
          <a:xfrm>
            <a:off x="2182346" y="4503084"/>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33" name="椭圆 32">
            <a:extLst>
              <a:ext uri="{FF2B5EF4-FFF2-40B4-BE49-F238E27FC236}">
                <a16:creationId xmlns:a16="http://schemas.microsoft.com/office/drawing/2014/main" id="{4B43BF9F-6458-4CC6-BCFF-2A839D3B6916}"/>
              </a:ext>
            </a:extLst>
          </p:cNvPr>
          <p:cNvSpPr>
            <a:spLocks noGrp="1"/>
          </p:cNvSpPr>
          <p:nvPr/>
        </p:nvSpPr>
        <p:spPr>
          <a:xfrm>
            <a:off x="2269191" y="4472268"/>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34" name="椭圆 33">
            <a:extLst>
              <a:ext uri="{FF2B5EF4-FFF2-40B4-BE49-F238E27FC236}">
                <a16:creationId xmlns:a16="http://schemas.microsoft.com/office/drawing/2014/main" id="{7DF97880-FFA9-42D9-9B40-547C01C02A15}"/>
              </a:ext>
            </a:extLst>
          </p:cNvPr>
          <p:cNvSpPr>
            <a:spLocks noGrp="1"/>
          </p:cNvSpPr>
          <p:nvPr/>
        </p:nvSpPr>
        <p:spPr>
          <a:xfrm>
            <a:off x="2356037" y="4441451"/>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35" name="椭圆 34">
            <a:extLst>
              <a:ext uri="{FF2B5EF4-FFF2-40B4-BE49-F238E27FC236}">
                <a16:creationId xmlns:a16="http://schemas.microsoft.com/office/drawing/2014/main" id="{06ADF36E-64B8-4134-9173-228724874D52}"/>
              </a:ext>
            </a:extLst>
          </p:cNvPr>
          <p:cNvSpPr>
            <a:spLocks noGrp="1"/>
          </p:cNvSpPr>
          <p:nvPr/>
        </p:nvSpPr>
        <p:spPr>
          <a:xfrm>
            <a:off x="2442882" y="4410635"/>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36" name="椭圆 35">
            <a:extLst>
              <a:ext uri="{FF2B5EF4-FFF2-40B4-BE49-F238E27FC236}">
                <a16:creationId xmlns:a16="http://schemas.microsoft.com/office/drawing/2014/main" id="{38AFB88B-BFF2-49C8-84DF-C71383F68F1C}"/>
              </a:ext>
            </a:extLst>
          </p:cNvPr>
          <p:cNvSpPr>
            <a:spLocks noGrp="1"/>
          </p:cNvSpPr>
          <p:nvPr/>
        </p:nvSpPr>
        <p:spPr>
          <a:xfrm>
            <a:off x="2529728" y="4379819"/>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37" name="椭圆 36">
            <a:extLst>
              <a:ext uri="{FF2B5EF4-FFF2-40B4-BE49-F238E27FC236}">
                <a16:creationId xmlns:a16="http://schemas.microsoft.com/office/drawing/2014/main" id="{5DD41DB8-A5E4-49DB-AE15-1738E20FFAC3}"/>
              </a:ext>
            </a:extLst>
          </p:cNvPr>
          <p:cNvSpPr>
            <a:spLocks noGrp="1"/>
          </p:cNvSpPr>
          <p:nvPr/>
        </p:nvSpPr>
        <p:spPr>
          <a:xfrm>
            <a:off x="2616574" y="4349003"/>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38" name="椭圆 37">
            <a:extLst>
              <a:ext uri="{FF2B5EF4-FFF2-40B4-BE49-F238E27FC236}">
                <a16:creationId xmlns:a16="http://schemas.microsoft.com/office/drawing/2014/main" id="{A66B89EC-1B88-44AF-954A-01672228332A}"/>
              </a:ext>
            </a:extLst>
          </p:cNvPr>
          <p:cNvSpPr>
            <a:spLocks noGrp="1"/>
          </p:cNvSpPr>
          <p:nvPr/>
        </p:nvSpPr>
        <p:spPr>
          <a:xfrm>
            <a:off x="2703419" y="4318187"/>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39" name="椭圆 38">
            <a:extLst>
              <a:ext uri="{FF2B5EF4-FFF2-40B4-BE49-F238E27FC236}">
                <a16:creationId xmlns:a16="http://schemas.microsoft.com/office/drawing/2014/main" id="{937EF54B-D4E4-42C0-BD92-6EF1F895F159}"/>
              </a:ext>
            </a:extLst>
          </p:cNvPr>
          <p:cNvSpPr>
            <a:spLocks noGrp="1"/>
          </p:cNvSpPr>
          <p:nvPr/>
        </p:nvSpPr>
        <p:spPr>
          <a:xfrm>
            <a:off x="2790265" y="4287371"/>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0" name="椭圆 39">
            <a:extLst>
              <a:ext uri="{FF2B5EF4-FFF2-40B4-BE49-F238E27FC236}">
                <a16:creationId xmlns:a16="http://schemas.microsoft.com/office/drawing/2014/main" id="{829CCE51-FB25-4EDB-8995-CBAD232F6170}"/>
              </a:ext>
            </a:extLst>
          </p:cNvPr>
          <p:cNvSpPr>
            <a:spLocks noGrp="1"/>
          </p:cNvSpPr>
          <p:nvPr/>
        </p:nvSpPr>
        <p:spPr>
          <a:xfrm>
            <a:off x="2877110" y="4256554"/>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1" name="椭圆 40">
            <a:extLst>
              <a:ext uri="{FF2B5EF4-FFF2-40B4-BE49-F238E27FC236}">
                <a16:creationId xmlns:a16="http://schemas.microsoft.com/office/drawing/2014/main" id="{109556D3-80B4-4126-A795-1B2D9693AC01}"/>
              </a:ext>
            </a:extLst>
          </p:cNvPr>
          <p:cNvSpPr>
            <a:spLocks noGrp="1"/>
          </p:cNvSpPr>
          <p:nvPr/>
        </p:nvSpPr>
        <p:spPr>
          <a:xfrm>
            <a:off x="2963956" y="4225738"/>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7B25BB46-833F-48C1-95F3-03C68D07C59A}"/>
              </a:ext>
            </a:extLst>
          </p:cNvPr>
          <p:cNvSpPr>
            <a:spLocks noGrp="1"/>
          </p:cNvSpPr>
          <p:nvPr/>
        </p:nvSpPr>
        <p:spPr>
          <a:xfrm>
            <a:off x="3050801" y="4194922"/>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3" name="椭圆 42">
            <a:extLst>
              <a:ext uri="{FF2B5EF4-FFF2-40B4-BE49-F238E27FC236}">
                <a16:creationId xmlns:a16="http://schemas.microsoft.com/office/drawing/2014/main" id="{F308B441-462F-46B1-8472-6EF232AB6F16}"/>
              </a:ext>
            </a:extLst>
          </p:cNvPr>
          <p:cNvSpPr>
            <a:spLocks noGrp="1"/>
          </p:cNvSpPr>
          <p:nvPr/>
        </p:nvSpPr>
        <p:spPr>
          <a:xfrm>
            <a:off x="3137647" y="4164106"/>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4" name="椭圆 43">
            <a:extLst>
              <a:ext uri="{FF2B5EF4-FFF2-40B4-BE49-F238E27FC236}">
                <a16:creationId xmlns:a16="http://schemas.microsoft.com/office/drawing/2014/main" id="{64A118FC-755A-4D09-88CD-241EC387AD1A}"/>
              </a:ext>
            </a:extLst>
          </p:cNvPr>
          <p:cNvSpPr>
            <a:spLocks noGrp="1"/>
          </p:cNvSpPr>
          <p:nvPr/>
        </p:nvSpPr>
        <p:spPr>
          <a:xfrm>
            <a:off x="3224493" y="4133290"/>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5" name="椭圆 44">
            <a:extLst>
              <a:ext uri="{FF2B5EF4-FFF2-40B4-BE49-F238E27FC236}">
                <a16:creationId xmlns:a16="http://schemas.microsoft.com/office/drawing/2014/main" id="{3BBA4E22-9CDF-40B6-A88D-FB2639BFA3B5}"/>
              </a:ext>
            </a:extLst>
          </p:cNvPr>
          <p:cNvSpPr>
            <a:spLocks noGrp="1"/>
          </p:cNvSpPr>
          <p:nvPr/>
        </p:nvSpPr>
        <p:spPr>
          <a:xfrm>
            <a:off x="3311338" y="4102474"/>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6" name="椭圆 45">
            <a:extLst>
              <a:ext uri="{FF2B5EF4-FFF2-40B4-BE49-F238E27FC236}">
                <a16:creationId xmlns:a16="http://schemas.microsoft.com/office/drawing/2014/main" id="{57B0A0BC-C369-4DDD-BFB7-4D3BB8D52ACD}"/>
              </a:ext>
            </a:extLst>
          </p:cNvPr>
          <p:cNvSpPr>
            <a:spLocks noGrp="1"/>
          </p:cNvSpPr>
          <p:nvPr/>
        </p:nvSpPr>
        <p:spPr>
          <a:xfrm>
            <a:off x="3398184" y="4071657"/>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7" name="椭圆 46">
            <a:extLst>
              <a:ext uri="{FF2B5EF4-FFF2-40B4-BE49-F238E27FC236}">
                <a16:creationId xmlns:a16="http://schemas.microsoft.com/office/drawing/2014/main" id="{666EB6FC-F71F-4673-A690-F567846EDC38}"/>
              </a:ext>
            </a:extLst>
          </p:cNvPr>
          <p:cNvSpPr>
            <a:spLocks noGrp="1"/>
          </p:cNvSpPr>
          <p:nvPr/>
        </p:nvSpPr>
        <p:spPr>
          <a:xfrm>
            <a:off x="3485029" y="4040841"/>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8" name="椭圆 47">
            <a:extLst>
              <a:ext uri="{FF2B5EF4-FFF2-40B4-BE49-F238E27FC236}">
                <a16:creationId xmlns:a16="http://schemas.microsoft.com/office/drawing/2014/main" id="{0D13AD2E-02E8-462C-BEAE-B9981CC7E8CD}"/>
              </a:ext>
            </a:extLst>
          </p:cNvPr>
          <p:cNvSpPr>
            <a:spLocks noGrp="1"/>
          </p:cNvSpPr>
          <p:nvPr/>
        </p:nvSpPr>
        <p:spPr>
          <a:xfrm>
            <a:off x="3571875" y="4010025"/>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49" name="椭圆 48">
            <a:extLst>
              <a:ext uri="{FF2B5EF4-FFF2-40B4-BE49-F238E27FC236}">
                <a16:creationId xmlns:a16="http://schemas.microsoft.com/office/drawing/2014/main" id="{967F5BC0-06DD-4302-A2CB-8CC17B7BC889}"/>
              </a:ext>
            </a:extLst>
          </p:cNvPr>
          <p:cNvSpPr>
            <a:spLocks noGrp="1"/>
          </p:cNvSpPr>
          <p:nvPr/>
        </p:nvSpPr>
        <p:spPr>
          <a:xfrm>
            <a:off x="3658721" y="3979209"/>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0" name="椭圆 49">
            <a:extLst>
              <a:ext uri="{FF2B5EF4-FFF2-40B4-BE49-F238E27FC236}">
                <a16:creationId xmlns:a16="http://schemas.microsoft.com/office/drawing/2014/main" id="{203310AC-718B-4091-8B9B-2EB97F2EB5C6}"/>
              </a:ext>
            </a:extLst>
          </p:cNvPr>
          <p:cNvSpPr>
            <a:spLocks noGrp="1"/>
          </p:cNvSpPr>
          <p:nvPr/>
        </p:nvSpPr>
        <p:spPr>
          <a:xfrm>
            <a:off x="3745566" y="3948393"/>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1" name="椭圆 50">
            <a:extLst>
              <a:ext uri="{FF2B5EF4-FFF2-40B4-BE49-F238E27FC236}">
                <a16:creationId xmlns:a16="http://schemas.microsoft.com/office/drawing/2014/main" id="{AA064E2C-B96C-4D64-A98B-63ADF157F190}"/>
              </a:ext>
            </a:extLst>
          </p:cNvPr>
          <p:cNvSpPr>
            <a:spLocks noGrp="1"/>
          </p:cNvSpPr>
          <p:nvPr/>
        </p:nvSpPr>
        <p:spPr>
          <a:xfrm>
            <a:off x="3832412" y="3917576"/>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2" name="椭圆 51">
            <a:extLst>
              <a:ext uri="{FF2B5EF4-FFF2-40B4-BE49-F238E27FC236}">
                <a16:creationId xmlns:a16="http://schemas.microsoft.com/office/drawing/2014/main" id="{F6E9AE8A-1E8A-4BF0-B508-5E2AF5D1E49F}"/>
              </a:ext>
            </a:extLst>
          </p:cNvPr>
          <p:cNvSpPr>
            <a:spLocks noGrp="1"/>
          </p:cNvSpPr>
          <p:nvPr/>
        </p:nvSpPr>
        <p:spPr>
          <a:xfrm>
            <a:off x="3919257" y="3886760"/>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3" name="椭圆 52">
            <a:extLst>
              <a:ext uri="{FF2B5EF4-FFF2-40B4-BE49-F238E27FC236}">
                <a16:creationId xmlns:a16="http://schemas.microsoft.com/office/drawing/2014/main" id="{44C35F24-CF15-4CCE-96D5-864428823572}"/>
              </a:ext>
            </a:extLst>
          </p:cNvPr>
          <p:cNvSpPr>
            <a:spLocks noGrp="1"/>
          </p:cNvSpPr>
          <p:nvPr/>
        </p:nvSpPr>
        <p:spPr>
          <a:xfrm>
            <a:off x="4006103" y="3855944"/>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4" name="椭圆 53">
            <a:extLst>
              <a:ext uri="{FF2B5EF4-FFF2-40B4-BE49-F238E27FC236}">
                <a16:creationId xmlns:a16="http://schemas.microsoft.com/office/drawing/2014/main" id="{6A39F996-5F5E-4379-B507-1FC14A81B318}"/>
              </a:ext>
            </a:extLst>
          </p:cNvPr>
          <p:cNvSpPr>
            <a:spLocks noGrp="1"/>
          </p:cNvSpPr>
          <p:nvPr/>
        </p:nvSpPr>
        <p:spPr>
          <a:xfrm>
            <a:off x="4092949" y="3825128"/>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5" name="椭圆 54">
            <a:extLst>
              <a:ext uri="{FF2B5EF4-FFF2-40B4-BE49-F238E27FC236}">
                <a16:creationId xmlns:a16="http://schemas.microsoft.com/office/drawing/2014/main" id="{99AC391D-0736-4FA9-B5E1-EF8A9304AF50}"/>
              </a:ext>
            </a:extLst>
          </p:cNvPr>
          <p:cNvSpPr>
            <a:spLocks noGrp="1"/>
          </p:cNvSpPr>
          <p:nvPr/>
        </p:nvSpPr>
        <p:spPr>
          <a:xfrm>
            <a:off x="4179794" y="3794312"/>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6" name="椭圆 55">
            <a:extLst>
              <a:ext uri="{FF2B5EF4-FFF2-40B4-BE49-F238E27FC236}">
                <a16:creationId xmlns:a16="http://schemas.microsoft.com/office/drawing/2014/main" id="{926D4A2E-0148-410F-9645-1ACBC013152B}"/>
              </a:ext>
            </a:extLst>
          </p:cNvPr>
          <p:cNvSpPr>
            <a:spLocks noGrp="1"/>
          </p:cNvSpPr>
          <p:nvPr/>
        </p:nvSpPr>
        <p:spPr>
          <a:xfrm>
            <a:off x="4266640" y="3763496"/>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7" name="椭圆 56">
            <a:extLst>
              <a:ext uri="{FF2B5EF4-FFF2-40B4-BE49-F238E27FC236}">
                <a16:creationId xmlns:a16="http://schemas.microsoft.com/office/drawing/2014/main" id="{53CDCF8D-04EC-420F-9E16-2070E31F9CA6}"/>
              </a:ext>
            </a:extLst>
          </p:cNvPr>
          <p:cNvSpPr>
            <a:spLocks noGrp="1"/>
          </p:cNvSpPr>
          <p:nvPr/>
        </p:nvSpPr>
        <p:spPr>
          <a:xfrm>
            <a:off x="4353485" y="3732679"/>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8" name="椭圆 57">
            <a:extLst>
              <a:ext uri="{FF2B5EF4-FFF2-40B4-BE49-F238E27FC236}">
                <a16:creationId xmlns:a16="http://schemas.microsoft.com/office/drawing/2014/main" id="{A354473B-4D7D-4E96-B4E8-327BD0286E32}"/>
              </a:ext>
            </a:extLst>
          </p:cNvPr>
          <p:cNvSpPr>
            <a:spLocks noGrp="1"/>
          </p:cNvSpPr>
          <p:nvPr/>
        </p:nvSpPr>
        <p:spPr>
          <a:xfrm>
            <a:off x="4440331" y="3701863"/>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59" name="椭圆 58">
            <a:extLst>
              <a:ext uri="{FF2B5EF4-FFF2-40B4-BE49-F238E27FC236}">
                <a16:creationId xmlns:a16="http://schemas.microsoft.com/office/drawing/2014/main" id="{6FCDB108-BA52-4D14-B127-FE4BA89FA0B0}"/>
              </a:ext>
            </a:extLst>
          </p:cNvPr>
          <p:cNvSpPr>
            <a:spLocks noGrp="1"/>
          </p:cNvSpPr>
          <p:nvPr/>
        </p:nvSpPr>
        <p:spPr>
          <a:xfrm>
            <a:off x="4527176" y="3671047"/>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0" name="椭圆 59">
            <a:extLst>
              <a:ext uri="{FF2B5EF4-FFF2-40B4-BE49-F238E27FC236}">
                <a16:creationId xmlns:a16="http://schemas.microsoft.com/office/drawing/2014/main" id="{3A28134C-73D4-499B-8A38-C66D928C3759}"/>
              </a:ext>
            </a:extLst>
          </p:cNvPr>
          <p:cNvSpPr>
            <a:spLocks noGrp="1"/>
          </p:cNvSpPr>
          <p:nvPr/>
        </p:nvSpPr>
        <p:spPr>
          <a:xfrm>
            <a:off x="4614022" y="3640231"/>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1" name="椭圆 60">
            <a:extLst>
              <a:ext uri="{FF2B5EF4-FFF2-40B4-BE49-F238E27FC236}">
                <a16:creationId xmlns:a16="http://schemas.microsoft.com/office/drawing/2014/main" id="{21E3E34F-386A-41F3-A3D1-F1A14C7A82F1}"/>
              </a:ext>
            </a:extLst>
          </p:cNvPr>
          <p:cNvSpPr>
            <a:spLocks noGrp="1"/>
          </p:cNvSpPr>
          <p:nvPr/>
        </p:nvSpPr>
        <p:spPr>
          <a:xfrm>
            <a:off x="4700868" y="3609415"/>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2" name="椭圆 61">
            <a:extLst>
              <a:ext uri="{FF2B5EF4-FFF2-40B4-BE49-F238E27FC236}">
                <a16:creationId xmlns:a16="http://schemas.microsoft.com/office/drawing/2014/main" id="{66E58BF7-FFBA-4636-8918-CB59436900F0}"/>
              </a:ext>
            </a:extLst>
          </p:cNvPr>
          <p:cNvSpPr>
            <a:spLocks noGrp="1"/>
          </p:cNvSpPr>
          <p:nvPr/>
        </p:nvSpPr>
        <p:spPr>
          <a:xfrm>
            <a:off x="4787713" y="3578599"/>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3" name="椭圆 62">
            <a:extLst>
              <a:ext uri="{FF2B5EF4-FFF2-40B4-BE49-F238E27FC236}">
                <a16:creationId xmlns:a16="http://schemas.microsoft.com/office/drawing/2014/main" id="{49E4CD40-5896-4C6C-833B-84CAAFBAC01B}"/>
              </a:ext>
            </a:extLst>
          </p:cNvPr>
          <p:cNvSpPr>
            <a:spLocks noGrp="1"/>
          </p:cNvSpPr>
          <p:nvPr/>
        </p:nvSpPr>
        <p:spPr>
          <a:xfrm>
            <a:off x="4874559" y="3547782"/>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4" name="椭圆 63">
            <a:extLst>
              <a:ext uri="{FF2B5EF4-FFF2-40B4-BE49-F238E27FC236}">
                <a16:creationId xmlns:a16="http://schemas.microsoft.com/office/drawing/2014/main" id="{E4F7857D-F026-4877-9A5C-9F8AB5202B26}"/>
              </a:ext>
            </a:extLst>
          </p:cNvPr>
          <p:cNvSpPr>
            <a:spLocks noGrp="1"/>
          </p:cNvSpPr>
          <p:nvPr/>
        </p:nvSpPr>
        <p:spPr>
          <a:xfrm>
            <a:off x="4961404" y="3516966"/>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5" name="椭圆 64">
            <a:extLst>
              <a:ext uri="{FF2B5EF4-FFF2-40B4-BE49-F238E27FC236}">
                <a16:creationId xmlns:a16="http://schemas.microsoft.com/office/drawing/2014/main" id="{314FD02B-5442-4E00-9C7F-D30B76B77EB8}"/>
              </a:ext>
            </a:extLst>
          </p:cNvPr>
          <p:cNvSpPr>
            <a:spLocks noGrp="1"/>
          </p:cNvSpPr>
          <p:nvPr/>
        </p:nvSpPr>
        <p:spPr>
          <a:xfrm>
            <a:off x="5048250" y="3486150"/>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6" name="椭圆 65">
            <a:extLst>
              <a:ext uri="{FF2B5EF4-FFF2-40B4-BE49-F238E27FC236}">
                <a16:creationId xmlns:a16="http://schemas.microsoft.com/office/drawing/2014/main" id="{1150F10E-6E9B-4BD8-B500-4B79114AFBAB}"/>
              </a:ext>
            </a:extLst>
          </p:cNvPr>
          <p:cNvSpPr>
            <a:spLocks noGrp="1"/>
          </p:cNvSpPr>
          <p:nvPr/>
        </p:nvSpPr>
        <p:spPr>
          <a:xfrm>
            <a:off x="5135096" y="3455334"/>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7" name="椭圆 66">
            <a:extLst>
              <a:ext uri="{FF2B5EF4-FFF2-40B4-BE49-F238E27FC236}">
                <a16:creationId xmlns:a16="http://schemas.microsoft.com/office/drawing/2014/main" id="{ED5BCB79-9A50-401F-A8D3-8263DE5D25BC}"/>
              </a:ext>
            </a:extLst>
          </p:cNvPr>
          <p:cNvSpPr>
            <a:spLocks noGrp="1"/>
          </p:cNvSpPr>
          <p:nvPr/>
        </p:nvSpPr>
        <p:spPr>
          <a:xfrm>
            <a:off x="5221941" y="3424518"/>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8" name="椭圆 67">
            <a:extLst>
              <a:ext uri="{FF2B5EF4-FFF2-40B4-BE49-F238E27FC236}">
                <a16:creationId xmlns:a16="http://schemas.microsoft.com/office/drawing/2014/main" id="{2BEEA4EE-C839-4FBF-A420-649AAF144A60}"/>
              </a:ext>
            </a:extLst>
          </p:cNvPr>
          <p:cNvSpPr>
            <a:spLocks noGrp="1"/>
          </p:cNvSpPr>
          <p:nvPr/>
        </p:nvSpPr>
        <p:spPr>
          <a:xfrm>
            <a:off x="5308787" y="3393701"/>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69" name="椭圆 68">
            <a:extLst>
              <a:ext uri="{FF2B5EF4-FFF2-40B4-BE49-F238E27FC236}">
                <a16:creationId xmlns:a16="http://schemas.microsoft.com/office/drawing/2014/main" id="{046CE123-2D19-4CDE-8C71-D9F42B919A4A}"/>
              </a:ext>
            </a:extLst>
          </p:cNvPr>
          <p:cNvSpPr>
            <a:spLocks noGrp="1"/>
          </p:cNvSpPr>
          <p:nvPr/>
        </p:nvSpPr>
        <p:spPr>
          <a:xfrm>
            <a:off x="5395632" y="3362885"/>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0" name="椭圆 69">
            <a:extLst>
              <a:ext uri="{FF2B5EF4-FFF2-40B4-BE49-F238E27FC236}">
                <a16:creationId xmlns:a16="http://schemas.microsoft.com/office/drawing/2014/main" id="{38F369C1-1373-457D-A8F8-7CEEFA59257D}"/>
              </a:ext>
            </a:extLst>
          </p:cNvPr>
          <p:cNvSpPr>
            <a:spLocks noGrp="1"/>
          </p:cNvSpPr>
          <p:nvPr/>
        </p:nvSpPr>
        <p:spPr>
          <a:xfrm>
            <a:off x="5482478" y="3332069"/>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1" name="椭圆 70">
            <a:extLst>
              <a:ext uri="{FF2B5EF4-FFF2-40B4-BE49-F238E27FC236}">
                <a16:creationId xmlns:a16="http://schemas.microsoft.com/office/drawing/2014/main" id="{2D525204-5783-4B72-8502-DDF2A48F08B8}"/>
              </a:ext>
            </a:extLst>
          </p:cNvPr>
          <p:cNvSpPr>
            <a:spLocks noGrp="1"/>
          </p:cNvSpPr>
          <p:nvPr/>
        </p:nvSpPr>
        <p:spPr>
          <a:xfrm>
            <a:off x="5569324" y="3301253"/>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2" name="椭圆 71">
            <a:extLst>
              <a:ext uri="{FF2B5EF4-FFF2-40B4-BE49-F238E27FC236}">
                <a16:creationId xmlns:a16="http://schemas.microsoft.com/office/drawing/2014/main" id="{0DC10DF3-CC1F-4C8B-B830-8FA36838C7C1}"/>
              </a:ext>
            </a:extLst>
          </p:cNvPr>
          <p:cNvSpPr>
            <a:spLocks noGrp="1"/>
          </p:cNvSpPr>
          <p:nvPr/>
        </p:nvSpPr>
        <p:spPr>
          <a:xfrm>
            <a:off x="5656169" y="3270437"/>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3" name="椭圆 72">
            <a:extLst>
              <a:ext uri="{FF2B5EF4-FFF2-40B4-BE49-F238E27FC236}">
                <a16:creationId xmlns:a16="http://schemas.microsoft.com/office/drawing/2014/main" id="{EBC1353C-2C1D-44EB-83E2-AD35EA4E5B70}"/>
              </a:ext>
            </a:extLst>
          </p:cNvPr>
          <p:cNvSpPr>
            <a:spLocks noGrp="1"/>
          </p:cNvSpPr>
          <p:nvPr/>
        </p:nvSpPr>
        <p:spPr>
          <a:xfrm>
            <a:off x="5743015" y="3239621"/>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4" name="椭圆 73">
            <a:extLst>
              <a:ext uri="{FF2B5EF4-FFF2-40B4-BE49-F238E27FC236}">
                <a16:creationId xmlns:a16="http://schemas.microsoft.com/office/drawing/2014/main" id="{1B09647A-1799-459A-A9C8-BE7A27CA0B68}"/>
              </a:ext>
            </a:extLst>
          </p:cNvPr>
          <p:cNvSpPr>
            <a:spLocks noGrp="1"/>
          </p:cNvSpPr>
          <p:nvPr/>
        </p:nvSpPr>
        <p:spPr>
          <a:xfrm>
            <a:off x="5829860" y="3208804"/>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5" name="椭圆 74">
            <a:extLst>
              <a:ext uri="{FF2B5EF4-FFF2-40B4-BE49-F238E27FC236}">
                <a16:creationId xmlns:a16="http://schemas.microsoft.com/office/drawing/2014/main" id="{EBF721E2-A4B6-4E83-B00E-DC7F9F5150CF}"/>
              </a:ext>
            </a:extLst>
          </p:cNvPr>
          <p:cNvSpPr>
            <a:spLocks noGrp="1"/>
          </p:cNvSpPr>
          <p:nvPr/>
        </p:nvSpPr>
        <p:spPr>
          <a:xfrm>
            <a:off x="5916706" y="3177988"/>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6" name="椭圆 75">
            <a:extLst>
              <a:ext uri="{FF2B5EF4-FFF2-40B4-BE49-F238E27FC236}">
                <a16:creationId xmlns:a16="http://schemas.microsoft.com/office/drawing/2014/main" id="{467102B8-1F5D-457E-894B-23A11B4BB388}"/>
              </a:ext>
            </a:extLst>
          </p:cNvPr>
          <p:cNvSpPr>
            <a:spLocks noGrp="1"/>
          </p:cNvSpPr>
          <p:nvPr/>
        </p:nvSpPr>
        <p:spPr>
          <a:xfrm>
            <a:off x="6003551" y="3147172"/>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7" name="椭圆 76">
            <a:extLst>
              <a:ext uri="{FF2B5EF4-FFF2-40B4-BE49-F238E27FC236}">
                <a16:creationId xmlns:a16="http://schemas.microsoft.com/office/drawing/2014/main" id="{4340E6CD-4896-48AD-A0E3-A2E5BEE8D98E}"/>
              </a:ext>
            </a:extLst>
          </p:cNvPr>
          <p:cNvSpPr>
            <a:spLocks noGrp="1"/>
          </p:cNvSpPr>
          <p:nvPr/>
        </p:nvSpPr>
        <p:spPr>
          <a:xfrm>
            <a:off x="6090397" y="3116356"/>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8" name="椭圆 77">
            <a:extLst>
              <a:ext uri="{FF2B5EF4-FFF2-40B4-BE49-F238E27FC236}">
                <a16:creationId xmlns:a16="http://schemas.microsoft.com/office/drawing/2014/main" id="{58E339A9-882B-42DE-BCAF-82D93C5A8A20}"/>
              </a:ext>
            </a:extLst>
          </p:cNvPr>
          <p:cNvSpPr>
            <a:spLocks noGrp="1"/>
          </p:cNvSpPr>
          <p:nvPr/>
        </p:nvSpPr>
        <p:spPr>
          <a:xfrm>
            <a:off x="6177243" y="3085540"/>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79" name="椭圆 78">
            <a:extLst>
              <a:ext uri="{FF2B5EF4-FFF2-40B4-BE49-F238E27FC236}">
                <a16:creationId xmlns:a16="http://schemas.microsoft.com/office/drawing/2014/main" id="{BA66BC0E-51C9-4C5A-83B5-259E2523F10E}"/>
              </a:ext>
            </a:extLst>
          </p:cNvPr>
          <p:cNvSpPr>
            <a:spLocks noGrp="1"/>
          </p:cNvSpPr>
          <p:nvPr/>
        </p:nvSpPr>
        <p:spPr>
          <a:xfrm>
            <a:off x="6264088" y="3054724"/>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0" name="椭圆 79">
            <a:extLst>
              <a:ext uri="{FF2B5EF4-FFF2-40B4-BE49-F238E27FC236}">
                <a16:creationId xmlns:a16="http://schemas.microsoft.com/office/drawing/2014/main" id="{F635171D-9177-4097-8609-D4251CB80B2D}"/>
              </a:ext>
            </a:extLst>
          </p:cNvPr>
          <p:cNvSpPr>
            <a:spLocks noGrp="1"/>
          </p:cNvSpPr>
          <p:nvPr/>
        </p:nvSpPr>
        <p:spPr>
          <a:xfrm>
            <a:off x="6350934" y="3023907"/>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1" name="椭圆 80">
            <a:extLst>
              <a:ext uri="{FF2B5EF4-FFF2-40B4-BE49-F238E27FC236}">
                <a16:creationId xmlns:a16="http://schemas.microsoft.com/office/drawing/2014/main" id="{7D49BA1D-B9E8-4044-B937-7AA5C607EDFD}"/>
              </a:ext>
            </a:extLst>
          </p:cNvPr>
          <p:cNvSpPr>
            <a:spLocks noGrp="1"/>
          </p:cNvSpPr>
          <p:nvPr/>
        </p:nvSpPr>
        <p:spPr>
          <a:xfrm>
            <a:off x="6437779" y="2993091"/>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2" name="椭圆 81">
            <a:extLst>
              <a:ext uri="{FF2B5EF4-FFF2-40B4-BE49-F238E27FC236}">
                <a16:creationId xmlns:a16="http://schemas.microsoft.com/office/drawing/2014/main" id="{E42DF6DC-AFC4-450E-A685-2F7DEE4AA340}"/>
              </a:ext>
            </a:extLst>
          </p:cNvPr>
          <p:cNvSpPr>
            <a:spLocks noGrp="1"/>
          </p:cNvSpPr>
          <p:nvPr/>
        </p:nvSpPr>
        <p:spPr>
          <a:xfrm>
            <a:off x="6524625" y="2962275"/>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3" name="椭圆 82">
            <a:extLst>
              <a:ext uri="{FF2B5EF4-FFF2-40B4-BE49-F238E27FC236}">
                <a16:creationId xmlns:a16="http://schemas.microsoft.com/office/drawing/2014/main" id="{A7D2EA85-5162-421D-90B0-2326DEFAB96B}"/>
              </a:ext>
            </a:extLst>
          </p:cNvPr>
          <p:cNvSpPr>
            <a:spLocks noGrp="1"/>
          </p:cNvSpPr>
          <p:nvPr/>
        </p:nvSpPr>
        <p:spPr>
          <a:xfrm>
            <a:off x="6611471" y="2931459"/>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4" name="椭圆 83">
            <a:extLst>
              <a:ext uri="{FF2B5EF4-FFF2-40B4-BE49-F238E27FC236}">
                <a16:creationId xmlns:a16="http://schemas.microsoft.com/office/drawing/2014/main" id="{4E478F45-C48F-40DC-A227-38170F0905DE}"/>
              </a:ext>
            </a:extLst>
          </p:cNvPr>
          <p:cNvSpPr>
            <a:spLocks noGrp="1"/>
          </p:cNvSpPr>
          <p:nvPr/>
        </p:nvSpPr>
        <p:spPr>
          <a:xfrm>
            <a:off x="6698316" y="2900643"/>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5" name="椭圆 84">
            <a:extLst>
              <a:ext uri="{FF2B5EF4-FFF2-40B4-BE49-F238E27FC236}">
                <a16:creationId xmlns:a16="http://schemas.microsoft.com/office/drawing/2014/main" id="{CA8A5FD6-C29D-4880-8A71-0012AD92C415}"/>
              </a:ext>
            </a:extLst>
          </p:cNvPr>
          <p:cNvSpPr>
            <a:spLocks noGrp="1"/>
          </p:cNvSpPr>
          <p:nvPr/>
        </p:nvSpPr>
        <p:spPr>
          <a:xfrm>
            <a:off x="6785162" y="2869826"/>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6" name="椭圆 85">
            <a:extLst>
              <a:ext uri="{FF2B5EF4-FFF2-40B4-BE49-F238E27FC236}">
                <a16:creationId xmlns:a16="http://schemas.microsoft.com/office/drawing/2014/main" id="{A24614F2-8634-467A-BD55-1B467E55602E}"/>
              </a:ext>
            </a:extLst>
          </p:cNvPr>
          <p:cNvSpPr>
            <a:spLocks noGrp="1"/>
          </p:cNvSpPr>
          <p:nvPr/>
        </p:nvSpPr>
        <p:spPr>
          <a:xfrm>
            <a:off x="6872007" y="2839010"/>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7" name="椭圆 86">
            <a:extLst>
              <a:ext uri="{FF2B5EF4-FFF2-40B4-BE49-F238E27FC236}">
                <a16:creationId xmlns:a16="http://schemas.microsoft.com/office/drawing/2014/main" id="{DEA1A8D5-A0FB-48E4-80E4-FA482BD7FE08}"/>
              </a:ext>
            </a:extLst>
          </p:cNvPr>
          <p:cNvSpPr>
            <a:spLocks noGrp="1"/>
          </p:cNvSpPr>
          <p:nvPr/>
        </p:nvSpPr>
        <p:spPr>
          <a:xfrm>
            <a:off x="6958853" y="2808194"/>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8" name="椭圆 87">
            <a:extLst>
              <a:ext uri="{FF2B5EF4-FFF2-40B4-BE49-F238E27FC236}">
                <a16:creationId xmlns:a16="http://schemas.microsoft.com/office/drawing/2014/main" id="{A0D44337-5545-46E3-8B67-E8F756357D63}"/>
              </a:ext>
            </a:extLst>
          </p:cNvPr>
          <p:cNvSpPr>
            <a:spLocks noGrp="1"/>
          </p:cNvSpPr>
          <p:nvPr/>
        </p:nvSpPr>
        <p:spPr>
          <a:xfrm>
            <a:off x="7045699" y="2777378"/>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89" name="椭圆 88">
            <a:extLst>
              <a:ext uri="{FF2B5EF4-FFF2-40B4-BE49-F238E27FC236}">
                <a16:creationId xmlns:a16="http://schemas.microsoft.com/office/drawing/2014/main" id="{AD74C05A-CBE2-4F16-9B4C-85A1B66781DB}"/>
              </a:ext>
            </a:extLst>
          </p:cNvPr>
          <p:cNvSpPr>
            <a:spLocks noGrp="1"/>
          </p:cNvSpPr>
          <p:nvPr/>
        </p:nvSpPr>
        <p:spPr>
          <a:xfrm>
            <a:off x="7132544" y="2746562"/>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0" name="椭圆 89">
            <a:extLst>
              <a:ext uri="{FF2B5EF4-FFF2-40B4-BE49-F238E27FC236}">
                <a16:creationId xmlns:a16="http://schemas.microsoft.com/office/drawing/2014/main" id="{8F60863F-2008-40C2-9605-749F063128F8}"/>
              </a:ext>
            </a:extLst>
          </p:cNvPr>
          <p:cNvSpPr>
            <a:spLocks noGrp="1"/>
          </p:cNvSpPr>
          <p:nvPr/>
        </p:nvSpPr>
        <p:spPr>
          <a:xfrm>
            <a:off x="7219390" y="2715746"/>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1" name="椭圆 90">
            <a:extLst>
              <a:ext uri="{FF2B5EF4-FFF2-40B4-BE49-F238E27FC236}">
                <a16:creationId xmlns:a16="http://schemas.microsoft.com/office/drawing/2014/main" id="{5272A9D1-DC4F-4102-8CC4-032F7CA1DFE6}"/>
              </a:ext>
            </a:extLst>
          </p:cNvPr>
          <p:cNvSpPr>
            <a:spLocks noGrp="1"/>
          </p:cNvSpPr>
          <p:nvPr/>
        </p:nvSpPr>
        <p:spPr>
          <a:xfrm>
            <a:off x="7306235" y="2684929"/>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2" name="椭圆 91">
            <a:extLst>
              <a:ext uri="{FF2B5EF4-FFF2-40B4-BE49-F238E27FC236}">
                <a16:creationId xmlns:a16="http://schemas.microsoft.com/office/drawing/2014/main" id="{4779C80A-E967-41E5-82D8-931653BE144B}"/>
              </a:ext>
            </a:extLst>
          </p:cNvPr>
          <p:cNvSpPr>
            <a:spLocks noGrp="1"/>
          </p:cNvSpPr>
          <p:nvPr/>
        </p:nvSpPr>
        <p:spPr>
          <a:xfrm>
            <a:off x="7393081" y="2654113"/>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3" name="椭圆 92">
            <a:extLst>
              <a:ext uri="{FF2B5EF4-FFF2-40B4-BE49-F238E27FC236}">
                <a16:creationId xmlns:a16="http://schemas.microsoft.com/office/drawing/2014/main" id="{B009B555-6A2C-453F-8C30-32740FE62664}"/>
              </a:ext>
            </a:extLst>
          </p:cNvPr>
          <p:cNvSpPr>
            <a:spLocks noGrp="1"/>
          </p:cNvSpPr>
          <p:nvPr/>
        </p:nvSpPr>
        <p:spPr>
          <a:xfrm>
            <a:off x="7479926" y="2623297"/>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4" name="椭圆 93">
            <a:extLst>
              <a:ext uri="{FF2B5EF4-FFF2-40B4-BE49-F238E27FC236}">
                <a16:creationId xmlns:a16="http://schemas.microsoft.com/office/drawing/2014/main" id="{44940A28-1249-458F-AF7E-87A580C63047}"/>
              </a:ext>
            </a:extLst>
          </p:cNvPr>
          <p:cNvSpPr>
            <a:spLocks noGrp="1"/>
          </p:cNvSpPr>
          <p:nvPr/>
        </p:nvSpPr>
        <p:spPr>
          <a:xfrm>
            <a:off x="7566772" y="2592481"/>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5" name="椭圆 94">
            <a:extLst>
              <a:ext uri="{FF2B5EF4-FFF2-40B4-BE49-F238E27FC236}">
                <a16:creationId xmlns:a16="http://schemas.microsoft.com/office/drawing/2014/main" id="{3A073DE0-6BCF-48F1-B7BF-0C6B118E0C4D}"/>
              </a:ext>
            </a:extLst>
          </p:cNvPr>
          <p:cNvSpPr>
            <a:spLocks noGrp="1"/>
          </p:cNvSpPr>
          <p:nvPr/>
        </p:nvSpPr>
        <p:spPr>
          <a:xfrm>
            <a:off x="7653618" y="2561665"/>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6" name="椭圆 95">
            <a:extLst>
              <a:ext uri="{FF2B5EF4-FFF2-40B4-BE49-F238E27FC236}">
                <a16:creationId xmlns:a16="http://schemas.microsoft.com/office/drawing/2014/main" id="{73655D8B-9EFE-4137-8940-02D8AA2888EA}"/>
              </a:ext>
            </a:extLst>
          </p:cNvPr>
          <p:cNvSpPr>
            <a:spLocks noGrp="1"/>
          </p:cNvSpPr>
          <p:nvPr/>
        </p:nvSpPr>
        <p:spPr>
          <a:xfrm>
            <a:off x="7740463" y="2530849"/>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7" name="椭圆 96">
            <a:extLst>
              <a:ext uri="{FF2B5EF4-FFF2-40B4-BE49-F238E27FC236}">
                <a16:creationId xmlns:a16="http://schemas.microsoft.com/office/drawing/2014/main" id="{BFFFEA07-BA2C-4573-B9DE-8ED26AA97197}"/>
              </a:ext>
            </a:extLst>
          </p:cNvPr>
          <p:cNvSpPr>
            <a:spLocks noGrp="1"/>
          </p:cNvSpPr>
          <p:nvPr/>
        </p:nvSpPr>
        <p:spPr>
          <a:xfrm>
            <a:off x="7827309" y="2500032"/>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8" name="椭圆 97">
            <a:extLst>
              <a:ext uri="{FF2B5EF4-FFF2-40B4-BE49-F238E27FC236}">
                <a16:creationId xmlns:a16="http://schemas.microsoft.com/office/drawing/2014/main" id="{1AD726DF-233F-4106-8096-BA36B73011A3}"/>
              </a:ext>
            </a:extLst>
          </p:cNvPr>
          <p:cNvSpPr>
            <a:spLocks noGrp="1"/>
          </p:cNvSpPr>
          <p:nvPr/>
        </p:nvSpPr>
        <p:spPr>
          <a:xfrm>
            <a:off x="7914154" y="2469216"/>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99" name="椭圆 98">
            <a:extLst>
              <a:ext uri="{FF2B5EF4-FFF2-40B4-BE49-F238E27FC236}">
                <a16:creationId xmlns:a16="http://schemas.microsoft.com/office/drawing/2014/main" id="{81D81B11-42F3-459C-99F6-BAF35664025D}"/>
              </a:ext>
            </a:extLst>
          </p:cNvPr>
          <p:cNvSpPr>
            <a:spLocks noGrp="1"/>
          </p:cNvSpPr>
          <p:nvPr/>
        </p:nvSpPr>
        <p:spPr>
          <a:xfrm>
            <a:off x="8001000" y="2438400"/>
            <a:ext cx="38100" cy="38100"/>
          </a:xfrm>
          <a:prstGeom prst="ellipse">
            <a:avLst/>
          </a:prstGeom>
          <a:solidFill>
            <a:srgbClr val="9BB8D5"/>
          </a:solidFill>
          <a:ln w="0">
            <a:solidFill>
              <a:srgbClr val="000000">
                <a:alpha val="0"/>
              </a:srgbClr>
            </a:solidFill>
            <a:prstDash val="solid"/>
          </a:ln>
        </p:spPr>
        <p:txBody>
          <a:bodyPr/>
          <a:lstStyle/>
          <a:p>
            <a:endParaRPr lang="zh-CN" altLang="en-US"/>
          </a:p>
        </p:txBody>
      </p:sp>
      <p:sp>
        <p:nvSpPr>
          <p:cNvPr id="100" name="矩形 99">
            <a:extLst>
              <a:ext uri="{FF2B5EF4-FFF2-40B4-BE49-F238E27FC236}">
                <a16:creationId xmlns:a16="http://schemas.microsoft.com/office/drawing/2014/main" id="{A08E6296-F212-4A25-9AC4-24B5E1DD880C}"/>
              </a:ext>
            </a:extLst>
          </p:cNvPr>
          <p:cNvSpPr>
            <a:spLocks noGrp="1"/>
          </p:cNvSpPr>
          <p:nvPr/>
        </p:nvSpPr>
        <p:spPr>
          <a:xfrm>
            <a:off x="4057650" y="529590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video_rate</a:t>
            </a:r>
          </a:p>
        </p:txBody>
      </p:sp>
      <p:sp>
        <p:nvSpPr>
          <p:cNvPr id="101" name="矩形 100">
            <a:extLst>
              <a:ext uri="{FF2B5EF4-FFF2-40B4-BE49-F238E27FC236}">
                <a16:creationId xmlns:a16="http://schemas.microsoft.com/office/drawing/2014/main" id="{6F525BF9-7A5F-4DE8-B3B4-853D1BBBC614}"/>
              </a:ext>
            </a:extLst>
          </p:cNvPr>
          <p:cNvSpPr>
            <a:spLocks noGrp="1"/>
          </p:cNvSpPr>
          <p:nvPr/>
        </p:nvSpPr>
        <p:spPr>
          <a:xfrm>
            <a:off x="361950" y="300990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00204A"/>
                </a:solidFill>
                <a:latin typeface="黑体"/>
                <a:ea typeface="黑体"/>
                <a:cs typeface="黑体"/>
              </a:defRPr>
            </a:pPr>
            <a:r>
              <a:rPr>
                <a:latin typeface="Times New Roman"/>
                <a:ea typeface="Times New Roman"/>
                <a:cs typeface="Times New Roman"/>
              </a:rPr>
              <a:t>quiz_score</a:t>
            </a:r>
          </a:p>
        </p:txBody>
      </p:sp>
      <p:sp>
        <p:nvSpPr>
          <p:cNvPr id="102" name="椭圆 101">
            <a:extLst>
              <a:ext uri="{FF2B5EF4-FFF2-40B4-BE49-F238E27FC236}">
                <a16:creationId xmlns:a16="http://schemas.microsoft.com/office/drawing/2014/main" id="{6DD8D06B-8F3C-4EDA-BE8D-D6874E50479F}"/>
              </a:ext>
            </a:extLst>
          </p:cNvPr>
          <p:cNvSpPr>
            <a:spLocks noGrp="1"/>
          </p:cNvSpPr>
          <p:nvPr/>
        </p:nvSpPr>
        <p:spPr>
          <a:xfrm>
            <a:off x="9391650" y="1828800"/>
            <a:ext cx="133350" cy="133350"/>
          </a:xfrm>
          <a:prstGeom prst="ellipse">
            <a:avLst/>
          </a:prstGeom>
          <a:solidFill>
            <a:srgbClr val="014DA1"/>
          </a:solidFill>
          <a:ln w="9525">
            <a:solidFill>
              <a:srgbClr val="FFFFFF"/>
            </a:solidFill>
            <a:prstDash val="solid"/>
          </a:ln>
        </p:spPr>
        <p:txBody>
          <a:bodyPr/>
          <a:lstStyle/>
          <a:p>
            <a:endParaRPr lang="zh-CN" altLang="en-US"/>
          </a:p>
        </p:txBody>
      </p:sp>
      <p:sp>
        <p:nvSpPr>
          <p:cNvPr id="103" name="矩形 102">
            <a:extLst>
              <a:ext uri="{FF2B5EF4-FFF2-40B4-BE49-F238E27FC236}">
                <a16:creationId xmlns:a16="http://schemas.microsoft.com/office/drawing/2014/main" id="{9D5C4E67-B46B-44E7-8801-0D2C382AE556}"/>
              </a:ext>
            </a:extLst>
          </p:cNvPr>
          <p:cNvSpPr>
            <a:spLocks noGrp="1"/>
          </p:cNvSpPr>
          <p:nvPr/>
        </p:nvSpPr>
        <p:spPr>
          <a:xfrm>
            <a:off x="9620250" y="1790700"/>
            <a:ext cx="1562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F2933"/>
                </a:solidFill>
                <a:latin typeface="黑体"/>
                <a:ea typeface="黑体"/>
                <a:cs typeface="黑体"/>
              </a:defRPr>
            </a:pPr>
            <a:r>
              <a:rPr>
                <a:latin typeface="黑体"/>
                <a:ea typeface="黑体"/>
                <a:cs typeface="黑体"/>
              </a:rPr>
              <a:t>未退课</a:t>
            </a:r>
          </a:p>
        </p:txBody>
      </p:sp>
      <p:sp>
        <p:nvSpPr>
          <p:cNvPr id="104" name="椭圆 103">
            <a:extLst>
              <a:ext uri="{FF2B5EF4-FFF2-40B4-BE49-F238E27FC236}">
                <a16:creationId xmlns:a16="http://schemas.microsoft.com/office/drawing/2014/main" id="{82900567-EA39-4AE4-884A-1BB4C8DFBC4B}"/>
              </a:ext>
            </a:extLst>
          </p:cNvPr>
          <p:cNvSpPr>
            <a:spLocks noGrp="1"/>
          </p:cNvSpPr>
          <p:nvPr/>
        </p:nvSpPr>
        <p:spPr>
          <a:xfrm>
            <a:off x="9391650" y="2228850"/>
            <a:ext cx="133350" cy="133350"/>
          </a:xfrm>
          <a:prstGeom prst="ellipse">
            <a:avLst/>
          </a:prstGeom>
          <a:solidFill>
            <a:srgbClr val="B64040"/>
          </a:solidFill>
          <a:ln w="9525">
            <a:solidFill>
              <a:srgbClr val="FFFFFF"/>
            </a:solidFill>
            <a:prstDash val="solid"/>
          </a:ln>
        </p:spPr>
        <p:txBody>
          <a:bodyPr/>
          <a:lstStyle/>
          <a:p>
            <a:endParaRPr lang="zh-CN" altLang="en-US"/>
          </a:p>
        </p:txBody>
      </p:sp>
      <p:sp>
        <p:nvSpPr>
          <p:cNvPr id="105" name="矩形 104">
            <a:extLst>
              <a:ext uri="{FF2B5EF4-FFF2-40B4-BE49-F238E27FC236}">
                <a16:creationId xmlns:a16="http://schemas.microsoft.com/office/drawing/2014/main" id="{23C8E7CF-086C-405F-8B7F-BB124AE2FE16}"/>
              </a:ext>
            </a:extLst>
          </p:cNvPr>
          <p:cNvSpPr>
            <a:spLocks noGrp="1"/>
          </p:cNvSpPr>
          <p:nvPr/>
        </p:nvSpPr>
        <p:spPr>
          <a:xfrm>
            <a:off x="9620250" y="2190750"/>
            <a:ext cx="1562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F2933"/>
                </a:solidFill>
                <a:latin typeface="黑体"/>
                <a:ea typeface="黑体"/>
                <a:cs typeface="黑体"/>
              </a:defRPr>
            </a:pPr>
            <a:r>
              <a:rPr>
                <a:latin typeface="黑体"/>
                <a:ea typeface="黑体"/>
                <a:cs typeface="黑体"/>
              </a:rPr>
              <a:t>未来 </a:t>
            </a:r>
            <a:r>
              <a:rPr>
                <a:latin typeface="Times New Roman"/>
                <a:ea typeface="Times New Roman"/>
                <a:cs typeface="Times New Roman"/>
              </a:rPr>
              <a:t>4 </a:t>
            </a:r>
            <a:r>
              <a:rPr>
                <a:latin typeface="黑体"/>
                <a:ea typeface="黑体"/>
                <a:cs typeface="黑体"/>
              </a:rPr>
              <a:t>周退课</a:t>
            </a:r>
          </a:p>
        </p:txBody>
      </p:sp>
      <p:sp>
        <p:nvSpPr>
          <p:cNvPr id="106" name="矩形 105">
            <a:extLst>
              <a:ext uri="{FF2B5EF4-FFF2-40B4-BE49-F238E27FC236}">
                <a16:creationId xmlns:a16="http://schemas.microsoft.com/office/drawing/2014/main" id="{BA734E30-C695-455A-8E2D-1439454476B1}"/>
              </a:ext>
            </a:extLst>
          </p:cNvPr>
          <p:cNvSpPr>
            <a:spLocks noGrp="1"/>
          </p:cNvSpPr>
          <p:nvPr/>
        </p:nvSpPr>
        <p:spPr>
          <a:xfrm>
            <a:off x="9144000" y="2857500"/>
            <a:ext cx="2324100" cy="590550"/>
          </a:xfrm>
          <a:prstGeom prst="rect">
            <a:avLst/>
          </a:prstGeom>
          <a:solidFill>
            <a:srgbClr val="F5F9FE"/>
          </a:solidFill>
          <a:ln w="9525">
            <a:solidFill>
              <a:srgbClr val="C5CFDB"/>
            </a:solidFill>
            <a:prstDash val="solid"/>
          </a:ln>
        </p:spPr>
        <p:txBody>
          <a:bodyPr/>
          <a:lstStyle/>
          <a:p>
            <a:endParaRPr lang="zh-CN" altLang="en-US"/>
          </a:p>
        </p:txBody>
      </p:sp>
      <p:sp>
        <p:nvSpPr>
          <p:cNvPr id="107" name="矩形 106">
            <a:extLst>
              <a:ext uri="{FF2B5EF4-FFF2-40B4-BE49-F238E27FC236}">
                <a16:creationId xmlns:a16="http://schemas.microsoft.com/office/drawing/2014/main" id="{296E6C34-71F7-423F-A09E-E8A4B9EEDE11}"/>
              </a:ext>
            </a:extLst>
          </p:cNvPr>
          <p:cNvSpPr>
            <a:spLocks noGrp="1"/>
          </p:cNvSpPr>
          <p:nvPr/>
        </p:nvSpPr>
        <p:spPr>
          <a:xfrm>
            <a:off x="9296400" y="2962275"/>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014DA1"/>
                </a:solidFill>
                <a:latin typeface="黑体"/>
                <a:ea typeface="黑体"/>
                <a:cs typeface="黑体"/>
              </a:defRPr>
            </a:pPr>
            <a:r>
              <a:rPr>
                <a:latin typeface="黑体"/>
                <a:ea typeface="黑体"/>
                <a:cs typeface="黑体"/>
              </a:rPr>
              <a:t>整体趋势</a:t>
            </a:r>
          </a:p>
        </p:txBody>
      </p:sp>
      <p:sp>
        <p:nvSpPr>
          <p:cNvPr id="108" name="矩形 107">
            <a:extLst>
              <a:ext uri="{FF2B5EF4-FFF2-40B4-BE49-F238E27FC236}">
                <a16:creationId xmlns:a16="http://schemas.microsoft.com/office/drawing/2014/main" id="{CCC296D9-FE29-4E06-A52C-FC7F86B418E7}"/>
              </a:ext>
            </a:extLst>
          </p:cNvPr>
          <p:cNvSpPr>
            <a:spLocks noGrp="1"/>
          </p:cNvSpPr>
          <p:nvPr/>
        </p:nvSpPr>
        <p:spPr>
          <a:xfrm>
            <a:off x="10039350" y="2933700"/>
            <a:ext cx="1295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1F2933"/>
                </a:solidFill>
                <a:latin typeface="黑体"/>
                <a:ea typeface="黑体"/>
                <a:cs typeface="黑体"/>
              </a:defRPr>
            </a:pPr>
            <a:r>
              <a:rPr>
                <a:latin typeface="黑体"/>
                <a:ea typeface="黑体"/>
                <a:cs typeface="黑体"/>
              </a:rPr>
              <a:t>完成率越高，测验成绩通常越高</a:t>
            </a:r>
          </a:p>
        </p:txBody>
      </p:sp>
      <p:sp>
        <p:nvSpPr>
          <p:cNvPr id="109" name="矩形 108">
            <a:extLst>
              <a:ext uri="{FF2B5EF4-FFF2-40B4-BE49-F238E27FC236}">
                <a16:creationId xmlns:a16="http://schemas.microsoft.com/office/drawing/2014/main" id="{9D98E4A8-BB48-4591-A9A6-10D6F878E47D}"/>
              </a:ext>
            </a:extLst>
          </p:cNvPr>
          <p:cNvSpPr>
            <a:spLocks noGrp="1"/>
          </p:cNvSpPr>
          <p:nvPr/>
        </p:nvSpPr>
        <p:spPr>
          <a:xfrm>
            <a:off x="9144000" y="3581400"/>
            <a:ext cx="2324100" cy="590550"/>
          </a:xfrm>
          <a:prstGeom prst="rect">
            <a:avLst/>
          </a:prstGeom>
          <a:solidFill>
            <a:srgbClr val="F5F9FE"/>
          </a:solidFill>
          <a:ln w="9525">
            <a:solidFill>
              <a:srgbClr val="C5CFDB"/>
            </a:solidFill>
            <a:prstDash val="solid"/>
          </a:ln>
        </p:spPr>
        <p:txBody>
          <a:bodyPr/>
          <a:lstStyle/>
          <a:p>
            <a:endParaRPr lang="zh-CN" altLang="en-US"/>
          </a:p>
        </p:txBody>
      </p:sp>
      <p:sp>
        <p:nvSpPr>
          <p:cNvPr id="110" name="矩形 109">
            <a:extLst>
              <a:ext uri="{FF2B5EF4-FFF2-40B4-BE49-F238E27FC236}">
                <a16:creationId xmlns:a16="http://schemas.microsoft.com/office/drawing/2014/main" id="{005E1ADE-E91B-4EFB-892F-AFEB59E4AF10}"/>
              </a:ext>
            </a:extLst>
          </p:cNvPr>
          <p:cNvSpPr>
            <a:spLocks noGrp="1"/>
          </p:cNvSpPr>
          <p:nvPr/>
        </p:nvSpPr>
        <p:spPr>
          <a:xfrm>
            <a:off x="9296400" y="3686175"/>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014DA1"/>
                </a:solidFill>
                <a:latin typeface="黑体"/>
                <a:ea typeface="黑体"/>
                <a:cs typeface="黑体"/>
              </a:defRPr>
            </a:pPr>
            <a:r>
              <a:rPr>
                <a:latin typeface="黑体"/>
                <a:ea typeface="黑体"/>
                <a:cs typeface="黑体"/>
              </a:rPr>
              <a:t>群体差异</a:t>
            </a:r>
          </a:p>
        </p:txBody>
      </p:sp>
      <p:sp>
        <p:nvSpPr>
          <p:cNvPr id="111" name="矩形 110">
            <a:extLst>
              <a:ext uri="{FF2B5EF4-FFF2-40B4-BE49-F238E27FC236}">
                <a16:creationId xmlns:a16="http://schemas.microsoft.com/office/drawing/2014/main" id="{1C0E480A-3DA9-4EE5-87B8-36DF07878F55}"/>
              </a:ext>
            </a:extLst>
          </p:cNvPr>
          <p:cNvSpPr>
            <a:spLocks noGrp="1"/>
          </p:cNvSpPr>
          <p:nvPr/>
        </p:nvSpPr>
        <p:spPr>
          <a:xfrm>
            <a:off x="10039350" y="3657600"/>
            <a:ext cx="1295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1F2933"/>
                </a:solidFill>
                <a:latin typeface="黑体"/>
                <a:ea typeface="黑体"/>
                <a:cs typeface="黑体"/>
              </a:defRPr>
            </a:pPr>
            <a:r>
              <a:rPr>
                <a:latin typeface="黑体"/>
                <a:ea typeface="黑体"/>
                <a:cs typeface="黑体"/>
              </a:rPr>
              <a:t>低完成率区域退课点更集中</a:t>
            </a:r>
          </a:p>
        </p:txBody>
      </p:sp>
      <p:sp>
        <p:nvSpPr>
          <p:cNvPr id="112" name="矩形 111">
            <a:extLst>
              <a:ext uri="{FF2B5EF4-FFF2-40B4-BE49-F238E27FC236}">
                <a16:creationId xmlns:a16="http://schemas.microsoft.com/office/drawing/2014/main" id="{F9D91DC6-2678-4F94-BE08-2ADB6FA41128}"/>
              </a:ext>
            </a:extLst>
          </p:cNvPr>
          <p:cNvSpPr>
            <a:spLocks noGrp="1"/>
          </p:cNvSpPr>
          <p:nvPr/>
        </p:nvSpPr>
        <p:spPr>
          <a:xfrm>
            <a:off x="9144000" y="4305300"/>
            <a:ext cx="2324100" cy="590550"/>
          </a:xfrm>
          <a:prstGeom prst="rect">
            <a:avLst/>
          </a:prstGeom>
          <a:solidFill>
            <a:srgbClr val="FFF7F7"/>
          </a:solidFill>
          <a:ln w="9525">
            <a:solidFill>
              <a:srgbClr val="C5CFDB"/>
            </a:solidFill>
            <a:prstDash val="solid"/>
          </a:ln>
        </p:spPr>
        <p:txBody>
          <a:bodyPr/>
          <a:lstStyle/>
          <a:p>
            <a:endParaRPr lang="zh-CN" altLang="en-US"/>
          </a:p>
        </p:txBody>
      </p:sp>
      <p:sp>
        <p:nvSpPr>
          <p:cNvPr id="113" name="矩形 112">
            <a:extLst>
              <a:ext uri="{FF2B5EF4-FFF2-40B4-BE49-F238E27FC236}">
                <a16:creationId xmlns:a16="http://schemas.microsoft.com/office/drawing/2014/main" id="{7E6981EC-7052-4400-9629-3C7A01A2B284}"/>
              </a:ext>
            </a:extLst>
          </p:cNvPr>
          <p:cNvSpPr>
            <a:spLocks noGrp="1"/>
          </p:cNvSpPr>
          <p:nvPr/>
        </p:nvSpPr>
        <p:spPr>
          <a:xfrm>
            <a:off x="9296400" y="4410075"/>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A33A3A"/>
                </a:solidFill>
                <a:latin typeface="黑体"/>
                <a:ea typeface="黑体"/>
                <a:cs typeface="黑体"/>
              </a:defRPr>
            </a:pPr>
            <a:r>
              <a:rPr>
                <a:latin typeface="黑体"/>
                <a:ea typeface="黑体"/>
                <a:cs typeface="黑体"/>
              </a:rPr>
              <a:t>异常点</a:t>
            </a:r>
          </a:p>
        </p:txBody>
      </p:sp>
      <p:sp>
        <p:nvSpPr>
          <p:cNvPr id="114" name="矩形 113">
            <a:extLst>
              <a:ext uri="{FF2B5EF4-FFF2-40B4-BE49-F238E27FC236}">
                <a16:creationId xmlns:a16="http://schemas.microsoft.com/office/drawing/2014/main" id="{50FC7BE0-3E47-4C14-B113-3B367C7AFA56}"/>
              </a:ext>
            </a:extLst>
          </p:cNvPr>
          <p:cNvSpPr>
            <a:spLocks noGrp="1"/>
          </p:cNvSpPr>
          <p:nvPr/>
        </p:nvSpPr>
        <p:spPr>
          <a:xfrm>
            <a:off x="10039350" y="4381500"/>
            <a:ext cx="12954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1F2933"/>
                </a:solidFill>
                <a:latin typeface="黑体"/>
                <a:ea typeface="黑体"/>
                <a:cs typeface="黑体"/>
              </a:defRPr>
            </a:pPr>
            <a:r>
              <a:rPr>
                <a:latin typeface="黑体"/>
                <a:ea typeface="黑体"/>
                <a:cs typeface="黑体"/>
              </a:rPr>
              <a:t>高完成率但低分，需要回查</a:t>
            </a:r>
          </a:p>
        </p:txBody>
      </p:sp>
      <p:sp>
        <p:nvSpPr>
          <p:cNvPr id="115" name="矩形 114">
            <a:extLst>
              <a:ext uri="{FF2B5EF4-FFF2-40B4-BE49-F238E27FC236}">
                <a16:creationId xmlns:a16="http://schemas.microsoft.com/office/drawing/2014/main" id="{36146EBB-B3AF-4658-AE56-0A0536DB9340}"/>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116" name="矩形 115">
            <a:extLst>
              <a:ext uri="{FF2B5EF4-FFF2-40B4-BE49-F238E27FC236}">
                <a16:creationId xmlns:a16="http://schemas.microsoft.com/office/drawing/2014/main" id="{660FCCE0-5F00-4CA3-9CF6-3228FEBF516E}"/>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散点图能提示关系，但不能单凭图形证明因果。</a:t>
            </a:r>
          </a:p>
        </p:txBody>
      </p:sp>
    </p:spTree>
    <p:extLst>
      <p:ext uri="{BB962C8B-B14F-4D97-AF65-F5344CB8AC3E}">
        <p14:creationId xmlns:p14="http://schemas.microsoft.com/office/powerpoint/2010/main" val="17899818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a:extLst>
              <a:ext uri="{FF2B5EF4-FFF2-40B4-BE49-F238E27FC236}">
                <a16:creationId xmlns:a16="http://schemas.microsoft.com/office/drawing/2014/main" id="{956E1901-A152-49A8-90A4-6574942D5C17}"/>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10BDD1D9-E6D1-4F23-B7C1-C87FE2A376DD}"/>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08FCF9EB-D1FA-4EE9-8F01-8DF0FB69BC1F}"/>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F0280DC4-DE3F-4B8E-B90F-F906927A2061}"/>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Times New Roman"/>
                <a:ea typeface="Times New Roman"/>
                <a:cs typeface="Times New Roman"/>
              </a:rPr>
              <a:t>Correlation </a:t>
            </a:r>
            <a:r>
              <a:rPr>
                <a:latin typeface="黑体"/>
                <a:ea typeface="黑体"/>
                <a:cs typeface="黑体"/>
              </a:rPr>
              <a:t>衡量线性共同变化</a:t>
            </a:r>
          </a:p>
        </p:txBody>
      </p:sp>
      <p:sp>
        <p:nvSpPr>
          <p:cNvPr id="5" name="矩形 4">
            <a:extLst>
              <a:ext uri="{FF2B5EF4-FFF2-40B4-BE49-F238E27FC236}">
                <a16:creationId xmlns:a16="http://schemas.microsoft.com/office/drawing/2014/main" id="{D537BBDD-8E2A-4326-BB0C-66D3D36688C5}"/>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86/90</a:t>
            </a:r>
          </a:p>
        </p:txBody>
      </p:sp>
      <p:sp>
        <p:nvSpPr>
          <p:cNvPr id="6" name="矩形 5">
            <a:extLst>
              <a:ext uri="{FF2B5EF4-FFF2-40B4-BE49-F238E27FC236}">
                <a16:creationId xmlns:a16="http://schemas.microsoft.com/office/drawing/2014/main" id="{AC41EE47-A5BF-44F4-83A2-F1FF5EB7B5E5}"/>
              </a:ext>
            </a:extLst>
          </p:cNvPr>
          <p:cNvSpPr>
            <a:spLocks noGrp="1"/>
          </p:cNvSpPr>
          <p:nvPr/>
        </p:nvSpPr>
        <p:spPr>
          <a:xfrm>
            <a:off x="762000" y="1257300"/>
            <a:ext cx="4953000" cy="1066800"/>
          </a:xfrm>
          <a:prstGeom prst="rect">
            <a:avLst/>
          </a:prstGeom>
          <a:solidFill>
            <a:srgbClr val="173A63"/>
          </a:solidFill>
          <a:ln w="0">
            <a:solidFill>
              <a:srgbClr val="000000">
                <a:alpha val="0"/>
              </a:srgbClr>
            </a:solidFill>
            <a:prstDash val="solid"/>
          </a:ln>
        </p:spPr>
        <p:txBody>
          <a:bodyPr/>
          <a:lstStyle/>
          <a:p>
            <a:endParaRPr lang="zh-CN" altLang="en-US"/>
          </a:p>
        </p:txBody>
      </p:sp>
      <p:sp>
        <p:nvSpPr>
          <p:cNvPr id="7" name="矩形 6">
            <a:extLst>
              <a:ext uri="{FF2B5EF4-FFF2-40B4-BE49-F238E27FC236}">
                <a16:creationId xmlns:a16="http://schemas.microsoft.com/office/drawing/2014/main" id="{DE369378-E6BB-4991-B404-4E3F7300BF0F}"/>
              </a:ext>
            </a:extLst>
          </p:cNvPr>
          <p:cNvSpPr>
            <a:spLocks noGrp="1"/>
          </p:cNvSpPr>
          <p:nvPr/>
        </p:nvSpPr>
        <p:spPr>
          <a:xfrm>
            <a:off x="1047750" y="1638300"/>
            <a:ext cx="4381500" cy="361950"/>
          </a:xfrm>
          <a:prstGeom prst="rect">
            <a:avLst/>
          </a:prstGeom>
          <a:solidFill>
            <a:srgbClr val="173A63"/>
          </a:solidFill>
          <a:ln w="0">
            <a:solidFill>
              <a:srgbClr val="000000">
                <a:alpha val="0"/>
              </a:srgbClr>
            </a:solidFill>
            <a:prstDash val="solid"/>
          </a:ln>
        </p:spPr>
        <p:txBody>
          <a:bodyPr lIns="0" tIns="0" rIns="0" bIns="0" anchor="t"/>
          <a:lstStyle/>
          <a:p>
            <a:pPr algn="ctr">
              <a:defRPr sz="1500" b="1">
                <a:solidFill>
                  <a:srgbClr val="FFFFFF"/>
                </a:solidFill>
                <a:latin typeface="黑体"/>
                <a:ea typeface="黑体"/>
                <a:cs typeface="黑体"/>
              </a:defRPr>
            </a:pPr>
            <a:r>
              <a:rPr>
                <a:latin typeface="Times New Roman"/>
                <a:ea typeface="Times New Roman"/>
                <a:cs typeface="Times New Roman"/>
              </a:rPr>
              <a:t>r = cov(X, Y) / (sₓ sᵧ),    −1 ≤ r ≤ 1</a:t>
            </a:r>
          </a:p>
        </p:txBody>
      </p:sp>
      <p:sp>
        <p:nvSpPr>
          <p:cNvPr id="8" name="矩形 7">
            <a:extLst>
              <a:ext uri="{FF2B5EF4-FFF2-40B4-BE49-F238E27FC236}">
                <a16:creationId xmlns:a16="http://schemas.microsoft.com/office/drawing/2014/main" id="{58564A96-AC55-475E-902F-AC7994CFD4E6}"/>
              </a:ext>
            </a:extLst>
          </p:cNvPr>
          <p:cNvSpPr>
            <a:spLocks noGrp="1"/>
          </p:cNvSpPr>
          <p:nvPr/>
        </p:nvSpPr>
        <p:spPr>
          <a:xfrm>
            <a:off x="1028700" y="2800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9" name="矩形 8">
            <a:extLst>
              <a:ext uri="{FF2B5EF4-FFF2-40B4-BE49-F238E27FC236}">
                <a16:creationId xmlns:a16="http://schemas.microsoft.com/office/drawing/2014/main" id="{A7B82A7E-C171-4541-9A15-B037D7FA72D2}"/>
              </a:ext>
            </a:extLst>
          </p:cNvPr>
          <p:cNvSpPr>
            <a:spLocks noGrp="1"/>
          </p:cNvSpPr>
          <p:nvPr/>
        </p:nvSpPr>
        <p:spPr>
          <a:xfrm>
            <a:off x="1371600" y="2781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Times New Roman"/>
                <a:ea typeface="Times New Roman"/>
                <a:cs typeface="Times New Roman"/>
              </a:rPr>
              <a:t>r </a:t>
            </a:r>
            <a:r>
              <a:rPr>
                <a:latin typeface="黑体"/>
                <a:ea typeface="黑体"/>
                <a:cs typeface="黑体"/>
              </a:rPr>
              <a:t>接近 </a:t>
            </a:r>
            <a:r>
              <a:rPr>
                <a:latin typeface="Times New Roman"/>
                <a:ea typeface="Times New Roman"/>
                <a:cs typeface="Times New Roman"/>
              </a:rPr>
              <a:t>1：</a:t>
            </a:r>
            <a:r>
              <a:rPr>
                <a:latin typeface="黑体"/>
                <a:ea typeface="黑体"/>
                <a:cs typeface="黑体"/>
              </a:rPr>
              <a:t>两个变量近似同向线性变化</a:t>
            </a:r>
          </a:p>
        </p:txBody>
      </p:sp>
      <p:sp>
        <p:nvSpPr>
          <p:cNvPr id="10" name="矩形 9">
            <a:extLst>
              <a:ext uri="{FF2B5EF4-FFF2-40B4-BE49-F238E27FC236}">
                <a16:creationId xmlns:a16="http://schemas.microsoft.com/office/drawing/2014/main" id="{CA0A558E-957B-402D-98FE-2E0E44A80DD0}"/>
              </a:ext>
            </a:extLst>
          </p:cNvPr>
          <p:cNvSpPr>
            <a:spLocks noGrp="1"/>
          </p:cNvSpPr>
          <p:nvPr/>
        </p:nvSpPr>
        <p:spPr>
          <a:xfrm>
            <a:off x="1028700" y="3371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1" name="矩形 10">
            <a:extLst>
              <a:ext uri="{FF2B5EF4-FFF2-40B4-BE49-F238E27FC236}">
                <a16:creationId xmlns:a16="http://schemas.microsoft.com/office/drawing/2014/main" id="{D8C06C5D-81CC-4986-B8A5-F41761165068}"/>
              </a:ext>
            </a:extLst>
          </p:cNvPr>
          <p:cNvSpPr>
            <a:spLocks noGrp="1"/>
          </p:cNvSpPr>
          <p:nvPr/>
        </p:nvSpPr>
        <p:spPr>
          <a:xfrm>
            <a:off x="1371600" y="3352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Times New Roman"/>
                <a:ea typeface="Times New Roman"/>
                <a:cs typeface="Times New Roman"/>
              </a:rPr>
              <a:t>r </a:t>
            </a:r>
            <a:r>
              <a:rPr>
                <a:latin typeface="黑体"/>
                <a:ea typeface="黑体"/>
                <a:cs typeface="黑体"/>
              </a:rPr>
              <a:t>接近 </a:t>
            </a:r>
            <a:r>
              <a:rPr>
                <a:latin typeface="Times New Roman"/>
                <a:ea typeface="Times New Roman"/>
                <a:cs typeface="Times New Roman"/>
              </a:rPr>
              <a:t>−1：</a:t>
            </a:r>
            <a:r>
              <a:rPr>
                <a:latin typeface="黑体"/>
                <a:ea typeface="黑体"/>
                <a:cs typeface="黑体"/>
              </a:rPr>
              <a:t>两个变量近似反向线性变化</a:t>
            </a:r>
          </a:p>
        </p:txBody>
      </p:sp>
      <p:sp>
        <p:nvSpPr>
          <p:cNvPr id="12" name="矩形 11">
            <a:extLst>
              <a:ext uri="{FF2B5EF4-FFF2-40B4-BE49-F238E27FC236}">
                <a16:creationId xmlns:a16="http://schemas.microsoft.com/office/drawing/2014/main" id="{9BFD5DE9-1975-4FA7-A5CD-0C8C25BE6C1D}"/>
              </a:ext>
            </a:extLst>
          </p:cNvPr>
          <p:cNvSpPr>
            <a:spLocks noGrp="1"/>
          </p:cNvSpPr>
          <p:nvPr/>
        </p:nvSpPr>
        <p:spPr>
          <a:xfrm>
            <a:off x="1028700" y="39433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3" name="矩形 12">
            <a:extLst>
              <a:ext uri="{FF2B5EF4-FFF2-40B4-BE49-F238E27FC236}">
                <a16:creationId xmlns:a16="http://schemas.microsoft.com/office/drawing/2014/main" id="{6D6B6E0A-AFE2-489E-BEBD-F774AB79A0C9}"/>
              </a:ext>
            </a:extLst>
          </p:cNvPr>
          <p:cNvSpPr>
            <a:spLocks noGrp="1"/>
          </p:cNvSpPr>
          <p:nvPr/>
        </p:nvSpPr>
        <p:spPr>
          <a:xfrm>
            <a:off x="1371600" y="39243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Times New Roman"/>
                <a:ea typeface="Times New Roman"/>
                <a:cs typeface="Times New Roman"/>
              </a:rPr>
              <a:t>r </a:t>
            </a:r>
            <a:r>
              <a:rPr>
                <a:latin typeface="黑体"/>
                <a:ea typeface="黑体"/>
                <a:cs typeface="黑体"/>
              </a:rPr>
              <a:t>接近 </a:t>
            </a:r>
            <a:r>
              <a:rPr>
                <a:latin typeface="Times New Roman"/>
                <a:ea typeface="Times New Roman"/>
                <a:cs typeface="Times New Roman"/>
              </a:rPr>
              <a:t>0：</a:t>
            </a:r>
            <a:r>
              <a:rPr>
                <a:latin typeface="黑体"/>
                <a:ea typeface="黑体"/>
                <a:cs typeface="黑体"/>
              </a:rPr>
              <a:t>没有明显线性关系，但仍可能存在非线性关系</a:t>
            </a:r>
          </a:p>
        </p:txBody>
      </p:sp>
      <p:sp>
        <p:nvSpPr>
          <p:cNvPr id="14" name="矩形 13">
            <a:extLst>
              <a:ext uri="{FF2B5EF4-FFF2-40B4-BE49-F238E27FC236}">
                <a16:creationId xmlns:a16="http://schemas.microsoft.com/office/drawing/2014/main" id="{3814386D-D96D-4C68-A017-7499C76C87BF}"/>
              </a:ext>
            </a:extLst>
          </p:cNvPr>
          <p:cNvSpPr>
            <a:spLocks noGrp="1"/>
          </p:cNvSpPr>
          <p:nvPr/>
        </p:nvSpPr>
        <p:spPr>
          <a:xfrm>
            <a:off x="1028700" y="4514850"/>
            <a:ext cx="2476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0204A"/>
                </a:solidFill>
                <a:latin typeface="黑体"/>
                <a:ea typeface="黑体"/>
                <a:cs typeface="黑体"/>
              </a:defRPr>
            </a:pPr>
            <a:r>
              <a:rPr>
                <a:latin typeface="黑体"/>
                <a:ea typeface="黑体"/>
                <a:cs typeface="黑体"/>
              </a:rPr>
              <a:t>•</a:t>
            </a:r>
          </a:p>
        </p:txBody>
      </p:sp>
      <p:sp>
        <p:nvSpPr>
          <p:cNvPr id="15" name="矩形 14">
            <a:extLst>
              <a:ext uri="{FF2B5EF4-FFF2-40B4-BE49-F238E27FC236}">
                <a16:creationId xmlns:a16="http://schemas.microsoft.com/office/drawing/2014/main" id="{799DF013-6689-4E23-96AA-E4F9D7005D5F}"/>
              </a:ext>
            </a:extLst>
          </p:cNvPr>
          <p:cNvSpPr>
            <a:spLocks noGrp="1"/>
          </p:cNvSpPr>
          <p:nvPr/>
        </p:nvSpPr>
        <p:spPr>
          <a:xfrm>
            <a:off x="1371600" y="4495800"/>
            <a:ext cx="41338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1F2933"/>
                </a:solidFill>
                <a:latin typeface="黑体"/>
                <a:ea typeface="黑体"/>
                <a:cs typeface="黑体"/>
              </a:defRPr>
            </a:pPr>
            <a:r>
              <a:rPr>
                <a:latin typeface="黑体"/>
                <a:ea typeface="黑体"/>
                <a:cs typeface="黑体"/>
              </a:rPr>
              <a:t>极端值、混合群体和时间趋势都可能制造误导</a:t>
            </a:r>
          </a:p>
        </p:txBody>
      </p:sp>
      <p:sp>
        <p:nvSpPr>
          <p:cNvPr id="16" name="矩形 15">
            <a:extLst>
              <a:ext uri="{FF2B5EF4-FFF2-40B4-BE49-F238E27FC236}">
                <a16:creationId xmlns:a16="http://schemas.microsoft.com/office/drawing/2014/main" id="{8B609377-6F15-4807-B98D-3FA49220ECAA}"/>
              </a:ext>
            </a:extLst>
          </p:cNvPr>
          <p:cNvSpPr>
            <a:spLocks noGrp="1"/>
          </p:cNvSpPr>
          <p:nvPr/>
        </p:nvSpPr>
        <p:spPr>
          <a:xfrm>
            <a:off x="6000750" y="1257300"/>
            <a:ext cx="5334000" cy="3762375"/>
          </a:xfrm>
          <a:prstGeom prst="rect">
            <a:avLst/>
          </a:prstGeom>
          <a:solidFill>
            <a:srgbClr val="F8FAFD"/>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C5AD69DA-5078-4A66-9A54-CC63C94AC926}"/>
              </a:ext>
            </a:extLst>
          </p:cNvPr>
          <p:cNvSpPr>
            <a:spLocks noGrp="1"/>
          </p:cNvSpPr>
          <p:nvPr/>
        </p:nvSpPr>
        <p:spPr>
          <a:xfrm>
            <a:off x="6248400" y="1466850"/>
            <a:ext cx="4838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425" b="1">
                <a:solidFill>
                  <a:srgbClr val="00204A"/>
                </a:solidFill>
                <a:latin typeface="黑体"/>
                <a:ea typeface="黑体"/>
                <a:cs typeface="黑体"/>
              </a:defRPr>
            </a:pPr>
            <a:r>
              <a:rPr>
                <a:latin typeface="黑体"/>
                <a:ea typeface="黑体"/>
                <a:cs typeface="黑体"/>
              </a:rPr>
              <a:t>相同坐标范围下比较线性方向</a:t>
            </a:r>
          </a:p>
        </p:txBody>
      </p:sp>
      <p:sp>
        <p:nvSpPr>
          <p:cNvPr id="18" name="矩形 17">
            <a:extLst>
              <a:ext uri="{FF2B5EF4-FFF2-40B4-BE49-F238E27FC236}">
                <a16:creationId xmlns:a16="http://schemas.microsoft.com/office/drawing/2014/main" id="{A42BA51F-5B50-456D-8012-896DFF8A0142}"/>
              </a:ext>
            </a:extLst>
          </p:cNvPr>
          <p:cNvSpPr>
            <a:spLocks noGrp="1"/>
          </p:cNvSpPr>
          <p:nvPr/>
        </p:nvSpPr>
        <p:spPr>
          <a:xfrm>
            <a:off x="6267450" y="2000250"/>
            <a:ext cx="1428750" cy="2400300"/>
          </a:xfrm>
          <a:prstGeom prst="rect">
            <a:avLst/>
          </a:prstGeom>
          <a:solidFill>
            <a:srgbClr val="FFFFFF"/>
          </a:solidFill>
          <a:ln w="9525">
            <a:solidFill>
              <a:srgbClr val="C5CFDB"/>
            </a:solidFill>
            <a:prstDash val="solid"/>
          </a:ln>
        </p:spPr>
        <p:txBody>
          <a:bodyPr/>
          <a:lstStyle/>
          <a:p>
            <a:endParaRPr lang="zh-CN" altLang="en-US"/>
          </a:p>
        </p:txBody>
      </p:sp>
      <p:sp>
        <p:nvSpPr>
          <p:cNvPr id="19" name="矩形 18">
            <a:extLst>
              <a:ext uri="{FF2B5EF4-FFF2-40B4-BE49-F238E27FC236}">
                <a16:creationId xmlns:a16="http://schemas.microsoft.com/office/drawing/2014/main" id="{28BA284B-A5D1-463A-8156-9683C22D751D}"/>
              </a:ext>
            </a:extLst>
          </p:cNvPr>
          <p:cNvSpPr>
            <a:spLocks noGrp="1"/>
          </p:cNvSpPr>
          <p:nvPr/>
        </p:nvSpPr>
        <p:spPr>
          <a:xfrm>
            <a:off x="6381750" y="2152650"/>
            <a:ext cx="1200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014DA1"/>
                </a:solidFill>
                <a:latin typeface="黑体"/>
                <a:ea typeface="黑体"/>
                <a:cs typeface="黑体"/>
              </a:defRPr>
            </a:pPr>
            <a:r>
              <a:rPr>
                <a:latin typeface="Times New Roman"/>
                <a:ea typeface="Times New Roman"/>
                <a:cs typeface="Times New Roman"/>
              </a:rPr>
              <a:t>r ≈ +1</a:t>
            </a:r>
          </a:p>
        </p:txBody>
      </p:sp>
      <p:sp>
        <p:nvSpPr>
          <p:cNvPr id="20" name="矩形 19">
            <a:extLst>
              <a:ext uri="{FF2B5EF4-FFF2-40B4-BE49-F238E27FC236}">
                <a16:creationId xmlns:a16="http://schemas.microsoft.com/office/drawing/2014/main" id="{57FD51F8-9132-477A-B905-08D885C395E5}"/>
              </a:ext>
            </a:extLst>
          </p:cNvPr>
          <p:cNvSpPr>
            <a:spLocks noGrp="1"/>
          </p:cNvSpPr>
          <p:nvPr/>
        </p:nvSpPr>
        <p:spPr>
          <a:xfrm>
            <a:off x="6534150" y="3981450"/>
            <a:ext cx="952500" cy="190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F0FAD15E-A952-4C1F-B9FB-FC4858C6AFD7}"/>
              </a:ext>
            </a:extLst>
          </p:cNvPr>
          <p:cNvSpPr>
            <a:spLocks noGrp="1"/>
          </p:cNvSpPr>
          <p:nvPr/>
        </p:nvSpPr>
        <p:spPr>
          <a:xfrm>
            <a:off x="6534150" y="2609850"/>
            <a:ext cx="19050" cy="13906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22" name="椭圆 21">
            <a:extLst>
              <a:ext uri="{FF2B5EF4-FFF2-40B4-BE49-F238E27FC236}">
                <a16:creationId xmlns:a16="http://schemas.microsoft.com/office/drawing/2014/main" id="{7D8D9B7C-52D2-4D74-B797-C7DEB104A919}"/>
              </a:ext>
            </a:extLst>
          </p:cNvPr>
          <p:cNvSpPr>
            <a:spLocks noGrp="1"/>
          </p:cNvSpPr>
          <p:nvPr/>
        </p:nvSpPr>
        <p:spPr>
          <a:xfrm>
            <a:off x="6496050" y="3886200"/>
            <a:ext cx="95250" cy="95250"/>
          </a:xfrm>
          <a:prstGeom prst="ellipse">
            <a:avLst/>
          </a:prstGeom>
          <a:solidFill>
            <a:srgbClr val="014DA1"/>
          </a:solidFill>
          <a:ln w="9525">
            <a:solidFill>
              <a:srgbClr val="FFFFFF"/>
            </a:solidFill>
            <a:prstDash val="solid"/>
          </a:ln>
        </p:spPr>
        <p:txBody>
          <a:bodyPr/>
          <a:lstStyle/>
          <a:p>
            <a:endParaRPr lang="zh-CN" altLang="en-US"/>
          </a:p>
        </p:txBody>
      </p:sp>
      <p:sp>
        <p:nvSpPr>
          <p:cNvPr id="23" name="椭圆 22">
            <a:extLst>
              <a:ext uri="{FF2B5EF4-FFF2-40B4-BE49-F238E27FC236}">
                <a16:creationId xmlns:a16="http://schemas.microsoft.com/office/drawing/2014/main" id="{45D21487-EABC-4FBB-80DD-4BA1105C0199}"/>
              </a:ext>
            </a:extLst>
          </p:cNvPr>
          <p:cNvSpPr>
            <a:spLocks noGrp="1"/>
          </p:cNvSpPr>
          <p:nvPr/>
        </p:nvSpPr>
        <p:spPr>
          <a:xfrm>
            <a:off x="6667500" y="3657600"/>
            <a:ext cx="95250" cy="95250"/>
          </a:xfrm>
          <a:prstGeom prst="ellipse">
            <a:avLst/>
          </a:prstGeom>
          <a:solidFill>
            <a:srgbClr val="014DA1"/>
          </a:solidFill>
          <a:ln w="9525">
            <a:solidFill>
              <a:srgbClr val="FFFFFF"/>
            </a:solidFill>
            <a:prstDash val="solid"/>
          </a:ln>
        </p:spPr>
        <p:txBody>
          <a:bodyPr/>
          <a:lstStyle/>
          <a:p>
            <a:endParaRPr lang="zh-CN" altLang="en-US"/>
          </a:p>
        </p:txBody>
      </p:sp>
      <p:sp>
        <p:nvSpPr>
          <p:cNvPr id="24" name="椭圆 23">
            <a:extLst>
              <a:ext uri="{FF2B5EF4-FFF2-40B4-BE49-F238E27FC236}">
                <a16:creationId xmlns:a16="http://schemas.microsoft.com/office/drawing/2014/main" id="{82C5B74E-796E-452D-A0E2-B49CE4958715}"/>
              </a:ext>
            </a:extLst>
          </p:cNvPr>
          <p:cNvSpPr>
            <a:spLocks noGrp="1"/>
          </p:cNvSpPr>
          <p:nvPr/>
        </p:nvSpPr>
        <p:spPr>
          <a:xfrm>
            <a:off x="6838950" y="3429000"/>
            <a:ext cx="95250" cy="95250"/>
          </a:xfrm>
          <a:prstGeom prst="ellipse">
            <a:avLst/>
          </a:prstGeom>
          <a:solidFill>
            <a:srgbClr val="014DA1"/>
          </a:solidFill>
          <a:ln w="9525">
            <a:solidFill>
              <a:srgbClr val="FFFFFF"/>
            </a:solidFill>
            <a:prstDash val="solid"/>
          </a:ln>
        </p:spPr>
        <p:txBody>
          <a:bodyPr/>
          <a:lstStyle/>
          <a:p>
            <a:endParaRPr lang="zh-CN" altLang="en-US"/>
          </a:p>
        </p:txBody>
      </p:sp>
      <p:sp>
        <p:nvSpPr>
          <p:cNvPr id="25" name="椭圆 24">
            <a:extLst>
              <a:ext uri="{FF2B5EF4-FFF2-40B4-BE49-F238E27FC236}">
                <a16:creationId xmlns:a16="http://schemas.microsoft.com/office/drawing/2014/main" id="{CF440B1C-AA7E-495B-B189-2C7CED356BE9}"/>
              </a:ext>
            </a:extLst>
          </p:cNvPr>
          <p:cNvSpPr>
            <a:spLocks noGrp="1"/>
          </p:cNvSpPr>
          <p:nvPr/>
        </p:nvSpPr>
        <p:spPr>
          <a:xfrm>
            <a:off x="7010400" y="3257550"/>
            <a:ext cx="95250" cy="95250"/>
          </a:xfrm>
          <a:prstGeom prst="ellipse">
            <a:avLst/>
          </a:prstGeom>
          <a:solidFill>
            <a:srgbClr val="014DA1"/>
          </a:solidFill>
          <a:ln w="9525">
            <a:solidFill>
              <a:srgbClr val="FFFFFF"/>
            </a:solidFill>
            <a:prstDash val="solid"/>
          </a:ln>
        </p:spPr>
        <p:txBody>
          <a:bodyPr/>
          <a:lstStyle/>
          <a:p>
            <a:endParaRPr lang="zh-CN" altLang="en-US"/>
          </a:p>
        </p:txBody>
      </p:sp>
      <p:sp>
        <p:nvSpPr>
          <p:cNvPr id="26" name="椭圆 25">
            <a:extLst>
              <a:ext uri="{FF2B5EF4-FFF2-40B4-BE49-F238E27FC236}">
                <a16:creationId xmlns:a16="http://schemas.microsoft.com/office/drawing/2014/main" id="{90535651-8623-4725-99D7-2B8A91F41CE3}"/>
              </a:ext>
            </a:extLst>
          </p:cNvPr>
          <p:cNvSpPr>
            <a:spLocks noGrp="1"/>
          </p:cNvSpPr>
          <p:nvPr/>
        </p:nvSpPr>
        <p:spPr>
          <a:xfrm>
            <a:off x="7181850" y="2990850"/>
            <a:ext cx="95250" cy="95250"/>
          </a:xfrm>
          <a:prstGeom prst="ellipse">
            <a:avLst/>
          </a:prstGeom>
          <a:solidFill>
            <a:srgbClr val="014DA1"/>
          </a:solidFill>
          <a:ln w="9525">
            <a:solidFill>
              <a:srgbClr val="FFFFFF"/>
            </a:solidFill>
            <a:prstDash val="solid"/>
          </a:ln>
        </p:spPr>
        <p:txBody>
          <a:bodyPr/>
          <a:lstStyle/>
          <a:p>
            <a:endParaRPr lang="zh-CN" altLang="en-US"/>
          </a:p>
        </p:txBody>
      </p:sp>
      <p:sp>
        <p:nvSpPr>
          <p:cNvPr id="27" name="椭圆 26">
            <a:extLst>
              <a:ext uri="{FF2B5EF4-FFF2-40B4-BE49-F238E27FC236}">
                <a16:creationId xmlns:a16="http://schemas.microsoft.com/office/drawing/2014/main" id="{31DF3E97-5AD8-4264-A4B9-B3CCD1A66AA1}"/>
              </a:ext>
            </a:extLst>
          </p:cNvPr>
          <p:cNvSpPr>
            <a:spLocks noGrp="1"/>
          </p:cNvSpPr>
          <p:nvPr/>
        </p:nvSpPr>
        <p:spPr>
          <a:xfrm>
            <a:off x="7372350" y="2762250"/>
            <a:ext cx="95250" cy="95250"/>
          </a:xfrm>
          <a:prstGeom prst="ellipse">
            <a:avLst/>
          </a:prstGeom>
          <a:solidFill>
            <a:srgbClr val="014DA1"/>
          </a:solidFill>
          <a:ln w="9525">
            <a:solidFill>
              <a:srgbClr val="FFFFFF"/>
            </a:solidFill>
            <a:prstDash val="solid"/>
          </a:ln>
        </p:spPr>
        <p:txBody>
          <a:bodyPr/>
          <a:lstStyle/>
          <a:p>
            <a:endParaRPr lang="zh-CN" altLang="en-US"/>
          </a:p>
        </p:txBody>
      </p:sp>
      <p:sp>
        <p:nvSpPr>
          <p:cNvPr id="28" name="矩形 27">
            <a:extLst>
              <a:ext uri="{FF2B5EF4-FFF2-40B4-BE49-F238E27FC236}">
                <a16:creationId xmlns:a16="http://schemas.microsoft.com/office/drawing/2014/main" id="{2E6E2466-F476-4F3E-A99E-461C8AF2FA78}"/>
              </a:ext>
            </a:extLst>
          </p:cNvPr>
          <p:cNvSpPr>
            <a:spLocks noGrp="1"/>
          </p:cNvSpPr>
          <p:nvPr/>
        </p:nvSpPr>
        <p:spPr>
          <a:xfrm>
            <a:off x="7962900" y="2000250"/>
            <a:ext cx="1428750" cy="2400300"/>
          </a:xfrm>
          <a:prstGeom prst="rect">
            <a:avLst/>
          </a:prstGeom>
          <a:solidFill>
            <a:srgbClr val="FFFFFF"/>
          </a:solidFill>
          <a:ln w="9525">
            <a:solidFill>
              <a:srgbClr val="C5CFDB"/>
            </a:solidFill>
            <a:prstDash val="solid"/>
          </a:ln>
        </p:spPr>
        <p:txBody>
          <a:bodyPr/>
          <a:lstStyle/>
          <a:p>
            <a:endParaRPr lang="zh-CN" altLang="en-US"/>
          </a:p>
        </p:txBody>
      </p:sp>
      <p:sp>
        <p:nvSpPr>
          <p:cNvPr id="29" name="矩形 28">
            <a:extLst>
              <a:ext uri="{FF2B5EF4-FFF2-40B4-BE49-F238E27FC236}">
                <a16:creationId xmlns:a16="http://schemas.microsoft.com/office/drawing/2014/main" id="{F25FC7B2-0751-4C35-AC8F-9C9E78E08BFB}"/>
              </a:ext>
            </a:extLst>
          </p:cNvPr>
          <p:cNvSpPr>
            <a:spLocks noGrp="1"/>
          </p:cNvSpPr>
          <p:nvPr/>
        </p:nvSpPr>
        <p:spPr>
          <a:xfrm>
            <a:off x="8077200" y="2152650"/>
            <a:ext cx="1200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r ≈ 0</a:t>
            </a:r>
          </a:p>
        </p:txBody>
      </p:sp>
      <p:sp>
        <p:nvSpPr>
          <p:cNvPr id="30" name="矩形 29">
            <a:extLst>
              <a:ext uri="{FF2B5EF4-FFF2-40B4-BE49-F238E27FC236}">
                <a16:creationId xmlns:a16="http://schemas.microsoft.com/office/drawing/2014/main" id="{7D7AEDA9-D6D6-4996-89AE-8AF702CC5FDB}"/>
              </a:ext>
            </a:extLst>
          </p:cNvPr>
          <p:cNvSpPr>
            <a:spLocks noGrp="1"/>
          </p:cNvSpPr>
          <p:nvPr/>
        </p:nvSpPr>
        <p:spPr>
          <a:xfrm>
            <a:off x="8229600" y="3981450"/>
            <a:ext cx="952500" cy="190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81013CC8-4824-4006-A46F-A3A075C831DF}"/>
              </a:ext>
            </a:extLst>
          </p:cNvPr>
          <p:cNvSpPr>
            <a:spLocks noGrp="1"/>
          </p:cNvSpPr>
          <p:nvPr/>
        </p:nvSpPr>
        <p:spPr>
          <a:xfrm>
            <a:off x="8229600" y="2609850"/>
            <a:ext cx="19050" cy="13906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32" name="椭圆 31">
            <a:extLst>
              <a:ext uri="{FF2B5EF4-FFF2-40B4-BE49-F238E27FC236}">
                <a16:creationId xmlns:a16="http://schemas.microsoft.com/office/drawing/2014/main" id="{956326FB-98E8-4298-BE62-BA92ACBF57A9}"/>
              </a:ext>
            </a:extLst>
          </p:cNvPr>
          <p:cNvSpPr>
            <a:spLocks noGrp="1"/>
          </p:cNvSpPr>
          <p:nvPr/>
        </p:nvSpPr>
        <p:spPr>
          <a:xfrm>
            <a:off x="8191500" y="3314700"/>
            <a:ext cx="95250" cy="95250"/>
          </a:xfrm>
          <a:prstGeom prst="ellipse">
            <a:avLst/>
          </a:prstGeom>
          <a:solidFill>
            <a:srgbClr val="B4964B"/>
          </a:solidFill>
          <a:ln w="9525">
            <a:solidFill>
              <a:srgbClr val="FFFFFF"/>
            </a:solidFill>
            <a:prstDash val="solid"/>
          </a:ln>
        </p:spPr>
        <p:txBody>
          <a:bodyPr/>
          <a:lstStyle/>
          <a:p>
            <a:endParaRPr lang="zh-CN" altLang="en-US"/>
          </a:p>
        </p:txBody>
      </p:sp>
      <p:sp>
        <p:nvSpPr>
          <p:cNvPr id="33" name="椭圆 32">
            <a:extLst>
              <a:ext uri="{FF2B5EF4-FFF2-40B4-BE49-F238E27FC236}">
                <a16:creationId xmlns:a16="http://schemas.microsoft.com/office/drawing/2014/main" id="{97AD27EF-53DB-4F9A-BF75-B239BA47D752}"/>
              </a:ext>
            </a:extLst>
          </p:cNvPr>
          <p:cNvSpPr>
            <a:spLocks noGrp="1"/>
          </p:cNvSpPr>
          <p:nvPr/>
        </p:nvSpPr>
        <p:spPr>
          <a:xfrm>
            <a:off x="8362950" y="3771900"/>
            <a:ext cx="95250" cy="95250"/>
          </a:xfrm>
          <a:prstGeom prst="ellipse">
            <a:avLst/>
          </a:prstGeom>
          <a:solidFill>
            <a:srgbClr val="B4964B"/>
          </a:solidFill>
          <a:ln w="9525">
            <a:solidFill>
              <a:srgbClr val="FFFFFF"/>
            </a:solidFill>
            <a:prstDash val="solid"/>
          </a:ln>
        </p:spPr>
        <p:txBody>
          <a:bodyPr/>
          <a:lstStyle/>
          <a:p>
            <a:endParaRPr lang="zh-CN" altLang="en-US"/>
          </a:p>
        </p:txBody>
      </p:sp>
      <p:sp>
        <p:nvSpPr>
          <p:cNvPr id="34" name="椭圆 33">
            <a:extLst>
              <a:ext uri="{FF2B5EF4-FFF2-40B4-BE49-F238E27FC236}">
                <a16:creationId xmlns:a16="http://schemas.microsoft.com/office/drawing/2014/main" id="{C7291F29-3A4F-4423-9FC4-BCB0AE8D7176}"/>
              </a:ext>
            </a:extLst>
          </p:cNvPr>
          <p:cNvSpPr>
            <a:spLocks noGrp="1"/>
          </p:cNvSpPr>
          <p:nvPr/>
        </p:nvSpPr>
        <p:spPr>
          <a:xfrm>
            <a:off x="8534400" y="2895600"/>
            <a:ext cx="95250" cy="95250"/>
          </a:xfrm>
          <a:prstGeom prst="ellipse">
            <a:avLst/>
          </a:prstGeom>
          <a:solidFill>
            <a:srgbClr val="B4964B"/>
          </a:solidFill>
          <a:ln w="9525">
            <a:solidFill>
              <a:srgbClr val="FFFFFF"/>
            </a:solidFill>
            <a:prstDash val="solid"/>
          </a:ln>
        </p:spPr>
        <p:txBody>
          <a:bodyPr/>
          <a:lstStyle/>
          <a:p>
            <a:endParaRPr lang="zh-CN" altLang="en-US"/>
          </a:p>
        </p:txBody>
      </p:sp>
      <p:sp>
        <p:nvSpPr>
          <p:cNvPr id="35" name="椭圆 34">
            <a:extLst>
              <a:ext uri="{FF2B5EF4-FFF2-40B4-BE49-F238E27FC236}">
                <a16:creationId xmlns:a16="http://schemas.microsoft.com/office/drawing/2014/main" id="{B5D21862-4441-445A-A390-937EE681948F}"/>
              </a:ext>
            </a:extLst>
          </p:cNvPr>
          <p:cNvSpPr>
            <a:spLocks noGrp="1"/>
          </p:cNvSpPr>
          <p:nvPr/>
        </p:nvSpPr>
        <p:spPr>
          <a:xfrm>
            <a:off x="8705850" y="3486150"/>
            <a:ext cx="95250" cy="95250"/>
          </a:xfrm>
          <a:prstGeom prst="ellipse">
            <a:avLst/>
          </a:prstGeom>
          <a:solidFill>
            <a:srgbClr val="B4964B"/>
          </a:solidFill>
          <a:ln w="9525">
            <a:solidFill>
              <a:srgbClr val="FFFFFF"/>
            </a:solidFill>
            <a:prstDash val="solid"/>
          </a:ln>
        </p:spPr>
        <p:txBody>
          <a:bodyPr/>
          <a:lstStyle/>
          <a:p>
            <a:endParaRPr lang="zh-CN" altLang="en-US"/>
          </a:p>
        </p:txBody>
      </p:sp>
      <p:sp>
        <p:nvSpPr>
          <p:cNvPr id="36" name="椭圆 35">
            <a:extLst>
              <a:ext uri="{FF2B5EF4-FFF2-40B4-BE49-F238E27FC236}">
                <a16:creationId xmlns:a16="http://schemas.microsoft.com/office/drawing/2014/main" id="{1DCE8FA5-951E-4DE0-AEEE-C5666FB9FD1E}"/>
              </a:ext>
            </a:extLst>
          </p:cNvPr>
          <p:cNvSpPr>
            <a:spLocks noGrp="1"/>
          </p:cNvSpPr>
          <p:nvPr/>
        </p:nvSpPr>
        <p:spPr>
          <a:xfrm>
            <a:off x="8877300" y="3067050"/>
            <a:ext cx="95250" cy="95250"/>
          </a:xfrm>
          <a:prstGeom prst="ellipse">
            <a:avLst/>
          </a:prstGeom>
          <a:solidFill>
            <a:srgbClr val="B4964B"/>
          </a:solidFill>
          <a:ln w="9525">
            <a:solidFill>
              <a:srgbClr val="FFFFFF"/>
            </a:solidFill>
            <a:prstDash val="solid"/>
          </a:ln>
        </p:spPr>
        <p:txBody>
          <a:bodyPr/>
          <a:lstStyle/>
          <a:p>
            <a:endParaRPr lang="zh-CN" altLang="en-US"/>
          </a:p>
        </p:txBody>
      </p:sp>
      <p:sp>
        <p:nvSpPr>
          <p:cNvPr id="37" name="椭圆 36">
            <a:extLst>
              <a:ext uri="{FF2B5EF4-FFF2-40B4-BE49-F238E27FC236}">
                <a16:creationId xmlns:a16="http://schemas.microsoft.com/office/drawing/2014/main" id="{FBD370CF-47CA-4118-B3A3-D53654B130A0}"/>
              </a:ext>
            </a:extLst>
          </p:cNvPr>
          <p:cNvSpPr>
            <a:spLocks noGrp="1"/>
          </p:cNvSpPr>
          <p:nvPr/>
        </p:nvSpPr>
        <p:spPr>
          <a:xfrm>
            <a:off x="9067800" y="3657600"/>
            <a:ext cx="95250" cy="95250"/>
          </a:xfrm>
          <a:prstGeom prst="ellipse">
            <a:avLst/>
          </a:prstGeom>
          <a:solidFill>
            <a:srgbClr val="B4964B"/>
          </a:solidFill>
          <a:ln w="9525">
            <a:solidFill>
              <a:srgbClr val="FFFFFF"/>
            </a:solidFill>
            <a:prstDash val="solid"/>
          </a:ln>
        </p:spPr>
        <p:txBody>
          <a:bodyPr/>
          <a:lstStyle/>
          <a:p>
            <a:endParaRPr lang="zh-CN" altLang="en-US"/>
          </a:p>
        </p:txBody>
      </p:sp>
      <p:sp>
        <p:nvSpPr>
          <p:cNvPr id="38" name="矩形 37">
            <a:extLst>
              <a:ext uri="{FF2B5EF4-FFF2-40B4-BE49-F238E27FC236}">
                <a16:creationId xmlns:a16="http://schemas.microsoft.com/office/drawing/2014/main" id="{F57C287F-6750-4678-A698-1D634467F998}"/>
              </a:ext>
            </a:extLst>
          </p:cNvPr>
          <p:cNvSpPr>
            <a:spLocks noGrp="1"/>
          </p:cNvSpPr>
          <p:nvPr/>
        </p:nvSpPr>
        <p:spPr>
          <a:xfrm>
            <a:off x="9658350" y="2000250"/>
            <a:ext cx="1428750" cy="2400300"/>
          </a:xfrm>
          <a:prstGeom prst="rect">
            <a:avLst/>
          </a:prstGeom>
          <a:solidFill>
            <a:srgbClr val="FFFFFF"/>
          </a:solidFill>
          <a:ln w="9525">
            <a:solidFill>
              <a:srgbClr val="C5CFDB"/>
            </a:solidFill>
            <a:prstDash val="solid"/>
          </a:ln>
        </p:spPr>
        <p:txBody>
          <a:bodyPr/>
          <a:lstStyle/>
          <a:p>
            <a:endParaRPr lang="zh-CN" altLang="en-US"/>
          </a:p>
        </p:txBody>
      </p:sp>
      <p:sp>
        <p:nvSpPr>
          <p:cNvPr id="39" name="矩形 38">
            <a:extLst>
              <a:ext uri="{FF2B5EF4-FFF2-40B4-BE49-F238E27FC236}">
                <a16:creationId xmlns:a16="http://schemas.microsoft.com/office/drawing/2014/main" id="{16511828-5640-464C-868C-965388D1C754}"/>
              </a:ext>
            </a:extLst>
          </p:cNvPr>
          <p:cNvSpPr>
            <a:spLocks noGrp="1"/>
          </p:cNvSpPr>
          <p:nvPr/>
        </p:nvSpPr>
        <p:spPr>
          <a:xfrm>
            <a:off x="9772650" y="2152650"/>
            <a:ext cx="12001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A33A3A"/>
                </a:solidFill>
                <a:latin typeface="黑体"/>
                <a:ea typeface="黑体"/>
                <a:cs typeface="黑体"/>
              </a:defRPr>
            </a:pPr>
            <a:r>
              <a:rPr>
                <a:latin typeface="Times New Roman"/>
                <a:ea typeface="Times New Roman"/>
                <a:cs typeface="Times New Roman"/>
              </a:rPr>
              <a:t>r ≈ −1</a:t>
            </a:r>
          </a:p>
        </p:txBody>
      </p:sp>
      <p:sp>
        <p:nvSpPr>
          <p:cNvPr id="40" name="矩形 39">
            <a:extLst>
              <a:ext uri="{FF2B5EF4-FFF2-40B4-BE49-F238E27FC236}">
                <a16:creationId xmlns:a16="http://schemas.microsoft.com/office/drawing/2014/main" id="{CA7D88FB-5851-4C33-AF7E-DE17ABBB713D}"/>
              </a:ext>
            </a:extLst>
          </p:cNvPr>
          <p:cNvSpPr>
            <a:spLocks noGrp="1"/>
          </p:cNvSpPr>
          <p:nvPr/>
        </p:nvSpPr>
        <p:spPr>
          <a:xfrm>
            <a:off x="9925050" y="3981450"/>
            <a:ext cx="952500" cy="190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41" name="矩形 40">
            <a:extLst>
              <a:ext uri="{FF2B5EF4-FFF2-40B4-BE49-F238E27FC236}">
                <a16:creationId xmlns:a16="http://schemas.microsoft.com/office/drawing/2014/main" id="{E320BC7D-7EB7-4F27-BD81-0EF7C6FBAC6E}"/>
              </a:ext>
            </a:extLst>
          </p:cNvPr>
          <p:cNvSpPr>
            <a:spLocks noGrp="1"/>
          </p:cNvSpPr>
          <p:nvPr/>
        </p:nvSpPr>
        <p:spPr>
          <a:xfrm>
            <a:off x="9925050" y="2609850"/>
            <a:ext cx="19050" cy="13906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42" name="椭圆 41">
            <a:extLst>
              <a:ext uri="{FF2B5EF4-FFF2-40B4-BE49-F238E27FC236}">
                <a16:creationId xmlns:a16="http://schemas.microsoft.com/office/drawing/2014/main" id="{3ADC7FF8-2AED-4B22-A590-B2C808D7942A}"/>
              </a:ext>
            </a:extLst>
          </p:cNvPr>
          <p:cNvSpPr>
            <a:spLocks noGrp="1"/>
          </p:cNvSpPr>
          <p:nvPr/>
        </p:nvSpPr>
        <p:spPr>
          <a:xfrm>
            <a:off x="9886950" y="2762250"/>
            <a:ext cx="95250" cy="95250"/>
          </a:xfrm>
          <a:prstGeom prst="ellipse">
            <a:avLst/>
          </a:prstGeom>
          <a:solidFill>
            <a:srgbClr val="A33A3A"/>
          </a:solidFill>
          <a:ln w="9525">
            <a:solidFill>
              <a:srgbClr val="FFFFFF"/>
            </a:solidFill>
            <a:prstDash val="solid"/>
          </a:ln>
        </p:spPr>
        <p:txBody>
          <a:bodyPr/>
          <a:lstStyle/>
          <a:p>
            <a:endParaRPr lang="zh-CN" altLang="en-US"/>
          </a:p>
        </p:txBody>
      </p:sp>
      <p:sp>
        <p:nvSpPr>
          <p:cNvPr id="43" name="椭圆 42">
            <a:extLst>
              <a:ext uri="{FF2B5EF4-FFF2-40B4-BE49-F238E27FC236}">
                <a16:creationId xmlns:a16="http://schemas.microsoft.com/office/drawing/2014/main" id="{971DB467-5514-45EB-831B-BB3EBB5121FE}"/>
              </a:ext>
            </a:extLst>
          </p:cNvPr>
          <p:cNvSpPr>
            <a:spLocks noGrp="1"/>
          </p:cNvSpPr>
          <p:nvPr/>
        </p:nvSpPr>
        <p:spPr>
          <a:xfrm>
            <a:off x="10058400" y="2990850"/>
            <a:ext cx="95250" cy="95250"/>
          </a:xfrm>
          <a:prstGeom prst="ellipse">
            <a:avLst/>
          </a:prstGeom>
          <a:solidFill>
            <a:srgbClr val="A33A3A"/>
          </a:solidFill>
          <a:ln w="9525">
            <a:solidFill>
              <a:srgbClr val="FFFFFF"/>
            </a:solidFill>
            <a:prstDash val="solid"/>
          </a:ln>
        </p:spPr>
        <p:txBody>
          <a:bodyPr/>
          <a:lstStyle/>
          <a:p>
            <a:endParaRPr lang="zh-CN" altLang="en-US"/>
          </a:p>
        </p:txBody>
      </p:sp>
      <p:sp>
        <p:nvSpPr>
          <p:cNvPr id="44" name="椭圆 43">
            <a:extLst>
              <a:ext uri="{FF2B5EF4-FFF2-40B4-BE49-F238E27FC236}">
                <a16:creationId xmlns:a16="http://schemas.microsoft.com/office/drawing/2014/main" id="{5701566B-E57E-4C62-90B8-AF67B108365A}"/>
              </a:ext>
            </a:extLst>
          </p:cNvPr>
          <p:cNvSpPr>
            <a:spLocks noGrp="1"/>
          </p:cNvSpPr>
          <p:nvPr/>
        </p:nvSpPr>
        <p:spPr>
          <a:xfrm>
            <a:off x="10229850" y="3200400"/>
            <a:ext cx="95250" cy="95250"/>
          </a:xfrm>
          <a:prstGeom prst="ellipse">
            <a:avLst/>
          </a:prstGeom>
          <a:solidFill>
            <a:srgbClr val="A33A3A"/>
          </a:solidFill>
          <a:ln w="9525">
            <a:solidFill>
              <a:srgbClr val="FFFFFF"/>
            </a:solidFill>
            <a:prstDash val="solid"/>
          </a:ln>
        </p:spPr>
        <p:txBody>
          <a:bodyPr/>
          <a:lstStyle/>
          <a:p>
            <a:endParaRPr lang="zh-CN" altLang="en-US"/>
          </a:p>
        </p:txBody>
      </p:sp>
      <p:sp>
        <p:nvSpPr>
          <p:cNvPr id="45" name="椭圆 44">
            <a:extLst>
              <a:ext uri="{FF2B5EF4-FFF2-40B4-BE49-F238E27FC236}">
                <a16:creationId xmlns:a16="http://schemas.microsoft.com/office/drawing/2014/main" id="{55A5FDAC-2EAA-4782-B5B5-74C7C857B9B4}"/>
              </a:ext>
            </a:extLst>
          </p:cNvPr>
          <p:cNvSpPr>
            <a:spLocks noGrp="1"/>
          </p:cNvSpPr>
          <p:nvPr/>
        </p:nvSpPr>
        <p:spPr>
          <a:xfrm>
            <a:off x="10401300" y="3390900"/>
            <a:ext cx="95250" cy="95250"/>
          </a:xfrm>
          <a:prstGeom prst="ellipse">
            <a:avLst/>
          </a:prstGeom>
          <a:solidFill>
            <a:srgbClr val="A33A3A"/>
          </a:solidFill>
          <a:ln w="9525">
            <a:solidFill>
              <a:srgbClr val="FFFFFF"/>
            </a:solidFill>
            <a:prstDash val="solid"/>
          </a:ln>
        </p:spPr>
        <p:txBody>
          <a:bodyPr/>
          <a:lstStyle/>
          <a:p>
            <a:endParaRPr lang="zh-CN" altLang="en-US"/>
          </a:p>
        </p:txBody>
      </p:sp>
      <p:sp>
        <p:nvSpPr>
          <p:cNvPr id="46" name="椭圆 45">
            <a:extLst>
              <a:ext uri="{FF2B5EF4-FFF2-40B4-BE49-F238E27FC236}">
                <a16:creationId xmlns:a16="http://schemas.microsoft.com/office/drawing/2014/main" id="{597BCBDF-E7AA-4A4B-A11F-211D8BCBF1CE}"/>
              </a:ext>
            </a:extLst>
          </p:cNvPr>
          <p:cNvSpPr>
            <a:spLocks noGrp="1"/>
          </p:cNvSpPr>
          <p:nvPr/>
        </p:nvSpPr>
        <p:spPr>
          <a:xfrm>
            <a:off x="10572750" y="3648075"/>
            <a:ext cx="95250" cy="95250"/>
          </a:xfrm>
          <a:prstGeom prst="ellipse">
            <a:avLst/>
          </a:prstGeom>
          <a:solidFill>
            <a:srgbClr val="A33A3A"/>
          </a:solidFill>
          <a:ln w="9525">
            <a:solidFill>
              <a:srgbClr val="FFFFFF"/>
            </a:solidFill>
            <a:prstDash val="solid"/>
          </a:ln>
        </p:spPr>
        <p:txBody>
          <a:bodyPr/>
          <a:lstStyle/>
          <a:p>
            <a:endParaRPr lang="zh-CN" altLang="en-US"/>
          </a:p>
        </p:txBody>
      </p:sp>
      <p:sp>
        <p:nvSpPr>
          <p:cNvPr id="47" name="椭圆 46">
            <a:extLst>
              <a:ext uri="{FF2B5EF4-FFF2-40B4-BE49-F238E27FC236}">
                <a16:creationId xmlns:a16="http://schemas.microsoft.com/office/drawing/2014/main" id="{9DEA7111-5E41-473E-A059-C32DF657F986}"/>
              </a:ext>
            </a:extLst>
          </p:cNvPr>
          <p:cNvSpPr>
            <a:spLocks noGrp="1"/>
          </p:cNvSpPr>
          <p:nvPr/>
        </p:nvSpPr>
        <p:spPr>
          <a:xfrm>
            <a:off x="10763250" y="3867150"/>
            <a:ext cx="95250" cy="95250"/>
          </a:xfrm>
          <a:prstGeom prst="ellipse">
            <a:avLst/>
          </a:prstGeom>
          <a:solidFill>
            <a:srgbClr val="A33A3A"/>
          </a:solidFill>
          <a:ln w="9525">
            <a:solidFill>
              <a:srgbClr val="FFFFFF"/>
            </a:solidFill>
            <a:prstDash val="solid"/>
          </a:ln>
        </p:spPr>
        <p:txBody>
          <a:bodyPr/>
          <a:lstStyle/>
          <a:p>
            <a:endParaRPr lang="zh-CN" altLang="en-US"/>
          </a:p>
        </p:txBody>
      </p:sp>
      <p:sp>
        <p:nvSpPr>
          <p:cNvPr id="48" name="矩形 47">
            <a:extLst>
              <a:ext uri="{FF2B5EF4-FFF2-40B4-BE49-F238E27FC236}">
                <a16:creationId xmlns:a16="http://schemas.microsoft.com/office/drawing/2014/main" id="{8170A14F-0379-4CA3-A677-ADE014C52045}"/>
              </a:ext>
            </a:extLst>
          </p:cNvPr>
          <p:cNvSpPr>
            <a:spLocks noGrp="1"/>
          </p:cNvSpPr>
          <p:nvPr/>
        </p:nvSpPr>
        <p:spPr>
          <a:xfrm>
            <a:off x="6419850" y="4533900"/>
            <a:ext cx="1104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14DA1"/>
                </a:solidFill>
                <a:latin typeface="黑体"/>
                <a:ea typeface="黑体"/>
                <a:cs typeface="黑体"/>
              </a:defRPr>
            </a:pPr>
            <a:r>
              <a:rPr>
                <a:latin typeface="黑体"/>
                <a:ea typeface="黑体"/>
                <a:cs typeface="黑体"/>
              </a:rPr>
              <a:t>方向明确</a:t>
            </a:r>
          </a:p>
        </p:txBody>
      </p:sp>
      <p:sp>
        <p:nvSpPr>
          <p:cNvPr id="49" name="矩形 48">
            <a:extLst>
              <a:ext uri="{FF2B5EF4-FFF2-40B4-BE49-F238E27FC236}">
                <a16:creationId xmlns:a16="http://schemas.microsoft.com/office/drawing/2014/main" id="{0D1E30E3-2DF1-4154-9DFB-DB363CC573ED}"/>
              </a:ext>
            </a:extLst>
          </p:cNvPr>
          <p:cNvSpPr>
            <a:spLocks noGrp="1"/>
          </p:cNvSpPr>
          <p:nvPr/>
        </p:nvSpPr>
        <p:spPr>
          <a:xfrm>
            <a:off x="8115300" y="4533900"/>
            <a:ext cx="1104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B4964B"/>
                </a:solidFill>
                <a:latin typeface="黑体"/>
                <a:ea typeface="黑体"/>
                <a:cs typeface="黑体"/>
              </a:defRPr>
            </a:pPr>
            <a:r>
              <a:rPr>
                <a:latin typeface="黑体"/>
                <a:ea typeface="黑体"/>
                <a:cs typeface="黑体"/>
              </a:rPr>
              <a:t>无线性趋势</a:t>
            </a:r>
          </a:p>
        </p:txBody>
      </p:sp>
      <p:sp>
        <p:nvSpPr>
          <p:cNvPr id="50" name="矩形 49">
            <a:extLst>
              <a:ext uri="{FF2B5EF4-FFF2-40B4-BE49-F238E27FC236}">
                <a16:creationId xmlns:a16="http://schemas.microsoft.com/office/drawing/2014/main" id="{F4FD7775-01C6-4527-84A0-6F0758E8BB60}"/>
              </a:ext>
            </a:extLst>
          </p:cNvPr>
          <p:cNvSpPr>
            <a:spLocks noGrp="1"/>
          </p:cNvSpPr>
          <p:nvPr/>
        </p:nvSpPr>
        <p:spPr>
          <a:xfrm>
            <a:off x="9810750" y="4533900"/>
            <a:ext cx="1104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A33A3A"/>
                </a:solidFill>
                <a:latin typeface="黑体"/>
                <a:ea typeface="黑体"/>
                <a:cs typeface="黑体"/>
              </a:defRPr>
            </a:pPr>
            <a:r>
              <a:rPr>
                <a:latin typeface="黑体"/>
                <a:ea typeface="黑体"/>
                <a:cs typeface="黑体"/>
              </a:rPr>
              <a:t>反向变化</a:t>
            </a:r>
          </a:p>
        </p:txBody>
      </p:sp>
      <p:sp>
        <p:nvSpPr>
          <p:cNvPr id="51" name="矩形 50">
            <a:extLst>
              <a:ext uri="{FF2B5EF4-FFF2-40B4-BE49-F238E27FC236}">
                <a16:creationId xmlns:a16="http://schemas.microsoft.com/office/drawing/2014/main" id="{EAC9617F-F7FB-40C1-95CC-33B80FEAA64C}"/>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52" name="矩形 51">
            <a:extLst>
              <a:ext uri="{FF2B5EF4-FFF2-40B4-BE49-F238E27FC236}">
                <a16:creationId xmlns:a16="http://schemas.microsoft.com/office/drawing/2014/main" id="{B58B49A8-7EA3-4597-B36D-2051B6920C5C}"/>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相关系数必须与散点图和业务机制一起解释。</a:t>
            </a:r>
          </a:p>
        </p:txBody>
      </p:sp>
    </p:spTree>
    <p:extLst>
      <p:ext uri="{BB962C8B-B14F-4D97-AF65-F5344CB8AC3E}">
        <p14:creationId xmlns:p14="http://schemas.microsoft.com/office/powerpoint/2010/main" val="4827716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矩形 86">
            <a:extLst>
              <a:ext uri="{FF2B5EF4-FFF2-40B4-BE49-F238E27FC236}">
                <a16:creationId xmlns:a16="http://schemas.microsoft.com/office/drawing/2014/main" id="{A10E1E3D-9E90-4D21-8537-3ACA1D8C63F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E2B4ABA0-0004-41F4-9439-3AFB02A6F4B1}"/>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9CC1B7D6-05F2-4BD6-A76A-DCAB95155F4C}"/>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3ECB2037-27B8-4492-B2D9-35689BDE87F4}"/>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相关矩阵用于筛查变量关系</a:t>
            </a:r>
          </a:p>
        </p:txBody>
      </p:sp>
      <p:sp>
        <p:nvSpPr>
          <p:cNvPr id="5" name="矩形 4">
            <a:extLst>
              <a:ext uri="{FF2B5EF4-FFF2-40B4-BE49-F238E27FC236}">
                <a16:creationId xmlns:a16="http://schemas.microsoft.com/office/drawing/2014/main" id="{FF081A69-7AE5-421E-A2E2-367CF012B49E}"/>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87/90</a:t>
            </a:r>
          </a:p>
        </p:txBody>
      </p:sp>
      <p:sp>
        <p:nvSpPr>
          <p:cNvPr id="6" name="矩形 5">
            <a:extLst>
              <a:ext uri="{FF2B5EF4-FFF2-40B4-BE49-F238E27FC236}">
                <a16:creationId xmlns:a16="http://schemas.microsoft.com/office/drawing/2014/main" id="{58728D79-80F0-45DA-830E-8A9A7E78AADF}"/>
              </a:ext>
            </a:extLst>
          </p:cNvPr>
          <p:cNvSpPr>
            <a:spLocks noGrp="1"/>
          </p:cNvSpPr>
          <p:nvPr/>
        </p:nvSpPr>
        <p:spPr>
          <a:xfrm>
            <a:off x="2247900" y="12382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login</a:t>
            </a:r>
          </a:p>
        </p:txBody>
      </p:sp>
      <p:sp>
        <p:nvSpPr>
          <p:cNvPr id="7" name="矩形 6">
            <a:extLst>
              <a:ext uri="{FF2B5EF4-FFF2-40B4-BE49-F238E27FC236}">
                <a16:creationId xmlns:a16="http://schemas.microsoft.com/office/drawing/2014/main" id="{C45D8F92-1694-4673-ABFE-1191190CCC49}"/>
              </a:ext>
            </a:extLst>
          </p:cNvPr>
          <p:cNvSpPr>
            <a:spLocks noGrp="1"/>
          </p:cNvSpPr>
          <p:nvPr/>
        </p:nvSpPr>
        <p:spPr>
          <a:xfrm>
            <a:off x="1257300" y="179070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00204A"/>
                </a:solidFill>
                <a:latin typeface="黑体"/>
                <a:ea typeface="黑体"/>
                <a:cs typeface="黑体"/>
              </a:defRPr>
            </a:pPr>
            <a:r>
              <a:rPr>
                <a:latin typeface="Times New Roman"/>
                <a:ea typeface="Times New Roman"/>
                <a:cs typeface="Times New Roman"/>
              </a:rPr>
              <a:t>login</a:t>
            </a:r>
          </a:p>
        </p:txBody>
      </p:sp>
      <p:sp>
        <p:nvSpPr>
          <p:cNvPr id="8" name="矩形 7">
            <a:extLst>
              <a:ext uri="{FF2B5EF4-FFF2-40B4-BE49-F238E27FC236}">
                <a16:creationId xmlns:a16="http://schemas.microsoft.com/office/drawing/2014/main" id="{9A7F3ED7-8B0E-497D-951A-6175EEAD8D45}"/>
              </a:ext>
            </a:extLst>
          </p:cNvPr>
          <p:cNvSpPr>
            <a:spLocks noGrp="1"/>
          </p:cNvSpPr>
          <p:nvPr/>
        </p:nvSpPr>
        <p:spPr>
          <a:xfrm>
            <a:off x="2933700" y="12382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video</a:t>
            </a:r>
          </a:p>
        </p:txBody>
      </p:sp>
      <p:sp>
        <p:nvSpPr>
          <p:cNvPr id="9" name="矩形 8">
            <a:extLst>
              <a:ext uri="{FF2B5EF4-FFF2-40B4-BE49-F238E27FC236}">
                <a16:creationId xmlns:a16="http://schemas.microsoft.com/office/drawing/2014/main" id="{33D0BEA0-6532-41FB-9CA6-D217AF171E9C}"/>
              </a:ext>
            </a:extLst>
          </p:cNvPr>
          <p:cNvSpPr>
            <a:spLocks noGrp="1"/>
          </p:cNvSpPr>
          <p:nvPr/>
        </p:nvSpPr>
        <p:spPr>
          <a:xfrm>
            <a:off x="1257300" y="247650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00204A"/>
                </a:solidFill>
                <a:latin typeface="黑体"/>
                <a:ea typeface="黑体"/>
                <a:cs typeface="黑体"/>
              </a:defRPr>
            </a:pPr>
            <a:r>
              <a:rPr>
                <a:latin typeface="Times New Roman"/>
                <a:ea typeface="Times New Roman"/>
                <a:cs typeface="Times New Roman"/>
              </a:rPr>
              <a:t>video</a:t>
            </a:r>
          </a:p>
        </p:txBody>
      </p:sp>
      <p:sp>
        <p:nvSpPr>
          <p:cNvPr id="10" name="矩形 9">
            <a:extLst>
              <a:ext uri="{FF2B5EF4-FFF2-40B4-BE49-F238E27FC236}">
                <a16:creationId xmlns:a16="http://schemas.microsoft.com/office/drawing/2014/main" id="{967F2678-7D63-4B25-99BF-B30C47A95291}"/>
              </a:ext>
            </a:extLst>
          </p:cNvPr>
          <p:cNvSpPr>
            <a:spLocks noGrp="1"/>
          </p:cNvSpPr>
          <p:nvPr/>
        </p:nvSpPr>
        <p:spPr>
          <a:xfrm>
            <a:off x="3619500" y="12382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quiz</a:t>
            </a:r>
          </a:p>
        </p:txBody>
      </p:sp>
      <p:sp>
        <p:nvSpPr>
          <p:cNvPr id="11" name="矩形 10">
            <a:extLst>
              <a:ext uri="{FF2B5EF4-FFF2-40B4-BE49-F238E27FC236}">
                <a16:creationId xmlns:a16="http://schemas.microsoft.com/office/drawing/2014/main" id="{B5325538-B83C-4DCC-9892-C2F5511F8A47}"/>
              </a:ext>
            </a:extLst>
          </p:cNvPr>
          <p:cNvSpPr>
            <a:spLocks noGrp="1"/>
          </p:cNvSpPr>
          <p:nvPr/>
        </p:nvSpPr>
        <p:spPr>
          <a:xfrm>
            <a:off x="1257300" y="316230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00204A"/>
                </a:solidFill>
                <a:latin typeface="黑体"/>
                <a:ea typeface="黑体"/>
                <a:cs typeface="黑体"/>
              </a:defRPr>
            </a:pPr>
            <a:r>
              <a:rPr>
                <a:latin typeface="Times New Roman"/>
                <a:ea typeface="Times New Roman"/>
                <a:cs typeface="Times New Roman"/>
              </a:rPr>
              <a:t>quiz</a:t>
            </a:r>
          </a:p>
        </p:txBody>
      </p:sp>
      <p:sp>
        <p:nvSpPr>
          <p:cNvPr id="12" name="矩形 11">
            <a:extLst>
              <a:ext uri="{FF2B5EF4-FFF2-40B4-BE49-F238E27FC236}">
                <a16:creationId xmlns:a16="http://schemas.microsoft.com/office/drawing/2014/main" id="{1A4A3E48-20F4-4E68-9E6C-879B3A463425}"/>
              </a:ext>
            </a:extLst>
          </p:cNvPr>
          <p:cNvSpPr>
            <a:spLocks noGrp="1"/>
          </p:cNvSpPr>
          <p:nvPr/>
        </p:nvSpPr>
        <p:spPr>
          <a:xfrm>
            <a:off x="4305300" y="12382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late</a:t>
            </a:r>
          </a:p>
        </p:txBody>
      </p:sp>
      <p:sp>
        <p:nvSpPr>
          <p:cNvPr id="13" name="矩形 12">
            <a:extLst>
              <a:ext uri="{FF2B5EF4-FFF2-40B4-BE49-F238E27FC236}">
                <a16:creationId xmlns:a16="http://schemas.microsoft.com/office/drawing/2014/main" id="{82E8D430-0C43-42B4-9BE9-6F6E157728B4}"/>
              </a:ext>
            </a:extLst>
          </p:cNvPr>
          <p:cNvSpPr>
            <a:spLocks noGrp="1"/>
          </p:cNvSpPr>
          <p:nvPr/>
        </p:nvSpPr>
        <p:spPr>
          <a:xfrm>
            <a:off x="1257300" y="384810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00204A"/>
                </a:solidFill>
                <a:latin typeface="黑体"/>
                <a:ea typeface="黑体"/>
                <a:cs typeface="黑体"/>
              </a:defRPr>
            </a:pPr>
            <a:r>
              <a:rPr>
                <a:latin typeface="Times New Roman"/>
                <a:ea typeface="Times New Roman"/>
                <a:cs typeface="Times New Roman"/>
              </a:rPr>
              <a:t>late</a:t>
            </a:r>
          </a:p>
        </p:txBody>
      </p:sp>
      <p:sp>
        <p:nvSpPr>
          <p:cNvPr id="14" name="矩形 13">
            <a:extLst>
              <a:ext uri="{FF2B5EF4-FFF2-40B4-BE49-F238E27FC236}">
                <a16:creationId xmlns:a16="http://schemas.microsoft.com/office/drawing/2014/main" id="{48CA6CEE-C8E7-4412-B294-48C0021DB83B}"/>
              </a:ext>
            </a:extLst>
          </p:cNvPr>
          <p:cNvSpPr>
            <a:spLocks noGrp="1"/>
          </p:cNvSpPr>
          <p:nvPr/>
        </p:nvSpPr>
        <p:spPr>
          <a:xfrm>
            <a:off x="4991100" y="1238250"/>
            <a:ext cx="6858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00204A"/>
                </a:solidFill>
                <a:latin typeface="黑体"/>
                <a:ea typeface="黑体"/>
                <a:cs typeface="黑体"/>
              </a:defRPr>
            </a:pPr>
            <a:r>
              <a:rPr>
                <a:latin typeface="Times New Roman"/>
                <a:ea typeface="Times New Roman"/>
                <a:cs typeface="Times New Roman"/>
              </a:rPr>
              <a:t>missing</a:t>
            </a:r>
          </a:p>
        </p:txBody>
      </p:sp>
      <p:sp>
        <p:nvSpPr>
          <p:cNvPr id="15" name="矩形 14">
            <a:extLst>
              <a:ext uri="{FF2B5EF4-FFF2-40B4-BE49-F238E27FC236}">
                <a16:creationId xmlns:a16="http://schemas.microsoft.com/office/drawing/2014/main" id="{7B74F390-C965-4F43-9DE5-181CAD4942B6}"/>
              </a:ext>
            </a:extLst>
          </p:cNvPr>
          <p:cNvSpPr>
            <a:spLocks noGrp="1"/>
          </p:cNvSpPr>
          <p:nvPr/>
        </p:nvSpPr>
        <p:spPr>
          <a:xfrm>
            <a:off x="1257300" y="4533900"/>
            <a:ext cx="876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1">
                <a:solidFill>
                  <a:srgbClr val="00204A"/>
                </a:solidFill>
                <a:latin typeface="黑体"/>
                <a:ea typeface="黑体"/>
                <a:cs typeface="黑体"/>
              </a:defRPr>
            </a:pPr>
            <a:r>
              <a:rPr>
                <a:latin typeface="Times New Roman"/>
                <a:ea typeface="Times New Roman"/>
                <a:cs typeface="Times New Roman"/>
              </a:rPr>
              <a:t>missing</a:t>
            </a:r>
          </a:p>
        </p:txBody>
      </p:sp>
      <p:sp>
        <p:nvSpPr>
          <p:cNvPr id="16" name="矩形 15">
            <a:extLst>
              <a:ext uri="{FF2B5EF4-FFF2-40B4-BE49-F238E27FC236}">
                <a16:creationId xmlns:a16="http://schemas.microsoft.com/office/drawing/2014/main" id="{637EB323-BEBB-4895-A76C-CDB8D3DC0165}"/>
              </a:ext>
            </a:extLst>
          </p:cNvPr>
          <p:cNvSpPr>
            <a:spLocks noGrp="1"/>
          </p:cNvSpPr>
          <p:nvPr/>
        </p:nvSpPr>
        <p:spPr>
          <a:xfrm>
            <a:off x="2247900" y="1600200"/>
            <a:ext cx="666750" cy="666750"/>
          </a:xfrm>
          <a:prstGeom prst="rect">
            <a:avLst/>
          </a:prstGeom>
          <a:solidFill>
            <a:srgbClr val="275B94"/>
          </a:solidFill>
          <a:ln w="9525">
            <a:solidFill>
              <a:srgbClr val="FFFFFF"/>
            </a:solidFill>
            <a:prstDash val="solid"/>
          </a:ln>
        </p:spPr>
        <p:txBody>
          <a:bodyPr/>
          <a:lstStyle/>
          <a:p>
            <a:endParaRPr lang="zh-CN" altLang="en-US"/>
          </a:p>
        </p:txBody>
      </p:sp>
      <p:sp>
        <p:nvSpPr>
          <p:cNvPr id="17" name="矩形 16">
            <a:extLst>
              <a:ext uri="{FF2B5EF4-FFF2-40B4-BE49-F238E27FC236}">
                <a16:creationId xmlns:a16="http://schemas.microsoft.com/office/drawing/2014/main" id="{5DF3F553-1E16-48F6-8FAE-BF7F6997AB7E}"/>
              </a:ext>
            </a:extLst>
          </p:cNvPr>
          <p:cNvSpPr>
            <a:spLocks noGrp="1"/>
          </p:cNvSpPr>
          <p:nvPr/>
        </p:nvSpPr>
        <p:spPr>
          <a:xfrm>
            <a:off x="2286000" y="1809750"/>
            <a:ext cx="590550" cy="209550"/>
          </a:xfrm>
          <a:prstGeom prst="rect">
            <a:avLst/>
          </a:prstGeom>
          <a:solidFill>
            <a:srgbClr val="275B94"/>
          </a:solidFill>
          <a:ln w="0">
            <a:solidFill>
              <a:srgbClr val="000000">
                <a:alpha val="0"/>
              </a:srgbClr>
            </a:solidFill>
            <a:prstDash val="solid"/>
          </a:ln>
        </p:spPr>
        <p:txBody>
          <a:bodyPr lIns="0" tIns="0" rIns="0" bIns="0" anchor="t"/>
          <a:lstStyle/>
          <a:p>
            <a:pPr algn="ctr">
              <a:defRPr sz="975" b="1">
                <a:solidFill>
                  <a:srgbClr val="FFFFFF"/>
                </a:solidFill>
                <a:latin typeface="黑体"/>
                <a:ea typeface="黑体"/>
                <a:cs typeface="黑体"/>
              </a:defRPr>
            </a:pPr>
            <a:r>
              <a:rPr>
                <a:latin typeface="Times New Roman"/>
                <a:ea typeface="Times New Roman"/>
                <a:cs typeface="Times New Roman"/>
              </a:rPr>
              <a:t>1.00</a:t>
            </a:r>
          </a:p>
        </p:txBody>
      </p:sp>
      <p:sp>
        <p:nvSpPr>
          <p:cNvPr id="18" name="矩形 17">
            <a:extLst>
              <a:ext uri="{FF2B5EF4-FFF2-40B4-BE49-F238E27FC236}">
                <a16:creationId xmlns:a16="http://schemas.microsoft.com/office/drawing/2014/main" id="{68CC8713-8DBB-4ADD-AC23-22CE99C506FC}"/>
              </a:ext>
            </a:extLst>
          </p:cNvPr>
          <p:cNvSpPr>
            <a:spLocks noGrp="1"/>
          </p:cNvSpPr>
          <p:nvPr/>
        </p:nvSpPr>
        <p:spPr>
          <a:xfrm>
            <a:off x="2933700" y="1600200"/>
            <a:ext cx="666750" cy="666750"/>
          </a:xfrm>
          <a:prstGeom prst="rect">
            <a:avLst/>
          </a:prstGeom>
          <a:solidFill>
            <a:srgbClr val="79A2CD"/>
          </a:solidFill>
          <a:ln w="9525">
            <a:solidFill>
              <a:srgbClr val="FFFFFF"/>
            </a:solidFill>
            <a:prstDash val="solid"/>
          </a:ln>
        </p:spPr>
        <p:txBody>
          <a:bodyPr/>
          <a:lstStyle/>
          <a:p>
            <a:endParaRPr lang="zh-CN" altLang="en-US"/>
          </a:p>
        </p:txBody>
      </p:sp>
      <p:sp>
        <p:nvSpPr>
          <p:cNvPr id="19" name="矩形 18">
            <a:extLst>
              <a:ext uri="{FF2B5EF4-FFF2-40B4-BE49-F238E27FC236}">
                <a16:creationId xmlns:a16="http://schemas.microsoft.com/office/drawing/2014/main" id="{1FEFE6D1-3E07-4387-A0E5-DADC2EDD591C}"/>
              </a:ext>
            </a:extLst>
          </p:cNvPr>
          <p:cNvSpPr>
            <a:spLocks noGrp="1"/>
          </p:cNvSpPr>
          <p:nvPr/>
        </p:nvSpPr>
        <p:spPr>
          <a:xfrm>
            <a:off x="2971800" y="1809750"/>
            <a:ext cx="590550" cy="209550"/>
          </a:xfrm>
          <a:prstGeom prst="rect">
            <a:avLst/>
          </a:prstGeom>
          <a:solidFill>
            <a:srgbClr val="79A2CD"/>
          </a:solidFill>
          <a:ln w="0">
            <a:solidFill>
              <a:srgbClr val="000000">
                <a:alpha val="0"/>
              </a:srgbClr>
            </a:solidFill>
            <a:prstDash val="solid"/>
          </a:ln>
        </p:spPr>
        <p:txBody>
          <a:bodyPr lIns="0" tIns="0" rIns="0" bIns="0" anchor="t"/>
          <a:lstStyle/>
          <a:p>
            <a:pPr algn="ctr">
              <a:defRPr sz="975" b="1">
                <a:solidFill>
                  <a:srgbClr val="1F2933"/>
                </a:solidFill>
                <a:latin typeface="黑体"/>
                <a:ea typeface="黑体"/>
                <a:cs typeface="黑体"/>
              </a:defRPr>
            </a:pPr>
            <a:r>
              <a:rPr>
                <a:latin typeface="Times New Roman"/>
                <a:ea typeface="Times New Roman"/>
                <a:cs typeface="Times New Roman"/>
              </a:rPr>
              <a:t>0.64</a:t>
            </a:r>
          </a:p>
        </p:txBody>
      </p:sp>
      <p:sp>
        <p:nvSpPr>
          <p:cNvPr id="20" name="矩形 19">
            <a:extLst>
              <a:ext uri="{FF2B5EF4-FFF2-40B4-BE49-F238E27FC236}">
                <a16:creationId xmlns:a16="http://schemas.microsoft.com/office/drawing/2014/main" id="{958F5897-2585-41EE-B3A9-1AC7DB2F29D1}"/>
              </a:ext>
            </a:extLst>
          </p:cNvPr>
          <p:cNvSpPr>
            <a:spLocks noGrp="1"/>
          </p:cNvSpPr>
          <p:nvPr/>
        </p:nvSpPr>
        <p:spPr>
          <a:xfrm>
            <a:off x="3619500" y="1600200"/>
            <a:ext cx="666750" cy="666750"/>
          </a:xfrm>
          <a:prstGeom prst="rect">
            <a:avLst/>
          </a:prstGeom>
          <a:solidFill>
            <a:srgbClr val="79A2CD"/>
          </a:solidFill>
          <a:ln w="9525">
            <a:solidFill>
              <a:srgbClr val="FFFFFF"/>
            </a:solidFill>
            <a:prstDash val="solid"/>
          </a:ln>
        </p:spPr>
        <p:txBody>
          <a:bodyPr/>
          <a:lstStyle/>
          <a:p>
            <a:endParaRPr lang="zh-CN" altLang="en-US"/>
          </a:p>
        </p:txBody>
      </p:sp>
      <p:sp>
        <p:nvSpPr>
          <p:cNvPr id="21" name="矩形 20">
            <a:extLst>
              <a:ext uri="{FF2B5EF4-FFF2-40B4-BE49-F238E27FC236}">
                <a16:creationId xmlns:a16="http://schemas.microsoft.com/office/drawing/2014/main" id="{54B60D9A-825E-407B-BC50-6E28D0AF7C88}"/>
              </a:ext>
            </a:extLst>
          </p:cNvPr>
          <p:cNvSpPr>
            <a:spLocks noGrp="1"/>
          </p:cNvSpPr>
          <p:nvPr/>
        </p:nvSpPr>
        <p:spPr>
          <a:xfrm>
            <a:off x="3657600" y="1809750"/>
            <a:ext cx="590550" cy="209550"/>
          </a:xfrm>
          <a:prstGeom prst="rect">
            <a:avLst/>
          </a:prstGeom>
          <a:solidFill>
            <a:srgbClr val="79A2CD"/>
          </a:solidFill>
          <a:ln w="0">
            <a:solidFill>
              <a:srgbClr val="000000">
                <a:alpha val="0"/>
              </a:srgbClr>
            </a:solidFill>
            <a:prstDash val="solid"/>
          </a:ln>
        </p:spPr>
        <p:txBody>
          <a:bodyPr lIns="0" tIns="0" rIns="0" bIns="0" anchor="t"/>
          <a:lstStyle/>
          <a:p>
            <a:pPr algn="ctr">
              <a:defRPr sz="975" b="1">
                <a:solidFill>
                  <a:srgbClr val="1F2933"/>
                </a:solidFill>
                <a:latin typeface="黑体"/>
                <a:ea typeface="黑体"/>
                <a:cs typeface="黑体"/>
              </a:defRPr>
            </a:pPr>
            <a:r>
              <a:rPr>
                <a:latin typeface="Times New Roman"/>
                <a:ea typeface="Times New Roman"/>
                <a:cs typeface="Times New Roman"/>
              </a:rPr>
              <a:t>0.52</a:t>
            </a:r>
          </a:p>
        </p:txBody>
      </p:sp>
      <p:sp>
        <p:nvSpPr>
          <p:cNvPr id="22" name="矩形 21">
            <a:extLst>
              <a:ext uri="{FF2B5EF4-FFF2-40B4-BE49-F238E27FC236}">
                <a16:creationId xmlns:a16="http://schemas.microsoft.com/office/drawing/2014/main" id="{8F05C652-A1C2-4859-80B7-0A37A8A17217}"/>
              </a:ext>
            </a:extLst>
          </p:cNvPr>
          <p:cNvSpPr>
            <a:spLocks noGrp="1"/>
          </p:cNvSpPr>
          <p:nvPr/>
        </p:nvSpPr>
        <p:spPr>
          <a:xfrm>
            <a:off x="4305300" y="1600200"/>
            <a:ext cx="666750" cy="666750"/>
          </a:xfrm>
          <a:prstGeom prst="rect">
            <a:avLst/>
          </a:prstGeom>
          <a:solidFill>
            <a:srgbClr val="F3D5D5"/>
          </a:solidFill>
          <a:ln w="9525">
            <a:solidFill>
              <a:srgbClr val="FFFFFF"/>
            </a:solidFill>
            <a:prstDash val="solid"/>
          </a:ln>
        </p:spPr>
        <p:txBody>
          <a:bodyPr/>
          <a:lstStyle/>
          <a:p>
            <a:endParaRPr lang="zh-CN" altLang="en-US"/>
          </a:p>
        </p:txBody>
      </p:sp>
      <p:sp>
        <p:nvSpPr>
          <p:cNvPr id="23" name="矩形 22">
            <a:extLst>
              <a:ext uri="{FF2B5EF4-FFF2-40B4-BE49-F238E27FC236}">
                <a16:creationId xmlns:a16="http://schemas.microsoft.com/office/drawing/2014/main" id="{80407915-1D65-4D9C-BB33-1811CF9F5A3D}"/>
              </a:ext>
            </a:extLst>
          </p:cNvPr>
          <p:cNvSpPr>
            <a:spLocks noGrp="1"/>
          </p:cNvSpPr>
          <p:nvPr/>
        </p:nvSpPr>
        <p:spPr>
          <a:xfrm>
            <a:off x="4343400" y="1809750"/>
            <a:ext cx="590550" cy="209550"/>
          </a:xfrm>
          <a:prstGeom prst="rect">
            <a:avLst/>
          </a:prstGeom>
          <a:solidFill>
            <a:srgbClr val="F3D5D5"/>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-0.34</a:t>
            </a:r>
          </a:p>
        </p:txBody>
      </p:sp>
      <p:sp>
        <p:nvSpPr>
          <p:cNvPr id="24" name="矩形 23">
            <a:extLst>
              <a:ext uri="{FF2B5EF4-FFF2-40B4-BE49-F238E27FC236}">
                <a16:creationId xmlns:a16="http://schemas.microsoft.com/office/drawing/2014/main" id="{4267999F-E836-4F8E-ACD3-FB02F975D49F}"/>
              </a:ext>
            </a:extLst>
          </p:cNvPr>
          <p:cNvSpPr>
            <a:spLocks noGrp="1"/>
          </p:cNvSpPr>
          <p:nvPr/>
        </p:nvSpPr>
        <p:spPr>
          <a:xfrm>
            <a:off x="4991100" y="1600200"/>
            <a:ext cx="666750" cy="666750"/>
          </a:xfrm>
          <a:prstGeom prst="rect">
            <a:avLst/>
          </a:prstGeom>
          <a:solidFill>
            <a:srgbClr val="F3D5D5"/>
          </a:solidFill>
          <a:ln w="9525">
            <a:solidFill>
              <a:srgbClr val="FFFFFF"/>
            </a:solidFill>
            <a:prstDash val="solid"/>
          </a:ln>
        </p:spPr>
        <p:txBody>
          <a:bodyPr/>
          <a:lstStyle/>
          <a:p>
            <a:endParaRPr lang="zh-CN" altLang="en-US"/>
          </a:p>
        </p:txBody>
      </p:sp>
      <p:sp>
        <p:nvSpPr>
          <p:cNvPr id="25" name="矩形 24">
            <a:extLst>
              <a:ext uri="{FF2B5EF4-FFF2-40B4-BE49-F238E27FC236}">
                <a16:creationId xmlns:a16="http://schemas.microsoft.com/office/drawing/2014/main" id="{675011A1-1C36-42FB-A3B2-C721435905D7}"/>
              </a:ext>
            </a:extLst>
          </p:cNvPr>
          <p:cNvSpPr>
            <a:spLocks noGrp="1"/>
          </p:cNvSpPr>
          <p:nvPr/>
        </p:nvSpPr>
        <p:spPr>
          <a:xfrm>
            <a:off x="5029200" y="1809750"/>
            <a:ext cx="590550" cy="209550"/>
          </a:xfrm>
          <a:prstGeom prst="rect">
            <a:avLst/>
          </a:prstGeom>
          <a:solidFill>
            <a:srgbClr val="F3D5D5"/>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-0.41</a:t>
            </a:r>
          </a:p>
        </p:txBody>
      </p:sp>
      <p:sp>
        <p:nvSpPr>
          <p:cNvPr id="26" name="矩形 25">
            <a:extLst>
              <a:ext uri="{FF2B5EF4-FFF2-40B4-BE49-F238E27FC236}">
                <a16:creationId xmlns:a16="http://schemas.microsoft.com/office/drawing/2014/main" id="{B9D50937-C868-4ED1-B09B-EB879EBB61C5}"/>
              </a:ext>
            </a:extLst>
          </p:cNvPr>
          <p:cNvSpPr>
            <a:spLocks noGrp="1"/>
          </p:cNvSpPr>
          <p:nvPr/>
        </p:nvSpPr>
        <p:spPr>
          <a:xfrm>
            <a:off x="2247900" y="2286000"/>
            <a:ext cx="666750" cy="666750"/>
          </a:xfrm>
          <a:prstGeom prst="rect">
            <a:avLst/>
          </a:prstGeom>
          <a:solidFill>
            <a:srgbClr val="79A2CD"/>
          </a:solidFill>
          <a:ln w="9525">
            <a:solidFill>
              <a:srgbClr val="FFFFFF"/>
            </a:solidFill>
            <a:prstDash val="solid"/>
          </a:ln>
        </p:spPr>
        <p:txBody>
          <a:bodyPr/>
          <a:lstStyle/>
          <a:p>
            <a:endParaRPr lang="zh-CN" altLang="en-US"/>
          </a:p>
        </p:txBody>
      </p:sp>
      <p:sp>
        <p:nvSpPr>
          <p:cNvPr id="27" name="矩形 26">
            <a:extLst>
              <a:ext uri="{FF2B5EF4-FFF2-40B4-BE49-F238E27FC236}">
                <a16:creationId xmlns:a16="http://schemas.microsoft.com/office/drawing/2014/main" id="{EC56997B-3CF7-4D24-8834-36E1F0F5CE28}"/>
              </a:ext>
            </a:extLst>
          </p:cNvPr>
          <p:cNvSpPr>
            <a:spLocks noGrp="1"/>
          </p:cNvSpPr>
          <p:nvPr/>
        </p:nvSpPr>
        <p:spPr>
          <a:xfrm>
            <a:off x="2286000" y="2495550"/>
            <a:ext cx="590550" cy="209550"/>
          </a:xfrm>
          <a:prstGeom prst="rect">
            <a:avLst/>
          </a:prstGeom>
          <a:solidFill>
            <a:srgbClr val="79A2CD"/>
          </a:solidFill>
          <a:ln w="0">
            <a:solidFill>
              <a:srgbClr val="000000">
                <a:alpha val="0"/>
              </a:srgbClr>
            </a:solidFill>
            <a:prstDash val="solid"/>
          </a:ln>
        </p:spPr>
        <p:txBody>
          <a:bodyPr lIns="0" tIns="0" rIns="0" bIns="0" anchor="t"/>
          <a:lstStyle/>
          <a:p>
            <a:pPr algn="ctr">
              <a:defRPr sz="975" b="1">
                <a:solidFill>
                  <a:srgbClr val="1F2933"/>
                </a:solidFill>
                <a:latin typeface="黑体"/>
                <a:ea typeface="黑体"/>
                <a:cs typeface="黑体"/>
              </a:defRPr>
            </a:pPr>
            <a:r>
              <a:rPr>
                <a:latin typeface="Times New Roman"/>
                <a:ea typeface="Times New Roman"/>
                <a:cs typeface="Times New Roman"/>
              </a:rPr>
              <a:t>0.64</a:t>
            </a:r>
          </a:p>
        </p:txBody>
      </p:sp>
      <p:sp>
        <p:nvSpPr>
          <p:cNvPr id="28" name="矩形 27">
            <a:extLst>
              <a:ext uri="{FF2B5EF4-FFF2-40B4-BE49-F238E27FC236}">
                <a16:creationId xmlns:a16="http://schemas.microsoft.com/office/drawing/2014/main" id="{6CD21EC4-D247-4B50-A06E-E934E2914462}"/>
              </a:ext>
            </a:extLst>
          </p:cNvPr>
          <p:cNvSpPr>
            <a:spLocks noGrp="1"/>
          </p:cNvSpPr>
          <p:nvPr/>
        </p:nvSpPr>
        <p:spPr>
          <a:xfrm>
            <a:off x="2933700" y="2286000"/>
            <a:ext cx="666750" cy="666750"/>
          </a:xfrm>
          <a:prstGeom prst="rect">
            <a:avLst/>
          </a:prstGeom>
          <a:solidFill>
            <a:srgbClr val="275B94"/>
          </a:solidFill>
          <a:ln w="9525">
            <a:solidFill>
              <a:srgbClr val="FFFFFF"/>
            </a:solidFill>
            <a:prstDash val="solid"/>
          </a:ln>
        </p:spPr>
        <p:txBody>
          <a:bodyPr/>
          <a:lstStyle/>
          <a:p>
            <a:endParaRPr lang="zh-CN" altLang="en-US"/>
          </a:p>
        </p:txBody>
      </p:sp>
      <p:sp>
        <p:nvSpPr>
          <p:cNvPr id="29" name="矩形 28">
            <a:extLst>
              <a:ext uri="{FF2B5EF4-FFF2-40B4-BE49-F238E27FC236}">
                <a16:creationId xmlns:a16="http://schemas.microsoft.com/office/drawing/2014/main" id="{1405DCFB-B324-46B4-939D-73288589B1EA}"/>
              </a:ext>
            </a:extLst>
          </p:cNvPr>
          <p:cNvSpPr>
            <a:spLocks noGrp="1"/>
          </p:cNvSpPr>
          <p:nvPr/>
        </p:nvSpPr>
        <p:spPr>
          <a:xfrm>
            <a:off x="2971800" y="2495550"/>
            <a:ext cx="590550" cy="209550"/>
          </a:xfrm>
          <a:prstGeom prst="rect">
            <a:avLst/>
          </a:prstGeom>
          <a:solidFill>
            <a:srgbClr val="275B94"/>
          </a:solidFill>
          <a:ln w="0">
            <a:solidFill>
              <a:srgbClr val="000000">
                <a:alpha val="0"/>
              </a:srgbClr>
            </a:solidFill>
            <a:prstDash val="solid"/>
          </a:ln>
        </p:spPr>
        <p:txBody>
          <a:bodyPr lIns="0" tIns="0" rIns="0" bIns="0" anchor="t"/>
          <a:lstStyle/>
          <a:p>
            <a:pPr algn="ctr">
              <a:defRPr sz="975" b="1">
                <a:solidFill>
                  <a:srgbClr val="FFFFFF"/>
                </a:solidFill>
                <a:latin typeface="黑体"/>
                <a:ea typeface="黑体"/>
                <a:cs typeface="黑体"/>
              </a:defRPr>
            </a:pPr>
            <a:r>
              <a:rPr>
                <a:latin typeface="Times New Roman"/>
                <a:ea typeface="Times New Roman"/>
                <a:cs typeface="Times New Roman"/>
              </a:rPr>
              <a:t>1.00</a:t>
            </a:r>
          </a:p>
        </p:txBody>
      </p:sp>
      <p:sp>
        <p:nvSpPr>
          <p:cNvPr id="30" name="矩形 29">
            <a:extLst>
              <a:ext uri="{FF2B5EF4-FFF2-40B4-BE49-F238E27FC236}">
                <a16:creationId xmlns:a16="http://schemas.microsoft.com/office/drawing/2014/main" id="{BA5F2EE8-CD85-449A-A79C-084A08880794}"/>
              </a:ext>
            </a:extLst>
          </p:cNvPr>
          <p:cNvSpPr>
            <a:spLocks noGrp="1"/>
          </p:cNvSpPr>
          <p:nvPr/>
        </p:nvSpPr>
        <p:spPr>
          <a:xfrm>
            <a:off x="3619500" y="2286000"/>
            <a:ext cx="666750" cy="666750"/>
          </a:xfrm>
          <a:prstGeom prst="rect">
            <a:avLst/>
          </a:prstGeom>
          <a:solidFill>
            <a:srgbClr val="79A2CD"/>
          </a:solidFill>
          <a:ln w="9525">
            <a:solidFill>
              <a:srgbClr val="FFFFFF"/>
            </a:solidFill>
            <a:prstDash val="solid"/>
          </a:ln>
        </p:spPr>
        <p:txBody>
          <a:bodyPr/>
          <a:lstStyle/>
          <a:p>
            <a:endParaRPr lang="zh-CN" altLang="en-US"/>
          </a:p>
        </p:txBody>
      </p:sp>
      <p:sp>
        <p:nvSpPr>
          <p:cNvPr id="31" name="矩形 30">
            <a:extLst>
              <a:ext uri="{FF2B5EF4-FFF2-40B4-BE49-F238E27FC236}">
                <a16:creationId xmlns:a16="http://schemas.microsoft.com/office/drawing/2014/main" id="{6FC8DB53-F3DC-43FA-BEF0-CD0443BAFD35}"/>
              </a:ext>
            </a:extLst>
          </p:cNvPr>
          <p:cNvSpPr>
            <a:spLocks noGrp="1"/>
          </p:cNvSpPr>
          <p:nvPr/>
        </p:nvSpPr>
        <p:spPr>
          <a:xfrm>
            <a:off x="3657600" y="2495550"/>
            <a:ext cx="590550" cy="209550"/>
          </a:xfrm>
          <a:prstGeom prst="rect">
            <a:avLst/>
          </a:prstGeom>
          <a:solidFill>
            <a:srgbClr val="79A2CD"/>
          </a:solidFill>
          <a:ln w="0">
            <a:solidFill>
              <a:srgbClr val="000000">
                <a:alpha val="0"/>
              </a:srgbClr>
            </a:solidFill>
            <a:prstDash val="solid"/>
          </a:ln>
        </p:spPr>
        <p:txBody>
          <a:bodyPr lIns="0" tIns="0" rIns="0" bIns="0" anchor="t"/>
          <a:lstStyle/>
          <a:p>
            <a:pPr algn="ctr">
              <a:defRPr sz="975" b="1">
                <a:solidFill>
                  <a:srgbClr val="FFFFFF"/>
                </a:solidFill>
                <a:latin typeface="黑体"/>
                <a:ea typeface="黑体"/>
                <a:cs typeface="黑体"/>
              </a:defRPr>
            </a:pPr>
            <a:r>
              <a:rPr>
                <a:latin typeface="Times New Roman"/>
                <a:ea typeface="Times New Roman"/>
                <a:cs typeface="Times New Roman"/>
              </a:rPr>
              <a:t>0.71</a:t>
            </a:r>
          </a:p>
        </p:txBody>
      </p:sp>
      <p:sp>
        <p:nvSpPr>
          <p:cNvPr id="32" name="矩形 31">
            <a:extLst>
              <a:ext uri="{FF2B5EF4-FFF2-40B4-BE49-F238E27FC236}">
                <a16:creationId xmlns:a16="http://schemas.microsoft.com/office/drawing/2014/main" id="{4176A308-2DDE-4A1F-B4C5-CA92103EE208}"/>
              </a:ext>
            </a:extLst>
          </p:cNvPr>
          <p:cNvSpPr>
            <a:spLocks noGrp="1"/>
          </p:cNvSpPr>
          <p:nvPr/>
        </p:nvSpPr>
        <p:spPr>
          <a:xfrm>
            <a:off x="4305300" y="2286000"/>
            <a:ext cx="666750" cy="666750"/>
          </a:xfrm>
          <a:prstGeom prst="rect">
            <a:avLst/>
          </a:prstGeom>
          <a:solidFill>
            <a:srgbClr val="D58C8C"/>
          </a:solidFill>
          <a:ln w="9525">
            <a:solidFill>
              <a:srgbClr val="FFFFFF"/>
            </a:solidFill>
            <a:prstDash val="solid"/>
          </a:ln>
        </p:spPr>
        <p:txBody>
          <a:bodyPr/>
          <a:lstStyle/>
          <a:p>
            <a:endParaRPr lang="zh-CN" altLang="en-US"/>
          </a:p>
        </p:txBody>
      </p:sp>
      <p:sp>
        <p:nvSpPr>
          <p:cNvPr id="33" name="矩形 32">
            <a:extLst>
              <a:ext uri="{FF2B5EF4-FFF2-40B4-BE49-F238E27FC236}">
                <a16:creationId xmlns:a16="http://schemas.microsoft.com/office/drawing/2014/main" id="{A35BCC6B-1203-4E62-A3A3-CD78ADEB268E}"/>
              </a:ext>
            </a:extLst>
          </p:cNvPr>
          <p:cNvSpPr>
            <a:spLocks noGrp="1"/>
          </p:cNvSpPr>
          <p:nvPr/>
        </p:nvSpPr>
        <p:spPr>
          <a:xfrm>
            <a:off x="4343400" y="2495550"/>
            <a:ext cx="590550" cy="209550"/>
          </a:xfrm>
          <a:prstGeom prst="rect">
            <a:avLst/>
          </a:prstGeom>
          <a:solidFill>
            <a:srgbClr val="D58C8C"/>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-0.46</a:t>
            </a:r>
          </a:p>
        </p:txBody>
      </p:sp>
      <p:sp>
        <p:nvSpPr>
          <p:cNvPr id="34" name="矩形 33">
            <a:extLst>
              <a:ext uri="{FF2B5EF4-FFF2-40B4-BE49-F238E27FC236}">
                <a16:creationId xmlns:a16="http://schemas.microsoft.com/office/drawing/2014/main" id="{74E6A3AE-357E-4648-A291-630D28241B75}"/>
              </a:ext>
            </a:extLst>
          </p:cNvPr>
          <p:cNvSpPr>
            <a:spLocks noGrp="1"/>
          </p:cNvSpPr>
          <p:nvPr/>
        </p:nvSpPr>
        <p:spPr>
          <a:xfrm>
            <a:off x="4991100" y="2286000"/>
            <a:ext cx="666750" cy="666750"/>
          </a:xfrm>
          <a:prstGeom prst="rect">
            <a:avLst/>
          </a:prstGeom>
          <a:solidFill>
            <a:srgbClr val="D58C8C"/>
          </a:solidFill>
          <a:ln w="9525">
            <a:solidFill>
              <a:srgbClr val="FFFFFF"/>
            </a:solidFill>
            <a:prstDash val="solid"/>
          </a:ln>
        </p:spPr>
        <p:txBody>
          <a:bodyPr/>
          <a:lstStyle/>
          <a:p>
            <a:endParaRPr lang="zh-CN" altLang="en-US"/>
          </a:p>
        </p:txBody>
      </p:sp>
      <p:sp>
        <p:nvSpPr>
          <p:cNvPr id="35" name="矩形 34">
            <a:extLst>
              <a:ext uri="{FF2B5EF4-FFF2-40B4-BE49-F238E27FC236}">
                <a16:creationId xmlns:a16="http://schemas.microsoft.com/office/drawing/2014/main" id="{BCA9FD1E-AEC4-49E4-BBCD-E34C05DC29B3}"/>
              </a:ext>
            </a:extLst>
          </p:cNvPr>
          <p:cNvSpPr>
            <a:spLocks noGrp="1"/>
          </p:cNvSpPr>
          <p:nvPr/>
        </p:nvSpPr>
        <p:spPr>
          <a:xfrm>
            <a:off x="5029200" y="2495550"/>
            <a:ext cx="590550" cy="209550"/>
          </a:xfrm>
          <a:prstGeom prst="rect">
            <a:avLst/>
          </a:prstGeom>
          <a:solidFill>
            <a:srgbClr val="D58C8C"/>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-0.50</a:t>
            </a:r>
          </a:p>
        </p:txBody>
      </p:sp>
      <p:sp>
        <p:nvSpPr>
          <p:cNvPr id="36" name="矩形 35">
            <a:extLst>
              <a:ext uri="{FF2B5EF4-FFF2-40B4-BE49-F238E27FC236}">
                <a16:creationId xmlns:a16="http://schemas.microsoft.com/office/drawing/2014/main" id="{94E5ADCC-36F5-4A80-AEAC-67799521F104}"/>
              </a:ext>
            </a:extLst>
          </p:cNvPr>
          <p:cNvSpPr>
            <a:spLocks noGrp="1"/>
          </p:cNvSpPr>
          <p:nvPr/>
        </p:nvSpPr>
        <p:spPr>
          <a:xfrm>
            <a:off x="2247900" y="2971800"/>
            <a:ext cx="666750" cy="666750"/>
          </a:xfrm>
          <a:prstGeom prst="rect">
            <a:avLst/>
          </a:prstGeom>
          <a:solidFill>
            <a:srgbClr val="79A2CD"/>
          </a:solidFill>
          <a:ln w="9525">
            <a:solidFill>
              <a:srgbClr val="FFFFFF"/>
            </a:solidFill>
            <a:prstDash val="solid"/>
          </a:ln>
        </p:spPr>
        <p:txBody>
          <a:bodyPr/>
          <a:lstStyle/>
          <a:p>
            <a:endParaRPr lang="zh-CN" altLang="en-US"/>
          </a:p>
        </p:txBody>
      </p:sp>
      <p:sp>
        <p:nvSpPr>
          <p:cNvPr id="37" name="矩形 36">
            <a:extLst>
              <a:ext uri="{FF2B5EF4-FFF2-40B4-BE49-F238E27FC236}">
                <a16:creationId xmlns:a16="http://schemas.microsoft.com/office/drawing/2014/main" id="{ECD55F14-471B-4412-A918-278EAB369A2E}"/>
              </a:ext>
            </a:extLst>
          </p:cNvPr>
          <p:cNvSpPr>
            <a:spLocks noGrp="1"/>
          </p:cNvSpPr>
          <p:nvPr/>
        </p:nvSpPr>
        <p:spPr>
          <a:xfrm>
            <a:off x="2286000" y="3181350"/>
            <a:ext cx="590550" cy="209550"/>
          </a:xfrm>
          <a:prstGeom prst="rect">
            <a:avLst/>
          </a:prstGeom>
          <a:solidFill>
            <a:srgbClr val="79A2CD"/>
          </a:solidFill>
          <a:ln w="0">
            <a:solidFill>
              <a:srgbClr val="000000">
                <a:alpha val="0"/>
              </a:srgbClr>
            </a:solidFill>
            <a:prstDash val="solid"/>
          </a:ln>
        </p:spPr>
        <p:txBody>
          <a:bodyPr lIns="0" tIns="0" rIns="0" bIns="0" anchor="t"/>
          <a:lstStyle/>
          <a:p>
            <a:pPr algn="ctr">
              <a:defRPr sz="975" b="1">
                <a:solidFill>
                  <a:srgbClr val="1F2933"/>
                </a:solidFill>
                <a:latin typeface="黑体"/>
                <a:ea typeface="黑体"/>
                <a:cs typeface="黑体"/>
              </a:defRPr>
            </a:pPr>
            <a:r>
              <a:rPr>
                <a:latin typeface="Times New Roman"/>
                <a:ea typeface="Times New Roman"/>
                <a:cs typeface="Times New Roman"/>
              </a:rPr>
              <a:t>0.52</a:t>
            </a:r>
          </a:p>
        </p:txBody>
      </p:sp>
      <p:sp>
        <p:nvSpPr>
          <p:cNvPr id="38" name="矩形 37">
            <a:extLst>
              <a:ext uri="{FF2B5EF4-FFF2-40B4-BE49-F238E27FC236}">
                <a16:creationId xmlns:a16="http://schemas.microsoft.com/office/drawing/2014/main" id="{EFBEB5C9-6C45-4A3D-BA77-3808EB508DC1}"/>
              </a:ext>
            </a:extLst>
          </p:cNvPr>
          <p:cNvSpPr>
            <a:spLocks noGrp="1"/>
          </p:cNvSpPr>
          <p:nvPr/>
        </p:nvSpPr>
        <p:spPr>
          <a:xfrm>
            <a:off x="2933700" y="2971800"/>
            <a:ext cx="666750" cy="666750"/>
          </a:xfrm>
          <a:prstGeom prst="rect">
            <a:avLst/>
          </a:prstGeom>
          <a:solidFill>
            <a:srgbClr val="79A2CD"/>
          </a:solidFill>
          <a:ln w="9525">
            <a:solidFill>
              <a:srgbClr val="FFFFFF"/>
            </a:solidFill>
            <a:prstDash val="solid"/>
          </a:ln>
        </p:spPr>
        <p:txBody>
          <a:bodyPr/>
          <a:lstStyle/>
          <a:p>
            <a:endParaRPr lang="zh-CN" altLang="en-US"/>
          </a:p>
        </p:txBody>
      </p:sp>
      <p:sp>
        <p:nvSpPr>
          <p:cNvPr id="39" name="矩形 38">
            <a:extLst>
              <a:ext uri="{FF2B5EF4-FFF2-40B4-BE49-F238E27FC236}">
                <a16:creationId xmlns:a16="http://schemas.microsoft.com/office/drawing/2014/main" id="{77B709D9-6956-4FA9-A410-7B0F818BE6D6}"/>
              </a:ext>
            </a:extLst>
          </p:cNvPr>
          <p:cNvSpPr>
            <a:spLocks noGrp="1"/>
          </p:cNvSpPr>
          <p:nvPr/>
        </p:nvSpPr>
        <p:spPr>
          <a:xfrm>
            <a:off x="2971800" y="3181350"/>
            <a:ext cx="590550" cy="209550"/>
          </a:xfrm>
          <a:prstGeom prst="rect">
            <a:avLst/>
          </a:prstGeom>
          <a:solidFill>
            <a:srgbClr val="79A2CD"/>
          </a:solidFill>
          <a:ln w="0">
            <a:solidFill>
              <a:srgbClr val="000000">
                <a:alpha val="0"/>
              </a:srgbClr>
            </a:solidFill>
            <a:prstDash val="solid"/>
          </a:ln>
        </p:spPr>
        <p:txBody>
          <a:bodyPr lIns="0" tIns="0" rIns="0" bIns="0" anchor="t"/>
          <a:lstStyle/>
          <a:p>
            <a:pPr algn="ctr">
              <a:defRPr sz="975" b="1">
                <a:solidFill>
                  <a:srgbClr val="FFFFFF"/>
                </a:solidFill>
                <a:latin typeface="黑体"/>
                <a:ea typeface="黑体"/>
                <a:cs typeface="黑体"/>
              </a:defRPr>
            </a:pPr>
            <a:r>
              <a:rPr>
                <a:latin typeface="Times New Roman"/>
                <a:ea typeface="Times New Roman"/>
                <a:cs typeface="Times New Roman"/>
              </a:rPr>
              <a:t>0.71</a:t>
            </a:r>
          </a:p>
        </p:txBody>
      </p:sp>
      <p:sp>
        <p:nvSpPr>
          <p:cNvPr id="40" name="矩形 39">
            <a:extLst>
              <a:ext uri="{FF2B5EF4-FFF2-40B4-BE49-F238E27FC236}">
                <a16:creationId xmlns:a16="http://schemas.microsoft.com/office/drawing/2014/main" id="{823D1CA5-AE7E-4C5F-BF01-7680F5377392}"/>
              </a:ext>
            </a:extLst>
          </p:cNvPr>
          <p:cNvSpPr>
            <a:spLocks noGrp="1"/>
          </p:cNvSpPr>
          <p:nvPr/>
        </p:nvSpPr>
        <p:spPr>
          <a:xfrm>
            <a:off x="3619500" y="2971800"/>
            <a:ext cx="666750" cy="666750"/>
          </a:xfrm>
          <a:prstGeom prst="rect">
            <a:avLst/>
          </a:prstGeom>
          <a:solidFill>
            <a:srgbClr val="275B94"/>
          </a:solidFill>
          <a:ln w="9525">
            <a:solidFill>
              <a:srgbClr val="FFFFFF"/>
            </a:solidFill>
            <a:prstDash val="solid"/>
          </a:ln>
        </p:spPr>
        <p:txBody>
          <a:bodyPr/>
          <a:lstStyle/>
          <a:p>
            <a:endParaRPr lang="zh-CN" altLang="en-US"/>
          </a:p>
        </p:txBody>
      </p:sp>
      <p:sp>
        <p:nvSpPr>
          <p:cNvPr id="41" name="矩形 40">
            <a:extLst>
              <a:ext uri="{FF2B5EF4-FFF2-40B4-BE49-F238E27FC236}">
                <a16:creationId xmlns:a16="http://schemas.microsoft.com/office/drawing/2014/main" id="{552D401A-583E-4F95-8C3C-94181451CF4C}"/>
              </a:ext>
            </a:extLst>
          </p:cNvPr>
          <p:cNvSpPr>
            <a:spLocks noGrp="1"/>
          </p:cNvSpPr>
          <p:nvPr/>
        </p:nvSpPr>
        <p:spPr>
          <a:xfrm>
            <a:off x="3657600" y="3181350"/>
            <a:ext cx="590550" cy="209550"/>
          </a:xfrm>
          <a:prstGeom prst="rect">
            <a:avLst/>
          </a:prstGeom>
          <a:solidFill>
            <a:srgbClr val="275B94"/>
          </a:solidFill>
          <a:ln w="0">
            <a:solidFill>
              <a:srgbClr val="000000">
                <a:alpha val="0"/>
              </a:srgbClr>
            </a:solidFill>
            <a:prstDash val="solid"/>
          </a:ln>
        </p:spPr>
        <p:txBody>
          <a:bodyPr lIns="0" tIns="0" rIns="0" bIns="0" anchor="t"/>
          <a:lstStyle/>
          <a:p>
            <a:pPr algn="ctr">
              <a:defRPr sz="975" b="1">
                <a:solidFill>
                  <a:srgbClr val="FFFFFF"/>
                </a:solidFill>
                <a:latin typeface="黑体"/>
                <a:ea typeface="黑体"/>
                <a:cs typeface="黑体"/>
              </a:defRPr>
            </a:pPr>
            <a:r>
              <a:rPr>
                <a:latin typeface="Times New Roman"/>
                <a:ea typeface="Times New Roman"/>
                <a:cs typeface="Times New Roman"/>
              </a:rPr>
              <a:t>1.00</a:t>
            </a:r>
          </a:p>
        </p:txBody>
      </p:sp>
      <p:sp>
        <p:nvSpPr>
          <p:cNvPr id="42" name="矩形 41">
            <a:extLst>
              <a:ext uri="{FF2B5EF4-FFF2-40B4-BE49-F238E27FC236}">
                <a16:creationId xmlns:a16="http://schemas.microsoft.com/office/drawing/2014/main" id="{D931ADAD-1BB3-4B05-825F-94D5BC46E56A}"/>
              </a:ext>
            </a:extLst>
          </p:cNvPr>
          <p:cNvSpPr>
            <a:spLocks noGrp="1"/>
          </p:cNvSpPr>
          <p:nvPr/>
        </p:nvSpPr>
        <p:spPr>
          <a:xfrm>
            <a:off x="4305300" y="2971800"/>
            <a:ext cx="666750" cy="666750"/>
          </a:xfrm>
          <a:prstGeom prst="rect">
            <a:avLst/>
          </a:prstGeom>
          <a:solidFill>
            <a:srgbClr val="F3D5D5"/>
          </a:solidFill>
          <a:ln w="9525">
            <a:solidFill>
              <a:srgbClr val="FFFFFF"/>
            </a:solidFill>
            <a:prstDash val="solid"/>
          </a:ln>
        </p:spPr>
        <p:txBody>
          <a:bodyPr/>
          <a:lstStyle/>
          <a:p>
            <a:endParaRPr lang="zh-CN" altLang="en-US"/>
          </a:p>
        </p:txBody>
      </p:sp>
      <p:sp>
        <p:nvSpPr>
          <p:cNvPr id="43" name="矩形 42">
            <a:extLst>
              <a:ext uri="{FF2B5EF4-FFF2-40B4-BE49-F238E27FC236}">
                <a16:creationId xmlns:a16="http://schemas.microsoft.com/office/drawing/2014/main" id="{D12EE4EF-2119-46E3-B2EF-886196EE91FA}"/>
              </a:ext>
            </a:extLst>
          </p:cNvPr>
          <p:cNvSpPr>
            <a:spLocks noGrp="1"/>
          </p:cNvSpPr>
          <p:nvPr/>
        </p:nvSpPr>
        <p:spPr>
          <a:xfrm>
            <a:off x="4343400" y="3181350"/>
            <a:ext cx="590550" cy="209550"/>
          </a:xfrm>
          <a:prstGeom prst="rect">
            <a:avLst/>
          </a:prstGeom>
          <a:solidFill>
            <a:srgbClr val="F3D5D5"/>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-0.39</a:t>
            </a:r>
          </a:p>
        </p:txBody>
      </p:sp>
      <p:sp>
        <p:nvSpPr>
          <p:cNvPr id="44" name="矩形 43">
            <a:extLst>
              <a:ext uri="{FF2B5EF4-FFF2-40B4-BE49-F238E27FC236}">
                <a16:creationId xmlns:a16="http://schemas.microsoft.com/office/drawing/2014/main" id="{390CB197-4436-4186-924F-EAFC4659BDE6}"/>
              </a:ext>
            </a:extLst>
          </p:cNvPr>
          <p:cNvSpPr>
            <a:spLocks noGrp="1"/>
          </p:cNvSpPr>
          <p:nvPr/>
        </p:nvSpPr>
        <p:spPr>
          <a:xfrm>
            <a:off x="4991100" y="2971800"/>
            <a:ext cx="666750" cy="666750"/>
          </a:xfrm>
          <a:prstGeom prst="rect">
            <a:avLst/>
          </a:prstGeom>
          <a:solidFill>
            <a:srgbClr val="D58C8C"/>
          </a:solidFill>
          <a:ln w="9525">
            <a:solidFill>
              <a:srgbClr val="FFFFFF"/>
            </a:solidFill>
            <a:prstDash val="solid"/>
          </a:ln>
        </p:spPr>
        <p:txBody>
          <a:bodyPr/>
          <a:lstStyle/>
          <a:p>
            <a:endParaRPr lang="zh-CN" altLang="en-US"/>
          </a:p>
        </p:txBody>
      </p:sp>
      <p:sp>
        <p:nvSpPr>
          <p:cNvPr id="45" name="矩形 44">
            <a:extLst>
              <a:ext uri="{FF2B5EF4-FFF2-40B4-BE49-F238E27FC236}">
                <a16:creationId xmlns:a16="http://schemas.microsoft.com/office/drawing/2014/main" id="{8E08B0F5-7907-4DAB-B054-99D311991BE1}"/>
              </a:ext>
            </a:extLst>
          </p:cNvPr>
          <p:cNvSpPr>
            <a:spLocks noGrp="1"/>
          </p:cNvSpPr>
          <p:nvPr/>
        </p:nvSpPr>
        <p:spPr>
          <a:xfrm>
            <a:off x="5029200" y="3181350"/>
            <a:ext cx="590550" cy="209550"/>
          </a:xfrm>
          <a:prstGeom prst="rect">
            <a:avLst/>
          </a:prstGeom>
          <a:solidFill>
            <a:srgbClr val="D58C8C"/>
          </a:solidFill>
          <a:ln w="0">
            <a:solidFill>
              <a:srgbClr val="000000">
                <a:alpha val="0"/>
              </a:srgbClr>
            </a:solidFill>
            <a:prstDash val="solid"/>
          </a:ln>
        </p:spPr>
        <p:txBody>
          <a:bodyPr lIns="0" tIns="0" rIns="0" bIns="0" anchor="t"/>
          <a:lstStyle/>
          <a:p>
            <a:pPr algn="ctr">
              <a:defRPr sz="975" b="1">
                <a:solidFill>
                  <a:srgbClr val="1F2933"/>
                </a:solidFill>
                <a:latin typeface="黑体"/>
                <a:ea typeface="黑体"/>
                <a:cs typeface="黑体"/>
              </a:defRPr>
            </a:pPr>
            <a:r>
              <a:rPr>
                <a:latin typeface="Times New Roman"/>
                <a:ea typeface="Times New Roman"/>
                <a:cs typeface="Times New Roman"/>
              </a:rPr>
              <a:t>-0.58</a:t>
            </a:r>
          </a:p>
        </p:txBody>
      </p:sp>
      <p:sp>
        <p:nvSpPr>
          <p:cNvPr id="46" name="矩形 45">
            <a:extLst>
              <a:ext uri="{FF2B5EF4-FFF2-40B4-BE49-F238E27FC236}">
                <a16:creationId xmlns:a16="http://schemas.microsoft.com/office/drawing/2014/main" id="{8718BCD7-3B5F-483A-A20F-6890A5DCBE72}"/>
              </a:ext>
            </a:extLst>
          </p:cNvPr>
          <p:cNvSpPr>
            <a:spLocks noGrp="1"/>
          </p:cNvSpPr>
          <p:nvPr/>
        </p:nvSpPr>
        <p:spPr>
          <a:xfrm>
            <a:off x="2247900" y="3657600"/>
            <a:ext cx="666750" cy="666750"/>
          </a:xfrm>
          <a:prstGeom prst="rect">
            <a:avLst/>
          </a:prstGeom>
          <a:solidFill>
            <a:srgbClr val="F3D5D5"/>
          </a:solidFill>
          <a:ln w="9525">
            <a:solidFill>
              <a:srgbClr val="FFFFFF"/>
            </a:solidFill>
            <a:prstDash val="solid"/>
          </a:ln>
        </p:spPr>
        <p:txBody>
          <a:bodyPr/>
          <a:lstStyle/>
          <a:p>
            <a:endParaRPr lang="zh-CN" altLang="en-US"/>
          </a:p>
        </p:txBody>
      </p:sp>
      <p:sp>
        <p:nvSpPr>
          <p:cNvPr id="47" name="矩形 46">
            <a:extLst>
              <a:ext uri="{FF2B5EF4-FFF2-40B4-BE49-F238E27FC236}">
                <a16:creationId xmlns:a16="http://schemas.microsoft.com/office/drawing/2014/main" id="{DAD7363C-D4E7-4060-988F-E053E3297AB5}"/>
              </a:ext>
            </a:extLst>
          </p:cNvPr>
          <p:cNvSpPr>
            <a:spLocks noGrp="1"/>
          </p:cNvSpPr>
          <p:nvPr/>
        </p:nvSpPr>
        <p:spPr>
          <a:xfrm>
            <a:off x="2286000" y="3867150"/>
            <a:ext cx="590550" cy="209550"/>
          </a:xfrm>
          <a:prstGeom prst="rect">
            <a:avLst/>
          </a:prstGeom>
          <a:solidFill>
            <a:srgbClr val="F3D5D5"/>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-0.34</a:t>
            </a:r>
          </a:p>
        </p:txBody>
      </p:sp>
      <p:sp>
        <p:nvSpPr>
          <p:cNvPr id="48" name="矩形 47">
            <a:extLst>
              <a:ext uri="{FF2B5EF4-FFF2-40B4-BE49-F238E27FC236}">
                <a16:creationId xmlns:a16="http://schemas.microsoft.com/office/drawing/2014/main" id="{3D3789F1-E472-4940-AF77-C8F91FA1199B}"/>
              </a:ext>
            </a:extLst>
          </p:cNvPr>
          <p:cNvSpPr>
            <a:spLocks noGrp="1"/>
          </p:cNvSpPr>
          <p:nvPr/>
        </p:nvSpPr>
        <p:spPr>
          <a:xfrm>
            <a:off x="2933700" y="3657600"/>
            <a:ext cx="666750" cy="666750"/>
          </a:xfrm>
          <a:prstGeom prst="rect">
            <a:avLst/>
          </a:prstGeom>
          <a:solidFill>
            <a:srgbClr val="D58C8C"/>
          </a:solidFill>
          <a:ln w="9525">
            <a:solidFill>
              <a:srgbClr val="FFFFFF"/>
            </a:solidFill>
            <a:prstDash val="solid"/>
          </a:ln>
        </p:spPr>
        <p:txBody>
          <a:bodyPr/>
          <a:lstStyle/>
          <a:p>
            <a:endParaRPr lang="zh-CN" altLang="en-US"/>
          </a:p>
        </p:txBody>
      </p:sp>
      <p:sp>
        <p:nvSpPr>
          <p:cNvPr id="49" name="矩形 48">
            <a:extLst>
              <a:ext uri="{FF2B5EF4-FFF2-40B4-BE49-F238E27FC236}">
                <a16:creationId xmlns:a16="http://schemas.microsoft.com/office/drawing/2014/main" id="{B4B6A915-4372-4528-9231-14B4061A17BE}"/>
              </a:ext>
            </a:extLst>
          </p:cNvPr>
          <p:cNvSpPr>
            <a:spLocks noGrp="1"/>
          </p:cNvSpPr>
          <p:nvPr/>
        </p:nvSpPr>
        <p:spPr>
          <a:xfrm>
            <a:off x="2971800" y="3867150"/>
            <a:ext cx="590550" cy="209550"/>
          </a:xfrm>
          <a:prstGeom prst="rect">
            <a:avLst/>
          </a:prstGeom>
          <a:solidFill>
            <a:srgbClr val="D58C8C"/>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-0.46</a:t>
            </a:r>
          </a:p>
        </p:txBody>
      </p:sp>
      <p:sp>
        <p:nvSpPr>
          <p:cNvPr id="50" name="矩形 49">
            <a:extLst>
              <a:ext uri="{FF2B5EF4-FFF2-40B4-BE49-F238E27FC236}">
                <a16:creationId xmlns:a16="http://schemas.microsoft.com/office/drawing/2014/main" id="{031AF2C9-0FE3-4979-A86E-0F9B9EDF15D4}"/>
              </a:ext>
            </a:extLst>
          </p:cNvPr>
          <p:cNvSpPr>
            <a:spLocks noGrp="1"/>
          </p:cNvSpPr>
          <p:nvPr/>
        </p:nvSpPr>
        <p:spPr>
          <a:xfrm>
            <a:off x="3619500" y="3657600"/>
            <a:ext cx="666750" cy="666750"/>
          </a:xfrm>
          <a:prstGeom prst="rect">
            <a:avLst/>
          </a:prstGeom>
          <a:solidFill>
            <a:srgbClr val="F3D5D5"/>
          </a:solidFill>
          <a:ln w="9525">
            <a:solidFill>
              <a:srgbClr val="FFFFFF"/>
            </a:solidFill>
            <a:prstDash val="solid"/>
          </a:ln>
        </p:spPr>
        <p:txBody>
          <a:bodyPr/>
          <a:lstStyle/>
          <a:p>
            <a:endParaRPr lang="zh-CN" altLang="en-US"/>
          </a:p>
        </p:txBody>
      </p:sp>
      <p:sp>
        <p:nvSpPr>
          <p:cNvPr id="51" name="矩形 50">
            <a:extLst>
              <a:ext uri="{FF2B5EF4-FFF2-40B4-BE49-F238E27FC236}">
                <a16:creationId xmlns:a16="http://schemas.microsoft.com/office/drawing/2014/main" id="{060BACAB-5A3E-417B-BC0B-ED03222CFFBC}"/>
              </a:ext>
            </a:extLst>
          </p:cNvPr>
          <p:cNvSpPr>
            <a:spLocks noGrp="1"/>
          </p:cNvSpPr>
          <p:nvPr/>
        </p:nvSpPr>
        <p:spPr>
          <a:xfrm>
            <a:off x="3657600" y="3867150"/>
            <a:ext cx="590550" cy="209550"/>
          </a:xfrm>
          <a:prstGeom prst="rect">
            <a:avLst/>
          </a:prstGeom>
          <a:solidFill>
            <a:srgbClr val="F3D5D5"/>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-0.39</a:t>
            </a:r>
          </a:p>
        </p:txBody>
      </p:sp>
      <p:sp>
        <p:nvSpPr>
          <p:cNvPr id="52" name="矩形 51">
            <a:extLst>
              <a:ext uri="{FF2B5EF4-FFF2-40B4-BE49-F238E27FC236}">
                <a16:creationId xmlns:a16="http://schemas.microsoft.com/office/drawing/2014/main" id="{FCA609E2-629E-4602-9E89-FD237AB7401F}"/>
              </a:ext>
            </a:extLst>
          </p:cNvPr>
          <p:cNvSpPr>
            <a:spLocks noGrp="1"/>
          </p:cNvSpPr>
          <p:nvPr/>
        </p:nvSpPr>
        <p:spPr>
          <a:xfrm>
            <a:off x="4305300" y="3657600"/>
            <a:ext cx="666750" cy="666750"/>
          </a:xfrm>
          <a:prstGeom prst="rect">
            <a:avLst/>
          </a:prstGeom>
          <a:solidFill>
            <a:srgbClr val="275B94"/>
          </a:solidFill>
          <a:ln w="9525">
            <a:solidFill>
              <a:srgbClr val="FFFFFF"/>
            </a:solidFill>
            <a:prstDash val="solid"/>
          </a:ln>
        </p:spPr>
        <p:txBody>
          <a:bodyPr/>
          <a:lstStyle/>
          <a:p>
            <a:endParaRPr lang="zh-CN" altLang="en-US"/>
          </a:p>
        </p:txBody>
      </p:sp>
      <p:sp>
        <p:nvSpPr>
          <p:cNvPr id="53" name="矩形 52">
            <a:extLst>
              <a:ext uri="{FF2B5EF4-FFF2-40B4-BE49-F238E27FC236}">
                <a16:creationId xmlns:a16="http://schemas.microsoft.com/office/drawing/2014/main" id="{F47B12C5-A8D6-4A6E-B2F7-6E9BA8B49330}"/>
              </a:ext>
            </a:extLst>
          </p:cNvPr>
          <p:cNvSpPr>
            <a:spLocks noGrp="1"/>
          </p:cNvSpPr>
          <p:nvPr/>
        </p:nvSpPr>
        <p:spPr>
          <a:xfrm>
            <a:off x="4343400" y="3867150"/>
            <a:ext cx="590550" cy="209550"/>
          </a:xfrm>
          <a:prstGeom prst="rect">
            <a:avLst/>
          </a:prstGeom>
          <a:solidFill>
            <a:srgbClr val="275B94"/>
          </a:solidFill>
          <a:ln w="0">
            <a:solidFill>
              <a:srgbClr val="000000">
                <a:alpha val="0"/>
              </a:srgbClr>
            </a:solidFill>
            <a:prstDash val="solid"/>
          </a:ln>
        </p:spPr>
        <p:txBody>
          <a:bodyPr lIns="0" tIns="0" rIns="0" bIns="0" anchor="t"/>
          <a:lstStyle/>
          <a:p>
            <a:pPr algn="ctr">
              <a:defRPr sz="975" b="1">
                <a:solidFill>
                  <a:srgbClr val="FFFFFF"/>
                </a:solidFill>
                <a:latin typeface="黑体"/>
                <a:ea typeface="黑体"/>
                <a:cs typeface="黑体"/>
              </a:defRPr>
            </a:pPr>
            <a:r>
              <a:rPr>
                <a:latin typeface="Times New Roman"/>
                <a:ea typeface="Times New Roman"/>
                <a:cs typeface="Times New Roman"/>
              </a:rPr>
              <a:t>1.00</a:t>
            </a:r>
          </a:p>
        </p:txBody>
      </p:sp>
      <p:sp>
        <p:nvSpPr>
          <p:cNvPr id="54" name="矩形 53">
            <a:extLst>
              <a:ext uri="{FF2B5EF4-FFF2-40B4-BE49-F238E27FC236}">
                <a16:creationId xmlns:a16="http://schemas.microsoft.com/office/drawing/2014/main" id="{8AE5347C-3642-4203-B5E2-83B88BDDF8A2}"/>
              </a:ext>
            </a:extLst>
          </p:cNvPr>
          <p:cNvSpPr>
            <a:spLocks noGrp="1"/>
          </p:cNvSpPr>
          <p:nvPr/>
        </p:nvSpPr>
        <p:spPr>
          <a:xfrm>
            <a:off x="4991100" y="3657600"/>
            <a:ext cx="666750" cy="666750"/>
          </a:xfrm>
          <a:prstGeom prst="rect">
            <a:avLst/>
          </a:prstGeom>
          <a:solidFill>
            <a:srgbClr val="D9E7F5"/>
          </a:solidFill>
          <a:ln w="9525">
            <a:solidFill>
              <a:srgbClr val="FFFFFF"/>
            </a:solidFill>
            <a:prstDash val="solid"/>
          </a:ln>
        </p:spPr>
        <p:txBody>
          <a:bodyPr/>
          <a:lstStyle/>
          <a:p>
            <a:endParaRPr lang="zh-CN" altLang="en-US"/>
          </a:p>
        </p:txBody>
      </p:sp>
      <p:sp>
        <p:nvSpPr>
          <p:cNvPr id="55" name="矩形 54">
            <a:extLst>
              <a:ext uri="{FF2B5EF4-FFF2-40B4-BE49-F238E27FC236}">
                <a16:creationId xmlns:a16="http://schemas.microsoft.com/office/drawing/2014/main" id="{84A1C6B9-5EC3-49AC-852D-0D84447CE743}"/>
              </a:ext>
            </a:extLst>
          </p:cNvPr>
          <p:cNvSpPr>
            <a:spLocks noGrp="1"/>
          </p:cNvSpPr>
          <p:nvPr/>
        </p:nvSpPr>
        <p:spPr>
          <a:xfrm>
            <a:off x="5029200" y="3867150"/>
            <a:ext cx="590550" cy="209550"/>
          </a:xfrm>
          <a:prstGeom prst="rect">
            <a:avLst/>
          </a:prstGeom>
          <a:solidFill>
            <a:srgbClr val="D9E7F5"/>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0.44</a:t>
            </a:r>
          </a:p>
        </p:txBody>
      </p:sp>
      <p:sp>
        <p:nvSpPr>
          <p:cNvPr id="56" name="矩形 55">
            <a:extLst>
              <a:ext uri="{FF2B5EF4-FFF2-40B4-BE49-F238E27FC236}">
                <a16:creationId xmlns:a16="http://schemas.microsoft.com/office/drawing/2014/main" id="{9C7CAFCE-C442-4B3D-924E-54961479B6C1}"/>
              </a:ext>
            </a:extLst>
          </p:cNvPr>
          <p:cNvSpPr>
            <a:spLocks noGrp="1"/>
          </p:cNvSpPr>
          <p:nvPr/>
        </p:nvSpPr>
        <p:spPr>
          <a:xfrm>
            <a:off x="2247900" y="4343400"/>
            <a:ext cx="666750" cy="666750"/>
          </a:xfrm>
          <a:prstGeom prst="rect">
            <a:avLst/>
          </a:prstGeom>
          <a:solidFill>
            <a:srgbClr val="F3D5D5"/>
          </a:solidFill>
          <a:ln w="9525">
            <a:solidFill>
              <a:srgbClr val="FFFFFF"/>
            </a:solidFill>
            <a:prstDash val="solid"/>
          </a:ln>
        </p:spPr>
        <p:txBody>
          <a:bodyPr/>
          <a:lstStyle/>
          <a:p>
            <a:endParaRPr lang="zh-CN" altLang="en-US"/>
          </a:p>
        </p:txBody>
      </p:sp>
      <p:sp>
        <p:nvSpPr>
          <p:cNvPr id="57" name="矩形 56">
            <a:extLst>
              <a:ext uri="{FF2B5EF4-FFF2-40B4-BE49-F238E27FC236}">
                <a16:creationId xmlns:a16="http://schemas.microsoft.com/office/drawing/2014/main" id="{95B262AF-C2D2-4DDD-B9C4-70AEDDA7E466}"/>
              </a:ext>
            </a:extLst>
          </p:cNvPr>
          <p:cNvSpPr>
            <a:spLocks noGrp="1"/>
          </p:cNvSpPr>
          <p:nvPr/>
        </p:nvSpPr>
        <p:spPr>
          <a:xfrm>
            <a:off x="2286000" y="4552950"/>
            <a:ext cx="590550" cy="209550"/>
          </a:xfrm>
          <a:prstGeom prst="rect">
            <a:avLst/>
          </a:prstGeom>
          <a:solidFill>
            <a:srgbClr val="F3D5D5"/>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-0.41</a:t>
            </a:r>
          </a:p>
        </p:txBody>
      </p:sp>
      <p:sp>
        <p:nvSpPr>
          <p:cNvPr id="58" name="矩形 57">
            <a:extLst>
              <a:ext uri="{FF2B5EF4-FFF2-40B4-BE49-F238E27FC236}">
                <a16:creationId xmlns:a16="http://schemas.microsoft.com/office/drawing/2014/main" id="{4F8634C9-3566-48D9-B10B-454D4E7C307C}"/>
              </a:ext>
            </a:extLst>
          </p:cNvPr>
          <p:cNvSpPr>
            <a:spLocks noGrp="1"/>
          </p:cNvSpPr>
          <p:nvPr/>
        </p:nvSpPr>
        <p:spPr>
          <a:xfrm>
            <a:off x="2933700" y="4343400"/>
            <a:ext cx="666750" cy="666750"/>
          </a:xfrm>
          <a:prstGeom prst="rect">
            <a:avLst/>
          </a:prstGeom>
          <a:solidFill>
            <a:srgbClr val="D58C8C"/>
          </a:solidFill>
          <a:ln w="9525">
            <a:solidFill>
              <a:srgbClr val="FFFFFF"/>
            </a:solidFill>
            <a:prstDash val="solid"/>
          </a:ln>
        </p:spPr>
        <p:txBody>
          <a:bodyPr/>
          <a:lstStyle/>
          <a:p>
            <a:endParaRPr lang="zh-CN" altLang="en-US"/>
          </a:p>
        </p:txBody>
      </p:sp>
      <p:sp>
        <p:nvSpPr>
          <p:cNvPr id="59" name="矩形 58">
            <a:extLst>
              <a:ext uri="{FF2B5EF4-FFF2-40B4-BE49-F238E27FC236}">
                <a16:creationId xmlns:a16="http://schemas.microsoft.com/office/drawing/2014/main" id="{13AD6DEA-D839-4A28-A3FE-C496C7BBC28F}"/>
              </a:ext>
            </a:extLst>
          </p:cNvPr>
          <p:cNvSpPr>
            <a:spLocks noGrp="1"/>
          </p:cNvSpPr>
          <p:nvPr/>
        </p:nvSpPr>
        <p:spPr>
          <a:xfrm>
            <a:off x="2971800" y="4552950"/>
            <a:ext cx="590550" cy="209550"/>
          </a:xfrm>
          <a:prstGeom prst="rect">
            <a:avLst/>
          </a:prstGeom>
          <a:solidFill>
            <a:srgbClr val="D58C8C"/>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-0.50</a:t>
            </a:r>
          </a:p>
        </p:txBody>
      </p:sp>
      <p:sp>
        <p:nvSpPr>
          <p:cNvPr id="60" name="矩形 59">
            <a:extLst>
              <a:ext uri="{FF2B5EF4-FFF2-40B4-BE49-F238E27FC236}">
                <a16:creationId xmlns:a16="http://schemas.microsoft.com/office/drawing/2014/main" id="{7F084D44-BD20-424F-B8F7-62D74D7589EB}"/>
              </a:ext>
            </a:extLst>
          </p:cNvPr>
          <p:cNvSpPr>
            <a:spLocks noGrp="1"/>
          </p:cNvSpPr>
          <p:nvPr/>
        </p:nvSpPr>
        <p:spPr>
          <a:xfrm>
            <a:off x="3619500" y="4343400"/>
            <a:ext cx="666750" cy="666750"/>
          </a:xfrm>
          <a:prstGeom prst="rect">
            <a:avLst/>
          </a:prstGeom>
          <a:solidFill>
            <a:srgbClr val="D58C8C"/>
          </a:solidFill>
          <a:ln w="9525">
            <a:solidFill>
              <a:srgbClr val="FFFFFF"/>
            </a:solidFill>
            <a:prstDash val="solid"/>
          </a:ln>
        </p:spPr>
        <p:txBody>
          <a:bodyPr/>
          <a:lstStyle/>
          <a:p>
            <a:endParaRPr lang="zh-CN" altLang="en-US"/>
          </a:p>
        </p:txBody>
      </p:sp>
      <p:sp>
        <p:nvSpPr>
          <p:cNvPr id="61" name="矩形 60">
            <a:extLst>
              <a:ext uri="{FF2B5EF4-FFF2-40B4-BE49-F238E27FC236}">
                <a16:creationId xmlns:a16="http://schemas.microsoft.com/office/drawing/2014/main" id="{9FCA738E-0641-4ABE-B7E7-13AB0797D1BA}"/>
              </a:ext>
            </a:extLst>
          </p:cNvPr>
          <p:cNvSpPr>
            <a:spLocks noGrp="1"/>
          </p:cNvSpPr>
          <p:nvPr/>
        </p:nvSpPr>
        <p:spPr>
          <a:xfrm>
            <a:off x="3657600" y="4552950"/>
            <a:ext cx="590550" cy="209550"/>
          </a:xfrm>
          <a:prstGeom prst="rect">
            <a:avLst/>
          </a:prstGeom>
          <a:solidFill>
            <a:srgbClr val="D58C8C"/>
          </a:solidFill>
          <a:ln w="0">
            <a:solidFill>
              <a:srgbClr val="000000">
                <a:alpha val="0"/>
              </a:srgbClr>
            </a:solidFill>
            <a:prstDash val="solid"/>
          </a:ln>
        </p:spPr>
        <p:txBody>
          <a:bodyPr lIns="0" tIns="0" rIns="0" bIns="0" anchor="t"/>
          <a:lstStyle/>
          <a:p>
            <a:pPr algn="ctr">
              <a:defRPr sz="975" b="1">
                <a:solidFill>
                  <a:srgbClr val="1F2933"/>
                </a:solidFill>
                <a:latin typeface="黑体"/>
                <a:ea typeface="黑体"/>
                <a:cs typeface="黑体"/>
              </a:defRPr>
            </a:pPr>
            <a:r>
              <a:rPr>
                <a:latin typeface="Times New Roman"/>
                <a:ea typeface="Times New Roman"/>
                <a:cs typeface="Times New Roman"/>
              </a:rPr>
              <a:t>-0.58</a:t>
            </a:r>
          </a:p>
        </p:txBody>
      </p:sp>
      <p:sp>
        <p:nvSpPr>
          <p:cNvPr id="62" name="矩形 61">
            <a:extLst>
              <a:ext uri="{FF2B5EF4-FFF2-40B4-BE49-F238E27FC236}">
                <a16:creationId xmlns:a16="http://schemas.microsoft.com/office/drawing/2014/main" id="{546B37BF-C06F-4E80-B009-CF69963FBB84}"/>
              </a:ext>
            </a:extLst>
          </p:cNvPr>
          <p:cNvSpPr>
            <a:spLocks noGrp="1"/>
          </p:cNvSpPr>
          <p:nvPr/>
        </p:nvSpPr>
        <p:spPr>
          <a:xfrm>
            <a:off x="4305300" y="4343400"/>
            <a:ext cx="666750" cy="666750"/>
          </a:xfrm>
          <a:prstGeom prst="rect">
            <a:avLst/>
          </a:prstGeom>
          <a:solidFill>
            <a:srgbClr val="D9E7F5"/>
          </a:solidFill>
          <a:ln w="9525">
            <a:solidFill>
              <a:srgbClr val="FFFFFF"/>
            </a:solidFill>
            <a:prstDash val="solid"/>
          </a:ln>
        </p:spPr>
        <p:txBody>
          <a:bodyPr/>
          <a:lstStyle/>
          <a:p>
            <a:endParaRPr lang="zh-CN" altLang="en-US"/>
          </a:p>
        </p:txBody>
      </p:sp>
      <p:sp>
        <p:nvSpPr>
          <p:cNvPr id="63" name="矩形 62">
            <a:extLst>
              <a:ext uri="{FF2B5EF4-FFF2-40B4-BE49-F238E27FC236}">
                <a16:creationId xmlns:a16="http://schemas.microsoft.com/office/drawing/2014/main" id="{DB5F07F2-5865-4E0C-87CC-13C4320CA8E9}"/>
              </a:ext>
            </a:extLst>
          </p:cNvPr>
          <p:cNvSpPr>
            <a:spLocks noGrp="1"/>
          </p:cNvSpPr>
          <p:nvPr/>
        </p:nvSpPr>
        <p:spPr>
          <a:xfrm>
            <a:off x="4343400" y="4552950"/>
            <a:ext cx="590550" cy="209550"/>
          </a:xfrm>
          <a:prstGeom prst="rect">
            <a:avLst/>
          </a:prstGeom>
          <a:solidFill>
            <a:srgbClr val="D9E7F5"/>
          </a:solidFill>
          <a:ln w="0">
            <a:solidFill>
              <a:srgbClr val="000000">
                <a:alpha val="0"/>
              </a:srgbClr>
            </a:solidFill>
            <a:prstDash val="solid"/>
          </a:ln>
        </p:spPr>
        <p:txBody>
          <a:bodyPr lIns="0" tIns="0" rIns="0" bIns="0" anchor="t"/>
          <a:lstStyle/>
          <a:p>
            <a:pPr algn="ctr">
              <a:defRPr sz="975" b="0">
                <a:solidFill>
                  <a:srgbClr val="1F2933"/>
                </a:solidFill>
                <a:latin typeface="黑体"/>
                <a:ea typeface="黑体"/>
                <a:cs typeface="黑体"/>
              </a:defRPr>
            </a:pPr>
            <a:r>
              <a:rPr>
                <a:latin typeface="Times New Roman"/>
                <a:ea typeface="Times New Roman"/>
                <a:cs typeface="Times New Roman"/>
              </a:rPr>
              <a:t>0.44</a:t>
            </a:r>
          </a:p>
        </p:txBody>
      </p:sp>
      <p:sp>
        <p:nvSpPr>
          <p:cNvPr id="64" name="矩形 63">
            <a:extLst>
              <a:ext uri="{FF2B5EF4-FFF2-40B4-BE49-F238E27FC236}">
                <a16:creationId xmlns:a16="http://schemas.microsoft.com/office/drawing/2014/main" id="{E06F453B-0523-4D69-8945-1D02D85B8948}"/>
              </a:ext>
            </a:extLst>
          </p:cNvPr>
          <p:cNvSpPr>
            <a:spLocks noGrp="1"/>
          </p:cNvSpPr>
          <p:nvPr/>
        </p:nvSpPr>
        <p:spPr>
          <a:xfrm>
            <a:off x="4991100" y="4343400"/>
            <a:ext cx="666750" cy="666750"/>
          </a:xfrm>
          <a:prstGeom prst="rect">
            <a:avLst/>
          </a:prstGeom>
          <a:solidFill>
            <a:srgbClr val="275B94"/>
          </a:solidFill>
          <a:ln w="9525">
            <a:solidFill>
              <a:srgbClr val="FFFFFF"/>
            </a:solidFill>
            <a:prstDash val="solid"/>
          </a:ln>
        </p:spPr>
        <p:txBody>
          <a:bodyPr/>
          <a:lstStyle/>
          <a:p>
            <a:endParaRPr lang="zh-CN" altLang="en-US"/>
          </a:p>
        </p:txBody>
      </p:sp>
      <p:sp>
        <p:nvSpPr>
          <p:cNvPr id="65" name="矩形 64">
            <a:extLst>
              <a:ext uri="{FF2B5EF4-FFF2-40B4-BE49-F238E27FC236}">
                <a16:creationId xmlns:a16="http://schemas.microsoft.com/office/drawing/2014/main" id="{BC575B1E-DDA9-4215-ACFA-EE24A783C4C7}"/>
              </a:ext>
            </a:extLst>
          </p:cNvPr>
          <p:cNvSpPr>
            <a:spLocks noGrp="1"/>
          </p:cNvSpPr>
          <p:nvPr/>
        </p:nvSpPr>
        <p:spPr>
          <a:xfrm>
            <a:off x="5029200" y="4552950"/>
            <a:ext cx="590550" cy="209550"/>
          </a:xfrm>
          <a:prstGeom prst="rect">
            <a:avLst/>
          </a:prstGeom>
          <a:solidFill>
            <a:srgbClr val="275B94"/>
          </a:solidFill>
          <a:ln w="0">
            <a:solidFill>
              <a:srgbClr val="000000">
                <a:alpha val="0"/>
              </a:srgbClr>
            </a:solidFill>
            <a:prstDash val="solid"/>
          </a:ln>
        </p:spPr>
        <p:txBody>
          <a:bodyPr lIns="0" tIns="0" rIns="0" bIns="0" anchor="t"/>
          <a:lstStyle/>
          <a:p>
            <a:pPr algn="ctr">
              <a:defRPr sz="975" b="1">
                <a:solidFill>
                  <a:srgbClr val="FFFFFF"/>
                </a:solidFill>
                <a:latin typeface="黑体"/>
                <a:ea typeface="黑体"/>
                <a:cs typeface="黑体"/>
              </a:defRPr>
            </a:pPr>
            <a:r>
              <a:rPr>
                <a:latin typeface="Times New Roman"/>
                <a:ea typeface="Times New Roman"/>
                <a:cs typeface="Times New Roman"/>
              </a:rPr>
              <a:t>1.00</a:t>
            </a:r>
          </a:p>
        </p:txBody>
      </p:sp>
      <p:sp>
        <p:nvSpPr>
          <p:cNvPr id="66" name="矩形 65">
            <a:extLst>
              <a:ext uri="{FF2B5EF4-FFF2-40B4-BE49-F238E27FC236}">
                <a16:creationId xmlns:a16="http://schemas.microsoft.com/office/drawing/2014/main" id="{7FD8CFF0-6986-4A3A-972C-D997F5D632D3}"/>
              </a:ext>
            </a:extLst>
          </p:cNvPr>
          <p:cNvSpPr>
            <a:spLocks noGrp="1"/>
          </p:cNvSpPr>
          <p:nvPr/>
        </p:nvSpPr>
        <p:spPr>
          <a:xfrm>
            <a:off x="6667500" y="1828800"/>
            <a:ext cx="666750" cy="323850"/>
          </a:xfrm>
          <a:prstGeom prst="rect">
            <a:avLst/>
          </a:prstGeom>
          <a:solidFill>
            <a:srgbClr val="A33A3A"/>
          </a:solidFill>
          <a:ln w="9525">
            <a:solidFill>
              <a:srgbClr val="FFFFFF"/>
            </a:solidFill>
            <a:prstDash val="solid"/>
          </a:ln>
        </p:spPr>
        <p:txBody>
          <a:bodyPr/>
          <a:lstStyle/>
          <a:p>
            <a:endParaRPr lang="zh-CN" altLang="en-US"/>
          </a:p>
        </p:txBody>
      </p:sp>
      <p:sp>
        <p:nvSpPr>
          <p:cNvPr id="67" name="矩形 66">
            <a:extLst>
              <a:ext uri="{FF2B5EF4-FFF2-40B4-BE49-F238E27FC236}">
                <a16:creationId xmlns:a16="http://schemas.microsoft.com/office/drawing/2014/main" id="{E39FE73E-297D-4E04-8C0F-601E1945DDF5}"/>
              </a:ext>
            </a:extLst>
          </p:cNvPr>
          <p:cNvSpPr>
            <a:spLocks noGrp="1"/>
          </p:cNvSpPr>
          <p:nvPr/>
        </p:nvSpPr>
        <p:spPr>
          <a:xfrm>
            <a:off x="6724650" y="1905000"/>
            <a:ext cx="552450" cy="171450"/>
          </a:xfrm>
          <a:prstGeom prst="rect">
            <a:avLst/>
          </a:prstGeom>
          <a:solidFill>
            <a:srgbClr val="A33A3A"/>
          </a:solidFill>
          <a:ln w="0">
            <a:solidFill>
              <a:srgbClr val="000000">
                <a:alpha val="0"/>
              </a:srgbClr>
            </a:solidFill>
            <a:prstDash val="solid"/>
          </a:ln>
        </p:spPr>
        <p:txBody>
          <a:bodyPr lIns="0" tIns="0" rIns="0" bIns="0" anchor="t"/>
          <a:lstStyle/>
          <a:p>
            <a:pPr algn="ctr">
              <a:defRPr sz="900" b="1">
                <a:solidFill>
                  <a:srgbClr val="FFFFFF"/>
                </a:solidFill>
                <a:latin typeface="黑体"/>
                <a:ea typeface="黑体"/>
                <a:cs typeface="黑体"/>
              </a:defRPr>
            </a:pPr>
            <a:r>
              <a:rPr>
                <a:latin typeface="Times New Roman"/>
                <a:ea typeface="Times New Roman"/>
                <a:cs typeface="Times New Roman"/>
              </a:rPr>
              <a:t>−1</a:t>
            </a:r>
          </a:p>
        </p:txBody>
      </p:sp>
      <p:sp>
        <p:nvSpPr>
          <p:cNvPr id="68" name="矩形 67">
            <a:extLst>
              <a:ext uri="{FF2B5EF4-FFF2-40B4-BE49-F238E27FC236}">
                <a16:creationId xmlns:a16="http://schemas.microsoft.com/office/drawing/2014/main" id="{ED8C895A-0F62-429D-B8C5-EE612B8818B8}"/>
              </a:ext>
            </a:extLst>
          </p:cNvPr>
          <p:cNvSpPr>
            <a:spLocks noGrp="1"/>
          </p:cNvSpPr>
          <p:nvPr/>
        </p:nvSpPr>
        <p:spPr>
          <a:xfrm>
            <a:off x="7448550" y="1828800"/>
            <a:ext cx="666750" cy="323850"/>
          </a:xfrm>
          <a:prstGeom prst="rect">
            <a:avLst/>
          </a:prstGeom>
          <a:solidFill>
            <a:srgbClr val="D58C8C"/>
          </a:solidFill>
          <a:ln w="9525">
            <a:solidFill>
              <a:srgbClr val="FFFFFF"/>
            </a:solidFill>
            <a:prstDash val="solid"/>
          </a:ln>
        </p:spPr>
        <p:txBody>
          <a:bodyPr/>
          <a:lstStyle/>
          <a:p>
            <a:endParaRPr lang="zh-CN" altLang="en-US"/>
          </a:p>
        </p:txBody>
      </p:sp>
      <p:sp>
        <p:nvSpPr>
          <p:cNvPr id="69" name="矩形 68">
            <a:extLst>
              <a:ext uri="{FF2B5EF4-FFF2-40B4-BE49-F238E27FC236}">
                <a16:creationId xmlns:a16="http://schemas.microsoft.com/office/drawing/2014/main" id="{4913B2F9-3E3F-4EA2-B26C-8966A51640EC}"/>
              </a:ext>
            </a:extLst>
          </p:cNvPr>
          <p:cNvSpPr>
            <a:spLocks noGrp="1"/>
          </p:cNvSpPr>
          <p:nvPr/>
        </p:nvSpPr>
        <p:spPr>
          <a:xfrm>
            <a:off x="7505700" y="1905000"/>
            <a:ext cx="552450" cy="171450"/>
          </a:xfrm>
          <a:prstGeom prst="rect">
            <a:avLst/>
          </a:prstGeom>
          <a:solidFill>
            <a:srgbClr val="D58C8C"/>
          </a:solidFill>
          <a:ln w="0">
            <a:solidFill>
              <a:srgbClr val="000000">
                <a:alpha val="0"/>
              </a:srgbClr>
            </a:solidFill>
            <a:prstDash val="solid"/>
          </a:ln>
        </p:spPr>
        <p:txBody>
          <a:bodyPr lIns="0" tIns="0" rIns="0" bIns="0" anchor="t"/>
          <a:lstStyle/>
          <a:p>
            <a:pPr algn="ctr">
              <a:defRPr sz="900" b="1">
                <a:solidFill>
                  <a:srgbClr val="1F2933"/>
                </a:solidFill>
                <a:latin typeface="黑体"/>
                <a:ea typeface="黑体"/>
                <a:cs typeface="黑体"/>
              </a:defRPr>
            </a:pPr>
            <a:r>
              <a:rPr>
                <a:latin typeface="Times New Roman"/>
                <a:ea typeface="Times New Roman"/>
                <a:cs typeface="Times New Roman"/>
              </a:rPr>
              <a:t>−0.5</a:t>
            </a:r>
          </a:p>
        </p:txBody>
      </p:sp>
      <p:sp>
        <p:nvSpPr>
          <p:cNvPr id="70" name="矩形 69">
            <a:extLst>
              <a:ext uri="{FF2B5EF4-FFF2-40B4-BE49-F238E27FC236}">
                <a16:creationId xmlns:a16="http://schemas.microsoft.com/office/drawing/2014/main" id="{0AE6BEC2-1B5B-4506-A6AB-A40CB4BAD0B5}"/>
              </a:ext>
            </a:extLst>
          </p:cNvPr>
          <p:cNvSpPr>
            <a:spLocks noGrp="1"/>
          </p:cNvSpPr>
          <p:nvPr/>
        </p:nvSpPr>
        <p:spPr>
          <a:xfrm>
            <a:off x="8229600" y="1828800"/>
            <a:ext cx="666750" cy="323850"/>
          </a:xfrm>
          <a:prstGeom prst="rect">
            <a:avLst/>
          </a:prstGeom>
          <a:solidFill>
            <a:srgbClr val="F4F4F4"/>
          </a:solidFill>
          <a:ln w="9525">
            <a:solidFill>
              <a:srgbClr val="FFFFFF"/>
            </a:solidFill>
            <a:prstDash val="solid"/>
          </a:ln>
        </p:spPr>
        <p:txBody>
          <a:bodyPr/>
          <a:lstStyle/>
          <a:p>
            <a:endParaRPr lang="zh-CN" altLang="en-US"/>
          </a:p>
        </p:txBody>
      </p:sp>
      <p:sp>
        <p:nvSpPr>
          <p:cNvPr id="71" name="矩形 70">
            <a:extLst>
              <a:ext uri="{FF2B5EF4-FFF2-40B4-BE49-F238E27FC236}">
                <a16:creationId xmlns:a16="http://schemas.microsoft.com/office/drawing/2014/main" id="{E2B54356-BD9B-4391-A3BD-BEE75F42A931}"/>
              </a:ext>
            </a:extLst>
          </p:cNvPr>
          <p:cNvSpPr>
            <a:spLocks noGrp="1"/>
          </p:cNvSpPr>
          <p:nvPr/>
        </p:nvSpPr>
        <p:spPr>
          <a:xfrm>
            <a:off x="8286750" y="1905000"/>
            <a:ext cx="552450" cy="171450"/>
          </a:xfrm>
          <a:prstGeom prst="rect">
            <a:avLst/>
          </a:prstGeom>
          <a:solidFill>
            <a:srgbClr val="F4F4F4"/>
          </a:solidFill>
          <a:ln w="0">
            <a:solidFill>
              <a:srgbClr val="000000">
                <a:alpha val="0"/>
              </a:srgbClr>
            </a:solidFill>
            <a:prstDash val="solid"/>
          </a:ln>
        </p:spPr>
        <p:txBody>
          <a:bodyPr lIns="0" tIns="0" rIns="0" bIns="0" anchor="t"/>
          <a:lstStyle/>
          <a:p>
            <a:pPr algn="ctr">
              <a:defRPr sz="900" b="1">
                <a:solidFill>
                  <a:srgbClr val="1F2933"/>
                </a:solidFill>
                <a:latin typeface="黑体"/>
                <a:ea typeface="黑体"/>
                <a:cs typeface="黑体"/>
              </a:defRPr>
            </a:pPr>
            <a:r>
              <a:rPr>
                <a:latin typeface="Times New Roman"/>
                <a:ea typeface="Times New Roman"/>
                <a:cs typeface="Times New Roman"/>
              </a:rPr>
              <a:t>0</a:t>
            </a:r>
          </a:p>
        </p:txBody>
      </p:sp>
      <p:sp>
        <p:nvSpPr>
          <p:cNvPr id="72" name="矩形 71">
            <a:extLst>
              <a:ext uri="{FF2B5EF4-FFF2-40B4-BE49-F238E27FC236}">
                <a16:creationId xmlns:a16="http://schemas.microsoft.com/office/drawing/2014/main" id="{57AF35E9-03CA-4409-B7BB-4D402BA5E54E}"/>
              </a:ext>
            </a:extLst>
          </p:cNvPr>
          <p:cNvSpPr>
            <a:spLocks noGrp="1"/>
          </p:cNvSpPr>
          <p:nvPr/>
        </p:nvSpPr>
        <p:spPr>
          <a:xfrm>
            <a:off x="9010650" y="1828800"/>
            <a:ext cx="666750" cy="323850"/>
          </a:xfrm>
          <a:prstGeom prst="rect">
            <a:avLst/>
          </a:prstGeom>
          <a:solidFill>
            <a:srgbClr val="79A2CD"/>
          </a:solidFill>
          <a:ln w="9525">
            <a:solidFill>
              <a:srgbClr val="FFFFFF"/>
            </a:solidFill>
            <a:prstDash val="solid"/>
          </a:ln>
        </p:spPr>
        <p:txBody>
          <a:bodyPr/>
          <a:lstStyle/>
          <a:p>
            <a:endParaRPr lang="zh-CN" altLang="en-US"/>
          </a:p>
        </p:txBody>
      </p:sp>
      <p:sp>
        <p:nvSpPr>
          <p:cNvPr id="73" name="矩形 72">
            <a:extLst>
              <a:ext uri="{FF2B5EF4-FFF2-40B4-BE49-F238E27FC236}">
                <a16:creationId xmlns:a16="http://schemas.microsoft.com/office/drawing/2014/main" id="{694E155C-F1AF-4C10-B362-F939A56C0586}"/>
              </a:ext>
            </a:extLst>
          </p:cNvPr>
          <p:cNvSpPr>
            <a:spLocks noGrp="1"/>
          </p:cNvSpPr>
          <p:nvPr/>
        </p:nvSpPr>
        <p:spPr>
          <a:xfrm>
            <a:off x="9067800" y="1905000"/>
            <a:ext cx="552450" cy="171450"/>
          </a:xfrm>
          <a:prstGeom prst="rect">
            <a:avLst/>
          </a:prstGeom>
          <a:solidFill>
            <a:srgbClr val="79A2CD"/>
          </a:solidFill>
          <a:ln w="0">
            <a:solidFill>
              <a:srgbClr val="000000">
                <a:alpha val="0"/>
              </a:srgbClr>
            </a:solidFill>
            <a:prstDash val="solid"/>
          </a:ln>
        </p:spPr>
        <p:txBody>
          <a:bodyPr lIns="0" tIns="0" rIns="0" bIns="0" anchor="t"/>
          <a:lstStyle/>
          <a:p>
            <a:pPr algn="ctr">
              <a:defRPr sz="900" b="1">
                <a:solidFill>
                  <a:srgbClr val="1F2933"/>
                </a:solidFill>
                <a:latin typeface="黑体"/>
                <a:ea typeface="黑体"/>
                <a:cs typeface="黑体"/>
              </a:defRPr>
            </a:pPr>
            <a:r>
              <a:rPr>
                <a:latin typeface="Times New Roman"/>
                <a:ea typeface="Times New Roman"/>
                <a:cs typeface="Times New Roman"/>
              </a:rPr>
              <a:t>0.5</a:t>
            </a:r>
          </a:p>
        </p:txBody>
      </p:sp>
      <p:sp>
        <p:nvSpPr>
          <p:cNvPr id="74" name="矩形 73">
            <a:extLst>
              <a:ext uri="{FF2B5EF4-FFF2-40B4-BE49-F238E27FC236}">
                <a16:creationId xmlns:a16="http://schemas.microsoft.com/office/drawing/2014/main" id="{A419C472-239E-4940-BBFD-5E938AE51EAD}"/>
              </a:ext>
            </a:extLst>
          </p:cNvPr>
          <p:cNvSpPr>
            <a:spLocks noGrp="1"/>
          </p:cNvSpPr>
          <p:nvPr/>
        </p:nvSpPr>
        <p:spPr>
          <a:xfrm>
            <a:off x="9791700" y="1828800"/>
            <a:ext cx="666750" cy="323850"/>
          </a:xfrm>
          <a:prstGeom prst="rect">
            <a:avLst/>
          </a:prstGeom>
          <a:solidFill>
            <a:srgbClr val="275B94"/>
          </a:solidFill>
          <a:ln w="9525">
            <a:solidFill>
              <a:srgbClr val="FFFFFF"/>
            </a:solidFill>
            <a:prstDash val="solid"/>
          </a:ln>
        </p:spPr>
        <p:txBody>
          <a:bodyPr/>
          <a:lstStyle/>
          <a:p>
            <a:endParaRPr lang="zh-CN" altLang="en-US"/>
          </a:p>
        </p:txBody>
      </p:sp>
      <p:sp>
        <p:nvSpPr>
          <p:cNvPr id="75" name="矩形 74">
            <a:extLst>
              <a:ext uri="{FF2B5EF4-FFF2-40B4-BE49-F238E27FC236}">
                <a16:creationId xmlns:a16="http://schemas.microsoft.com/office/drawing/2014/main" id="{5E70AFA3-C66C-434D-BCF7-112584D720B1}"/>
              </a:ext>
            </a:extLst>
          </p:cNvPr>
          <p:cNvSpPr>
            <a:spLocks noGrp="1"/>
          </p:cNvSpPr>
          <p:nvPr/>
        </p:nvSpPr>
        <p:spPr>
          <a:xfrm>
            <a:off x="9848850" y="1905000"/>
            <a:ext cx="552450" cy="171450"/>
          </a:xfrm>
          <a:prstGeom prst="rect">
            <a:avLst/>
          </a:prstGeom>
          <a:solidFill>
            <a:srgbClr val="275B94"/>
          </a:solidFill>
          <a:ln w="0">
            <a:solidFill>
              <a:srgbClr val="000000">
                <a:alpha val="0"/>
              </a:srgbClr>
            </a:solidFill>
            <a:prstDash val="solid"/>
          </a:ln>
        </p:spPr>
        <p:txBody>
          <a:bodyPr lIns="0" tIns="0" rIns="0" bIns="0" anchor="t"/>
          <a:lstStyle/>
          <a:p>
            <a:pPr algn="ctr">
              <a:defRPr sz="900" b="1">
                <a:solidFill>
                  <a:srgbClr val="FFFFFF"/>
                </a:solidFill>
                <a:latin typeface="黑体"/>
                <a:ea typeface="黑体"/>
                <a:cs typeface="黑体"/>
              </a:defRPr>
            </a:pPr>
            <a:r>
              <a:rPr>
                <a:latin typeface="Times New Roman"/>
                <a:ea typeface="Times New Roman"/>
                <a:cs typeface="Times New Roman"/>
              </a:rPr>
              <a:t>1</a:t>
            </a:r>
          </a:p>
        </p:txBody>
      </p:sp>
      <p:sp>
        <p:nvSpPr>
          <p:cNvPr id="76" name="矩形 75">
            <a:extLst>
              <a:ext uri="{FF2B5EF4-FFF2-40B4-BE49-F238E27FC236}">
                <a16:creationId xmlns:a16="http://schemas.microsoft.com/office/drawing/2014/main" id="{9C7057AD-B831-4936-9CF7-11315142971F}"/>
              </a:ext>
            </a:extLst>
          </p:cNvPr>
          <p:cNvSpPr>
            <a:spLocks noGrp="1"/>
          </p:cNvSpPr>
          <p:nvPr/>
        </p:nvSpPr>
        <p:spPr>
          <a:xfrm>
            <a:off x="6667500" y="2552700"/>
            <a:ext cx="4038600" cy="666750"/>
          </a:xfrm>
          <a:prstGeom prst="rect">
            <a:avLst/>
          </a:prstGeom>
          <a:solidFill>
            <a:srgbClr val="F5F9FE"/>
          </a:solidFill>
          <a:ln w="9525">
            <a:solidFill>
              <a:srgbClr val="B8C3D1"/>
            </a:solidFill>
            <a:prstDash val="solid"/>
          </a:ln>
        </p:spPr>
        <p:txBody>
          <a:bodyPr/>
          <a:lstStyle/>
          <a:p>
            <a:endParaRPr lang="zh-CN" altLang="en-US"/>
          </a:p>
        </p:txBody>
      </p:sp>
      <p:sp>
        <p:nvSpPr>
          <p:cNvPr id="77" name="矩形 76">
            <a:extLst>
              <a:ext uri="{FF2B5EF4-FFF2-40B4-BE49-F238E27FC236}">
                <a16:creationId xmlns:a16="http://schemas.microsoft.com/office/drawing/2014/main" id="{99C0800D-91BD-4685-A084-45565123256A}"/>
              </a:ext>
            </a:extLst>
          </p:cNvPr>
          <p:cNvSpPr>
            <a:spLocks noGrp="1"/>
          </p:cNvSpPr>
          <p:nvPr/>
        </p:nvSpPr>
        <p:spPr>
          <a:xfrm>
            <a:off x="6858000" y="2667000"/>
            <a:ext cx="1181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14DA1"/>
                </a:solidFill>
                <a:latin typeface="黑体"/>
                <a:ea typeface="黑体"/>
                <a:cs typeface="黑体"/>
              </a:defRPr>
            </a:pPr>
            <a:r>
              <a:rPr>
                <a:latin typeface="黑体"/>
                <a:ea typeface="黑体"/>
                <a:cs typeface="黑体"/>
              </a:rPr>
              <a:t>强正相关</a:t>
            </a:r>
          </a:p>
        </p:txBody>
      </p:sp>
      <p:sp>
        <p:nvSpPr>
          <p:cNvPr id="78" name="矩形 77">
            <a:extLst>
              <a:ext uri="{FF2B5EF4-FFF2-40B4-BE49-F238E27FC236}">
                <a16:creationId xmlns:a16="http://schemas.microsoft.com/office/drawing/2014/main" id="{459A2DDD-2E33-4442-8239-88704209D4EB}"/>
              </a:ext>
            </a:extLst>
          </p:cNvPr>
          <p:cNvSpPr>
            <a:spLocks noGrp="1"/>
          </p:cNvSpPr>
          <p:nvPr/>
        </p:nvSpPr>
        <p:spPr>
          <a:xfrm>
            <a:off x="8134350" y="26670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Times New Roman"/>
                <a:ea typeface="Times New Roman"/>
                <a:cs typeface="Times New Roman"/>
              </a:rPr>
              <a:t>video </a:t>
            </a:r>
            <a:r>
              <a:rPr>
                <a:latin typeface="黑体"/>
                <a:ea typeface="黑体"/>
                <a:cs typeface="黑体"/>
              </a:rPr>
              <a:t>与 </a:t>
            </a:r>
            <a:r>
              <a:rPr>
                <a:latin typeface="Times New Roman"/>
                <a:ea typeface="Times New Roman"/>
                <a:cs typeface="Times New Roman"/>
              </a:rPr>
              <a:t>quiz：0.71</a:t>
            </a:r>
          </a:p>
        </p:txBody>
      </p:sp>
      <p:sp>
        <p:nvSpPr>
          <p:cNvPr id="79" name="矩形 78">
            <a:extLst>
              <a:ext uri="{FF2B5EF4-FFF2-40B4-BE49-F238E27FC236}">
                <a16:creationId xmlns:a16="http://schemas.microsoft.com/office/drawing/2014/main" id="{66D7CB9C-E836-40F4-AF77-0FADED3AF598}"/>
              </a:ext>
            </a:extLst>
          </p:cNvPr>
          <p:cNvSpPr>
            <a:spLocks noGrp="1"/>
          </p:cNvSpPr>
          <p:nvPr/>
        </p:nvSpPr>
        <p:spPr>
          <a:xfrm>
            <a:off x="6667500" y="3429000"/>
            <a:ext cx="4038600" cy="666750"/>
          </a:xfrm>
          <a:prstGeom prst="rect">
            <a:avLst/>
          </a:prstGeom>
          <a:solidFill>
            <a:srgbClr val="FFF6F6"/>
          </a:solidFill>
          <a:ln w="9525">
            <a:solidFill>
              <a:srgbClr val="B8C3D1"/>
            </a:solidFill>
            <a:prstDash val="solid"/>
          </a:ln>
        </p:spPr>
        <p:txBody>
          <a:bodyPr/>
          <a:lstStyle/>
          <a:p>
            <a:endParaRPr lang="zh-CN" altLang="en-US"/>
          </a:p>
        </p:txBody>
      </p:sp>
      <p:sp>
        <p:nvSpPr>
          <p:cNvPr id="80" name="矩形 79">
            <a:extLst>
              <a:ext uri="{FF2B5EF4-FFF2-40B4-BE49-F238E27FC236}">
                <a16:creationId xmlns:a16="http://schemas.microsoft.com/office/drawing/2014/main" id="{D2BBBCDB-E6B3-417E-B5FB-6F10417C6A58}"/>
              </a:ext>
            </a:extLst>
          </p:cNvPr>
          <p:cNvSpPr>
            <a:spLocks noGrp="1"/>
          </p:cNvSpPr>
          <p:nvPr/>
        </p:nvSpPr>
        <p:spPr>
          <a:xfrm>
            <a:off x="6858000" y="3543300"/>
            <a:ext cx="1181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A33A3A"/>
                </a:solidFill>
                <a:latin typeface="黑体"/>
                <a:ea typeface="黑体"/>
                <a:cs typeface="黑体"/>
              </a:defRPr>
            </a:pPr>
            <a:r>
              <a:rPr>
                <a:latin typeface="黑体"/>
                <a:ea typeface="黑体"/>
                <a:cs typeface="黑体"/>
              </a:rPr>
              <a:t>强负相关</a:t>
            </a:r>
          </a:p>
        </p:txBody>
      </p:sp>
      <p:sp>
        <p:nvSpPr>
          <p:cNvPr id="81" name="矩形 80">
            <a:extLst>
              <a:ext uri="{FF2B5EF4-FFF2-40B4-BE49-F238E27FC236}">
                <a16:creationId xmlns:a16="http://schemas.microsoft.com/office/drawing/2014/main" id="{6502C0BB-08E4-49D3-BA2C-6A9391F17848}"/>
              </a:ext>
            </a:extLst>
          </p:cNvPr>
          <p:cNvSpPr>
            <a:spLocks noGrp="1"/>
          </p:cNvSpPr>
          <p:nvPr/>
        </p:nvSpPr>
        <p:spPr>
          <a:xfrm>
            <a:off x="8134350" y="35433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Times New Roman"/>
                <a:ea typeface="Times New Roman"/>
                <a:cs typeface="Times New Roman"/>
              </a:rPr>
              <a:t>quiz </a:t>
            </a:r>
            <a:r>
              <a:rPr>
                <a:latin typeface="黑体"/>
                <a:ea typeface="黑体"/>
                <a:cs typeface="黑体"/>
              </a:rPr>
              <a:t>与 </a:t>
            </a:r>
            <a:r>
              <a:rPr>
                <a:latin typeface="Times New Roman"/>
                <a:ea typeface="Times New Roman"/>
                <a:cs typeface="Times New Roman"/>
              </a:rPr>
              <a:t>missing：−0.58</a:t>
            </a:r>
          </a:p>
        </p:txBody>
      </p:sp>
      <p:sp>
        <p:nvSpPr>
          <p:cNvPr id="82" name="矩形 81">
            <a:extLst>
              <a:ext uri="{FF2B5EF4-FFF2-40B4-BE49-F238E27FC236}">
                <a16:creationId xmlns:a16="http://schemas.microsoft.com/office/drawing/2014/main" id="{0C8DBC67-9F08-402D-9D61-E1FE9EDE6C04}"/>
              </a:ext>
            </a:extLst>
          </p:cNvPr>
          <p:cNvSpPr>
            <a:spLocks noGrp="1"/>
          </p:cNvSpPr>
          <p:nvPr/>
        </p:nvSpPr>
        <p:spPr>
          <a:xfrm>
            <a:off x="6667500" y="4305300"/>
            <a:ext cx="4038600" cy="666750"/>
          </a:xfrm>
          <a:prstGeom prst="rect">
            <a:avLst/>
          </a:prstGeom>
          <a:solidFill>
            <a:srgbClr val="F5F9FE"/>
          </a:solidFill>
          <a:ln w="9525">
            <a:solidFill>
              <a:srgbClr val="B8C3D1"/>
            </a:solidFill>
            <a:prstDash val="solid"/>
          </a:ln>
        </p:spPr>
        <p:txBody>
          <a:bodyPr/>
          <a:lstStyle/>
          <a:p>
            <a:endParaRPr lang="zh-CN" altLang="en-US"/>
          </a:p>
        </p:txBody>
      </p:sp>
      <p:sp>
        <p:nvSpPr>
          <p:cNvPr id="83" name="矩形 82">
            <a:extLst>
              <a:ext uri="{FF2B5EF4-FFF2-40B4-BE49-F238E27FC236}">
                <a16:creationId xmlns:a16="http://schemas.microsoft.com/office/drawing/2014/main" id="{70E72EAD-1869-4F62-A14F-1D1AE2D4097C}"/>
              </a:ext>
            </a:extLst>
          </p:cNvPr>
          <p:cNvSpPr>
            <a:spLocks noGrp="1"/>
          </p:cNvSpPr>
          <p:nvPr/>
        </p:nvSpPr>
        <p:spPr>
          <a:xfrm>
            <a:off x="6858000" y="4419600"/>
            <a:ext cx="1181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14DA1"/>
                </a:solidFill>
                <a:latin typeface="黑体"/>
                <a:ea typeface="黑体"/>
                <a:cs typeface="黑体"/>
              </a:defRPr>
            </a:pPr>
            <a:r>
              <a:rPr>
                <a:latin typeface="黑体"/>
                <a:ea typeface="黑体"/>
                <a:cs typeface="黑体"/>
              </a:rPr>
              <a:t>潜在冗余</a:t>
            </a:r>
          </a:p>
        </p:txBody>
      </p:sp>
      <p:sp>
        <p:nvSpPr>
          <p:cNvPr id="84" name="矩形 83">
            <a:extLst>
              <a:ext uri="{FF2B5EF4-FFF2-40B4-BE49-F238E27FC236}">
                <a16:creationId xmlns:a16="http://schemas.microsoft.com/office/drawing/2014/main" id="{0E640F76-27C2-470E-B78C-EEDA92F8390E}"/>
              </a:ext>
            </a:extLst>
          </p:cNvPr>
          <p:cNvSpPr>
            <a:spLocks noGrp="1"/>
          </p:cNvSpPr>
          <p:nvPr/>
        </p:nvSpPr>
        <p:spPr>
          <a:xfrm>
            <a:off x="8134350" y="4419600"/>
            <a:ext cx="2362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Times New Roman"/>
                <a:ea typeface="Times New Roman"/>
                <a:cs typeface="Times New Roman"/>
              </a:rPr>
              <a:t>login </a:t>
            </a:r>
            <a:r>
              <a:rPr>
                <a:latin typeface="黑体"/>
                <a:ea typeface="黑体"/>
                <a:cs typeface="黑体"/>
              </a:rPr>
              <a:t>与 </a:t>
            </a:r>
            <a:r>
              <a:rPr>
                <a:latin typeface="Times New Roman"/>
                <a:ea typeface="Times New Roman"/>
                <a:cs typeface="Times New Roman"/>
              </a:rPr>
              <a:t>video：0.64</a:t>
            </a:r>
          </a:p>
        </p:txBody>
      </p:sp>
      <p:sp>
        <p:nvSpPr>
          <p:cNvPr id="85" name="矩形 84">
            <a:extLst>
              <a:ext uri="{FF2B5EF4-FFF2-40B4-BE49-F238E27FC236}">
                <a16:creationId xmlns:a16="http://schemas.microsoft.com/office/drawing/2014/main" id="{55E8D456-6250-4AAC-A85A-EAC9A47F60AD}"/>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86" name="矩形 85">
            <a:extLst>
              <a:ext uri="{FF2B5EF4-FFF2-40B4-BE49-F238E27FC236}">
                <a16:creationId xmlns:a16="http://schemas.microsoft.com/office/drawing/2014/main" id="{B617DBF4-B543-44B8-AE37-90DCF400C837}"/>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相关矩阵适合发现候选关系，不能替代逐变量核查。</a:t>
            </a:r>
          </a:p>
        </p:txBody>
      </p:sp>
    </p:spTree>
    <p:extLst>
      <p:ext uri="{BB962C8B-B14F-4D97-AF65-F5344CB8AC3E}">
        <p14:creationId xmlns:p14="http://schemas.microsoft.com/office/powerpoint/2010/main" val="1539747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a:extLst>
              <a:ext uri="{FF2B5EF4-FFF2-40B4-BE49-F238E27FC236}">
                <a16:creationId xmlns:a16="http://schemas.microsoft.com/office/drawing/2014/main" id="{9DDD9BB4-3117-43F7-861E-8E1D5A771D0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0B43311C-7756-44E3-A152-AEC284112B38}"/>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BC2DCAFB-9181-4CBB-8407-2A8D95F12F51}"/>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99E69F7D-6900-4AC0-AF79-A94BE9CCCE3D}"/>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贯穿案例：从分布到关系</a:t>
            </a:r>
          </a:p>
        </p:txBody>
      </p:sp>
      <p:sp>
        <p:nvSpPr>
          <p:cNvPr id="5" name="矩形 4">
            <a:extLst>
              <a:ext uri="{FF2B5EF4-FFF2-40B4-BE49-F238E27FC236}">
                <a16:creationId xmlns:a16="http://schemas.microsoft.com/office/drawing/2014/main" id="{96BF07FD-77C8-46D8-904D-A03C820C0E62}"/>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88/90</a:t>
            </a:r>
          </a:p>
        </p:txBody>
      </p:sp>
      <p:sp>
        <p:nvSpPr>
          <p:cNvPr id="6" name="矩形 5">
            <a:extLst>
              <a:ext uri="{FF2B5EF4-FFF2-40B4-BE49-F238E27FC236}">
                <a16:creationId xmlns:a16="http://schemas.microsoft.com/office/drawing/2014/main" id="{57E916D1-3FCF-492D-9F42-131AA7A15D8E}"/>
              </a:ext>
            </a:extLst>
          </p:cNvPr>
          <p:cNvSpPr>
            <a:spLocks noGrp="1"/>
          </p:cNvSpPr>
          <p:nvPr/>
        </p:nvSpPr>
        <p:spPr>
          <a:xfrm>
            <a:off x="685800" y="1219200"/>
            <a:ext cx="5143500" cy="1905000"/>
          </a:xfrm>
          <a:prstGeom prst="rect">
            <a:avLst/>
          </a:prstGeom>
          <a:solidFill>
            <a:srgbClr val="FFFFFF"/>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5D2D7E20-6C28-46C2-AC16-CC9D90897E9E}"/>
              </a:ext>
            </a:extLst>
          </p:cNvPr>
          <p:cNvSpPr>
            <a:spLocks noGrp="1"/>
          </p:cNvSpPr>
          <p:nvPr/>
        </p:nvSpPr>
        <p:spPr>
          <a:xfrm>
            <a:off x="857250" y="1352550"/>
            <a:ext cx="480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A33A3A"/>
                </a:solidFill>
                <a:latin typeface="黑体"/>
                <a:ea typeface="黑体"/>
                <a:cs typeface="黑体"/>
              </a:defRPr>
            </a:pPr>
            <a:r>
              <a:rPr>
                <a:latin typeface="Times New Roman"/>
                <a:ea typeface="Times New Roman"/>
                <a:cs typeface="Times New Roman"/>
              </a:rPr>
              <a:t>1 · </a:t>
            </a:r>
            <a:r>
              <a:rPr>
                <a:latin typeface="黑体"/>
                <a:ea typeface="黑体"/>
                <a:cs typeface="黑体"/>
              </a:rPr>
              <a:t>标签比例</a:t>
            </a:r>
          </a:p>
        </p:txBody>
      </p:sp>
      <p:sp>
        <p:nvSpPr>
          <p:cNvPr id="8" name="矩形 7">
            <a:extLst>
              <a:ext uri="{FF2B5EF4-FFF2-40B4-BE49-F238E27FC236}">
                <a16:creationId xmlns:a16="http://schemas.microsoft.com/office/drawing/2014/main" id="{577F2FE1-C4CA-4C21-A171-3C9FB554CD18}"/>
              </a:ext>
            </a:extLst>
          </p:cNvPr>
          <p:cNvSpPr>
            <a:spLocks noGrp="1"/>
          </p:cNvSpPr>
          <p:nvPr/>
        </p:nvSpPr>
        <p:spPr>
          <a:xfrm>
            <a:off x="6057900" y="1219200"/>
            <a:ext cx="5410200" cy="1905000"/>
          </a:xfrm>
          <a:prstGeom prst="rect">
            <a:avLst/>
          </a:prstGeom>
          <a:solidFill>
            <a:srgbClr val="FFFFFF"/>
          </a:solidFill>
          <a:ln w="9525">
            <a:solidFill>
              <a:srgbClr val="B8C3D1"/>
            </a:solidFill>
            <a:prstDash val="solid"/>
          </a:ln>
        </p:spPr>
        <p:txBody>
          <a:bodyPr/>
          <a:lstStyle/>
          <a:p>
            <a:endParaRPr lang="zh-CN" altLang="en-US"/>
          </a:p>
        </p:txBody>
      </p:sp>
      <p:sp>
        <p:nvSpPr>
          <p:cNvPr id="9" name="矩形 8">
            <a:extLst>
              <a:ext uri="{FF2B5EF4-FFF2-40B4-BE49-F238E27FC236}">
                <a16:creationId xmlns:a16="http://schemas.microsoft.com/office/drawing/2014/main" id="{F6535271-67D6-420E-9B02-CFB3ABC7B5C3}"/>
              </a:ext>
            </a:extLst>
          </p:cNvPr>
          <p:cNvSpPr>
            <a:spLocks noGrp="1"/>
          </p:cNvSpPr>
          <p:nvPr/>
        </p:nvSpPr>
        <p:spPr>
          <a:xfrm>
            <a:off x="6229350" y="1352550"/>
            <a:ext cx="5067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14DA1"/>
                </a:solidFill>
                <a:latin typeface="黑体"/>
                <a:ea typeface="黑体"/>
                <a:cs typeface="黑体"/>
              </a:defRPr>
            </a:pPr>
            <a:r>
              <a:rPr>
                <a:latin typeface="Times New Roman"/>
                <a:ea typeface="Times New Roman"/>
                <a:cs typeface="Times New Roman"/>
              </a:rPr>
              <a:t>2 · quiz_score </a:t>
            </a:r>
            <a:r>
              <a:rPr>
                <a:latin typeface="黑体"/>
                <a:ea typeface="黑体"/>
                <a:cs typeface="黑体"/>
              </a:rPr>
              <a:t>分布</a:t>
            </a:r>
          </a:p>
        </p:txBody>
      </p:sp>
      <p:sp>
        <p:nvSpPr>
          <p:cNvPr id="10" name="矩形 9">
            <a:extLst>
              <a:ext uri="{FF2B5EF4-FFF2-40B4-BE49-F238E27FC236}">
                <a16:creationId xmlns:a16="http://schemas.microsoft.com/office/drawing/2014/main" id="{6BA93CC0-44DB-4007-BC78-09C1C117A58B}"/>
              </a:ext>
            </a:extLst>
          </p:cNvPr>
          <p:cNvSpPr>
            <a:spLocks noGrp="1"/>
          </p:cNvSpPr>
          <p:nvPr/>
        </p:nvSpPr>
        <p:spPr>
          <a:xfrm>
            <a:off x="685800" y="3333750"/>
            <a:ext cx="5143500" cy="1905000"/>
          </a:xfrm>
          <a:prstGeom prst="rect">
            <a:avLst/>
          </a:prstGeom>
          <a:solidFill>
            <a:srgbClr val="FFFFFF"/>
          </a:solidFill>
          <a:ln w="9525">
            <a:solidFill>
              <a:srgbClr val="B8C3D1"/>
            </a:solidFill>
            <a:prstDash val="solid"/>
          </a:ln>
        </p:spPr>
        <p:txBody>
          <a:bodyPr/>
          <a:lstStyle/>
          <a:p>
            <a:endParaRPr lang="zh-CN" altLang="en-US"/>
          </a:p>
        </p:txBody>
      </p:sp>
      <p:sp>
        <p:nvSpPr>
          <p:cNvPr id="11" name="矩形 10">
            <a:extLst>
              <a:ext uri="{FF2B5EF4-FFF2-40B4-BE49-F238E27FC236}">
                <a16:creationId xmlns:a16="http://schemas.microsoft.com/office/drawing/2014/main" id="{6DF57623-F840-41B4-9A50-86923DCD4D4D}"/>
              </a:ext>
            </a:extLst>
          </p:cNvPr>
          <p:cNvSpPr>
            <a:spLocks noGrp="1"/>
          </p:cNvSpPr>
          <p:nvPr/>
        </p:nvSpPr>
        <p:spPr>
          <a:xfrm>
            <a:off x="857250" y="3467100"/>
            <a:ext cx="4800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3 · </a:t>
            </a:r>
            <a:r>
              <a:rPr>
                <a:latin typeface="黑体"/>
                <a:ea typeface="黑体"/>
                <a:cs typeface="黑体"/>
              </a:rPr>
              <a:t>课程群体差异</a:t>
            </a:r>
          </a:p>
        </p:txBody>
      </p:sp>
      <p:sp>
        <p:nvSpPr>
          <p:cNvPr id="12" name="矩形 11">
            <a:extLst>
              <a:ext uri="{FF2B5EF4-FFF2-40B4-BE49-F238E27FC236}">
                <a16:creationId xmlns:a16="http://schemas.microsoft.com/office/drawing/2014/main" id="{573AA58D-3A94-4C64-9462-D33C77BE67EF}"/>
              </a:ext>
            </a:extLst>
          </p:cNvPr>
          <p:cNvSpPr>
            <a:spLocks noGrp="1"/>
          </p:cNvSpPr>
          <p:nvPr/>
        </p:nvSpPr>
        <p:spPr>
          <a:xfrm>
            <a:off x="6057900" y="3333750"/>
            <a:ext cx="5410200" cy="1905000"/>
          </a:xfrm>
          <a:prstGeom prst="rect">
            <a:avLst/>
          </a:prstGeom>
          <a:solidFill>
            <a:srgbClr val="FFFFFF"/>
          </a:solidFill>
          <a:ln w="9525">
            <a:solidFill>
              <a:srgbClr val="B8C3D1"/>
            </a:solidFill>
            <a:prstDash val="solid"/>
          </a:ln>
        </p:spPr>
        <p:txBody>
          <a:bodyPr/>
          <a:lstStyle/>
          <a:p>
            <a:endParaRPr lang="zh-CN" altLang="en-US"/>
          </a:p>
        </p:txBody>
      </p:sp>
      <p:sp>
        <p:nvSpPr>
          <p:cNvPr id="13" name="矩形 12">
            <a:extLst>
              <a:ext uri="{FF2B5EF4-FFF2-40B4-BE49-F238E27FC236}">
                <a16:creationId xmlns:a16="http://schemas.microsoft.com/office/drawing/2014/main" id="{C10FF437-99F1-4DE1-A000-36524AE40F50}"/>
              </a:ext>
            </a:extLst>
          </p:cNvPr>
          <p:cNvSpPr>
            <a:spLocks noGrp="1"/>
          </p:cNvSpPr>
          <p:nvPr/>
        </p:nvSpPr>
        <p:spPr>
          <a:xfrm>
            <a:off x="6229350" y="3467100"/>
            <a:ext cx="5067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F7A5D"/>
                </a:solidFill>
                <a:latin typeface="黑体"/>
                <a:ea typeface="黑体"/>
                <a:cs typeface="黑体"/>
              </a:defRPr>
            </a:pPr>
            <a:r>
              <a:rPr>
                <a:latin typeface="Times New Roman"/>
                <a:ea typeface="Times New Roman"/>
                <a:cs typeface="Times New Roman"/>
              </a:rPr>
              <a:t>4 · video </a:t>
            </a:r>
            <a:r>
              <a:rPr>
                <a:latin typeface="黑体"/>
                <a:ea typeface="黑体"/>
                <a:cs typeface="黑体"/>
              </a:rPr>
              <a:t>与 </a:t>
            </a:r>
            <a:r>
              <a:rPr>
                <a:latin typeface="Times New Roman"/>
                <a:ea typeface="Times New Roman"/>
                <a:cs typeface="Times New Roman"/>
              </a:rPr>
              <a:t>quiz </a:t>
            </a:r>
            <a:r>
              <a:rPr>
                <a:latin typeface="黑体"/>
                <a:ea typeface="黑体"/>
                <a:cs typeface="黑体"/>
              </a:rPr>
              <a:t>的关系</a:t>
            </a:r>
          </a:p>
        </p:txBody>
      </p:sp>
      <p:sp>
        <p:nvSpPr>
          <p:cNvPr id="14" name="矩形 13">
            <a:extLst>
              <a:ext uri="{FF2B5EF4-FFF2-40B4-BE49-F238E27FC236}">
                <a16:creationId xmlns:a16="http://schemas.microsoft.com/office/drawing/2014/main" id="{1B72B37A-F01C-4EE2-9CDE-3144EB43ED68}"/>
              </a:ext>
            </a:extLst>
          </p:cNvPr>
          <p:cNvSpPr>
            <a:spLocks noGrp="1"/>
          </p:cNvSpPr>
          <p:nvPr/>
        </p:nvSpPr>
        <p:spPr>
          <a:xfrm>
            <a:off x="1200150" y="2247900"/>
            <a:ext cx="3333750" cy="266700"/>
          </a:xfrm>
          <a:prstGeom prst="rect">
            <a:avLst/>
          </a:prstGeom>
          <a:solidFill>
            <a:srgbClr val="D9E7F5"/>
          </a:solidFill>
          <a:ln w="0">
            <a:solidFill>
              <a:srgbClr val="000000">
                <a:alpha val="0"/>
              </a:srgbClr>
            </a:solidFill>
            <a:prstDash val="solid"/>
          </a:ln>
        </p:spPr>
        <p:txBody>
          <a:bodyPr/>
          <a:lstStyle/>
          <a:p>
            <a:endParaRPr lang="zh-CN" altLang="en-US"/>
          </a:p>
        </p:txBody>
      </p:sp>
      <p:sp>
        <p:nvSpPr>
          <p:cNvPr id="15" name="矩形 14">
            <a:extLst>
              <a:ext uri="{FF2B5EF4-FFF2-40B4-BE49-F238E27FC236}">
                <a16:creationId xmlns:a16="http://schemas.microsoft.com/office/drawing/2014/main" id="{0C33984A-A1FC-491F-A1F3-B4592FE8A1E3}"/>
              </a:ext>
            </a:extLst>
          </p:cNvPr>
          <p:cNvSpPr>
            <a:spLocks noGrp="1"/>
          </p:cNvSpPr>
          <p:nvPr/>
        </p:nvSpPr>
        <p:spPr>
          <a:xfrm>
            <a:off x="1200150" y="2247900"/>
            <a:ext cx="666750" cy="266700"/>
          </a:xfrm>
          <a:prstGeom prst="rect">
            <a:avLst/>
          </a:prstGeom>
          <a:solidFill>
            <a:srgbClr val="B64040"/>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4A7F177C-B7A1-4069-85DB-CC157BBE8E6B}"/>
              </a:ext>
            </a:extLst>
          </p:cNvPr>
          <p:cNvSpPr>
            <a:spLocks noGrp="1"/>
          </p:cNvSpPr>
          <p:nvPr/>
        </p:nvSpPr>
        <p:spPr>
          <a:xfrm>
            <a:off x="1200150" y="2609850"/>
            <a:ext cx="114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A33A3A"/>
                </a:solidFill>
                <a:latin typeface="黑体"/>
                <a:ea typeface="黑体"/>
                <a:cs typeface="黑体"/>
              </a:defRPr>
            </a:pPr>
            <a:r>
              <a:rPr>
                <a:latin typeface="黑体"/>
                <a:ea typeface="黑体"/>
                <a:cs typeface="黑体"/>
              </a:rPr>
              <a:t>退课 </a:t>
            </a:r>
            <a:r>
              <a:rPr>
                <a:latin typeface="Times New Roman"/>
                <a:ea typeface="Times New Roman"/>
                <a:cs typeface="Times New Roman"/>
              </a:rPr>
              <a:t>20%</a:t>
            </a:r>
          </a:p>
        </p:txBody>
      </p:sp>
      <p:sp>
        <p:nvSpPr>
          <p:cNvPr id="17" name="矩形 16">
            <a:extLst>
              <a:ext uri="{FF2B5EF4-FFF2-40B4-BE49-F238E27FC236}">
                <a16:creationId xmlns:a16="http://schemas.microsoft.com/office/drawing/2014/main" id="{B4822751-DFA2-4F2B-88B1-5660FABE1B5A}"/>
              </a:ext>
            </a:extLst>
          </p:cNvPr>
          <p:cNvSpPr>
            <a:spLocks noGrp="1"/>
          </p:cNvSpPr>
          <p:nvPr/>
        </p:nvSpPr>
        <p:spPr>
          <a:xfrm>
            <a:off x="3352800" y="2609850"/>
            <a:ext cx="123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014DA1"/>
                </a:solidFill>
                <a:latin typeface="黑体"/>
                <a:ea typeface="黑体"/>
                <a:cs typeface="黑体"/>
              </a:defRPr>
            </a:pPr>
            <a:r>
              <a:rPr>
                <a:latin typeface="黑体"/>
                <a:ea typeface="黑体"/>
                <a:cs typeface="黑体"/>
              </a:rPr>
              <a:t>未退课 </a:t>
            </a:r>
            <a:r>
              <a:rPr>
                <a:latin typeface="Times New Roman"/>
                <a:ea typeface="Times New Roman"/>
                <a:cs typeface="Times New Roman"/>
              </a:rPr>
              <a:t>80%</a:t>
            </a:r>
          </a:p>
        </p:txBody>
      </p:sp>
      <p:sp>
        <p:nvSpPr>
          <p:cNvPr id="18" name="矩形 17">
            <a:extLst>
              <a:ext uri="{FF2B5EF4-FFF2-40B4-BE49-F238E27FC236}">
                <a16:creationId xmlns:a16="http://schemas.microsoft.com/office/drawing/2014/main" id="{2B440CA1-5D2B-4DDC-B673-F83C734F6AA3}"/>
              </a:ext>
            </a:extLst>
          </p:cNvPr>
          <p:cNvSpPr>
            <a:spLocks noGrp="1"/>
          </p:cNvSpPr>
          <p:nvPr/>
        </p:nvSpPr>
        <p:spPr>
          <a:xfrm>
            <a:off x="6591300" y="2781300"/>
            <a:ext cx="419100" cy="76200"/>
          </a:xfrm>
          <a:prstGeom prst="rect">
            <a:avLst/>
          </a:prstGeom>
          <a:solidFill>
            <a:srgbClr val="B4964B"/>
          </a:solidFill>
          <a:ln w="9525">
            <a:solidFill>
              <a:srgbClr val="FFFFFF"/>
            </a:solidFill>
            <a:prstDash val="solid"/>
          </a:ln>
        </p:spPr>
        <p:txBody>
          <a:bodyPr/>
          <a:lstStyle/>
          <a:p>
            <a:endParaRPr lang="zh-CN" altLang="en-US"/>
          </a:p>
        </p:txBody>
      </p:sp>
      <p:sp>
        <p:nvSpPr>
          <p:cNvPr id="19" name="矩形 18">
            <a:extLst>
              <a:ext uri="{FF2B5EF4-FFF2-40B4-BE49-F238E27FC236}">
                <a16:creationId xmlns:a16="http://schemas.microsoft.com/office/drawing/2014/main" id="{3895172A-B619-47B1-AF4D-9AD074978AD5}"/>
              </a:ext>
            </a:extLst>
          </p:cNvPr>
          <p:cNvSpPr>
            <a:spLocks noGrp="1"/>
          </p:cNvSpPr>
          <p:nvPr/>
        </p:nvSpPr>
        <p:spPr>
          <a:xfrm>
            <a:off x="7105650" y="2714625"/>
            <a:ext cx="419100" cy="142875"/>
          </a:xfrm>
          <a:prstGeom prst="rect">
            <a:avLst/>
          </a:prstGeom>
          <a:solidFill>
            <a:srgbClr val="B4964B"/>
          </a:solidFill>
          <a:ln w="9525">
            <a:solidFill>
              <a:srgbClr val="FFFFFF"/>
            </a:solidFill>
            <a:prstDash val="solid"/>
          </a:ln>
        </p:spPr>
        <p:txBody>
          <a:bodyPr/>
          <a:lstStyle/>
          <a:p>
            <a:endParaRPr lang="zh-CN" altLang="en-US"/>
          </a:p>
        </p:txBody>
      </p:sp>
      <p:sp>
        <p:nvSpPr>
          <p:cNvPr id="20" name="矩形 19">
            <a:extLst>
              <a:ext uri="{FF2B5EF4-FFF2-40B4-BE49-F238E27FC236}">
                <a16:creationId xmlns:a16="http://schemas.microsoft.com/office/drawing/2014/main" id="{143CD5D6-60EC-4F6C-A45C-A37F67157DDD}"/>
              </a:ext>
            </a:extLst>
          </p:cNvPr>
          <p:cNvSpPr>
            <a:spLocks noGrp="1"/>
          </p:cNvSpPr>
          <p:nvPr/>
        </p:nvSpPr>
        <p:spPr>
          <a:xfrm>
            <a:off x="7620000" y="2647950"/>
            <a:ext cx="419100" cy="209550"/>
          </a:xfrm>
          <a:prstGeom prst="rect">
            <a:avLst/>
          </a:prstGeom>
          <a:solidFill>
            <a:srgbClr val="014DA1"/>
          </a:solidFill>
          <a:ln w="9525">
            <a:solidFill>
              <a:srgbClr val="FFFFFF"/>
            </a:solidFill>
            <a:prstDash val="solid"/>
          </a:ln>
        </p:spPr>
        <p:txBody>
          <a:bodyPr/>
          <a:lstStyle/>
          <a:p>
            <a:endParaRPr lang="zh-CN" altLang="en-US"/>
          </a:p>
        </p:txBody>
      </p:sp>
      <p:sp>
        <p:nvSpPr>
          <p:cNvPr id="21" name="矩形 20">
            <a:extLst>
              <a:ext uri="{FF2B5EF4-FFF2-40B4-BE49-F238E27FC236}">
                <a16:creationId xmlns:a16="http://schemas.microsoft.com/office/drawing/2014/main" id="{2C6DAA81-5E47-4D86-8B2F-E5D7448459A5}"/>
              </a:ext>
            </a:extLst>
          </p:cNvPr>
          <p:cNvSpPr>
            <a:spLocks noGrp="1"/>
          </p:cNvSpPr>
          <p:nvPr/>
        </p:nvSpPr>
        <p:spPr>
          <a:xfrm>
            <a:off x="8134350" y="2514600"/>
            <a:ext cx="419100" cy="342900"/>
          </a:xfrm>
          <a:prstGeom prst="rect">
            <a:avLst/>
          </a:prstGeom>
          <a:solidFill>
            <a:srgbClr val="014DA1"/>
          </a:solidFill>
          <a:ln w="9525">
            <a:solidFill>
              <a:srgbClr val="FFFFFF"/>
            </a:solidFill>
            <a:prstDash val="solid"/>
          </a:ln>
        </p:spPr>
        <p:txBody>
          <a:bodyPr/>
          <a:lstStyle/>
          <a:p>
            <a:endParaRPr lang="zh-CN" altLang="en-US"/>
          </a:p>
        </p:txBody>
      </p:sp>
      <p:sp>
        <p:nvSpPr>
          <p:cNvPr id="22" name="矩形 21">
            <a:extLst>
              <a:ext uri="{FF2B5EF4-FFF2-40B4-BE49-F238E27FC236}">
                <a16:creationId xmlns:a16="http://schemas.microsoft.com/office/drawing/2014/main" id="{A4675F68-FEF8-41E7-9235-80FF57409D93}"/>
              </a:ext>
            </a:extLst>
          </p:cNvPr>
          <p:cNvSpPr>
            <a:spLocks noGrp="1"/>
          </p:cNvSpPr>
          <p:nvPr/>
        </p:nvSpPr>
        <p:spPr>
          <a:xfrm>
            <a:off x="8648700" y="2362200"/>
            <a:ext cx="419100" cy="495300"/>
          </a:xfrm>
          <a:prstGeom prst="rect">
            <a:avLst/>
          </a:prstGeom>
          <a:solidFill>
            <a:srgbClr val="014DA1"/>
          </a:solidFill>
          <a:ln w="9525">
            <a:solidFill>
              <a:srgbClr val="FFFFFF"/>
            </a:solidFill>
            <a:prstDash val="solid"/>
          </a:ln>
        </p:spPr>
        <p:txBody>
          <a:bodyPr/>
          <a:lstStyle/>
          <a:p>
            <a:endParaRPr lang="zh-CN" altLang="en-US"/>
          </a:p>
        </p:txBody>
      </p:sp>
      <p:sp>
        <p:nvSpPr>
          <p:cNvPr id="23" name="矩形 22">
            <a:extLst>
              <a:ext uri="{FF2B5EF4-FFF2-40B4-BE49-F238E27FC236}">
                <a16:creationId xmlns:a16="http://schemas.microsoft.com/office/drawing/2014/main" id="{3EE95A75-6126-4DFB-BE97-76D5EFB02FC2}"/>
              </a:ext>
            </a:extLst>
          </p:cNvPr>
          <p:cNvSpPr>
            <a:spLocks noGrp="1"/>
          </p:cNvSpPr>
          <p:nvPr/>
        </p:nvSpPr>
        <p:spPr>
          <a:xfrm>
            <a:off x="9163050" y="2133600"/>
            <a:ext cx="419100" cy="723900"/>
          </a:xfrm>
          <a:prstGeom prst="rect">
            <a:avLst/>
          </a:prstGeom>
          <a:solidFill>
            <a:srgbClr val="014DA1"/>
          </a:solidFill>
          <a:ln w="9525">
            <a:solidFill>
              <a:srgbClr val="FFFFFF"/>
            </a:solidFill>
            <a:prstDash val="solid"/>
          </a:ln>
        </p:spPr>
        <p:txBody>
          <a:bodyPr/>
          <a:lstStyle/>
          <a:p>
            <a:endParaRPr lang="zh-CN" altLang="en-US"/>
          </a:p>
        </p:txBody>
      </p:sp>
      <p:sp>
        <p:nvSpPr>
          <p:cNvPr id="24" name="矩形 23">
            <a:extLst>
              <a:ext uri="{FF2B5EF4-FFF2-40B4-BE49-F238E27FC236}">
                <a16:creationId xmlns:a16="http://schemas.microsoft.com/office/drawing/2014/main" id="{A54BEEB3-B905-4E25-A572-0358D2A60266}"/>
              </a:ext>
            </a:extLst>
          </p:cNvPr>
          <p:cNvSpPr>
            <a:spLocks noGrp="1"/>
          </p:cNvSpPr>
          <p:nvPr/>
        </p:nvSpPr>
        <p:spPr>
          <a:xfrm>
            <a:off x="9677400" y="1924050"/>
            <a:ext cx="419100" cy="933450"/>
          </a:xfrm>
          <a:prstGeom prst="rect">
            <a:avLst/>
          </a:prstGeom>
          <a:solidFill>
            <a:srgbClr val="014DA1"/>
          </a:solidFill>
          <a:ln w="9525">
            <a:solidFill>
              <a:srgbClr val="FFFFFF"/>
            </a:solidFill>
            <a:prstDash val="solid"/>
          </a:ln>
        </p:spPr>
        <p:txBody>
          <a:bodyPr/>
          <a:lstStyle/>
          <a:p>
            <a:endParaRPr lang="zh-CN" altLang="en-US"/>
          </a:p>
        </p:txBody>
      </p:sp>
      <p:sp>
        <p:nvSpPr>
          <p:cNvPr id="25" name="矩形 24">
            <a:extLst>
              <a:ext uri="{FF2B5EF4-FFF2-40B4-BE49-F238E27FC236}">
                <a16:creationId xmlns:a16="http://schemas.microsoft.com/office/drawing/2014/main" id="{96FF2D13-F8DB-4E11-BA8F-E16BF6F4D560}"/>
              </a:ext>
            </a:extLst>
          </p:cNvPr>
          <p:cNvSpPr>
            <a:spLocks noGrp="1"/>
          </p:cNvSpPr>
          <p:nvPr/>
        </p:nvSpPr>
        <p:spPr>
          <a:xfrm>
            <a:off x="10191750" y="1809750"/>
            <a:ext cx="419100" cy="1047750"/>
          </a:xfrm>
          <a:prstGeom prst="rect">
            <a:avLst/>
          </a:prstGeom>
          <a:solidFill>
            <a:srgbClr val="014DA1"/>
          </a:solidFill>
          <a:ln w="9525">
            <a:solidFill>
              <a:srgbClr val="FFFFFF"/>
            </a:solidFill>
            <a:prstDash val="solid"/>
          </a:ln>
        </p:spPr>
        <p:txBody>
          <a:bodyPr/>
          <a:lstStyle/>
          <a:p>
            <a:endParaRPr lang="zh-CN" altLang="en-US"/>
          </a:p>
        </p:txBody>
      </p:sp>
      <p:sp>
        <p:nvSpPr>
          <p:cNvPr id="26" name="矩形 25">
            <a:extLst>
              <a:ext uri="{FF2B5EF4-FFF2-40B4-BE49-F238E27FC236}">
                <a16:creationId xmlns:a16="http://schemas.microsoft.com/office/drawing/2014/main" id="{5D6C1DB2-1173-429A-8363-AF27CE4785DE}"/>
              </a:ext>
            </a:extLst>
          </p:cNvPr>
          <p:cNvSpPr>
            <a:spLocks noGrp="1"/>
          </p:cNvSpPr>
          <p:nvPr/>
        </p:nvSpPr>
        <p:spPr>
          <a:xfrm>
            <a:off x="6477000" y="2781300"/>
            <a:ext cx="114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B4964B"/>
                </a:solidFill>
                <a:latin typeface="黑体"/>
                <a:ea typeface="黑体"/>
                <a:cs typeface="黑体"/>
              </a:defRPr>
            </a:pPr>
            <a:r>
              <a:rPr>
                <a:latin typeface="黑体"/>
                <a:ea typeface="黑体"/>
                <a:cs typeface="黑体"/>
              </a:rPr>
              <a:t>低分长尾</a:t>
            </a:r>
          </a:p>
        </p:txBody>
      </p:sp>
      <p:sp>
        <p:nvSpPr>
          <p:cNvPr id="27" name="矩形 26">
            <a:extLst>
              <a:ext uri="{FF2B5EF4-FFF2-40B4-BE49-F238E27FC236}">
                <a16:creationId xmlns:a16="http://schemas.microsoft.com/office/drawing/2014/main" id="{E42344F9-8D66-4E1B-A7F2-AB8B9C7CD667}"/>
              </a:ext>
            </a:extLst>
          </p:cNvPr>
          <p:cNvSpPr>
            <a:spLocks noGrp="1"/>
          </p:cNvSpPr>
          <p:nvPr/>
        </p:nvSpPr>
        <p:spPr>
          <a:xfrm>
            <a:off x="1066800" y="3943350"/>
            <a:ext cx="266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00204A"/>
                </a:solidFill>
                <a:latin typeface="黑体"/>
                <a:ea typeface="黑体"/>
                <a:cs typeface="黑体"/>
              </a:defRPr>
            </a:pPr>
            <a:r>
              <a:rPr>
                <a:latin typeface="Times New Roman"/>
                <a:ea typeface="Times New Roman"/>
                <a:cs typeface="Times New Roman"/>
              </a:rPr>
              <a:t>A</a:t>
            </a:r>
          </a:p>
        </p:txBody>
      </p:sp>
      <p:sp>
        <p:nvSpPr>
          <p:cNvPr id="28" name="矩形 27">
            <a:extLst>
              <a:ext uri="{FF2B5EF4-FFF2-40B4-BE49-F238E27FC236}">
                <a16:creationId xmlns:a16="http://schemas.microsoft.com/office/drawing/2014/main" id="{95D2767E-801D-43F5-B7C6-129DC8F06FA2}"/>
              </a:ext>
            </a:extLst>
          </p:cNvPr>
          <p:cNvSpPr>
            <a:spLocks noGrp="1"/>
          </p:cNvSpPr>
          <p:nvPr/>
        </p:nvSpPr>
        <p:spPr>
          <a:xfrm>
            <a:off x="1466850" y="3905250"/>
            <a:ext cx="3429000" cy="209550"/>
          </a:xfrm>
          <a:prstGeom prst="rect">
            <a:avLst/>
          </a:prstGeom>
          <a:solidFill>
            <a:srgbClr val="EEF2F7"/>
          </a:solidFill>
          <a:ln w="9525">
            <a:solidFill>
              <a:srgbClr val="D4DBE4"/>
            </a:solidFill>
            <a:prstDash val="solid"/>
          </a:ln>
        </p:spPr>
        <p:txBody>
          <a:bodyPr/>
          <a:lstStyle/>
          <a:p>
            <a:endParaRPr lang="zh-CN" altLang="en-US"/>
          </a:p>
        </p:txBody>
      </p:sp>
      <p:sp>
        <p:nvSpPr>
          <p:cNvPr id="29" name="矩形 28">
            <a:extLst>
              <a:ext uri="{FF2B5EF4-FFF2-40B4-BE49-F238E27FC236}">
                <a16:creationId xmlns:a16="http://schemas.microsoft.com/office/drawing/2014/main" id="{A6C7C670-FB3F-4B38-A7D2-70A354B427C6}"/>
              </a:ext>
            </a:extLst>
          </p:cNvPr>
          <p:cNvSpPr>
            <a:spLocks noGrp="1"/>
          </p:cNvSpPr>
          <p:nvPr/>
        </p:nvSpPr>
        <p:spPr>
          <a:xfrm>
            <a:off x="1466850" y="3905250"/>
            <a:ext cx="1440180" cy="2095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0" name="矩形 29">
            <a:extLst>
              <a:ext uri="{FF2B5EF4-FFF2-40B4-BE49-F238E27FC236}">
                <a16:creationId xmlns:a16="http://schemas.microsoft.com/office/drawing/2014/main" id="{DF9B51CC-7DBD-4284-9B65-C37AF2607145}"/>
              </a:ext>
            </a:extLst>
          </p:cNvPr>
          <p:cNvSpPr>
            <a:spLocks noGrp="1"/>
          </p:cNvSpPr>
          <p:nvPr/>
        </p:nvSpPr>
        <p:spPr>
          <a:xfrm>
            <a:off x="4953000" y="3924300"/>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Times New Roman"/>
                <a:ea typeface="Times New Roman"/>
                <a:cs typeface="Times New Roman"/>
              </a:rPr>
              <a:t>0.42</a:t>
            </a:r>
          </a:p>
        </p:txBody>
      </p:sp>
      <p:sp>
        <p:nvSpPr>
          <p:cNvPr id="31" name="矩形 30">
            <a:extLst>
              <a:ext uri="{FF2B5EF4-FFF2-40B4-BE49-F238E27FC236}">
                <a16:creationId xmlns:a16="http://schemas.microsoft.com/office/drawing/2014/main" id="{FCD7793E-B1F9-41C0-817A-C09374402221}"/>
              </a:ext>
            </a:extLst>
          </p:cNvPr>
          <p:cNvSpPr>
            <a:spLocks noGrp="1"/>
          </p:cNvSpPr>
          <p:nvPr/>
        </p:nvSpPr>
        <p:spPr>
          <a:xfrm>
            <a:off x="1066800" y="4343400"/>
            <a:ext cx="266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00204A"/>
                </a:solidFill>
                <a:latin typeface="黑体"/>
                <a:ea typeface="黑体"/>
                <a:cs typeface="黑体"/>
              </a:defRPr>
            </a:pPr>
            <a:r>
              <a:rPr>
                <a:latin typeface="Times New Roman"/>
                <a:ea typeface="Times New Roman"/>
                <a:cs typeface="Times New Roman"/>
              </a:rPr>
              <a:t>B</a:t>
            </a:r>
          </a:p>
        </p:txBody>
      </p:sp>
      <p:sp>
        <p:nvSpPr>
          <p:cNvPr id="32" name="矩形 31">
            <a:extLst>
              <a:ext uri="{FF2B5EF4-FFF2-40B4-BE49-F238E27FC236}">
                <a16:creationId xmlns:a16="http://schemas.microsoft.com/office/drawing/2014/main" id="{F3970EA3-1D5A-49E5-AF13-4D00F9F73F17}"/>
              </a:ext>
            </a:extLst>
          </p:cNvPr>
          <p:cNvSpPr>
            <a:spLocks noGrp="1"/>
          </p:cNvSpPr>
          <p:nvPr/>
        </p:nvSpPr>
        <p:spPr>
          <a:xfrm>
            <a:off x="1466850" y="4305300"/>
            <a:ext cx="3429000" cy="209550"/>
          </a:xfrm>
          <a:prstGeom prst="rect">
            <a:avLst/>
          </a:prstGeom>
          <a:solidFill>
            <a:srgbClr val="EEF2F7"/>
          </a:solidFill>
          <a:ln w="9525">
            <a:solidFill>
              <a:srgbClr val="D4DBE4"/>
            </a:solidFill>
            <a:prstDash val="solid"/>
          </a:ln>
        </p:spPr>
        <p:txBody>
          <a:bodyPr/>
          <a:lstStyle/>
          <a:p>
            <a:endParaRPr lang="zh-CN" altLang="en-US"/>
          </a:p>
        </p:txBody>
      </p:sp>
      <p:sp>
        <p:nvSpPr>
          <p:cNvPr id="33" name="矩形 32">
            <a:extLst>
              <a:ext uri="{FF2B5EF4-FFF2-40B4-BE49-F238E27FC236}">
                <a16:creationId xmlns:a16="http://schemas.microsoft.com/office/drawing/2014/main" id="{5085FD4B-D9CB-4820-B20C-1C1FBE14D34A}"/>
              </a:ext>
            </a:extLst>
          </p:cNvPr>
          <p:cNvSpPr>
            <a:spLocks noGrp="1"/>
          </p:cNvSpPr>
          <p:nvPr/>
        </p:nvSpPr>
        <p:spPr>
          <a:xfrm>
            <a:off x="1466850" y="4305300"/>
            <a:ext cx="1988820" cy="2095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A212470E-2CD7-47A0-BBCB-116E0065CF55}"/>
              </a:ext>
            </a:extLst>
          </p:cNvPr>
          <p:cNvSpPr>
            <a:spLocks noGrp="1"/>
          </p:cNvSpPr>
          <p:nvPr/>
        </p:nvSpPr>
        <p:spPr>
          <a:xfrm>
            <a:off x="4953000" y="4324350"/>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Times New Roman"/>
                <a:ea typeface="Times New Roman"/>
                <a:cs typeface="Times New Roman"/>
              </a:rPr>
              <a:t>0.58</a:t>
            </a:r>
          </a:p>
        </p:txBody>
      </p:sp>
      <p:sp>
        <p:nvSpPr>
          <p:cNvPr id="35" name="矩形 34">
            <a:extLst>
              <a:ext uri="{FF2B5EF4-FFF2-40B4-BE49-F238E27FC236}">
                <a16:creationId xmlns:a16="http://schemas.microsoft.com/office/drawing/2014/main" id="{DE569670-EA21-4320-AB19-9469F8A42F39}"/>
              </a:ext>
            </a:extLst>
          </p:cNvPr>
          <p:cNvSpPr>
            <a:spLocks noGrp="1"/>
          </p:cNvSpPr>
          <p:nvPr/>
        </p:nvSpPr>
        <p:spPr>
          <a:xfrm>
            <a:off x="1066800" y="4743450"/>
            <a:ext cx="266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00204A"/>
                </a:solidFill>
                <a:latin typeface="黑体"/>
                <a:ea typeface="黑体"/>
                <a:cs typeface="黑体"/>
              </a:defRPr>
            </a:pPr>
            <a:r>
              <a:rPr>
                <a:latin typeface="Times New Roman"/>
                <a:ea typeface="Times New Roman"/>
                <a:cs typeface="Times New Roman"/>
              </a:rPr>
              <a:t>C</a:t>
            </a:r>
          </a:p>
        </p:txBody>
      </p:sp>
      <p:sp>
        <p:nvSpPr>
          <p:cNvPr id="36" name="矩形 35">
            <a:extLst>
              <a:ext uri="{FF2B5EF4-FFF2-40B4-BE49-F238E27FC236}">
                <a16:creationId xmlns:a16="http://schemas.microsoft.com/office/drawing/2014/main" id="{8182CB86-7EE1-47EE-AB34-0AAE857BEE97}"/>
              </a:ext>
            </a:extLst>
          </p:cNvPr>
          <p:cNvSpPr>
            <a:spLocks noGrp="1"/>
          </p:cNvSpPr>
          <p:nvPr/>
        </p:nvSpPr>
        <p:spPr>
          <a:xfrm>
            <a:off x="1466850" y="4705350"/>
            <a:ext cx="3429000" cy="209550"/>
          </a:xfrm>
          <a:prstGeom prst="rect">
            <a:avLst/>
          </a:prstGeom>
          <a:solidFill>
            <a:srgbClr val="EEF2F7"/>
          </a:solidFill>
          <a:ln w="9525">
            <a:solidFill>
              <a:srgbClr val="D4DBE4"/>
            </a:solidFill>
            <a:prstDash val="solid"/>
          </a:ln>
        </p:spPr>
        <p:txBody>
          <a:bodyPr/>
          <a:lstStyle/>
          <a:p>
            <a:endParaRPr lang="zh-CN" altLang="en-US"/>
          </a:p>
        </p:txBody>
      </p:sp>
      <p:sp>
        <p:nvSpPr>
          <p:cNvPr id="37" name="矩形 36">
            <a:extLst>
              <a:ext uri="{FF2B5EF4-FFF2-40B4-BE49-F238E27FC236}">
                <a16:creationId xmlns:a16="http://schemas.microsoft.com/office/drawing/2014/main" id="{96252750-99BC-4822-AB8F-53D8543FCC67}"/>
              </a:ext>
            </a:extLst>
          </p:cNvPr>
          <p:cNvSpPr>
            <a:spLocks noGrp="1"/>
          </p:cNvSpPr>
          <p:nvPr/>
        </p:nvSpPr>
        <p:spPr>
          <a:xfrm>
            <a:off x="1466850" y="4705350"/>
            <a:ext cx="822960" cy="2095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8" name="矩形 37">
            <a:extLst>
              <a:ext uri="{FF2B5EF4-FFF2-40B4-BE49-F238E27FC236}">
                <a16:creationId xmlns:a16="http://schemas.microsoft.com/office/drawing/2014/main" id="{2C837566-807F-4587-850F-A08EEACD9DE0}"/>
              </a:ext>
            </a:extLst>
          </p:cNvPr>
          <p:cNvSpPr>
            <a:spLocks noGrp="1"/>
          </p:cNvSpPr>
          <p:nvPr/>
        </p:nvSpPr>
        <p:spPr>
          <a:xfrm>
            <a:off x="4953000" y="4724400"/>
            <a:ext cx="552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Times New Roman"/>
                <a:ea typeface="Times New Roman"/>
                <a:cs typeface="Times New Roman"/>
              </a:rPr>
              <a:t>0.24</a:t>
            </a:r>
          </a:p>
        </p:txBody>
      </p:sp>
      <p:sp>
        <p:nvSpPr>
          <p:cNvPr id="39" name="椭圆 38">
            <a:extLst>
              <a:ext uri="{FF2B5EF4-FFF2-40B4-BE49-F238E27FC236}">
                <a16:creationId xmlns:a16="http://schemas.microsoft.com/office/drawing/2014/main" id="{3BE4612F-D85B-411F-B5F8-2E6BB7F7AF88}"/>
              </a:ext>
            </a:extLst>
          </p:cNvPr>
          <p:cNvSpPr>
            <a:spLocks noGrp="1"/>
          </p:cNvSpPr>
          <p:nvPr/>
        </p:nvSpPr>
        <p:spPr>
          <a:xfrm>
            <a:off x="7136130" y="4680585"/>
            <a:ext cx="104775" cy="104775"/>
          </a:xfrm>
          <a:prstGeom prst="ellipse">
            <a:avLst/>
          </a:prstGeom>
          <a:solidFill>
            <a:srgbClr val="2F7A5D"/>
          </a:solidFill>
          <a:ln w="9525">
            <a:solidFill>
              <a:srgbClr val="FFFFFF"/>
            </a:solidFill>
            <a:prstDash val="solid"/>
          </a:ln>
        </p:spPr>
        <p:txBody>
          <a:bodyPr/>
          <a:lstStyle/>
          <a:p>
            <a:endParaRPr lang="zh-CN" altLang="en-US"/>
          </a:p>
        </p:txBody>
      </p:sp>
      <p:sp>
        <p:nvSpPr>
          <p:cNvPr id="40" name="椭圆 39">
            <a:extLst>
              <a:ext uri="{FF2B5EF4-FFF2-40B4-BE49-F238E27FC236}">
                <a16:creationId xmlns:a16="http://schemas.microsoft.com/office/drawing/2014/main" id="{40221F94-641D-4D23-BD82-F43C1FC8321B}"/>
              </a:ext>
            </a:extLst>
          </p:cNvPr>
          <p:cNvSpPr>
            <a:spLocks noGrp="1"/>
          </p:cNvSpPr>
          <p:nvPr/>
        </p:nvSpPr>
        <p:spPr>
          <a:xfrm>
            <a:off x="7604760" y="4519613"/>
            <a:ext cx="104775" cy="104775"/>
          </a:xfrm>
          <a:prstGeom prst="ellipse">
            <a:avLst/>
          </a:prstGeom>
          <a:solidFill>
            <a:srgbClr val="2F7A5D"/>
          </a:solidFill>
          <a:ln w="9525">
            <a:solidFill>
              <a:srgbClr val="FFFFFF"/>
            </a:solidFill>
            <a:prstDash val="solid"/>
          </a:ln>
        </p:spPr>
        <p:txBody>
          <a:bodyPr/>
          <a:lstStyle/>
          <a:p>
            <a:endParaRPr lang="zh-CN" altLang="en-US"/>
          </a:p>
        </p:txBody>
      </p:sp>
      <p:sp>
        <p:nvSpPr>
          <p:cNvPr id="41" name="椭圆 40">
            <a:extLst>
              <a:ext uri="{FF2B5EF4-FFF2-40B4-BE49-F238E27FC236}">
                <a16:creationId xmlns:a16="http://schemas.microsoft.com/office/drawing/2014/main" id="{F368A953-C4C3-4984-BF29-8534A69C905D}"/>
              </a:ext>
            </a:extLst>
          </p:cNvPr>
          <p:cNvSpPr>
            <a:spLocks noGrp="1"/>
          </p:cNvSpPr>
          <p:nvPr/>
        </p:nvSpPr>
        <p:spPr>
          <a:xfrm>
            <a:off x="7917180" y="4606290"/>
            <a:ext cx="104775" cy="104775"/>
          </a:xfrm>
          <a:prstGeom prst="ellipse">
            <a:avLst/>
          </a:prstGeom>
          <a:solidFill>
            <a:srgbClr val="2F7A5D"/>
          </a:solidFill>
          <a:ln w="9525">
            <a:solidFill>
              <a:srgbClr val="FFFFFF"/>
            </a:solidFill>
            <a:prstDash val="solid"/>
          </a:ln>
        </p:spPr>
        <p:txBody>
          <a:bodyPr/>
          <a:lstStyle/>
          <a:p>
            <a:endParaRPr lang="zh-CN" altLang="en-US"/>
          </a:p>
        </p:txBody>
      </p:sp>
      <p:sp>
        <p:nvSpPr>
          <p:cNvPr id="42" name="椭圆 41">
            <a:extLst>
              <a:ext uri="{FF2B5EF4-FFF2-40B4-BE49-F238E27FC236}">
                <a16:creationId xmlns:a16="http://schemas.microsoft.com/office/drawing/2014/main" id="{0EDDB36F-1C62-49F3-8936-4D1463B8EA64}"/>
              </a:ext>
            </a:extLst>
          </p:cNvPr>
          <p:cNvSpPr>
            <a:spLocks noGrp="1"/>
          </p:cNvSpPr>
          <p:nvPr/>
        </p:nvSpPr>
        <p:spPr>
          <a:xfrm>
            <a:off x="8307705" y="4358640"/>
            <a:ext cx="104775" cy="104775"/>
          </a:xfrm>
          <a:prstGeom prst="ellipse">
            <a:avLst/>
          </a:prstGeom>
          <a:solidFill>
            <a:srgbClr val="2F7A5D"/>
          </a:solidFill>
          <a:ln w="9525">
            <a:solidFill>
              <a:srgbClr val="FFFFFF"/>
            </a:solidFill>
            <a:prstDash val="solid"/>
          </a:ln>
        </p:spPr>
        <p:txBody>
          <a:bodyPr/>
          <a:lstStyle/>
          <a:p>
            <a:endParaRPr lang="zh-CN" altLang="en-US"/>
          </a:p>
        </p:txBody>
      </p:sp>
      <p:sp>
        <p:nvSpPr>
          <p:cNvPr id="43" name="椭圆 42">
            <a:extLst>
              <a:ext uri="{FF2B5EF4-FFF2-40B4-BE49-F238E27FC236}">
                <a16:creationId xmlns:a16="http://schemas.microsoft.com/office/drawing/2014/main" id="{CE742DC5-40A2-41D5-AC41-2EFBE313DE11}"/>
              </a:ext>
            </a:extLst>
          </p:cNvPr>
          <p:cNvSpPr>
            <a:spLocks noGrp="1"/>
          </p:cNvSpPr>
          <p:nvPr/>
        </p:nvSpPr>
        <p:spPr>
          <a:xfrm>
            <a:off x="8776335" y="4271963"/>
            <a:ext cx="104775" cy="104775"/>
          </a:xfrm>
          <a:prstGeom prst="ellipse">
            <a:avLst/>
          </a:prstGeom>
          <a:solidFill>
            <a:srgbClr val="2F7A5D"/>
          </a:solidFill>
          <a:ln w="9525">
            <a:solidFill>
              <a:srgbClr val="FFFFFF"/>
            </a:solidFill>
            <a:prstDash val="solid"/>
          </a:ln>
        </p:spPr>
        <p:txBody>
          <a:bodyPr/>
          <a:lstStyle/>
          <a:p>
            <a:endParaRPr lang="zh-CN" altLang="en-US"/>
          </a:p>
        </p:txBody>
      </p:sp>
      <p:sp>
        <p:nvSpPr>
          <p:cNvPr id="44" name="椭圆 43">
            <a:extLst>
              <a:ext uri="{FF2B5EF4-FFF2-40B4-BE49-F238E27FC236}">
                <a16:creationId xmlns:a16="http://schemas.microsoft.com/office/drawing/2014/main" id="{41394D4E-52D1-4F52-846F-A158A55BCBD5}"/>
              </a:ext>
            </a:extLst>
          </p:cNvPr>
          <p:cNvSpPr>
            <a:spLocks noGrp="1"/>
          </p:cNvSpPr>
          <p:nvPr/>
        </p:nvSpPr>
        <p:spPr>
          <a:xfrm>
            <a:off x="9205913" y="4185285"/>
            <a:ext cx="104775" cy="104775"/>
          </a:xfrm>
          <a:prstGeom prst="ellipse">
            <a:avLst/>
          </a:prstGeom>
          <a:solidFill>
            <a:srgbClr val="2F7A5D"/>
          </a:solidFill>
          <a:ln w="9525">
            <a:solidFill>
              <a:srgbClr val="FFFFFF"/>
            </a:solidFill>
            <a:prstDash val="solid"/>
          </a:ln>
        </p:spPr>
        <p:txBody>
          <a:bodyPr/>
          <a:lstStyle/>
          <a:p>
            <a:endParaRPr lang="zh-CN" altLang="en-US"/>
          </a:p>
        </p:txBody>
      </p:sp>
      <p:sp>
        <p:nvSpPr>
          <p:cNvPr id="45" name="椭圆 44">
            <a:extLst>
              <a:ext uri="{FF2B5EF4-FFF2-40B4-BE49-F238E27FC236}">
                <a16:creationId xmlns:a16="http://schemas.microsoft.com/office/drawing/2014/main" id="{BA58E957-C8B1-478F-A614-68A36FA701FD}"/>
              </a:ext>
            </a:extLst>
          </p:cNvPr>
          <p:cNvSpPr>
            <a:spLocks noGrp="1"/>
          </p:cNvSpPr>
          <p:nvPr/>
        </p:nvSpPr>
        <p:spPr>
          <a:xfrm>
            <a:off x="9635490" y="3987165"/>
            <a:ext cx="104775" cy="104775"/>
          </a:xfrm>
          <a:prstGeom prst="ellipse">
            <a:avLst/>
          </a:prstGeom>
          <a:solidFill>
            <a:srgbClr val="2F7A5D"/>
          </a:solidFill>
          <a:ln w="9525">
            <a:solidFill>
              <a:srgbClr val="FFFFFF"/>
            </a:solidFill>
            <a:prstDash val="solid"/>
          </a:ln>
        </p:spPr>
        <p:txBody>
          <a:bodyPr/>
          <a:lstStyle/>
          <a:p>
            <a:endParaRPr lang="zh-CN" altLang="en-US"/>
          </a:p>
        </p:txBody>
      </p:sp>
      <p:sp>
        <p:nvSpPr>
          <p:cNvPr id="46" name="椭圆 45">
            <a:extLst>
              <a:ext uri="{FF2B5EF4-FFF2-40B4-BE49-F238E27FC236}">
                <a16:creationId xmlns:a16="http://schemas.microsoft.com/office/drawing/2014/main" id="{79F720A1-2377-4E18-833C-43E9BAC58653}"/>
              </a:ext>
            </a:extLst>
          </p:cNvPr>
          <p:cNvSpPr>
            <a:spLocks noGrp="1"/>
          </p:cNvSpPr>
          <p:nvPr/>
        </p:nvSpPr>
        <p:spPr>
          <a:xfrm>
            <a:off x="10104120" y="3912870"/>
            <a:ext cx="104775" cy="104775"/>
          </a:xfrm>
          <a:prstGeom prst="ellipse">
            <a:avLst/>
          </a:prstGeom>
          <a:solidFill>
            <a:srgbClr val="2F7A5D"/>
          </a:solidFill>
          <a:ln w="9525">
            <a:solidFill>
              <a:srgbClr val="FFFFFF"/>
            </a:solidFill>
            <a:prstDash val="solid"/>
          </a:ln>
        </p:spPr>
        <p:txBody>
          <a:bodyPr/>
          <a:lstStyle/>
          <a:p>
            <a:endParaRPr lang="zh-CN" altLang="en-US"/>
          </a:p>
        </p:txBody>
      </p:sp>
      <p:sp>
        <p:nvSpPr>
          <p:cNvPr id="47" name="椭圆 46">
            <a:extLst>
              <a:ext uri="{FF2B5EF4-FFF2-40B4-BE49-F238E27FC236}">
                <a16:creationId xmlns:a16="http://schemas.microsoft.com/office/drawing/2014/main" id="{7BA816D9-BD40-45EF-A89A-7BC8934A56EB}"/>
              </a:ext>
            </a:extLst>
          </p:cNvPr>
          <p:cNvSpPr>
            <a:spLocks noGrp="1"/>
          </p:cNvSpPr>
          <p:nvPr/>
        </p:nvSpPr>
        <p:spPr>
          <a:xfrm>
            <a:off x="9869805" y="4531995"/>
            <a:ext cx="104775" cy="104775"/>
          </a:xfrm>
          <a:prstGeom prst="ellipse">
            <a:avLst/>
          </a:prstGeom>
          <a:solidFill>
            <a:srgbClr val="B64040"/>
          </a:solidFill>
          <a:ln w="9525">
            <a:solidFill>
              <a:srgbClr val="FFFFFF"/>
            </a:solidFill>
            <a:prstDash val="solid"/>
          </a:ln>
        </p:spPr>
        <p:txBody>
          <a:bodyPr/>
          <a:lstStyle/>
          <a:p>
            <a:endParaRPr lang="zh-CN" altLang="en-US"/>
          </a:p>
        </p:txBody>
      </p:sp>
      <p:sp>
        <p:nvSpPr>
          <p:cNvPr id="48" name="矩形 47">
            <a:extLst>
              <a:ext uri="{FF2B5EF4-FFF2-40B4-BE49-F238E27FC236}">
                <a16:creationId xmlns:a16="http://schemas.microsoft.com/office/drawing/2014/main" id="{E8C75C60-490B-4756-91B6-74B6887F226F}"/>
              </a:ext>
            </a:extLst>
          </p:cNvPr>
          <p:cNvSpPr>
            <a:spLocks noGrp="1"/>
          </p:cNvSpPr>
          <p:nvPr/>
        </p:nvSpPr>
        <p:spPr>
          <a:xfrm>
            <a:off x="6610350" y="4953000"/>
            <a:ext cx="4095750" cy="190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49" name="矩形 48">
            <a:extLst>
              <a:ext uri="{FF2B5EF4-FFF2-40B4-BE49-F238E27FC236}">
                <a16:creationId xmlns:a16="http://schemas.microsoft.com/office/drawing/2014/main" id="{3F42767B-E48D-4F30-8605-DCCFCF675771}"/>
              </a:ext>
            </a:extLst>
          </p:cNvPr>
          <p:cNvSpPr>
            <a:spLocks noGrp="1"/>
          </p:cNvSpPr>
          <p:nvPr/>
        </p:nvSpPr>
        <p:spPr>
          <a:xfrm>
            <a:off x="6610350" y="3657600"/>
            <a:ext cx="19050" cy="1314450"/>
          </a:xfrm>
          <a:prstGeom prst="rect">
            <a:avLst/>
          </a:prstGeom>
          <a:solidFill>
            <a:srgbClr val="9AA8B8"/>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ECEA55AF-9CFC-4570-B0F3-E965FFA1BE8B}"/>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51" name="矩形 50">
            <a:extLst>
              <a:ext uri="{FF2B5EF4-FFF2-40B4-BE49-F238E27FC236}">
                <a16:creationId xmlns:a16="http://schemas.microsoft.com/office/drawing/2014/main" id="{B0B09717-C923-4DC9-9DA3-FCD04B84CFDB}"/>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EDA </a:t>
            </a:r>
            <a:r>
              <a:rPr>
                <a:latin typeface="黑体"/>
                <a:ea typeface="黑体"/>
                <a:cs typeface="黑体"/>
              </a:rPr>
              <a:t>的结果应直接影响预处理、评价指标与后续模型选择。</a:t>
            </a:r>
          </a:p>
        </p:txBody>
      </p:sp>
    </p:spTree>
    <p:extLst>
      <p:ext uri="{BB962C8B-B14F-4D97-AF65-F5344CB8AC3E}">
        <p14:creationId xmlns:p14="http://schemas.microsoft.com/office/powerpoint/2010/main" val="1403612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66">
            <a:extLst>
              <a:ext uri="{FF2B5EF4-FFF2-40B4-BE49-F238E27FC236}">
                <a16:creationId xmlns:a16="http://schemas.microsoft.com/office/drawing/2014/main" id="{06025D33-557B-4E28-89CD-61DAFB0F546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B6BBA9D5-6055-47C5-8D94-072A03CF13CF}"/>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91FD5B34-3423-4577-92D2-474785DC91DD}"/>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6417F80B-4B6C-417E-87D9-0F2338293883}"/>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把 </a:t>
            </a:r>
            <a:r>
              <a:rPr>
                <a:latin typeface="Times New Roman"/>
                <a:ea typeface="Times New Roman"/>
                <a:cs typeface="Times New Roman"/>
              </a:rPr>
              <a:t>EDA </a:t>
            </a:r>
            <a:r>
              <a:rPr>
                <a:latin typeface="黑体"/>
                <a:ea typeface="黑体"/>
                <a:cs typeface="黑体"/>
              </a:rPr>
              <a:t>结论转成下一步处理</a:t>
            </a:r>
          </a:p>
        </p:txBody>
      </p:sp>
      <p:sp>
        <p:nvSpPr>
          <p:cNvPr id="5" name="矩形 4">
            <a:extLst>
              <a:ext uri="{FF2B5EF4-FFF2-40B4-BE49-F238E27FC236}">
                <a16:creationId xmlns:a16="http://schemas.microsoft.com/office/drawing/2014/main" id="{FA3A321A-60BD-41D5-AE17-2AE2C98518A8}"/>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89/90</a:t>
            </a:r>
          </a:p>
        </p:txBody>
      </p:sp>
      <p:sp>
        <p:nvSpPr>
          <p:cNvPr id="6" name="矩形 5">
            <a:extLst>
              <a:ext uri="{FF2B5EF4-FFF2-40B4-BE49-F238E27FC236}">
                <a16:creationId xmlns:a16="http://schemas.microsoft.com/office/drawing/2014/main" id="{0EDEE551-E9B1-4B6A-9276-D0ADEC28DF41}"/>
              </a:ext>
            </a:extLst>
          </p:cNvPr>
          <p:cNvSpPr>
            <a:spLocks noGrp="1"/>
          </p:cNvSpPr>
          <p:nvPr/>
        </p:nvSpPr>
        <p:spPr>
          <a:xfrm>
            <a:off x="68580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7" name="矩形 6">
            <a:extLst>
              <a:ext uri="{FF2B5EF4-FFF2-40B4-BE49-F238E27FC236}">
                <a16:creationId xmlns:a16="http://schemas.microsoft.com/office/drawing/2014/main" id="{4D8C1FAA-4304-44D0-A080-B080829BE8E5}"/>
              </a:ext>
            </a:extLst>
          </p:cNvPr>
          <p:cNvSpPr>
            <a:spLocks noGrp="1"/>
          </p:cNvSpPr>
          <p:nvPr/>
        </p:nvSpPr>
        <p:spPr>
          <a:xfrm>
            <a:off x="68580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1AC8EF8C-DFF4-488C-9812-0C9C27444C95}"/>
              </a:ext>
            </a:extLst>
          </p:cNvPr>
          <p:cNvSpPr>
            <a:spLocks noGrp="1"/>
          </p:cNvSpPr>
          <p:nvPr/>
        </p:nvSpPr>
        <p:spPr>
          <a:xfrm>
            <a:off x="2884170" y="1219200"/>
            <a:ext cx="2026920" cy="4076700"/>
          </a:xfrm>
          <a:prstGeom prst="rect">
            <a:avLst/>
          </a:prstGeom>
          <a:solidFill>
            <a:srgbClr val="FFFCF4"/>
          </a:solidFill>
          <a:ln w="9525">
            <a:solidFill>
              <a:srgbClr val="B7C2D0"/>
            </a:solidFill>
            <a:prstDash val="solid"/>
          </a:ln>
        </p:spPr>
        <p:txBody>
          <a:bodyPr/>
          <a:lstStyle/>
          <a:p>
            <a:endParaRPr lang="zh-CN" altLang="en-US"/>
          </a:p>
        </p:txBody>
      </p:sp>
      <p:sp>
        <p:nvSpPr>
          <p:cNvPr id="9" name="矩形 8">
            <a:extLst>
              <a:ext uri="{FF2B5EF4-FFF2-40B4-BE49-F238E27FC236}">
                <a16:creationId xmlns:a16="http://schemas.microsoft.com/office/drawing/2014/main" id="{223ADC44-7E3A-476E-896D-8A9EC7D22770}"/>
              </a:ext>
            </a:extLst>
          </p:cNvPr>
          <p:cNvSpPr>
            <a:spLocks noGrp="1"/>
          </p:cNvSpPr>
          <p:nvPr/>
        </p:nvSpPr>
        <p:spPr>
          <a:xfrm>
            <a:off x="2884170" y="1219200"/>
            <a:ext cx="2026920"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0" name="矩形 9">
            <a:extLst>
              <a:ext uri="{FF2B5EF4-FFF2-40B4-BE49-F238E27FC236}">
                <a16:creationId xmlns:a16="http://schemas.microsoft.com/office/drawing/2014/main" id="{2A3D871E-C12B-42CC-9A48-186344A3D578}"/>
              </a:ext>
            </a:extLst>
          </p:cNvPr>
          <p:cNvSpPr>
            <a:spLocks noGrp="1"/>
          </p:cNvSpPr>
          <p:nvPr/>
        </p:nvSpPr>
        <p:spPr>
          <a:xfrm>
            <a:off x="508254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11" name="矩形 10">
            <a:extLst>
              <a:ext uri="{FF2B5EF4-FFF2-40B4-BE49-F238E27FC236}">
                <a16:creationId xmlns:a16="http://schemas.microsoft.com/office/drawing/2014/main" id="{DE5F69C0-9563-4D2D-9CAD-2EDCFEA91303}"/>
              </a:ext>
            </a:extLst>
          </p:cNvPr>
          <p:cNvSpPr>
            <a:spLocks noGrp="1"/>
          </p:cNvSpPr>
          <p:nvPr/>
        </p:nvSpPr>
        <p:spPr>
          <a:xfrm>
            <a:off x="508254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2" name="矩形 11">
            <a:extLst>
              <a:ext uri="{FF2B5EF4-FFF2-40B4-BE49-F238E27FC236}">
                <a16:creationId xmlns:a16="http://schemas.microsoft.com/office/drawing/2014/main" id="{7C0B14CF-9FAC-46E9-A7DC-F941BC9FE59D}"/>
              </a:ext>
            </a:extLst>
          </p:cNvPr>
          <p:cNvSpPr>
            <a:spLocks noGrp="1"/>
          </p:cNvSpPr>
          <p:nvPr/>
        </p:nvSpPr>
        <p:spPr>
          <a:xfrm>
            <a:off x="7280910" y="1219200"/>
            <a:ext cx="2026920" cy="4076700"/>
          </a:xfrm>
          <a:prstGeom prst="rect">
            <a:avLst/>
          </a:prstGeom>
          <a:solidFill>
            <a:srgbClr val="FFFCF4"/>
          </a:solidFill>
          <a:ln w="9525">
            <a:solidFill>
              <a:srgbClr val="B7C2D0"/>
            </a:solidFill>
            <a:prstDash val="solid"/>
          </a:ln>
        </p:spPr>
        <p:txBody>
          <a:bodyPr/>
          <a:lstStyle/>
          <a:p>
            <a:endParaRPr lang="zh-CN" altLang="en-US"/>
          </a:p>
        </p:txBody>
      </p:sp>
      <p:sp>
        <p:nvSpPr>
          <p:cNvPr id="13" name="矩形 12">
            <a:extLst>
              <a:ext uri="{FF2B5EF4-FFF2-40B4-BE49-F238E27FC236}">
                <a16:creationId xmlns:a16="http://schemas.microsoft.com/office/drawing/2014/main" id="{497CCD67-9840-4F9E-A891-BE605577B84F}"/>
              </a:ext>
            </a:extLst>
          </p:cNvPr>
          <p:cNvSpPr>
            <a:spLocks noGrp="1"/>
          </p:cNvSpPr>
          <p:nvPr/>
        </p:nvSpPr>
        <p:spPr>
          <a:xfrm>
            <a:off x="7280910" y="1219200"/>
            <a:ext cx="2026920" cy="571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4" name="矩形 13">
            <a:extLst>
              <a:ext uri="{FF2B5EF4-FFF2-40B4-BE49-F238E27FC236}">
                <a16:creationId xmlns:a16="http://schemas.microsoft.com/office/drawing/2014/main" id="{53A95DC1-464D-49DE-AE74-4BF54AE5C2C2}"/>
              </a:ext>
            </a:extLst>
          </p:cNvPr>
          <p:cNvSpPr>
            <a:spLocks noGrp="1"/>
          </p:cNvSpPr>
          <p:nvPr/>
        </p:nvSpPr>
        <p:spPr>
          <a:xfrm>
            <a:off x="9479280" y="1219200"/>
            <a:ext cx="2026920" cy="4076700"/>
          </a:xfrm>
          <a:prstGeom prst="rect">
            <a:avLst/>
          </a:prstGeom>
          <a:solidFill>
            <a:srgbClr val="F6F9FD"/>
          </a:solidFill>
          <a:ln w="9525">
            <a:solidFill>
              <a:srgbClr val="B7C2D0"/>
            </a:solidFill>
            <a:prstDash val="solid"/>
          </a:ln>
        </p:spPr>
        <p:txBody>
          <a:bodyPr/>
          <a:lstStyle/>
          <a:p>
            <a:endParaRPr lang="zh-CN" altLang="en-US"/>
          </a:p>
        </p:txBody>
      </p:sp>
      <p:sp>
        <p:nvSpPr>
          <p:cNvPr id="15" name="矩形 14">
            <a:extLst>
              <a:ext uri="{FF2B5EF4-FFF2-40B4-BE49-F238E27FC236}">
                <a16:creationId xmlns:a16="http://schemas.microsoft.com/office/drawing/2014/main" id="{98167D9B-1022-4D01-8AB6-E83511A6F20C}"/>
              </a:ext>
            </a:extLst>
          </p:cNvPr>
          <p:cNvSpPr>
            <a:spLocks noGrp="1"/>
          </p:cNvSpPr>
          <p:nvPr/>
        </p:nvSpPr>
        <p:spPr>
          <a:xfrm>
            <a:off x="9479280" y="1219200"/>
            <a:ext cx="2026920" cy="571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6" name="矩形 15">
            <a:extLst>
              <a:ext uri="{FF2B5EF4-FFF2-40B4-BE49-F238E27FC236}">
                <a16:creationId xmlns:a16="http://schemas.microsoft.com/office/drawing/2014/main" id="{51AD394F-2DC7-456C-8671-C3591AB0A1A2}"/>
              </a:ext>
            </a:extLst>
          </p:cNvPr>
          <p:cNvSpPr>
            <a:spLocks noGrp="1"/>
          </p:cNvSpPr>
          <p:nvPr/>
        </p:nvSpPr>
        <p:spPr>
          <a:xfrm>
            <a:off x="78105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17" name="椭圆 16">
            <a:extLst>
              <a:ext uri="{FF2B5EF4-FFF2-40B4-BE49-F238E27FC236}">
                <a16:creationId xmlns:a16="http://schemas.microsoft.com/office/drawing/2014/main" id="{947B2E2C-7086-4331-BF6A-4F728B36BE6E}"/>
              </a:ext>
            </a:extLst>
          </p:cNvPr>
          <p:cNvSpPr>
            <a:spLocks noGrp="1"/>
          </p:cNvSpPr>
          <p:nvPr/>
        </p:nvSpPr>
        <p:spPr>
          <a:xfrm>
            <a:off x="137541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18" name="矩形 17">
            <a:extLst>
              <a:ext uri="{FF2B5EF4-FFF2-40B4-BE49-F238E27FC236}">
                <a16:creationId xmlns:a16="http://schemas.microsoft.com/office/drawing/2014/main" id="{206F9477-035D-4987-800B-9A3C3D6DEA9E}"/>
              </a:ext>
            </a:extLst>
          </p:cNvPr>
          <p:cNvSpPr>
            <a:spLocks noGrp="1"/>
          </p:cNvSpPr>
          <p:nvPr/>
        </p:nvSpPr>
        <p:spPr>
          <a:xfrm>
            <a:off x="148971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1</a:t>
            </a:r>
          </a:p>
        </p:txBody>
      </p:sp>
      <p:sp>
        <p:nvSpPr>
          <p:cNvPr id="19" name="矩形 18">
            <a:extLst>
              <a:ext uri="{FF2B5EF4-FFF2-40B4-BE49-F238E27FC236}">
                <a16:creationId xmlns:a16="http://schemas.microsoft.com/office/drawing/2014/main" id="{ABB9B0BC-A389-4757-B9E2-C01EFA92DCE3}"/>
              </a:ext>
            </a:extLst>
          </p:cNvPr>
          <p:cNvSpPr>
            <a:spLocks noGrp="1"/>
          </p:cNvSpPr>
          <p:nvPr/>
        </p:nvSpPr>
        <p:spPr>
          <a:xfrm>
            <a:off x="105064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0" name="矩形 19">
            <a:extLst>
              <a:ext uri="{FF2B5EF4-FFF2-40B4-BE49-F238E27FC236}">
                <a16:creationId xmlns:a16="http://schemas.microsoft.com/office/drawing/2014/main" id="{E469A18F-4A98-4D5F-8D1A-A70602D3C5D1}"/>
              </a:ext>
            </a:extLst>
          </p:cNvPr>
          <p:cNvSpPr>
            <a:spLocks noGrp="1"/>
          </p:cNvSpPr>
          <p:nvPr/>
        </p:nvSpPr>
        <p:spPr>
          <a:xfrm>
            <a:off x="123306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1" name="矩形 20">
            <a:extLst>
              <a:ext uri="{FF2B5EF4-FFF2-40B4-BE49-F238E27FC236}">
                <a16:creationId xmlns:a16="http://schemas.microsoft.com/office/drawing/2014/main" id="{4B937225-A948-4EC0-B2A7-79F3F0C03719}"/>
              </a:ext>
            </a:extLst>
          </p:cNvPr>
          <p:cNvSpPr>
            <a:spLocks noGrp="1"/>
          </p:cNvSpPr>
          <p:nvPr/>
        </p:nvSpPr>
        <p:spPr>
          <a:xfrm>
            <a:off x="139522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22" name="矩形 21">
            <a:extLst>
              <a:ext uri="{FF2B5EF4-FFF2-40B4-BE49-F238E27FC236}">
                <a16:creationId xmlns:a16="http://schemas.microsoft.com/office/drawing/2014/main" id="{496054C4-6136-4379-A36C-90D66A7194FB}"/>
              </a:ext>
            </a:extLst>
          </p:cNvPr>
          <p:cNvSpPr>
            <a:spLocks noGrp="1"/>
          </p:cNvSpPr>
          <p:nvPr/>
        </p:nvSpPr>
        <p:spPr>
          <a:xfrm>
            <a:off x="81915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发现</a:t>
            </a:r>
          </a:p>
        </p:txBody>
      </p:sp>
      <p:sp>
        <p:nvSpPr>
          <p:cNvPr id="23" name="矩形 22">
            <a:extLst>
              <a:ext uri="{FF2B5EF4-FFF2-40B4-BE49-F238E27FC236}">
                <a16:creationId xmlns:a16="http://schemas.microsoft.com/office/drawing/2014/main" id="{3F8D307A-5382-4000-B227-98665055788C}"/>
              </a:ext>
            </a:extLst>
          </p:cNvPr>
          <p:cNvSpPr>
            <a:spLocks noGrp="1"/>
          </p:cNvSpPr>
          <p:nvPr/>
        </p:nvSpPr>
        <p:spPr>
          <a:xfrm>
            <a:off x="85725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24" name="矩形 23">
            <a:extLst>
              <a:ext uri="{FF2B5EF4-FFF2-40B4-BE49-F238E27FC236}">
                <a16:creationId xmlns:a16="http://schemas.microsoft.com/office/drawing/2014/main" id="{D6A4D4CB-4786-46DF-8F8E-F983E5CD191B}"/>
              </a:ext>
            </a:extLst>
          </p:cNvPr>
          <p:cNvSpPr>
            <a:spLocks noGrp="1"/>
          </p:cNvSpPr>
          <p:nvPr/>
        </p:nvSpPr>
        <p:spPr>
          <a:xfrm>
            <a:off x="83820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图形或统计量暴露分布、关系与异常</a:t>
            </a:r>
          </a:p>
        </p:txBody>
      </p:sp>
      <p:sp>
        <p:nvSpPr>
          <p:cNvPr id="25" name="矩形 24">
            <a:extLst>
              <a:ext uri="{FF2B5EF4-FFF2-40B4-BE49-F238E27FC236}">
                <a16:creationId xmlns:a16="http://schemas.microsoft.com/office/drawing/2014/main" id="{B0E4ED6B-8F73-48CB-B8A7-7E4B46264943}"/>
              </a:ext>
            </a:extLst>
          </p:cNvPr>
          <p:cNvSpPr>
            <a:spLocks noGrp="1"/>
          </p:cNvSpPr>
          <p:nvPr/>
        </p:nvSpPr>
        <p:spPr>
          <a:xfrm>
            <a:off x="271272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26" name="矩形 25">
            <a:extLst>
              <a:ext uri="{FF2B5EF4-FFF2-40B4-BE49-F238E27FC236}">
                <a16:creationId xmlns:a16="http://schemas.microsoft.com/office/drawing/2014/main" id="{78990065-070C-4466-BAB3-2045D8016EA4}"/>
              </a:ext>
            </a:extLst>
          </p:cNvPr>
          <p:cNvSpPr>
            <a:spLocks noGrp="1"/>
          </p:cNvSpPr>
          <p:nvPr/>
        </p:nvSpPr>
        <p:spPr>
          <a:xfrm>
            <a:off x="2979420" y="1390650"/>
            <a:ext cx="1836420" cy="1428750"/>
          </a:xfrm>
          <a:prstGeom prst="rect">
            <a:avLst/>
          </a:prstGeom>
          <a:solidFill>
            <a:srgbClr val="F7EFD6"/>
          </a:solidFill>
          <a:ln w="9525">
            <a:solidFill>
              <a:srgbClr val="D4DCE6"/>
            </a:solidFill>
            <a:prstDash val="solid"/>
          </a:ln>
        </p:spPr>
        <p:txBody>
          <a:bodyPr/>
          <a:lstStyle/>
          <a:p>
            <a:endParaRPr lang="zh-CN" altLang="en-US"/>
          </a:p>
        </p:txBody>
      </p:sp>
      <p:sp>
        <p:nvSpPr>
          <p:cNvPr id="27" name="椭圆 26">
            <a:extLst>
              <a:ext uri="{FF2B5EF4-FFF2-40B4-BE49-F238E27FC236}">
                <a16:creationId xmlns:a16="http://schemas.microsoft.com/office/drawing/2014/main" id="{DB606F10-C54D-4611-87BC-29F7AFCB55E1}"/>
              </a:ext>
            </a:extLst>
          </p:cNvPr>
          <p:cNvSpPr>
            <a:spLocks noGrp="1"/>
          </p:cNvSpPr>
          <p:nvPr/>
        </p:nvSpPr>
        <p:spPr>
          <a:xfrm>
            <a:off x="3573780"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28" name="矩形 27">
            <a:extLst>
              <a:ext uri="{FF2B5EF4-FFF2-40B4-BE49-F238E27FC236}">
                <a16:creationId xmlns:a16="http://schemas.microsoft.com/office/drawing/2014/main" id="{D820BAA7-57BA-4A82-A2A1-742599B99C81}"/>
              </a:ext>
            </a:extLst>
          </p:cNvPr>
          <p:cNvSpPr>
            <a:spLocks noGrp="1"/>
          </p:cNvSpPr>
          <p:nvPr/>
        </p:nvSpPr>
        <p:spPr>
          <a:xfrm>
            <a:off x="3688080"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2</a:t>
            </a:r>
          </a:p>
        </p:txBody>
      </p:sp>
      <p:sp>
        <p:nvSpPr>
          <p:cNvPr id="29" name="矩形 28">
            <a:extLst>
              <a:ext uri="{FF2B5EF4-FFF2-40B4-BE49-F238E27FC236}">
                <a16:creationId xmlns:a16="http://schemas.microsoft.com/office/drawing/2014/main" id="{5ECA8AA1-6B88-4225-A30E-964ADE677B9E}"/>
              </a:ext>
            </a:extLst>
          </p:cNvPr>
          <p:cNvSpPr>
            <a:spLocks noGrp="1"/>
          </p:cNvSpPr>
          <p:nvPr/>
        </p:nvSpPr>
        <p:spPr>
          <a:xfrm>
            <a:off x="3249016" y="2400300"/>
            <a:ext cx="1297229"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30" name="矩形 29">
            <a:extLst>
              <a:ext uri="{FF2B5EF4-FFF2-40B4-BE49-F238E27FC236}">
                <a16:creationId xmlns:a16="http://schemas.microsoft.com/office/drawing/2014/main" id="{75A939B4-5C2C-4D94-8AEB-4F519FC5630E}"/>
              </a:ext>
            </a:extLst>
          </p:cNvPr>
          <p:cNvSpPr>
            <a:spLocks noGrp="1"/>
          </p:cNvSpPr>
          <p:nvPr/>
        </p:nvSpPr>
        <p:spPr>
          <a:xfrm>
            <a:off x="343143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1" name="矩形 30">
            <a:extLst>
              <a:ext uri="{FF2B5EF4-FFF2-40B4-BE49-F238E27FC236}">
                <a16:creationId xmlns:a16="http://schemas.microsoft.com/office/drawing/2014/main" id="{FFB86BAA-02B0-437F-A95B-CD475ECA007E}"/>
              </a:ext>
            </a:extLst>
          </p:cNvPr>
          <p:cNvSpPr>
            <a:spLocks noGrp="1"/>
          </p:cNvSpPr>
          <p:nvPr/>
        </p:nvSpPr>
        <p:spPr>
          <a:xfrm>
            <a:off x="359359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32" name="矩形 31">
            <a:extLst>
              <a:ext uri="{FF2B5EF4-FFF2-40B4-BE49-F238E27FC236}">
                <a16:creationId xmlns:a16="http://schemas.microsoft.com/office/drawing/2014/main" id="{E3D9EE75-66DC-4B99-83BF-DDDF09EFCA44}"/>
              </a:ext>
            </a:extLst>
          </p:cNvPr>
          <p:cNvSpPr>
            <a:spLocks noGrp="1"/>
          </p:cNvSpPr>
          <p:nvPr/>
        </p:nvSpPr>
        <p:spPr>
          <a:xfrm>
            <a:off x="3017520" y="2990850"/>
            <a:ext cx="1760220" cy="552450"/>
          </a:xfrm>
          <a:prstGeom prst="rect">
            <a:avLst/>
          </a:prstGeom>
          <a:solidFill>
            <a:srgbClr val="FFFCF4"/>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解释</a:t>
            </a:r>
          </a:p>
        </p:txBody>
      </p:sp>
      <p:sp>
        <p:nvSpPr>
          <p:cNvPr id="33" name="矩形 32">
            <a:extLst>
              <a:ext uri="{FF2B5EF4-FFF2-40B4-BE49-F238E27FC236}">
                <a16:creationId xmlns:a16="http://schemas.microsoft.com/office/drawing/2014/main" id="{6CDAEED7-66E0-4AAE-BF39-BEFB98F4B05E}"/>
              </a:ext>
            </a:extLst>
          </p:cNvPr>
          <p:cNvSpPr>
            <a:spLocks noGrp="1"/>
          </p:cNvSpPr>
          <p:nvPr/>
        </p:nvSpPr>
        <p:spPr>
          <a:xfrm>
            <a:off x="305562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34" name="矩形 33">
            <a:extLst>
              <a:ext uri="{FF2B5EF4-FFF2-40B4-BE49-F238E27FC236}">
                <a16:creationId xmlns:a16="http://schemas.microsoft.com/office/drawing/2014/main" id="{ED09A7C5-C488-4209-842B-CEAE8DC1BDB8}"/>
              </a:ext>
            </a:extLst>
          </p:cNvPr>
          <p:cNvSpPr>
            <a:spLocks noGrp="1"/>
          </p:cNvSpPr>
          <p:nvPr/>
        </p:nvSpPr>
        <p:spPr>
          <a:xfrm>
            <a:off x="3036570" y="3733800"/>
            <a:ext cx="1722120" cy="876300"/>
          </a:xfrm>
          <a:prstGeom prst="rect">
            <a:avLst/>
          </a:prstGeom>
          <a:solidFill>
            <a:srgbClr val="FFFCF4"/>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结合采集过程提出可能原因</a:t>
            </a:r>
          </a:p>
        </p:txBody>
      </p:sp>
      <p:sp>
        <p:nvSpPr>
          <p:cNvPr id="35" name="矩形 34">
            <a:extLst>
              <a:ext uri="{FF2B5EF4-FFF2-40B4-BE49-F238E27FC236}">
                <a16:creationId xmlns:a16="http://schemas.microsoft.com/office/drawing/2014/main" id="{53144E30-6EE7-4473-899B-A40DF8AC104C}"/>
              </a:ext>
            </a:extLst>
          </p:cNvPr>
          <p:cNvSpPr>
            <a:spLocks noGrp="1"/>
          </p:cNvSpPr>
          <p:nvPr/>
        </p:nvSpPr>
        <p:spPr>
          <a:xfrm>
            <a:off x="491109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36" name="矩形 35">
            <a:extLst>
              <a:ext uri="{FF2B5EF4-FFF2-40B4-BE49-F238E27FC236}">
                <a16:creationId xmlns:a16="http://schemas.microsoft.com/office/drawing/2014/main" id="{81E5F256-B468-439D-9151-7A4049DB1BF3}"/>
              </a:ext>
            </a:extLst>
          </p:cNvPr>
          <p:cNvSpPr>
            <a:spLocks noGrp="1"/>
          </p:cNvSpPr>
          <p:nvPr/>
        </p:nvSpPr>
        <p:spPr>
          <a:xfrm>
            <a:off x="517779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37" name="椭圆 36">
            <a:extLst>
              <a:ext uri="{FF2B5EF4-FFF2-40B4-BE49-F238E27FC236}">
                <a16:creationId xmlns:a16="http://schemas.microsoft.com/office/drawing/2014/main" id="{A4AC98A4-7013-4768-958D-811117A1EE9A}"/>
              </a:ext>
            </a:extLst>
          </p:cNvPr>
          <p:cNvSpPr>
            <a:spLocks noGrp="1"/>
          </p:cNvSpPr>
          <p:nvPr/>
        </p:nvSpPr>
        <p:spPr>
          <a:xfrm>
            <a:off x="577215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38" name="矩形 37">
            <a:extLst>
              <a:ext uri="{FF2B5EF4-FFF2-40B4-BE49-F238E27FC236}">
                <a16:creationId xmlns:a16="http://schemas.microsoft.com/office/drawing/2014/main" id="{2940600F-A6EB-45A7-89F1-2F8E2A0F6BB7}"/>
              </a:ext>
            </a:extLst>
          </p:cNvPr>
          <p:cNvSpPr>
            <a:spLocks noGrp="1"/>
          </p:cNvSpPr>
          <p:nvPr/>
        </p:nvSpPr>
        <p:spPr>
          <a:xfrm>
            <a:off x="588645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3</a:t>
            </a:r>
          </a:p>
        </p:txBody>
      </p:sp>
      <p:sp>
        <p:nvSpPr>
          <p:cNvPr id="39" name="矩形 38">
            <a:extLst>
              <a:ext uri="{FF2B5EF4-FFF2-40B4-BE49-F238E27FC236}">
                <a16:creationId xmlns:a16="http://schemas.microsoft.com/office/drawing/2014/main" id="{8C6B76C5-9CB2-4B65-9788-EA912A92D7A7}"/>
              </a:ext>
            </a:extLst>
          </p:cNvPr>
          <p:cNvSpPr>
            <a:spLocks noGrp="1"/>
          </p:cNvSpPr>
          <p:nvPr/>
        </p:nvSpPr>
        <p:spPr>
          <a:xfrm>
            <a:off x="544738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40" name="矩形 39">
            <a:extLst>
              <a:ext uri="{FF2B5EF4-FFF2-40B4-BE49-F238E27FC236}">
                <a16:creationId xmlns:a16="http://schemas.microsoft.com/office/drawing/2014/main" id="{98C82BDA-937A-4215-B9C0-AA0A7735CC45}"/>
              </a:ext>
            </a:extLst>
          </p:cNvPr>
          <p:cNvSpPr>
            <a:spLocks noGrp="1"/>
          </p:cNvSpPr>
          <p:nvPr/>
        </p:nvSpPr>
        <p:spPr>
          <a:xfrm>
            <a:off x="562980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1" name="矩形 40">
            <a:extLst>
              <a:ext uri="{FF2B5EF4-FFF2-40B4-BE49-F238E27FC236}">
                <a16:creationId xmlns:a16="http://schemas.microsoft.com/office/drawing/2014/main" id="{FDAB6D69-BD4D-436A-919C-5E00CA811F44}"/>
              </a:ext>
            </a:extLst>
          </p:cNvPr>
          <p:cNvSpPr>
            <a:spLocks noGrp="1"/>
          </p:cNvSpPr>
          <p:nvPr/>
        </p:nvSpPr>
        <p:spPr>
          <a:xfrm>
            <a:off x="579196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42" name="矩形 41">
            <a:extLst>
              <a:ext uri="{FF2B5EF4-FFF2-40B4-BE49-F238E27FC236}">
                <a16:creationId xmlns:a16="http://schemas.microsoft.com/office/drawing/2014/main" id="{9077F99A-7B61-4459-8C4F-F1A49D4CC798}"/>
              </a:ext>
            </a:extLst>
          </p:cNvPr>
          <p:cNvSpPr>
            <a:spLocks noGrp="1"/>
          </p:cNvSpPr>
          <p:nvPr/>
        </p:nvSpPr>
        <p:spPr>
          <a:xfrm>
            <a:off x="521589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验证</a:t>
            </a:r>
          </a:p>
        </p:txBody>
      </p:sp>
      <p:sp>
        <p:nvSpPr>
          <p:cNvPr id="43" name="矩形 42">
            <a:extLst>
              <a:ext uri="{FF2B5EF4-FFF2-40B4-BE49-F238E27FC236}">
                <a16:creationId xmlns:a16="http://schemas.microsoft.com/office/drawing/2014/main" id="{A33393DB-A17C-42E6-98E2-69835AB0F4E5}"/>
              </a:ext>
            </a:extLst>
          </p:cNvPr>
          <p:cNvSpPr>
            <a:spLocks noGrp="1"/>
          </p:cNvSpPr>
          <p:nvPr/>
        </p:nvSpPr>
        <p:spPr>
          <a:xfrm>
            <a:off x="525399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44" name="矩形 43">
            <a:extLst>
              <a:ext uri="{FF2B5EF4-FFF2-40B4-BE49-F238E27FC236}">
                <a16:creationId xmlns:a16="http://schemas.microsoft.com/office/drawing/2014/main" id="{778FA292-DC9F-401B-9163-02CD02BBC7F0}"/>
              </a:ext>
            </a:extLst>
          </p:cNvPr>
          <p:cNvSpPr>
            <a:spLocks noGrp="1"/>
          </p:cNvSpPr>
          <p:nvPr/>
        </p:nvSpPr>
        <p:spPr>
          <a:xfrm>
            <a:off x="523494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按群体、时间和数据来源复核</a:t>
            </a:r>
          </a:p>
        </p:txBody>
      </p:sp>
      <p:sp>
        <p:nvSpPr>
          <p:cNvPr id="45" name="矩形 44">
            <a:extLst>
              <a:ext uri="{FF2B5EF4-FFF2-40B4-BE49-F238E27FC236}">
                <a16:creationId xmlns:a16="http://schemas.microsoft.com/office/drawing/2014/main" id="{AB2EF6EB-CB28-4CBC-A5C8-0137892D4B8C}"/>
              </a:ext>
            </a:extLst>
          </p:cNvPr>
          <p:cNvSpPr>
            <a:spLocks noGrp="1"/>
          </p:cNvSpPr>
          <p:nvPr/>
        </p:nvSpPr>
        <p:spPr>
          <a:xfrm>
            <a:off x="710946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46" name="矩形 45">
            <a:extLst>
              <a:ext uri="{FF2B5EF4-FFF2-40B4-BE49-F238E27FC236}">
                <a16:creationId xmlns:a16="http://schemas.microsoft.com/office/drawing/2014/main" id="{51DAC351-248A-444F-95FD-D925916EEF34}"/>
              </a:ext>
            </a:extLst>
          </p:cNvPr>
          <p:cNvSpPr>
            <a:spLocks noGrp="1"/>
          </p:cNvSpPr>
          <p:nvPr/>
        </p:nvSpPr>
        <p:spPr>
          <a:xfrm>
            <a:off x="7376160" y="1390650"/>
            <a:ext cx="1836420" cy="1428750"/>
          </a:xfrm>
          <a:prstGeom prst="rect">
            <a:avLst/>
          </a:prstGeom>
          <a:solidFill>
            <a:srgbClr val="F7EFD6"/>
          </a:solidFill>
          <a:ln w="9525">
            <a:solidFill>
              <a:srgbClr val="D4DCE6"/>
            </a:solidFill>
            <a:prstDash val="solid"/>
          </a:ln>
        </p:spPr>
        <p:txBody>
          <a:bodyPr/>
          <a:lstStyle/>
          <a:p>
            <a:endParaRPr lang="zh-CN" altLang="en-US"/>
          </a:p>
        </p:txBody>
      </p:sp>
      <p:sp>
        <p:nvSpPr>
          <p:cNvPr id="47" name="椭圆 46">
            <a:extLst>
              <a:ext uri="{FF2B5EF4-FFF2-40B4-BE49-F238E27FC236}">
                <a16:creationId xmlns:a16="http://schemas.microsoft.com/office/drawing/2014/main" id="{18AA1C9C-8CD0-41F9-A7DC-F5700633D4CD}"/>
              </a:ext>
            </a:extLst>
          </p:cNvPr>
          <p:cNvSpPr>
            <a:spLocks noGrp="1"/>
          </p:cNvSpPr>
          <p:nvPr/>
        </p:nvSpPr>
        <p:spPr>
          <a:xfrm>
            <a:off x="7970520" y="1638300"/>
            <a:ext cx="647700" cy="647700"/>
          </a:xfrm>
          <a:prstGeom prst="ellipse">
            <a:avLst/>
          </a:prstGeom>
          <a:solidFill>
            <a:srgbClr val="B4964B"/>
          </a:solidFill>
          <a:ln w="19050">
            <a:solidFill>
              <a:srgbClr val="FFFFFF"/>
            </a:solidFill>
            <a:prstDash val="solid"/>
          </a:ln>
        </p:spPr>
        <p:txBody>
          <a:bodyPr/>
          <a:lstStyle/>
          <a:p>
            <a:endParaRPr lang="zh-CN" altLang="en-US"/>
          </a:p>
        </p:txBody>
      </p:sp>
      <p:sp>
        <p:nvSpPr>
          <p:cNvPr id="48" name="矩形 47">
            <a:extLst>
              <a:ext uri="{FF2B5EF4-FFF2-40B4-BE49-F238E27FC236}">
                <a16:creationId xmlns:a16="http://schemas.microsoft.com/office/drawing/2014/main" id="{1E2DCD12-65AD-4BC2-A50C-4AD507124201}"/>
              </a:ext>
            </a:extLst>
          </p:cNvPr>
          <p:cNvSpPr>
            <a:spLocks noGrp="1"/>
          </p:cNvSpPr>
          <p:nvPr/>
        </p:nvSpPr>
        <p:spPr>
          <a:xfrm>
            <a:off x="8084820" y="1809750"/>
            <a:ext cx="419100" cy="266700"/>
          </a:xfrm>
          <a:prstGeom prst="rect">
            <a:avLst/>
          </a:prstGeom>
          <a:solidFill>
            <a:srgbClr val="B4964B"/>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4</a:t>
            </a:r>
          </a:p>
        </p:txBody>
      </p:sp>
      <p:sp>
        <p:nvSpPr>
          <p:cNvPr id="49" name="矩形 48">
            <a:extLst>
              <a:ext uri="{FF2B5EF4-FFF2-40B4-BE49-F238E27FC236}">
                <a16:creationId xmlns:a16="http://schemas.microsoft.com/office/drawing/2014/main" id="{BDE87D0F-24AE-46D2-AF54-8C3242AC980D}"/>
              </a:ext>
            </a:extLst>
          </p:cNvPr>
          <p:cNvSpPr>
            <a:spLocks noGrp="1"/>
          </p:cNvSpPr>
          <p:nvPr/>
        </p:nvSpPr>
        <p:spPr>
          <a:xfrm>
            <a:off x="7645756" y="2400300"/>
            <a:ext cx="1297229" cy="47625"/>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50" name="矩形 49">
            <a:extLst>
              <a:ext uri="{FF2B5EF4-FFF2-40B4-BE49-F238E27FC236}">
                <a16:creationId xmlns:a16="http://schemas.microsoft.com/office/drawing/2014/main" id="{CCF2A50B-D1A6-4739-AB2E-38EAAEE1C1F8}"/>
              </a:ext>
            </a:extLst>
          </p:cNvPr>
          <p:cNvSpPr>
            <a:spLocks noGrp="1"/>
          </p:cNvSpPr>
          <p:nvPr/>
        </p:nvSpPr>
        <p:spPr>
          <a:xfrm>
            <a:off x="782817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1" name="矩形 50">
            <a:extLst>
              <a:ext uri="{FF2B5EF4-FFF2-40B4-BE49-F238E27FC236}">
                <a16:creationId xmlns:a16="http://schemas.microsoft.com/office/drawing/2014/main" id="{E0DF8616-5048-4AE5-8EB5-F7B5BEE73846}"/>
              </a:ext>
            </a:extLst>
          </p:cNvPr>
          <p:cNvSpPr>
            <a:spLocks noGrp="1"/>
          </p:cNvSpPr>
          <p:nvPr/>
        </p:nvSpPr>
        <p:spPr>
          <a:xfrm>
            <a:off x="799033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52" name="矩形 51">
            <a:extLst>
              <a:ext uri="{FF2B5EF4-FFF2-40B4-BE49-F238E27FC236}">
                <a16:creationId xmlns:a16="http://schemas.microsoft.com/office/drawing/2014/main" id="{CC53F808-EF45-4A48-A7A7-BCBF8C95A330}"/>
              </a:ext>
            </a:extLst>
          </p:cNvPr>
          <p:cNvSpPr>
            <a:spLocks noGrp="1"/>
          </p:cNvSpPr>
          <p:nvPr/>
        </p:nvSpPr>
        <p:spPr>
          <a:xfrm>
            <a:off x="7414260" y="2990850"/>
            <a:ext cx="1760220" cy="552450"/>
          </a:xfrm>
          <a:prstGeom prst="rect">
            <a:avLst/>
          </a:prstGeom>
          <a:solidFill>
            <a:srgbClr val="FFFCF4"/>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处理</a:t>
            </a:r>
          </a:p>
        </p:txBody>
      </p:sp>
      <p:sp>
        <p:nvSpPr>
          <p:cNvPr id="53" name="矩形 52">
            <a:extLst>
              <a:ext uri="{FF2B5EF4-FFF2-40B4-BE49-F238E27FC236}">
                <a16:creationId xmlns:a16="http://schemas.microsoft.com/office/drawing/2014/main" id="{D3F965F9-95A9-46BE-AB9F-84E9F21571C0}"/>
              </a:ext>
            </a:extLst>
          </p:cNvPr>
          <p:cNvSpPr>
            <a:spLocks noGrp="1"/>
          </p:cNvSpPr>
          <p:nvPr/>
        </p:nvSpPr>
        <p:spPr>
          <a:xfrm>
            <a:off x="745236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54" name="矩形 53">
            <a:extLst>
              <a:ext uri="{FF2B5EF4-FFF2-40B4-BE49-F238E27FC236}">
                <a16:creationId xmlns:a16="http://schemas.microsoft.com/office/drawing/2014/main" id="{7B181C15-F5A1-49D7-B673-B0D3CD008C8B}"/>
              </a:ext>
            </a:extLst>
          </p:cNvPr>
          <p:cNvSpPr>
            <a:spLocks noGrp="1"/>
          </p:cNvSpPr>
          <p:nvPr/>
        </p:nvSpPr>
        <p:spPr>
          <a:xfrm>
            <a:off x="7433310" y="3733800"/>
            <a:ext cx="1722120" cy="876300"/>
          </a:xfrm>
          <a:prstGeom prst="rect">
            <a:avLst/>
          </a:prstGeom>
          <a:solidFill>
            <a:srgbClr val="FFFCF4"/>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选择填补、变换、分层或保留策略</a:t>
            </a:r>
          </a:p>
        </p:txBody>
      </p:sp>
      <p:sp>
        <p:nvSpPr>
          <p:cNvPr id="55" name="矩形 54">
            <a:extLst>
              <a:ext uri="{FF2B5EF4-FFF2-40B4-BE49-F238E27FC236}">
                <a16:creationId xmlns:a16="http://schemas.microsoft.com/office/drawing/2014/main" id="{7E71946B-988B-489E-952A-73855AD4595E}"/>
              </a:ext>
            </a:extLst>
          </p:cNvPr>
          <p:cNvSpPr>
            <a:spLocks noGrp="1"/>
          </p:cNvSpPr>
          <p:nvPr/>
        </p:nvSpPr>
        <p:spPr>
          <a:xfrm>
            <a:off x="9307830" y="3143250"/>
            <a:ext cx="171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B4964B"/>
                </a:solidFill>
                <a:latin typeface="黑体"/>
                <a:ea typeface="黑体"/>
                <a:cs typeface="黑体"/>
              </a:defRPr>
            </a:pPr>
            <a:r>
              <a:rPr>
                <a:latin typeface="Times New Roman"/>
                <a:ea typeface="Times New Roman"/>
                <a:cs typeface="Times New Roman"/>
              </a:rPr>
              <a:t>→</a:t>
            </a:r>
          </a:p>
        </p:txBody>
      </p:sp>
      <p:sp>
        <p:nvSpPr>
          <p:cNvPr id="56" name="矩形 55">
            <a:extLst>
              <a:ext uri="{FF2B5EF4-FFF2-40B4-BE49-F238E27FC236}">
                <a16:creationId xmlns:a16="http://schemas.microsoft.com/office/drawing/2014/main" id="{15407F50-A507-4155-9FD5-6FDDE4DAEF19}"/>
              </a:ext>
            </a:extLst>
          </p:cNvPr>
          <p:cNvSpPr>
            <a:spLocks noGrp="1"/>
          </p:cNvSpPr>
          <p:nvPr/>
        </p:nvSpPr>
        <p:spPr>
          <a:xfrm>
            <a:off x="9574530" y="1390650"/>
            <a:ext cx="1836420" cy="1428750"/>
          </a:xfrm>
          <a:prstGeom prst="rect">
            <a:avLst/>
          </a:prstGeom>
          <a:solidFill>
            <a:srgbClr val="E6F0FA"/>
          </a:solidFill>
          <a:ln w="9525">
            <a:solidFill>
              <a:srgbClr val="D4DCE6"/>
            </a:solidFill>
            <a:prstDash val="solid"/>
          </a:ln>
        </p:spPr>
        <p:txBody>
          <a:bodyPr/>
          <a:lstStyle/>
          <a:p>
            <a:endParaRPr lang="zh-CN" altLang="en-US"/>
          </a:p>
        </p:txBody>
      </p:sp>
      <p:sp>
        <p:nvSpPr>
          <p:cNvPr id="57" name="椭圆 56">
            <a:extLst>
              <a:ext uri="{FF2B5EF4-FFF2-40B4-BE49-F238E27FC236}">
                <a16:creationId xmlns:a16="http://schemas.microsoft.com/office/drawing/2014/main" id="{9E35825B-C318-4708-97EF-73F402FF51CC}"/>
              </a:ext>
            </a:extLst>
          </p:cNvPr>
          <p:cNvSpPr>
            <a:spLocks noGrp="1"/>
          </p:cNvSpPr>
          <p:nvPr/>
        </p:nvSpPr>
        <p:spPr>
          <a:xfrm>
            <a:off x="10168890" y="1638300"/>
            <a:ext cx="647700" cy="647700"/>
          </a:xfrm>
          <a:prstGeom prst="ellipse">
            <a:avLst/>
          </a:prstGeom>
          <a:solidFill>
            <a:srgbClr val="014DA1"/>
          </a:solidFill>
          <a:ln w="19050">
            <a:solidFill>
              <a:srgbClr val="FFFFFF"/>
            </a:solidFill>
            <a:prstDash val="solid"/>
          </a:ln>
        </p:spPr>
        <p:txBody>
          <a:bodyPr/>
          <a:lstStyle/>
          <a:p>
            <a:endParaRPr lang="zh-CN" altLang="en-US"/>
          </a:p>
        </p:txBody>
      </p:sp>
      <p:sp>
        <p:nvSpPr>
          <p:cNvPr id="58" name="矩形 57">
            <a:extLst>
              <a:ext uri="{FF2B5EF4-FFF2-40B4-BE49-F238E27FC236}">
                <a16:creationId xmlns:a16="http://schemas.microsoft.com/office/drawing/2014/main" id="{56719590-6804-405D-BDA2-E7ABAB1469AB}"/>
              </a:ext>
            </a:extLst>
          </p:cNvPr>
          <p:cNvSpPr>
            <a:spLocks noGrp="1"/>
          </p:cNvSpPr>
          <p:nvPr/>
        </p:nvSpPr>
        <p:spPr>
          <a:xfrm>
            <a:off x="10283190" y="1809750"/>
            <a:ext cx="419100" cy="266700"/>
          </a:xfrm>
          <a:prstGeom prst="rect">
            <a:avLst/>
          </a:prstGeom>
          <a:solidFill>
            <a:srgbClr val="014DA1"/>
          </a:solidFill>
          <a:ln w="0">
            <a:solidFill>
              <a:srgbClr val="000000">
                <a:alpha val="0"/>
              </a:srgbClr>
            </a:solidFill>
            <a:prstDash val="solid"/>
          </a:ln>
        </p:spPr>
        <p:txBody>
          <a:bodyPr lIns="0" tIns="0" rIns="0" bIns="0" anchor="t"/>
          <a:lstStyle/>
          <a:p>
            <a:pPr algn="ctr">
              <a:defRPr sz="1800" b="1">
                <a:solidFill>
                  <a:srgbClr val="FFFFFF"/>
                </a:solidFill>
                <a:latin typeface="黑体"/>
                <a:ea typeface="黑体"/>
                <a:cs typeface="黑体"/>
              </a:defRPr>
            </a:pPr>
            <a:r>
              <a:rPr>
                <a:latin typeface="Times New Roman"/>
                <a:ea typeface="Times New Roman"/>
                <a:cs typeface="Times New Roman"/>
              </a:rPr>
              <a:t>5</a:t>
            </a:r>
          </a:p>
        </p:txBody>
      </p:sp>
      <p:sp>
        <p:nvSpPr>
          <p:cNvPr id="59" name="矩形 58">
            <a:extLst>
              <a:ext uri="{FF2B5EF4-FFF2-40B4-BE49-F238E27FC236}">
                <a16:creationId xmlns:a16="http://schemas.microsoft.com/office/drawing/2014/main" id="{D469B43B-2C03-4882-85CF-C9DDC3B06E8C}"/>
              </a:ext>
            </a:extLst>
          </p:cNvPr>
          <p:cNvSpPr>
            <a:spLocks noGrp="1"/>
          </p:cNvSpPr>
          <p:nvPr/>
        </p:nvSpPr>
        <p:spPr>
          <a:xfrm>
            <a:off x="9844126" y="2400300"/>
            <a:ext cx="1297229" cy="47625"/>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60" name="矩形 59">
            <a:extLst>
              <a:ext uri="{FF2B5EF4-FFF2-40B4-BE49-F238E27FC236}">
                <a16:creationId xmlns:a16="http://schemas.microsoft.com/office/drawing/2014/main" id="{B640A024-4D1B-4AE2-9AD7-80BB427E45BA}"/>
              </a:ext>
            </a:extLst>
          </p:cNvPr>
          <p:cNvSpPr>
            <a:spLocks noGrp="1"/>
          </p:cNvSpPr>
          <p:nvPr/>
        </p:nvSpPr>
        <p:spPr>
          <a:xfrm>
            <a:off x="10026548" y="2505075"/>
            <a:ext cx="932383"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1" name="矩形 60">
            <a:extLst>
              <a:ext uri="{FF2B5EF4-FFF2-40B4-BE49-F238E27FC236}">
                <a16:creationId xmlns:a16="http://schemas.microsoft.com/office/drawing/2014/main" id="{12BD9322-47B0-42B6-9D17-913ADC94FC46}"/>
              </a:ext>
            </a:extLst>
          </p:cNvPr>
          <p:cNvSpPr>
            <a:spLocks noGrp="1"/>
          </p:cNvSpPr>
          <p:nvPr/>
        </p:nvSpPr>
        <p:spPr>
          <a:xfrm>
            <a:off x="10188702" y="2609850"/>
            <a:ext cx="608076" cy="47625"/>
          </a:xfrm>
          <a:prstGeom prst="rect">
            <a:avLst/>
          </a:prstGeom>
          <a:solidFill>
            <a:srgbClr val="9FB0C4"/>
          </a:solidFill>
          <a:ln w="0">
            <a:solidFill>
              <a:srgbClr val="000000">
                <a:alpha val="0"/>
              </a:srgbClr>
            </a:solidFill>
            <a:prstDash val="solid"/>
          </a:ln>
        </p:spPr>
        <p:txBody>
          <a:bodyPr/>
          <a:lstStyle/>
          <a:p>
            <a:endParaRPr lang="zh-CN" altLang="en-US"/>
          </a:p>
        </p:txBody>
      </p:sp>
      <p:sp>
        <p:nvSpPr>
          <p:cNvPr id="62" name="矩形 61">
            <a:extLst>
              <a:ext uri="{FF2B5EF4-FFF2-40B4-BE49-F238E27FC236}">
                <a16:creationId xmlns:a16="http://schemas.microsoft.com/office/drawing/2014/main" id="{C2BF50B1-55C4-432A-B951-17A1BFBC5F5E}"/>
              </a:ext>
            </a:extLst>
          </p:cNvPr>
          <p:cNvSpPr>
            <a:spLocks noGrp="1"/>
          </p:cNvSpPr>
          <p:nvPr/>
        </p:nvSpPr>
        <p:spPr>
          <a:xfrm>
            <a:off x="9612630" y="2990850"/>
            <a:ext cx="1760220" cy="552450"/>
          </a:xfrm>
          <a:prstGeom prst="rect">
            <a:avLst/>
          </a:prstGeom>
          <a:solidFill>
            <a:srgbClr val="F6F9FD"/>
          </a:solidFill>
          <a:ln w="0">
            <a:solidFill>
              <a:srgbClr val="000000">
                <a:alpha val="0"/>
              </a:srgbClr>
            </a:solidFill>
            <a:prstDash val="solid"/>
          </a:ln>
        </p:spPr>
        <p:txBody>
          <a:bodyPr lIns="0" tIns="0" rIns="0" bIns="0" anchor="t"/>
          <a:lstStyle/>
          <a:p>
            <a:pPr algn="ctr">
              <a:defRPr sz="1275" b="1">
                <a:solidFill>
                  <a:srgbClr val="00204A"/>
                </a:solidFill>
                <a:latin typeface="黑体"/>
                <a:ea typeface="黑体"/>
                <a:cs typeface="黑体"/>
              </a:defRPr>
            </a:pPr>
            <a:r>
              <a:rPr>
                <a:latin typeface="黑体"/>
                <a:ea typeface="黑体"/>
                <a:cs typeface="黑体"/>
              </a:rPr>
              <a:t>记录</a:t>
            </a:r>
          </a:p>
        </p:txBody>
      </p:sp>
      <p:sp>
        <p:nvSpPr>
          <p:cNvPr id="63" name="矩形 62">
            <a:extLst>
              <a:ext uri="{FF2B5EF4-FFF2-40B4-BE49-F238E27FC236}">
                <a16:creationId xmlns:a16="http://schemas.microsoft.com/office/drawing/2014/main" id="{6B3AFEA9-9AF1-4522-91EB-B9EAB0BE6F74}"/>
              </a:ext>
            </a:extLst>
          </p:cNvPr>
          <p:cNvSpPr>
            <a:spLocks noGrp="1"/>
          </p:cNvSpPr>
          <p:nvPr/>
        </p:nvSpPr>
        <p:spPr>
          <a:xfrm>
            <a:off x="9650730" y="3619500"/>
            <a:ext cx="1684020" cy="9525"/>
          </a:xfrm>
          <a:prstGeom prst="rect">
            <a:avLst/>
          </a:prstGeom>
          <a:solidFill>
            <a:srgbClr val="D8DEE7"/>
          </a:solidFill>
          <a:ln w="0">
            <a:solidFill>
              <a:srgbClr val="000000">
                <a:alpha val="0"/>
              </a:srgbClr>
            </a:solidFill>
            <a:prstDash val="solid"/>
          </a:ln>
        </p:spPr>
        <p:txBody>
          <a:bodyPr/>
          <a:lstStyle/>
          <a:p>
            <a:endParaRPr lang="zh-CN" altLang="en-US"/>
          </a:p>
        </p:txBody>
      </p:sp>
      <p:sp>
        <p:nvSpPr>
          <p:cNvPr id="64" name="矩形 63">
            <a:extLst>
              <a:ext uri="{FF2B5EF4-FFF2-40B4-BE49-F238E27FC236}">
                <a16:creationId xmlns:a16="http://schemas.microsoft.com/office/drawing/2014/main" id="{7BA27682-9A1A-4638-A20C-716A4388B116}"/>
              </a:ext>
            </a:extLst>
          </p:cNvPr>
          <p:cNvSpPr>
            <a:spLocks noGrp="1"/>
          </p:cNvSpPr>
          <p:nvPr/>
        </p:nvSpPr>
        <p:spPr>
          <a:xfrm>
            <a:off x="9631680" y="3733800"/>
            <a:ext cx="1722120" cy="876300"/>
          </a:xfrm>
          <a:prstGeom prst="rect">
            <a:avLst/>
          </a:prstGeom>
          <a:solidFill>
            <a:srgbClr val="F6F9FD"/>
          </a:solidFill>
          <a:ln w="0">
            <a:solidFill>
              <a:srgbClr val="000000">
                <a:alpha val="0"/>
              </a:srgbClr>
            </a:solidFill>
            <a:prstDash val="solid"/>
          </a:ln>
        </p:spPr>
        <p:txBody>
          <a:bodyPr lIns="0" tIns="0" rIns="0" bIns="0" anchor="t"/>
          <a:lstStyle/>
          <a:p>
            <a:pPr algn="ctr">
              <a:defRPr sz="1050" b="0">
                <a:solidFill>
                  <a:srgbClr val="1F2933"/>
                </a:solidFill>
                <a:latin typeface="黑体"/>
                <a:ea typeface="黑体"/>
                <a:cs typeface="黑体"/>
              </a:defRPr>
            </a:pPr>
            <a:r>
              <a:rPr>
                <a:latin typeface="黑体"/>
                <a:ea typeface="黑体"/>
                <a:cs typeface="黑体"/>
              </a:rPr>
              <a:t>保存参数、版本和处理前后比较</a:t>
            </a:r>
          </a:p>
        </p:txBody>
      </p:sp>
      <p:sp>
        <p:nvSpPr>
          <p:cNvPr id="65" name="矩形 64">
            <a:extLst>
              <a:ext uri="{FF2B5EF4-FFF2-40B4-BE49-F238E27FC236}">
                <a16:creationId xmlns:a16="http://schemas.microsoft.com/office/drawing/2014/main" id="{E2DCE3A1-E032-457A-A32E-AE0FFD889682}"/>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66" name="矩形 65">
            <a:extLst>
              <a:ext uri="{FF2B5EF4-FFF2-40B4-BE49-F238E27FC236}">
                <a16:creationId xmlns:a16="http://schemas.microsoft.com/office/drawing/2014/main" id="{CF4E093E-20D5-40CD-85DB-A8D938C7FBEC}"/>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Times New Roman"/>
                <a:ea typeface="Times New Roman"/>
                <a:cs typeface="Times New Roman"/>
              </a:rPr>
              <a:t>EDA </a:t>
            </a:r>
            <a:r>
              <a:rPr>
                <a:latin typeface="黑体"/>
                <a:ea typeface="黑体"/>
                <a:cs typeface="黑体"/>
              </a:rPr>
              <a:t>不是报告终点，而是数据处理与建模决策的依据。</a:t>
            </a:r>
          </a:p>
        </p:txBody>
      </p:sp>
    </p:spTree>
    <p:extLst>
      <p:ext uri="{BB962C8B-B14F-4D97-AF65-F5344CB8AC3E}">
        <p14:creationId xmlns:p14="http://schemas.microsoft.com/office/powerpoint/2010/main" val="8411531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B0DEC63B-42D0-41E6-B7E1-6317E957D878}"/>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zh-CN" altLang="en-US"/>
          </a:p>
        </p:txBody>
      </p:sp>
      <p:sp>
        <p:nvSpPr>
          <p:cNvPr id="2" name="矩形 1">
            <a:extLst>
              <a:ext uri="{FF2B5EF4-FFF2-40B4-BE49-F238E27FC236}">
                <a16:creationId xmlns:a16="http://schemas.microsoft.com/office/drawing/2014/main" id="{8B37CADA-A0C7-471C-B4A4-601128C29647}"/>
              </a:ext>
            </a:extLst>
          </p:cNvPr>
          <p:cNvSpPr>
            <a:spLocks noGrp="1"/>
          </p:cNvSpPr>
          <p:nvPr/>
        </p:nvSpPr>
        <p:spPr>
          <a:xfrm>
            <a:off x="552450" y="285750"/>
            <a:ext cx="2095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0204A"/>
                </a:solidFill>
                <a:latin typeface="黑体"/>
                <a:ea typeface="黑体"/>
                <a:cs typeface="黑体"/>
              </a:defRPr>
            </a:pPr>
            <a:r>
              <a:rPr>
                <a:latin typeface="黑体"/>
                <a:ea typeface="黑体"/>
                <a:cs typeface="黑体"/>
              </a:rPr>
              <a:t>香港教育大学
</a:t>
            </a:r>
            <a:r>
              <a:rPr>
                <a:latin typeface="Times New Roman"/>
                <a:ea typeface="Times New Roman"/>
                <a:cs typeface="Times New Roman"/>
              </a:rPr>
              <a:t>The Education University
of Hong Kong</a:t>
            </a:r>
          </a:p>
        </p:txBody>
      </p:sp>
      <p:sp>
        <p:nvSpPr>
          <p:cNvPr id="3" name="矩形 2">
            <a:extLst>
              <a:ext uri="{FF2B5EF4-FFF2-40B4-BE49-F238E27FC236}">
                <a16:creationId xmlns:a16="http://schemas.microsoft.com/office/drawing/2014/main" id="{1AFFF93A-AF13-4727-865D-50FD16C5EB03}"/>
              </a:ext>
            </a:extLst>
          </p:cNvPr>
          <p:cNvSpPr>
            <a:spLocks noGrp="1"/>
          </p:cNvSpPr>
          <p:nvPr/>
        </p:nvSpPr>
        <p:spPr>
          <a:xfrm>
            <a:off x="552450" y="838200"/>
            <a:ext cx="10668000" cy="19050"/>
          </a:xfrm>
          <a:prstGeom prst="rect">
            <a:avLst/>
          </a:prstGeom>
          <a:solidFill>
            <a:srgbClr val="E5E7EB"/>
          </a:solidFill>
          <a:ln w="0">
            <a:solidFill>
              <a:srgbClr val="000000">
                <a:alpha val="0"/>
              </a:srgbClr>
            </a:solidFill>
            <a:prstDash val="solid"/>
          </a:ln>
        </p:spPr>
        <p:txBody>
          <a:bodyPr/>
          <a:lstStyle/>
          <a:p>
            <a:endParaRPr lang="zh-CN" altLang="en-US"/>
          </a:p>
        </p:txBody>
      </p:sp>
      <p:sp>
        <p:nvSpPr>
          <p:cNvPr id="4" name="矩形 3">
            <a:extLst>
              <a:ext uri="{FF2B5EF4-FFF2-40B4-BE49-F238E27FC236}">
                <a16:creationId xmlns:a16="http://schemas.microsoft.com/office/drawing/2014/main" id="{99D3EE7B-E02A-4D3B-898E-5611BABDED4A}"/>
              </a:ext>
            </a:extLst>
          </p:cNvPr>
          <p:cNvSpPr>
            <a:spLocks noGrp="1"/>
          </p:cNvSpPr>
          <p:nvPr/>
        </p:nvSpPr>
        <p:spPr>
          <a:xfrm>
            <a:off x="2647950" y="400050"/>
            <a:ext cx="80962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00204A"/>
                </a:solidFill>
                <a:latin typeface="黑体"/>
                <a:ea typeface="黑体"/>
                <a:cs typeface="黑体"/>
              </a:defRPr>
            </a:pPr>
            <a:r>
              <a:rPr>
                <a:latin typeface="黑体"/>
                <a:ea typeface="黑体"/>
                <a:cs typeface="黑体"/>
              </a:rPr>
              <a:t>本讲小结</a:t>
            </a:r>
          </a:p>
        </p:txBody>
      </p:sp>
      <p:sp>
        <p:nvSpPr>
          <p:cNvPr id="5" name="矩形 4">
            <a:extLst>
              <a:ext uri="{FF2B5EF4-FFF2-40B4-BE49-F238E27FC236}">
                <a16:creationId xmlns:a16="http://schemas.microsoft.com/office/drawing/2014/main" id="{5DB0E9A0-D888-4447-9C2E-E2926DD0311A}"/>
              </a:ext>
            </a:extLst>
          </p:cNvPr>
          <p:cNvSpPr>
            <a:spLocks noGrp="1"/>
          </p:cNvSpPr>
          <p:nvPr/>
        </p:nvSpPr>
        <p:spPr>
          <a:xfrm>
            <a:off x="9296400" y="655320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0">
                <a:solidFill>
                  <a:srgbClr val="4B5563"/>
                </a:solidFill>
                <a:latin typeface="黑体"/>
                <a:ea typeface="黑体"/>
                <a:cs typeface="黑体"/>
              </a:defRPr>
            </a:pPr>
            <a:r>
              <a:rPr>
                <a:latin typeface="Times New Roman"/>
                <a:ea typeface="Times New Roman"/>
                <a:cs typeface="Times New Roman"/>
              </a:rPr>
              <a:t>INT6163 · Lesson 02 · 90/90</a:t>
            </a:r>
          </a:p>
        </p:txBody>
      </p:sp>
      <p:sp>
        <p:nvSpPr>
          <p:cNvPr id="6" name="矩形 5">
            <a:extLst>
              <a:ext uri="{FF2B5EF4-FFF2-40B4-BE49-F238E27FC236}">
                <a16:creationId xmlns:a16="http://schemas.microsoft.com/office/drawing/2014/main" id="{BEEA7454-F136-44C8-9743-2859A66F4A1C}"/>
              </a:ext>
            </a:extLst>
          </p:cNvPr>
          <p:cNvSpPr>
            <a:spLocks noGrp="1"/>
          </p:cNvSpPr>
          <p:nvPr/>
        </p:nvSpPr>
        <p:spPr>
          <a:xfrm>
            <a:off x="800100" y="1295400"/>
            <a:ext cx="5181600" cy="1193800"/>
          </a:xfrm>
          <a:prstGeom prst="rect">
            <a:avLst/>
          </a:prstGeom>
          <a:solidFill>
            <a:srgbClr val="F6F9FE"/>
          </a:solidFill>
          <a:ln w="9525">
            <a:solidFill>
              <a:srgbClr val="B8C3D1"/>
            </a:solidFill>
            <a:prstDash val="solid"/>
          </a:ln>
        </p:spPr>
        <p:txBody>
          <a:bodyPr/>
          <a:lstStyle/>
          <a:p>
            <a:endParaRPr lang="zh-CN" altLang="en-US"/>
          </a:p>
        </p:txBody>
      </p:sp>
      <p:sp>
        <p:nvSpPr>
          <p:cNvPr id="7" name="矩形 6">
            <a:extLst>
              <a:ext uri="{FF2B5EF4-FFF2-40B4-BE49-F238E27FC236}">
                <a16:creationId xmlns:a16="http://schemas.microsoft.com/office/drawing/2014/main" id="{FCFBE771-04A2-4D88-BC1D-C531C37A9D22}"/>
              </a:ext>
            </a:extLst>
          </p:cNvPr>
          <p:cNvSpPr>
            <a:spLocks noGrp="1"/>
          </p:cNvSpPr>
          <p:nvPr/>
        </p:nvSpPr>
        <p:spPr>
          <a:xfrm>
            <a:off x="800100" y="1295400"/>
            <a:ext cx="5181600" cy="952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8" name="矩形 7">
            <a:extLst>
              <a:ext uri="{FF2B5EF4-FFF2-40B4-BE49-F238E27FC236}">
                <a16:creationId xmlns:a16="http://schemas.microsoft.com/office/drawing/2014/main" id="{96101AE0-F5BC-447E-9A7B-DB891BA4EBAE}"/>
              </a:ext>
            </a:extLst>
          </p:cNvPr>
          <p:cNvSpPr>
            <a:spLocks noGrp="1"/>
          </p:cNvSpPr>
          <p:nvPr/>
        </p:nvSpPr>
        <p:spPr>
          <a:xfrm>
            <a:off x="971550" y="1543050"/>
            <a:ext cx="400050" cy="247650"/>
          </a:xfrm>
          <a:prstGeom prst="rect">
            <a:avLst/>
          </a:prstGeom>
          <a:solidFill>
            <a:srgbClr val="F6F9FE"/>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01</a:t>
            </a:r>
          </a:p>
        </p:txBody>
      </p:sp>
      <p:sp>
        <p:nvSpPr>
          <p:cNvPr id="9" name="矩形 8">
            <a:extLst>
              <a:ext uri="{FF2B5EF4-FFF2-40B4-BE49-F238E27FC236}">
                <a16:creationId xmlns:a16="http://schemas.microsoft.com/office/drawing/2014/main" id="{016B0841-87F0-4D1E-B176-6788C864E983}"/>
              </a:ext>
            </a:extLst>
          </p:cNvPr>
          <p:cNvSpPr>
            <a:spLocks noGrp="1"/>
          </p:cNvSpPr>
          <p:nvPr/>
        </p:nvSpPr>
        <p:spPr>
          <a:xfrm>
            <a:off x="1485900" y="1492250"/>
            <a:ext cx="4267200" cy="285750"/>
          </a:xfrm>
          <a:prstGeom prst="rect">
            <a:avLst/>
          </a:prstGeom>
          <a:solidFill>
            <a:srgbClr val="F6F9FE"/>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数据表示</a:t>
            </a:r>
          </a:p>
        </p:txBody>
      </p:sp>
      <p:sp>
        <p:nvSpPr>
          <p:cNvPr id="10" name="矩形 9">
            <a:extLst>
              <a:ext uri="{FF2B5EF4-FFF2-40B4-BE49-F238E27FC236}">
                <a16:creationId xmlns:a16="http://schemas.microsoft.com/office/drawing/2014/main" id="{CE48DE99-1709-4099-BFE1-7503551ABED1}"/>
              </a:ext>
            </a:extLst>
          </p:cNvPr>
          <p:cNvSpPr>
            <a:spLocks noGrp="1"/>
          </p:cNvSpPr>
          <p:nvPr/>
        </p:nvSpPr>
        <p:spPr>
          <a:xfrm>
            <a:off x="1485900" y="1949450"/>
            <a:ext cx="4267200" cy="381000"/>
          </a:xfrm>
          <a:prstGeom prst="rect">
            <a:avLst/>
          </a:prstGeom>
          <a:solidFill>
            <a:srgbClr val="F6F9FE"/>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先定义对象粒度、属性语义和标签时间窗口</a:t>
            </a:r>
          </a:p>
        </p:txBody>
      </p:sp>
      <p:sp>
        <p:nvSpPr>
          <p:cNvPr id="11" name="矩形 10">
            <a:extLst>
              <a:ext uri="{FF2B5EF4-FFF2-40B4-BE49-F238E27FC236}">
                <a16:creationId xmlns:a16="http://schemas.microsoft.com/office/drawing/2014/main" id="{23ECCA89-DFC0-442E-908B-CC010E7142E9}"/>
              </a:ext>
            </a:extLst>
          </p:cNvPr>
          <p:cNvSpPr>
            <a:spLocks noGrp="1"/>
          </p:cNvSpPr>
          <p:nvPr/>
        </p:nvSpPr>
        <p:spPr>
          <a:xfrm>
            <a:off x="6210300" y="1295400"/>
            <a:ext cx="5181600" cy="1193800"/>
          </a:xfrm>
          <a:prstGeom prst="rect">
            <a:avLst/>
          </a:prstGeom>
          <a:solidFill>
            <a:srgbClr val="FFFFFF"/>
          </a:solidFill>
          <a:ln w="9525">
            <a:solidFill>
              <a:srgbClr val="B8C3D1"/>
            </a:solidFill>
            <a:prstDash val="solid"/>
          </a:ln>
        </p:spPr>
        <p:txBody>
          <a:bodyPr/>
          <a:lstStyle/>
          <a:p>
            <a:endParaRPr lang="zh-CN" altLang="en-US"/>
          </a:p>
        </p:txBody>
      </p:sp>
      <p:sp>
        <p:nvSpPr>
          <p:cNvPr id="12" name="矩形 11">
            <a:extLst>
              <a:ext uri="{FF2B5EF4-FFF2-40B4-BE49-F238E27FC236}">
                <a16:creationId xmlns:a16="http://schemas.microsoft.com/office/drawing/2014/main" id="{C7A36D70-BF32-4362-B5D2-E2570C4265E0}"/>
              </a:ext>
            </a:extLst>
          </p:cNvPr>
          <p:cNvSpPr>
            <a:spLocks noGrp="1"/>
          </p:cNvSpPr>
          <p:nvPr/>
        </p:nvSpPr>
        <p:spPr>
          <a:xfrm>
            <a:off x="6210300" y="1295400"/>
            <a:ext cx="5181600" cy="952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13" name="矩形 12">
            <a:extLst>
              <a:ext uri="{FF2B5EF4-FFF2-40B4-BE49-F238E27FC236}">
                <a16:creationId xmlns:a16="http://schemas.microsoft.com/office/drawing/2014/main" id="{F6A9505D-D3C5-4F77-9F0A-2DF7F1F7C609}"/>
              </a:ext>
            </a:extLst>
          </p:cNvPr>
          <p:cNvSpPr>
            <a:spLocks noGrp="1"/>
          </p:cNvSpPr>
          <p:nvPr/>
        </p:nvSpPr>
        <p:spPr>
          <a:xfrm>
            <a:off x="6381750" y="1543050"/>
            <a:ext cx="400050" cy="247650"/>
          </a:xfrm>
          <a:prstGeom prst="rect">
            <a:avLst/>
          </a:prstGeom>
          <a:solidFill>
            <a:srgbClr val="FFFFFF"/>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02</a:t>
            </a:r>
          </a:p>
        </p:txBody>
      </p:sp>
      <p:sp>
        <p:nvSpPr>
          <p:cNvPr id="14" name="矩形 13">
            <a:extLst>
              <a:ext uri="{FF2B5EF4-FFF2-40B4-BE49-F238E27FC236}">
                <a16:creationId xmlns:a16="http://schemas.microsoft.com/office/drawing/2014/main" id="{4719407A-0BF7-4142-B883-6BBD2280EA32}"/>
              </a:ext>
            </a:extLst>
          </p:cNvPr>
          <p:cNvSpPr>
            <a:spLocks noGrp="1"/>
          </p:cNvSpPr>
          <p:nvPr/>
        </p:nvSpPr>
        <p:spPr>
          <a:xfrm>
            <a:off x="6896100" y="1492250"/>
            <a:ext cx="4267200" cy="285750"/>
          </a:xfrm>
          <a:prstGeom prst="rect">
            <a:avLst/>
          </a:prstGeom>
          <a:solidFill>
            <a:srgbClr val="FFFFFF"/>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数据质量</a:t>
            </a:r>
          </a:p>
        </p:txBody>
      </p:sp>
      <p:sp>
        <p:nvSpPr>
          <p:cNvPr id="15" name="矩形 14">
            <a:extLst>
              <a:ext uri="{FF2B5EF4-FFF2-40B4-BE49-F238E27FC236}">
                <a16:creationId xmlns:a16="http://schemas.microsoft.com/office/drawing/2014/main" id="{F043AFB0-254D-4870-9D6C-DA8B3B6C729D}"/>
              </a:ext>
            </a:extLst>
          </p:cNvPr>
          <p:cNvSpPr>
            <a:spLocks noGrp="1"/>
          </p:cNvSpPr>
          <p:nvPr/>
        </p:nvSpPr>
        <p:spPr>
          <a:xfrm>
            <a:off x="6896100" y="1949450"/>
            <a:ext cx="4267200" cy="381000"/>
          </a:xfrm>
          <a:prstGeom prst="rect">
            <a:avLst/>
          </a:prstGeom>
          <a:solidFill>
            <a:srgbClr val="FFFFFF"/>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缺失、噪声、异常、重复与标签错误要分别处理</a:t>
            </a:r>
          </a:p>
        </p:txBody>
      </p:sp>
      <p:sp>
        <p:nvSpPr>
          <p:cNvPr id="16" name="矩形 15">
            <a:extLst>
              <a:ext uri="{FF2B5EF4-FFF2-40B4-BE49-F238E27FC236}">
                <a16:creationId xmlns:a16="http://schemas.microsoft.com/office/drawing/2014/main" id="{DBDEBF56-EC4F-43D9-A4D0-67FB967C72D1}"/>
              </a:ext>
            </a:extLst>
          </p:cNvPr>
          <p:cNvSpPr>
            <a:spLocks noGrp="1"/>
          </p:cNvSpPr>
          <p:nvPr/>
        </p:nvSpPr>
        <p:spPr>
          <a:xfrm>
            <a:off x="800100" y="2698750"/>
            <a:ext cx="5181600" cy="1193800"/>
          </a:xfrm>
          <a:prstGeom prst="rect">
            <a:avLst/>
          </a:prstGeom>
          <a:solidFill>
            <a:srgbClr val="F6F9FE"/>
          </a:solidFill>
          <a:ln w="9525">
            <a:solidFill>
              <a:srgbClr val="B8C3D1"/>
            </a:solidFill>
            <a:prstDash val="solid"/>
          </a:ln>
        </p:spPr>
        <p:txBody>
          <a:bodyPr/>
          <a:lstStyle/>
          <a:p>
            <a:endParaRPr lang="zh-CN" altLang="en-US"/>
          </a:p>
        </p:txBody>
      </p:sp>
      <p:sp>
        <p:nvSpPr>
          <p:cNvPr id="17" name="矩形 16">
            <a:extLst>
              <a:ext uri="{FF2B5EF4-FFF2-40B4-BE49-F238E27FC236}">
                <a16:creationId xmlns:a16="http://schemas.microsoft.com/office/drawing/2014/main" id="{8E9D4AFD-F591-40A5-89B7-05A5D09EEBA4}"/>
              </a:ext>
            </a:extLst>
          </p:cNvPr>
          <p:cNvSpPr>
            <a:spLocks noGrp="1"/>
          </p:cNvSpPr>
          <p:nvPr/>
        </p:nvSpPr>
        <p:spPr>
          <a:xfrm>
            <a:off x="800100" y="2698750"/>
            <a:ext cx="5181600" cy="952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18" name="矩形 17">
            <a:extLst>
              <a:ext uri="{FF2B5EF4-FFF2-40B4-BE49-F238E27FC236}">
                <a16:creationId xmlns:a16="http://schemas.microsoft.com/office/drawing/2014/main" id="{51614493-C5BF-4765-861F-5C6F8C3C7B39}"/>
              </a:ext>
            </a:extLst>
          </p:cNvPr>
          <p:cNvSpPr>
            <a:spLocks noGrp="1"/>
          </p:cNvSpPr>
          <p:nvPr/>
        </p:nvSpPr>
        <p:spPr>
          <a:xfrm>
            <a:off x="971550" y="2946400"/>
            <a:ext cx="400050" cy="247650"/>
          </a:xfrm>
          <a:prstGeom prst="rect">
            <a:avLst/>
          </a:prstGeom>
          <a:solidFill>
            <a:srgbClr val="F6F9FE"/>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03</a:t>
            </a:r>
          </a:p>
        </p:txBody>
      </p:sp>
      <p:sp>
        <p:nvSpPr>
          <p:cNvPr id="19" name="矩形 18">
            <a:extLst>
              <a:ext uri="{FF2B5EF4-FFF2-40B4-BE49-F238E27FC236}">
                <a16:creationId xmlns:a16="http://schemas.microsoft.com/office/drawing/2014/main" id="{FBA7CD89-1A00-4C28-AC51-C4FA4E36B368}"/>
              </a:ext>
            </a:extLst>
          </p:cNvPr>
          <p:cNvSpPr>
            <a:spLocks noGrp="1"/>
          </p:cNvSpPr>
          <p:nvPr/>
        </p:nvSpPr>
        <p:spPr>
          <a:xfrm>
            <a:off x="1485900" y="2895600"/>
            <a:ext cx="4267200" cy="285750"/>
          </a:xfrm>
          <a:prstGeom prst="rect">
            <a:avLst/>
          </a:prstGeom>
          <a:solidFill>
            <a:srgbClr val="F6F9FE"/>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数据预处理</a:t>
            </a:r>
          </a:p>
        </p:txBody>
      </p:sp>
      <p:sp>
        <p:nvSpPr>
          <p:cNvPr id="20" name="矩形 19">
            <a:extLst>
              <a:ext uri="{FF2B5EF4-FFF2-40B4-BE49-F238E27FC236}">
                <a16:creationId xmlns:a16="http://schemas.microsoft.com/office/drawing/2014/main" id="{5233066E-401E-490B-911E-6A893036607C}"/>
              </a:ext>
            </a:extLst>
          </p:cNvPr>
          <p:cNvSpPr>
            <a:spLocks noGrp="1"/>
          </p:cNvSpPr>
          <p:nvPr/>
        </p:nvSpPr>
        <p:spPr>
          <a:xfrm>
            <a:off x="1485900" y="3352800"/>
            <a:ext cx="4267200" cy="381000"/>
          </a:xfrm>
          <a:prstGeom prst="rect">
            <a:avLst/>
          </a:prstGeom>
          <a:solidFill>
            <a:srgbClr val="F6F9FE"/>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填补、编码、缩放与降维参数只在训练集拟合</a:t>
            </a:r>
          </a:p>
        </p:txBody>
      </p:sp>
      <p:sp>
        <p:nvSpPr>
          <p:cNvPr id="21" name="矩形 20">
            <a:extLst>
              <a:ext uri="{FF2B5EF4-FFF2-40B4-BE49-F238E27FC236}">
                <a16:creationId xmlns:a16="http://schemas.microsoft.com/office/drawing/2014/main" id="{8A6C3EF9-211A-4B70-B188-DA52ED22A217}"/>
              </a:ext>
            </a:extLst>
          </p:cNvPr>
          <p:cNvSpPr>
            <a:spLocks noGrp="1"/>
          </p:cNvSpPr>
          <p:nvPr/>
        </p:nvSpPr>
        <p:spPr>
          <a:xfrm>
            <a:off x="6210300" y="2698750"/>
            <a:ext cx="5181600" cy="1193800"/>
          </a:xfrm>
          <a:prstGeom prst="rect">
            <a:avLst/>
          </a:prstGeom>
          <a:solidFill>
            <a:srgbClr val="FFFFFF"/>
          </a:solidFill>
          <a:ln w="9525">
            <a:solidFill>
              <a:srgbClr val="B8C3D1"/>
            </a:solidFill>
            <a:prstDash val="solid"/>
          </a:ln>
        </p:spPr>
        <p:txBody>
          <a:bodyPr/>
          <a:lstStyle/>
          <a:p>
            <a:endParaRPr lang="zh-CN" altLang="en-US"/>
          </a:p>
        </p:txBody>
      </p:sp>
      <p:sp>
        <p:nvSpPr>
          <p:cNvPr id="22" name="矩形 21">
            <a:extLst>
              <a:ext uri="{FF2B5EF4-FFF2-40B4-BE49-F238E27FC236}">
                <a16:creationId xmlns:a16="http://schemas.microsoft.com/office/drawing/2014/main" id="{FFD7E81C-6E34-42CA-8186-9BBADEFF7392}"/>
              </a:ext>
            </a:extLst>
          </p:cNvPr>
          <p:cNvSpPr>
            <a:spLocks noGrp="1"/>
          </p:cNvSpPr>
          <p:nvPr/>
        </p:nvSpPr>
        <p:spPr>
          <a:xfrm>
            <a:off x="6210300" y="2698750"/>
            <a:ext cx="5181600" cy="952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23" name="矩形 22">
            <a:extLst>
              <a:ext uri="{FF2B5EF4-FFF2-40B4-BE49-F238E27FC236}">
                <a16:creationId xmlns:a16="http://schemas.microsoft.com/office/drawing/2014/main" id="{B6E874BD-C937-457F-AB1F-9595E8F8A0FD}"/>
              </a:ext>
            </a:extLst>
          </p:cNvPr>
          <p:cNvSpPr>
            <a:spLocks noGrp="1"/>
          </p:cNvSpPr>
          <p:nvPr/>
        </p:nvSpPr>
        <p:spPr>
          <a:xfrm>
            <a:off x="6381750" y="2946400"/>
            <a:ext cx="400050" cy="247650"/>
          </a:xfrm>
          <a:prstGeom prst="rect">
            <a:avLst/>
          </a:prstGeom>
          <a:solidFill>
            <a:srgbClr val="FFFFFF"/>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04</a:t>
            </a:r>
          </a:p>
        </p:txBody>
      </p:sp>
      <p:sp>
        <p:nvSpPr>
          <p:cNvPr id="24" name="矩形 23">
            <a:extLst>
              <a:ext uri="{FF2B5EF4-FFF2-40B4-BE49-F238E27FC236}">
                <a16:creationId xmlns:a16="http://schemas.microsoft.com/office/drawing/2014/main" id="{303E58EE-6787-4888-ACC3-D36485F94AC7}"/>
              </a:ext>
            </a:extLst>
          </p:cNvPr>
          <p:cNvSpPr>
            <a:spLocks noGrp="1"/>
          </p:cNvSpPr>
          <p:nvPr/>
        </p:nvSpPr>
        <p:spPr>
          <a:xfrm>
            <a:off x="6896100" y="2895600"/>
            <a:ext cx="4267200" cy="285750"/>
          </a:xfrm>
          <a:prstGeom prst="rect">
            <a:avLst/>
          </a:prstGeom>
          <a:solidFill>
            <a:srgbClr val="FFFFFF"/>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相似度</a:t>
            </a:r>
          </a:p>
        </p:txBody>
      </p:sp>
      <p:sp>
        <p:nvSpPr>
          <p:cNvPr id="25" name="矩形 24">
            <a:extLst>
              <a:ext uri="{FF2B5EF4-FFF2-40B4-BE49-F238E27FC236}">
                <a16:creationId xmlns:a16="http://schemas.microsoft.com/office/drawing/2014/main" id="{E5266F0A-C30A-4671-B65E-EA6651FDA081}"/>
              </a:ext>
            </a:extLst>
          </p:cNvPr>
          <p:cNvSpPr>
            <a:spLocks noGrp="1"/>
          </p:cNvSpPr>
          <p:nvPr/>
        </p:nvSpPr>
        <p:spPr>
          <a:xfrm>
            <a:off x="6896100" y="3352800"/>
            <a:ext cx="4267200" cy="381000"/>
          </a:xfrm>
          <a:prstGeom prst="rect">
            <a:avLst/>
          </a:prstGeom>
          <a:solidFill>
            <a:srgbClr val="FFFFFF"/>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数据类型与业务含义决定距离或相似度</a:t>
            </a:r>
          </a:p>
        </p:txBody>
      </p:sp>
      <p:sp>
        <p:nvSpPr>
          <p:cNvPr id="26" name="矩形 25">
            <a:extLst>
              <a:ext uri="{FF2B5EF4-FFF2-40B4-BE49-F238E27FC236}">
                <a16:creationId xmlns:a16="http://schemas.microsoft.com/office/drawing/2014/main" id="{65EAD226-A04C-47C3-A56F-2FCFE1DC10B3}"/>
              </a:ext>
            </a:extLst>
          </p:cNvPr>
          <p:cNvSpPr>
            <a:spLocks noGrp="1"/>
          </p:cNvSpPr>
          <p:nvPr/>
        </p:nvSpPr>
        <p:spPr>
          <a:xfrm>
            <a:off x="800100" y="4102100"/>
            <a:ext cx="5181600" cy="1193800"/>
          </a:xfrm>
          <a:prstGeom prst="rect">
            <a:avLst/>
          </a:prstGeom>
          <a:solidFill>
            <a:srgbClr val="F6F9FE"/>
          </a:solidFill>
          <a:ln w="9525">
            <a:solidFill>
              <a:srgbClr val="B8C3D1"/>
            </a:solidFill>
            <a:prstDash val="solid"/>
          </a:ln>
        </p:spPr>
        <p:txBody>
          <a:bodyPr/>
          <a:lstStyle/>
          <a:p>
            <a:endParaRPr lang="zh-CN" altLang="en-US"/>
          </a:p>
        </p:txBody>
      </p:sp>
      <p:sp>
        <p:nvSpPr>
          <p:cNvPr id="27" name="矩形 26">
            <a:extLst>
              <a:ext uri="{FF2B5EF4-FFF2-40B4-BE49-F238E27FC236}">
                <a16:creationId xmlns:a16="http://schemas.microsoft.com/office/drawing/2014/main" id="{5E5C136F-DF3F-4AB7-BFBA-3B686D7909B4}"/>
              </a:ext>
            </a:extLst>
          </p:cNvPr>
          <p:cNvSpPr>
            <a:spLocks noGrp="1"/>
          </p:cNvSpPr>
          <p:nvPr/>
        </p:nvSpPr>
        <p:spPr>
          <a:xfrm>
            <a:off x="800100" y="4102100"/>
            <a:ext cx="5181600" cy="95250"/>
          </a:xfrm>
          <a:prstGeom prst="rect">
            <a:avLst/>
          </a:prstGeom>
          <a:solidFill>
            <a:srgbClr val="B4964B"/>
          </a:solidFill>
          <a:ln w="0">
            <a:solidFill>
              <a:srgbClr val="000000">
                <a:alpha val="0"/>
              </a:srgbClr>
            </a:solidFill>
            <a:prstDash val="solid"/>
          </a:ln>
        </p:spPr>
        <p:txBody>
          <a:bodyPr/>
          <a:lstStyle/>
          <a:p>
            <a:endParaRPr lang="zh-CN" altLang="en-US"/>
          </a:p>
        </p:txBody>
      </p:sp>
      <p:sp>
        <p:nvSpPr>
          <p:cNvPr id="28" name="矩形 27">
            <a:extLst>
              <a:ext uri="{FF2B5EF4-FFF2-40B4-BE49-F238E27FC236}">
                <a16:creationId xmlns:a16="http://schemas.microsoft.com/office/drawing/2014/main" id="{342F8D37-0AD3-4F89-BB94-6713DC3A3D99}"/>
              </a:ext>
            </a:extLst>
          </p:cNvPr>
          <p:cNvSpPr>
            <a:spLocks noGrp="1"/>
          </p:cNvSpPr>
          <p:nvPr/>
        </p:nvSpPr>
        <p:spPr>
          <a:xfrm>
            <a:off x="971550" y="4349750"/>
            <a:ext cx="400050" cy="247650"/>
          </a:xfrm>
          <a:prstGeom prst="rect">
            <a:avLst/>
          </a:prstGeom>
          <a:solidFill>
            <a:srgbClr val="F6F9FE"/>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05</a:t>
            </a:r>
          </a:p>
        </p:txBody>
      </p:sp>
      <p:sp>
        <p:nvSpPr>
          <p:cNvPr id="29" name="矩形 28">
            <a:extLst>
              <a:ext uri="{FF2B5EF4-FFF2-40B4-BE49-F238E27FC236}">
                <a16:creationId xmlns:a16="http://schemas.microsoft.com/office/drawing/2014/main" id="{B48E2BE3-2832-4C9F-8526-6255A0307B17}"/>
              </a:ext>
            </a:extLst>
          </p:cNvPr>
          <p:cNvSpPr>
            <a:spLocks noGrp="1"/>
          </p:cNvSpPr>
          <p:nvPr/>
        </p:nvSpPr>
        <p:spPr>
          <a:xfrm>
            <a:off x="1485900" y="4298950"/>
            <a:ext cx="4267200" cy="285750"/>
          </a:xfrm>
          <a:prstGeom prst="rect">
            <a:avLst/>
          </a:prstGeom>
          <a:solidFill>
            <a:srgbClr val="F6F9FE"/>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探索性分析</a:t>
            </a:r>
          </a:p>
        </p:txBody>
      </p:sp>
      <p:sp>
        <p:nvSpPr>
          <p:cNvPr id="30" name="矩形 29">
            <a:extLst>
              <a:ext uri="{FF2B5EF4-FFF2-40B4-BE49-F238E27FC236}">
                <a16:creationId xmlns:a16="http://schemas.microsoft.com/office/drawing/2014/main" id="{872D0159-B66E-452C-8935-F01343B0C85F}"/>
              </a:ext>
            </a:extLst>
          </p:cNvPr>
          <p:cNvSpPr>
            <a:spLocks noGrp="1"/>
          </p:cNvSpPr>
          <p:nvPr/>
        </p:nvSpPr>
        <p:spPr>
          <a:xfrm>
            <a:off x="1485900" y="4756150"/>
            <a:ext cx="4267200" cy="381000"/>
          </a:xfrm>
          <a:prstGeom prst="rect">
            <a:avLst/>
          </a:prstGeom>
          <a:solidFill>
            <a:srgbClr val="F6F9FE"/>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用统计量和图形理解分布、差异、关系与异常</a:t>
            </a:r>
          </a:p>
        </p:txBody>
      </p:sp>
      <p:sp>
        <p:nvSpPr>
          <p:cNvPr id="31" name="矩形 30">
            <a:extLst>
              <a:ext uri="{FF2B5EF4-FFF2-40B4-BE49-F238E27FC236}">
                <a16:creationId xmlns:a16="http://schemas.microsoft.com/office/drawing/2014/main" id="{ECAE18E2-FF94-4D96-8ECE-2C9B9D8449D5}"/>
              </a:ext>
            </a:extLst>
          </p:cNvPr>
          <p:cNvSpPr>
            <a:spLocks noGrp="1"/>
          </p:cNvSpPr>
          <p:nvPr/>
        </p:nvSpPr>
        <p:spPr>
          <a:xfrm>
            <a:off x="6210300" y="4102100"/>
            <a:ext cx="5181600" cy="1193800"/>
          </a:xfrm>
          <a:prstGeom prst="rect">
            <a:avLst/>
          </a:prstGeom>
          <a:solidFill>
            <a:srgbClr val="FFFFFF"/>
          </a:solidFill>
          <a:ln w="9525">
            <a:solidFill>
              <a:srgbClr val="B8C3D1"/>
            </a:solidFill>
            <a:prstDash val="solid"/>
          </a:ln>
        </p:spPr>
        <p:txBody>
          <a:bodyPr/>
          <a:lstStyle/>
          <a:p>
            <a:endParaRPr lang="zh-CN" altLang="en-US"/>
          </a:p>
        </p:txBody>
      </p:sp>
      <p:sp>
        <p:nvSpPr>
          <p:cNvPr id="32" name="矩形 31">
            <a:extLst>
              <a:ext uri="{FF2B5EF4-FFF2-40B4-BE49-F238E27FC236}">
                <a16:creationId xmlns:a16="http://schemas.microsoft.com/office/drawing/2014/main" id="{253260F2-2219-44D6-BC0D-A0F6A17E02A8}"/>
              </a:ext>
            </a:extLst>
          </p:cNvPr>
          <p:cNvSpPr>
            <a:spLocks noGrp="1"/>
          </p:cNvSpPr>
          <p:nvPr/>
        </p:nvSpPr>
        <p:spPr>
          <a:xfrm>
            <a:off x="6210300" y="4102100"/>
            <a:ext cx="5181600" cy="95250"/>
          </a:xfrm>
          <a:prstGeom prst="rect">
            <a:avLst/>
          </a:prstGeom>
          <a:solidFill>
            <a:srgbClr val="014DA1"/>
          </a:solidFill>
          <a:ln w="0">
            <a:solidFill>
              <a:srgbClr val="000000">
                <a:alpha val="0"/>
              </a:srgbClr>
            </a:solidFill>
            <a:prstDash val="solid"/>
          </a:ln>
        </p:spPr>
        <p:txBody>
          <a:bodyPr/>
          <a:lstStyle/>
          <a:p>
            <a:endParaRPr lang="zh-CN" altLang="en-US"/>
          </a:p>
        </p:txBody>
      </p:sp>
      <p:sp>
        <p:nvSpPr>
          <p:cNvPr id="33" name="矩形 32">
            <a:extLst>
              <a:ext uri="{FF2B5EF4-FFF2-40B4-BE49-F238E27FC236}">
                <a16:creationId xmlns:a16="http://schemas.microsoft.com/office/drawing/2014/main" id="{A237AAAF-732B-4BE3-BF20-25C2CAE39BFC}"/>
              </a:ext>
            </a:extLst>
          </p:cNvPr>
          <p:cNvSpPr>
            <a:spLocks noGrp="1"/>
          </p:cNvSpPr>
          <p:nvPr/>
        </p:nvSpPr>
        <p:spPr>
          <a:xfrm>
            <a:off x="6381750" y="4349750"/>
            <a:ext cx="400050" cy="247650"/>
          </a:xfrm>
          <a:prstGeom prst="rect">
            <a:avLst/>
          </a:prstGeom>
          <a:solidFill>
            <a:srgbClr val="FFFFFF"/>
          </a:solidFill>
          <a:ln w="0">
            <a:solidFill>
              <a:srgbClr val="000000">
                <a:alpha val="0"/>
              </a:srgbClr>
            </a:solidFill>
            <a:prstDash val="solid"/>
          </a:ln>
        </p:spPr>
        <p:txBody>
          <a:bodyPr lIns="0" tIns="0" rIns="0" bIns="0" anchor="t"/>
          <a:lstStyle/>
          <a:p>
            <a:pPr algn="l">
              <a:defRPr sz="1350" b="1">
                <a:solidFill>
                  <a:srgbClr val="B4964B"/>
                </a:solidFill>
                <a:latin typeface="黑体"/>
                <a:ea typeface="黑体"/>
                <a:cs typeface="黑体"/>
              </a:defRPr>
            </a:pPr>
            <a:r>
              <a:rPr>
                <a:latin typeface="Times New Roman"/>
                <a:ea typeface="Times New Roman"/>
                <a:cs typeface="Times New Roman"/>
              </a:rPr>
              <a:t>06</a:t>
            </a:r>
          </a:p>
        </p:txBody>
      </p:sp>
      <p:sp>
        <p:nvSpPr>
          <p:cNvPr id="34" name="矩形 33">
            <a:extLst>
              <a:ext uri="{FF2B5EF4-FFF2-40B4-BE49-F238E27FC236}">
                <a16:creationId xmlns:a16="http://schemas.microsoft.com/office/drawing/2014/main" id="{BB890BDB-D3AF-425F-8FE5-5DE44B74206B}"/>
              </a:ext>
            </a:extLst>
          </p:cNvPr>
          <p:cNvSpPr>
            <a:spLocks noGrp="1"/>
          </p:cNvSpPr>
          <p:nvPr/>
        </p:nvSpPr>
        <p:spPr>
          <a:xfrm>
            <a:off x="6896100" y="4298950"/>
            <a:ext cx="4267200" cy="285750"/>
          </a:xfrm>
          <a:prstGeom prst="rect">
            <a:avLst/>
          </a:prstGeom>
          <a:solidFill>
            <a:srgbClr val="FFFFFF"/>
          </a:solidFill>
          <a:ln w="0">
            <a:solidFill>
              <a:srgbClr val="000000">
                <a:alpha val="0"/>
              </a:srgbClr>
            </a:solidFill>
            <a:prstDash val="solid"/>
          </a:ln>
        </p:spPr>
        <p:txBody>
          <a:bodyPr lIns="0" tIns="0" rIns="0" bIns="0" anchor="t"/>
          <a:lstStyle/>
          <a:p>
            <a:pPr algn="l">
              <a:defRPr sz="1725" b="1">
                <a:solidFill>
                  <a:srgbClr val="00204A"/>
                </a:solidFill>
                <a:latin typeface="黑体"/>
                <a:ea typeface="黑体"/>
                <a:cs typeface="黑体"/>
              </a:defRPr>
            </a:pPr>
            <a:r>
              <a:rPr>
                <a:latin typeface="黑体"/>
                <a:ea typeface="黑体"/>
                <a:cs typeface="黑体"/>
              </a:rPr>
              <a:t>贯穿原则</a:t>
            </a:r>
          </a:p>
        </p:txBody>
      </p:sp>
      <p:sp>
        <p:nvSpPr>
          <p:cNvPr id="35" name="矩形 34">
            <a:extLst>
              <a:ext uri="{FF2B5EF4-FFF2-40B4-BE49-F238E27FC236}">
                <a16:creationId xmlns:a16="http://schemas.microsoft.com/office/drawing/2014/main" id="{E7FAA035-75D7-4F7A-AC59-278CA481C891}"/>
              </a:ext>
            </a:extLst>
          </p:cNvPr>
          <p:cNvSpPr>
            <a:spLocks noGrp="1"/>
          </p:cNvSpPr>
          <p:nvPr/>
        </p:nvSpPr>
        <p:spPr>
          <a:xfrm>
            <a:off x="6896100" y="4756150"/>
            <a:ext cx="4267200" cy="381000"/>
          </a:xfrm>
          <a:prstGeom prst="rect">
            <a:avLst/>
          </a:prstGeom>
          <a:solidFill>
            <a:srgbClr val="FFFFFF"/>
          </a:solidFill>
          <a:ln w="0">
            <a:solidFill>
              <a:srgbClr val="000000">
                <a:alpha val="0"/>
              </a:srgbClr>
            </a:solidFill>
            <a:prstDash val="solid"/>
          </a:ln>
        </p:spPr>
        <p:txBody>
          <a:bodyPr lIns="0" tIns="0" rIns="0" bIns="0" anchor="t"/>
          <a:lstStyle/>
          <a:p>
            <a:pPr algn="l">
              <a:defRPr sz="1200" b="0">
                <a:solidFill>
                  <a:srgbClr val="1F2933"/>
                </a:solidFill>
                <a:latin typeface="黑体"/>
                <a:ea typeface="黑体"/>
                <a:cs typeface="黑体"/>
              </a:defRPr>
            </a:pPr>
            <a:r>
              <a:rPr>
                <a:latin typeface="黑体"/>
                <a:ea typeface="黑体"/>
                <a:cs typeface="黑体"/>
              </a:rPr>
              <a:t>处理前后都要比较，并保留可复现的审计记录</a:t>
            </a:r>
          </a:p>
        </p:txBody>
      </p:sp>
      <p:sp>
        <p:nvSpPr>
          <p:cNvPr id="36" name="矩形 35">
            <a:extLst>
              <a:ext uri="{FF2B5EF4-FFF2-40B4-BE49-F238E27FC236}">
                <a16:creationId xmlns:a16="http://schemas.microsoft.com/office/drawing/2014/main" id="{C92ADA71-1658-411B-A3B8-D098DF8FED0A}"/>
              </a:ext>
            </a:extLst>
          </p:cNvPr>
          <p:cNvSpPr>
            <a:spLocks noGrp="1"/>
          </p:cNvSpPr>
          <p:nvPr/>
        </p:nvSpPr>
        <p:spPr>
          <a:xfrm>
            <a:off x="552450" y="5581650"/>
            <a:ext cx="11087100" cy="876300"/>
          </a:xfrm>
          <a:prstGeom prst="rect">
            <a:avLst/>
          </a:prstGeom>
          <a:solidFill>
            <a:srgbClr val="F4EBC2"/>
          </a:solidFill>
          <a:ln w="9525">
            <a:solidFill>
              <a:srgbClr val="B9A76A"/>
            </a:solidFill>
            <a:prstDash val="solid"/>
          </a:ln>
        </p:spPr>
        <p:txBody>
          <a:bodyPr/>
          <a:lstStyle/>
          <a:p>
            <a:endParaRPr lang="zh-CN" altLang="en-US"/>
          </a:p>
        </p:txBody>
      </p:sp>
      <p:sp>
        <p:nvSpPr>
          <p:cNvPr id="37" name="矩形 36">
            <a:extLst>
              <a:ext uri="{FF2B5EF4-FFF2-40B4-BE49-F238E27FC236}">
                <a16:creationId xmlns:a16="http://schemas.microsoft.com/office/drawing/2014/main" id="{26E0098D-79B7-4390-B127-0FDB05234009}"/>
              </a:ext>
            </a:extLst>
          </p:cNvPr>
          <p:cNvSpPr>
            <a:spLocks noGrp="1"/>
          </p:cNvSpPr>
          <p:nvPr/>
        </p:nvSpPr>
        <p:spPr>
          <a:xfrm>
            <a:off x="895350" y="5810250"/>
            <a:ext cx="10401300" cy="361950"/>
          </a:xfrm>
          <a:prstGeom prst="rect">
            <a:avLst/>
          </a:prstGeom>
          <a:solidFill>
            <a:srgbClr val="F4EBC2"/>
          </a:solidFill>
          <a:ln w="0">
            <a:solidFill>
              <a:srgbClr val="000000">
                <a:alpha val="0"/>
              </a:srgbClr>
            </a:solidFill>
            <a:prstDash val="solid"/>
          </a:ln>
        </p:spPr>
        <p:txBody>
          <a:bodyPr lIns="0" tIns="0" rIns="0" bIns="0" anchor="t"/>
          <a:lstStyle/>
          <a:p>
            <a:pPr algn="ctr">
              <a:defRPr sz="1800" b="1">
                <a:solidFill>
                  <a:srgbClr val="00204A"/>
                </a:solidFill>
                <a:latin typeface="黑体"/>
                <a:ea typeface="黑体"/>
                <a:cs typeface="黑体"/>
              </a:defRPr>
            </a:pPr>
            <a:r>
              <a:rPr>
                <a:latin typeface="黑体"/>
                <a:ea typeface="黑体"/>
                <a:cs typeface="黑体"/>
              </a:rPr>
              <a:t>可靠的数据分析始于正确表示、可追溯处理和充分探索。</a:t>
            </a:r>
          </a:p>
        </p:txBody>
      </p:sp>
    </p:spTree>
    <p:extLst>
      <p:ext uri="{BB962C8B-B14F-4D97-AF65-F5344CB8AC3E}">
        <p14:creationId xmlns:p14="http://schemas.microsoft.com/office/powerpoint/2010/main" val="9602864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TotalTime>
  <Words>13035</Words>
  <Application>Microsoft Macintosh PowerPoint</Application>
  <DocSecurity>0</DocSecurity>
  <PresentationFormat>宽屏</PresentationFormat>
  <Paragraphs>2333</Paragraphs>
  <Slides>90</Slides>
  <Notes>90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90</vt:i4>
      </vt:variant>
    </vt:vector>
  </HeadingPairs>
  <TitlesOfParts>
    <vt:vector size="95" baseType="lpstr">
      <vt:lpstr>黑体</vt:lpstr>
      <vt:lpstr>Arial</vt: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YIN, Nan [LTTC]</cp:lastModifiedBy>
  <cp:revision>12</cp:revision>
  <dcterms:created xsi:type="dcterms:W3CDTF">2026-07-24T08:15:35Z</dcterms:created>
  <dcterms:modified xsi:type="dcterms:W3CDTF">2026-09-06T15:29:44Z</dcterms:modified>
</cp:coreProperties>
</file>