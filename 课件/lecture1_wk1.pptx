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1"/>
    <p:restoredTop sz="66535"/>
  </p:normalViewPr>
  <p:slideViewPr>
    <p:cSldViewPr snapToGrid="0">
      <p:cViewPr varScale="1">
        <p:scale>
          <a:sx n="148" d="100"/>
          <a:sy n="148" d="100"/>
        </p:scale>
        <p:origin x="5144" y="184"/>
      </p:cViewPr>
      <p:guideLst/>
    </p:cSldViewPr>
  </p:slideViewPr>
  <p:notesTextViewPr>
    <p:cViewPr>
      <p:scale>
        <a:sx n="204" d="100"/>
        <a:sy n="204" d="100"/>
      </p:scale>
      <p:origin x="0" y="-3392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各位同学下午好，欢迎来到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COMP 5111《数据库系统与管理》。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今天是第一讲，我们会先了解课程安排，再从文件系统的问题出发，建立数据库、DBMS、三级模式结构和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建模的基本概念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建议用时：0.5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讲解提示：欢迎学生、介绍课程，并简要说明三小时课程的学习路径</a:t>
            </a:r>
            <a:r>
              <a:rPr dirty="0"/>
              <a:t>。</a:t>
            </a:r>
          </a:p>
          <a:p>
            <a:r>
              <a:rPr dirty="0" err="1"/>
              <a:t>三小时课程安排</a:t>
            </a:r>
            <a:r>
              <a:rPr dirty="0"/>
              <a:t>：</a:t>
            </a:r>
          </a:p>
          <a:p>
            <a:r>
              <a:rPr dirty="0"/>
              <a:t>00:00–00:10 </a:t>
            </a:r>
            <a:r>
              <a:rPr dirty="0" err="1"/>
              <a:t>欢迎、课程说明与学习目标</a:t>
            </a:r>
            <a:r>
              <a:rPr dirty="0"/>
              <a:t>。</a:t>
            </a:r>
          </a:p>
          <a:p>
            <a:r>
              <a:rPr dirty="0"/>
              <a:t>00:10–01:00 </a:t>
            </a:r>
            <a:r>
              <a:rPr dirty="0" err="1"/>
              <a:t>小组讨论与教师引导反馈</a:t>
            </a:r>
            <a:r>
              <a:rPr dirty="0"/>
              <a:t>。</a:t>
            </a:r>
          </a:p>
          <a:p>
            <a:r>
              <a:rPr dirty="0"/>
              <a:t>01:00–01:30 </a:t>
            </a:r>
            <a:r>
              <a:rPr dirty="0" err="1"/>
              <a:t>数据库基础与文件系统故障案例</a:t>
            </a:r>
            <a:r>
              <a:rPr dirty="0"/>
              <a:t>。</a:t>
            </a:r>
          </a:p>
          <a:p>
            <a:r>
              <a:rPr dirty="0"/>
              <a:t>01:30–01:40 </a:t>
            </a:r>
            <a:r>
              <a:rPr dirty="0" err="1"/>
              <a:t>课间休息</a:t>
            </a:r>
            <a:r>
              <a:rPr dirty="0"/>
              <a:t>。</a:t>
            </a:r>
          </a:p>
          <a:p>
            <a:r>
              <a:rPr dirty="0"/>
              <a:t>01:40–02:02 </a:t>
            </a:r>
            <a:r>
              <a:rPr dirty="0" err="1"/>
              <a:t>术语、系统架构与</a:t>
            </a:r>
            <a:r>
              <a:rPr dirty="0"/>
              <a:t> SQL </a:t>
            </a:r>
            <a:r>
              <a:rPr dirty="0" err="1"/>
              <a:t>预览</a:t>
            </a:r>
            <a:r>
              <a:rPr dirty="0"/>
              <a:t>。</a:t>
            </a:r>
          </a:p>
          <a:p>
            <a:r>
              <a:rPr dirty="0"/>
              <a:t>02:02–02:50 ER </a:t>
            </a:r>
            <a:r>
              <a:rPr dirty="0" err="1"/>
              <a:t>概念与图书馆借阅建模工作坊</a:t>
            </a:r>
            <a:r>
              <a:rPr dirty="0"/>
              <a:t>。</a:t>
            </a:r>
          </a:p>
          <a:p>
            <a:r>
              <a:rPr dirty="0"/>
              <a:t>02:50–03:00 </a:t>
            </a:r>
            <a:r>
              <a:rPr dirty="0" err="1"/>
              <a:t>关系模型预览、总结与退出题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1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今天学习结束时，大家应该能够做到五件事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：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第一，解释为什么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不只是文件存储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第二，区分数据、数据库、DBMS、模式和实例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第三，说明一条查询如何经过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的主要组件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第四，读懂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图并为一个小型领域建立模型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第五，初步理解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</a:t>
            </a:r>
            <a:r>
              <a:rPr lang="zh-CN" alt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lang="en-US" altLang="zh-CN" dirty="0"/>
              <a:t>Entity-Relationship Diagram</a:t>
            </a:r>
            <a:r>
              <a:rPr lang="zh-CN" alt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设计如何转化为表和查询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请快速判断：这五项中哪一项你最熟悉？哪一项最陌生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？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讲解提示：朗读学习目标，再邀请学生说出最熟悉和最不熟悉的一项，借此了解班级基础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现在进行小组讨论。请与附近同学组成 4 至 5 人的小组，并确定一名记录员和一名汇报代表。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讨论三个问题：什么是数据库系统？为什么数据库系统重要？数据库系统如何支持真实应用？前 30 分钟用于组内讨论，之后约 20 分钟请若干小组汇报，并由教师归纳。讨论时尽量给出具体应用和具体数据，而不要只背定义。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建议用时：30 分钟。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讲解提示：明确组内角色并巡视各组；汇报阶段用后面两页把学生答案整理成结构化结论。</a:t>
            </a:r>
          </a:p>
          <a:p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t>[Sources]</a:t>
            </a:r>
          </a:p>
          <a:p>
            <a:r>
              <a:t>- 用户提供的原始课件，第 8 页（保留内容并将讲稿改写为中文）。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每组选择一个场景：选课、门诊预约、外卖配送或图书馆借阅，也可以提出自己的场景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请列出五类信息：使用者、需要保存的记录、常见操作、必须遵守的规则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以及使用多个独立文件或电子表格时可能发生的一次失败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例如在选课场景中，使用者包括学生和教务人员；记录包括学生、课程和选课；操作包括选课、退课和查询；规则可能包括人数上限和先修课要求。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建议用时：10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讲解提示：让小组选择领域，要求给出具体的用户、记录、操作、规则和一个文件式管理失败案例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请各组分享一个例子。教师把答案按类别写在白板上：共享、持久保存、数据之间的关系、不断变化的查询、完整性、并发、安全和恢复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归纳时强调：当许多用户需要共同使用长期保存且彼此相关的数据，同时还要保证规则正确、权限合适、发生故障后可以恢复时，单独文件很快会变得难以管理，这正是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的价值所在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建议用时：10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讲解提示：收集并分类学生例子，用共享、持久性、关系、查询、完整性、并发、安全和恢复八个关键词完成总结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社会活动不断数字化，企业和机构会产生越来越多的信息。传统文件处理系统可以永久保存记录，但每种新需求往往都要编写新的应用程序去读取或增加数据。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lang="zh-CN" alt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zh-CN" alt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种方式的主要问题包括：同一事实在多个文件中重复出现，更新不完整会造成不一致；数据被不同格式隔离，临时查询困难；多人同时修改可能产生异常；此外还会出现安全、完整性、备份和恢复问题。请把每一种技术问题都对应到一个实际后果，例如地址账单不一致、重复预约或成绩泄露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 err="1"/>
              <a:t>讲解提示：请学生把每一种文件系统局限与一个具体的业务后果联系起来</a:t>
            </a:r>
            <a:r>
              <a:rPr dirty="0"/>
              <a:t>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9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看这个学生成绩记录示例。Peter Wong 修读了多门课程，因此他的学号、姓名和性别在多行中重复；Mary 和 Bob 目前只选了数据库系统。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这里既有原始数据，也有隐含结构：学生与课程是两类对象，“修读”把二者联系起来，成绩属于某一次修读。先请大家指出哪些事实重复、哪些事实可能变化。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讲解提示：利用学生—课程表区分数据值与结构，并找出被重复保存的事实。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t>[Sources]</a:t>
            </a:r>
          </a:p>
          <a:p>
            <a:r>
              <a:t>- 用户提供的原始课件，第 10 页（保留内容并将讲稿改写为中文）。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这种单表保存方式有什么问题？最明显的是数据冗余：Peter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Wong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的基本资料出现多次。如果地址或姓名改变，就必须同时修改多行；漏改一行会产生更新异常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它还会带来插入异常和删除异常。例如还没有学生选修的新课程难以记录；删除某名学生最后一条选课记录时，也可能把课程信息一并丢失。请思考一分钟：怎样把数据拆开？一个自然做法是建立 STUDENT、COURSE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和连接二者的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ENROLMENT。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讲解提示：追问重复值如何造成更新、插入和删除异常，并让学生提出拆表方案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11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数据库是有组织地保存的一组数据。理想情况下，这些数据应尽量减少不必要的重复，能够长期保存，彼此在逻辑上相关，并具有明确结构，因此查询和更新才会高效。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管理这些数据的软件叫数据库管理系统，也就是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DBMS。数据库指被管理的数据本身；DBMS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指创建、存储、查询、更新、保护并恢复这些数据的软件。可以把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理解为用户或应用程序与底层数据之间的接口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讲解提示：清楚地区分数据库和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DBMS：前者是数据，后者是管理数据的软件。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12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先不要看答案，判断四个注册故障分别属于哪一类问题：两名学生同时看到“剩余一个名额”并都成功选课；学生和课程资料被复制到多个表格；教室变更只更新了一个文件；共享导出文件让无权用户看到成绩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每组先给问题贴上“冗余、并发、完整性或安全”的标签，再解释它对业务会造成什么影响。只有说出后果，诊断才算完整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建议用时：4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讲解提示：先让小组标注故障类别，再要求说明业务影响，不要只报术语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逐项揭示答案。重复资料造成冗余，副本之间容易不一致；同时更新造成并发问题，可能超额选课或丢失修改；违反容量或键规则属于完整性问题；无权查看成绩属于安全问题。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DBMS 会综合使用事务、约束、授权、备份与恢复来处理这些风险。注意这些能力必须配合使用：即使操作具有事务性，如果系统没有定义人数上限，仍然可能提交一个业务上无效的状态。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建议用时：3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讲解提示：一次揭示一个诊断，强调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的事务、约束和权限等机制需要协同工作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传统数据库常采用封闭世界假设：如果某个事实不在数据库中，就把它当作假。例如学生表中没有某个学号，系统通常认为该学生不存在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互联网和开放信息系统更常采用开放世界假设：没有记录只表示“目前不知道”，不能直接判断为假。例如网页中没有提到某人的职位，并不等于他没有职位。请注意，缺失记录在两种假设下具有不同含义。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讲解提示：用“找不到一条记录”的例子对比封闭世界假设和开放世界假设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13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是一种专门的软件系统。它首先要管理持久数据，使数据在程序结束后仍能保存；还要提供数据建模与查询语言，让用户描述数据和提出问题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一个完整的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通常还负责事务处理、并发控制、完整性检查、访问控制、备份和故障恢复。后面介绍的系统架构，就是为了说明这些能力由哪些组件实现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 err="1"/>
              <a:t>讲解提示：强调持久数据管理、数据建模、语言、事务、访问控制和恢复等核心能力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14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数据库系统很复杂，但不同角色不需要了解所有细节。数据抽象通过隐藏不必要的实现细节，降低用户与系统交互的复杂度。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三级抽象包括：物理层，说明数据怎样存放在磁盘或其他介质上；概念层，说明数据库中存放哪些实体、属性和关系；外部层，也叫视图层，只向特定用户展示其工作所需且有权访问的部分。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讲解提示：把物理层、概念层和外部层解释成对“需要知道什么”的三种不同回答。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用户提供的原始课件，第 15 页（保留内容并将讲稿改写为中文）。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把三个层次放在一起，就形成经典的三级模式结构。内部模式描述数据的物理存储；概念模式描述整个数据库的逻辑结构；外部模式为不同用户提供不同视图。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以银行为例，概念模式会描述客户、账户、交易和贷款；普通客户只能通过外部视图看到自己的资料，而管理人员可能看到更广的范围。一条查询从外部视图进入，经过概念模式解释，再由内部模式找到实际存储的数据，最后返回结果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讲解提示：沿着外部视图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概念模式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内部模式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存储数据的路径追踪一次用户请求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16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数据模型是一组用于描述数据结构、数据之间关系、允许的操作以及完整性约束的概念。约束就是数据必须遵守的规则，例如年龄不能为负数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历史上曾出现层次模型和网状模型；20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世纪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70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年代关系模型成为主流并沿用至今；之后又发展出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ER、语义模型和面向对象模型等。本课程主要学习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模型和关系模型，因为前者适合概念设计，后者是大量实际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的基础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讲解提示：把数据模型定义为描述结构、关系、操作和约束的一组概念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17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模式是数据库的总体结构，通常相对稳定；实例是在某一个时刻实际存放的数据集合，也可以叫数据库快照。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 COURSE(code, title, credits) 是课程数据的模式，而某一行 (COMP5111, Database Systems, 3) 是当前实例中的一个值。股票价格、库存或选课人数会不断变化，因此实例是动态的；只有业务结构改变时，模式才需要调整。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讲解提示：对比相对稳定的模式与某一时刻不断变化的实例。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用户提供的原始课件，第 18 页（保留内容并将讲稿改写为中文）。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数据独立性是指修改某一层的模式定义时，不必改变更高一层的模式或应用程序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物理数据独立性：改变文件组织、索引或存储位置，不需要修改概念模式和应用程序。逻辑数据独立性：改变概念模式，例如增加可选属性或拆分实体时，尽量不影响外部视图和应用程序。请用“重建索引”和“增加属性”两个例子区分二者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讲解提示：用一个存储变化和一个概念结构变化来区分物理与逻辑数据独立性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19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再次观察三级模式图。假设我们把数据从机械硬盘迁移到固态硬盘，主要由内部层吸收变化；假设在概念模式中为学生增加一个可选属性，则应通过映射让原有外部视图尽量保持不变。</a:t>
            </a:r>
          </a:p>
          <a:p>
            <a:endParaRPr dirty="0"/>
          </a:p>
          <a:p>
            <a:r>
              <a:rPr dirty="0" err="1"/>
              <a:t>请学生指出每一个变化发生在哪一层、上层为何可以不改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建议用时：1.5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讲解提示：重看三级结构图，让学生判断每一种拟议变化由哪一层吸收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20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快速投票：A，COURSE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(code, title, credits) 是模式；B，一条具体课程记录是实例；C，在不改应用程序的情况下重建索引体现物理数据独立性；D，增加可选属性但保持用户视图稳定，体现逻辑数据独立性。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请先独立选择，再向旁边同学解释其中一个答案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A/B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快速投票检查理解，并让学生用一句理由说明答案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现在休息十分钟。请记住准确返回时间。休息后，我们会把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DDL、DML、数据库架构和查询联系起来，然后进入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建模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altLang="zh-CN" dirty="0"/>
              <a:t>DDL </a:t>
            </a:r>
            <a:r>
              <a:rPr lang="zh-CN" altLang="en-US" dirty="0"/>
              <a:t>是 </a:t>
            </a:r>
            <a:r>
              <a:rPr lang="en-US" altLang="zh-CN" dirty="0"/>
              <a:t>Data Definition Language</a:t>
            </a:r>
            <a:r>
              <a:rPr lang="zh-CN" altLang="en-US" dirty="0"/>
              <a:t>，用来定义或修改数据库模式，例如创建表、增加列、删除表。</a:t>
            </a:r>
            <a:endParaRPr lang="en-US" altLang="zh-CN" dirty="0"/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altLang="zh-CN" dirty="0"/>
              <a:t>DML </a:t>
            </a:r>
            <a:r>
              <a:rPr lang="zh-CN" altLang="en-US" dirty="0"/>
              <a:t>是 </a:t>
            </a:r>
            <a:r>
              <a:rPr lang="en-US" altLang="zh-CN" dirty="0"/>
              <a:t>Data Manipulation Language</a:t>
            </a:r>
            <a:r>
              <a:rPr lang="zh-CN" altLang="en-US" dirty="0"/>
              <a:t>，用来查询或修改表中的具体记录。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建议用时：10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讲解提示：严格控制为十分钟，把本页保持在屏幕上，并明确宣布返回时间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DDL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是数据定义语言，用于定义数据库模式，例如创建哪些表、每个表有哪些列和约束。DDL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的结果会形成数据字典中的元数据，也就是“描述数据的数据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是数据操纵语言，用于检索、插入、修改和删除数据；查询语言是其中专门负责检索的部分。过程式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DML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既说明要什么，也说明怎样取得；声明式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DML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只说明希望得到什么。SQL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同时包含定义和操纵功能，查询通常以声明式方式表达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讲解提示：先对比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DDL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与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DML，再区分过程式请求和声明式请求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21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数据库使用者可以按操作方式分类。应用程序员在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Java、C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或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C++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等宿主语言中嵌入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DML；交互式用户直接使用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SQL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等查询语言；一般终端用户不写查询，而是运行应用程序员开发的界面完成操作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三类用户访问的是同一数据库，但他们与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的距离和控制程度不同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讲解提示：比较应用程序员、交互式用户和一般终端用户发出数据操作的直接程度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22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DBA，也就是数据库管理员，对数据库负有集中管理责任。DBA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决定模式定义、存储结构和访问方法，维护模式与物理组织，为用户授予权限，并规定完整性约束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实际工作中，DBA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还要负责性能监控、备份策略和故障恢复。可以把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DBA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看成数据库可用性、安全性和正确性的主要责任人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DBA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的职责概括为定义、访问、组织、约束、备份和恢复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23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文件管理器负责存储空间分配以及底层文件读写。数据库管理器位于逻辑请求与物理文件之间，把概念层命令转换成底层操作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数据库管理器还会协调访问控制、并发控制、备份恢复和完整性检查。二者共同把用户看到的逻辑数据连接到底层存储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讲解提示：说明文件管理器和数据库管理器如何连接逻辑请求与物理文件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24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查询处理器把高层查询转换成底层指令，并选择成本较低的执行方式。DML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预编译器把应用程序中嵌入的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DML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转换为过程调用；DDL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编译器把模式定义转换为数据字典中的表、列和约束描述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1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1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共同点是：用户使用高层语言表达意图，系统组件把它翻译成可执行的内部操作</a:t>
            </a:r>
            <a:r>
              <a:rPr sz="11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1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1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1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1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1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 err="1"/>
              <a:t>讲解提示：解释查询处理以及</a:t>
            </a:r>
            <a:r>
              <a:rPr dirty="0"/>
              <a:t> DDL、DML </a:t>
            </a:r>
            <a:r>
              <a:rPr dirty="0" err="1"/>
              <a:t>编译如何把高层请求转换成底层操作</a:t>
            </a:r>
            <a:r>
              <a:rPr dirty="0"/>
              <a:t>。</a:t>
            </a:r>
            <a:endParaRPr sz="11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14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1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25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这张图把术语放进完整的参考架构。上方是不同类型的用户，中间绿色区域是 DBMS 组件，下方是数据文件和数据字典。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以一条 SQL 查询为例：交互式用户提交查询；查询处理器先进行语法与语义检查，再改写和优化；执行引擎把计划交给数据库管理器；数据库管理器参考数据字典，并通过文件管理器读取所需数据；结果沿相反路径返回用户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DBA 使用 DDL 定义模式，应用程序员在宿主语言中嵌入 DML，一般终端用户则通过应用程序间接访问。请大家在图中指出这四种入口。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建议用时：3.5 分钟。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讲解提示：完整追踪一条 SQL 从检查、优化、执行、访问存储到返回结果的过程。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用户提供的原始课件，第 26 页（保留内容并将讲稿改写为中文）。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数据库系统环境还包括多种实用工具，例如批量装载数据、备份、文件重组、报表生成和数据字典维护。这些工具不一定直接响应日常查询，但对系统运行和管理非常重要。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下面从不同维度介绍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DBMS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的分类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建议用时：1.5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lang="en-US" altLang="zh-CN" dirty="0"/>
              <a:t>】</a:t>
            </a:r>
            <a:endParaRPr dirty="0"/>
          </a:p>
          <a:p>
            <a:r>
              <a:rPr dirty="0" err="1"/>
              <a:t>讲解提示：用实用工具结束架构部分，再过渡到</a:t>
            </a:r>
            <a:r>
              <a:rPr dirty="0"/>
              <a:t> DBMS </a:t>
            </a:r>
            <a:r>
              <a:rPr dirty="0" err="1"/>
              <a:t>的分类方式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27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一种分类方法是按数据模型划分。20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世纪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60 年代后期常见层次模型和网状模型；70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年代关系模型成为主流，ER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模型随后成为重要的概念设计工具；后来又出现语义模型、函数模型和面向对象模型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此外还出现逻辑或演绎数据库、专家或知识库系统、超媒体数据库等智能数据库方向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讲解提示：按时间顺序定位层次、网状、关系、ER、语义、函数和面向对象模型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[Sources]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28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DBMS 还可以按其他维度分类：按用户数量分为单用户和多用户；按站点数量分为集中式与分布式；分布式系统又可按数据模型是否一致分为同构与异构；也可以按成本、通用用途或专门用途分类。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这些维度可以组合使用，所以一个系统可能同时是多用户、分布式、异构并面向专门领域的数据库。接下来用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SQL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看看声明式查询的含义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 err="1"/>
              <a:t>讲解提示：按数据模型、用户数、站点、同构性、成本和用途对</a:t>
            </a:r>
            <a:r>
              <a:rPr dirty="0"/>
              <a:t> DBMS </a:t>
            </a:r>
            <a:r>
              <a:rPr dirty="0" err="1"/>
              <a:t>分类</a:t>
            </a:r>
            <a:r>
              <a:rPr dirty="0"/>
              <a:t>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[Sources]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用户提供的原始课件，第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29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页（保留内容并将讲稿改写为中文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阅读这条 SQL：先看 SELECT，它决定结果显示 student_name 和 grade 两列；再看 FROM，它指定数据来自 Enrolment；最后看 WHERE，它只保留课程代码为 COMP5111、成绩属于 A+、A 或 A− 的行。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先不要运行查询，请预测结果会有哪些列、哪些记录能够通过筛选。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讲解提示：逐行阅读查询，先预测结果列，再判断哪些行满足 WHERE 条件。</a:t>
            </a:r>
          </a:p>
          <a:p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t>[Sources]</a:t>
            </a:r>
          </a:p>
          <a:p>
            <a:r>
              <a:t>- 用户提供的原始课件（用于视觉版式与核心术语）。</a:t>
            </a:r>
          </a:p>
          <a:p>
            <a:r>
              <a:t>- R. Elmasri 与 S. Navathe，《数据库系统基础》（Fundamentals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现在独立写两条查询。查询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A：列出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Peter Wong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修读的课程代码；查询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B：统计每门课程的学生人数。可以使用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SELECT、FROM、WHERE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GROUP BY。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先预测结果，再写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SQL；完成后与旁边同学比较。查询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的关键通常是按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分组，并使用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COUNT(*)。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如果答案不同，请说明各自的设计理由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ENROLMENT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WHERE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student_name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'Peter Wong’;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COUNT(*) AS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student_count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ENROLMENT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 BY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建议用时：3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讲解提示：先个人作答再两人比较；重点听学生是否在查询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中使用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GROUP BY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course_code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COUNT(*)。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的核心特点是声明式：用户说明“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要什么结果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”，DBMS 决定“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怎样取得结果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”。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查询处理器会检查、改写、优化并执行同一个逻辑查询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根据数据量、索引和统计信息，同一查询可能使用全表扫描、索引或不同连接顺序。应用程序不需要知道这些物理细节，这也是数据独立性的具体体现。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建议用时：1.5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讲解提示：把声明式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SQL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与前面的查询处理器连接起来：用户规定结果，优化器选择执行计划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下面进入实体—联系模型，也就是 ER 模型。Peter Chen 教授在 20 世纪 70 年代提出这一模型，用它描述现实世界中的实体、属性和联系。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 图是数据库概念设计的重要工具，因为它能够在建表之前，用清晰的图形表达业务结构。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分钟。</a:t>
            </a: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20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 ER 模型介绍为以实体和联系为中心的概念设计语言。</a:t>
            </a:r>
          </a:p>
          <a:p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t>[Sources]</a:t>
            </a:r>
          </a:p>
          <a:p>
            <a:r>
              <a:t>- 用户提供的原始课件，第 30 页（保留内容并将讲稿改写为中文）。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 建模不是一次完成的直线过程，而是迭代循环。先阅读需求，标出名词、动词和规则；提出实体类型及候选键；添加属性和取值域；建立联系、角色和联系属性；说明基数与参与约束；最后用样例场景和业务问题验证模型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如果模型回答不了关键问题，或者允许不合法状态，就返回前面的步骤修改。第一版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图通常只是可讨论的草稿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建议用时：3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讲解提示：把建模过程讲成迭代循环，说明需求和样例查询会验证并修改最初的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草图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实体是现实世界中能够与其他对象区分的“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事物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”，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例如一个具体学生、一所大学或一家银行。实体通过属性来识别和描述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一组同类型实体构成实体集，例如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STUDENT、EMPLOYEE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或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CUSTOMER。在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图中，实体集通常用矩形表示。请同学给出一个校园场景中的实体和对应实体集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 err="1"/>
              <a:t>讲解提示：区分单个实体与实体集，并请学生举一个校园例子</a:t>
            </a:r>
            <a:r>
              <a:rPr dirty="0"/>
              <a:t>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[Sources]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1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1200" b="1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用户提供的原始课件，第</a:t>
            </a:r>
            <a:r>
              <a:rPr sz="1200" b="1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31 </a:t>
            </a:r>
            <a:r>
              <a:rPr sz="1200" b="1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页（保留内容并将讲稿改写为中文</a:t>
            </a:r>
            <a:r>
              <a:rPr sz="1200" b="1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属性是描述实体的信息，例如学生的姓名、学号、地址和出生日期。每个属性的值来自一个取值域：姓名通常是字符串，学号可能是特定格式的字符，出生日期属于日期类型。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形式上，属性可以看成从实体集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到取值域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的函数。给出一个样例值，让学生判断它是否属于该属性的合法取值域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讲解提示：定义属性和取值域，并检查一个示例值是否属于对应属性的取值域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[Sources]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32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请按图形记号阅读本页：矩形表示实体集，椭圆表示属性，连接线表示属性属于哪个实体。带下划线的属性是键属性，可以唯一识别一个实体</a:t>
            </a:r>
            <a:r>
              <a:rPr dirty="0"/>
              <a:t>。</a:t>
            </a:r>
            <a:endParaRPr lang="en-US" dirty="0"/>
          </a:p>
          <a:p>
            <a:r>
              <a:rPr lang="zh-CN" altLang="en-US" dirty="0"/>
              <a:t>键属性是能够唯一识别一个实体的属性，就像每个实体的“身份证”。</a:t>
            </a:r>
            <a:endParaRPr dirty="0"/>
          </a:p>
          <a:p>
            <a:endParaRPr dirty="0"/>
          </a:p>
          <a:p>
            <a:r>
              <a:rPr dirty="0" err="1"/>
              <a:t>请指出图中的实体、普通属性和键属性，并说明为什么键值不能随意重复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建议用时：2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讲解提示：阅读实体和属性的图形记号，找出键属性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33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 模型的第二个核心概念是联系。联系表示若干实体之间的关联，例如 Patrick 与 Eva 是朋友，或 Patrick 修读 CS3450。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同一类型的联系组成联系集。形式上，k 元联系 R 是笛卡尔积 E1×E2×…×Ek 的一个子集，每个元组选择了参与联系的实体。把这个定义对应回学生—课程例子：每个“修读”实例就是一名学生与一门课程的组合。</a:t>
            </a: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20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20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讲解提示：定义联系集，并把形式化定义与学生—课程实例联系起来。</a:t>
            </a: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20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pPr indent="0" algn="l">
              <a:spcBef>
                <a:spcPts val="7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t>- 用户提供的原始课件，第 34 页（保留内容并将讲稿改写为中文）。</a:t>
            </a:r>
            <a:endParaRPr sz="20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现在进行图书馆借阅工作坊。先读需求，不要马上画图：图书馆记录会员、图书和实体书副本；会员借阅某个副本；每次借阅有借出日期、到期日期和可选的归还日期；每个副本只属于一本书；每名会员最多有五笔未归还借阅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请在文字中给名词加下划线、圈出动词、框出约束，然后把它们分别转化为实体、联系、属性和基数规则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建议用时：4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讲解提示：给学生四分钟，用“名词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动词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约束”方法识别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构件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第一步可以提出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MEMBER、BOOK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三个实体集，键分别为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member_id、isbn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copy_id。若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copy_no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只在一本书内部唯一，也可以把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建模为依赖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BOOK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的弱实体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含有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issue_date、due_date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return_date。它既可以建模为带属性的借阅联系，也可以建模为关联实体。只要键、参与约束和业务含义表达清楚，两种设计都可以讨论。请各组说明自己的选择。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altLang="zh-CN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lang="zh-CN" altLang="en-US" dirty="0"/>
              <a:t>把 </a:t>
            </a:r>
            <a:r>
              <a:rPr lang="en-US" altLang="zh-CN" dirty="0"/>
              <a:t>LOAN </a:t>
            </a:r>
            <a:r>
              <a:rPr lang="zh-CN" altLang="en-US" dirty="0"/>
              <a:t>画成“带属性的联系”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 ──&lt; LOAN &gt;── COPY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issue_date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due_date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return_date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zh-CN" altLang="en-US" dirty="0"/>
              <a:t>某个会员 </a:t>
            </a:r>
            <a:r>
              <a:rPr lang="en-US" altLang="zh-CN" dirty="0"/>
              <a:t>MEMBER </a:t>
            </a:r>
            <a:r>
              <a:rPr lang="zh-CN" altLang="en-US" dirty="0"/>
              <a:t>借了某一本具体馆藏副本 </a:t>
            </a:r>
            <a:r>
              <a:rPr lang="en-US" altLang="zh-CN" dirty="0"/>
              <a:t>COPY</a:t>
            </a:r>
            <a:r>
              <a:rPr lang="zh-CN" altLang="en-US" dirty="0"/>
              <a:t>，这次“借”具有借出日期、应还日期和实际归还日期。</a:t>
            </a:r>
            <a:endParaRPr lang="en-US" altLang="zh-CN" dirty="0"/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member_id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copy_id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issue_date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  <a:p>
            <a:r>
              <a:rPr lang="zh-CN" altLang="en-US" dirty="0"/>
              <a:t>共同唯一标识一次借阅。</a:t>
            </a:r>
          </a:p>
          <a:p>
            <a:r>
              <a:rPr lang="zh-CN" altLang="en-US" dirty="0"/>
              <a:t>这种设计适合强调：</a:t>
            </a:r>
            <a:r>
              <a:rPr lang="en-US" altLang="zh-CN" b="1" dirty="0"/>
              <a:t>LOAN </a:t>
            </a:r>
            <a:r>
              <a:rPr lang="zh-CN" altLang="en-US" b="1" dirty="0"/>
              <a:t>本质上是 </a:t>
            </a:r>
            <a:r>
              <a:rPr lang="en-US" altLang="zh-CN" b="1" dirty="0"/>
              <a:t>MEMBER </a:t>
            </a:r>
            <a:r>
              <a:rPr lang="zh-CN" altLang="en-US" b="1" dirty="0"/>
              <a:t>与 </a:t>
            </a:r>
            <a:r>
              <a:rPr lang="en-US" altLang="zh-CN" b="1" dirty="0"/>
              <a:t>COPY </a:t>
            </a:r>
            <a:r>
              <a:rPr lang="zh-CN" altLang="en-US" b="1" dirty="0"/>
              <a:t>之间的一次联系。</a:t>
            </a:r>
            <a:endParaRPr lang="zh-CN" altLang="en-US" dirty="0"/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altLang="zh-CN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lang="zh-CN" altLang="en-US" dirty="0"/>
              <a:t>把 </a:t>
            </a:r>
            <a:r>
              <a:rPr lang="en-US" altLang="zh-CN" dirty="0"/>
              <a:t>LOAN </a:t>
            </a:r>
            <a:r>
              <a:rPr lang="zh-CN" altLang="en-US" dirty="0"/>
              <a:t>画成“关联实体”</a:t>
            </a:r>
            <a:endParaRPr lang="en-US" altLang="zh-CN" dirty="0"/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LOAN(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loan_id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member_id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copy_id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issue_date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due_date</a:t>
            </a: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return_date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lang="en-US"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  <a:p>
            <a:r>
              <a:rPr lang="zh-CN" altLang="en-US" dirty="0"/>
              <a:t>其中：</a:t>
            </a:r>
          </a:p>
          <a:p>
            <a:r>
              <a:rPr lang="en-US" altLang="zh-CN" dirty="0" err="1"/>
              <a:t>loan_id</a:t>
            </a:r>
            <a:r>
              <a:rPr lang="zh-CN" altLang="en-US" dirty="0"/>
              <a:t>：一次借阅的唯一编号；</a:t>
            </a:r>
          </a:p>
          <a:p>
            <a:r>
              <a:rPr lang="en-US" altLang="zh-CN" dirty="0" err="1"/>
              <a:t>member_id</a:t>
            </a:r>
            <a:r>
              <a:rPr lang="zh-CN" altLang="en-US" dirty="0"/>
              <a:t>：谁借的；</a:t>
            </a:r>
          </a:p>
          <a:p>
            <a:r>
              <a:rPr lang="en-US" altLang="zh-CN" dirty="0" err="1"/>
              <a:t>copy_id</a:t>
            </a:r>
            <a:r>
              <a:rPr lang="zh-CN" altLang="en-US" dirty="0"/>
              <a:t>：借的是哪一本具体副本；</a:t>
            </a:r>
          </a:p>
          <a:p>
            <a:r>
              <a:rPr lang="en-US" altLang="zh-CN" dirty="0" err="1"/>
              <a:t>issue_date</a:t>
            </a:r>
            <a:r>
              <a:rPr lang="zh-CN" altLang="en-US" dirty="0"/>
              <a:t>：借出日期；</a:t>
            </a:r>
          </a:p>
          <a:p>
            <a:r>
              <a:rPr lang="en-US" altLang="zh-CN" dirty="0" err="1"/>
              <a:t>due_date</a:t>
            </a:r>
            <a:r>
              <a:rPr lang="zh-CN" altLang="en-US" dirty="0"/>
              <a:t>：应还日期；</a:t>
            </a:r>
          </a:p>
          <a:p>
            <a:r>
              <a:rPr lang="en-US" altLang="zh-CN" dirty="0" err="1"/>
              <a:t>return_date</a:t>
            </a:r>
            <a:r>
              <a:rPr lang="zh-CN" altLang="en-US" dirty="0"/>
              <a:t>：实际归还日期，尚未归还时可以为空。</a:t>
            </a:r>
          </a:p>
          <a:p>
            <a:r>
              <a:rPr lang="zh-CN" altLang="en-US" dirty="0"/>
              <a:t>这种设计适合强调：</a:t>
            </a:r>
            <a:r>
              <a:rPr lang="zh-CN" altLang="en-US" b="1" dirty="0"/>
              <a:t>一次借阅本身是一个需要管理的业务对象</a:t>
            </a:r>
            <a:r>
              <a:rPr lang="zh-CN" altLang="en-US" dirty="0"/>
              <a:t>。以后如果还要添加续借次数、罚款、经办员工、借阅状态等属性，会更加方便。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建议用时：4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讲解提示：讨论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的建模选择；只要键与约束明确，接受多种有理据的方案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联系本身也可以有属性。例如学生修读课程时得到的</a:t>
            </a:r>
            <a:r>
              <a:rPr dirty="0"/>
              <a:t> </a:t>
            </a:r>
            <a:r>
              <a:rPr dirty="0" err="1"/>
              <a:t>Grade，不属于</a:t>
            </a:r>
            <a:r>
              <a:rPr dirty="0"/>
              <a:t> </a:t>
            </a:r>
            <a:r>
              <a:rPr dirty="0" err="1"/>
              <a:t>STUDENT，也不属于</a:t>
            </a:r>
            <a:r>
              <a:rPr dirty="0"/>
              <a:t> </a:t>
            </a:r>
            <a:r>
              <a:rPr dirty="0" err="1"/>
              <a:t>COURSE，而属于某一次</a:t>
            </a:r>
            <a:r>
              <a:rPr dirty="0"/>
              <a:t> Takes </a:t>
            </a:r>
            <a:r>
              <a:rPr dirty="0" err="1"/>
              <a:t>联系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同样，供应商向客户提供某项物品时的价格，可能属于</a:t>
            </a:r>
            <a:r>
              <a:rPr dirty="0"/>
              <a:t> Supply </a:t>
            </a:r>
            <a:r>
              <a:rPr dirty="0" err="1"/>
              <a:t>联系。判断标准是：这个值是否依赖于参与联系的多个实体，而不是只依赖其中一个实体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Student ── Takes ── Course │ </a:t>
            </a:r>
            <a:r>
              <a:rPr lang="en-US" altLang="zh-CN" dirty="0" err="1"/>
              <a:t>GradeGrade</a:t>
            </a:r>
            <a:r>
              <a:rPr lang="zh-CN" altLang="en-US" dirty="0"/>
              <a:t>（成绩）应该属于 </a:t>
            </a:r>
            <a:r>
              <a:rPr lang="en-US" altLang="zh-CN" dirty="0"/>
              <a:t>Takes</a:t>
            </a:r>
            <a:r>
              <a:rPr lang="zh-CN" altLang="en-US" dirty="0"/>
              <a:t>（选课联系），因为仅知道学生或课程，都不能确定成绩。</a:t>
            </a:r>
          </a:p>
          <a:p>
            <a:r>
              <a:rPr lang="zh-CN" altLang="en-US" dirty="0"/>
              <a:t>例如：</a:t>
            </a:r>
          </a:p>
          <a:p>
            <a:r>
              <a:rPr lang="en-US" altLang="zh-CN" dirty="0"/>
              <a:t>Student</a:t>
            </a:r>
            <a:r>
              <a:rPr lang="zh-CN" altLang="en-US" dirty="0"/>
              <a:t>。  </a:t>
            </a:r>
            <a:r>
              <a:rPr lang="en-US" altLang="zh-CN" dirty="0"/>
              <a:t>Course</a:t>
            </a:r>
            <a:r>
              <a:rPr lang="zh-CN" altLang="en-US" dirty="0"/>
              <a:t>    </a:t>
            </a:r>
            <a:r>
              <a:rPr lang="en-US" altLang="zh-CN" dirty="0"/>
              <a:t>Grade</a:t>
            </a:r>
          </a:p>
          <a:p>
            <a:r>
              <a:rPr lang="zh-CN" altLang="en-US" dirty="0"/>
              <a:t>张三          数据库      </a:t>
            </a:r>
            <a:r>
              <a:rPr lang="en-US" altLang="zh-CN" dirty="0"/>
              <a:t>85</a:t>
            </a:r>
          </a:p>
          <a:p>
            <a:r>
              <a:rPr lang="zh-CN" altLang="en-US" dirty="0"/>
              <a:t>张三         数学          </a:t>
            </a:r>
            <a:r>
              <a:rPr lang="en-US" altLang="zh-CN" dirty="0"/>
              <a:t>92</a:t>
            </a:r>
          </a:p>
          <a:p>
            <a:r>
              <a:rPr lang="zh-CN" altLang="en-US" dirty="0"/>
              <a:t>李四        数据库       </a:t>
            </a:r>
            <a:r>
              <a:rPr lang="en-US" altLang="zh-CN" dirty="0"/>
              <a:t>76</a:t>
            </a:r>
          </a:p>
          <a:p>
            <a:endParaRPr lang="en-US" altLang="zh-CN" dirty="0"/>
          </a:p>
          <a:p>
            <a:r>
              <a:rPr lang="zh-CN" altLang="en-US" dirty="0"/>
              <a:t>可以看到：</a:t>
            </a:r>
          </a:p>
          <a:p>
            <a:r>
              <a:rPr lang="zh-CN" altLang="en-US" dirty="0"/>
              <a:t>只知道“张三”，不能确定成绩，因为张三不同课程成绩不同；</a:t>
            </a:r>
          </a:p>
          <a:p>
            <a:r>
              <a:rPr lang="zh-CN" altLang="en-US" dirty="0"/>
              <a:t>只知道“数据库”，也不能确定成绩，因为不同学生的数据库成绩不同；</a:t>
            </a:r>
          </a:p>
          <a:p>
            <a:r>
              <a:rPr lang="zh-CN" altLang="en-US" dirty="0"/>
              <a:t>必须同时知道“哪位学生选了哪门课程”，才能确定成绩。</a:t>
            </a:r>
          </a:p>
          <a:p>
            <a:r>
              <a:rPr lang="zh-CN" altLang="en-US" dirty="0"/>
              <a:t>所以可以表示为：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StudentID</a:t>
            </a:r>
            <a:r>
              <a:rPr lang="en-US" altLang="zh-CN" dirty="0"/>
              <a:t>, </a:t>
            </a:r>
            <a:r>
              <a:rPr lang="en-US" altLang="zh-CN" dirty="0" err="1"/>
              <a:t>CourseCode</a:t>
            </a:r>
            <a:r>
              <a:rPr lang="en-US" altLang="zh-CN" dirty="0"/>
              <a:t>) → Grade</a:t>
            </a:r>
            <a:r>
              <a:rPr lang="zh-CN" altLang="en-US" dirty="0"/>
              <a:t>也就是说，成绩描述的是“某学生选某课程”这件事，而不是单独描述学生或课程。</a:t>
            </a:r>
          </a:p>
          <a:p>
            <a:r>
              <a:rPr lang="zh-CN" altLang="en-US" dirty="0"/>
              <a:t>相反：</a:t>
            </a:r>
          </a:p>
          <a:p>
            <a:r>
              <a:rPr lang="en-US" altLang="zh-CN" dirty="0" err="1"/>
              <a:t>Student.Name</a:t>
            </a:r>
            <a:r>
              <a:rPr lang="en-US" altLang="zh-CN" dirty="0"/>
              <a:t> </a:t>
            </a:r>
            <a:r>
              <a:rPr lang="zh-CN" altLang="en-US" dirty="0"/>
              <a:t>只依赖具体的 </a:t>
            </a:r>
            <a:r>
              <a:rPr lang="en-US" altLang="zh-CN" dirty="0"/>
              <a:t>Student</a:t>
            </a:r>
            <a:r>
              <a:rPr lang="zh-CN" altLang="en-US" dirty="0"/>
              <a:t>，与选了什么课程无关；</a:t>
            </a:r>
          </a:p>
          <a:p>
            <a:r>
              <a:rPr lang="en-US" altLang="zh-CN" dirty="0" err="1"/>
              <a:t>Course.Title</a:t>
            </a:r>
            <a:r>
              <a:rPr lang="en-US" altLang="zh-CN" dirty="0"/>
              <a:t> </a:t>
            </a:r>
            <a:r>
              <a:rPr lang="zh-CN" altLang="en-US" dirty="0"/>
              <a:t>只依赖具体的 </a:t>
            </a:r>
            <a:r>
              <a:rPr lang="en-US" altLang="zh-CN" dirty="0"/>
              <a:t>Course</a:t>
            </a:r>
            <a:r>
              <a:rPr lang="zh-CN" altLang="en-US" dirty="0"/>
              <a:t>，与哪个学生选它无关。</a:t>
            </a:r>
          </a:p>
          <a:p>
            <a:r>
              <a:rPr lang="zh-CN" altLang="en-US" dirty="0"/>
              <a:t>一个简单的判断方法是：</a:t>
            </a:r>
          </a:p>
          <a:p>
            <a:r>
              <a:rPr lang="zh-CN" altLang="en-US" dirty="0"/>
              <a:t>把其中一个实体固定，换另一个实体，这个属性值是否可能改变？</a:t>
            </a:r>
          </a:p>
          <a:p>
            <a:r>
              <a:rPr lang="zh-CN" altLang="en-US" dirty="0"/>
              <a:t>固定张三，换课程，</a:t>
            </a:r>
            <a:r>
              <a:rPr lang="en-US" altLang="zh-CN" dirty="0"/>
              <a:t>Grade </a:t>
            </a:r>
            <a:r>
              <a:rPr lang="zh-CN" altLang="en-US" dirty="0"/>
              <a:t>会变；</a:t>
            </a:r>
          </a:p>
          <a:p>
            <a:r>
              <a:rPr lang="zh-CN" altLang="en-US" dirty="0"/>
              <a:t>固定数据库课程，换学生，</a:t>
            </a:r>
            <a:r>
              <a:rPr lang="en-US" altLang="zh-CN" dirty="0"/>
              <a:t>Grade </a:t>
            </a:r>
            <a:r>
              <a:rPr lang="zh-CN" altLang="en-US" dirty="0"/>
              <a:t>也会变；</a:t>
            </a:r>
          </a:p>
          <a:p>
            <a:r>
              <a:rPr lang="zh-CN" altLang="en-US" dirty="0"/>
              <a:t>因此 </a:t>
            </a:r>
            <a:r>
              <a:rPr lang="en-US" altLang="zh-CN" dirty="0"/>
              <a:t>Grade </a:t>
            </a:r>
            <a:r>
              <a:rPr lang="zh-CN" altLang="en-US" dirty="0"/>
              <a:t>属于 </a:t>
            </a:r>
            <a:r>
              <a:rPr lang="en-US" altLang="zh-CN" dirty="0"/>
              <a:t>Student </a:t>
            </a:r>
            <a:r>
              <a:rPr lang="zh-CN" altLang="en-US" dirty="0"/>
              <a:t>和 </a:t>
            </a:r>
            <a:r>
              <a:rPr lang="en-US" altLang="zh-CN" dirty="0"/>
              <a:t>Course </a:t>
            </a:r>
            <a:r>
              <a:rPr lang="zh-CN" altLang="en-US" dirty="0"/>
              <a:t>之间的 </a:t>
            </a:r>
            <a:r>
              <a:rPr lang="en-US" altLang="zh-CN" dirty="0"/>
              <a:t>Takes </a:t>
            </a:r>
            <a:r>
              <a:rPr lang="zh-CN" altLang="en-US" dirty="0"/>
              <a:t>联系。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建议用时：2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讲解提示：说明</a:t>
            </a:r>
            <a:r>
              <a:rPr dirty="0"/>
              <a:t> Grade </a:t>
            </a:r>
            <a:r>
              <a:rPr dirty="0" err="1"/>
              <a:t>等联系属性应放在</a:t>
            </a:r>
            <a:r>
              <a:rPr dirty="0"/>
              <a:t> Takes </a:t>
            </a:r>
            <a:r>
              <a:rPr dirty="0" err="1"/>
              <a:t>上，而不是放在</a:t>
            </a:r>
            <a:r>
              <a:rPr dirty="0"/>
              <a:t> Student </a:t>
            </a:r>
            <a:r>
              <a:rPr dirty="0" err="1"/>
              <a:t>或</a:t>
            </a:r>
            <a:r>
              <a:rPr dirty="0"/>
              <a:t> Course </a:t>
            </a:r>
            <a:r>
              <a:rPr dirty="0" err="1"/>
              <a:t>上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35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联系的度数是参与联系的实体集数量。学生修读课程由 STUDENT 和 COURSE 两个实体集参与，所以是二元联系。</a:t>
            </a:r>
          </a:p>
          <a:p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t>二元联系最常见，也最容易表达和映射；涉及三个实体集的是三元联系，不能在不分析语义的情况下随意拆成三个二元联系。</a:t>
            </a:r>
          </a:p>
          <a:p>
            <a:endParaRPr/>
          </a:p>
          <a:p>
            <a:r>
              <a:t>建议用时：1 分钟。</a:t>
            </a:r>
          </a:p>
          <a:p>
            <a:endParaRPr/>
          </a:p>
          <a:p>
            <a:r>
              <a:t>讲解提示：定义联系的度数，并强调二元联系为什么最常见。</a:t>
            </a:r>
          </a:p>
          <a:p>
            <a:endParaRPr/>
          </a:p>
          <a:p>
            <a:r>
              <a:t>[Sources]</a:t>
            </a:r>
          </a:p>
          <a:p>
            <a:r>
              <a:t>- 用户提供的原始课件，第 36 页（保留内容并将讲稿改写为中文）。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递归联系是同一个实体集以不同角色参与联系。例如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EMPLOYEE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监督另一个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EMPLOYEE：前者扮演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supervisor，后者扮演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supervisee。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 err="1"/>
              <a:t>角色名能够消除歧义。即使两端都是</a:t>
            </a:r>
            <a:r>
              <a:rPr dirty="0"/>
              <a:t> </a:t>
            </a:r>
            <a:r>
              <a:rPr dirty="0" err="1"/>
              <a:t>EMPLOYEE，我们仍能看出哪一端是主管、哪一端是下属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建议用时：1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讲解提示：用主管与下属解释递归联系和角色名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37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属性可以看成实体到取值域的映射；如果把值域也视为实体集，这种映射就接近一种联系。因此某个事实究竟建模为属性还是联系，要看它是否需要独立身份、自己的属性或与其他实体进一步关联。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例如成绩取决于学生和课程，适合作为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Takes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的联系属性；供应价格取决于供应商和物品，也适合作为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Supply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的联系属性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讲解提示：讨论一个事实在什么情况下更适合建模为联系，而不是普通属性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38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建模时经常要在“实体集”和“属性”之间选择。员工电话号码可以只是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EMPLOYEE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的属性；如果一个号码可被多人共享、需要记录号码类型或本身还与设备关联，那么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PHONE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更适合成为实体集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姓名也可以是一个字符串属性，或拆成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first_name、middle_name、last_name。没有绝对唯一的答案，选择取决于应用是否需要独立查询、约束和描述这些部分。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 err="1"/>
              <a:t>讲解提示：讨论一个概念何时值得成为独立实体集，而不是继续作为属性</a:t>
            </a:r>
            <a:r>
              <a:rPr dirty="0"/>
              <a:t>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[Sources]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用户提供的原始课件，第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39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页（保留内容并将讲稿改写为中文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映射基数是一类重要的完整性约束，用来说明一个实体最多可以与另一侧多少个实体发生联系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对一表示两侧每个实体最多对应一个；一对多或多对一表示一侧可以对应多个而另一侧最多一个；多对多表示两侧都可以对应多个。例子：婚姻在特定制度下可近似一对一，部门与员工常是一对多，学生与课程通常是多对多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讲解提示：利用图示对比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1:1、1:N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M:N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三种基数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[Sources]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40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请为图书馆模型写出最小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最大基数。一本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BOOK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有多个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COPY，每个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必须属于一本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BOOK；一名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MEMBER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可以有零到五笔当前有效的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LOAN；每笔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必须关联一名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MEMBER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和一个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COPY；一个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历史上可以出现于多笔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LOAN，但同一时刻最多只有一笔有效借阅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  <a:endParaRPr lang="en-US"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最后一条故意比较难：请思考静态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图仅靠基数无法表达哪些“当前状态”或时间条件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建议用时：4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讲解提示：让学生写最小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最大对，并追问静态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图无法直接表达哪些时间性信息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答案可以写成：BOOK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一侧对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(1,N)，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每个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BOOK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(1,1)；MEMBER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对当前有效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(0,5)，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每笔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MEMBER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(1,1)；COPY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对历史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(0,N)，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每笔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LOAN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COPY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(1,1)。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同一副本最多有一笔当前有效借阅”是带时间状态的业务规则。它需要借助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return_date、条件唯一约束、触发器或应用逻辑等机制实现，单纯静态基数不能完整表达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</a:t>
            </a: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分钟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讲解提示：揭示答案，强调历史上的多次联系与当前有效状态规则之间的区别</a:t>
            </a:r>
            <a:r>
              <a:rPr sz="12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endParaRPr sz="12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用户提供的原始课件（用于视觉版式与核心术语</a:t>
            </a:r>
            <a:r>
              <a:rPr dirty="0"/>
              <a:t>）。</a:t>
            </a:r>
          </a:p>
          <a:p>
            <a:r>
              <a:rPr dirty="0"/>
              <a:t>- R. Elmasri </a:t>
            </a:r>
            <a:r>
              <a:rPr dirty="0" err="1"/>
              <a:t>与</a:t>
            </a:r>
            <a:r>
              <a:rPr dirty="0"/>
              <a:t> S. Navathe，《</a:t>
            </a:r>
            <a:r>
              <a:rPr dirty="0" err="1"/>
              <a:t>数据库系统基础</a:t>
            </a:r>
            <a:r>
              <a:rPr dirty="0"/>
              <a:t>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把</a:t>
            </a:r>
            <a:r>
              <a:rPr dirty="0"/>
              <a:t> ER </a:t>
            </a:r>
            <a:r>
              <a:rPr dirty="0" err="1"/>
              <a:t>图看作一种视觉语法：矩形是实体集，椭圆是属性，菱形是联系；线条表示参与，数字或最小</a:t>
            </a:r>
            <a:r>
              <a:rPr dirty="0"/>
              <a:t>—</a:t>
            </a:r>
            <a:r>
              <a:rPr dirty="0" err="1"/>
              <a:t>最大标记表示基数与参与约束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读图时先识别“</a:t>
            </a:r>
            <a:r>
              <a:rPr dirty="0" err="1"/>
              <a:t>对象</a:t>
            </a:r>
            <a:r>
              <a:rPr dirty="0"/>
              <a:t>”，再识别“</a:t>
            </a:r>
            <a:r>
              <a:rPr dirty="0" err="1"/>
              <a:t>关系</a:t>
            </a:r>
            <a:r>
              <a:rPr dirty="0"/>
              <a:t>”，</a:t>
            </a:r>
            <a:r>
              <a:rPr dirty="0" err="1"/>
              <a:t>最后检查键和约束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建议用时：1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讲解提示：把矩形、椭圆、菱形、连线和基数标记作为一套完整视觉语法来读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41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利用这张记号汇总做快速识别练习。教师随机指一个符号，请学生说出它表示实体、弱实体、联系、属性、多值属性、派生属性还是键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这一轮只要求识别，不展开新的定义，为后面的键与弱实体做好准备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建议用时：2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讲解提示：把符号汇总页作为快速识别检查，再进入约束和键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42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超键是一组能够唯一识别实体的属性，可能包含多余属性；候选键是最小超键，删除其中任何属性后都不能再唯一识别；主键是从候选键中选定的主要标识。</a:t>
            </a:r>
          </a:p>
          <a:p>
            <a:endParaRPr dirty="0"/>
          </a:p>
          <a:p>
            <a:r>
              <a:rPr dirty="0" err="1"/>
              <a:t>姓名通常不是候选键，因为可能重名且可能变化。请学生说明学号为什么通常更适合作为主键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建议用时：1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讲解提示：区分超键、候选键和主键，并追问姓名为什么通常不是候选键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43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再次巩固</a:t>
            </a:r>
            <a:r>
              <a:rPr dirty="0"/>
              <a:t> ER </a:t>
            </a:r>
            <a:r>
              <a:rPr dirty="0" err="1"/>
              <a:t>记号：实体集、联系、普通属性、键属性、弱实体和多值属性分别使用不同图形表示</a:t>
            </a:r>
            <a:r>
              <a:rPr dirty="0"/>
              <a:t>。</a:t>
            </a:r>
            <a:endParaRPr lang="en-US" dirty="0"/>
          </a:p>
          <a:p>
            <a:r>
              <a:rPr lang="zh-CN" altLang="en-US" dirty="0"/>
              <a:t>**弱实体（</a:t>
            </a:r>
            <a:r>
              <a:rPr lang="en-US" altLang="zh-CN" dirty="0"/>
              <a:t>Weak Entity</a:t>
            </a:r>
            <a:r>
              <a:rPr lang="zh-CN" altLang="en-US" dirty="0"/>
              <a:t>）**是指：</a:t>
            </a:r>
            <a:r>
              <a:rPr lang="zh-CN" altLang="en-US" b="1" dirty="0"/>
              <a:t>仅靠自己的属性不能被唯一识别，必须借助另一个“所有者实体”的主键才能确定身份的实体。</a:t>
            </a:r>
            <a:endParaRPr dirty="0"/>
          </a:p>
          <a:p>
            <a:endParaRPr dirty="0"/>
          </a:p>
          <a:p>
            <a:r>
              <a:rPr dirty="0" err="1"/>
              <a:t>读图时不要只认形状，还要说出语义：谁被唯一识别、谁依赖谁存在、某个属性能否有多个值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建议用时：1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讲解提示：复习实体、联系、属性、键、弱实体和多值属性的表示方法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44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弱实体没有足够的自身属性形成完整主键，必须依赖一个拥有者实体和识别联系才能被唯一识别。例如账户交易记录可能需要“账户号＋交易序号”共同识别。</a:t>
            </a:r>
          </a:p>
          <a:p>
            <a:endParaRPr dirty="0"/>
          </a:p>
          <a:p>
            <a:r>
              <a:rPr dirty="0"/>
              <a:t>识别联系通常用双菱形，弱实体用双矩形；在递归联系中还要用角色名区分同一实体集的不同参与方式。请结合图中的账户和员工例子说明这些符号。</a:t>
            </a:r>
          </a:p>
          <a:p>
            <a:endParaRPr dirty="0"/>
          </a:p>
          <a:p>
            <a:r>
              <a:rPr dirty="0"/>
              <a:t>建议用时：2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讲解提示：用账户和员工例子解释弱实体、识别联系及角色标记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用户提供的原始课件，第</a:t>
            </a:r>
            <a:r>
              <a:rPr dirty="0"/>
              <a:t> 45 </a:t>
            </a:r>
            <a:r>
              <a:rPr dirty="0" err="1"/>
              <a:t>页（保留内容并将讲稿改写为中文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沿着银行</a:t>
            </a:r>
            <a:r>
              <a:rPr dirty="0"/>
              <a:t> ER </a:t>
            </a:r>
            <a:r>
              <a:rPr dirty="0" err="1"/>
              <a:t>图阅读：BANK</a:t>
            </a:r>
            <a:r>
              <a:rPr dirty="0"/>
              <a:t> </a:t>
            </a:r>
            <a:r>
              <a:rPr dirty="0" err="1"/>
              <a:t>包含</a:t>
            </a:r>
            <a:r>
              <a:rPr dirty="0"/>
              <a:t> </a:t>
            </a:r>
            <a:r>
              <a:rPr dirty="0" err="1"/>
              <a:t>BRANCH，分行管理</a:t>
            </a:r>
            <a:r>
              <a:rPr dirty="0"/>
              <a:t> ACCOUNT </a:t>
            </a:r>
            <a:r>
              <a:rPr dirty="0" err="1"/>
              <a:t>和</a:t>
            </a:r>
            <a:r>
              <a:rPr dirty="0"/>
              <a:t> LOAN，CUSTOMER </a:t>
            </a:r>
            <a:r>
              <a:rPr dirty="0" err="1"/>
              <a:t>与账户或贷款发生联系。先找出每个实体的键，再顺着联系判断一对一、一对多或多对多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不要逐个解释所有图形，重点追踪一条业务路径，例如“某客户在哪个分行拥有哪个账户</a:t>
            </a:r>
            <a:r>
              <a:rPr dirty="0"/>
              <a:t>”。</a:t>
            </a:r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r>
              <a:rPr lang="en-US" altLang="zh-CN" b="1" dirty="0"/>
              <a:t>1. </a:t>
            </a:r>
            <a:r>
              <a:rPr lang="zh-CN" altLang="en-US" b="1" dirty="0"/>
              <a:t>先说明整张图表示什么</a:t>
            </a:r>
          </a:p>
          <a:p>
            <a:r>
              <a:rPr lang="zh-CN" altLang="en-US" dirty="0"/>
              <a:t>可以这样开场：</a:t>
            </a:r>
          </a:p>
          <a:p>
            <a:r>
              <a:rPr lang="zh-CN" altLang="en-US" dirty="0"/>
              <a:t>这张 </a:t>
            </a:r>
            <a:r>
              <a:rPr lang="en-US" altLang="zh-CN" dirty="0"/>
              <a:t>ER </a:t>
            </a:r>
            <a:r>
              <a:rPr lang="zh-CN" altLang="en-US" dirty="0"/>
              <a:t>图描述一个银行系统的数据结构。系统需要记录银行、银行分行、账户、贷款和客户，同时记录一家银行拥有哪些分行、分行管理哪些账户和贷款、客户拥有哪些账户，以及客户承担哪些贷款。</a:t>
            </a:r>
          </a:p>
          <a:p>
            <a:r>
              <a:rPr lang="zh-CN" altLang="en-US" dirty="0"/>
              <a:t>图中有五个实体：</a:t>
            </a:r>
          </a:p>
          <a:p>
            <a:r>
              <a:rPr lang="en-US" altLang="zh-CN" dirty="0"/>
              <a:t>BANK</a:t>
            </a:r>
            <a:r>
              <a:rPr lang="zh-CN" altLang="en-US" dirty="0"/>
              <a:t>：银行</a:t>
            </a:r>
          </a:p>
          <a:p>
            <a:r>
              <a:rPr lang="en-US" altLang="zh-CN" dirty="0"/>
              <a:t>BANK_BRANCH</a:t>
            </a:r>
            <a:r>
              <a:rPr lang="zh-CN" altLang="en-US" dirty="0"/>
              <a:t>：银行分行</a:t>
            </a:r>
          </a:p>
          <a:p>
            <a:r>
              <a:rPr lang="en-US" altLang="zh-CN" dirty="0"/>
              <a:t>ACCOUNT</a:t>
            </a:r>
            <a:r>
              <a:rPr lang="zh-CN" altLang="en-US" dirty="0"/>
              <a:t>：账户</a:t>
            </a:r>
          </a:p>
          <a:p>
            <a:r>
              <a:rPr lang="en-US" altLang="zh-CN" dirty="0"/>
              <a:t>LOAN</a:t>
            </a:r>
            <a:r>
              <a:rPr lang="zh-CN" altLang="en-US" dirty="0"/>
              <a:t>：贷款</a:t>
            </a:r>
          </a:p>
          <a:p>
            <a:r>
              <a:rPr lang="en-US" altLang="zh-CN" dirty="0"/>
              <a:t>CUSTOMER</a:t>
            </a:r>
            <a:r>
              <a:rPr lang="zh-CN" altLang="en-US" dirty="0"/>
              <a:t>：客户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五个联系是：</a:t>
            </a:r>
          </a:p>
          <a:p>
            <a:r>
              <a:rPr lang="en-US" altLang="zh-CN" dirty="0"/>
              <a:t>BRANCHES</a:t>
            </a:r>
            <a:r>
              <a:rPr lang="zh-CN" altLang="en-US" dirty="0"/>
              <a:t>：银行与分行</a:t>
            </a:r>
          </a:p>
          <a:p>
            <a:r>
              <a:rPr lang="en-US" altLang="zh-CN" dirty="0"/>
              <a:t>ACCTS</a:t>
            </a:r>
            <a:r>
              <a:rPr lang="zh-CN" altLang="en-US" dirty="0"/>
              <a:t>：分行与账户</a:t>
            </a:r>
          </a:p>
          <a:p>
            <a:r>
              <a:rPr lang="en-US" altLang="zh-CN" dirty="0"/>
              <a:t>LOANS</a:t>
            </a:r>
            <a:r>
              <a:rPr lang="zh-CN" altLang="en-US" dirty="0"/>
              <a:t>：分行与贷款</a:t>
            </a:r>
          </a:p>
          <a:p>
            <a:r>
              <a:rPr lang="en-US" altLang="zh-CN" dirty="0"/>
              <a:t>A_C</a:t>
            </a:r>
            <a:r>
              <a:rPr lang="zh-CN" altLang="en-US" dirty="0"/>
              <a:t>：账户与客户</a:t>
            </a:r>
          </a:p>
          <a:p>
            <a:r>
              <a:rPr lang="en-US" altLang="zh-CN" dirty="0"/>
              <a:t>L_C</a:t>
            </a:r>
            <a:r>
              <a:rPr lang="zh-CN" altLang="en-US" dirty="0"/>
              <a:t>：贷款与客户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先带学生认符号</a:t>
            </a:r>
          </a:p>
          <a:p>
            <a:r>
              <a:rPr lang="zh-CN" altLang="en-US" dirty="0"/>
              <a:t>矩形：普通实体，例如 </a:t>
            </a:r>
            <a:r>
              <a:rPr lang="en-US" altLang="zh-CN" dirty="0"/>
              <a:t>BANK</a:t>
            </a:r>
          </a:p>
          <a:p>
            <a:r>
              <a:rPr lang="zh-CN" altLang="en-US" dirty="0"/>
              <a:t>双矩形：弱实体，例如 </a:t>
            </a:r>
            <a:r>
              <a:rPr lang="en-US" altLang="zh-CN" dirty="0"/>
              <a:t>BANK_BRANCH</a:t>
            </a:r>
          </a:p>
          <a:p>
            <a:r>
              <a:rPr lang="zh-CN" altLang="en-US" dirty="0"/>
              <a:t>菱形：普通联系，例如 </a:t>
            </a:r>
            <a:r>
              <a:rPr lang="en-US" altLang="zh-CN" dirty="0"/>
              <a:t>ACCTS</a:t>
            </a:r>
          </a:p>
          <a:p>
            <a:r>
              <a:rPr lang="zh-CN" altLang="en-US" dirty="0"/>
              <a:t>双菱形：识别弱实体的联系，例如 </a:t>
            </a:r>
            <a:r>
              <a:rPr lang="en-US" altLang="zh-CN" dirty="0"/>
              <a:t>BRANCHES</a:t>
            </a:r>
          </a:p>
          <a:p>
            <a:r>
              <a:rPr lang="zh-CN" altLang="en-US" dirty="0"/>
              <a:t>椭圆：属性，例如 </a:t>
            </a:r>
            <a:r>
              <a:rPr lang="en-US" altLang="zh-CN" dirty="0"/>
              <a:t>Balance</a:t>
            </a:r>
          </a:p>
          <a:p>
            <a:r>
              <a:rPr lang="zh-CN" altLang="en-US" dirty="0"/>
              <a:t>实线下划线：完整键属性</a:t>
            </a:r>
          </a:p>
          <a:p>
            <a:r>
              <a:rPr lang="zh-CN" altLang="en-US" dirty="0"/>
              <a:t>虚线下划线：弱实体的部分键</a:t>
            </a:r>
          </a:p>
          <a:p>
            <a:r>
              <a:rPr lang="zh-CN" altLang="en-US" dirty="0"/>
              <a:t>单线：部分参与，可以不参加联系</a:t>
            </a:r>
          </a:p>
          <a:p>
            <a:r>
              <a:rPr lang="zh-CN" altLang="en-US" dirty="0"/>
              <a:t>双线：完全参与，必须参加联系</a:t>
            </a:r>
          </a:p>
          <a:p>
            <a:r>
              <a:rPr lang="zh-CN" altLang="en-US" dirty="0"/>
              <a:t>图中的完整键包括：</a:t>
            </a:r>
          </a:p>
          <a:p>
            <a:r>
              <a:rPr lang="en-US" altLang="zh-CN" dirty="0" err="1"/>
              <a:t>BANK.Code</a:t>
            </a:r>
            <a:r>
              <a:rPr lang="en-US" altLang="zh-CN" dirty="0"/>
              <a:t> </a:t>
            </a:r>
            <a:r>
              <a:rPr lang="en-US" altLang="zh-CN" dirty="0" err="1"/>
              <a:t>ACCOUNT.Acct_no</a:t>
            </a:r>
            <a:r>
              <a:rPr lang="en-US" altLang="zh-CN" dirty="0"/>
              <a:t> </a:t>
            </a:r>
            <a:r>
              <a:rPr lang="en-US" altLang="zh-CN" dirty="0" err="1"/>
              <a:t>LOAN.Loan_no</a:t>
            </a:r>
            <a:r>
              <a:rPr lang="en-US" altLang="zh-CN" dirty="0"/>
              <a:t> </a:t>
            </a:r>
            <a:r>
              <a:rPr lang="en-US" altLang="zh-CN" dirty="0" err="1"/>
              <a:t>CUSTOMER.SsnBANK_BRANCH.Branch_no</a:t>
            </a:r>
            <a:r>
              <a:rPr lang="en-US" altLang="zh-CN" dirty="0"/>
              <a:t> </a:t>
            </a:r>
            <a:r>
              <a:rPr lang="zh-CN" altLang="en-US" dirty="0"/>
              <a:t>是虚线下划线，表示它只是部分键，不能单独唯一识别一个分行。</a:t>
            </a:r>
          </a:p>
          <a:p>
            <a:r>
              <a:rPr lang="en-US" altLang="zh-CN" b="1" dirty="0"/>
              <a:t>3. </a:t>
            </a:r>
            <a:r>
              <a:rPr lang="zh-CN" altLang="en-US" b="1" dirty="0"/>
              <a:t>解释 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N</a:t>
            </a:r>
            <a:r>
              <a:rPr lang="zh-CN" altLang="en-US" b="1" dirty="0"/>
              <a:t>、</a:t>
            </a:r>
            <a:r>
              <a:rPr lang="en-US" altLang="zh-CN" b="1" dirty="0"/>
              <a:t>M </a:t>
            </a:r>
            <a:r>
              <a:rPr lang="zh-CN" altLang="en-US" b="1" dirty="0"/>
              <a:t>和单双线</a:t>
            </a:r>
          </a:p>
          <a:p>
            <a:r>
              <a:rPr lang="zh-CN" altLang="en-US" dirty="0"/>
              <a:t>这张图没有直接写 </a:t>
            </a:r>
            <a:r>
              <a:rPr lang="en-US" altLang="zh-CN" dirty="0"/>
              <a:t>(</a:t>
            </a:r>
            <a:r>
              <a:rPr lang="en-US" altLang="zh-CN" dirty="0" err="1"/>
              <a:t>min,max</a:t>
            </a:r>
            <a:r>
              <a:rPr lang="en-US" altLang="zh-CN" dirty="0"/>
              <a:t>)</a:t>
            </a:r>
            <a:r>
              <a:rPr lang="zh-CN" altLang="en-US" dirty="0"/>
              <a:t>，而是通过两类符号共同表达约束：</a:t>
            </a:r>
          </a:p>
          <a:p>
            <a:r>
              <a:rPr lang="en-US" altLang="zh-CN" dirty="0"/>
              <a:t>1:N</a:t>
            </a:r>
            <a:r>
              <a:rPr lang="zh-CN" altLang="en-US" dirty="0"/>
              <a:t>、</a:t>
            </a:r>
            <a:r>
              <a:rPr lang="en-US" altLang="zh-CN" dirty="0"/>
              <a:t>M:N</a:t>
            </a:r>
            <a:r>
              <a:rPr lang="zh-CN" altLang="en-US" dirty="0"/>
              <a:t>：说明最大基数；</a:t>
            </a:r>
          </a:p>
          <a:p>
            <a:r>
              <a:rPr lang="zh-CN" altLang="en-US" dirty="0"/>
              <a:t>单线、双线：说明最小基数。</a:t>
            </a:r>
          </a:p>
          <a:p>
            <a:r>
              <a:rPr lang="zh-CN" altLang="en-US" dirty="0"/>
              <a:t>其中：</a:t>
            </a:r>
          </a:p>
          <a:p>
            <a:r>
              <a:rPr lang="zh-CN" altLang="en-US" dirty="0"/>
              <a:t>单线：最小值为 </a:t>
            </a:r>
            <a:r>
              <a:rPr lang="en-US" altLang="zh-CN" dirty="0"/>
              <a:t>0 </a:t>
            </a:r>
          </a:p>
          <a:p>
            <a:r>
              <a:rPr lang="zh-CN" altLang="en-US" dirty="0"/>
              <a:t>双线：最小值为 </a:t>
            </a:r>
            <a:r>
              <a:rPr lang="en-US" altLang="zh-CN" dirty="0"/>
              <a:t>1 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：最大值为 </a:t>
            </a:r>
            <a:r>
              <a:rPr lang="en-US" altLang="zh-CN" dirty="0"/>
              <a:t>1 </a:t>
            </a:r>
          </a:p>
          <a:p>
            <a:r>
              <a:rPr lang="en-US" altLang="zh-CN" dirty="0"/>
              <a:t>N </a:t>
            </a:r>
            <a:r>
              <a:rPr lang="zh-CN" altLang="en-US" dirty="0"/>
              <a:t>或 </a:t>
            </a:r>
            <a:r>
              <a:rPr lang="en-US" altLang="zh-CN" dirty="0"/>
              <a:t>M</a:t>
            </a:r>
            <a:r>
              <a:rPr lang="zh-CN" altLang="en-US" dirty="0"/>
              <a:t>：最大值为多个</a:t>
            </a:r>
            <a:endParaRPr lang="en-US" altLang="zh-CN" dirty="0"/>
          </a:p>
          <a:p>
            <a:r>
              <a:rPr lang="zh-CN" altLang="en-US" dirty="0"/>
              <a:t>需要特别注意：</a:t>
            </a:r>
          </a:p>
          <a:p>
            <a:r>
              <a:rPr lang="en-US" altLang="zh-CN" dirty="0"/>
              <a:t>BANK 1 ─── N BANK_BRANCH</a:t>
            </a:r>
            <a:r>
              <a:rPr lang="zh-CN" altLang="en-US" dirty="0"/>
              <a:t>应该整体读成：</a:t>
            </a:r>
          </a:p>
          <a:p>
            <a:r>
              <a:rPr lang="zh-CN" altLang="en-US" dirty="0"/>
              <a:t>一家银行可以有多个分行，每个分行只属于一家银行。</a:t>
            </a:r>
          </a:p>
          <a:p>
            <a:r>
              <a:rPr lang="zh-CN" altLang="en-US" dirty="0"/>
              <a:t>把整张图转换成 </a:t>
            </a:r>
            <a:r>
              <a:rPr lang="en-US" altLang="zh-CN" dirty="0"/>
              <a:t>(</a:t>
            </a:r>
            <a:r>
              <a:rPr lang="en-US" altLang="zh-CN" dirty="0" err="1"/>
              <a:t>min,max</a:t>
            </a:r>
            <a:r>
              <a:rPr lang="en-US" altLang="zh-CN" dirty="0"/>
              <a:t>)</a:t>
            </a:r>
            <a:r>
              <a:rPr lang="zh-CN" altLang="en-US" dirty="0"/>
              <a:t>，结果是：</a:t>
            </a:r>
          </a:p>
          <a:p>
            <a:r>
              <a:rPr lang="en-US" altLang="zh-CN" dirty="0"/>
              <a:t>BRANCHES</a:t>
            </a:r>
            <a:r>
              <a:rPr lang="zh-CN" altLang="en-US" dirty="0"/>
              <a:t>： </a:t>
            </a:r>
            <a:r>
              <a:rPr lang="en-US" altLang="zh-CN" dirty="0"/>
              <a:t>BANK (1,N) ─── (1,1) BANK_BRANCH </a:t>
            </a:r>
          </a:p>
          <a:p>
            <a:r>
              <a:rPr lang="en-US" altLang="zh-CN" dirty="0"/>
              <a:t>ACCTS</a:t>
            </a:r>
            <a:r>
              <a:rPr lang="zh-CN" altLang="en-US" dirty="0"/>
              <a:t>： </a:t>
            </a:r>
            <a:r>
              <a:rPr lang="en-US" altLang="zh-CN" dirty="0"/>
              <a:t>BANK_BRANCH (0,N) ─── (1,1) ACCOUNT </a:t>
            </a:r>
          </a:p>
          <a:p>
            <a:r>
              <a:rPr lang="en-US" altLang="zh-CN" dirty="0"/>
              <a:t>LOANS</a:t>
            </a:r>
            <a:r>
              <a:rPr lang="zh-CN" altLang="en-US" dirty="0"/>
              <a:t>： </a:t>
            </a:r>
            <a:r>
              <a:rPr lang="en-US" altLang="zh-CN" dirty="0"/>
              <a:t>BANK_BRANCH (0,N) ─── (1,1) LOAN </a:t>
            </a:r>
          </a:p>
          <a:p>
            <a:r>
              <a:rPr lang="en-US" altLang="zh-CN" dirty="0"/>
              <a:t>A_C</a:t>
            </a:r>
            <a:r>
              <a:rPr lang="zh-CN" altLang="en-US" dirty="0"/>
              <a:t>： </a:t>
            </a:r>
            <a:r>
              <a:rPr lang="en-US" altLang="zh-CN" dirty="0"/>
              <a:t>ACCOUNT (1,N) ─── (0,N) CUSTOMER </a:t>
            </a:r>
          </a:p>
          <a:p>
            <a:r>
              <a:rPr lang="en-US" altLang="zh-CN" dirty="0"/>
              <a:t>L_C</a:t>
            </a:r>
            <a:r>
              <a:rPr lang="zh-CN" altLang="en-US" dirty="0"/>
              <a:t>： </a:t>
            </a:r>
            <a:r>
              <a:rPr lang="en-US" altLang="zh-CN" dirty="0"/>
              <a:t>LOAN (1,N) ─── (0,N) CUSTOMER</a:t>
            </a:r>
          </a:p>
          <a:p>
            <a:endParaRPr lang="en-US" altLang="zh-CN" b="1" dirty="0"/>
          </a:p>
          <a:p>
            <a:r>
              <a:rPr lang="en-US" altLang="zh-CN" b="1" dirty="0"/>
              <a:t>4. </a:t>
            </a:r>
            <a:r>
              <a:rPr lang="zh-CN" altLang="en-US" b="1" dirty="0"/>
              <a:t>逐条讲解关系</a:t>
            </a:r>
          </a:p>
          <a:p>
            <a:r>
              <a:rPr lang="en-US" altLang="zh-CN" b="1" dirty="0"/>
              <a:t>BRANCHES</a:t>
            </a:r>
            <a:r>
              <a:rPr lang="zh-CN" altLang="en-US" b="1" dirty="0"/>
              <a:t>：银行拥有分行</a:t>
            </a:r>
          </a:p>
          <a:p>
            <a:r>
              <a:rPr lang="zh-CN" altLang="en-US" dirty="0"/>
              <a:t>原图表示：</a:t>
            </a:r>
          </a:p>
          <a:p>
            <a:r>
              <a:rPr lang="en-US" altLang="zh-CN" dirty="0"/>
              <a:t>BANK 1 ─── N BANK_BRANCH</a:t>
            </a:r>
            <a:r>
              <a:rPr lang="zh-CN" altLang="en-US" dirty="0"/>
              <a:t>转换成最小</a:t>
            </a:r>
            <a:r>
              <a:rPr lang="en-US" altLang="zh-CN" dirty="0"/>
              <a:t>—</a:t>
            </a:r>
            <a:r>
              <a:rPr lang="zh-CN" altLang="en-US" dirty="0"/>
              <a:t>最大约束：</a:t>
            </a:r>
          </a:p>
          <a:p>
            <a:r>
              <a:rPr lang="en-US" altLang="zh-CN" dirty="0"/>
              <a:t>BANK (1,N) ── BRANCHES ── (1,1) BANK_BRANCH</a:t>
            </a:r>
            <a:r>
              <a:rPr lang="zh-CN" altLang="en-US" dirty="0"/>
              <a:t>含义是：</a:t>
            </a:r>
          </a:p>
          <a:p>
            <a:r>
              <a:rPr lang="zh-CN" altLang="en-US" dirty="0"/>
              <a:t>每家银行必须至少有一个分行，也可以有多个分行；</a:t>
            </a:r>
          </a:p>
          <a:p>
            <a:r>
              <a:rPr lang="zh-CN" altLang="en-US" dirty="0"/>
              <a:t>每个分行必须属于一家银行，而且只能属于一家银行。</a:t>
            </a:r>
          </a:p>
          <a:p>
            <a:r>
              <a:rPr lang="zh-CN" altLang="en-US" dirty="0"/>
              <a:t>例如：</a:t>
            </a:r>
          </a:p>
          <a:p>
            <a:r>
              <a:rPr lang="en-US" altLang="zh-CN" dirty="0"/>
              <a:t>Bank A → Branch 001 Bank A → Branch 002 Bank B → Branch 001BANK </a:t>
            </a:r>
            <a:r>
              <a:rPr lang="zh-CN" altLang="en-US" dirty="0"/>
              <a:t>和 </a:t>
            </a:r>
            <a:r>
              <a:rPr lang="en-US" altLang="zh-CN" dirty="0"/>
              <a:t>BANK_BRANCH </a:t>
            </a:r>
            <a:r>
              <a:rPr lang="zh-CN" altLang="en-US" dirty="0"/>
              <a:t>两侧都是双线，因此：</a:t>
            </a:r>
          </a:p>
          <a:p>
            <a:r>
              <a:rPr lang="zh-CN" altLang="en-US" dirty="0"/>
              <a:t>不允许存在没有分行的银行；</a:t>
            </a:r>
          </a:p>
          <a:p>
            <a:r>
              <a:rPr lang="zh-CN" altLang="en-US" dirty="0"/>
              <a:t>不允许存在不属于任何银行的分行。</a:t>
            </a:r>
          </a:p>
          <a:p>
            <a:r>
              <a:rPr lang="zh-CN" altLang="en-US" dirty="0"/>
              <a:t>但是不同银行可以使用相同的分行号。例如 </a:t>
            </a:r>
            <a:r>
              <a:rPr lang="en-US" altLang="zh-CN" dirty="0"/>
              <a:t>Bank A </a:t>
            </a:r>
            <a:r>
              <a:rPr lang="zh-CN" altLang="en-US" dirty="0"/>
              <a:t>和 </a:t>
            </a:r>
            <a:r>
              <a:rPr lang="en-US" altLang="zh-CN" dirty="0"/>
              <a:t>Bank B </a:t>
            </a:r>
            <a:r>
              <a:rPr lang="zh-CN" altLang="en-US" dirty="0"/>
              <a:t>都可以有 </a:t>
            </a:r>
            <a:r>
              <a:rPr lang="en-US" altLang="zh-CN" dirty="0"/>
              <a:t>Branch 001</a:t>
            </a:r>
            <a:r>
              <a:rPr lang="zh-CN" altLang="en-US" dirty="0"/>
              <a:t>。</a:t>
            </a:r>
          </a:p>
          <a:p>
            <a:r>
              <a:rPr lang="en-US" altLang="zh-CN" b="1" dirty="0"/>
              <a:t>ACCTS</a:t>
            </a:r>
            <a:r>
              <a:rPr lang="zh-CN" altLang="en-US" b="1" dirty="0"/>
              <a:t>：分行管理账户</a:t>
            </a:r>
          </a:p>
          <a:p>
            <a:r>
              <a:rPr lang="zh-CN" altLang="en-US" dirty="0"/>
              <a:t>原图表示：</a:t>
            </a:r>
          </a:p>
          <a:p>
            <a:r>
              <a:rPr lang="en-US" altLang="zh-CN" dirty="0"/>
              <a:t>BANK_BRANCH 1 ─── N ACCOUNT</a:t>
            </a:r>
            <a:r>
              <a:rPr lang="zh-CN" altLang="en-US" dirty="0"/>
              <a:t>转换成最小</a:t>
            </a:r>
            <a:r>
              <a:rPr lang="en-US" altLang="zh-CN" dirty="0"/>
              <a:t>—</a:t>
            </a:r>
            <a:r>
              <a:rPr lang="zh-CN" altLang="en-US" dirty="0"/>
              <a:t>最大约束：</a:t>
            </a:r>
          </a:p>
          <a:p>
            <a:r>
              <a:rPr lang="en-US" altLang="zh-CN" dirty="0"/>
              <a:t>BANK_BRANCH (0,N) ── ACCTS ── (1,1) ACCOUNT</a:t>
            </a:r>
            <a:r>
              <a:rPr lang="zh-CN" altLang="en-US" dirty="0"/>
              <a:t>含义是：</a:t>
            </a:r>
          </a:p>
          <a:p>
            <a:r>
              <a:rPr lang="zh-CN" altLang="en-US" dirty="0"/>
              <a:t>一个分行可以暂时没有账户，也可以管理多个账户；</a:t>
            </a:r>
          </a:p>
          <a:p>
            <a:r>
              <a:rPr lang="zh-CN" altLang="en-US" dirty="0"/>
              <a:t>每个账户必须属于一个分行，而且只能属于一个分行。</a:t>
            </a:r>
          </a:p>
          <a:p>
            <a:r>
              <a:rPr lang="zh-CN" altLang="en-US" dirty="0"/>
              <a:t>例如：</a:t>
            </a:r>
          </a:p>
          <a:p>
            <a:r>
              <a:rPr lang="en-US" altLang="zh-CN" dirty="0"/>
              <a:t>Branch 001 → Account A100 Branch 001 → Account A200</a:t>
            </a:r>
            <a:r>
              <a:rPr lang="zh-CN" altLang="en-US" dirty="0"/>
              <a:t>但是：</a:t>
            </a:r>
          </a:p>
          <a:p>
            <a:r>
              <a:rPr lang="en-US" altLang="zh-CN" dirty="0"/>
              <a:t>Account A100</a:t>
            </a:r>
            <a:r>
              <a:rPr lang="zh-CN" altLang="en-US" dirty="0"/>
              <a:t>不能同时属于 </a:t>
            </a:r>
            <a:r>
              <a:rPr lang="en-US" altLang="zh-CN" dirty="0"/>
              <a:t>Branch 001 </a:t>
            </a:r>
            <a:r>
              <a:rPr lang="zh-CN" altLang="en-US" dirty="0"/>
              <a:t>和 </a:t>
            </a:r>
            <a:r>
              <a:rPr lang="en-US" altLang="zh-CN" dirty="0"/>
              <a:t>Branch 002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ACCOUNT </a:t>
            </a:r>
            <a:r>
              <a:rPr lang="zh-CN" altLang="en-US" dirty="0"/>
              <a:t>一侧是双线，所以账户不能脱离分行存在。</a:t>
            </a:r>
            <a:r>
              <a:rPr lang="en-US" altLang="zh-CN" dirty="0"/>
              <a:t>BANK_BRANCH </a:t>
            </a:r>
            <a:r>
              <a:rPr lang="zh-CN" altLang="en-US" dirty="0"/>
              <a:t>一侧是单线，所以分行暂时没有账户是允许的。</a:t>
            </a:r>
          </a:p>
          <a:p>
            <a:r>
              <a:rPr lang="en-US" altLang="zh-CN" b="1" dirty="0"/>
              <a:t>LOANS</a:t>
            </a:r>
            <a:r>
              <a:rPr lang="zh-CN" altLang="en-US" b="1" dirty="0"/>
              <a:t>：分行负责贷款</a:t>
            </a:r>
          </a:p>
          <a:p>
            <a:r>
              <a:rPr lang="zh-CN" altLang="en-US" dirty="0"/>
              <a:t>原图表示：</a:t>
            </a:r>
          </a:p>
          <a:p>
            <a:r>
              <a:rPr lang="en-US" altLang="zh-CN" dirty="0"/>
              <a:t>BANK_BRANCH 1 ─── N LOAN</a:t>
            </a:r>
            <a:r>
              <a:rPr lang="zh-CN" altLang="en-US" dirty="0"/>
              <a:t>转换成最小</a:t>
            </a:r>
            <a:r>
              <a:rPr lang="en-US" altLang="zh-CN" dirty="0"/>
              <a:t>—</a:t>
            </a:r>
            <a:r>
              <a:rPr lang="zh-CN" altLang="en-US" dirty="0"/>
              <a:t>最大约束：</a:t>
            </a:r>
          </a:p>
          <a:p>
            <a:r>
              <a:rPr lang="en-US" altLang="zh-CN" dirty="0"/>
              <a:t>BANK_BRANCH (0,N) ── LOANS ── (1,1) LOAN</a:t>
            </a:r>
            <a:r>
              <a:rPr lang="zh-CN" altLang="en-US" dirty="0"/>
              <a:t>含义是：</a:t>
            </a:r>
          </a:p>
          <a:p>
            <a:r>
              <a:rPr lang="zh-CN" altLang="en-US" dirty="0"/>
              <a:t>一个分行可以暂时没有贷款，也可以负责多笔贷款；</a:t>
            </a:r>
          </a:p>
          <a:p>
            <a:r>
              <a:rPr lang="zh-CN" altLang="en-US" dirty="0"/>
              <a:t>每笔贷款必须由一个分行负责，而且只能由一个分行负责。</a:t>
            </a:r>
          </a:p>
          <a:p>
            <a:r>
              <a:rPr lang="zh-CN" altLang="en-US" dirty="0"/>
              <a:t>例如：</a:t>
            </a:r>
          </a:p>
          <a:p>
            <a:r>
              <a:rPr lang="en-US" altLang="zh-CN" dirty="0"/>
              <a:t>Branch 001 → Loan L01 Branch 001 → Loan L02</a:t>
            </a:r>
            <a:r>
              <a:rPr lang="zh-CN" altLang="en-US" dirty="0"/>
              <a:t>但一笔贷款不能同时归属于两个分行。</a:t>
            </a:r>
          </a:p>
          <a:p>
            <a:r>
              <a:rPr lang="en-US" altLang="zh-CN" dirty="0"/>
              <a:t>LOAN </a:t>
            </a:r>
            <a:r>
              <a:rPr lang="zh-CN" altLang="en-US" dirty="0"/>
              <a:t>一侧是双线，因此不允许存在没有负责分行的贷款。</a:t>
            </a:r>
          </a:p>
          <a:p>
            <a:r>
              <a:rPr lang="en-US" altLang="zh-CN" b="1" dirty="0"/>
              <a:t>A_C</a:t>
            </a:r>
            <a:r>
              <a:rPr lang="zh-CN" altLang="en-US" b="1" dirty="0"/>
              <a:t>：客户拥有账户</a:t>
            </a:r>
          </a:p>
          <a:p>
            <a:r>
              <a:rPr lang="en-US" altLang="zh-CN" dirty="0"/>
              <a:t>ACCOUNT M ─── N CUSTOMER</a:t>
            </a:r>
            <a:r>
              <a:rPr lang="zh-CN" altLang="en-US" dirty="0"/>
              <a:t>转换成最小</a:t>
            </a:r>
            <a:r>
              <a:rPr lang="en-US" altLang="zh-CN" dirty="0"/>
              <a:t>—</a:t>
            </a:r>
            <a:r>
              <a:rPr lang="zh-CN" altLang="en-US" dirty="0"/>
              <a:t>最大约束：</a:t>
            </a:r>
          </a:p>
          <a:p>
            <a:r>
              <a:rPr lang="en-US" altLang="zh-CN" dirty="0"/>
              <a:t>ACCOUNT (1,N) ── A_C ── (0,N) CUSTOMER</a:t>
            </a:r>
            <a:r>
              <a:rPr lang="zh-CN" altLang="en-US" dirty="0"/>
              <a:t>含义是：</a:t>
            </a:r>
          </a:p>
          <a:p>
            <a:r>
              <a:rPr lang="zh-CN" altLang="en-US" dirty="0"/>
              <a:t>一个账户必须至少有一名客户，也可以由多名客户共同持有；</a:t>
            </a:r>
          </a:p>
          <a:p>
            <a:r>
              <a:rPr lang="zh-CN" altLang="en-US" dirty="0"/>
              <a:t>一名客户可以没有账户，也可以拥有多个账户。</a:t>
            </a:r>
          </a:p>
          <a:p>
            <a:r>
              <a:rPr lang="zh-CN" altLang="en-US" dirty="0"/>
              <a:t>例如：</a:t>
            </a:r>
          </a:p>
          <a:p>
            <a:r>
              <a:rPr lang="zh-CN" altLang="en-US" dirty="0"/>
              <a:t>张三 → </a:t>
            </a:r>
            <a:r>
              <a:rPr lang="en-US" altLang="zh-CN" dirty="0"/>
              <a:t>Account A100 </a:t>
            </a:r>
            <a:r>
              <a:rPr lang="zh-CN" altLang="en-US" dirty="0"/>
              <a:t>张三 → </a:t>
            </a:r>
            <a:r>
              <a:rPr lang="en-US" altLang="zh-CN" dirty="0"/>
              <a:t>Account A200 </a:t>
            </a:r>
            <a:r>
              <a:rPr lang="zh-CN" altLang="en-US" dirty="0"/>
              <a:t>李四 → </a:t>
            </a:r>
            <a:r>
              <a:rPr lang="en-US" altLang="zh-CN" dirty="0"/>
              <a:t>Account A100</a:t>
            </a:r>
            <a:r>
              <a:rPr lang="zh-CN" altLang="en-US" dirty="0"/>
              <a:t>这里 </a:t>
            </a:r>
            <a:r>
              <a:rPr lang="en-US" altLang="zh-CN" dirty="0"/>
              <a:t>Account A100 </a:t>
            </a:r>
            <a:r>
              <a:rPr lang="zh-CN" altLang="en-US" dirty="0"/>
              <a:t>同时属于张三和李四，因此它是联名账户。</a:t>
            </a:r>
          </a:p>
          <a:p>
            <a:r>
              <a:rPr lang="en-US" altLang="zh-CN" dirty="0"/>
              <a:t>ACCOUNT </a:t>
            </a:r>
            <a:r>
              <a:rPr lang="zh-CN" altLang="en-US" dirty="0"/>
              <a:t>一侧是双线，所以：</a:t>
            </a:r>
          </a:p>
          <a:p>
            <a:r>
              <a:rPr lang="zh-CN" altLang="en-US" dirty="0"/>
              <a:t>账户必须至少有一个持有人，不能出现“没有客户的账户”。</a:t>
            </a:r>
          </a:p>
          <a:p>
            <a:r>
              <a:rPr lang="en-US" altLang="zh-CN" dirty="0"/>
              <a:t>CUSTOMER </a:t>
            </a:r>
            <a:r>
              <a:rPr lang="zh-CN" altLang="en-US" dirty="0"/>
              <a:t>一侧是单线，所以：</a:t>
            </a:r>
          </a:p>
          <a:p>
            <a:r>
              <a:rPr lang="zh-CN" altLang="en-US" dirty="0"/>
              <a:t>客户可以已经登记在银行系统中，但暂时没有账户。</a:t>
            </a:r>
          </a:p>
          <a:p>
            <a:r>
              <a:rPr lang="en-US" altLang="zh-CN" b="1" dirty="0"/>
              <a:t>L_C</a:t>
            </a:r>
            <a:r>
              <a:rPr lang="zh-CN" altLang="en-US" b="1" dirty="0"/>
              <a:t>：客户承担贷款</a:t>
            </a:r>
          </a:p>
          <a:p>
            <a:r>
              <a:rPr lang="en-US" altLang="zh-CN" dirty="0"/>
              <a:t>LOAN M ─── N CUSTOMER</a:t>
            </a:r>
            <a:r>
              <a:rPr lang="zh-CN" altLang="en-US" dirty="0"/>
              <a:t>转换成最小</a:t>
            </a:r>
            <a:r>
              <a:rPr lang="en-US" altLang="zh-CN" dirty="0"/>
              <a:t>—</a:t>
            </a:r>
            <a:r>
              <a:rPr lang="zh-CN" altLang="en-US" dirty="0"/>
              <a:t>最大约束：</a:t>
            </a:r>
          </a:p>
          <a:p>
            <a:r>
              <a:rPr lang="en-US" altLang="zh-CN" dirty="0"/>
              <a:t>LOAN (1,N) ── L_C ── (0,N) CUSTOMER</a:t>
            </a:r>
            <a:r>
              <a:rPr lang="zh-CN" altLang="en-US" dirty="0"/>
              <a:t>含义是：</a:t>
            </a:r>
          </a:p>
          <a:p>
            <a:r>
              <a:rPr lang="zh-CN" altLang="en-US" dirty="0"/>
              <a:t>每笔贷款必须至少有一名借款人，也可以有多名共同借款人；</a:t>
            </a:r>
          </a:p>
          <a:p>
            <a:r>
              <a:rPr lang="zh-CN" altLang="en-US" dirty="0"/>
              <a:t>一名客户可以没有贷款，也可以承担多笔贷款。</a:t>
            </a:r>
          </a:p>
          <a:p>
            <a:r>
              <a:rPr lang="zh-CN" altLang="en-US" dirty="0"/>
              <a:t>例如：</a:t>
            </a:r>
          </a:p>
          <a:p>
            <a:r>
              <a:rPr lang="en-US" altLang="zh-CN" dirty="0"/>
              <a:t>Loan L01 → </a:t>
            </a:r>
            <a:r>
              <a:rPr lang="zh-CN" altLang="en-US" dirty="0"/>
              <a:t>张三 </a:t>
            </a:r>
            <a:r>
              <a:rPr lang="en-US" altLang="zh-CN" dirty="0"/>
              <a:t>Loan L01 → </a:t>
            </a:r>
            <a:r>
              <a:rPr lang="zh-CN" altLang="en-US" dirty="0"/>
              <a:t>李四 </a:t>
            </a:r>
            <a:r>
              <a:rPr lang="en-US" altLang="zh-CN" dirty="0"/>
              <a:t>Loan L02 → </a:t>
            </a:r>
            <a:r>
              <a:rPr lang="zh-CN" altLang="en-US" dirty="0"/>
              <a:t>张三这表示：</a:t>
            </a:r>
          </a:p>
          <a:p>
            <a:r>
              <a:rPr lang="en-US" altLang="zh-CN" dirty="0"/>
              <a:t>Loan L01 </a:t>
            </a:r>
            <a:r>
              <a:rPr lang="zh-CN" altLang="en-US" dirty="0"/>
              <a:t>是张三和李四的共同贷款；</a:t>
            </a:r>
          </a:p>
          <a:p>
            <a:r>
              <a:rPr lang="zh-CN" altLang="en-US" dirty="0"/>
              <a:t>张三同时承担 </a:t>
            </a:r>
            <a:r>
              <a:rPr lang="en-US" altLang="zh-CN" dirty="0"/>
              <a:t>Loan L01 </a:t>
            </a:r>
            <a:r>
              <a:rPr lang="zh-CN" altLang="en-US" dirty="0"/>
              <a:t>和 </a:t>
            </a:r>
            <a:r>
              <a:rPr lang="en-US" altLang="zh-CN" dirty="0"/>
              <a:t>Loan L02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LOAN </a:t>
            </a:r>
            <a:r>
              <a:rPr lang="zh-CN" altLang="en-US" dirty="0"/>
              <a:t>一侧是双线，所以不能存在没有借款人的贷款。</a:t>
            </a:r>
            <a:r>
              <a:rPr lang="en-US" altLang="zh-CN" dirty="0"/>
              <a:t>CUSTOMER </a:t>
            </a:r>
            <a:r>
              <a:rPr lang="zh-CN" altLang="en-US" dirty="0"/>
              <a:t>一侧是单线，所以客户没有贷款是允许的。</a:t>
            </a:r>
          </a:p>
          <a:p>
            <a:r>
              <a:rPr lang="en-US" altLang="zh-CN" b="1" dirty="0"/>
              <a:t>5. </a:t>
            </a:r>
            <a:r>
              <a:rPr lang="zh-CN" altLang="en-US" b="1" dirty="0"/>
              <a:t>解释特殊结构：</a:t>
            </a:r>
            <a:r>
              <a:rPr lang="en-US" altLang="zh-CN" b="1" dirty="0"/>
              <a:t>BANK_BRANCH </a:t>
            </a:r>
            <a:r>
              <a:rPr lang="zh-CN" altLang="en-US" b="1" dirty="0"/>
              <a:t>是弱实体</a:t>
            </a:r>
          </a:p>
          <a:p>
            <a:r>
              <a:rPr lang="en-US" altLang="zh-CN" dirty="0"/>
              <a:t>BANK_BRANCH </a:t>
            </a:r>
            <a:r>
              <a:rPr lang="zh-CN" altLang="en-US" dirty="0"/>
              <a:t>使用双矩形，说明它是弱实体。</a:t>
            </a:r>
          </a:p>
          <a:p>
            <a:r>
              <a:rPr lang="zh-CN" altLang="en-US" dirty="0"/>
              <a:t>它不能只依靠自己的 </a:t>
            </a:r>
            <a:r>
              <a:rPr lang="en-US" altLang="zh-CN" dirty="0" err="1"/>
              <a:t>Branch_no</a:t>
            </a:r>
            <a:r>
              <a:rPr lang="en-US" altLang="zh-CN" dirty="0"/>
              <a:t> </a:t>
            </a:r>
            <a:r>
              <a:rPr lang="zh-CN" altLang="en-US" dirty="0"/>
              <a:t>被唯一识别。例如：</a:t>
            </a:r>
          </a:p>
          <a:p>
            <a:r>
              <a:rPr lang="en-US" altLang="zh-CN" dirty="0"/>
              <a:t>Bank A</a:t>
            </a:r>
            <a:r>
              <a:rPr lang="zh-CN" altLang="en-US" dirty="0"/>
              <a:t>，</a:t>
            </a:r>
            <a:r>
              <a:rPr lang="en-US" altLang="zh-CN" dirty="0"/>
              <a:t>Branch 001 Bank B</a:t>
            </a:r>
            <a:r>
              <a:rPr lang="zh-CN" altLang="en-US" dirty="0"/>
              <a:t>，</a:t>
            </a:r>
            <a:r>
              <a:rPr lang="en-US" altLang="zh-CN" dirty="0"/>
              <a:t>Branch 001</a:t>
            </a:r>
            <a:r>
              <a:rPr lang="zh-CN" altLang="en-US" dirty="0"/>
              <a:t>两个分行的 </a:t>
            </a:r>
            <a:r>
              <a:rPr lang="en-US" altLang="zh-CN" dirty="0" err="1"/>
              <a:t>Branch_no</a:t>
            </a:r>
            <a:r>
              <a:rPr lang="en-US" altLang="zh-CN" dirty="0"/>
              <a:t> </a:t>
            </a:r>
            <a:r>
              <a:rPr lang="zh-CN" altLang="en-US" dirty="0"/>
              <a:t>都是 </a:t>
            </a:r>
            <a:r>
              <a:rPr lang="en-US" altLang="zh-CN" dirty="0"/>
              <a:t>001</a:t>
            </a:r>
            <a:r>
              <a:rPr lang="zh-CN" altLang="en-US" dirty="0"/>
              <a:t>，所以仅凭 </a:t>
            </a:r>
            <a:r>
              <a:rPr lang="en-US" altLang="zh-CN" dirty="0"/>
              <a:t>001 </a:t>
            </a:r>
            <a:r>
              <a:rPr lang="zh-CN" altLang="en-US" dirty="0"/>
              <a:t>无法确定是哪一个分行。</a:t>
            </a:r>
          </a:p>
          <a:p>
            <a:r>
              <a:rPr lang="zh-CN" altLang="en-US" dirty="0"/>
              <a:t>必须使用：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BANK.Code</a:t>
            </a:r>
            <a:r>
              <a:rPr lang="en-US" altLang="zh-CN" dirty="0"/>
              <a:t>, </a:t>
            </a:r>
            <a:r>
              <a:rPr lang="en-US" altLang="zh-CN" dirty="0" err="1"/>
              <a:t>BANK_BRANCH.Branch_no</a:t>
            </a:r>
            <a:r>
              <a:rPr lang="en-US" altLang="zh-CN" dirty="0"/>
              <a:t>)</a:t>
            </a:r>
            <a:r>
              <a:rPr lang="zh-CN" altLang="en-US" dirty="0"/>
              <a:t>才能唯一识别分行。</a:t>
            </a:r>
          </a:p>
          <a:p>
            <a:r>
              <a:rPr lang="zh-CN" altLang="en-US" dirty="0"/>
              <a:t>其中：</a:t>
            </a:r>
          </a:p>
          <a:p>
            <a:r>
              <a:rPr lang="en-US" altLang="zh-CN" dirty="0" err="1"/>
              <a:t>BANK.Code</a:t>
            </a:r>
            <a:r>
              <a:rPr lang="zh-CN" altLang="en-US" dirty="0"/>
              <a:t>：所有者实体 </a:t>
            </a:r>
            <a:r>
              <a:rPr lang="en-US" altLang="zh-CN" dirty="0"/>
              <a:t>BANK </a:t>
            </a:r>
            <a:r>
              <a:rPr lang="zh-CN" altLang="en-US" dirty="0"/>
              <a:t>的主键；</a:t>
            </a:r>
          </a:p>
          <a:p>
            <a:r>
              <a:rPr lang="en-US" altLang="zh-CN" dirty="0" err="1"/>
              <a:t>Branch_no</a:t>
            </a:r>
            <a:r>
              <a:rPr lang="zh-CN" altLang="en-US" dirty="0"/>
              <a:t>：</a:t>
            </a:r>
            <a:r>
              <a:rPr lang="en-US" altLang="zh-CN" dirty="0"/>
              <a:t>BANK_BRANCH </a:t>
            </a:r>
            <a:r>
              <a:rPr lang="zh-CN" altLang="en-US" dirty="0"/>
              <a:t>的部分键；</a:t>
            </a:r>
          </a:p>
          <a:p>
            <a:r>
              <a:rPr lang="en-US" altLang="zh-CN" dirty="0"/>
              <a:t>BRANCHES</a:t>
            </a:r>
            <a:r>
              <a:rPr lang="zh-CN" altLang="en-US" dirty="0"/>
              <a:t>：识别联系，所以画成双菱形。</a:t>
            </a:r>
          </a:p>
          <a:p>
            <a:r>
              <a:rPr lang="zh-CN" altLang="en-US" dirty="0"/>
              <a:t>可以总结为：</a:t>
            </a:r>
          </a:p>
          <a:p>
            <a:r>
              <a:rPr lang="en-US" altLang="zh-CN" dirty="0"/>
              <a:t>BANK_BRANCH </a:t>
            </a:r>
            <a:r>
              <a:rPr lang="zh-CN" altLang="en-US" dirty="0"/>
              <a:t>不能单独说明“我是谁”，必须结合所属银行的 </a:t>
            </a:r>
            <a:r>
              <a:rPr lang="en-US" altLang="zh-CN" dirty="0"/>
              <a:t>Code </a:t>
            </a:r>
            <a:r>
              <a:rPr lang="zh-CN" altLang="en-US" dirty="0"/>
              <a:t>才能被唯一识别。</a:t>
            </a:r>
          </a:p>
          <a:p>
            <a:r>
              <a:rPr lang="zh-CN" altLang="en-US" dirty="0"/>
              <a:t>还要注意：</a:t>
            </a:r>
            <a:r>
              <a:rPr lang="zh-CN" altLang="en-US" b="1" dirty="0"/>
              <a:t>双线不等于弱实体。</a:t>
            </a:r>
            <a:endParaRPr lang="zh-CN" altLang="en-US" dirty="0"/>
          </a:p>
          <a:p>
            <a:r>
              <a:rPr lang="zh-CN" altLang="en-US" dirty="0"/>
              <a:t>例如 </a:t>
            </a:r>
            <a:r>
              <a:rPr lang="en-US" altLang="zh-CN" dirty="0"/>
              <a:t>ACCOUNT </a:t>
            </a:r>
            <a:r>
              <a:rPr lang="zh-CN" altLang="en-US" dirty="0"/>
              <a:t>到 </a:t>
            </a:r>
            <a:r>
              <a:rPr lang="en-US" altLang="zh-CN" dirty="0"/>
              <a:t>ACCTS </a:t>
            </a:r>
            <a:r>
              <a:rPr lang="zh-CN" altLang="en-US" dirty="0"/>
              <a:t>也是双线，但 </a:t>
            </a:r>
            <a:r>
              <a:rPr lang="en-US" altLang="zh-CN" dirty="0"/>
              <a:t>ACCOUNT </a:t>
            </a:r>
            <a:r>
              <a:rPr lang="zh-CN" altLang="en-US" dirty="0"/>
              <a:t>不是弱实体，因为：</a:t>
            </a:r>
          </a:p>
          <a:p>
            <a:r>
              <a:rPr lang="en-US" altLang="zh-CN" dirty="0" err="1"/>
              <a:t>Acct_no</a:t>
            </a:r>
            <a:r>
              <a:rPr lang="zh-CN" altLang="en-US" dirty="0"/>
              <a:t>本身就是完整主键，可以独立识别账户。</a:t>
            </a:r>
          </a:p>
          <a:p>
            <a:r>
              <a:rPr lang="zh-CN" altLang="en-US" dirty="0"/>
              <a:t>所以：</a:t>
            </a:r>
          </a:p>
          <a:p>
            <a:r>
              <a:rPr lang="zh-CN" altLang="en-US" dirty="0"/>
              <a:t>双线表示必须参加联系；</a:t>
            </a:r>
          </a:p>
          <a:p>
            <a:r>
              <a:rPr lang="zh-CN" altLang="en-US" dirty="0"/>
              <a:t>双矩形表示弱实体；</a:t>
            </a:r>
          </a:p>
          <a:p>
            <a:r>
              <a:rPr lang="zh-CN" altLang="en-US" dirty="0"/>
              <a:t>这两个概念不能混淆。</a:t>
            </a:r>
          </a:p>
          <a:p>
            <a:r>
              <a:rPr lang="en-US" altLang="zh-CN" b="1" dirty="0"/>
              <a:t>6. </a:t>
            </a:r>
            <a:r>
              <a:rPr lang="zh-CN" altLang="en-US" b="1" dirty="0"/>
              <a:t>最后用问题检查学生是否理解</a:t>
            </a:r>
          </a:p>
          <a:p>
            <a:r>
              <a:rPr lang="zh-CN" altLang="en-US" b="1" dirty="0"/>
              <a:t>一家银行可以没有任何分行吗？</a:t>
            </a:r>
            <a:br>
              <a:rPr lang="zh-CN" altLang="en-US" dirty="0"/>
            </a:br>
            <a:r>
              <a:rPr lang="zh-CN" altLang="en-US" dirty="0"/>
              <a:t>不可以。</a:t>
            </a:r>
            <a:r>
              <a:rPr lang="en-US" altLang="zh-CN" dirty="0"/>
              <a:t>BANK </a:t>
            </a:r>
            <a:r>
              <a:rPr lang="zh-CN" altLang="en-US" dirty="0"/>
              <a:t>在 </a:t>
            </a:r>
            <a:r>
              <a:rPr lang="en-US" altLang="zh-CN" dirty="0"/>
              <a:t>BRANCHES </a:t>
            </a:r>
            <a:r>
              <a:rPr lang="zh-CN" altLang="en-US" dirty="0"/>
              <a:t>中完全参与，是 </a:t>
            </a:r>
            <a:r>
              <a:rPr lang="en-US" altLang="zh-CN" dirty="0"/>
              <a:t>(1,N)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一个分行可以同时属于两家银行吗？</a:t>
            </a:r>
            <a:br>
              <a:rPr lang="zh-CN" altLang="en-US" dirty="0"/>
            </a:br>
            <a:r>
              <a:rPr lang="zh-CN" altLang="en-US" dirty="0"/>
              <a:t>不可以。</a:t>
            </a:r>
            <a:r>
              <a:rPr lang="en-US" altLang="zh-CN" dirty="0"/>
              <a:t>BANK_BRANCH </a:t>
            </a:r>
            <a:r>
              <a:rPr lang="zh-CN" altLang="en-US" dirty="0"/>
              <a:t>一侧是 </a:t>
            </a:r>
            <a:r>
              <a:rPr lang="en-US" altLang="zh-CN" dirty="0"/>
              <a:t>(1,1)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两个不同银行可以都有 </a:t>
            </a:r>
            <a:r>
              <a:rPr lang="en-US" altLang="zh-CN" b="1" dirty="0"/>
              <a:t>Branch 001 </a:t>
            </a:r>
            <a:r>
              <a:rPr lang="zh-CN" altLang="en-US" b="1" dirty="0"/>
              <a:t>吗？</a:t>
            </a:r>
            <a:br>
              <a:rPr lang="zh-CN" altLang="en-US" dirty="0"/>
            </a:br>
            <a:r>
              <a:rPr lang="zh-CN" altLang="en-US" dirty="0"/>
              <a:t>可以，因为 </a:t>
            </a:r>
            <a:r>
              <a:rPr lang="en-US" altLang="zh-CN" dirty="0" err="1"/>
              <a:t>Branch_no</a:t>
            </a:r>
            <a:r>
              <a:rPr lang="en-US" altLang="zh-CN" dirty="0"/>
              <a:t> </a:t>
            </a:r>
            <a:r>
              <a:rPr lang="zh-CN" altLang="en-US" dirty="0"/>
              <a:t>只是部分键。</a:t>
            </a:r>
          </a:p>
          <a:p>
            <a:r>
              <a:rPr lang="zh-CN" altLang="en-US" b="1" dirty="0"/>
              <a:t>一个分行可以暂时没有账户吗？</a:t>
            </a:r>
            <a:br>
              <a:rPr lang="zh-CN" altLang="en-US" dirty="0"/>
            </a:br>
            <a:r>
              <a:rPr lang="zh-CN" altLang="en-US" dirty="0"/>
              <a:t>可以。</a:t>
            </a:r>
            <a:r>
              <a:rPr lang="en-US" altLang="zh-CN" dirty="0"/>
              <a:t>BANK_BRANCH </a:t>
            </a:r>
            <a:r>
              <a:rPr lang="zh-CN" altLang="en-US" dirty="0"/>
              <a:t>在 </a:t>
            </a:r>
            <a:r>
              <a:rPr lang="en-US" altLang="zh-CN" dirty="0"/>
              <a:t>ACCTS </a:t>
            </a:r>
            <a:r>
              <a:rPr lang="zh-CN" altLang="en-US" dirty="0"/>
              <a:t>中是 </a:t>
            </a:r>
            <a:r>
              <a:rPr lang="en-US" altLang="zh-CN" dirty="0"/>
              <a:t>(0,N)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一个账户可以没有所属分行吗？</a:t>
            </a:r>
            <a:br>
              <a:rPr lang="zh-CN" altLang="en-US" dirty="0"/>
            </a:br>
            <a:r>
              <a:rPr lang="zh-CN" altLang="en-US" dirty="0"/>
              <a:t>不可以。</a:t>
            </a:r>
            <a:r>
              <a:rPr lang="en-US" altLang="zh-CN" dirty="0"/>
              <a:t>ACCOUNT </a:t>
            </a:r>
            <a:r>
              <a:rPr lang="zh-CN" altLang="en-US" dirty="0"/>
              <a:t>在 </a:t>
            </a:r>
            <a:r>
              <a:rPr lang="en-US" altLang="zh-CN" dirty="0"/>
              <a:t>ACCTS </a:t>
            </a:r>
            <a:r>
              <a:rPr lang="zh-CN" altLang="en-US" dirty="0"/>
              <a:t>中是 </a:t>
            </a:r>
            <a:r>
              <a:rPr lang="en-US" altLang="zh-CN" dirty="0"/>
              <a:t>(1,1)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一个账户可以由两名客户共同持有吗？</a:t>
            </a:r>
            <a:br>
              <a:rPr lang="zh-CN" altLang="en-US" dirty="0"/>
            </a:br>
            <a:r>
              <a:rPr lang="zh-CN" altLang="en-US" dirty="0"/>
              <a:t>可以，</a:t>
            </a:r>
            <a:r>
              <a:rPr lang="en-US" altLang="zh-CN" dirty="0"/>
              <a:t>ACCOUNT </a:t>
            </a:r>
            <a:r>
              <a:rPr lang="zh-CN" altLang="en-US" dirty="0"/>
              <a:t>与 </a:t>
            </a:r>
            <a:r>
              <a:rPr lang="en-US" altLang="zh-CN" dirty="0"/>
              <a:t>CUSTOMER </a:t>
            </a:r>
            <a:r>
              <a:rPr lang="zh-CN" altLang="en-US" dirty="0"/>
              <a:t>是多对多联系。</a:t>
            </a:r>
          </a:p>
          <a:p>
            <a:r>
              <a:rPr lang="zh-CN" altLang="en-US" b="1" dirty="0"/>
              <a:t>客户可以暂时没有账户吗？</a:t>
            </a:r>
            <a:br>
              <a:rPr lang="zh-CN" altLang="en-US" dirty="0"/>
            </a:br>
            <a:r>
              <a:rPr lang="zh-CN" altLang="en-US" dirty="0"/>
              <a:t>可以，</a:t>
            </a:r>
            <a:r>
              <a:rPr lang="en-US" altLang="zh-CN" dirty="0"/>
              <a:t>CUSTOMER </a:t>
            </a:r>
            <a:r>
              <a:rPr lang="zh-CN" altLang="en-US" dirty="0"/>
              <a:t>在 </a:t>
            </a:r>
            <a:r>
              <a:rPr lang="en-US" altLang="zh-CN" dirty="0"/>
              <a:t>A_C </a:t>
            </a:r>
            <a:r>
              <a:rPr lang="zh-CN" altLang="en-US" dirty="0"/>
              <a:t>中是 </a:t>
            </a:r>
            <a:r>
              <a:rPr lang="en-US" altLang="zh-CN" dirty="0"/>
              <a:t>(0,N)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一笔贷款可以有多名共同借款人吗？</a:t>
            </a:r>
            <a:br>
              <a:rPr lang="zh-CN" altLang="en-US" dirty="0"/>
            </a:br>
            <a:r>
              <a:rPr lang="zh-CN" altLang="en-US" dirty="0"/>
              <a:t>可以，</a:t>
            </a:r>
            <a:r>
              <a:rPr lang="en-US" altLang="zh-CN" dirty="0"/>
              <a:t>LOAN </a:t>
            </a:r>
            <a:r>
              <a:rPr lang="zh-CN" altLang="en-US" dirty="0"/>
              <a:t>与 </a:t>
            </a:r>
            <a:r>
              <a:rPr lang="en-US" altLang="zh-CN" dirty="0"/>
              <a:t>CUSTOMER </a:t>
            </a:r>
            <a:r>
              <a:rPr lang="zh-CN" altLang="en-US" dirty="0"/>
              <a:t>是多对多联系。</a:t>
            </a:r>
          </a:p>
          <a:p>
            <a:r>
              <a:rPr lang="zh-CN" altLang="en-US" b="1" dirty="0"/>
              <a:t>一笔贷款可以没有借款人吗？</a:t>
            </a:r>
            <a:br>
              <a:rPr lang="zh-CN" altLang="en-US" dirty="0"/>
            </a:br>
            <a:r>
              <a:rPr lang="zh-CN" altLang="en-US" dirty="0"/>
              <a:t>不可以，</a:t>
            </a:r>
            <a:r>
              <a:rPr lang="en-US" altLang="zh-CN" dirty="0"/>
              <a:t>LOAN </a:t>
            </a:r>
            <a:r>
              <a:rPr lang="zh-CN" altLang="en-US" dirty="0"/>
              <a:t>在 </a:t>
            </a:r>
            <a:r>
              <a:rPr lang="en-US" altLang="zh-CN" dirty="0"/>
              <a:t>L_C </a:t>
            </a:r>
            <a:r>
              <a:rPr lang="zh-CN" altLang="en-US" dirty="0"/>
              <a:t>中是 </a:t>
            </a:r>
            <a:r>
              <a:rPr lang="en-US" altLang="zh-CN" dirty="0"/>
              <a:t>(1,N)</a:t>
            </a:r>
            <a:r>
              <a:rPr lang="zh-CN" altLang="en-US" dirty="0"/>
              <a:t>。</a:t>
            </a:r>
          </a:p>
          <a:p>
            <a:r>
              <a:rPr lang="en-US" altLang="zh-CN" b="1" dirty="0"/>
              <a:t>ACCOUNT </a:t>
            </a:r>
            <a:r>
              <a:rPr lang="zh-CN" altLang="en-US" b="1" dirty="0"/>
              <a:t>是弱实体吗？</a:t>
            </a:r>
            <a:br>
              <a:rPr lang="zh-CN" altLang="en-US" dirty="0"/>
            </a:br>
            <a:r>
              <a:rPr lang="zh-CN" altLang="en-US" dirty="0"/>
              <a:t>不是。它虽然必须属于一个分行，但可以通过 </a:t>
            </a:r>
            <a:r>
              <a:rPr lang="en-US" altLang="zh-CN" dirty="0" err="1"/>
              <a:t>Acct_no</a:t>
            </a:r>
            <a:r>
              <a:rPr lang="en-US" altLang="zh-CN" dirty="0"/>
              <a:t> </a:t>
            </a:r>
            <a:r>
              <a:rPr lang="zh-CN" altLang="en-US" dirty="0"/>
              <a:t>独立识别。</a:t>
            </a:r>
          </a:p>
          <a:p>
            <a:r>
              <a:rPr lang="zh-CN" altLang="en-US" dirty="0"/>
              <a:t>最后可以用一句话收尾：</a:t>
            </a:r>
          </a:p>
          <a:p>
            <a:r>
              <a:rPr lang="zh-CN" altLang="en-US" dirty="0"/>
              <a:t>这张图不仅说明银行系统需要记录哪些数据，还利用弱实体表达分行对银行的识别依赖，利用单双线表达是否必须参与，并利用 </a:t>
            </a:r>
            <a:r>
              <a:rPr lang="en-US" altLang="zh-CN" dirty="0"/>
              <a:t>1:N </a:t>
            </a:r>
            <a:r>
              <a:rPr lang="zh-CN" altLang="en-US" dirty="0"/>
              <a:t>和 </a:t>
            </a:r>
            <a:r>
              <a:rPr lang="en-US" altLang="zh-CN" dirty="0"/>
              <a:t>M:N </a:t>
            </a:r>
            <a:r>
              <a:rPr lang="zh-CN" altLang="en-US" dirty="0"/>
              <a:t>表达银行、分行、账户、贷款和客户之间的数量关系。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这张图是一个“公司数据库”的完整 </a:t>
            </a:r>
            <a:r>
              <a:rPr lang="en-US" altLang="zh-CN" dirty="0"/>
              <a:t>ER </a:t>
            </a:r>
            <a:r>
              <a:rPr lang="zh-CN" altLang="en-US" dirty="0"/>
              <a:t>模型。建议按“符号 → 最小最大约束 → 业务关系 → 特殊结构”的顺序讲，大约需要 </a:t>
            </a:r>
            <a:r>
              <a:rPr lang="en-US" altLang="zh-CN" dirty="0"/>
              <a:t>8</a:t>
            </a:r>
            <a:r>
              <a:rPr lang="zh-CN" altLang="en-US" dirty="0"/>
              <a:t>～</a:t>
            </a:r>
            <a:r>
              <a:rPr lang="en-US" altLang="zh-CN" dirty="0"/>
              <a:t>10 </a:t>
            </a:r>
            <a:r>
              <a:rPr lang="zh-CN" altLang="en-US" dirty="0"/>
              <a:t>分钟。</a:t>
            </a:r>
          </a:p>
          <a:p>
            <a:r>
              <a:rPr lang="en-US" altLang="zh-CN" b="1" dirty="0"/>
              <a:t>1. </a:t>
            </a:r>
            <a:r>
              <a:rPr lang="zh-CN" altLang="en-US" b="1" dirty="0"/>
              <a:t>先说明整张图表示什么</a:t>
            </a:r>
          </a:p>
          <a:p>
            <a:r>
              <a:rPr lang="zh-CN" altLang="en-US" dirty="0"/>
              <a:t>可以这样开场：</a:t>
            </a:r>
          </a:p>
          <a:p>
            <a:r>
              <a:rPr lang="zh-CN" altLang="en-US" dirty="0"/>
              <a:t>这张 </a:t>
            </a:r>
            <a:r>
              <a:rPr lang="en-US" altLang="zh-CN" dirty="0"/>
              <a:t>ER </a:t>
            </a:r>
            <a:r>
              <a:rPr lang="zh-CN" altLang="en-US" dirty="0"/>
              <a:t>图描述一家公司的数据结构。公司需要记录员工、部门、项目和员工家属，同时记录员工属于哪个部门、谁管理部门、部门控制哪些项目、员工参与哪些项目，以及员工之间的监督关系。</a:t>
            </a:r>
          </a:p>
          <a:p>
            <a:r>
              <a:rPr lang="zh-CN" altLang="en-US" dirty="0"/>
              <a:t>图中有四个主要实体：</a:t>
            </a:r>
          </a:p>
          <a:p>
            <a:r>
              <a:rPr lang="en-US" altLang="zh-CN" dirty="0"/>
              <a:t>EMPLOYEE</a:t>
            </a:r>
            <a:r>
              <a:rPr lang="zh-CN" altLang="en-US" dirty="0"/>
              <a:t>：员工</a:t>
            </a:r>
          </a:p>
          <a:p>
            <a:r>
              <a:rPr lang="en-US" altLang="zh-CN" dirty="0"/>
              <a:t>DEPARTMENT</a:t>
            </a:r>
            <a:r>
              <a:rPr lang="zh-CN" altLang="en-US" dirty="0"/>
              <a:t>：部门</a:t>
            </a:r>
          </a:p>
          <a:p>
            <a:r>
              <a:rPr lang="en-US" altLang="zh-CN" dirty="0"/>
              <a:t>PROJECT</a:t>
            </a:r>
            <a:r>
              <a:rPr lang="zh-CN" altLang="en-US" dirty="0"/>
              <a:t>：项目</a:t>
            </a:r>
          </a:p>
          <a:p>
            <a:r>
              <a:rPr lang="en-US" altLang="zh-CN" dirty="0"/>
              <a:t>DEPENDENT</a:t>
            </a:r>
            <a:r>
              <a:rPr lang="zh-CN" altLang="en-US" dirty="0"/>
              <a:t>：员工家属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先带学生认符号</a:t>
            </a:r>
          </a:p>
          <a:p>
            <a:r>
              <a:rPr lang="zh-CN" altLang="en-US" dirty="0"/>
              <a:t>矩形：实体集，例如 </a:t>
            </a:r>
            <a:r>
              <a:rPr lang="en-US" altLang="zh-CN" dirty="0"/>
              <a:t>EMPLOYEE</a:t>
            </a:r>
          </a:p>
          <a:p>
            <a:r>
              <a:rPr lang="zh-CN" altLang="en-US" dirty="0"/>
              <a:t>菱形：联系，例如 </a:t>
            </a:r>
            <a:r>
              <a:rPr lang="en-US" altLang="zh-CN" dirty="0"/>
              <a:t>WORKS_FOR</a:t>
            </a:r>
          </a:p>
          <a:p>
            <a:r>
              <a:rPr lang="zh-CN" altLang="en-US" dirty="0"/>
              <a:t>椭圆：属性，例如 </a:t>
            </a:r>
            <a:r>
              <a:rPr lang="en-US" altLang="zh-CN" dirty="0"/>
              <a:t>Salary</a:t>
            </a:r>
          </a:p>
          <a:p>
            <a:r>
              <a:rPr lang="zh-CN" altLang="en-US" dirty="0"/>
              <a:t>带下划线的属性：键属性，例如员工的 </a:t>
            </a:r>
            <a:r>
              <a:rPr lang="en-US" altLang="zh-CN" dirty="0" err="1"/>
              <a:t>Ssn</a:t>
            </a:r>
            <a:endParaRPr lang="en-US" altLang="zh-CN" dirty="0"/>
          </a:p>
          <a:p>
            <a:r>
              <a:rPr lang="zh-CN" altLang="en-US" dirty="0"/>
              <a:t>双椭圆：多值属性，例如一个部门可以有多个 </a:t>
            </a:r>
            <a:r>
              <a:rPr lang="en-US" altLang="zh-CN" dirty="0"/>
              <a:t>Locations</a:t>
            </a:r>
          </a:p>
          <a:p>
            <a:r>
              <a:rPr lang="zh-CN" altLang="en-US" dirty="0"/>
              <a:t>虚线椭圆：派生属性，例如 </a:t>
            </a:r>
            <a:r>
              <a:rPr lang="en-US" altLang="zh-CN" dirty="0" err="1"/>
              <a:t>Number_of_employees</a:t>
            </a:r>
            <a:endParaRPr lang="en-US" altLang="zh-CN" dirty="0"/>
          </a:p>
          <a:p>
            <a:r>
              <a:rPr lang="zh-CN" altLang="en-US" dirty="0"/>
              <a:t>双矩形：弱实体，例如 </a:t>
            </a:r>
            <a:r>
              <a:rPr lang="en-US" altLang="zh-CN" dirty="0"/>
              <a:t>DEPENDENT</a:t>
            </a:r>
          </a:p>
          <a:p>
            <a:r>
              <a:rPr lang="zh-CN" altLang="en-US" dirty="0"/>
              <a:t>双菱形：识别弱实体的联系，例如 </a:t>
            </a:r>
            <a:r>
              <a:rPr lang="en-US" altLang="zh-CN" dirty="0"/>
              <a:t>DEPENDENTS_OF</a:t>
            </a:r>
          </a:p>
          <a:p>
            <a:r>
              <a:rPr lang="zh-CN" altLang="en-US" dirty="0"/>
              <a:t>员工的 </a:t>
            </a:r>
            <a:r>
              <a:rPr lang="en-US" altLang="zh-CN" dirty="0"/>
              <a:t>Name </a:t>
            </a:r>
            <a:r>
              <a:rPr lang="zh-CN" altLang="en-US" dirty="0"/>
              <a:t>是复合属性，可以继续分成：</a:t>
            </a:r>
          </a:p>
          <a:p>
            <a:r>
              <a:rPr lang="en-US" altLang="zh-CN" dirty="0" err="1"/>
              <a:t>Fname</a:t>
            </a:r>
            <a:r>
              <a:rPr lang="zh-CN" altLang="en-US" dirty="0"/>
              <a:t>：名 </a:t>
            </a:r>
            <a:r>
              <a:rPr lang="en-US" altLang="zh-CN" dirty="0"/>
              <a:t>Minit</a:t>
            </a:r>
            <a:r>
              <a:rPr lang="zh-CN" altLang="en-US" dirty="0"/>
              <a:t>：中间名首字母 </a:t>
            </a:r>
            <a:r>
              <a:rPr lang="en-US" altLang="zh-CN" dirty="0" err="1"/>
              <a:t>Lname</a:t>
            </a:r>
            <a:r>
              <a:rPr lang="zh-CN" altLang="en-US" dirty="0"/>
              <a:t>：姓部门的 </a:t>
            </a:r>
            <a:r>
              <a:rPr lang="en-US" altLang="zh-CN" dirty="0" err="1"/>
              <a:t>Number_of_employees</a:t>
            </a:r>
            <a:r>
              <a:rPr lang="en-US" altLang="zh-CN" dirty="0"/>
              <a:t> </a:t>
            </a:r>
            <a:r>
              <a:rPr lang="zh-CN" altLang="en-US" dirty="0"/>
              <a:t>是派生属性，因为可以通过统计该部门的员工数量计算出来，不一定需要单独保存。</a:t>
            </a:r>
          </a:p>
          <a:p>
            <a:r>
              <a:rPr lang="en-US" altLang="zh-CN" b="1" dirty="0"/>
              <a:t>3. </a:t>
            </a:r>
            <a:r>
              <a:rPr lang="zh-CN" altLang="en-US" b="1" dirty="0"/>
              <a:t>解释 </a:t>
            </a:r>
            <a:r>
              <a:rPr lang="en-US" altLang="zh-CN" b="1" dirty="0"/>
              <a:t>(min, max)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min,max</a:t>
            </a:r>
            <a:r>
              <a:rPr lang="en-US" altLang="zh-CN" dirty="0"/>
              <a:t>) </a:t>
            </a:r>
            <a:r>
              <a:rPr lang="zh-CN" altLang="en-US" dirty="0"/>
              <a:t>表示一个实体最少和最多可以参与多少次联系：</a:t>
            </a:r>
          </a:p>
          <a:p>
            <a:r>
              <a:rPr lang="en-US" altLang="zh-CN" dirty="0"/>
              <a:t>(0,1)</a:t>
            </a:r>
            <a:r>
              <a:rPr lang="zh-CN" altLang="en-US" dirty="0"/>
              <a:t>：可以不参加，最多参加一次</a:t>
            </a:r>
          </a:p>
          <a:p>
            <a:r>
              <a:rPr lang="en-US" altLang="zh-CN" dirty="0"/>
              <a:t>(1,1)</a:t>
            </a:r>
            <a:r>
              <a:rPr lang="zh-CN" altLang="en-US" dirty="0"/>
              <a:t>：必须参加，而且只能参加一次</a:t>
            </a:r>
          </a:p>
          <a:p>
            <a:r>
              <a:rPr lang="en-US" altLang="zh-CN" dirty="0"/>
              <a:t>(0,N)</a:t>
            </a:r>
            <a:r>
              <a:rPr lang="zh-CN" altLang="en-US" dirty="0"/>
              <a:t>：可以不参加，也可以参加多次</a:t>
            </a:r>
          </a:p>
          <a:p>
            <a:r>
              <a:rPr lang="en-US" altLang="zh-CN" dirty="0"/>
              <a:t>(1,N)</a:t>
            </a:r>
            <a:r>
              <a:rPr lang="zh-CN" altLang="en-US" dirty="0"/>
              <a:t>：至少参加一次，可以参加多次</a:t>
            </a:r>
          </a:p>
          <a:p>
            <a:r>
              <a:rPr lang="en-US" altLang="zh-CN" dirty="0"/>
              <a:t>(4,N)</a:t>
            </a:r>
            <a:r>
              <a:rPr lang="zh-CN" altLang="en-US" dirty="0"/>
              <a:t>：至少参加四次，可以更多</a:t>
            </a:r>
          </a:p>
          <a:p>
            <a:r>
              <a:rPr lang="en-US" altLang="zh-CN" b="1" dirty="0"/>
              <a:t>4. </a:t>
            </a:r>
            <a:r>
              <a:rPr lang="zh-CN" altLang="en-US" b="1" dirty="0"/>
              <a:t>逐条讲解关系</a:t>
            </a:r>
          </a:p>
          <a:p>
            <a:r>
              <a:rPr lang="zh-CN" altLang="en-US" dirty="0"/>
              <a:t>联系业务含义</a:t>
            </a:r>
            <a:endParaRPr lang="en-US" altLang="zh-CN" dirty="0"/>
          </a:p>
          <a:p>
            <a:r>
              <a:rPr lang="en-US" altLang="zh-CN" dirty="0"/>
              <a:t>WORKS_FOR</a:t>
            </a:r>
            <a:r>
              <a:rPr lang="zh-CN" altLang="en-US" dirty="0"/>
              <a:t>员工在哪个部门工作</a:t>
            </a:r>
            <a:endParaRPr lang="en-US" altLang="zh-CN" dirty="0"/>
          </a:p>
          <a:p>
            <a:r>
              <a:rPr lang="en-US" altLang="zh-CN" dirty="0"/>
              <a:t>MANAGES</a:t>
            </a:r>
            <a:r>
              <a:rPr lang="zh-CN" altLang="en-US" dirty="0"/>
              <a:t>哪名员工管理哪个部门</a:t>
            </a:r>
            <a:endParaRPr lang="en-US" altLang="zh-CN" dirty="0"/>
          </a:p>
          <a:p>
            <a:r>
              <a:rPr lang="en-US" altLang="zh-CN" dirty="0"/>
              <a:t>CONTROLS</a:t>
            </a:r>
            <a:r>
              <a:rPr lang="zh-CN" altLang="en-US" dirty="0"/>
              <a:t>部门控制哪些项目</a:t>
            </a:r>
            <a:endParaRPr lang="en-US" altLang="zh-CN" dirty="0"/>
          </a:p>
          <a:p>
            <a:r>
              <a:rPr lang="en-US" altLang="zh-CN" dirty="0"/>
              <a:t>WORKS_ON</a:t>
            </a:r>
            <a:r>
              <a:rPr lang="zh-CN" altLang="en-US" dirty="0"/>
              <a:t>员工参与哪些项目</a:t>
            </a:r>
            <a:endParaRPr lang="en-US" altLang="zh-CN" dirty="0"/>
          </a:p>
          <a:p>
            <a:r>
              <a:rPr lang="en-US" altLang="zh-CN" dirty="0"/>
              <a:t>SUPERVISION</a:t>
            </a:r>
            <a:r>
              <a:rPr lang="zh-CN" altLang="en-US" dirty="0"/>
              <a:t>员工之间的监督关系</a:t>
            </a:r>
            <a:endParaRPr lang="en-US" altLang="zh-CN" dirty="0"/>
          </a:p>
          <a:p>
            <a:r>
              <a:rPr lang="en-US" altLang="zh-CN" dirty="0"/>
              <a:t>DEPENDENTS_OF</a:t>
            </a:r>
            <a:r>
              <a:rPr lang="zh-CN" altLang="en-US" dirty="0"/>
              <a:t>员工拥有哪些家属</a:t>
            </a:r>
          </a:p>
          <a:p>
            <a:r>
              <a:rPr lang="en-US" altLang="zh-CN" b="1" dirty="0"/>
              <a:t>WORKS_FOR</a:t>
            </a:r>
            <a:r>
              <a:rPr lang="zh-CN" altLang="en-US" b="1" dirty="0"/>
              <a:t>：员工属于部门</a:t>
            </a:r>
          </a:p>
          <a:p>
            <a:r>
              <a:rPr lang="zh-CN" altLang="en-US" dirty="0"/>
              <a:t>员工一侧是 </a:t>
            </a:r>
            <a:r>
              <a:rPr lang="en-US" altLang="zh-CN" dirty="0"/>
              <a:t>(1,1)</a:t>
            </a:r>
            <a:r>
              <a:rPr lang="zh-CN" altLang="en-US" dirty="0"/>
              <a:t>，部门一侧是 </a:t>
            </a:r>
            <a:r>
              <a:rPr lang="en-US" altLang="zh-CN" dirty="0"/>
              <a:t>(4,N)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每名员工必须属于一个部门，而且只能属于一个部门。每个部门至少有四名员工，可以有更多员工。</a:t>
            </a:r>
          </a:p>
          <a:p>
            <a:r>
              <a:rPr lang="zh-CN" altLang="en-US" dirty="0"/>
              <a:t>例如：</a:t>
            </a:r>
          </a:p>
          <a:p>
            <a:r>
              <a:rPr lang="en-US" altLang="zh-CN" dirty="0"/>
              <a:t>Peter → Computing Department Mary → Computing Department</a:t>
            </a:r>
            <a:r>
              <a:rPr lang="zh-CN" altLang="en-US" dirty="0"/>
              <a:t>但是 </a:t>
            </a:r>
            <a:r>
              <a:rPr lang="en-US" altLang="zh-CN" dirty="0"/>
              <a:t>Peter </a:t>
            </a:r>
            <a:r>
              <a:rPr lang="zh-CN" altLang="en-US" dirty="0"/>
              <a:t>不能同时属于两个部门。</a:t>
            </a:r>
          </a:p>
          <a:p>
            <a:r>
              <a:rPr lang="en-US" altLang="zh-CN" b="1" dirty="0"/>
              <a:t>MANAGES</a:t>
            </a:r>
            <a:r>
              <a:rPr lang="zh-CN" altLang="en-US" b="1" dirty="0"/>
              <a:t>：员工管理部门</a:t>
            </a:r>
          </a:p>
          <a:p>
            <a:r>
              <a:rPr lang="zh-CN" altLang="en-US" dirty="0"/>
              <a:t>员工一侧是 </a:t>
            </a:r>
            <a:r>
              <a:rPr lang="en-US" altLang="zh-CN" dirty="0"/>
              <a:t>(0,1)</a:t>
            </a:r>
            <a:r>
              <a:rPr lang="zh-CN" altLang="en-US" dirty="0"/>
              <a:t>，部门一侧是 </a:t>
            </a:r>
            <a:r>
              <a:rPr lang="en-US" altLang="zh-CN" dirty="0"/>
              <a:t>(1,1)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一名员工可以不管理任何部门，最多只能管理一个部门；每个部门必须有且只有一名经理。</a:t>
            </a:r>
          </a:p>
          <a:p>
            <a:r>
              <a:rPr lang="en-US" altLang="zh-CN" dirty="0" err="1"/>
              <a:t>Start_date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MANAGES </a:t>
            </a:r>
            <a:r>
              <a:rPr lang="zh-CN" altLang="en-US" dirty="0"/>
              <a:t>的联系属性，因为它描述的是“某员工从什么时候开始管理某部门”，既不单独属于员工，也不单独属于部门。</a:t>
            </a:r>
          </a:p>
          <a:p>
            <a:r>
              <a:rPr lang="en-US" altLang="zh-CN" b="1" dirty="0"/>
              <a:t>CONTROLS</a:t>
            </a:r>
            <a:r>
              <a:rPr lang="zh-CN" altLang="en-US" b="1" dirty="0"/>
              <a:t>：部门控制项目</a:t>
            </a:r>
          </a:p>
          <a:p>
            <a:r>
              <a:rPr lang="zh-CN" altLang="en-US" dirty="0"/>
              <a:t>部门一侧是 </a:t>
            </a:r>
            <a:r>
              <a:rPr lang="en-US" altLang="zh-CN" dirty="0"/>
              <a:t>(0,N)</a:t>
            </a:r>
            <a:r>
              <a:rPr lang="zh-CN" altLang="en-US" dirty="0"/>
              <a:t>，项目一侧是 </a:t>
            </a:r>
            <a:r>
              <a:rPr lang="en-US" altLang="zh-CN" dirty="0"/>
              <a:t>(1,1)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一个部门可以暂时没有项目，也可以控制多个项目；每个项目必须由一个并且只能由一个部门控制。</a:t>
            </a:r>
          </a:p>
          <a:p>
            <a:r>
              <a:rPr lang="zh-CN" altLang="en-US" dirty="0"/>
              <a:t>所以没有项目的部门是允许的，但没有负责部门的项目不允许存在。</a:t>
            </a:r>
          </a:p>
          <a:p>
            <a:r>
              <a:rPr lang="en-US" altLang="zh-CN" b="1" dirty="0"/>
              <a:t>WORKS_ON</a:t>
            </a:r>
            <a:r>
              <a:rPr lang="zh-CN" altLang="en-US" b="1" dirty="0"/>
              <a:t>：员工参与项目</a:t>
            </a:r>
          </a:p>
          <a:p>
            <a:r>
              <a:rPr lang="zh-CN" altLang="en-US" dirty="0"/>
              <a:t>两侧都是 </a:t>
            </a:r>
            <a:r>
              <a:rPr lang="en-US" altLang="zh-CN" dirty="0"/>
              <a:t>(1,N)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每名员工至少参与一个项目，也可以参与多个项目；每个项目至少有一名员工，也可以有多名员工。</a:t>
            </a:r>
          </a:p>
          <a:p>
            <a:r>
              <a:rPr lang="zh-CN" altLang="en-US" dirty="0"/>
              <a:t>这是一个多对多联系。</a:t>
            </a:r>
          </a:p>
          <a:p>
            <a:r>
              <a:rPr lang="en-US" altLang="zh-CN" dirty="0"/>
              <a:t>Hours </a:t>
            </a:r>
            <a:r>
              <a:rPr lang="zh-CN" altLang="en-US" dirty="0"/>
              <a:t>是联系属性，表示某名员工在某个项目上工作的小时数。例如：</a:t>
            </a:r>
          </a:p>
          <a:p>
            <a:r>
              <a:rPr lang="en-US" altLang="zh-CN" dirty="0"/>
              <a:t>Peter </a:t>
            </a:r>
            <a:r>
              <a:rPr lang="zh-CN" altLang="en-US" dirty="0"/>
              <a:t>在 </a:t>
            </a:r>
            <a:r>
              <a:rPr lang="en-US" altLang="zh-CN" dirty="0"/>
              <a:t>Project A </a:t>
            </a:r>
            <a:r>
              <a:rPr lang="zh-CN" altLang="en-US" dirty="0"/>
              <a:t>工作 </a:t>
            </a:r>
            <a:r>
              <a:rPr lang="en-US" altLang="zh-CN" dirty="0"/>
              <a:t>10 </a:t>
            </a:r>
            <a:r>
              <a:rPr lang="zh-CN" altLang="en-US" dirty="0"/>
              <a:t>小时 </a:t>
            </a:r>
            <a:r>
              <a:rPr lang="en-US" altLang="zh-CN" dirty="0"/>
              <a:t>Peter </a:t>
            </a:r>
            <a:r>
              <a:rPr lang="zh-CN" altLang="en-US" dirty="0"/>
              <a:t>在 </a:t>
            </a:r>
            <a:r>
              <a:rPr lang="en-US" altLang="zh-CN" dirty="0"/>
              <a:t>Project B </a:t>
            </a:r>
            <a:r>
              <a:rPr lang="zh-CN" altLang="en-US" dirty="0"/>
              <a:t>工作 </a:t>
            </a:r>
            <a:r>
              <a:rPr lang="en-US" altLang="zh-CN" dirty="0"/>
              <a:t>5 </a:t>
            </a:r>
            <a:r>
              <a:rPr lang="zh-CN" altLang="en-US" dirty="0"/>
              <a:t>小时所以 </a:t>
            </a:r>
            <a:r>
              <a:rPr lang="en-US" altLang="zh-CN" dirty="0"/>
              <a:t>Hours </a:t>
            </a:r>
            <a:r>
              <a:rPr lang="zh-CN" altLang="en-US" dirty="0"/>
              <a:t>依赖于“员工＋项目”的组合，不能只放在 </a:t>
            </a:r>
            <a:r>
              <a:rPr lang="en-US" altLang="zh-CN" dirty="0"/>
              <a:t>EMPLOYEE </a:t>
            </a:r>
            <a:r>
              <a:rPr lang="zh-CN" altLang="en-US" dirty="0"/>
              <a:t>或 </a:t>
            </a:r>
            <a:r>
              <a:rPr lang="en-US" altLang="zh-CN" dirty="0"/>
              <a:t>PROJECT </a:t>
            </a:r>
            <a:r>
              <a:rPr lang="zh-CN" altLang="en-US" dirty="0"/>
              <a:t>中。</a:t>
            </a:r>
          </a:p>
          <a:p>
            <a:r>
              <a:rPr lang="en-US" altLang="zh-CN" b="1" dirty="0"/>
              <a:t>SUPERVISION</a:t>
            </a:r>
            <a:r>
              <a:rPr lang="zh-CN" altLang="en-US" b="1" dirty="0"/>
              <a:t>：员工监督员工</a:t>
            </a:r>
          </a:p>
          <a:p>
            <a:r>
              <a:rPr lang="zh-CN" altLang="en-US" dirty="0"/>
              <a:t>这是递归联系，因为 </a:t>
            </a:r>
            <a:r>
              <a:rPr lang="en-US" altLang="zh-CN" dirty="0"/>
              <a:t>EMPLOYEE </a:t>
            </a:r>
            <a:r>
              <a:rPr lang="zh-CN" altLang="en-US" dirty="0"/>
              <a:t>实体集与自己发生联系。</a:t>
            </a:r>
          </a:p>
          <a:p>
            <a:r>
              <a:rPr lang="zh-CN" altLang="en-US" dirty="0"/>
              <a:t>角色名用于区分两端：</a:t>
            </a:r>
          </a:p>
          <a:p>
            <a:r>
              <a:rPr lang="en-US" altLang="zh-CN" dirty="0"/>
              <a:t>Supervisor</a:t>
            </a:r>
            <a:r>
              <a:rPr lang="zh-CN" altLang="en-US" dirty="0"/>
              <a:t>：主管</a:t>
            </a:r>
          </a:p>
          <a:p>
            <a:r>
              <a:rPr lang="en-US" altLang="zh-CN" dirty="0"/>
              <a:t>Supervisee</a:t>
            </a:r>
            <a:r>
              <a:rPr lang="zh-CN" altLang="en-US" dirty="0"/>
              <a:t>：被监督者</a:t>
            </a:r>
          </a:p>
          <a:p>
            <a:r>
              <a:rPr lang="zh-CN" altLang="en-US" dirty="0"/>
              <a:t>图中的约束表示：</a:t>
            </a:r>
          </a:p>
          <a:p>
            <a:r>
              <a:rPr lang="zh-CN" altLang="en-US" dirty="0"/>
              <a:t>一名员工可以监督零到多名员工；一名员工可以没有主管，但最多只有一名主管。</a:t>
            </a:r>
          </a:p>
          <a:p>
            <a:r>
              <a:rPr lang="zh-CN" altLang="en-US" dirty="0"/>
              <a:t>例如：</a:t>
            </a:r>
          </a:p>
          <a:p>
            <a:r>
              <a:rPr lang="en-US" altLang="zh-CN" dirty="0"/>
              <a:t>Alice </a:t>
            </a:r>
            <a:r>
              <a:rPr lang="zh-CN" altLang="en-US" dirty="0"/>
              <a:t>监督 </a:t>
            </a:r>
            <a:r>
              <a:rPr lang="en-US" altLang="zh-CN" dirty="0"/>
              <a:t>Bob Alice </a:t>
            </a:r>
            <a:r>
              <a:rPr lang="zh-CN" altLang="en-US" dirty="0"/>
              <a:t>监督 </a:t>
            </a:r>
            <a:r>
              <a:rPr lang="en-US" altLang="zh-CN" dirty="0"/>
              <a:t>Mary Bob </a:t>
            </a:r>
            <a:r>
              <a:rPr lang="zh-CN" altLang="en-US" dirty="0"/>
              <a:t>被 </a:t>
            </a:r>
            <a:r>
              <a:rPr lang="en-US" altLang="zh-CN" dirty="0"/>
              <a:t>Alice </a:t>
            </a:r>
            <a:r>
              <a:rPr lang="zh-CN" altLang="en-US" dirty="0"/>
              <a:t>监督这里如果没有角色名，只看到 </a:t>
            </a:r>
            <a:r>
              <a:rPr lang="en-US" altLang="zh-CN" dirty="0"/>
              <a:t>EMPLOYEE </a:t>
            </a:r>
            <a:r>
              <a:rPr lang="zh-CN" altLang="en-US" dirty="0"/>
              <a:t>与 </a:t>
            </a:r>
            <a:r>
              <a:rPr lang="en-US" altLang="zh-CN" dirty="0"/>
              <a:t>EMPLOYEE </a:t>
            </a:r>
            <a:r>
              <a:rPr lang="zh-CN" altLang="en-US" dirty="0"/>
              <a:t>相连，就不知道哪一端是主管。</a:t>
            </a:r>
          </a:p>
          <a:p>
            <a:r>
              <a:rPr lang="en-US" altLang="zh-CN" b="1" dirty="0"/>
              <a:t>DEPENDENTS_OF</a:t>
            </a:r>
            <a:r>
              <a:rPr lang="zh-CN" altLang="en-US" b="1" dirty="0"/>
              <a:t>：员工与家属</a:t>
            </a:r>
          </a:p>
          <a:p>
            <a:r>
              <a:rPr lang="zh-CN" altLang="en-US" dirty="0"/>
              <a:t>员工一侧是 </a:t>
            </a:r>
            <a:r>
              <a:rPr lang="en-US" altLang="zh-CN" dirty="0"/>
              <a:t>(0,N)</a:t>
            </a:r>
            <a:r>
              <a:rPr lang="zh-CN" altLang="en-US" dirty="0"/>
              <a:t>，家属一侧是 </a:t>
            </a:r>
            <a:r>
              <a:rPr lang="en-US" altLang="zh-CN" dirty="0"/>
              <a:t>(1,1)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一名员工可以没有家属，也可以有多个家属；每个家属必须属于一名并且只能属于一名员工。</a:t>
            </a:r>
          </a:p>
          <a:p>
            <a:r>
              <a:rPr lang="en-US" altLang="zh-CN" dirty="0"/>
              <a:t>DEPENDENT </a:t>
            </a:r>
            <a:r>
              <a:rPr lang="zh-CN" altLang="en-US" dirty="0"/>
              <a:t>使用双矩形，表示它是弱实体。它不能只凭自己的属性被唯一识别，而要依赖员工。</a:t>
            </a:r>
          </a:p>
          <a:p>
            <a:r>
              <a:rPr lang="zh-CN" altLang="en-US" dirty="0"/>
              <a:t>例如两个员工的家属都可能叫 </a:t>
            </a:r>
            <a:r>
              <a:rPr lang="en-US" altLang="zh-CN" dirty="0"/>
              <a:t>Tom</a:t>
            </a:r>
            <a:r>
              <a:rPr lang="zh-CN" altLang="en-US" dirty="0"/>
              <a:t>，因此家属的完整标识可以是：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Employee.Ssn</a:t>
            </a:r>
            <a:r>
              <a:rPr lang="en-US" altLang="zh-CN" dirty="0"/>
              <a:t>, </a:t>
            </a:r>
            <a:r>
              <a:rPr lang="en-US" altLang="zh-CN" dirty="0" err="1"/>
              <a:t>Dependent.Name</a:t>
            </a:r>
            <a:r>
              <a:rPr lang="en-US" altLang="zh-CN" dirty="0"/>
              <a:t>)</a:t>
            </a:r>
            <a:r>
              <a:rPr lang="zh-CN" altLang="en-US" dirty="0"/>
              <a:t>其中 </a:t>
            </a:r>
            <a:r>
              <a:rPr lang="en-US" altLang="zh-CN" dirty="0" err="1"/>
              <a:t>Dependent.Name</a:t>
            </a:r>
            <a:r>
              <a:rPr lang="en-US" altLang="zh-CN" dirty="0"/>
              <a:t> </a:t>
            </a:r>
            <a:r>
              <a:rPr lang="zh-CN" altLang="en-US" dirty="0"/>
              <a:t>是部分键，员工的 </a:t>
            </a:r>
            <a:r>
              <a:rPr lang="en-US" altLang="zh-CN" dirty="0" err="1"/>
              <a:t>Ssn</a:t>
            </a:r>
            <a:r>
              <a:rPr lang="en-US" altLang="zh-CN" dirty="0"/>
              <a:t> </a:t>
            </a:r>
            <a:r>
              <a:rPr lang="zh-CN" altLang="en-US" dirty="0"/>
              <a:t>加上家属姓名才能唯一识别一个家属。</a:t>
            </a:r>
          </a:p>
          <a:p>
            <a:r>
              <a:rPr lang="en-US" altLang="zh-CN" b="1" dirty="0"/>
              <a:t>5. </a:t>
            </a:r>
            <a:r>
              <a:rPr lang="zh-CN" altLang="en-US" b="1" dirty="0"/>
              <a:t>最后用问题检查学生是否理解</a:t>
            </a:r>
          </a:p>
          <a:p>
            <a:r>
              <a:rPr lang="zh-CN" altLang="en-US" dirty="0"/>
              <a:t>可以依次问：</a:t>
            </a:r>
          </a:p>
          <a:p>
            <a:r>
              <a:rPr lang="zh-CN" altLang="en-US" dirty="0"/>
              <a:t>一个部门只有三名员工，符合图中的约束吗？</a:t>
            </a:r>
            <a:br>
              <a:rPr lang="zh-CN" altLang="en-US" dirty="0"/>
            </a:br>
            <a:r>
              <a:rPr lang="zh-CN" altLang="en-US" dirty="0"/>
              <a:t>不符合，因为 </a:t>
            </a:r>
            <a:r>
              <a:rPr lang="en-US" altLang="zh-CN" dirty="0"/>
              <a:t>WORKS_FOR </a:t>
            </a:r>
            <a:r>
              <a:rPr lang="zh-CN" altLang="en-US" dirty="0"/>
              <a:t>的部门一侧是 </a:t>
            </a:r>
            <a:r>
              <a:rPr lang="en-US" altLang="zh-CN" dirty="0"/>
              <a:t>(4,N)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一名员工可以同时属于两个部门吗？</a:t>
            </a:r>
            <a:br>
              <a:rPr lang="zh-CN" altLang="en-US" dirty="0"/>
            </a:br>
            <a:r>
              <a:rPr lang="zh-CN" altLang="en-US" dirty="0"/>
              <a:t>不可以，员工一侧是 </a:t>
            </a:r>
            <a:r>
              <a:rPr lang="en-US" altLang="zh-CN" dirty="0"/>
              <a:t>(1,1)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一个部门可以暂时没有项目吗？</a:t>
            </a:r>
            <a:br>
              <a:rPr lang="zh-CN" altLang="en-US" dirty="0"/>
            </a:br>
            <a:r>
              <a:rPr lang="zh-CN" altLang="en-US" dirty="0"/>
              <a:t>可以，部门在 </a:t>
            </a:r>
            <a:r>
              <a:rPr lang="en-US" altLang="zh-CN" dirty="0"/>
              <a:t>CONTROLS </a:t>
            </a:r>
            <a:r>
              <a:rPr lang="zh-CN" altLang="en-US" dirty="0"/>
              <a:t>中是 </a:t>
            </a:r>
            <a:r>
              <a:rPr lang="en-US" altLang="zh-CN" dirty="0"/>
              <a:t>(0,N)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一个项目可以没有负责部门吗？</a:t>
            </a:r>
            <a:br>
              <a:rPr lang="zh-CN" altLang="en-US" dirty="0"/>
            </a:br>
            <a:r>
              <a:rPr lang="zh-CN" altLang="en-US" dirty="0"/>
              <a:t>不可以，项目一侧是 </a:t>
            </a:r>
            <a:r>
              <a:rPr lang="en-US" altLang="zh-CN" dirty="0"/>
              <a:t>(1,1)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一名员工可以管理两个部门吗？</a:t>
            </a:r>
            <a:br>
              <a:rPr lang="zh-CN" altLang="en-US" dirty="0"/>
            </a:br>
            <a:r>
              <a:rPr lang="zh-CN" altLang="en-US" dirty="0"/>
              <a:t>不可以，经理一侧是 </a:t>
            </a:r>
            <a:r>
              <a:rPr lang="en-US" altLang="zh-CN" dirty="0"/>
              <a:t>(0,1)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家属可以脱离员工独立存在吗？</a:t>
            </a:r>
            <a:br>
              <a:rPr lang="zh-CN" altLang="en-US" dirty="0"/>
            </a:br>
            <a:r>
              <a:rPr lang="zh-CN" altLang="en-US" dirty="0"/>
              <a:t>不可以，</a:t>
            </a:r>
            <a:r>
              <a:rPr lang="en-US" altLang="zh-CN" dirty="0"/>
              <a:t>DEPENDENT </a:t>
            </a:r>
            <a:r>
              <a:rPr lang="zh-CN" altLang="en-US" dirty="0"/>
              <a:t>是弱实体，必须通过 </a:t>
            </a:r>
            <a:r>
              <a:rPr lang="en-US" altLang="zh-CN" dirty="0"/>
              <a:t>DEPENDENTS_OF </a:t>
            </a:r>
            <a:r>
              <a:rPr lang="zh-CN" altLang="en-US" dirty="0"/>
              <a:t>依赖员工存在。</a:t>
            </a:r>
          </a:p>
          <a:p>
            <a:r>
              <a:rPr lang="zh-CN" altLang="en-US" dirty="0"/>
              <a:t>最后可以用一句话收尾：</a:t>
            </a:r>
          </a:p>
          <a:p>
            <a:r>
              <a:rPr lang="zh-CN" altLang="en-US" dirty="0"/>
              <a:t>这张图不仅说明公司里有哪些数据，还利用角色名解决“谁扮演什么角色”的问题，并利用 </a:t>
            </a:r>
            <a:r>
              <a:rPr lang="en-US" altLang="zh-CN" dirty="0"/>
              <a:t>(</a:t>
            </a:r>
            <a:r>
              <a:rPr lang="en-US" altLang="zh-CN" dirty="0" err="1"/>
              <a:t>min,max</a:t>
            </a:r>
            <a:r>
              <a:rPr lang="en-US" altLang="zh-CN" dirty="0"/>
              <a:t>) </a:t>
            </a:r>
            <a:r>
              <a:rPr lang="zh-CN" altLang="en-US" dirty="0"/>
              <a:t>精确表达每一条业务规则。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今天的 ER 部分可以归纳为三点：它用少量直观符号表达实体、属性和联系；它把现实世界的关系放在模型中心；它能明确表示键、基数和参与约束。</a:t>
            </a:r>
          </a:p>
          <a:p>
            <a:endParaRPr/>
          </a:p>
          <a:p>
            <a:r>
              <a:t>ER 图不是最终数据库，而是概念设计。下一步要把实体和联系映射为关系表，之后才能通过 SQL 存取。</a:t>
            </a:r>
          </a:p>
          <a:p>
            <a:endParaRPr/>
          </a:p>
          <a:p>
            <a:r>
              <a:t>建议用时：2 分钟。</a:t>
            </a:r>
          </a:p>
          <a:p>
            <a:endParaRPr/>
          </a:p>
          <a:p>
            <a:r>
              <a:t>讲解提示：总结 ER 模型为什么直观、以联系为中心，并适合随后映射成关系表。</a:t>
            </a:r>
          </a:p>
          <a:p>
            <a:endParaRPr/>
          </a:p>
          <a:p>
            <a:r>
              <a:t>[Sources]</a:t>
            </a:r>
          </a:p>
          <a:p>
            <a:r>
              <a:t>- 用户提供的原始课件，第 48 页（保留内容并将讲稿改写为中文）。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先预览 ER 到关系模型的基本映射：实体类型通常变成表，键属性变成主键；一对多联系通常把外键放在“多”的一侧；多对多联系需要建立桥接表；联系属性成为桥接表的列。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例如学生与课程之间的 Takes 可以变成 ENROLMENT(student_id, course_code, grade)。这里只建立直觉，完整映射规则会在后续课程展开。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建议用时：2 分钟。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讲解提示：用 ENROLMENT 把前面的 Takes 联系连接到桥接表，不展开完整的关系设计课程。</a:t>
            </a:r>
          </a:p>
          <a:p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t>[Sources]</a:t>
            </a:r>
          </a:p>
          <a:p>
            <a:r>
              <a:t>- 用户提供的原始课件（用于视觉版式与核心术语）。</a:t>
            </a:r>
          </a:p>
          <a:p>
            <a:r>
              <a:t>- R. Elmasri 与 S. Navathe，《数据库系统基础》（Fundamentals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快速识别键：STUDENT 的主键是 student_id；COURSE 的主键是 course_code；ENROLMENT 的主键通常是 (student_id, course_code) 复合键，并且这两列同时分别是指向 STUDENT 和 COURSE 的外键。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查询“谁修读 COMP5111”时，从 COURSE 或课程代码条件进入 ENROLMENT，再沿 student_id 连接 STUDENT。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 分钟。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讲解提示：检查主键、复合键和外键，并让学生口头追踪连接路径。</a:t>
            </a:r>
          </a:p>
          <a:p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t>[Sources]</a:t>
            </a:r>
          </a:p>
          <a:p>
            <a:r>
              <a:t>- 用户提供的原始课件（用于视觉版式与核心术语）。</a:t>
            </a:r>
          </a:p>
          <a:p>
            <a:r>
              <a:t>- R. Elmasri 与 S. Navathe，《数据库系统基础》（Fundamentals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最后用十分钟完成退出题。先独立写两分钟：用自己的话说明数据库和 DBMS 的区别；说明模式与实例的区别；给出一个可以用 ER 模型表示的应用，并写下一个仍不清楚的问题。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然后与旁边同学比较答案。教师邀请几位学生分享，并收集一个最有代表性的问题作为下一讲的开场。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今天的核心结论是：数据库保存持久且相关的数据，DBMS 负责管理这些数据；模式是设计，实例是当前状态；ER 建模让实体、联系、键和约束变得明确。</a:t>
            </a: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49320" algn="l"/>
                <a:tab pos="1898640" algn="l"/>
                <a:tab pos="2847960" algn="l"/>
                <a:tab pos="3797280" algn="l"/>
                <a:tab pos="4746600" algn="l"/>
                <a:tab pos="5695920" algn="l"/>
                <a:tab pos="6645240" algn="l"/>
                <a:tab pos="7594560" algn="l"/>
                <a:tab pos="8543880" algn="l"/>
                <a:tab pos="9493200" algn="l"/>
                <a:tab pos="1044252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建议用时：10 分钟。</a:t>
            </a:r>
          </a:p>
          <a:p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t>讲解提示：学生先写两分钟，再与同伴比较；最后收集一个问题，为下一讲建立衔接。</a:t>
            </a:r>
          </a:p>
          <a:p>
            <a:endParaRPr/>
          </a:p>
          <a:p>
            <a:r>
              <a:t>[Sources]</a:t>
            </a:r>
          </a:p>
          <a:p>
            <a:r>
              <a:t>- 用户提供的原始课件（用于视觉版式与核心术语）。</a:t>
            </a:r>
          </a:p>
          <a:p>
            <a:r>
              <a:t>- R. Elmasri 与 S. Navathe，《数据库系统基础》（Fundamentals of Database Systems），第5版或更新版本。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0EB8AE3-620B-4108-9883-FF4E118C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B655A00-3CAB-41E6-A85C-3FAB19F8E91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>
            <a:lvl1pPr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601"/>
              </a:spcBef>
              <a:buClr>
                <a:srgbClr val="000000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601"/>
              </a:spcBef>
              <a:buClr>
                <a:srgbClr val="000000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0" u="none">
                <a:solidFill>
                  <a:srgbClr val="3333CC"/>
                </a:solidFill>
                <a:latin typeface="Arial"/>
                <a:ea typeface="Arial"/>
                <a:cs typeface="Arial"/>
              </a:defRPr>
            </a:lvl7pPr>
          </a:lstStyle>
          <a:p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743040" lvl="1" indent="-28584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143000" lvl="2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057400" lvl="4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057400" lvl="5" indent="-228600" algn="l">
              <a:spcBef>
                <a:spcPts val="601"/>
              </a:spcBef>
              <a:buClr>
                <a:srgbClr val="000000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057400" lvl="6" indent="-228600" algn="l">
              <a:spcBef>
                <a:spcPts val="601"/>
              </a:spcBef>
              <a:buClr>
                <a:srgbClr val="000000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30CC187B-00C9-4920-ACC0-E00D1F1A2A14}"/>
              </a:ext>
            </a:extLst>
          </p:cNvPr>
          <p:cNvSpPr>
            <a:spLocks noGrp="1"/>
          </p:cNvSpPr>
          <p:nvPr/>
        </p:nvSpPr>
        <p:spPr>
          <a:xfrm>
            <a:off x="414000" y="1498320"/>
            <a:ext cx="8298000" cy="0"/>
          </a:xfrm>
          <a:prstGeom prst="line">
            <a:avLst/>
          </a:prstGeom>
          <a:ln w="5076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F21F3179-F2AA-4DB0-ABBA-0761BC2F5AD2}"/>
              </a:ext>
            </a:extLst>
          </p:cNvPr>
          <p:cNvSpPr>
            <a:spLocks noGrp="1"/>
          </p:cNvSpPr>
          <p:nvPr/>
        </p:nvSpPr>
        <p:spPr>
          <a:xfrm>
            <a:off x="274320" y="1460160"/>
            <a:ext cx="8305920" cy="0"/>
          </a:xfrm>
          <a:prstGeom prst="line">
            <a:avLst/>
          </a:prstGeom>
          <a:ln w="50760">
            <a:solidFill>
              <a:srgbClr val="DD080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F5BD11CD-CDA7-472F-B977-C5D4E90B9ABA}"/>
              </a:ext>
            </a:extLst>
          </p:cNvPr>
          <p:cNvSpPr>
            <a:spLocks noGrp="1"/>
          </p:cNvSpPr>
          <p:nvPr/>
        </p:nvSpPr>
        <p:spPr>
          <a:xfrm>
            <a:off x="426960" y="1536480"/>
            <a:ext cx="8305560" cy="0"/>
          </a:xfrm>
          <a:prstGeom prst="line">
            <a:avLst/>
          </a:prstGeom>
          <a:ln w="50760">
            <a:solidFill>
              <a:srgbClr val="3333C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angyy@eduhk.h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>
            <a:extLst>
              <a:ext uri="{FF2B5EF4-FFF2-40B4-BE49-F238E27FC236}">
                <a16:creationId xmlns:a16="http://schemas.microsoft.com/office/drawing/2014/main" id="{7C2F2CE9-F44D-4410-A84B-4C12005512CA}"/>
              </a:ext>
            </a:extLst>
          </p:cNvPr>
          <p:cNvSpPr>
            <a:spLocks noGrp="1"/>
          </p:cNvSpPr>
          <p:nvPr/>
        </p:nvSpPr>
        <p:spPr>
          <a:xfrm>
            <a:off x="152280" y="990360"/>
            <a:ext cx="8763120" cy="152424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EA0EF5D-D263-4A86-B315-1329C8E50170}"/>
              </a:ext>
            </a:extLst>
          </p:cNvPr>
          <p:cNvSpPr>
            <a:spLocks noGrp="1"/>
          </p:cNvSpPr>
          <p:nvPr/>
        </p:nvSpPr>
        <p:spPr>
          <a:xfrm>
            <a:off x="687240" y="990360"/>
            <a:ext cx="7921440" cy="5193386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sp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34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INT</a:t>
            </a:r>
            <a:r>
              <a:rPr lang="zh-CN" altLang="en-US" sz="34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4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6164</a:t>
            </a: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4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Database Systems and Management</a:t>
            </a:r>
            <a:endParaRPr sz="3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36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36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36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36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u="none" dirty="0">
                <a:solidFill>
                  <a:srgbClr val="22228B"/>
                </a:solidFill>
                <a:latin typeface="Arial"/>
                <a:ea typeface="Arial"/>
                <a:cs typeface="Arial"/>
              </a:rPr>
              <a:t>Yang Yu</a:t>
            </a: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ts val="1397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Department of Mathematics and Information Technology (MIT) </a:t>
            </a:r>
            <a:endParaRPr sz="20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 dirty="0">
                <a:solidFill>
                  <a:srgbClr val="22228B"/>
                </a:solidFill>
                <a:latin typeface="Arial"/>
                <a:ea typeface="Arial"/>
                <a:cs typeface="Arial"/>
              </a:rPr>
              <a:t>(E-mail: </a:t>
            </a:r>
            <a:r>
              <a:rPr sz="2000" b="1" u="sng" dirty="0">
                <a:solidFill>
                  <a:srgbClr val="CCCCFF"/>
                </a:solidFill>
                <a:latin typeface="Arial"/>
                <a:ea typeface="Arial"/>
                <a:cs typeface="Arial"/>
                <a:hlinkClick r:id="rId3"/>
              </a:rPr>
              <a:t>yangyy@eduhk.hk</a:t>
            </a:r>
            <a:r>
              <a:rPr sz="2000" b="1" u="none" dirty="0">
                <a:solidFill>
                  <a:srgbClr val="22228B"/>
                </a:solidFill>
                <a:latin typeface="Arial"/>
                <a:ea typeface="Arial"/>
                <a:cs typeface="Arial"/>
              </a:rPr>
              <a:t>)</a:t>
            </a:r>
            <a:endParaRPr sz="20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FAD36E7E-E54F-4F79-B416-F19B91F36830}"/>
              </a:ext>
            </a:extLst>
          </p:cNvPr>
          <p:cNvSpPr>
            <a:spLocks noGrp="1"/>
          </p:cNvSpPr>
          <p:nvPr/>
        </p:nvSpPr>
        <p:spPr>
          <a:xfrm>
            <a:off x="304560" y="6400800"/>
            <a:ext cx="198144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Sem A, 2025/26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73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1. Explain why a DBMS is more than file storage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2. Distinguish data, database, DBMS, schema, and instance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3. Trace a query through the major DBMS components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4. Read ER notation and model a small domain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5. Preview how ER designs become tables and queries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Group Discussion (</a:t>
            </a:r>
            <a:r>
              <a:rPr lang="en-US" altLang="zh-CN" sz="3600" b="1" i="1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15</a:t>
            </a:r>
            <a:r>
              <a:rPr sz="36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 mins + </a:t>
            </a:r>
            <a:r>
              <a:rPr lang="en-US" altLang="zh-CN" sz="3600" b="1" i="1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15</a:t>
            </a:r>
            <a:r>
              <a:rPr sz="36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 mins) 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rmAutofit/>
          </a:bodyPr>
          <a:lstStyle/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Formulate a group with 4 ~ 5 members</a:t>
            </a: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What is database (DB) systems? </a:t>
            </a:r>
            <a:r>
              <a:rPr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  <a:r>
              <a:rPr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mins)</a:t>
            </a: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550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Why are DB systems important?</a:t>
            </a:r>
            <a:r>
              <a:rPr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altLang="zh-CN" sz="24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  <a:r>
              <a:rPr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mins)</a:t>
            </a: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How do DB systems facilitate real-world applications? </a:t>
            </a:r>
            <a:r>
              <a:rPr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  <a:r>
              <a:rPr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mins)</a:t>
            </a: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Answering </a:t>
            </a:r>
            <a:r>
              <a:rPr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altLang="zh-CN"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15</a:t>
            </a:r>
            <a:r>
              <a:rPr sz="2400" b="0" u="none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mins)</a:t>
            </a: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194400" indent="-19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>
              <a:lnSpc>
                <a:spcPct val="90000"/>
              </a:lnSpc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Warm-up: Choose a Data Problem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Choose one: course registration, clinic appointments, food delivery, or library lending.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List the users, records, frequent operations, and rules.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Identify one failure that could occur if separate files or spreadsheets were used.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Be ready to share one concrete example.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Debrief: When Do We Need a DBMS?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Many users share persistent, logically related data.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Rules must remain true when updates happen concurrently.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Different users need different views of the same facts.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Questions change faster than fixed file formats.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A DBMS coordinates storage, access, integrity, recovery, and security.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>
            <a:extLst>
              <a:ext uri="{FF2B5EF4-FFF2-40B4-BE49-F238E27FC236}">
                <a16:creationId xmlns:a16="http://schemas.microsoft.com/office/drawing/2014/main" id="{B777EB5E-9692-427A-B10F-8EA6F7DE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Introduction to DB Systems</a:t>
            </a:r>
          </a:p>
        </p:txBody>
      </p:sp>
      <p:sp>
        <p:nvSpPr>
          <p:cNvPr id="30" name="PlaceHolder 2">
            <a:extLst>
              <a:ext uri="{FF2B5EF4-FFF2-40B4-BE49-F238E27FC236}">
                <a16:creationId xmlns:a16="http://schemas.microsoft.com/office/drawing/2014/main" id="{C1DC42A5-24BD-4A6A-8361-92B44AAE64F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Motivations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Information about a particular enterprise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File-processing Systems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permanent records stored in various files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application programs written to extract &amp; add records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Disadvantages of traditional file-processing systems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redundancy &amp; inconsistency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difficulty in accessing data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isolation &amp; different data formats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concurrent access anomalies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security problem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integrity problem</a:t>
            </a:r>
          </a:p>
        </p:txBody>
      </p:sp>
    </p:spTree>
    <p:extLst>
      <p:ext uri="{BB962C8B-B14F-4D97-AF65-F5344CB8AC3E}">
        <p14:creationId xmlns:p14="http://schemas.microsoft.com/office/powerpoint/2010/main" val="58906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>
            <a:extLst>
              <a:ext uri="{FF2B5EF4-FFF2-40B4-BE49-F238E27FC236}">
                <a16:creationId xmlns:a16="http://schemas.microsoft.com/office/drawing/2014/main" id="{70673E03-D666-4043-AF78-45D5FFB3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Introduction to DB Systems</a:t>
            </a:r>
          </a:p>
        </p:txBody>
      </p:sp>
      <p:sp>
        <p:nvSpPr>
          <p:cNvPr id="32" name="PlaceHolder 2">
            <a:extLst>
              <a:ext uri="{FF2B5EF4-FFF2-40B4-BE49-F238E27FC236}">
                <a16:creationId xmlns:a16="http://schemas.microsoft.com/office/drawing/2014/main" id="{2A37C21F-CF9C-4730-9457-28F5FE3468D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What is Data?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is recorded or observable facts such as age, address, height, etc.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is everywhere and there is a lot of it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Each piece of data takes up space on a computer, so how do we store it efficiently and effectively?</a:t>
            </a: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7DAEE93E-64D9-47FF-8A84-845CCDC7DD7A}"/>
              </a:ext>
            </a:extLst>
          </p:cNvPr>
          <p:cNvSpPr>
            <a:spLocks noGrp="1"/>
          </p:cNvSpPr>
          <p:nvPr/>
        </p:nvSpPr>
        <p:spPr>
          <a:xfrm>
            <a:off x="617400" y="4054320"/>
            <a:ext cx="8145360" cy="22096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BDACD6DE-691B-4FE3-8B33-55F64133E363}"/>
              </a:ext>
            </a:extLst>
          </p:cNvPr>
          <p:cNvSpPr>
            <a:spLocks noGrp="1"/>
          </p:cNvSpPr>
          <p:nvPr/>
        </p:nvSpPr>
        <p:spPr>
          <a:xfrm>
            <a:off x="591840" y="4038480"/>
            <a:ext cx="824724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Student ID Student name  Sex    Course        Course Name        Grade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 Box 6">
            <a:extLst>
              <a:ext uri="{FF2B5EF4-FFF2-40B4-BE49-F238E27FC236}">
                <a16:creationId xmlns:a16="http://schemas.microsoft.com/office/drawing/2014/main" id="{643B57A5-82FA-4F8F-87E0-44F44CEBB2A0}"/>
              </a:ext>
            </a:extLst>
          </p:cNvPr>
          <p:cNvSpPr>
            <a:spLocks noGrp="1"/>
          </p:cNvSpPr>
          <p:nvPr/>
        </p:nvSpPr>
        <p:spPr>
          <a:xfrm>
            <a:off x="617400" y="4410000"/>
            <a:ext cx="822168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CS3402    Database Systems      B+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5C1F486D-F58C-4D8B-A175-497CE70E76AD}"/>
              </a:ext>
            </a:extLst>
          </p:cNvPr>
          <p:cNvSpPr>
            <a:spLocks noGrp="1"/>
          </p:cNvSpPr>
          <p:nvPr/>
        </p:nvSpPr>
        <p:spPr>
          <a:xfrm>
            <a:off x="623880" y="4727520"/>
            <a:ext cx="82152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CS2302    Data Structures            A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Box 8">
            <a:extLst>
              <a:ext uri="{FF2B5EF4-FFF2-40B4-BE49-F238E27FC236}">
                <a16:creationId xmlns:a16="http://schemas.microsoft.com/office/drawing/2014/main" id="{E122B61B-17DC-4A79-9F49-2BA18C88EBAF}"/>
              </a:ext>
            </a:extLst>
          </p:cNvPr>
          <p:cNvSpPr>
            <a:spLocks noGrp="1"/>
          </p:cNvSpPr>
          <p:nvPr/>
        </p:nvSpPr>
        <p:spPr>
          <a:xfrm>
            <a:off x="630000" y="5060880"/>
            <a:ext cx="820908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    ….                 ….                        ..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Text Box 9">
            <a:extLst>
              <a:ext uri="{FF2B5EF4-FFF2-40B4-BE49-F238E27FC236}">
                <a16:creationId xmlns:a16="http://schemas.microsoft.com/office/drawing/2014/main" id="{FEEC9361-2148-4FA2-BFDC-CF5C7CA6CCDF}"/>
              </a:ext>
            </a:extLst>
          </p:cNvPr>
          <p:cNvSpPr>
            <a:spLocks noGrp="1"/>
          </p:cNvSpPr>
          <p:nvPr/>
        </p:nvSpPr>
        <p:spPr>
          <a:xfrm>
            <a:off x="642600" y="5432400"/>
            <a:ext cx="8209080" cy="1325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50000001     Mary Tsui        F      CS3402    Database Systems       A-      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50000002     Bob Lee          M     CS3402    Database Systems       B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Line 10">
            <a:extLst>
              <a:ext uri="{FF2B5EF4-FFF2-40B4-BE49-F238E27FC236}">
                <a16:creationId xmlns:a16="http://schemas.microsoft.com/office/drawing/2014/main" id="{39A77E5D-633A-41C0-BD6D-53D7C5F15685}"/>
              </a:ext>
            </a:extLst>
          </p:cNvPr>
          <p:cNvSpPr>
            <a:spLocks noGrp="1"/>
          </p:cNvSpPr>
          <p:nvPr/>
        </p:nvSpPr>
        <p:spPr>
          <a:xfrm>
            <a:off x="617400" y="4419360"/>
            <a:ext cx="8145360" cy="158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Line 11">
            <a:extLst>
              <a:ext uri="{FF2B5EF4-FFF2-40B4-BE49-F238E27FC236}">
                <a16:creationId xmlns:a16="http://schemas.microsoft.com/office/drawing/2014/main" id="{92EDA794-AEA0-49D1-B328-ABF036467AB8}"/>
              </a:ext>
            </a:extLst>
          </p:cNvPr>
          <p:cNvSpPr>
            <a:spLocks noGrp="1"/>
          </p:cNvSpPr>
          <p:nvPr/>
        </p:nvSpPr>
        <p:spPr>
          <a:xfrm>
            <a:off x="1904760" y="405432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Line 12">
            <a:extLst>
              <a:ext uri="{FF2B5EF4-FFF2-40B4-BE49-F238E27FC236}">
                <a16:creationId xmlns:a16="http://schemas.microsoft.com/office/drawing/2014/main" id="{A4F6D5B0-5FC1-46F3-B327-506A29B6C622}"/>
              </a:ext>
            </a:extLst>
          </p:cNvPr>
          <p:cNvSpPr>
            <a:spLocks noGrp="1"/>
          </p:cNvSpPr>
          <p:nvPr/>
        </p:nvSpPr>
        <p:spPr>
          <a:xfrm>
            <a:off x="3581280" y="405432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65F3863C-F226-4CB4-9D0E-CEC8074D2EED}"/>
              </a:ext>
            </a:extLst>
          </p:cNvPr>
          <p:cNvSpPr>
            <a:spLocks noGrp="1"/>
          </p:cNvSpPr>
          <p:nvPr/>
        </p:nvSpPr>
        <p:spPr>
          <a:xfrm>
            <a:off x="5410080" y="405432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F5CB37F8-FAA2-4D0B-9986-08BBC3C96750}"/>
              </a:ext>
            </a:extLst>
          </p:cNvPr>
          <p:cNvSpPr>
            <a:spLocks noGrp="1"/>
          </p:cNvSpPr>
          <p:nvPr/>
        </p:nvSpPr>
        <p:spPr>
          <a:xfrm>
            <a:off x="7772400" y="405432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Line 12">
            <a:extLst>
              <a:ext uri="{FF2B5EF4-FFF2-40B4-BE49-F238E27FC236}">
                <a16:creationId xmlns:a16="http://schemas.microsoft.com/office/drawing/2014/main" id="{C260AB59-FD99-4EE1-98A2-54FE32C227A7}"/>
              </a:ext>
            </a:extLst>
          </p:cNvPr>
          <p:cNvSpPr>
            <a:spLocks noGrp="1"/>
          </p:cNvSpPr>
          <p:nvPr/>
        </p:nvSpPr>
        <p:spPr>
          <a:xfrm>
            <a:off x="4267080" y="405432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89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>
            <a:extLst>
              <a:ext uri="{FF2B5EF4-FFF2-40B4-BE49-F238E27FC236}">
                <a16:creationId xmlns:a16="http://schemas.microsoft.com/office/drawing/2014/main" id="{58FC7C59-75E6-448D-B315-5BDCCBCF5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Motivating Example</a:t>
            </a:r>
          </a:p>
        </p:txBody>
      </p:sp>
      <p:sp>
        <p:nvSpPr>
          <p:cNvPr id="46" name="PlaceHolder 2">
            <a:extLst>
              <a:ext uri="{FF2B5EF4-FFF2-40B4-BE49-F238E27FC236}">
                <a16:creationId xmlns:a16="http://schemas.microsoft.com/office/drawing/2014/main" id="{72BFB028-F59C-4E65-8082-C650C547F9B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5257440"/>
            <a:ext cx="8153280" cy="11430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This way of storing data good?</a:t>
            </a:r>
          </a:p>
          <a:p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How to improve?</a:t>
            </a:r>
          </a:p>
        </p:txBody>
      </p:sp>
      <p:sp>
        <p:nvSpPr>
          <p:cNvPr id="47" name="Rectangle 4">
            <a:extLst>
              <a:ext uri="{FF2B5EF4-FFF2-40B4-BE49-F238E27FC236}">
                <a16:creationId xmlns:a16="http://schemas.microsoft.com/office/drawing/2014/main" id="{DC4E5132-5EBE-42D8-94F4-8FDF3B578EA6}"/>
              </a:ext>
            </a:extLst>
          </p:cNvPr>
          <p:cNvSpPr>
            <a:spLocks noGrp="1"/>
          </p:cNvSpPr>
          <p:nvPr/>
        </p:nvSpPr>
        <p:spPr>
          <a:xfrm>
            <a:off x="617400" y="2209680"/>
            <a:ext cx="8145360" cy="22096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Box 5">
            <a:extLst>
              <a:ext uri="{FF2B5EF4-FFF2-40B4-BE49-F238E27FC236}">
                <a16:creationId xmlns:a16="http://schemas.microsoft.com/office/drawing/2014/main" id="{319BE28F-ECE9-4FB6-B5FF-7DD250F012E6}"/>
              </a:ext>
            </a:extLst>
          </p:cNvPr>
          <p:cNvSpPr>
            <a:spLocks noGrp="1"/>
          </p:cNvSpPr>
          <p:nvPr/>
        </p:nvSpPr>
        <p:spPr>
          <a:xfrm>
            <a:off x="591840" y="2193840"/>
            <a:ext cx="824724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Student ID Student name  Sex    Course        Course Name        Grade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62D95E44-CA31-4A2A-B969-96D1E874FDAF}"/>
              </a:ext>
            </a:extLst>
          </p:cNvPr>
          <p:cNvSpPr>
            <a:spLocks noGrp="1"/>
          </p:cNvSpPr>
          <p:nvPr/>
        </p:nvSpPr>
        <p:spPr>
          <a:xfrm>
            <a:off x="617400" y="2565360"/>
            <a:ext cx="822168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CS3402    Database Systems      B+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Box 7">
            <a:extLst>
              <a:ext uri="{FF2B5EF4-FFF2-40B4-BE49-F238E27FC236}">
                <a16:creationId xmlns:a16="http://schemas.microsoft.com/office/drawing/2014/main" id="{6E8834D3-E23F-4D38-A372-E834A04A906A}"/>
              </a:ext>
            </a:extLst>
          </p:cNvPr>
          <p:cNvSpPr>
            <a:spLocks noGrp="1"/>
          </p:cNvSpPr>
          <p:nvPr/>
        </p:nvSpPr>
        <p:spPr>
          <a:xfrm>
            <a:off x="623880" y="2882880"/>
            <a:ext cx="82152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CS2302    Data Structures            A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Box 8">
            <a:extLst>
              <a:ext uri="{FF2B5EF4-FFF2-40B4-BE49-F238E27FC236}">
                <a16:creationId xmlns:a16="http://schemas.microsoft.com/office/drawing/2014/main" id="{D707A3F1-411C-43D0-91B9-AD8D7EED0C1E}"/>
              </a:ext>
            </a:extLst>
          </p:cNvPr>
          <p:cNvSpPr>
            <a:spLocks noGrp="1"/>
          </p:cNvSpPr>
          <p:nvPr/>
        </p:nvSpPr>
        <p:spPr>
          <a:xfrm>
            <a:off x="630000" y="3216240"/>
            <a:ext cx="820908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50000000     Peter Wong    M          ….                 ….                        ..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 Box 9">
            <a:extLst>
              <a:ext uri="{FF2B5EF4-FFF2-40B4-BE49-F238E27FC236}">
                <a16:creationId xmlns:a16="http://schemas.microsoft.com/office/drawing/2014/main" id="{BC3DFE4A-4806-43ED-AD49-9B6349C15514}"/>
              </a:ext>
            </a:extLst>
          </p:cNvPr>
          <p:cNvSpPr>
            <a:spLocks noGrp="1"/>
          </p:cNvSpPr>
          <p:nvPr/>
        </p:nvSpPr>
        <p:spPr>
          <a:xfrm>
            <a:off x="642600" y="3587400"/>
            <a:ext cx="8209080" cy="1325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50000001     Mary Tsui        F      CS3402    Database Systems       A-      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50000002     Bob Lee          M     CS3402    Database Systems       B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Line 10">
            <a:extLst>
              <a:ext uri="{FF2B5EF4-FFF2-40B4-BE49-F238E27FC236}">
                <a16:creationId xmlns:a16="http://schemas.microsoft.com/office/drawing/2014/main" id="{11C96FA0-6895-4C5C-B163-71A15FD7BD2F}"/>
              </a:ext>
            </a:extLst>
          </p:cNvPr>
          <p:cNvSpPr>
            <a:spLocks noGrp="1"/>
          </p:cNvSpPr>
          <p:nvPr/>
        </p:nvSpPr>
        <p:spPr>
          <a:xfrm>
            <a:off x="617400" y="2574720"/>
            <a:ext cx="8145360" cy="158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Line 11">
            <a:extLst>
              <a:ext uri="{FF2B5EF4-FFF2-40B4-BE49-F238E27FC236}">
                <a16:creationId xmlns:a16="http://schemas.microsoft.com/office/drawing/2014/main" id="{FD672995-C4F0-426E-8908-25A6D9BAD78A}"/>
              </a:ext>
            </a:extLst>
          </p:cNvPr>
          <p:cNvSpPr>
            <a:spLocks noGrp="1"/>
          </p:cNvSpPr>
          <p:nvPr/>
        </p:nvSpPr>
        <p:spPr>
          <a:xfrm>
            <a:off x="1904760" y="220968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Line 12">
            <a:extLst>
              <a:ext uri="{FF2B5EF4-FFF2-40B4-BE49-F238E27FC236}">
                <a16:creationId xmlns:a16="http://schemas.microsoft.com/office/drawing/2014/main" id="{443FE6B5-69ED-4DF9-8151-A29796856168}"/>
              </a:ext>
            </a:extLst>
          </p:cNvPr>
          <p:cNvSpPr>
            <a:spLocks noGrp="1"/>
          </p:cNvSpPr>
          <p:nvPr/>
        </p:nvSpPr>
        <p:spPr>
          <a:xfrm>
            <a:off x="3581280" y="220968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Line 13">
            <a:extLst>
              <a:ext uri="{FF2B5EF4-FFF2-40B4-BE49-F238E27FC236}">
                <a16:creationId xmlns:a16="http://schemas.microsoft.com/office/drawing/2014/main" id="{EA5D6B85-7CAC-4ED2-9E5B-DD20D0CD0460}"/>
              </a:ext>
            </a:extLst>
          </p:cNvPr>
          <p:cNvSpPr>
            <a:spLocks noGrp="1"/>
          </p:cNvSpPr>
          <p:nvPr/>
        </p:nvSpPr>
        <p:spPr>
          <a:xfrm>
            <a:off x="5410080" y="220968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Line 14">
            <a:extLst>
              <a:ext uri="{FF2B5EF4-FFF2-40B4-BE49-F238E27FC236}">
                <a16:creationId xmlns:a16="http://schemas.microsoft.com/office/drawing/2014/main" id="{D38ED3D5-9167-4D96-8B96-5597DA8103FE}"/>
              </a:ext>
            </a:extLst>
          </p:cNvPr>
          <p:cNvSpPr>
            <a:spLocks noGrp="1"/>
          </p:cNvSpPr>
          <p:nvPr/>
        </p:nvSpPr>
        <p:spPr>
          <a:xfrm>
            <a:off x="7772400" y="220968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Line 12">
            <a:extLst>
              <a:ext uri="{FF2B5EF4-FFF2-40B4-BE49-F238E27FC236}">
                <a16:creationId xmlns:a16="http://schemas.microsoft.com/office/drawing/2014/main" id="{5FE78592-3D42-495F-A37F-B105CCBE831A}"/>
              </a:ext>
            </a:extLst>
          </p:cNvPr>
          <p:cNvSpPr>
            <a:spLocks noGrp="1"/>
          </p:cNvSpPr>
          <p:nvPr/>
        </p:nvSpPr>
        <p:spPr>
          <a:xfrm>
            <a:off x="4267080" y="2209680"/>
            <a:ext cx="0" cy="22096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01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>
            <a:extLst>
              <a:ext uri="{FF2B5EF4-FFF2-40B4-BE49-F238E27FC236}">
                <a16:creationId xmlns:a16="http://schemas.microsoft.com/office/drawing/2014/main" id="{B4C93B60-F055-400D-995F-F321F647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Introduction to DB Systems</a:t>
            </a:r>
          </a:p>
        </p:txBody>
      </p:sp>
      <p:sp>
        <p:nvSpPr>
          <p:cNvPr id="60" name="PlaceHolder 2">
            <a:extLst>
              <a:ext uri="{FF2B5EF4-FFF2-40B4-BE49-F238E27FC236}">
                <a16:creationId xmlns:a16="http://schemas.microsoft.com/office/drawing/2014/main" id="{701B33D0-2D4F-4641-9654-2E8D41C32E8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What is a Database (DB)?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 </a:t>
            </a: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non-redundant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persistent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collection of </a:t>
            </a: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logically related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records/files that are </a:t>
            </a: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structured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to support various processing and retrieval needs</a:t>
            </a:r>
          </a:p>
          <a:p>
            <a:pPr marL="743040" lvl="1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Database Management System (DBMS)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 set of software programs for creating, storing, updating, and accessing the data of a DB.</a:t>
            </a:r>
          </a:p>
        </p:txBody>
      </p:sp>
      <p:sp>
        <p:nvSpPr>
          <p:cNvPr id="61" name="Rectangle 1028">
            <a:extLst>
              <a:ext uri="{FF2B5EF4-FFF2-40B4-BE49-F238E27FC236}">
                <a16:creationId xmlns:a16="http://schemas.microsoft.com/office/drawing/2014/main" id="{162C9C26-1A7D-426D-85FD-648CFF4F0153}"/>
              </a:ext>
            </a:extLst>
          </p:cNvPr>
          <p:cNvSpPr>
            <a:spLocks noGrp="1"/>
          </p:cNvSpPr>
          <p:nvPr/>
        </p:nvSpPr>
        <p:spPr>
          <a:xfrm>
            <a:off x="3733560" y="4952880"/>
            <a:ext cx="1676520" cy="1447920"/>
          </a:xfrm>
          <a:prstGeom prst="rect">
            <a:avLst/>
          </a:prstGeom>
          <a:solidFill>
            <a:srgbClr val="FFFF00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Rectangle 1030">
            <a:extLst>
              <a:ext uri="{FF2B5EF4-FFF2-40B4-BE49-F238E27FC236}">
                <a16:creationId xmlns:a16="http://schemas.microsoft.com/office/drawing/2014/main" id="{22B9A27C-E3AF-4BC2-B6D5-D7FA9B1676D6}"/>
              </a:ext>
            </a:extLst>
          </p:cNvPr>
          <p:cNvSpPr>
            <a:spLocks noGrp="1"/>
          </p:cNvSpPr>
          <p:nvPr/>
        </p:nvSpPr>
        <p:spPr>
          <a:xfrm>
            <a:off x="4267080" y="5333760"/>
            <a:ext cx="685800" cy="609840"/>
          </a:xfrm>
          <a:prstGeom prst="rect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Oval 1029">
            <a:extLst>
              <a:ext uri="{FF2B5EF4-FFF2-40B4-BE49-F238E27FC236}">
                <a16:creationId xmlns:a16="http://schemas.microsoft.com/office/drawing/2014/main" id="{674F1460-2C55-445C-BD16-E0625A84E8E4}"/>
              </a:ext>
            </a:extLst>
          </p:cNvPr>
          <p:cNvSpPr>
            <a:spLocks noGrp="1"/>
          </p:cNvSpPr>
          <p:nvPr/>
        </p:nvSpPr>
        <p:spPr>
          <a:xfrm>
            <a:off x="4267080" y="5257800"/>
            <a:ext cx="685800" cy="228600"/>
          </a:xfrm>
          <a:prstGeom prst="ellipse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Box 1031">
            <a:extLst>
              <a:ext uri="{FF2B5EF4-FFF2-40B4-BE49-F238E27FC236}">
                <a16:creationId xmlns:a16="http://schemas.microsoft.com/office/drawing/2014/main" id="{A7976497-EAA5-48B8-89A0-83A395B5DD25}"/>
              </a:ext>
            </a:extLst>
          </p:cNvPr>
          <p:cNvSpPr>
            <a:spLocks noGrp="1"/>
          </p:cNvSpPr>
          <p:nvPr/>
        </p:nvSpPr>
        <p:spPr>
          <a:xfrm>
            <a:off x="4343400" y="5638680"/>
            <a:ext cx="609480" cy="368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DB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Box 1032">
            <a:extLst>
              <a:ext uri="{FF2B5EF4-FFF2-40B4-BE49-F238E27FC236}">
                <a16:creationId xmlns:a16="http://schemas.microsoft.com/office/drawing/2014/main" id="{8D398788-28D2-4F76-A089-3FC163C761FB}"/>
              </a:ext>
            </a:extLst>
          </p:cNvPr>
          <p:cNvSpPr>
            <a:spLocks noGrp="1"/>
          </p:cNvSpPr>
          <p:nvPr/>
        </p:nvSpPr>
        <p:spPr>
          <a:xfrm>
            <a:off x="3886200" y="6019560"/>
            <a:ext cx="13716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DBMS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Oval 1033">
            <a:extLst>
              <a:ext uri="{FF2B5EF4-FFF2-40B4-BE49-F238E27FC236}">
                <a16:creationId xmlns:a16="http://schemas.microsoft.com/office/drawing/2014/main" id="{8C3964AD-6539-49EF-B79B-A4483C3FC6B3}"/>
              </a:ext>
            </a:extLst>
          </p:cNvPr>
          <p:cNvSpPr>
            <a:spLocks noGrp="1"/>
          </p:cNvSpPr>
          <p:nvPr/>
        </p:nvSpPr>
        <p:spPr>
          <a:xfrm>
            <a:off x="2590560" y="5029200"/>
            <a:ext cx="381240" cy="38088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Line 1034">
            <a:extLst>
              <a:ext uri="{FF2B5EF4-FFF2-40B4-BE49-F238E27FC236}">
                <a16:creationId xmlns:a16="http://schemas.microsoft.com/office/drawing/2014/main" id="{65A22975-B26C-461E-A1FC-78E514A5E079}"/>
              </a:ext>
            </a:extLst>
          </p:cNvPr>
          <p:cNvSpPr>
            <a:spLocks noGrp="1"/>
          </p:cNvSpPr>
          <p:nvPr/>
        </p:nvSpPr>
        <p:spPr>
          <a:xfrm>
            <a:off x="2438280" y="5410080"/>
            <a:ext cx="380880" cy="22860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Line 1035">
            <a:extLst>
              <a:ext uri="{FF2B5EF4-FFF2-40B4-BE49-F238E27FC236}">
                <a16:creationId xmlns:a16="http://schemas.microsoft.com/office/drawing/2014/main" id="{47D24C6A-A155-4B23-ACD4-E2CADD9BD6E1}"/>
              </a:ext>
            </a:extLst>
          </p:cNvPr>
          <p:cNvSpPr>
            <a:spLocks noGrp="1"/>
          </p:cNvSpPr>
          <p:nvPr/>
        </p:nvSpPr>
        <p:spPr>
          <a:xfrm flipV="1">
            <a:off x="2819160" y="5409720"/>
            <a:ext cx="304920" cy="22860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Line 1036">
            <a:extLst>
              <a:ext uri="{FF2B5EF4-FFF2-40B4-BE49-F238E27FC236}">
                <a16:creationId xmlns:a16="http://schemas.microsoft.com/office/drawing/2014/main" id="{20BCDFDD-8AFB-45F6-BAFE-2F2DAD91BA5A}"/>
              </a:ext>
            </a:extLst>
          </p:cNvPr>
          <p:cNvSpPr>
            <a:spLocks noGrp="1"/>
          </p:cNvSpPr>
          <p:nvPr/>
        </p:nvSpPr>
        <p:spPr>
          <a:xfrm>
            <a:off x="2819160" y="5410080"/>
            <a:ext cx="0" cy="45720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Line 1037">
            <a:extLst>
              <a:ext uri="{FF2B5EF4-FFF2-40B4-BE49-F238E27FC236}">
                <a16:creationId xmlns:a16="http://schemas.microsoft.com/office/drawing/2014/main" id="{4C5D4C8C-13F3-44C2-9581-F1B156A11DAC}"/>
              </a:ext>
            </a:extLst>
          </p:cNvPr>
          <p:cNvSpPr>
            <a:spLocks noGrp="1"/>
          </p:cNvSpPr>
          <p:nvPr/>
        </p:nvSpPr>
        <p:spPr>
          <a:xfrm flipH="1">
            <a:off x="2590200" y="5867280"/>
            <a:ext cx="228600" cy="22860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Line 1038">
            <a:extLst>
              <a:ext uri="{FF2B5EF4-FFF2-40B4-BE49-F238E27FC236}">
                <a16:creationId xmlns:a16="http://schemas.microsoft.com/office/drawing/2014/main" id="{80FC8B2E-CD0E-4FB5-95D0-F71DB28FBF27}"/>
              </a:ext>
            </a:extLst>
          </p:cNvPr>
          <p:cNvSpPr>
            <a:spLocks noGrp="1"/>
          </p:cNvSpPr>
          <p:nvPr/>
        </p:nvSpPr>
        <p:spPr>
          <a:xfrm>
            <a:off x="2819160" y="5867280"/>
            <a:ext cx="228600" cy="22860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AutoShape 1040">
            <a:extLst>
              <a:ext uri="{FF2B5EF4-FFF2-40B4-BE49-F238E27FC236}">
                <a16:creationId xmlns:a16="http://schemas.microsoft.com/office/drawing/2014/main" id="{76B91E91-973F-44EB-82EC-966615818592}"/>
              </a:ext>
            </a:extLst>
          </p:cNvPr>
          <p:cNvSpPr>
            <a:spLocks noGrp="1"/>
          </p:cNvSpPr>
          <p:nvPr/>
        </p:nvSpPr>
        <p:spPr>
          <a:xfrm>
            <a:off x="5486400" y="4572000"/>
            <a:ext cx="2743200" cy="1066680"/>
          </a:xfrm>
          <a:prstGeom prst="cloudCallout">
            <a:avLst>
              <a:gd name="adj1" fmla="val -50694"/>
              <a:gd name="adj2" fmla="val 60416"/>
            </a:avLst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Software interface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Line 1041">
            <a:extLst>
              <a:ext uri="{FF2B5EF4-FFF2-40B4-BE49-F238E27FC236}">
                <a16:creationId xmlns:a16="http://schemas.microsoft.com/office/drawing/2014/main" id="{3BF443DC-14FD-4B01-BDB3-5D4A830A7048}"/>
              </a:ext>
            </a:extLst>
          </p:cNvPr>
          <p:cNvSpPr>
            <a:spLocks noGrp="1"/>
          </p:cNvSpPr>
          <p:nvPr/>
        </p:nvSpPr>
        <p:spPr>
          <a:xfrm>
            <a:off x="3124080" y="5638680"/>
            <a:ext cx="533520" cy="0"/>
          </a:xfrm>
          <a:prstGeom prst="line">
            <a:avLst/>
          </a:prstGeom>
          <a:ln w="378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176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File Registration: What Can Go Wrong?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Alice and Ben both read: “1 seat remaining.” Both are confirmed.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Student and course details are copied into several spreadsheets.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 room change is updated in one file but not another.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 shared export reveals grades to unauthorized users.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Which problem is redundancy, concurrency, integrity, or security?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Diagnose the Failure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Redundancy → duplicated facts become inconsistent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Concurrency → simultaneous updates cause overbooking or lost work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Integrity → a capacity or key rule is violated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Security → a file exposes more data than a user should see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DBMS response → transactions, constraints, authorization, backup, and recovery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>
            <a:extLst>
              <a:ext uri="{FF2B5EF4-FFF2-40B4-BE49-F238E27FC236}">
                <a16:creationId xmlns:a16="http://schemas.microsoft.com/office/drawing/2014/main" id="{7ECFC352-52B5-4097-9F53-A78F60CFF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DB Systems: an Overview</a:t>
            </a:r>
          </a:p>
        </p:txBody>
      </p:sp>
      <p:sp>
        <p:nvSpPr>
          <p:cNvPr id="75" name="Rectangle 3">
            <a:extLst>
              <a:ext uri="{FF2B5EF4-FFF2-40B4-BE49-F238E27FC236}">
                <a16:creationId xmlns:a16="http://schemas.microsoft.com/office/drawing/2014/main" id="{9263DD28-7EBE-4496-80F1-B77008BDCEC4}"/>
              </a:ext>
            </a:extLst>
          </p:cNvPr>
          <p:cNvSpPr>
            <a:spLocks noGrp="1"/>
          </p:cNvSpPr>
          <p:nvPr/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rmAutofit/>
          </a:bodyPr>
          <a:lstStyle/>
          <a:p>
            <a:pPr marL="342720" indent="-34272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Difference between (Closed World) Databases &amp; (Open World) Web Data/Information Systems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 database is usually developed </a:t>
            </a: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for a particular application domain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, e.g., databases in the various Offices or Departments in a university, a bank, a company, etc.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Closed World Assumption (CWA)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all factual data or facts assumed to be stored in the database; facts not found in the database will be regarded as “false”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259200" lvl="1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       vs.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486000" lvl="2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Open World Assumption (OWA)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data not found may mean “unknown”, “not applicable”, or “not yet available” etc., instead of just being not true or false.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85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A0835AED-B943-459F-8E4E-B71929E2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Introduction to DB Systems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3D6FC8AD-AA5C-4F4B-8112-5E81318D24A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Difference between DBMS &amp; other programming systems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ability to manage persistent data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primary goal of DBMS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to provide an environment that is convenient, efficient, and robust to use in retrieving &amp; storing data</a:t>
            </a:r>
          </a:p>
          <a:p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Other DBMS capabilities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modeling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high-level languages to define, access and manipulate data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transaction management &amp; concurrency control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access control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</p:spTree>
    <p:extLst>
      <p:ext uri="{BB962C8B-B14F-4D97-AF65-F5344CB8AC3E}">
        <p14:creationId xmlns:p14="http://schemas.microsoft.com/office/powerpoint/2010/main" val="21744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>
            <a:extLst>
              <a:ext uri="{FF2B5EF4-FFF2-40B4-BE49-F238E27FC236}">
                <a16:creationId xmlns:a16="http://schemas.microsoft.com/office/drawing/2014/main" id="{4660F552-115A-4D13-A96B-F30C6BA08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Introduction to DB Systems</a:t>
            </a:r>
          </a:p>
        </p:txBody>
      </p:sp>
      <p:sp>
        <p:nvSpPr>
          <p:cNvPr id="79" name="PlaceHolder 2">
            <a:extLst>
              <a:ext uri="{FF2B5EF4-FFF2-40B4-BE49-F238E27FC236}">
                <a16:creationId xmlns:a16="http://schemas.microsoft.com/office/drawing/2014/main" id="{BC8DD30A-CD42-4F84-8BC1-80A130ED786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51920" y="1785600"/>
            <a:ext cx="899172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Abstraction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Databases can be complex and depending on your role what you need to understand about the system is limited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Abstract view of the data (data abstraction)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simplify interaction with the system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hide details of how data is stored and manipulated</a:t>
            </a: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Levels of abstraction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physical/internal level: data structures; 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how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data are actually stored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conceptual level: schema, 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what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data are actually stored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view/external level: partial schema</a:t>
            </a:r>
          </a:p>
        </p:txBody>
      </p:sp>
    </p:spTree>
    <p:extLst>
      <p:ext uri="{BB962C8B-B14F-4D97-AF65-F5344CB8AC3E}">
        <p14:creationId xmlns:p14="http://schemas.microsoft.com/office/powerpoint/2010/main" val="1662812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36FF7256-2574-4234-97BF-D49A0801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Data Abstraction: 3-level architecture</a:t>
            </a:r>
          </a:p>
        </p:txBody>
      </p:sp>
      <p:pic>
        <p:nvPicPr>
          <p:cNvPr id="83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160" y="1785600"/>
            <a:ext cx="7709040" cy="4615200"/>
          </a:xfrm>
          <a:prstGeom prst="rect">
            <a:avLst/>
          </a:prstGeom>
          <a:ln w="38160">
            <a:noFill/>
          </a:ln>
        </p:spPr>
      </p:pic>
    </p:spTree>
    <p:extLst>
      <p:ext uri="{BB962C8B-B14F-4D97-AF65-F5344CB8AC3E}">
        <p14:creationId xmlns:p14="http://schemas.microsoft.com/office/powerpoint/2010/main" val="514700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>
            <a:extLst>
              <a:ext uri="{FF2B5EF4-FFF2-40B4-BE49-F238E27FC236}">
                <a16:creationId xmlns:a16="http://schemas.microsoft.com/office/drawing/2014/main" id="{18BF148E-AA3E-4FED-9C94-BD78EDA8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Data Models</a:t>
            </a:r>
          </a:p>
        </p:txBody>
      </p:sp>
      <p:sp>
        <p:nvSpPr>
          <p:cNvPr id="83" name="PlaceHolder 2">
            <a:extLst>
              <a:ext uri="{FF2B5EF4-FFF2-40B4-BE49-F238E27FC236}">
                <a16:creationId xmlns:a16="http://schemas.microsoft.com/office/drawing/2014/main" id="{5F28D916-1FEE-4AC3-88CB-0F5C8E44E98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Model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 collection of conceptual tools for describing data, data relationships, operations, and consistency constraints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“core” of a database</a:t>
            </a:r>
          </a:p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Categories of data models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Object-based logical models (conceptual &amp; view levels)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the Entity-Relationship (ER) model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mid 70’s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Semantic Data Models -- early/mid 80’s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Object-Oriented data models -- late 80’s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Record-based logical models (conceptual &amp; view levels)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Network and Hierarchical models -- 60’s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the Relational model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early 70’s</a:t>
            </a:r>
          </a:p>
        </p:txBody>
      </p:sp>
    </p:spTree>
    <p:extLst>
      <p:ext uri="{BB962C8B-B14F-4D97-AF65-F5344CB8AC3E}">
        <p14:creationId xmlns:p14="http://schemas.microsoft.com/office/powerpoint/2010/main" val="1236528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>
            <a:extLst>
              <a:ext uri="{FF2B5EF4-FFF2-40B4-BE49-F238E27FC236}">
                <a16:creationId xmlns:a16="http://schemas.microsoft.com/office/drawing/2014/main" id="{46D48D03-0320-483A-9614-E9BAFC28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Data Models</a:t>
            </a:r>
          </a:p>
        </p:txBody>
      </p:sp>
      <p:sp>
        <p:nvSpPr>
          <p:cNvPr id="85" name="PlaceHolder 2">
            <a:extLst>
              <a:ext uri="{FF2B5EF4-FFF2-40B4-BE49-F238E27FC236}">
                <a16:creationId xmlns:a16="http://schemas.microsoft.com/office/drawing/2014/main" id="{93320B77-7275-4E0B-9936-FF130E30CC0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Categories of data models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Physical data models (internal level)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Unifying model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Frame memory model</a:t>
            </a:r>
          </a:p>
          <a:p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 </a:t>
            </a:r>
            <a:r>
              <a:rPr sz="2000" b="0" i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(these will NOT be studied in this course.)</a:t>
            </a: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Basic Concepts and Terminologies</a:t>
            </a: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instance</a:t>
            </a: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l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collection of data (information) stored in the DB at a particular moment (</a:t>
            </a:r>
            <a:r>
              <a:rPr sz="2000" b="0" u="none" dirty="0" err="1">
                <a:solidFill>
                  <a:srgbClr val="3333CC"/>
                </a:solidFill>
                <a:latin typeface="Arial"/>
                <a:ea typeface="Arial"/>
                <a:cs typeface="Arial"/>
              </a:rPr>
              <a:t>ie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, a snapshot)</a:t>
            </a: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scheme/schema</a:t>
            </a: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l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overall structure (design) of the DB -- </a:t>
            </a:r>
            <a:r>
              <a:rPr sz="2000" b="0" u="none" dirty="0">
                <a:solidFill>
                  <a:srgbClr val="009999"/>
                </a:solidFill>
                <a:latin typeface="Arial"/>
                <a:ea typeface="Arial"/>
                <a:cs typeface="Arial"/>
              </a:rPr>
              <a:t>relatively static</a:t>
            </a: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4127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>
            <a:extLst>
              <a:ext uri="{FF2B5EF4-FFF2-40B4-BE49-F238E27FC236}">
                <a16:creationId xmlns:a16="http://schemas.microsoft.com/office/drawing/2014/main" id="{E5F13B4F-0D64-44FB-A7C5-A7F342D8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60" y="166320"/>
            <a:ext cx="869472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Basic Concepts and Terminologies</a:t>
            </a:r>
          </a:p>
        </p:txBody>
      </p:sp>
      <p:sp>
        <p:nvSpPr>
          <p:cNvPr id="87" name="PlaceHolder 2">
            <a:extLst>
              <a:ext uri="{FF2B5EF4-FFF2-40B4-BE49-F238E27FC236}">
                <a16:creationId xmlns:a16="http://schemas.microsoft.com/office/drawing/2014/main" id="{AE335F71-6F4E-482E-9BEC-17AF78C2926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l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Independence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ability to modify a schema definition in one level without affecting a schema in the next higher level</a:t>
            </a: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there are two kinds (a result of the 3-level architecture):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physical data independence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2057400" lvl="4" indent="-228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-- the ability to modify the physical schema without altering the conceptual schema and thus, without causing the application programs to be rewritten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logical data independence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2057400" lvl="4" indent="-228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-- the ability to modify the conceptual schema without causing the application programs to be rewritten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2057400" lvl="4" indent="-228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3817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4ED2F401-0B06-4373-9AB4-E2B6BB06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Data Abstraction: 3-level architecture</a:t>
            </a:r>
          </a:p>
        </p:txBody>
      </p:sp>
      <p:pic>
        <p:nvPicPr>
          <p:cNvPr id="91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160" y="1785600"/>
            <a:ext cx="7709040" cy="4615200"/>
          </a:xfrm>
          <a:prstGeom prst="rect">
            <a:avLst/>
          </a:prstGeom>
          <a:ln w="38160">
            <a:noFill/>
          </a:ln>
        </p:spPr>
      </p:pic>
    </p:spTree>
    <p:extLst>
      <p:ext uri="{BB962C8B-B14F-4D97-AF65-F5344CB8AC3E}">
        <p14:creationId xmlns:p14="http://schemas.microsoft.com/office/powerpoint/2010/main" val="2061446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Concept Check: Schema or Instance?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A. COURSE(code, title, credits) — schema or instance?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B. (COMP5111, Database Systems, 3) — schema or instance?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C. Rebuild an index without changing applications — which independence?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D. Add an optional attribute without changing user views — which independence?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Vote first; then justify one answer to a neighbour.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Break — 10 Minutes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Return ready to connect DDL, DML, architecture, and queries.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After the break: one SQL preview, then ER modeling.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>
            <a:extLst>
              <a:ext uri="{FF2B5EF4-FFF2-40B4-BE49-F238E27FC236}">
                <a16:creationId xmlns:a16="http://schemas.microsoft.com/office/drawing/2014/main" id="{DAA9AD14-BC3A-4351-8A1B-6E49691D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Basic Concepts and Terminologies</a:t>
            </a:r>
          </a:p>
        </p:txBody>
      </p:sp>
      <p:sp>
        <p:nvSpPr>
          <p:cNvPr id="91" name="PlaceHolder 2">
            <a:extLst>
              <a:ext uri="{FF2B5EF4-FFF2-40B4-BE49-F238E27FC236}">
                <a16:creationId xmlns:a16="http://schemas.microsoft.com/office/drawing/2014/main" id="{11EE4318-54DB-407B-917F-8A899D88CA7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Definition Language (DDL)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l">
              <a:spcBef>
                <a:spcPts val="601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</a:t>
            </a: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 language for defining DB schema</a:t>
            </a:r>
          </a:p>
          <a:p>
            <a:pPr marL="648000" lvl="2" indent="-129600" algn="l">
              <a:spcBef>
                <a:spcPts val="601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DDL statements </a:t>
            </a:r>
            <a:r>
              <a:rPr sz="24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compile</a:t>
            </a: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to a </a:t>
            </a:r>
            <a:r>
              <a:rPr sz="24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data dictionary </a:t>
            </a: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which is a file containing </a:t>
            </a:r>
            <a:r>
              <a:rPr sz="24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metadata</a:t>
            </a: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(data about data), e.g., descriptions about the tables</a:t>
            </a:r>
          </a:p>
          <a:p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Manipulation Language (DML)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l">
              <a:spcBef>
                <a:spcPts val="601"/>
              </a:spcBef>
              <a:buClr>
                <a:srgbClr val="3333CC"/>
              </a:buClr>
              <a:buFont typeface="Helvetica"/>
              <a:buChar char="-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 language that enables users to manipulate data </a:t>
            </a:r>
          </a:p>
          <a:p>
            <a:pPr marL="648000" lvl="2" indent="-129600" algn="l">
              <a:spcBef>
                <a:spcPts val="601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an important subset for retrieving data is called </a:t>
            </a:r>
            <a:r>
              <a:rPr sz="24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Query Language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l">
              <a:spcBef>
                <a:spcPts val="601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two types of DML: </a:t>
            </a:r>
            <a:r>
              <a:rPr sz="2400" b="1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procedural</a:t>
            </a: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(specify “what” &amp; “how”) vs. </a:t>
            </a:r>
            <a:r>
              <a:rPr sz="2400" b="1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declarative</a:t>
            </a: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(just specify “what”)</a:t>
            </a:r>
          </a:p>
        </p:txBody>
      </p:sp>
    </p:spTree>
    <p:extLst>
      <p:ext uri="{BB962C8B-B14F-4D97-AF65-F5344CB8AC3E}">
        <p14:creationId xmlns:p14="http://schemas.microsoft.com/office/powerpoint/2010/main" val="1187173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>
            <a:extLst>
              <a:ext uri="{FF2B5EF4-FFF2-40B4-BE49-F238E27FC236}">
                <a16:creationId xmlns:a16="http://schemas.microsoft.com/office/drawing/2014/main" id="{3CB7FE28-82EA-4372-9851-178F03B9A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Basic Concepts and Terminologies</a:t>
            </a:r>
          </a:p>
        </p:txBody>
      </p:sp>
      <p:sp>
        <p:nvSpPr>
          <p:cNvPr id="93" name="PlaceHolder 2">
            <a:extLst>
              <a:ext uri="{FF2B5EF4-FFF2-40B4-BE49-F238E27FC236}">
                <a16:creationId xmlns:a16="http://schemas.microsoft.com/office/drawing/2014/main" id="{E50DE443-9BFB-4486-A0E7-255CF478BFB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43120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l">
              <a:spcBef>
                <a:spcPts val="700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Database Users</a:t>
            </a:r>
            <a:endParaRPr sz="28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Application Programmers</a:t>
            </a:r>
          </a:p>
          <a:p>
            <a:pPr marL="1143000" lvl="2" indent="-22860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Writing embedded DML in a host language</a:t>
            </a:r>
          </a:p>
          <a:p>
            <a:pPr marL="743040" lvl="1" indent="-28584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Interactive Users:</a:t>
            </a:r>
          </a:p>
          <a:p>
            <a:pPr marL="1143000" lvl="2" indent="-22860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Using query languages	</a:t>
            </a:r>
          </a:p>
          <a:p>
            <a:pPr marL="743040" lvl="1" indent="-28584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Naive Users:</a:t>
            </a:r>
          </a:p>
          <a:p>
            <a:pPr marL="1143000" lvl="2" indent="-228600" algn="l">
              <a:spcBef>
                <a:spcPts val="700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Running application programs</a:t>
            </a:r>
          </a:p>
          <a:p>
            <a:pPr marL="1600200" lvl="3" indent="0" algn="l">
              <a:spcBef>
                <a:spcPts val="700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8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1364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>
            <a:extLst>
              <a:ext uri="{FF2B5EF4-FFF2-40B4-BE49-F238E27FC236}">
                <a16:creationId xmlns:a16="http://schemas.microsoft.com/office/drawing/2014/main" id="{5D27EA39-CC32-4A3E-8EFF-E40269FB7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Basic Concepts and Terminologies</a:t>
            </a:r>
          </a:p>
        </p:txBody>
      </p:sp>
      <p:sp>
        <p:nvSpPr>
          <p:cNvPr id="95" name="PlaceHolder 2">
            <a:extLst>
              <a:ext uri="{FF2B5EF4-FFF2-40B4-BE49-F238E27FC236}">
                <a16:creationId xmlns:a16="http://schemas.microsoft.com/office/drawing/2014/main" id="{073B6F88-0084-4543-B2CF-0728C0F83C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59800" y="1785600"/>
            <a:ext cx="835524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l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Database Administrator (DBA)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DBA is the person who has central control over the DB</a:t>
            </a:r>
          </a:p>
          <a:p>
            <a:pPr marL="743040" lvl="1" indent="-28584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Main functions of DBA:</a:t>
            </a:r>
          </a:p>
          <a:p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schema definition</a:t>
            </a:r>
          </a:p>
          <a:p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storage structure and access method definition</a:t>
            </a:r>
          </a:p>
          <a:p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schema and physical organization modification</a:t>
            </a:r>
          </a:p>
          <a:p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granting of authorization for data access</a:t>
            </a:r>
          </a:p>
          <a:p>
            <a:pPr marL="1600200" lvl="3" indent="-228600" algn="l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integrity constraint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851486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C9311B5E-0B04-41F5-BB9D-5169CCAA6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97" name="PlaceHolder 2">
            <a:extLst>
              <a:ext uri="{FF2B5EF4-FFF2-40B4-BE49-F238E27FC236}">
                <a16:creationId xmlns:a16="http://schemas.microsoft.com/office/drawing/2014/main" id="{AFFCF04D-4A13-4A6E-9EA8-BED76690F60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File Manager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allocation of space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operations on files</a:t>
            </a:r>
          </a:p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 Manager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interface between stored data and application programs/queries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translate conceptual level commands into physical level ones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responsible for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access control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concurrency control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backup &amp; recovery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</p:spTree>
    <p:extLst>
      <p:ext uri="{BB962C8B-B14F-4D97-AF65-F5344CB8AC3E}">
        <p14:creationId xmlns:p14="http://schemas.microsoft.com/office/powerpoint/2010/main" val="803774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>
            <a:extLst>
              <a:ext uri="{FF2B5EF4-FFF2-40B4-BE49-F238E27FC236}">
                <a16:creationId xmlns:a16="http://schemas.microsoft.com/office/drawing/2014/main" id="{0926F1A0-B6B6-43A6-BECF-C5463EA4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99" name="PlaceHolder 2">
            <a:extLst>
              <a:ext uri="{FF2B5EF4-FFF2-40B4-BE49-F238E27FC236}">
                <a16:creationId xmlns:a16="http://schemas.microsoft.com/office/drawing/2014/main" id="{63F2DC51-14F6-4C1D-A2F4-74DF7298425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Query Processor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translate high-level queries into low-level instructions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query optimization</a:t>
            </a:r>
          </a:p>
          <a:p>
            <a:pPr marL="343080" indent="-343080" algn="l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DML (Pre-)compiler</a:t>
            </a: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translates DML statements embedded in an application program into procedure calls</a:t>
            </a:r>
          </a:p>
          <a:p>
            <a:pPr marL="343080" indent="-343080" algn="l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DDL (Pre-)compiler</a:t>
            </a: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converts DDL statements to data dictionary items (e.g., table descriptions)</a:t>
            </a:r>
          </a:p>
          <a:p>
            <a:pPr marL="743040" lvl="1" indent="0" algn="just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9667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>
            <a:extLst>
              <a:ext uri="{FF2B5EF4-FFF2-40B4-BE49-F238E27FC236}">
                <a16:creationId xmlns:a16="http://schemas.microsoft.com/office/drawing/2014/main" id="{8218B440-E69D-46A0-AA15-C30227CC5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“Reference” DB System Architecture</a:t>
            </a: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305C6B90-FABD-43B6-B6BE-5CBC0F97546A}"/>
              </a:ext>
            </a:extLst>
          </p:cNvPr>
          <p:cNvSpPr>
            <a:spLocks noGrp="1"/>
          </p:cNvSpPr>
          <p:nvPr/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rmAutofit/>
          </a:bodyPr>
          <a:lstStyle/>
          <a:p>
            <a:pPr marL="194400" indent="-194400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Rectangle 4">
            <a:extLst>
              <a:ext uri="{FF2B5EF4-FFF2-40B4-BE49-F238E27FC236}">
                <a16:creationId xmlns:a16="http://schemas.microsoft.com/office/drawing/2014/main" id="{DC5042DE-3E3A-40C2-898E-9A925154D926}"/>
              </a:ext>
            </a:extLst>
          </p:cNvPr>
          <p:cNvSpPr>
            <a:spLocks noGrp="1"/>
          </p:cNvSpPr>
          <p:nvPr/>
        </p:nvSpPr>
        <p:spPr>
          <a:xfrm>
            <a:off x="1295280" y="2895480"/>
            <a:ext cx="7238880" cy="2209680"/>
          </a:xfrm>
          <a:prstGeom prst="rect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 Box 5">
            <a:extLst>
              <a:ext uri="{FF2B5EF4-FFF2-40B4-BE49-F238E27FC236}">
                <a16:creationId xmlns:a16="http://schemas.microsoft.com/office/drawing/2014/main" id="{6BC3E4D0-345C-4E49-AE36-9795EDCDC224}"/>
              </a:ext>
            </a:extLst>
          </p:cNvPr>
          <p:cNvSpPr>
            <a:spLocks noGrp="1"/>
          </p:cNvSpPr>
          <p:nvPr/>
        </p:nvSpPr>
        <p:spPr>
          <a:xfrm>
            <a:off x="1371600" y="2027160"/>
            <a:ext cx="1447560" cy="7084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Application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interfaces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Text Box 6">
            <a:extLst>
              <a:ext uri="{FF2B5EF4-FFF2-40B4-BE49-F238E27FC236}">
                <a16:creationId xmlns:a16="http://schemas.microsoft.com/office/drawing/2014/main" id="{E703140D-829C-40F8-BDB1-E0781B4BFC6C}"/>
              </a:ext>
            </a:extLst>
          </p:cNvPr>
          <p:cNvSpPr>
            <a:spLocks noGrp="1"/>
          </p:cNvSpPr>
          <p:nvPr/>
        </p:nvSpPr>
        <p:spPr>
          <a:xfrm>
            <a:off x="3276360" y="2057400"/>
            <a:ext cx="1447920" cy="7084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Application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programs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 Box 7">
            <a:extLst>
              <a:ext uri="{FF2B5EF4-FFF2-40B4-BE49-F238E27FC236}">
                <a16:creationId xmlns:a16="http://schemas.microsoft.com/office/drawing/2014/main" id="{3A5273F0-8378-4A9E-8635-4AAFCD9F2D39}"/>
              </a:ext>
            </a:extLst>
          </p:cNvPr>
          <p:cNvSpPr>
            <a:spLocks noGrp="1"/>
          </p:cNvSpPr>
          <p:nvPr/>
        </p:nvSpPr>
        <p:spPr>
          <a:xfrm>
            <a:off x="5181480" y="2241360"/>
            <a:ext cx="1447920" cy="3376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(SQL) query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 Box 8">
            <a:extLst>
              <a:ext uri="{FF2B5EF4-FFF2-40B4-BE49-F238E27FC236}">
                <a16:creationId xmlns:a16="http://schemas.microsoft.com/office/drawing/2014/main" id="{7CDD52FA-C971-4DD3-929D-4481F1B7C483}"/>
              </a:ext>
            </a:extLst>
          </p:cNvPr>
          <p:cNvSpPr>
            <a:spLocks noGrp="1"/>
          </p:cNvSpPr>
          <p:nvPr/>
        </p:nvSpPr>
        <p:spPr>
          <a:xfrm>
            <a:off x="7086600" y="2241360"/>
            <a:ext cx="1447560" cy="3376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 schema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Text Box 9">
            <a:extLst>
              <a:ext uri="{FF2B5EF4-FFF2-40B4-BE49-F238E27FC236}">
                <a16:creationId xmlns:a16="http://schemas.microsoft.com/office/drawing/2014/main" id="{89B18F11-5530-407E-B415-86C591FC9578}"/>
              </a:ext>
            </a:extLst>
          </p:cNvPr>
          <p:cNvSpPr>
            <a:spLocks noGrp="1"/>
          </p:cNvSpPr>
          <p:nvPr/>
        </p:nvSpPr>
        <p:spPr>
          <a:xfrm>
            <a:off x="1600200" y="4190760"/>
            <a:ext cx="1447560" cy="82512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Application programs object code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 Box 10">
            <a:extLst>
              <a:ext uri="{FF2B5EF4-FFF2-40B4-BE49-F238E27FC236}">
                <a16:creationId xmlns:a16="http://schemas.microsoft.com/office/drawing/2014/main" id="{2356D2E5-A46F-49A6-A506-7460E9A4E464}"/>
              </a:ext>
            </a:extLst>
          </p:cNvPr>
          <p:cNvSpPr>
            <a:spLocks noGrp="1"/>
          </p:cNvSpPr>
          <p:nvPr/>
        </p:nvSpPr>
        <p:spPr>
          <a:xfrm>
            <a:off x="3276360" y="3308040"/>
            <a:ext cx="1447920" cy="3376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DML compiler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 Box 11">
            <a:extLst>
              <a:ext uri="{FF2B5EF4-FFF2-40B4-BE49-F238E27FC236}">
                <a16:creationId xmlns:a16="http://schemas.microsoft.com/office/drawing/2014/main" id="{2A0D4CFD-55BA-4B15-A33F-94222FB74BB4}"/>
              </a:ext>
            </a:extLst>
          </p:cNvPr>
          <p:cNvSpPr>
            <a:spLocks noGrp="1"/>
          </p:cNvSpPr>
          <p:nvPr/>
        </p:nvSpPr>
        <p:spPr>
          <a:xfrm>
            <a:off x="5181480" y="3352680"/>
            <a:ext cx="1143000" cy="58140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Query processor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Text Box 12">
            <a:extLst>
              <a:ext uri="{FF2B5EF4-FFF2-40B4-BE49-F238E27FC236}">
                <a16:creationId xmlns:a16="http://schemas.microsoft.com/office/drawing/2014/main" id="{4E0C75DF-463A-4532-86D6-7A180E6B0E05}"/>
              </a:ext>
            </a:extLst>
          </p:cNvPr>
          <p:cNvSpPr>
            <a:spLocks noGrp="1"/>
          </p:cNvSpPr>
          <p:nvPr/>
        </p:nvSpPr>
        <p:spPr>
          <a:xfrm>
            <a:off x="6781680" y="3276360"/>
            <a:ext cx="1447920" cy="3376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DDL compiler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Text Box 13">
            <a:extLst>
              <a:ext uri="{FF2B5EF4-FFF2-40B4-BE49-F238E27FC236}">
                <a16:creationId xmlns:a16="http://schemas.microsoft.com/office/drawing/2014/main" id="{A6E12421-F314-4AB2-B481-BDA25947CEC2}"/>
              </a:ext>
            </a:extLst>
          </p:cNvPr>
          <p:cNvSpPr>
            <a:spLocks noGrp="1"/>
          </p:cNvSpPr>
          <p:nvPr/>
        </p:nvSpPr>
        <p:spPr>
          <a:xfrm>
            <a:off x="4038480" y="4190760"/>
            <a:ext cx="1295280" cy="58140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Database manager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 Box 14">
            <a:extLst>
              <a:ext uri="{FF2B5EF4-FFF2-40B4-BE49-F238E27FC236}">
                <a16:creationId xmlns:a16="http://schemas.microsoft.com/office/drawing/2014/main" id="{9B4D008D-E0DC-43F2-91E8-23F29F6BD9C7}"/>
              </a:ext>
            </a:extLst>
          </p:cNvPr>
          <p:cNvSpPr>
            <a:spLocks noGrp="1"/>
          </p:cNvSpPr>
          <p:nvPr/>
        </p:nvSpPr>
        <p:spPr>
          <a:xfrm>
            <a:off x="7315200" y="4647960"/>
            <a:ext cx="1066680" cy="337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FFF00"/>
                </a:solidFill>
                <a:latin typeface="Arial Narrow"/>
                <a:ea typeface="Arial Narrow"/>
                <a:cs typeface="Arial Narrow"/>
              </a:rPr>
              <a:t>DBMS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 Box 15">
            <a:extLst>
              <a:ext uri="{FF2B5EF4-FFF2-40B4-BE49-F238E27FC236}">
                <a16:creationId xmlns:a16="http://schemas.microsoft.com/office/drawing/2014/main" id="{EF0A26EC-897F-48B7-9571-7E5D14E6CEDB}"/>
              </a:ext>
            </a:extLst>
          </p:cNvPr>
          <p:cNvSpPr>
            <a:spLocks noGrp="1"/>
          </p:cNvSpPr>
          <p:nvPr/>
        </p:nvSpPr>
        <p:spPr>
          <a:xfrm>
            <a:off x="3504960" y="5257800"/>
            <a:ext cx="1295640" cy="3376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File manager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 Box 16">
            <a:extLst>
              <a:ext uri="{FF2B5EF4-FFF2-40B4-BE49-F238E27FC236}">
                <a16:creationId xmlns:a16="http://schemas.microsoft.com/office/drawing/2014/main" id="{5A321624-80EB-43D9-B2BD-FE72D2EC3144}"/>
              </a:ext>
            </a:extLst>
          </p:cNvPr>
          <p:cNvSpPr>
            <a:spLocks noGrp="1"/>
          </p:cNvSpPr>
          <p:nvPr/>
        </p:nvSpPr>
        <p:spPr>
          <a:xfrm>
            <a:off x="7315200" y="5943600"/>
            <a:ext cx="6858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15" name="Text Box 17">
            <a:extLst>
              <a:ext uri="{FF2B5EF4-FFF2-40B4-BE49-F238E27FC236}">
                <a16:creationId xmlns:a16="http://schemas.microsoft.com/office/drawing/2014/main" id="{B1250B1C-7470-4EC7-84C5-82779ED3B5B2}"/>
              </a:ext>
            </a:extLst>
          </p:cNvPr>
          <p:cNvSpPr>
            <a:spLocks noGrp="1"/>
          </p:cNvSpPr>
          <p:nvPr/>
        </p:nvSpPr>
        <p:spPr>
          <a:xfrm>
            <a:off x="5257800" y="5715000"/>
            <a:ext cx="2057400" cy="1079280"/>
          </a:xfrm>
          <a:prstGeom prst="rect">
            <a:avLst/>
          </a:prstGeom>
          <a:solidFill>
            <a:srgbClr val="FFFF00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Data files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disk storage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Oval 18">
            <a:extLst>
              <a:ext uri="{FF2B5EF4-FFF2-40B4-BE49-F238E27FC236}">
                <a16:creationId xmlns:a16="http://schemas.microsoft.com/office/drawing/2014/main" id="{14DEA6DF-E9D9-4672-898B-641CBD9E3199}"/>
              </a:ext>
            </a:extLst>
          </p:cNvPr>
          <p:cNvSpPr>
            <a:spLocks noGrp="1"/>
          </p:cNvSpPr>
          <p:nvPr/>
        </p:nvSpPr>
        <p:spPr>
          <a:xfrm>
            <a:off x="5257800" y="5486400"/>
            <a:ext cx="2057400" cy="380880"/>
          </a:xfrm>
          <a:prstGeom prst="ellipse">
            <a:avLst/>
          </a:prstGeom>
          <a:solidFill>
            <a:srgbClr val="FFFF00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 Box 19">
            <a:extLst>
              <a:ext uri="{FF2B5EF4-FFF2-40B4-BE49-F238E27FC236}">
                <a16:creationId xmlns:a16="http://schemas.microsoft.com/office/drawing/2014/main" id="{6DF3C2AD-3826-4A3E-BDD9-13AEA0EDACEE}"/>
              </a:ext>
            </a:extLst>
          </p:cNvPr>
          <p:cNvSpPr>
            <a:spLocks noGrp="1"/>
          </p:cNvSpPr>
          <p:nvPr/>
        </p:nvSpPr>
        <p:spPr>
          <a:xfrm>
            <a:off x="6248160" y="6172200"/>
            <a:ext cx="990720" cy="33768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Data dict.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Line 20">
            <a:extLst>
              <a:ext uri="{FF2B5EF4-FFF2-40B4-BE49-F238E27FC236}">
                <a16:creationId xmlns:a16="http://schemas.microsoft.com/office/drawing/2014/main" id="{A764D205-FF71-4A57-982A-CF527211C46C}"/>
              </a:ext>
            </a:extLst>
          </p:cNvPr>
          <p:cNvSpPr>
            <a:spLocks noGrp="1"/>
          </p:cNvSpPr>
          <p:nvPr/>
        </p:nvSpPr>
        <p:spPr>
          <a:xfrm>
            <a:off x="2133360" y="2743200"/>
            <a:ext cx="0" cy="144756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Line 21">
            <a:extLst>
              <a:ext uri="{FF2B5EF4-FFF2-40B4-BE49-F238E27FC236}">
                <a16:creationId xmlns:a16="http://schemas.microsoft.com/office/drawing/2014/main" id="{44C5E4AB-2D68-48ED-8F65-AFB325ED6916}"/>
              </a:ext>
            </a:extLst>
          </p:cNvPr>
          <p:cNvSpPr>
            <a:spLocks noGrp="1"/>
          </p:cNvSpPr>
          <p:nvPr/>
        </p:nvSpPr>
        <p:spPr>
          <a:xfrm>
            <a:off x="4038480" y="2819160"/>
            <a:ext cx="0" cy="53352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Line 22">
            <a:extLst>
              <a:ext uri="{FF2B5EF4-FFF2-40B4-BE49-F238E27FC236}">
                <a16:creationId xmlns:a16="http://schemas.microsoft.com/office/drawing/2014/main" id="{A0F64358-A51E-4AE7-9E91-AB91D49B61F7}"/>
              </a:ext>
            </a:extLst>
          </p:cNvPr>
          <p:cNvSpPr>
            <a:spLocks noGrp="1"/>
          </p:cNvSpPr>
          <p:nvPr/>
        </p:nvSpPr>
        <p:spPr>
          <a:xfrm flipH="1">
            <a:off x="2819160" y="3657600"/>
            <a:ext cx="990720" cy="53316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Line 23">
            <a:extLst>
              <a:ext uri="{FF2B5EF4-FFF2-40B4-BE49-F238E27FC236}">
                <a16:creationId xmlns:a16="http://schemas.microsoft.com/office/drawing/2014/main" id="{91EC9840-43F5-460D-B875-5375C9CA8E9A}"/>
              </a:ext>
            </a:extLst>
          </p:cNvPr>
          <p:cNvSpPr>
            <a:spLocks noGrp="1"/>
          </p:cNvSpPr>
          <p:nvPr/>
        </p:nvSpPr>
        <p:spPr>
          <a:xfrm>
            <a:off x="4724280" y="3504960"/>
            <a:ext cx="533520" cy="0"/>
          </a:xfrm>
          <a:prstGeom prst="line">
            <a:avLst/>
          </a:prstGeom>
          <a:ln w="126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Line 24">
            <a:extLst>
              <a:ext uri="{FF2B5EF4-FFF2-40B4-BE49-F238E27FC236}">
                <a16:creationId xmlns:a16="http://schemas.microsoft.com/office/drawing/2014/main" id="{3B119FAA-A040-4AA8-8538-5E048152CD0E}"/>
              </a:ext>
            </a:extLst>
          </p:cNvPr>
          <p:cNvSpPr>
            <a:spLocks noGrp="1"/>
          </p:cNvSpPr>
          <p:nvPr/>
        </p:nvSpPr>
        <p:spPr>
          <a:xfrm>
            <a:off x="5790960" y="2590560"/>
            <a:ext cx="0" cy="76212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Line 25">
            <a:extLst>
              <a:ext uri="{FF2B5EF4-FFF2-40B4-BE49-F238E27FC236}">
                <a16:creationId xmlns:a16="http://schemas.microsoft.com/office/drawing/2014/main" id="{66A077BC-96D0-4425-A6CA-52EF479FFB31}"/>
              </a:ext>
            </a:extLst>
          </p:cNvPr>
          <p:cNvSpPr>
            <a:spLocks noGrp="1"/>
          </p:cNvSpPr>
          <p:nvPr/>
        </p:nvSpPr>
        <p:spPr>
          <a:xfrm>
            <a:off x="3047760" y="4495680"/>
            <a:ext cx="990720" cy="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Line 26">
            <a:extLst>
              <a:ext uri="{FF2B5EF4-FFF2-40B4-BE49-F238E27FC236}">
                <a16:creationId xmlns:a16="http://schemas.microsoft.com/office/drawing/2014/main" id="{5CBA60DD-3CF2-4F9A-8E6C-7AD6CABEB4B8}"/>
              </a:ext>
            </a:extLst>
          </p:cNvPr>
          <p:cNvSpPr>
            <a:spLocks noGrp="1"/>
          </p:cNvSpPr>
          <p:nvPr/>
        </p:nvSpPr>
        <p:spPr>
          <a:xfrm>
            <a:off x="4343400" y="4800600"/>
            <a:ext cx="0" cy="457200"/>
          </a:xfrm>
          <a:prstGeom prst="line">
            <a:avLst/>
          </a:prstGeom>
          <a:ln w="126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Line 27">
            <a:extLst>
              <a:ext uri="{FF2B5EF4-FFF2-40B4-BE49-F238E27FC236}">
                <a16:creationId xmlns:a16="http://schemas.microsoft.com/office/drawing/2014/main" id="{6EA49000-AD34-468C-82D1-E394ED135D25}"/>
              </a:ext>
            </a:extLst>
          </p:cNvPr>
          <p:cNvSpPr>
            <a:spLocks noGrp="1"/>
          </p:cNvSpPr>
          <p:nvPr/>
        </p:nvSpPr>
        <p:spPr>
          <a:xfrm>
            <a:off x="4572000" y="5562360"/>
            <a:ext cx="761760" cy="381240"/>
          </a:xfrm>
          <a:prstGeom prst="line">
            <a:avLst/>
          </a:prstGeom>
          <a:ln w="2844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Line 28">
            <a:extLst>
              <a:ext uri="{FF2B5EF4-FFF2-40B4-BE49-F238E27FC236}">
                <a16:creationId xmlns:a16="http://schemas.microsoft.com/office/drawing/2014/main" id="{4F891908-1848-4B72-A647-70C041C33F21}"/>
              </a:ext>
            </a:extLst>
          </p:cNvPr>
          <p:cNvSpPr>
            <a:spLocks noGrp="1"/>
          </p:cNvSpPr>
          <p:nvPr/>
        </p:nvSpPr>
        <p:spPr>
          <a:xfrm>
            <a:off x="5257800" y="4800600"/>
            <a:ext cx="1371600" cy="1371600"/>
          </a:xfrm>
          <a:prstGeom prst="line">
            <a:avLst/>
          </a:prstGeom>
          <a:ln w="126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Line 29">
            <a:extLst>
              <a:ext uri="{FF2B5EF4-FFF2-40B4-BE49-F238E27FC236}">
                <a16:creationId xmlns:a16="http://schemas.microsoft.com/office/drawing/2014/main" id="{AAD56DC4-8473-471D-B8FA-43643A945F32}"/>
              </a:ext>
            </a:extLst>
          </p:cNvPr>
          <p:cNvSpPr>
            <a:spLocks noGrp="1"/>
          </p:cNvSpPr>
          <p:nvPr/>
        </p:nvSpPr>
        <p:spPr>
          <a:xfrm flipV="1">
            <a:off x="6858000" y="3580920"/>
            <a:ext cx="685800" cy="2590920"/>
          </a:xfrm>
          <a:prstGeom prst="line">
            <a:avLst/>
          </a:prstGeom>
          <a:ln w="126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Line 30">
            <a:extLst>
              <a:ext uri="{FF2B5EF4-FFF2-40B4-BE49-F238E27FC236}">
                <a16:creationId xmlns:a16="http://schemas.microsoft.com/office/drawing/2014/main" id="{1A9597CA-D9F0-4086-8BD6-709ECFB504AD}"/>
              </a:ext>
            </a:extLst>
          </p:cNvPr>
          <p:cNvSpPr>
            <a:spLocks noGrp="1"/>
          </p:cNvSpPr>
          <p:nvPr/>
        </p:nvSpPr>
        <p:spPr>
          <a:xfrm>
            <a:off x="7619760" y="2590560"/>
            <a:ext cx="0" cy="68580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Line 31">
            <a:extLst>
              <a:ext uri="{FF2B5EF4-FFF2-40B4-BE49-F238E27FC236}">
                <a16:creationId xmlns:a16="http://schemas.microsoft.com/office/drawing/2014/main" id="{A9E9B3FF-EE09-446E-B903-5839BDE86859}"/>
              </a:ext>
            </a:extLst>
          </p:cNvPr>
          <p:cNvSpPr>
            <a:spLocks noGrp="1"/>
          </p:cNvSpPr>
          <p:nvPr/>
        </p:nvSpPr>
        <p:spPr>
          <a:xfrm>
            <a:off x="2057400" y="1752480"/>
            <a:ext cx="0" cy="22860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Line 32">
            <a:extLst>
              <a:ext uri="{FF2B5EF4-FFF2-40B4-BE49-F238E27FC236}">
                <a16:creationId xmlns:a16="http://schemas.microsoft.com/office/drawing/2014/main" id="{4EE72BD3-DFE2-45AF-B924-77126EC9905F}"/>
              </a:ext>
            </a:extLst>
          </p:cNvPr>
          <p:cNvSpPr>
            <a:spLocks noGrp="1"/>
          </p:cNvSpPr>
          <p:nvPr/>
        </p:nvSpPr>
        <p:spPr>
          <a:xfrm>
            <a:off x="4038480" y="1828800"/>
            <a:ext cx="0" cy="22860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Line 33">
            <a:extLst>
              <a:ext uri="{FF2B5EF4-FFF2-40B4-BE49-F238E27FC236}">
                <a16:creationId xmlns:a16="http://schemas.microsoft.com/office/drawing/2014/main" id="{0012DF90-58C2-4029-8DA8-4B1C7BAB0E77}"/>
              </a:ext>
            </a:extLst>
          </p:cNvPr>
          <p:cNvSpPr>
            <a:spLocks noGrp="1"/>
          </p:cNvSpPr>
          <p:nvPr/>
        </p:nvSpPr>
        <p:spPr>
          <a:xfrm>
            <a:off x="5790960" y="1904760"/>
            <a:ext cx="0" cy="38124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Line 34">
            <a:extLst>
              <a:ext uri="{FF2B5EF4-FFF2-40B4-BE49-F238E27FC236}">
                <a16:creationId xmlns:a16="http://schemas.microsoft.com/office/drawing/2014/main" id="{AA062F60-CC23-4AC8-844A-1DDD2C690F35}"/>
              </a:ext>
            </a:extLst>
          </p:cNvPr>
          <p:cNvSpPr>
            <a:spLocks noGrp="1"/>
          </p:cNvSpPr>
          <p:nvPr/>
        </p:nvSpPr>
        <p:spPr>
          <a:xfrm>
            <a:off x="7619760" y="1904760"/>
            <a:ext cx="0" cy="38124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 Box 35">
            <a:extLst>
              <a:ext uri="{FF2B5EF4-FFF2-40B4-BE49-F238E27FC236}">
                <a16:creationId xmlns:a16="http://schemas.microsoft.com/office/drawing/2014/main" id="{D22FF655-BB3F-4494-93E0-20730CBE1219}"/>
              </a:ext>
            </a:extLst>
          </p:cNvPr>
          <p:cNvSpPr>
            <a:spLocks noGrp="1"/>
          </p:cNvSpPr>
          <p:nvPr/>
        </p:nvSpPr>
        <p:spPr>
          <a:xfrm>
            <a:off x="685800" y="1676160"/>
            <a:ext cx="1143000" cy="337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Naïve user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 Box 36">
            <a:extLst>
              <a:ext uri="{FF2B5EF4-FFF2-40B4-BE49-F238E27FC236}">
                <a16:creationId xmlns:a16="http://schemas.microsoft.com/office/drawing/2014/main" id="{31464DCC-02B9-4FB5-BE5C-D40C2348C1C3}"/>
              </a:ext>
            </a:extLst>
          </p:cNvPr>
          <p:cNvSpPr>
            <a:spLocks noGrp="1"/>
          </p:cNvSpPr>
          <p:nvPr/>
        </p:nvSpPr>
        <p:spPr>
          <a:xfrm>
            <a:off x="2666880" y="1676160"/>
            <a:ext cx="1295280" cy="337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Appl. Prog’er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 Box 37">
            <a:extLst>
              <a:ext uri="{FF2B5EF4-FFF2-40B4-BE49-F238E27FC236}">
                <a16:creationId xmlns:a16="http://schemas.microsoft.com/office/drawing/2014/main" id="{7C9A0271-58C1-41D6-9EEE-99BEB662C57B}"/>
              </a:ext>
            </a:extLst>
          </p:cNvPr>
          <p:cNvSpPr>
            <a:spLocks noGrp="1"/>
          </p:cNvSpPr>
          <p:nvPr/>
        </p:nvSpPr>
        <p:spPr>
          <a:xfrm>
            <a:off x="4647960" y="1600200"/>
            <a:ext cx="1067040" cy="581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Interactive user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 Box 38">
            <a:extLst>
              <a:ext uri="{FF2B5EF4-FFF2-40B4-BE49-F238E27FC236}">
                <a16:creationId xmlns:a16="http://schemas.microsoft.com/office/drawing/2014/main" id="{583F54F6-33B4-42A0-A5B6-50496299058B}"/>
              </a:ext>
            </a:extLst>
          </p:cNvPr>
          <p:cNvSpPr>
            <a:spLocks noGrp="1"/>
          </p:cNvSpPr>
          <p:nvPr/>
        </p:nvSpPr>
        <p:spPr>
          <a:xfrm>
            <a:off x="6933960" y="1676160"/>
            <a:ext cx="609840" cy="337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DBA</a:t>
            </a:r>
            <a:endParaRPr sz="16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5543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AFF660CE-513E-4EF0-8278-15B291AB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DB Concepts and Architecture</a:t>
            </a: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44E7D605-FE95-482A-8CB3-6CD8050FF99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 System Environment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DB System Utilities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loading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back up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file re-organization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report generation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 dictionary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…</a:t>
            </a:r>
          </a:p>
          <a:p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94400" indent="-194400" algn="just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NEXT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  </a:t>
            </a:r>
            <a:r>
              <a:rPr sz="2400" b="1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Classification of DBMSs!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3024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>
            <a:extLst>
              <a:ext uri="{FF2B5EF4-FFF2-40B4-BE49-F238E27FC236}">
                <a16:creationId xmlns:a16="http://schemas.microsoft.com/office/drawing/2014/main" id="{A6034165-FF54-4238-82A6-258D1378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Classification of DBs</a:t>
            </a:r>
          </a:p>
        </p:txBody>
      </p:sp>
      <p:sp>
        <p:nvSpPr>
          <p:cNvPr id="140" name="PlaceHolder 2">
            <a:extLst>
              <a:ext uri="{FF2B5EF4-FFF2-40B4-BE49-F238E27FC236}">
                <a16:creationId xmlns:a16="http://schemas.microsoft.com/office/drawing/2014/main" id="{39BC8E28-E8DD-4D59-AB1E-CDA0348EB38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Classification based on Data Model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22228B"/>
                </a:solidFill>
                <a:latin typeface="Arial"/>
                <a:ea typeface="Arial"/>
                <a:cs typeface="Arial"/>
              </a:rPr>
              <a:t>Hierarchical (late 60’s)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22228B"/>
                </a:solidFill>
                <a:latin typeface="Arial"/>
                <a:ea typeface="Arial"/>
                <a:cs typeface="Arial"/>
              </a:rPr>
              <a:t>Network (late 60’s)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22228B"/>
                </a:solidFill>
                <a:latin typeface="Arial"/>
                <a:ea typeface="Arial"/>
                <a:cs typeface="Arial"/>
              </a:rPr>
              <a:t>Relational (70’s)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Entity-Relationship (ER)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Semantic (80’s)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Functional (80’s)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Object-Oriented (late 80’s/early 90’s)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“Intelligent”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logic-based/deductive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expert/knowledge-based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hypermedia, ...</a:t>
            </a:r>
          </a:p>
          <a:p>
            <a:pPr marL="194400" indent="-1944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63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>
            <a:extLst>
              <a:ext uri="{FF2B5EF4-FFF2-40B4-BE49-F238E27FC236}">
                <a16:creationId xmlns:a16="http://schemas.microsoft.com/office/drawing/2014/main" id="{00DA4B5E-E883-453C-9035-14731028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Classification of DBMSs</a:t>
            </a:r>
          </a:p>
        </p:txBody>
      </p:sp>
      <p:sp>
        <p:nvSpPr>
          <p:cNvPr id="142" name="PlaceHolder 2">
            <a:extLst>
              <a:ext uri="{FF2B5EF4-FFF2-40B4-BE49-F238E27FC236}">
                <a16:creationId xmlns:a16="http://schemas.microsoft.com/office/drawing/2014/main" id="{20017E87-1DF2-4075-AB70-D0C9802367D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Criteria: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Data/Database Model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Number of Users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single-user (eg, PC databases)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multi-user (concurrency control)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Number of sites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centralized (logically, physically)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decentralized (logically, physically)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homogeneity 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vs.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heterogeneity</a:t>
            </a:r>
          </a:p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Other Criterion: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cost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general-purpose vs. specialized DBMSs, ...</a:t>
            </a:r>
          </a:p>
          <a:p>
            <a:pPr marL="194400" indent="-1944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014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 dirty="0">
                <a:solidFill>
                  <a:srgbClr val="FF0033"/>
                </a:solidFill>
                <a:latin typeface="Arial"/>
                <a:ea typeface="Arial"/>
                <a:cs typeface="Arial"/>
              </a:rPr>
              <a:t>SQL Preview: Ask Declaratively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Question: Which students earned A− or better in COMP5111?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SELECT student_name, grade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FROM Enrolment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WHERE course_code = 'COMP5111'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AND grade IN ('A+', 'A', 'A−');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What result columns and rows should appear?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Try It: Write Two Queries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Query A: list the course codes taken by Peter Wong.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Query B: count the students enrolled in each course.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Use SELECT, FROM, WHERE, and GROUP BY as needed.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Predict the result before running the query.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Compare with a </a:t>
            </a:r>
            <a:r>
              <a:rPr sz="2400" dirty="0" err="1">
                <a:solidFill>
                  <a:srgbClr val="3333CC"/>
                </a:solidFill>
                <a:latin typeface="Arial"/>
                <a:ea typeface="Arial"/>
                <a:cs typeface="Arial"/>
              </a:rPr>
              <a:t>neighbour</a:t>
            </a: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and explain one design choice.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SQL Debrief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SQL states WHAT result is required; the DBMS chooses HOW to obtain it.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query processor checks, rewrites, optimizes, and executes.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same logical query may use a scan, an index, or a different join order.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This separation supports data independence.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>
            <a:extLst>
              <a:ext uri="{FF2B5EF4-FFF2-40B4-BE49-F238E27FC236}">
                <a16:creationId xmlns:a16="http://schemas.microsoft.com/office/drawing/2014/main" id="{827A9062-8D7D-4334-B846-1EE84B5F2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144" name="PlaceHolder 2">
            <a:extLst>
              <a:ext uri="{FF2B5EF4-FFF2-40B4-BE49-F238E27FC236}">
                <a16:creationId xmlns:a16="http://schemas.microsoft.com/office/drawing/2014/main" id="{E53B4704-2F43-4E85-A496-72C25AFE832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Preliminaries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Proposed by P. Chen in 1976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One of the earliest “semantic” database model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Mainly a design tool for record-based (i.e., hierarchical, network, relational) databases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ER diagrams are a critical tool of efficiently conveying the structure of the DB</a:t>
            </a:r>
          </a:p>
        </p:txBody>
      </p:sp>
    </p:spTree>
    <p:extLst>
      <p:ext uri="{BB962C8B-B14F-4D97-AF65-F5344CB8AC3E}">
        <p14:creationId xmlns:p14="http://schemas.microsoft.com/office/powerpoint/2010/main" val="845544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ER Modeling Workflow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1. Read requirements as nouns, verbs, and rules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2. Propose entity types and candidate keys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3. Attach attributes and their domains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4. Add relationships, roles, and relationship attributes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5. State cardinality and participation constraints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6. Validate the model with sample scenarios and questions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>
            <a:extLst>
              <a:ext uri="{FF2B5EF4-FFF2-40B4-BE49-F238E27FC236}">
                <a16:creationId xmlns:a16="http://schemas.microsoft.com/office/drawing/2014/main" id="{18BFDA73-FB33-4180-9EE9-618E1E8A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146" name="PlaceHolder 2">
            <a:extLst>
              <a:ext uri="{FF2B5EF4-FFF2-40B4-BE49-F238E27FC236}">
                <a16:creationId xmlns:a16="http://schemas.microsoft.com/office/drawing/2014/main" id="{926F7DF2-3E9C-49CD-9CFF-B3AE93D7F56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Entity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a distinguishable object with an </a:t>
            </a: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independent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existence</a:t>
            </a:r>
          </a:p>
          <a:p>
            <a:pPr marL="2057400" lvl="4" indent="-228600" algn="just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Example: </a:t>
            </a:r>
            <a:r>
              <a:rPr sz="2400" b="0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John Chan, PolyU, HK Bank, …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Entity Set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a set of entities of the same type</a:t>
            </a:r>
          </a:p>
          <a:p>
            <a:pPr marL="2057400" lvl="4" indent="-228600" algn="l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Example: </a:t>
            </a:r>
            <a:r>
              <a:rPr sz="2400" b="0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Student, Employee, Customers, ...</a:t>
            </a: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743040" lvl="1" indent="-28584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Entity Set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(often just shorten to Entities) in an ER Diagram are represented by rectangles</a:t>
            </a:r>
          </a:p>
          <a:p>
            <a:pPr marL="2057400" lvl="4" indent="-228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Rectangle 1">
            <a:extLst>
              <a:ext uri="{FF2B5EF4-FFF2-40B4-BE49-F238E27FC236}">
                <a16:creationId xmlns:a16="http://schemas.microsoft.com/office/drawing/2014/main" id="{88745E92-3E3E-4B22-B4E9-2874C65C62D2}"/>
              </a:ext>
            </a:extLst>
          </p:cNvPr>
          <p:cNvSpPr>
            <a:spLocks noGrp="1"/>
          </p:cNvSpPr>
          <p:nvPr/>
        </p:nvSpPr>
        <p:spPr>
          <a:xfrm>
            <a:off x="3773160" y="4876560"/>
            <a:ext cx="2070360" cy="8524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1160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>
            <a:extLst>
              <a:ext uri="{FF2B5EF4-FFF2-40B4-BE49-F238E27FC236}">
                <a16:creationId xmlns:a16="http://schemas.microsoft.com/office/drawing/2014/main" id="{1082FDE4-D27D-4373-8E25-EBE09BE35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149" name="PlaceHolder 2">
            <a:extLst>
              <a:ext uri="{FF2B5EF4-FFF2-40B4-BE49-F238E27FC236}">
                <a16:creationId xmlns:a16="http://schemas.microsoft.com/office/drawing/2014/main" id="{49AFD3A3-4193-4565-AD96-BA7B45CBDF3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Attribute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(Property) -- a piece of information describing an entity 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Name, ID, Address, DoB are attributes of a student entity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Each attribute can take a 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value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from a 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domain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Name </a:t>
            </a:r>
            <a:r>
              <a:rPr sz="2000" b="0" u="none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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Character String, </a:t>
            </a:r>
          </a:p>
          <a:p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   ID </a:t>
            </a:r>
            <a:r>
              <a:rPr sz="2000" b="0" u="none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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Integer, ... 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Formally, an attribute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is a function which maps from an entity set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into a domain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A: E </a:t>
            </a:r>
            <a:r>
              <a:rPr sz="2000" b="1" u="none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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D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343080" indent="-34308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2245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>
            <a:extLst>
              <a:ext uri="{FF2B5EF4-FFF2-40B4-BE49-F238E27FC236}">
                <a16:creationId xmlns:a16="http://schemas.microsoft.com/office/drawing/2014/main" id="{C7CB4375-A47E-46FA-ACBE-BFF6D08F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151" name="PlaceHolder 2">
            <a:extLst>
              <a:ext uri="{FF2B5EF4-FFF2-40B4-BE49-F238E27FC236}">
                <a16:creationId xmlns:a16="http://schemas.microsoft.com/office/drawing/2014/main" id="{43635883-E51E-4B79-AF20-E4D82E15015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On an ER Diagram, Attributes are represented as ovals connected to entities</a:t>
            </a:r>
          </a:p>
          <a:p>
            <a:pPr marL="1143000" lvl="2" indent="-228600" algn="just">
              <a:spcBef>
                <a:spcPts val="451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Domain information is often omitted in the ER Diagram</a:t>
            </a:r>
          </a:p>
          <a:p>
            <a:pPr marL="1143000" lvl="2" indent="0" algn="just">
              <a:spcBef>
                <a:spcPts val="451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Rectangle 1">
            <a:extLst>
              <a:ext uri="{FF2B5EF4-FFF2-40B4-BE49-F238E27FC236}">
                <a16:creationId xmlns:a16="http://schemas.microsoft.com/office/drawing/2014/main" id="{07D5FB94-4D9D-443D-B149-36873338480E}"/>
              </a:ext>
            </a:extLst>
          </p:cNvPr>
          <p:cNvSpPr>
            <a:spLocks noGrp="1"/>
          </p:cNvSpPr>
          <p:nvPr/>
        </p:nvSpPr>
        <p:spPr>
          <a:xfrm>
            <a:off x="3649320" y="5205240"/>
            <a:ext cx="2070360" cy="851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Oval 2">
            <a:extLst>
              <a:ext uri="{FF2B5EF4-FFF2-40B4-BE49-F238E27FC236}">
                <a16:creationId xmlns:a16="http://schemas.microsoft.com/office/drawing/2014/main" id="{F10305E6-9049-4A7B-ADC0-1BB5AAF877DD}"/>
              </a:ext>
            </a:extLst>
          </p:cNvPr>
          <p:cNvSpPr>
            <a:spLocks noGrp="1"/>
          </p:cNvSpPr>
          <p:nvPr/>
        </p:nvSpPr>
        <p:spPr>
          <a:xfrm>
            <a:off x="1812600" y="4630680"/>
            <a:ext cx="1503360" cy="84132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Oval 3">
            <a:extLst>
              <a:ext uri="{FF2B5EF4-FFF2-40B4-BE49-F238E27FC236}">
                <a16:creationId xmlns:a16="http://schemas.microsoft.com/office/drawing/2014/main" id="{299FC1AF-DD7E-48E7-881C-9A9408B12FC3}"/>
              </a:ext>
            </a:extLst>
          </p:cNvPr>
          <p:cNvSpPr>
            <a:spLocks noGrp="1"/>
          </p:cNvSpPr>
          <p:nvPr/>
        </p:nvSpPr>
        <p:spPr>
          <a:xfrm>
            <a:off x="2662200" y="3733560"/>
            <a:ext cx="2070000" cy="84312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StudentID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Oval 4">
            <a:extLst>
              <a:ext uri="{FF2B5EF4-FFF2-40B4-BE49-F238E27FC236}">
                <a16:creationId xmlns:a16="http://schemas.microsoft.com/office/drawing/2014/main" id="{A5FDD17F-5381-4DBA-B848-A31BF20EF317}"/>
              </a:ext>
            </a:extLst>
          </p:cNvPr>
          <p:cNvSpPr>
            <a:spLocks noGrp="1"/>
          </p:cNvSpPr>
          <p:nvPr/>
        </p:nvSpPr>
        <p:spPr>
          <a:xfrm>
            <a:off x="6051240" y="4630680"/>
            <a:ext cx="1797120" cy="84132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Oval 5">
            <a:extLst>
              <a:ext uri="{FF2B5EF4-FFF2-40B4-BE49-F238E27FC236}">
                <a16:creationId xmlns:a16="http://schemas.microsoft.com/office/drawing/2014/main" id="{08EC7D72-97AD-49D1-8D23-C00CBE9FD931}"/>
              </a:ext>
            </a:extLst>
          </p:cNvPr>
          <p:cNvSpPr>
            <a:spLocks noGrp="1"/>
          </p:cNvSpPr>
          <p:nvPr/>
        </p:nvSpPr>
        <p:spPr>
          <a:xfrm>
            <a:off x="4819320" y="3733560"/>
            <a:ext cx="2703600" cy="84312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Date_of_Birth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Straight Connector 6">
            <a:extLst>
              <a:ext uri="{FF2B5EF4-FFF2-40B4-BE49-F238E27FC236}">
                <a16:creationId xmlns:a16="http://schemas.microsoft.com/office/drawing/2014/main" id="{A02AE3FA-6581-45DE-BB0A-D5A60E45E9E9}"/>
              </a:ext>
            </a:extLst>
          </p:cNvPr>
          <p:cNvSpPr>
            <a:spLocks noGrp="1"/>
          </p:cNvSpPr>
          <p:nvPr/>
        </p:nvSpPr>
        <p:spPr>
          <a:xfrm>
            <a:off x="3315960" y="5051160"/>
            <a:ext cx="333360" cy="15408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Straight Connector 7">
            <a:extLst>
              <a:ext uri="{FF2B5EF4-FFF2-40B4-BE49-F238E27FC236}">
                <a16:creationId xmlns:a16="http://schemas.microsoft.com/office/drawing/2014/main" id="{1C4B09C7-048C-42AE-B9E3-60EE595D3376}"/>
              </a:ext>
            </a:extLst>
          </p:cNvPr>
          <p:cNvSpPr>
            <a:spLocks noGrp="1"/>
          </p:cNvSpPr>
          <p:nvPr/>
        </p:nvSpPr>
        <p:spPr>
          <a:xfrm>
            <a:off x="3890880" y="4576680"/>
            <a:ext cx="303120" cy="62712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Straight Connector 8">
            <a:extLst>
              <a:ext uri="{FF2B5EF4-FFF2-40B4-BE49-F238E27FC236}">
                <a16:creationId xmlns:a16="http://schemas.microsoft.com/office/drawing/2014/main" id="{4B8B1186-6256-41C3-8065-ECD5E6A23E01}"/>
              </a:ext>
            </a:extLst>
          </p:cNvPr>
          <p:cNvSpPr>
            <a:spLocks noGrp="1"/>
          </p:cNvSpPr>
          <p:nvPr/>
        </p:nvSpPr>
        <p:spPr>
          <a:xfrm flipH="1">
            <a:off x="5295240" y="4576680"/>
            <a:ext cx="876600" cy="62712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Straight Connector 9">
            <a:extLst>
              <a:ext uri="{FF2B5EF4-FFF2-40B4-BE49-F238E27FC236}">
                <a16:creationId xmlns:a16="http://schemas.microsoft.com/office/drawing/2014/main" id="{849675B4-CB0F-45C0-AC11-F09A79485218}"/>
              </a:ext>
            </a:extLst>
          </p:cNvPr>
          <p:cNvSpPr>
            <a:spLocks noGrp="1"/>
          </p:cNvSpPr>
          <p:nvPr/>
        </p:nvSpPr>
        <p:spPr>
          <a:xfrm flipH="1">
            <a:off x="5719320" y="5051160"/>
            <a:ext cx="331560" cy="29700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012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AFE6CC32-FF64-4343-A670-72D87C1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B552B90F-5760-418F-9E5C-63645EA637B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an association among several entities 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sng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: Patrick and Eva are friends</a:t>
            </a:r>
          </a:p>
          <a:p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Patrick is taking cs3450       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 Set 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a set of relationships of the same type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Formally, a relationship </a:t>
            </a:r>
            <a:r>
              <a:rPr sz="2000" b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R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is a subset of:</a:t>
            </a:r>
          </a:p>
          <a:p>
            <a:pPr marL="743040" lvl="1" indent="-28584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sz="2000" b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{ (e1, e2, …, ek) | e1 </a:t>
            </a:r>
            <a:r>
              <a:rPr sz="2000" b="0" u="none" dirty="0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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E1, </a:t>
            </a:r>
            <a:r>
              <a:rPr sz="2000" b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e2 </a:t>
            </a:r>
            <a:r>
              <a:rPr sz="2000" b="0" u="none" dirty="0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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E2, …, </a:t>
            </a:r>
            <a:r>
              <a:rPr sz="2000" b="1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ek </a:t>
            </a:r>
            <a:r>
              <a:rPr sz="2000" b="0" u="none" dirty="0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</a:t>
            </a: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 Ek) }</a:t>
            </a:r>
          </a:p>
          <a:p>
            <a:pPr marL="343080" indent="-34308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Oval 4">
            <a:extLst>
              <a:ext uri="{FF2B5EF4-FFF2-40B4-BE49-F238E27FC236}">
                <a16:creationId xmlns:a16="http://schemas.microsoft.com/office/drawing/2014/main" id="{D414CD0B-0AA9-4B49-9830-DD371F4579F1}"/>
              </a:ext>
            </a:extLst>
          </p:cNvPr>
          <p:cNvSpPr>
            <a:spLocks noGrp="1"/>
          </p:cNvSpPr>
          <p:nvPr/>
        </p:nvSpPr>
        <p:spPr>
          <a:xfrm>
            <a:off x="3504960" y="3657600"/>
            <a:ext cx="1143000" cy="1752480"/>
          </a:xfrm>
          <a:prstGeom prst="ellipse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Oval 5">
            <a:extLst>
              <a:ext uri="{FF2B5EF4-FFF2-40B4-BE49-F238E27FC236}">
                <a16:creationId xmlns:a16="http://schemas.microsoft.com/office/drawing/2014/main" id="{F580F5C5-378E-4C34-979B-C029E23CDCB6}"/>
              </a:ext>
            </a:extLst>
          </p:cNvPr>
          <p:cNvSpPr>
            <a:spLocks noGrp="1"/>
          </p:cNvSpPr>
          <p:nvPr/>
        </p:nvSpPr>
        <p:spPr>
          <a:xfrm>
            <a:off x="5943600" y="3657600"/>
            <a:ext cx="1143000" cy="1752480"/>
          </a:xfrm>
          <a:prstGeom prst="ellipse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Box 6">
            <a:extLst>
              <a:ext uri="{FF2B5EF4-FFF2-40B4-BE49-F238E27FC236}">
                <a16:creationId xmlns:a16="http://schemas.microsoft.com/office/drawing/2014/main" id="{C0E902F8-57AB-4409-8C22-A84DC90EC330}"/>
              </a:ext>
            </a:extLst>
          </p:cNvPr>
          <p:cNvSpPr>
            <a:spLocks noGrp="1"/>
          </p:cNvSpPr>
          <p:nvPr/>
        </p:nvSpPr>
        <p:spPr>
          <a:xfrm>
            <a:off x="3733560" y="3962160"/>
            <a:ext cx="838440" cy="12027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John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mary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may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Text Box 7">
            <a:extLst>
              <a:ext uri="{FF2B5EF4-FFF2-40B4-BE49-F238E27FC236}">
                <a16:creationId xmlns:a16="http://schemas.microsoft.com/office/drawing/2014/main" id="{22DD9FF7-4908-46AD-B6C9-F57156E88FA2}"/>
              </a:ext>
            </a:extLst>
          </p:cNvPr>
          <p:cNvSpPr>
            <a:spLocks noGrp="1"/>
          </p:cNvSpPr>
          <p:nvPr/>
        </p:nvSpPr>
        <p:spPr>
          <a:xfrm>
            <a:off x="6019560" y="3962160"/>
            <a:ext cx="990720" cy="12027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cs3450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cs2578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ee4532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Line 8">
            <a:extLst>
              <a:ext uri="{FF2B5EF4-FFF2-40B4-BE49-F238E27FC236}">
                <a16:creationId xmlns:a16="http://schemas.microsoft.com/office/drawing/2014/main" id="{4E7FE390-D1E0-48E4-82AF-99391C3A3C8E}"/>
              </a:ext>
            </a:extLst>
          </p:cNvPr>
          <p:cNvSpPr>
            <a:spLocks noGrp="1"/>
          </p:cNvSpPr>
          <p:nvPr/>
        </p:nvSpPr>
        <p:spPr>
          <a:xfrm flipV="1">
            <a:off x="4343400" y="4114440"/>
            <a:ext cx="1752480" cy="7596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9160" rIns="90000" bIns="2916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Line 9">
            <a:extLst>
              <a:ext uri="{FF2B5EF4-FFF2-40B4-BE49-F238E27FC236}">
                <a16:creationId xmlns:a16="http://schemas.microsoft.com/office/drawing/2014/main" id="{C9B99E1B-7C39-409F-8F7F-715E555C81C2}"/>
              </a:ext>
            </a:extLst>
          </p:cNvPr>
          <p:cNvSpPr>
            <a:spLocks noGrp="1"/>
          </p:cNvSpPr>
          <p:nvPr/>
        </p:nvSpPr>
        <p:spPr>
          <a:xfrm>
            <a:off x="4343400" y="4190760"/>
            <a:ext cx="1752480" cy="76212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Line 10">
            <a:extLst>
              <a:ext uri="{FF2B5EF4-FFF2-40B4-BE49-F238E27FC236}">
                <a16:creationId xmlns:a16="http://schemas.microsoft.com/office/drawing/2014/main" id="{1BFD794B-62F8-4D5D-8E48-CACFA53CB588}"/>
              </a:ext>
            </a:extLst>
          </p:cNvPr>
          <p:cNvSpPr>
            <a:spLocks noGrp="1"/>
          </p:cNvSpPr>
          <p:nvPr/>
        </p:nvSpPr>
        <p:spPr>
          <a:xfrm flipV="1">
            <a:off x="4267080" y="4190400"/>
            <a:ext cx="1828800" cy="3812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Line 11">
            <a:extLst>
              <a:ext uri="{FF2B5EF4-FFF2-40B4-BE49-F238E27FC236}">
                <a16:creationId xmlns:a16="http://schemas.microsoft.com/office/drawing/2014/main" id="{1A629491-C1AD-4AF5-9E5B-87CBAA5414A5}"/>
              </a:ext>
            </a:extLst>
          </p:cNvPr>
          <p:cNvSpPr>
            <a:spLocks noGrp="1"/>
          </p:cNvSpPr>
          <p:nvPr/>
        </p:nvSpPr>
        <p:spPr>
          <a:xfrm flipV="1">
            <a:off x="4267080" y="4571640"/>
            <a:ext cx="1828800" cy="7596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9160" rIns="90000" bIns="2916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Line 12">
            <a:extLst>
              <a:ext uri="{FF2B5EF4-FFF2-40B4-BE49-F238E27FC236}">
                <a16:creationId xmlns:a16="http://schemas.microsoft.com/office/drawing/2014/main" id="{60707F82-E410-44B3-8CFF-A90AB5C00081}"/>
              </a:ext>
            </a:extLst>
          </p:cNvPr>
          <p:cNvSpPr>
            <a:spLocks noGrp="1"/>
          </p:cNvSpPr>
          <p:nvPr/>
        </p:nvSpPr>
        <p:spPr>
          <a:xfrm flipV="1">
            <a:off x="4267080" y="4647600"/>
            <a:ext cx="1905120" cy="3812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Box 13">
            <a:extLst>
              <a:ext uri="{FF2B5EF4-FFF2-40B4-BE49-F238E27FC236}">
                <a16:creationId xmlns:a16="http://schemas.microsoft.com/office/drawing/2014/main" id="{F0236EA7-C560-4DCE-9E95-8846A8A1CF07}"/>
              </a:ext>
            </a:extLst>
          </p:cNvPr>
          <p:cNvSpPr>
            <a:spLocks noGrp="1"/>
          </p:cNvSpPr>
          <p:nvPr/>
        </p:nvSpPr>
        <p:spPr>
          <a:xfrm>
            <a:off x="4800600" y="3641400"/>
            <a:ext cx="11430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taking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5073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Workshop: Library Lending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 library records members, books, and physical copies.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A member borrows a copy; each loan has issue, due, and optional return dates.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Every copy belongs to one book. A member may have at most five active loans.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Find the entities, keys, relationships, attributes, and constraints.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Step 1: Entities and Keys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MEMBER(member_id, name, email)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BOOK(isbn, title, publisher)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COPY(copy_id, status) — or weak under BOOK if only copy_no is unique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LOAN(issue_date, due_date, return_date)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Decision: model LOAN as a relationship with attributes or as an associative entity?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B12BDA03-7E97-4126-93E0-4FB8E6A1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174" name="PlaceHolder 2">
            <a:extLst>
              <a:ext uri="{FF2B5EF4-FFF2-40B4-BE49-F238E27FC236}">
                <a16:creationId xmlns:a16="http://schemas.microsoft.com/office/drawing/2014/main" id="{3C06D4E4-496D-467E-A014-43C6996BA5F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On an ER Diagram, Relationship Sets (again often shortened to Relationships) are represented by a diamond that connects two or more Entities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Relationships may have attributes</a:t>
            </a:r>
          </a:p>
          <a:p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Rectangle 1">
            <a:extLst>
              <a:ext uri="{FF2B5EF4-FFF2-40B4-BE49-F238E27FC236}">
                <a16:creationId xmlns:a16="http://schemas.microsoft.com/office/drawing/2014/main" id="{0F79D1F2-4191-4066-9469-EE591BA70FA7}"/>
              </a:ext>
            </a:extLst>
          </p:cNvPr>
          <p:cNvSpPr>
            <a:spLocks noGrp="1"/>
          </p:cNvSpPr>
          <p:nvPr/>
        </p:nvSpPr>
        <p:spPr>
          <a:xfrm>
            <a:off x="2616120" y="5601960"/>
            <a:ext cx="1407960" cy="4669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Oval 2">
            <a:extLst>
              <a:ext uri="{FF2B5EF4-FFF2-40B4-BE49-F238E27FC236}">
                <a16:creationId xmlns:a16="http://schemas.microsoft.com/office/drawing/2014/main" id="{35BACC12-9AE0-45E8-AEE3-8BDEC241618A}"/>
              </a:ext>
            </a:extLst>
          </p:cNvPr>
          <p:cNvSpPr>
            <a:spLocks noGrp="1"/>
          </p:cNvSpPr>
          <p:nvPr/>
        </p:nvSpPr>
        <p:spPr>
          <a:xfrm>
            <a:off x="691920" y="5006880"/>
            <a:ext cx="1503360" cy="47628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Oval 3">
            <a:extLst>
              <a:ext uri="{FF2B5EF4-FFF2-40B4-BE49-F238E27FC236}">
                <a16:creationId xmlns:a16="http://schemas.microsoft.com/office/drawing/2014/main" id="{C63D173B-D3EC-4643-95F5-AFF7B607A1BA}"/>
              </a:ext>
            </a:extLst>
          </p:cNvPr>
          <p:cNvSpPr>
            <a:spLocks noGrp="1"/>
          </p:cNvSpPr>
          <p:nvPr/>
        </p:nvSpPr>
        <p:spPr>
          <a:xfrm>
            <a:off x="1900080" y="4551120"/>
            <a:ext cx="2124000" cy="37944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StudentID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Oval 4">
            <a:extLst>
              <a:ext uri="{FF2B5EF4-FFF2-40B4-BE49-F238E27FC236}">
                <a16:creationId xmlns:a16="http://schemas.microsoft.com/office/drawing/2014/main" id="{6E7DE1FE-49FB-490B-AC50-0EC2EEFBC819}"/>
              </a:ext>
            </a:extLst>
          </p:cNvPr>
          <p:cNvSpPr>
            <a:spLocks noGrp="1"/>
          </p:cNvSpPr>
          <p:nvPr/>
        </p:nvSpPr>
        <p:spPr>
          <a:xfrm>
            <a:off x="761760" y="6381720"/>
            <a:ext cx="1854360" cy="30924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Oval 5">
            <a:extLst>
              <a:ext uri="{FF2B5EF4-FFF2-40B4-BE49-F238E27FC236}">
                <a16:creationId xmlns:a16="http://schemas.microsoft.com/office/drawing/2014/main" id="{EB163ACC-46CB-4E76-96D8-B0EE47B386E2}"/>
              </a:ext>
            </a:extLst>
          </p:cNvPr>
          <p:cNvSpPr>
            <a:spLocks noGrp="1"/>
          </p:cNvSpPr>
          <p:nvPr/>
        </p:nvSpPr>
        <p:spPr>
          <a:xfrm>
            <a:off x="-21960" y="5538600"/>
            <a:ext cx="2217240" cy="60660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Date_of_Birth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Straight Connector 6">
            <a:extLst>
              <a:ext uri="{FF2B5EF4-FFF2-40B4-BE49-F238E27FC236}">
                <a16:creationId xmlns:a16="http://schemas.microsoft.com/office/drawing/2014/main" id="{218091C1-DD2C-4128-839E-B5C9F08250CE}"/>
              </a:ext>
            </a:extLst>
          </p:cNvPr>
          <p:cNvSpPr>
            <a:spLocks noGrp="1"/>
          </p:cNvSpPr>
          <p:nvPr/>
        </p:nvSpPr>
        <p:spPr>
          <a:xfrm>
            <a:off x="2195280" y="5244840"/>
            <a:ext cx="420840" cy="58572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Straight Connector 7">
            <a:extLst>
              <a:ext uri="{FF2B5EF4-FFF2-40B4-BE49-F238E27FC236}">
                <a16:creationId xmlns:a16="http://schemas.microsoft.com/office/drawing/2014/main" id="{D42F74AB-19EF-4278-9CF5-CED805E4DD29}"/>
              </a:ext>
            </a:extLst>
          </p:cNvPr>
          <p:cNvSpPr>
            <a:spLocks noGrp="1"/>
          </p:cNvSpPr>
          <p:nvPr/>
        </p:nvSpPr>
        <p:spPr>
          <a:xfrm>
            <a:off x="2962080" y="4930560"/>
            <a:ext cx="196920" cy="66996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Straight Connector 8">
            <a:extLst>
              <a:ext uri="{FF2B5EF4-FFF2-40B4-BE49-F238E27FC236}">
                <a16:creationId xmlns:a16="http://schemas.microsoft.com/office/drawing/2014/main" id="{7AD3C061-C6DF-41B3-BDC9-B402C527D4CE}"/>
              </a:ext>
            </a:extLst>
          </p:cNvPr>
          <p:cNvSpPr>
            <a:spLocks noGrp="1"/>
          </p:cNvSpPr>
          <p:nvPr/>
        </p:nvSpPr>
        <p:spPr>
          <a:xfrm>
            <a:off x="2195280" y="5841720"/>
            <a:ext cx="420840" cy="9864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Straight Connector 9">
            <a:extLst>
              <a:ext uri="{FF2B5EF4-FFF2-40B4-BE49-F238E27FC236}">
                <a16:creationId xmlns:a16="http://schemas.microsoft.com/office/drawing/2014/main" id="{2863EACE-8D6F-4959-BF48-2BE94409BBF9}"/>
              </a:ext>
            </a:extLst>
          </p:cNvPr>
          <p:cNvSpPr>
            <a:spLocks noGrp="1"/>
          </p:cNvSpPr>
          <p:nvPr/>
        </p:nvSpPr>
        <p:spPr>
          <a:xfrm flipH="1">
            <a:off x="2615760" y="6068880"/>
            <a:ext cx="703080" cy="46656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Rectangle 10">
            <a:extLst>
              <a:ext uri="{FF2B5EF4-FFF2-40B4-BE49-F238E27FC236}">
                <a16:creationId xmlns:a16="http://schemas.microsoft.com/office/drawing/2014/main" id="{BFA65633-2D2F-4390-B32D-AA8F522E712C}"/>
              </a:ext>
            </a:extLst>
          </p:cNvPr>
          <p:cNvSpPr>
            <a:spLocks noGrp="1"/>
          </p:cNvSpPr>
          <p:nvPr/>
        </p:nvSpPr>
        <p:spPr>
          <a:xfrm>
            <a:off x="6603840" y="5657760"/>
            <a:ext cx="1407960" cy="46656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Course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Oval 11">
            <a:extLst>
              <a:ext uri="{FF2B5EF4-FFF2-40B4-BE49-F238E27FC236}">
                <a16:creationId xmlns:a16="http://schemas.microsoft.com/office/drawing/2014/main" id="{99C72452-3D02-4AD1-9D53-699068A921F7}"/>
              </a:ext>
            </a:extLst>
          </p:cNvPr>
          <p:cNvSpPr>
            <a:spLocks noGrp="1"/>
          </p:cNvSpPr>
          <p:nvPr/>
        </p:nvSpPr>
        <p:spPr>
          <a:xfrm>
            <a:off x="6721200" y="4441680"/>
            <a:ext cx="1408320" cy="37944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Code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Oval 12">
            <a:extLst>
              <a:ext uri="{FF2B5EF4-FFF2-40B4-BE49-F238E27FC236}">
                <a16:creationId xmlns:a16="http://schemas.microsoft.com/office/drawing/2014/main" id="{F112C82F-863F-4AFC-BFA4-0B07CC8FBAFC}"/>
              </a:ext>
            </a:extLst>
          </p:cNvPr>
          <p:cNvSpPr>
            <a:spLocks noGrp="1"/>
          </p:cNvSpPr>
          <p:nvPr/>
        </p:nvSpPr>
        <p:spPr>
          <a:xfrm>
            <a:off x="8019720" y="5006880"/>
            <a:ext cx="1027440" cy="38088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Title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Straight Connector 13">
            <a:extLst>
              <a:ext uri="{FF2B5EF4-FFF2-40B4-BE49-F238E27FC236}">
                <a16:creationId xmlns:a16="http://schemas.microsoft.com/office/drawing/2014/main" id="{0C0CA3A6-182E-468C-BB02-C78C84CA8178}"/>
              </a:ext>
            </a:extLst>
          </p:cNvPr>
          <p:cNvSpPr>
            <a:spLocks noGrp="1"/>
          </p:cNvSpPr>
          <p:nvPr/>
        </p:nvSpPr>
        <p:spPr>
          <a:xfrm>
            <a:off x="7424640" y="4821120"/>
            <a:ext cx="52200" cy="77940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Straight Connector 14">
            <a:extLst>
              <a:ext uri="{FF2B5EF4-FFF2-40B4-BE49-F238E27FC236}">
                <a16:creationId xmlns:a16="http://schemas.microsoft.com/office/drawing/2014/main" id="{8A0329C3-09F9-499D-8646-2BD719710E95}"/>
              </a:ext>
            </a:extLst>
          </p:cNvPr>
          <p:cNvSpPr>
            <a:spLocks noGrp="1"/>
          </p:cNvSpPr>
          <p:nvPr/>
        </p:nvSpPr>
        <p:spPr>
          <a:xfrm flipH="1">
            <a:off x="8011440" y="5387760"/>
            <a:ext cx="522360" cy="50328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Diamond 15">
            <a:extLst>
              <a:ext uri="{FF2B5EF4-FFF2-40B4-BE49-F238E27FC236}">
                <a16:creationId xmlns:a16="http://schemas.microsoft.com/office/drawing/2014/main" id="{E878DFCA-DE13-4EBB-A78C-EC3CEE4E28DF}"/>
              </a:ext>
            </a:extLst>
          </p:cNvPr>
          <p:cNvSpPr>
            <a:spLocks noGrp="1"/>
          </p:cNvSpPr>
          <p:nvPr/>
        </p:nvSpPr>
        <p:spPr>
          <a:xfrm>
            <a:off x="4470120" y="5538600"/>
            <a:ext cx="1827360" cy="587520"/>
          </a:xfrm>
          <a:prstGeom prst="diamond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Takes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Straight Connector 16">
            <a:extLst>
              <a:ext uri="{FF2B5EF4-FFF2-40B4-BE49-F238E27FC236}">
                <a16:creationId xmlns:a16="http://schemas.microsoft.com/office/drawing/2014/main" id="{1ADDFE18-2C43-4A0F-B56E-C4EE71FDA042}"/>
              </a:ext>
            </a:extLst>
          </p:cNvPr>
          <p:cNvSpPr>
            <a:spLocks noGrp="1"/>
          </p:cNvSpPr>
          <p:nvPr/>
        </p:nvSpPr>
        <p:spPr>
          <a:xfrm flipV="1">
            <a:off x="4024080" y="5832000"/>
            <a:ext cx="446040" cy="324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560" rIns="90000" bIns="-4356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Straight Connector 17">
            <a:extLst>
              <a:ext uri="{FF2B5EF4-FFF2-40B4-BE49-F238E27FC236}">
                <a16:creationId xmlns:a16="http://schemas.microsoft.com/office/drawing/2014/main" id="{35856B8F-CA15-41C1-969A-2D2AF578C74B}"/>
              </a:ext>
            </a:extLst>
          </p:cNvPr>
          <p:cNvSpPr>
            <a:spLocks noGrp="1"/>
          </p:cNvSpPr>
          <p:nvPr/>
        </p:nvSpPr>
        <p:spPr>
          <a:xfrm>
            <a:off x="6297480" y="5832360"/>
            <a:ext cx="306360" cy="5868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1880" rIns="90000" bIns="1188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Oval 18">
            <a:extLst>
              <a:ext uri="{FF2B5EF4-FFF2-40B4-BE49-F238E27FC236}">
                <a16:creationId xmlns:a16="http://schemas.microsoft.com/office/drawing/2014/main" id="{EAC08E93-C3ED-418D-B3E8-D4D11C7A870E}"/>
              </a:ext>
            </a:extLst>
          </p:cNvPr>
          <p:cNvSpPr>
            <a:spLocks noGrp="1"/>
          </p:cNvSpPr>
          <p:nvPr/>
        </p:nvSpPr>
        <p:spPr>
          <a:xfrm>
            <a:off x="4475160" y="4441680"/>
            <a:ext cx="1407960" cy="379440"/>
          </a:xfrm>
          <a:prstGeom prst="ellipse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Grade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Straight Connector 19">
            <a:extLst>
              <a:ext uri="{FF2B5EF4-FFF2-40B4-BE49-F238E27FC236}">
                <a16:creationId xmlns:a16="http://schemas.microsoft.com/office/drawing/2014/main" id="{2F15E964-40F2-42D6-9A03-8617C376220C}"/>
              </a:ext>
            </a:extLst>
          </p:cNvPr>
          <p:cNvSpPr>
            <a:spLocks noGrp="1"/>
          </p:cNvSpPr>
          <p:nvPr/>
        </p:nvSpPr>
        <p:spPr>
          <a:xfrm>
            <a:off x="5179680" y="4821120"/>
            <a:ext cx="203400" cy="71748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9451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>
            <a:extLst>
              <a:ext uri="{FF2B5EF4-FFF2-40B4-BE49-F238E27FC236}">
                <a16:creationId xmlns:a16="http://schemas.microsoft.com/office/drawing/2014/main" id="{B9C61A34-7758-429F-B79C-84F673F1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195" name="PlaceHolder 2">
            <a:extLst>
              <a:ext uri="{FF2B5EF4-FFF2-40B4-BE49-F238E27FC236}">
                <a16:creationId xmlns:a16="http://schemas.microsoft.com/office/drawing/2014/main" id="{F3F9190C-F7AA-40C1-A65D-B7EAA2ACB66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 Degree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degree of a relationship is the number of participating entity types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Binary Relationship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most common relationship type between two entities</a:t>
            </a:r>
          </a:p>
          <a:p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BCB3694E-5E52-4884-84BE-C18698115329}"/>
              </a:ext>
            </a:extLst>
          </p:cNvPr>
          <p:cNvSpPr>
            <a:spLocks noGrp="1"/>
          </p:cNvSpPr>
          <p:nvPr/>
        </p:nvSpPr>
        <p:spPr>
          <a:xfrm>
            <a:off x="1447560" y="4897080"/>
            <a:ext cx="1406520" cy="4669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F94744A6-DFB1-4477-89FC-4FBBB3BF05DD}"/>
              </a:ext>
            </a:extLst>
          </p:cNvPr>
          <p:cNvSpPr>
            <a:spLocks noGrp="1"/>
          </p:cNvSpPr>
          <p:nvPr/>
        </p:nvSpPr>
        <p:spPr>
          <a:xfrm>
            <a:off x="5557680" y="4897080"/>
            <a:ext cx="1407960" cy="4669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Course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Diamond 22">
            <a:extLst>
              <a:ext uri="{FF2B5EF4-FFF2-40B4-BE49-F238E27FC236}">
                <a16:creationId xmlns:a16="http://schemas.microsoft.com/office/drawing/2014/main" id="{5E0D7D53-83B7-4F63-9ADF-8238687F100C}"/>
              </a:ext>
            </a:extLst>
          </p:cNvPr>
          <p:cNvSpPr>
            <a:spLocks noGrp="1"/>
          </p:cNvSpPr>
          <p:nvPr/>
        </p:nvSpPr>
        <p:spPr>
          <a:xfrm>
            <a:off x="3301920" y="4833720"/>
            <a:ext cx="1827000" cy="587520"/>
          </a:xfrm>
          <a:prstGeom prst="diamond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Takes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Straight Connector 23">
            <a:extLst>
              <a:ext uri="{FF2B5EF4-FFF2-40B4-BE49-F238E27FC236}">
                <a16:creationId xmlns:a16="http://schemas.microsoft.com/office/drawing/2014/main" id="{76A8CD20-EC3E-4D5F-97FF-BC84F5ABA672}"/>
              </a:ext>
            </a:extLst>
          </p:cNvPr>
          <p:cNvSpPr>
            <a:spLocks noGrp="1"/>
          </p:cNvSpPr>
          <p:nvPr/>
        </p:nvSpPr>
        <p:spPr>
          <a:xfrm flipV="1">
            <a:off x="2854080" y="5127120"/>
            <a:ext cx="447840" cy="324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560" rIns="90000" bIns="-4356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Straight Connector 24">
            <a:extLst>
              <a:ext uri="{FF2B5EF4-FFF2-40B4-BE49-F238E27FC236}">
                <a16:creationId xmlns:a16="http://schemas.microsoft.com/office/drawing/2014/main" id="{CBD401F3-D93D-4F39-B94E-5D177861AE2E}"/>
              </a:ext>
            </a:extLst>
          </p:cNvPr>
          <p:cNvSpPr>
            <a:spLocks noGrp="1"/>
          </p:cNvSpPr>
          <p:nvPr/>
        </p:nvSpPr>
        <p:spPr>
          <a:xfrm>
            <a:off x="5128920" y="5127480"/>
            <a:ext cx="428760" cy="324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560" rIns="90000" bIns="-4356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00602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>
            <a:extLst>
              <a:ext uri="{FF2B5EF4-FFF2-40B4-BE49-F238E27FC236}">
                <a16:creationId xmlns:a16="http://schemas.microsoft.com/office/drawing/2014/main" id="{DDDADF66-A006-4CBB-9638-962302D2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202" name="PlaceHolder 2">
            <a:extLst>
              <a:ext uri="{FF2B5EF4-FFF2-40B4-BE49-F238E27FC236}">
                <a16:creationId xmlns:a16="http://schemas.microsoft.com/office/drawing/2014/main" id="{C383B543-AB73-473C-81F1-B49FADD0361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 Degree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degree of a relationship is the number of participating entity types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Recursive Relationship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Sometimes a relationship can connect two Entities of the same Entity Type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 order to differentiate between the two sides of the relationship we use labels called Role Indicators</a:t>
            </a:r>
          </a:p>
          <a:p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600200" lvl="3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0" algn="just">
              <a:spcBef>
                <a:spcPts val="499"/>
              </a:spcBef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Rectangle 1">
            <a:extLst>
              <a:ext uri="{FF2B5EF4-FFF2-40B4-BE49-F238E27FC236}">
                <a16:creationId xmlns:a16="http://schemas.microsoft.com/office/drawing/2014/main" id="{C072C9E6-B044-4FA6-987E-9A2E33C4E5A7}"/>
              </a:ext>
            </a:extLst>
          </p:cNvPr>
          <p:cNvSpPr>
            <a:spLocks noGrp="1"/>
          </p:cNvSpPr>
          <p:nvPr/>
        </p:nvSpPr>
        <p:spPr>
          <a:xfrm>
            <a:off x="2033280" y="5503680"/>
            <a:ext cx="1676520" cy="8161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Diamond 2">
            <a:extLst>
              <a:ext uri="{FF2B5EF4-FFF2-40B4-BE49-F238E27FC236}">
                <a16:creationId xmlns:a16="http://schemas.microsoft.com/office/drawing/2014/main" id="{FD1E1790-2D9C-4F05-BA3F-C577784CB6A0}"/>
              </a:ext>
            </a:extLst>
          </p:cNvPr>
          <p:cNvSpPr>
            <a:spLocks noGrp="1"/>
          </p:cNvSpPr>
          <p:nvPr/>
        </p:nvSpPr>
        <p:spPr>
          <a:xfrm>
            <a:off x="4714560" y="5618160"/>
            <a:ext cx="3110040" cy="587160"/>
          </a:xfrm>
          <a:prstGeom prst="diamond">
            <a:avLst/>
          </a:prstGeom>
          <a:solidFill>
            <a:srgbClr val="FFFFFF"/>
          </a:solidFill>
          <a:ln w="252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Straight Connector 3">
            <a:extLst>
              <a:ext uri="{FF2B5EF4-FFF2-40B4-BE49-F238E27FC236}">
                <a16:creationId xmlns:a16="http://schemas.microsoft.com/office/drawing/2014/main" id="{542DA304-E7FD-4E91-9130-B9E4EE4DE70B}"/>
              </a:ext>
            </a:extLst>
          </p:cNvPr>
          <p:cNvSpPr>
            <a:spLocks noGrp="1"/>
          </p:cNvSpPr>
          <p:nvPr/>
        </p:nvSpPr>
        <p:spPr>
          <a:xfrm flipV="1">
            <a:off x="3709800" y="5618160"/>
            <a:ext cx="2558880" cy="288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920" rIns="90000" bIns="-4392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Straight Connector 4">
            <a:extLst>
              <a:ext uri="{FF2B5EF4-FFF2-40B4-BE49-F238E27FC236}">
                <a16:creationId xmlns:a16="http://schemas.microsoft.com/office/drawing/2014/main" id="{A3B08FC9-840F-4FDC-A453-18D6333DE5DF}"/>
              </a:ext>
            </a:extLst>
          </p:cNvPr>
          <p:cNvSpPr>
            <a:spLocks noGrp="1"/>
          </p:cNvSpPr>
          <p:nvPr/>
        </p:nvSpPr>
        <p:spPr>
          <a:xfrm flipV="1">
            <a:off x="3709800" y="6201720"/>
            <a:ext cx="2292480" cy="324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560" rIns="90000" bIns="-43560" anchor="t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TextBox 5">
            <a:extLst>
              <a:ext uri="{FF2B5EF4-FFF2-40B4-BE49-F238E27FC236}">
                <a16:creationId xmlns:a16="http://schemas.microsoft.com/office/drawing/2014/main" id="{0CEABF51-AD2C-4FCE-9704-532337BDDD54}"/>
              </a:ext>
            </a:extLst>
          </p:cNvPr>
          <p:cNvSpPr>
            <a:spLocks noGrp="1"/>
          </p:cNvSpPr>
          <p:nvPr/>
        </p:nvSpPr>
        <p:spPr>
          <a:xfrm>
            <a:off x="4114800" y="5257800"/>
            <a:ext cx="199692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208" name="TextBox 6">
            <a:extLst>
              <a:ext uri="{FF2B5EF4-FFF2-40B4-BE49-F238E27FC236}">
                <a16:creationId xmlns:a16="http://schemas.microsoft.com/office/drawing/2014/main" id="{EA779328-74AD-4589-BDD7-E644FC1B745B}"/>
              </a:ext>
            </a:extLst>
          </p:cNvPr>
          <p:cNvSpPr>
            <a:spLocks noGrp="1"/>
          </p:cNvSpPr>
          <p:nvPr/>
        </p:nvSpPr>
        <p:spPr>
          <a:xfrm>
            <a:off x="4114800" y="6203880"/>
            <a:ext cx="199692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Supervisee</a:t>
            </a:r>
          </a:p>
        </p:txBody>
      </p:sp>
    </p:spTree>
    <p:extLst>
      <p:ext uri="{BB962C8B-B14F-4D97-AF65-F5344CB8AC3E}">
        <p14:creationId xmlns:p14="http://schemas.microsoft.com/office/powerpoint/2010/main" val="3718916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>
            <a:extLst>
              <a:ext uri="{FF2B5EF4-FFF2-40B4-BE49-F238E27FC236}">
                <a16:creationId xmlns:a16="http://schemas.microsoft.com/office/drawing/2014/main" id="{96D18DEA-DEF6-4107-9BD2-BDFFB8AF2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210" name="PlaceHolder 2">
            <a:extLst>
              <a:ext uri="{FF2B5EF4-FFF2-40B4-BE49-F238E27FC236}">
                <a16:creationId xmlns:a16="http://schemas.microsoft.com/office/drawing/2014/main" id="{181A08A9-97C5-4846-A067-8D388C57E75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vs.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Attribute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an attribute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A: E </a:t>
            </a:r>
            <a:r>
              <a:rPr sz="2000" b="1" u="none">
                <a:solidFill>
                  <a:srgbClr val="3333CC"/>
                </a:solidFill>
                <a:latin typeface="Symbol"/>
                <a:ea typeface="Symbol"/>
                <a:cs typeface="Symbol"/>
              </a:rPr>
              <a:t>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D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is a “simplified” form of a relationship:</a:t>
            </a:r>
          </a:p>
          <a:p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If we allow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to be an Entity Set, then 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becomes a relationship 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 relationship can carry attributes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properties of the relationship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Patrick takes cs2450 with a grade of B+</a:t>
            </a:r>
          </a:p>
          <a:p>
            <a:pPr marL="2057400" lvl="4" indent="-228600" algn="just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u="none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            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Supplier S supplies item T with a price of P </a:t>
            </a:r>
          </a:p>
        </p:txBody>
      </p:sp>
    </p:spTree>
    <p:extLst>
      <p:ext uri="{BB962C8B-B14F-4D97-AF65-F5344CB8AC3E}">
        <p14:creationId xmlns:p14="http://schemas.microsoft.com/office/powerpoint/2010/main" val="346437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>
            <a:extLst>
              <a:ext uri="{FF2B5EF4-FFF2-40B4-BE49-F238E27FC236}">
                <a16:creationId xmlns:a16="http://schemas.microsoft.com/office/drawing/2014/main" id="{DF49D926-1CA9-4359-8D7C-07707D623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212" name="PlaceHolder 2">
            <a:extLst>
              <a:ext uri="{FF2B5EF4-FFF2-40B4-BE49-F238E27FC236}">
                <a16:creationId xmlns:a16="http://schemas.microsoft.com/office/drawing/2014/main" id="{4E937448-E4ED-414A-87EE-3A54181904D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Modeling Constructs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Entity Set 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vs.</a:t>
            </a: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Attribute</a:t>
            </a: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What constitutes an attribute, and what constitutes an entity set? </a:t>
            </a:r>
          </a:p>
          <a:p>
            <a:pPr marL="1600200" lvl="3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Employee and Phone</a:t>
            </a:r>
          </a:p>
          <a:p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1) </a:t>
            </a: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employee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entity set with attribute </a:t>
            </a: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phone#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2) </a:t>
            </a: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empPhn 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 set with entity sets </a:t>
            </a: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employee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and </a:t>
            </a: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phone#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No simple answer, depending on</a:t>
            </a:r>
          </a:p>
          <a:p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what we want to model</a:t>
            </a:r>
          </a:p>
          <a:p>
            <a:pPr marL="1600200" lvl="3" indent="-228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- meaning of attributes</a:t>
            </a:r>
          </a:p>
          <a:p>
            <a:pPr marL="2057400" lvl="4" indent="-228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1051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Oval 2">
            <a:extLst>
              <a:ext uri="{FF2B5EF4-FFF2-40B4-BE49-F238E27FC236}">
                <a16:creationId xmlns:a16="http://schemas.microsoft.com/office/drawing/2014/main" id="{F3A99D50-F6FB-4D1B-BFA5-86492EDE1ED1}"/>
              </a:ext>
            </a:extLst>
          </p:cNvPr>
          <p:cNvSpPr>
            <a:spLocks noGrp="1"/>
          </p:cNvSpPr>
          <p:nvPr/>
        </p:nvSpPr>
        <p:spPr>
          <a:xfrm>
            <a:off x="6705360" y="4635380"/>
            <a:ext cx="990720" cy="1143000"/>
          </a:xfrm>
          <a:prstGeom prst="ellipse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PlaceHolder 1">
            <a:extLst>
              <a:ext uri="{FF2B5EF4-FFF2-40B4-BE49-F238E27FC236}">
                <a16:creationId xmlns:a16="http://schemas.microsoft.com/office/drawing/2014/main" id="{DD12288A-9710-4684-98CF-44FCD0CC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215" name="PlaceHolder 2">
            <a:extLst>
              <a:ext uri="{FF2B5EF4-FFF2-40B4-BE49-F238E27FC236}">
                <a16:creationId xmlns:a16="http://schemas.microsoft.com/office/drawing/2014/main" id="{B3913C4D-D1CE-4845-B057-96284170905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Integrity Constraints 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Mapping Cardinalities</a:t>
            </a: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One - to - One (1:1)</a:t>
            </a:r>
          </a:p>
          <a:p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One - to - Many (1:M) / Many - to - One (N:1)</a:t>
            </a:r>
          </a:p>
          <a:p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  <a:p>
            <a:pPr marL="1143000" lvl="2" indent="-22860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Many - to - Many (M:N)</a:t>
            </a:r>
          </a:p>
          <a:p>
            <a:pPr marL="1166400" lvl="4" indent="-129600" algn="just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 dirty="0">
                <a:solidFill>
                  <a:srgbClr val="3333CC"/>
                </a:solidFill>
                <a:latin typeface="Garamond"/>
                <a:ea typeface="Garamond"/>
                <a:cs typeface="Garamond"/>
              </a:rPr>
              <a:t>??</a:t>
            </a:r>
            <a:endParaRPr sz="2400" b="0" u="none" dirty="0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Oval 5">
            <a:extLst>
              <a:ext uri="{FF2B5EF4-FFF2-40B4-BE49-F238E27FC236}">
                <a16:creationId xmlns:a16="http://schemas.microsoft.com/office/drawing/2014/main" id="{61E71D14-9AA1-441A-B0DB-7CA3935EB4E5}"/>
              </a:ext>
            </a:extLst>
          </p:cNvPr>
          <p:cNvSpPr>
            <a:spLocks noGrp="1"/>
          </p:cNvSpPr>
          <p:nvPr/>
        </p:nvSpPr>
        <p:spPr>
          <a:xfrm>
            <a:off x="4114800" y="2743200"/>
            <a:ext cx="1143000" cy="1218960"/>
          </a:xfrm>
          <a:prstGeom prst="ellipse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Oval 6">
            <a:extLst>
              <a:ext uri="{FF2B5EF4-FFF2-40B4-BE49-F238E27FC236}">
                <a16:creationId xmlns:a16="http://schemas.microsoft.com/office/drawing/2014/main" id="{117287C2-86F8-4445-B9BF-81C7E8FB8FDF}"/>
              </a:ext>
            </a:extLst>
          </p:cNvPr>
          <p:cNvSpPr>
            <a:spLocks noGrp="1"/>
          </p:cNvSpPr>
          <p:nvPr/>
        </p:nvSpPr>
        <p:spPr>
          <a:xfrm>
            <a:off x="6553080" y="2666880"/>
            <a:ext cx="1143000" cy="1295280"/>
          </a:xfrm>
          <a:prstGeom prst="ellipse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Text Box 7">
            <a:extLst>
              <a:ext uri="{FF2B5EF4-FFF2-40B4-BE49-F238E27FC236}">
                <a16:creationId xmlns:a16="http://schemas.microsoft.com/office/drawing/2014/main" id="{8662E7C7-A9F2-48C3-84AB-ED269E0920A8}"/>
              </a:ext>
            </a:extLst>
          </p:cNvPr>
          <p:cNvSpPr>
            <a:spLocks noGrp="1"/>
          </p:cNvSpPr>
          <p:nvPr/>
        </p:nvSpPr>
        <p:spPr>
          <a:xfrm>
            <a:off x="4495680" y="2743200"/>
            <a:ext cx="609480" cy="12027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a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b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c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Text Box 8">
            <a:extLst>
              <a:ext uri="{FF2B5EF4-FFF2-40B4-BE49-F238E27FC236}">
                <a16:creationId xmlns:a16="http://schemas.microsoft.com/office/drawing/2014/main" id="{78F25EFA-B62E-46E2-BD7C-CF65E607B99D}"/>
              </a:ext>
            </a:extLst>
          </p:cNvPr>
          <p:cNvSpPr>
            <a:spLocks noGrp="1"/>
          </p:cNvSpPr>
          <p:nvPr/>
        </p:nvSpPr>
        <p:spPr>
          <a:xfrm>
            <a:off x="6933960" y="2743200"/>
            <a:ext cx="609840" cy="12027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2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3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Line 9">
            <a:extLst>
              <a:ext uri="{FF2B5EF4-FFF2-40B4-BE49-F238E27FC236}">
                <a16:creationId xmlns:a16="http://schemas.microsoft.com/office/drawing/2014/main" id="{C0F6D479-DAD2-4F00-9D23-74D3102E43CA}"/>
              </a:ext>
            </a:extLst>
          </p:cNvPr>
          <p:cNvSpPr>
            <a:spLocks noGrp="1"/>
          </p:cNvSpPr>
          <p:nvPr/>
        </p:nvSpPr>
        <p:spPr>
          <a:xfrm>
            <a:off x="4724280" y="2971800"/>
            <a:ext cx="2286000" cy="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Line 10">
            <a:extLst>
              <a:ext uri="{FF2B5EF4-FFF2-40B4-BE49-F238E27FC236}">
                <a16:creationId xmlns:a16="http://schemas.microsoft.com/office/drawing/2014/main" id="{D2F0A216-AD70-4879-BA4E-ECBDBB7C0AFE}"/>
              </a:ext>
            </a:extLst>
          </p:cNvPr>
          <p:cNvSpPr>
            <a:spLocks noGrp="1"/>
          </p:cNvSpPr>
          <p:nvPr/>
        </p:nvSpPr>
        <p:spPr>
          <a:xfrm>
            <a:off x="4724280" y="3352680"/>
            <a:ext cx="2286000" cy="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Line 11">
            <a:extLst>
              <a:ext uri="{FF2B5EF4-FFF2-40B4-BE49-F238E27FC236}">
                <a16:creationId xmlns:a16="http://schemas.microsoft.com/office/drawing/2014/main" id="{F14431C1-9AA6-42CF-8F68-2C86C187EA8F}"/>
              </a:ext>
            </a:extLst>
          </p:cNvPr>
          <p:cNvSpPr>
            <a:spLocks noGrp="1"/>
          </p:cNvSpPr>
          <p:nvPr/>
        </p:nvSpPr>
        <p:spPr>
          <a:xfrm>
            <a:off x="4724280" y="3733560"/>
            <a:ext cx="2286000" cy="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Oval 12">
            <a:extLst>
              <a:ext uri="{FF2B5EF4-FFF2-40B4-BE49-F238E27FC236}">
                <a16:creationId xmlns:a16="http://schemas.microsoft.com/office/drawing/2014/main" id="{6185AEB4-3D99-47E3-B62B-CF3E286A4674}"/>
              </a:ext>
            </a:extLst>
          </p:cNvPr>
          <p:cNvSpPr>
            <a:spLocks noGrp="1"/>
          </p:cNvSpPr>
          <p:nvPr/>
        </p:nvSpPr>
        <p:spPr>
          <a:xfrm>
            <a:off x="4267080" y="4635380"/>
            <a:ext cx="990720" cy="1143000"/>
          </a:xfrm>
          <a:prstGeom prst="ellipse">
            <a:avLst/>
          </a:prstGeom>
          <a:solidFill>
            <a:srgbClr val="00CC99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Text Box 13">
            <a:extLst>
              <a:ext uri="{FF2B5EF4-FFF2-40B4-BE49-F238E27FC236}">
                <a16:creationId xmlns:a16="http://schemas.microsoft.com/office/drawing/2014/main" id="{E72EAD94-5DFD-475F-9B95-596917C8CC4C}"/>
              </a:ext>
            </a:extLst>
          </p:cNvPr>
          <p:cNvSpPr>
            <a:spLocks noGrp="1"/>
          </p:cNvSpPr>
          <p:nvPr/>
        </p:nvSpPr>
        <p:spPr>
          <a:xfrm>
            <a:off x="4572000" y="4586060"/>
            <a:ext cx="609480" cy="12027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a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b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c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Text Box 14">
            <a:extLst>
              <a:ext uri="{FF2B5EF4-FFF2-40B4-BE49-F238E27FC236}">
                <a16:creationId xmlns:a16="http://schemas.microsoft.com/office/drawing/2014/main" id="{810C9375-6661-4A61-BC81-8BA73709C889}"/>
              </a:ext>
            </a:extLst>
          </p:cNvPr>
          <p:cNvSpPr>
            <a:spLocks noGrp="1"/>
          </p:cNvSpPr>
          <p:nvPr/>
        </p:nvSpPr>
        <p:spPr>
          <a:xfrm>
            <a:off x="7086600" y="4787660"/>
            <a:ext cx="380880" cy="785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2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Line 15">
            <a:extLst>
              <a:ext uri="{FF2B5EF4-FFF2-40B4-BE49-F238E27FC236}">
                <a16:creationId xmlns:a16="http://schemas.microsoft.com/office/drawing/2014/main" id="{20A387F2-AAC8-44FB-9EF7-1B0D04D70202}"/>
              </a:ext>
            </a:extLst>
          </p:cNvPr>
          <p:cNvSpPr>
            <a:spLocks noGrp="1"/>
          </p:cNvSpPr>
          <p:nvPr/>
        </p:nvSpPr>
        <p:spPr>
          <a:xfrm>
            <a:off x="4800600" y="4787660"/>
            <a:ext cx="2361960" cy="1526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Line 16">
            <a:extLst>
              <a:ext uri="{FF2B5EF4-FFF2-40B4-BE49-F238E27FC236}">
                <a16:creationId xmlns:a16="http://schemas.microsoft.com/office/drawing/2014/main" id="{110FAEF5-C26E-489C-A283-27AC763C6F87}"/>
              </a:ext>
            </a:extLst>
          </p:cNvPr>
          <p:cNvSpPr>
            <a:spLocks noGrp="1"/>
          </p:cNvSpPr>
          <p:nvPr/>
        </p:nvSpPr>
        <p:spPr>
          <a:xfrm flipV="1">
            <a:off x="4724280" y="5016260"/>
            <a:ext cx="2438280" cy="1526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Line 17">
            <a:extLst>
              <a:ext uri="{FF2B5EF4-FFF2-40B4-BE49-F238E27FC236}">
                <a16:creationId xmlns:a16="http://schemas.microsoft.com/office/drawing/2014/main" id="{516CC88D-763C-4A8D-AC21-1C1548ED2EB6}"/>
              </a:ext>
            </a:extLst>
          </p:cNvPr>
          <p:cNvSpPr>
            <a:spLocks noGrp="1"/>
          </p:cNvSpPr>
          <p:nvPr/>
        </p:nvSpPr>
        <p:spPr>
          <a:xfrm flipV="1">
            <a:off x="4724280" y="5397140"/>
            <a:ext cx="2438280" cy="1522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70718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Cardinality Challenge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One BOOK has many COPY records; each COPY belongs to exactly one BOOK.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One MEMBER can have zero to five active LOAN records.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Each LOAN belongs to exactly one MEMBER and one COPY.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A COPY can appear in many historical loans, but in at most one active loan.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Express the 1:N and min–max constraints.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Cardinality Answer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BOOK (1,N) — COPY (1,1)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MEMBER (0,5 active) — LOAN (1,1)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COPY (0,N historical) — LOAN (1,1)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“At most one active loan per copy” is a temporal business rule.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Simple static cardinality alone cannot express every real-world constraint.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>
            <a:extLst>
              <a:ext uri="{FF2B5EF4-FFF2-40B4-BE49-F238E27FC236}">
                <a16:creationId xmlns:a16="http://schemas.microsoft.com/office/drawing/2014/main" id="{A90E6A0F-AB2A-4C97-971C-E2F8BEA7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230" name="PlaceHolder 2">
            <a:extLst>
              <a:ext uri="{FF2B5EF4-FFF2-40B4-BE49-F238E27FC236}">
                <a16:creationId xmlns:a16="http://schemas.microsoft.com/office/drawing/2014/main" id="{E2E2C0F0-6B3E-4A1A-A59A-21D1CAAF0C2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ER Diagram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Rectangles:       Entity Sets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Ellipses:             Attributes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Diamonds:         Relationship Sets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Lines:                 Attributes to Entity/Relationship Sets</a:t>
            </a:r>
          </a:p>
          <a:p>
            <a:pPr marL="1166400" lvl="4" indent="-129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or, Entity Sets to Relationship Sets</a:t>
            </a:r>
          </a:p>
          <a:p>
            <a:pPr marL="1166400" lvl="4" indent="-129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AutoShape 4">
            <a:extLst>
              <a:ext uri="{FF2B5EF4-FFF2-40B4-BE49-F238E27FC236}">
                <a16:creationId xmlns:a16="http://schemas.microsoft.com/office/drawing/2014/main" id="{109A7A28-3407-41C5-A9E0-9AB9049B9770}"/>
              </a:ext>
            </a:extLst>
          </p:cNvPr>
          <p:cNvSpPr>
            <a:spLocks noGrp="1"/>
          </p:cNvSpPr>
          <p:nvPr/>
        </p:nvSpPr>
        <p:spPr>
          <a:xfrm rot="16200000">
            <a:off x="4381560" y="4228560"/>
            <a:ext cx="60948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AutoShape 5">
            <a:extLst>
              <a:ext uri="{FF2B5EF4-FFF2-40B4-BE49-F238E27FC236}">
                <a16:creationId xmlns:a16="http://schemas.microsoft.com/office/drawing/2014/main" id="{6ED92C03-318F-4E64-8829-E733EEB03EFF}"/>
              </a:ext>
            </a:extLst>
          </p:cNvPr>
          <p:cNvSpPr>
            <a:spLocks noGrp="1"/>
          </p:cNvSpPr>
          <p:nvPr/>
        </p:nvSpPr>
        <p:spPr>
          <a:xfrm rot="5400000">
            <a:off x="5067000" y="4228920"/>
            <a:ext cx="60948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AutoShape 6">
            <a:extLst>
              <a:ext uri="{FF2B5EF4-FFF2-40B4-BE49-F238E27FC236}">
                <a16:creationId xmlns:a16="http://schemas.microsoft.com/office/drawing/2014/main" id="{71ACDF2B-DA53-4EB8-BDA7-C9AC40E86E8E}"/>
              </a:ext>
            </a:extLst>
          </p:cNvPr>
          <p:cNvSpPr>
            <a:spLocks noGrp="1"/>
          </p:cNvSpPr>
          <p:nvPr/>
        </p:nvSpPr>
        <p:spPr>
          <a:xfrm rot="5400000">
            <a:off x="5066640" y="5067000"/>
            <a:ext cx="60984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AutoShape 7">
            <a:extLst>
              <a:ext uri="{FF2B5EF4-FFF2-40B4-BE49-F238E27FC236}">
                <a16:creationId xmlns:a16="http://schemas.microsoft.com/office/drawing/2014/main" id="{F9C3FD83-C75A-4683-AFED-8FFE061185A9}"/>
              </a:ext>
            </a:extLst>
          </p:cNvPr>
          <p:cNvSpPr>
            <a:spLocks noGrp="1"/>
          </p:cNvSpPr>
          <p:nvPr/>
        </p:nvSpPr>
        <p:spPr>
          <a:xfrm rot="16200000">
            <a:off x="4381200" y="5067000"/>
            <a:ext cx="60984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AutoShape 8">
            <a:extLst>
              <a:ext uri="{FF2B5EF4-FFF2-40B4-BE49-F238E27FC236}">
                <a16:creationId xmlns:a16="http://schemas.microsoft.com/office/drawing/2014/main" id="{BC95DEAF-093C-4ABD-A91D-3C7953148713}"/>
              </a:ext>
            </a:extLst>
          </p:cNvPr>
          <p:cNvSpPr>
            <a:spLocks noGrp="1"/>
          </p:cNvSpPr>
          <p:nvPr/>
        </p:nvSpPr>
        <p:spPr>
          <a:xfrm rot="16200000">
            <a:off x="4381560" y="5905080"/>
            <a:ext cx="60948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AutoShape 9">
            <a:extLst>
              <a:ext uri="{FF2B5EF4-FFF2-40B4-BE49-F238E27FC236}">
                <a16:creationId xmlns:a16="http://schemas.microsoft.com/office/drawing/2014/main" id="{6276756C-C106-4454-AC0B-E34CFEF0283B}"/>
              </a:ext>
            </a:extLst>
          </p:cNvPr>
          <p:cNvSpPr>
            <a:spLocks noGrp="1"/>
          </p:cNvSpPr>
          <p:nvPr/>
        </p:nvSpPr>
        <p:spPr>
          <a:xfrm rot="5400000">
            <a:off x="5067000" y="5905440"/>
            <a:ext cx="60948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Line 10">
            <a:extLst>
              <a:ext uri="{FF2B5EF4-FFF2-40B4-BE49-F238E27FC236}">
                <a16:creationId xmlns:a16="http://schemas.microsoft.com/office/drawing/2014/main" id="{C0FCAD1F-32BB-49A1-9970-8916FB9122F5}"/>
              </a:ext>
            </a:extLst>
          </p:cNvPr>
          <p:cNvSpPr>
            <a:spLocks noGrp="1"/>
          </p:cNvSpPr>
          <p:nvPr/>
        </p:nvSpPr>
        <p:spPr>
          <a:xfrm>
            <a:off x="2971800" y="4572000"/>
            <a:ext cx="1371600" cy="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Line 11">
            <a:extLst>
              <a:ext uri="{FF2B5EF4-FFF2-40B4-BE49-F238E27FC236}">
                <a16:creationId xmlns:a16="http://schemas.microsoft.com/office/drawing/2014/main" id="{A64C448C-4008-409C-9E52-2D8B55C1183A}"/>
              </a:ext>
            </a:extLst>
          </p:cNvPr>
          <p:cNvSpPr>
            <a:spLocks noGrp="1"/>
          </p:cNvSpPr>
          <p:nvPr/>
        </p:nvSpPr>
        <p:spPr>
          <a:xfrm>
            <a:off x="5715000" y="4572000"/>
            <a:ext cx="1371600" cy="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Text Box 12">
            <a:extLst>
              <a:ext uri="{FF2B5EF4-FFF2-40B4-BE49-F238E27FC236}">
                <a16:creationId xmlns:a16="http://schemas.microsoft.com/office/drawing/2014/main" id="{70D8AFBB-FB3F-42F2-8AA0-CC278A31F2B9}"/>
              </a:ext>
            </a:extLst>
          </p:cNvPr>
          <p:cNvSpPr>
            <a:spLocks noGrp="1"/>
          </p:cNvSpPr>
          <p:nvPr/>
        </p:nvSpPr>
        <p:spPr>
          <a:xfrm>
            <a:off x="3352680" y="4190760"/>
            <a:ext cx="4572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40" name="Text Box 13">
            <a:extLst>
              <a:ext uri="{FF2B5EF4-FFF2-40B4-BE49-F238E27FC236}">
                <a16:creationId xmlns:a16="http://schemas.microsoft.com/office/drawing/2014/main" id="{65EBC6B3-4866-48B1-94C0-CA01CDA76156}"/>
              </a:ext>
            </a:extLst>
          </p:cNvPr>
          <p:cNvSpPr>
            <a:spLocks noGrp="1"/>
          </p:cNvSpPr>
          <p:nvPr/>
        </p:nvSpPr>
        <p:spPr>
          <a:xfrm>
            <a:off x="6172200" y="4190760"/>
            <a:ext cx="4572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41" name="Line 14">
            <a:extLst>
              <a:ext uri="{FF2B5EF4-FFF2-40B4-BE49-F238E27FC236}">
                <a16:creationId xmlns:a16="http://schemas.microsoft.com/office/drawing/2014/main" id="{FD27BFD4-E427-45FF-BCDA-23CE34C7E44A}"/>
              </a:ext>
            </a:extLst>
          </p:cNvPr>
          <p:cNvSpPr>
            <a:spLocks noGrp="1"/>
          </p:cNvSpPr>
          <p:nvPr/>
        </p:nvSpPr>
        <p:spPr>
          <a:xfrm>
            <a:off x="2971800" y="5410080"/>
            <a:ext cx="1371600" cy="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Text Box 15">
            <a:extLst>
              <a:ext uri="{FF2B5EF4-FFF2-40B4-BE49-F238E27FC236}">
                <a16:creationId xmlns:a16="http://schemas.microsoft.com/office/drawing/2014/main" id="{16C43251-5CE9-4886-A08B-FE066BDD996B}"/>
              </a:ext>
            </a:extLst>
          </p:cNvPr>
          <p:cNvSpPr>
            <a:spLocks noGrp="1"/>
          </p:cNvSpPr>
          <p:nvPr/>
        </p:nvSpPr>
        <p:spPr>
          <a:xfrm>
            <a:off x="3352680" y="5013000"/>
            <a:ext cx="4572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43" name="Line 16">
            <a:extLst>
              <a:ext uri="{FF2B5EF4-FFF2-40B4-BE49-F238E27FC236}">
                <a16:creationId xmlns:a16="http://schemas.microsoft.com/office/drawing/2014/main" id="{33FBEE5D-AADE-4CBB-AC2B-D01A569A01D0}"/>
              </a:ext>
            </a:extLst>
          </p:cNvPr>
          <p:cNvSpPr>
            <a:spLocks noGrp="1"/>
          </p:cNvSpPr>
          <p:nvPr/>
        </p:nvSpPr>
        <p:spPr>
          <a:xfrm>
            <a:off x="5715000" y="5410080"/>
            <a:ext cx="1371600" cy="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Text Box 17">
            <a:extLst>
              <a:ext uri="{FF2B5EF4-FFF2-40B4-BE49-F238E27FC236}">
                <a16:creationId xmlns:a16="http://schemas.microsoft.com/office/drawing/2014/main" id="{25E86BAA-9901-4594-9AC6-F753C6887BF6}"/>
              </a:ext>
            </a:extLst>
          </p:cNvPr>
          <p:cNvSpPr>
            <a:spLocks noGrp="1"/>
          </p:cNvSpPr>
          <p:nvPr/>
        </p:nvSpPr>
        <p:spPr>
          <a:xfrm>
            <a:off x="6172200" y="5013000"/>
            <a:ext cx="4572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5" name="Line 18">
            <a:extLst>
              <a:ext uri="{FF2B5EF4-FFF2-40B4-BE49-F238E27FC236}">
                <a16:creationId xmlns:a16="http://schemas.microsoft.com/office/drawing/2014/main" id="{D82D03A4-CE45-4E0D-94FB-B81955FA5A8A}"/>
              </a:ext>
            </a:extLst>
          </p:cNvPr>
          <p:cNvSpPr>
            <a:spLocks noGrp="1"/>
          </p:cNvSpPr>
          <p:nvPr/>
        </p:nvSpPr>
        <p:spPr>
          <a:xfrm>
            <a:off x="5715000" y="6248160"/>
            <a:ext cx="1371600" cy="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Box 19">
            <a:extLst>
              <a:ext uri="{FF2B5EF4-FFF2-40B4-BE49-F238E27FC236}">
                <a16:creationId xmlns:a16="http://schemas.microsoft.com/office/drawing/2014/main" id="{BC1FC21F-33BD-4B0C-837A-455866C26156}"/>
              </a:ext>
            </a:extLst>
          </p:cNvPr>
          <p:cNvSpPr>
            <a:spLocks noGrp="1"/>
          </p:cNvSpPr>
          <p:nvPr/>
        </p:nvSpPr>
        <p:spPr>
          <a:xfrm>
            <a:off x="6172200" y="5851440"/>
            <a:ext cx="4572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7" name="Line 20">
            <a:extLst>
              <a:ext uri="{FF2B5EF4-FFF2-40B4-BE49-F238E27FC236}">
                <a16:creationId xmlns:a16="http://schemas.microsoft.com/office/drawing/2014/main" id="{9764208F-6470-472B-BE48-845E7D877BD1}"/>
              </a:ext>
            </a:extLst>
          </p:cNvPr>
          <p:cNvSpPr>
            <a:spLocks noGrp="1"/>
          </p:cNvSpPr>
          <p:nvPr/>
        </p:nvSpPr>
        <p:spPr>
          <a:xfrm>
            <a:off x="2971800" y="6248160"/>
            <a:ext cx="1371600" cy="0"/>
          </a:xfrm>
          <a:prstGeom prst="line">
            <a:avLst/>
          </a:prstGeom>
          <a:ln w="12600">
            <a:solidFill>
              <a:srgbClr val="000000"/>
            </a:solidFill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Box 21">
            <a:extLst>
              <a:ext uri="{FF2B5EF4-FFF2-40B4-BE49-F238E27FC236}">
                <a16:creationId xmlns:a16="http://schemas.microsoft.com/office/drawing/2014/main" id="{F6C2F582-2F42-4540-9582-1A160D695208}"/>
              </a:ext>
            </a:extLst>
          </p:cNvPr>
          <p:cNvSpPr>
            <a:spLocks noGrp="1"/>
          </p:cNvSpPr>
          <p:nvPr/>
        </p:nvSpPr>
        <p:spPr>
          <a:xfrm>
            <a:off x="3504960" y="5867280"/>
            <a:ext cx="4572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9" name="Text Box 22">
            <a:extLst>
              <a:ext uri="{FF2B5EF4-FFF2-40B4-BE49-F238E27FC236}">
                <a16:creationId xmlns:a16="http://schemas.microsoft.com/office/drawing/2014/main" id="{F3D7254B-F644-4491-AD99-83CD54FF8185}"/>
              </a:ext>
            </a:extLst>
          </p:cNvPr>
          <p:cNvSpPr>
            <a:spLocks noGrp="1"/>
          </p:cNvSpPr>
          <p:nvPr/>
        </p:nvSpPr>
        <p:spPr>
          <a:xfrm>
            <a:off x="4876560" y="4343400"/>
            <a:ext cx="38124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R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Box 23">
            <a:extLst>
              <a:ext uri="{FF2B5EF4-FFF2-40B4-BE49-F238E27FC236}">
                <a16:creationId xmlns:a16="http://schemas.microsoft.com/office/drawing/2014/main" id="{A4A40913-519B-4E83-A6D3-F10BEDCB91EA}"/>
              </a:ext>
            </a:extLst>
          </p:cNvPr>
          <p:cNvSpPr>
            <a:spLocks noGrp="1"/>
          </p:cNvSpPr>
          <p:nvPr/>
        </p:nvSpPr>
        <p:spPr>
          <a:xfrm>
            <a:off x="4876560" y="5241600"/>
            <a:ext cx="38124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R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Box 24">
            <a:extLst>
              <a:ext uri="{FF2B5EF4-FFF2-40B4-BE49-F238E27FC236}">
                <a16:creationId xmlns:a16="http://schemas.microsoft.com/office/drawing/2014/main" id="{AB64D34E-EDD5-4779-84C2-3F0075D16E89}"/>
              </a:ext>
            </a:extLst>
          </p:cNvPr>
          <p:cNvSpPr>
            <a:spLocks noGrp="1"/>
          </p:cNvSpPr>
          <p:nvPr/>
        </p:nvSpPr>
        <p:spPr>
          <a:xfrm>
            <a:off x="4876560" y="6080040"/>
            <a:ext cx="38124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R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10412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2">
            <a:extLst>
              <a:ext uri="{FF2B5EF4-FFF2-40B4-BE49-F238E27FC236}">
                <a16:creationId xmlns:a16="http://schemas.microsoft.com/office/drawing/2014/main" id="{3B7A2684-3E79-47BB-B6E4-ABF2670F8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5" y="745920"/>
            <a:ext cx="9068040" cy="4730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ctr">
            <a:sp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SUMMARY OF ER-DIAGRAM NOTATION</a:t>
            </a:r>
          </a:p>
        </p:txBody>
      </p:sp>
      <p:sp>
        <p:nvSpPr>
          <p:cNvPr id="254" name="Rectangle 4">
            <a:extLst>
              <a:ext uri="{FF2B5EF4-FFF2-40B4-BE49-F238E27FC236}">
                <a16:creationId xmlns:a16="http://schemas.microsoft.com/office/drawing/2014/main" id="{2426EDE4-7A3A-4CF6-A585-7FECFF8CA14A}"/>
              </a:ext>
            </a:extLst>
          </p:cNvPr>
          <p:cNvSpPr>
            <a:spLocks noGrp="1"/>
          </p:cNvSpPr>
          <p:nvPr/>
        </p:nvSpPr>
        <p:spPr>
          <a:xfrm>
            <a:off x="4724280" y="1773969"/>
            <a:ext cx="4419720" cy="474707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ENTITY TYPE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WEAK ENTITY TYPE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 TYPE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IDENTIFYING RELATIONSHIP TYPE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ATTRIBUTE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KEY ATTRIBUTE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MULTIVALUED ATTRIBUTE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COMPOSITE ATTRIBUTE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TOTAL PARTICIPATION OF E2 IN R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CARDINALITY RATIO 1:N FOR E1:E2 IN R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901"/>
              </a:spcBef>
              <a:spcAft>
                <a:spcPts val="10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 dirty="0">
                <a:solidFill>
                  <a:srgbClr val="3333CC"/>
                </a:solidFill>
                <a:latin typeface="Arial"/>
                <a:ea typeface="Arial"/>
                <a:cs typeface="Arial"/>
              </a:rPr>
              <a:t>STRUCTURAL CONSTRAINT (min, max) ON PARTICIPATION OF E IN R</a:t>
            </a:r>
            <a:endParaRPr sz="1200"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Box 5">
            <a:extLst>
              <a:ext uri="{FF2B5EF4-FFF2-40B4-BE49-F238E27FC236}">
                <a16:creationId xmlns:a16="http://schemas.microsoft.com/office/drawing/2014/main" id="{82000C22-366B-4C97-BABF-CDB18AB21B58}"/>
              </a:ext>
            </a:extLst>
          </p:cNvPr>
          <p:cNvSpPr>
            <a:spLocks noGrp="1"/>
          </p:cNvSpPr>
          <p:nvPr/>
        </p:nvSpPr>
        <p:spPr>
          <a:xfrm>
            <a:off x="525280" y="2260445"/>
            <a:ext cx="1143230" cy="276999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0" rIns="9000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b="1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Symbol</a:t>
            </a:r>
            <a:endParaRPr b="1" u="none" dirty="0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Rectangle 7">
            <a:extLst>
              <a:ext uri="{FF2B5EF4-FFF2-40B4-BE49-F238E27FC236}">
                <a16:creationId xmlns:a16="http://schemas.microsoft.com/office/drawing/2014/main" id="{8FBE8284-6CFF-42F4-A0E9-05C18E2287F0}"/>
              </a:ext>
            </a:extLst>
          </p:cNvPr>
          <p:cNvSpPr>
            <a:spLocks noGrp="1"/>
          </p:cNvSpPr>
          <p:nvPr/>
        </p:nvSpPr>
        <p:spPr>
          <a:xfrm>
            <a:off x="2614320" y="2238745"/>
            <a:ext cx="914400" cy="32040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Rectangle 8">
            <a:extLst>
              <a:ext uri="{FF2B5EF4-FFF2-40B4-BE49-F238E27FC236}">
                <a16:creationId xmlns:a16="http://schemas.microsoft.com/office/drawing/2014/main" id="{BE8E89F9-CD50-4419-8902-E1FAF2B01D09}"/>
              </a:ext>
            </a:extLst>
          </p:cNvPr>
          <p:cNvSpPr>
            <a:spLocks noGrp="1"/>
          </p:cNvSpPr>
          <p:nvPr/>
        </p:nvSpPr>
        <p:spPr>
          <a:xfrm>
            <a:off x="2576160" y="2204185"/>
            <a:ext cx="990720" cy="39996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Rectangle 9">
            <a:extLst>
              <a:ext uri="{FF2B5EF4-FFF2-40B4-BE49-F238E27FC236}">
                <a16:creationId xmlns:a16="http://schemas.microsoft.com/office/drawing/2014/main" id="{5F1124E1-10C5-4EAF-A8F0-C59F2447D85E}"/>
              </a:ext>
            </a:extLst>
          </p:cNvPr>
          <p:cNvSpPr>
            <a:spLocks noGrp="1"/>
          </p:cNvSpPr>
          <p:nvPr/>
        </p:nvSpPr>
        <p:spPr>
          <a:xfrm rot="2722800">
            <a:off x="2891880" y="2712145"/>
            <a:ext cx="254160" cy="25416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Rectangle 11">
            <a:extLst>
              <a:ext uri="{FF2B5EF4-FFF2-40B4-BE49-F238E27FC236}">
                <a16:creationId xmlns:a16="http://schemas.microsoft.com/office/drawing/2014/main" id="{F421766D-B0C5-4665-8934-17216BAADFD2}"/>
              </a:ext>
            </a:extLst>
          </p:cNvPr>
          <p:cNvSpPr>
            <a:spLocks noGrp="1"/>
          </p:cNvSpPr>
          <p:nvPr/>
        </p:nvSpPr>
        <p:spPr>
          <a:xfrm rot="2722800">
            <a:off x="2891880" y="3158545"/>
            <a:ext cx="254160" cy="25380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Rectangle 12">
            <a:extLst>
              <a:ext uri="{FF2B5EF4-FFF2-40B4-BE49-F238E27FC236}">
                <a16:creationId xmlns:a16="http://schemas.microsoft.com/office/drawing/2014/main" id="{33A8E21F-E9A6-469E-83E1-8011EECC79D8}"/>
              </a:ext>
            </a:extLst>
          </p:cNvPr>
          <p:cNvSpPr>
            <a:spLocks noGrp="1"/>
          </p:cNvSpPr>
          <p:nvPr/>
        </p:nvSpPr>
        <p:spPr>
          <a:xfrm rot="2722800">
            <a:off x="2858400" y="3117145"/>
            <a:ext cx="320760" cy="32076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Oval 14">
            <a:extLst>
              <a:ext uri="{FF2B5EF4-FFF2-40B4-BE49-F238E27FC236}">
                <a16:creationId xmlns:a16="http://schemas.microsoft.com/office/drawing/2014/main" id="{856BF2DF-BDF1-4D99-B99D-32BBEA5FC847}"/>
              </a:ext>
            </a:extLst>
          </p:cNvPr>
          <p:cNvSpPr>
            <a:spLocks noGrp="1"/>
          </p:cNvSpPr>
          <p:nvPr/>
        </p:nvSpPr>
        <p:spPr>
          <a:xfrm>
            <a:off x="2728440" y="3601345"/>
            <a:ext cx="746280" cy="210960"/>
          </a:xfrm>
          <a:prstGeom prst="ellipse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Line 15">
            <a:extLst>
              <a:ext uri="{FF2B5EF4-FFF2-40B4-BE49-F238E27FC236}">
                <a16:creationId xmlns:a16="http://schemas.microsoft.com/office/drawing/2014/main" id="{5E3DCE3B-E789-47CB-9929-52AA737556A6}"/>
              </a:ext>
            </a:extLst>
          </p:cNvPr>
          <p:cNvSpPr>
            <a:spLocks noGrp="1"/>
          </p:cNvSpPr>
          <p:nvPr/>
        </p:nvSpPr>
        <p:spPr>
          <a:xfrm flipH="1">
            <a:off x="2331720" y="3707545"/>
            <a:ext cx="39672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Oval 18">
            <a:extLst>
              <a:ext uri="{FF2B5EF4-FFF2-40B4-BE49-F238E27FC236}">
                <a16:creationId xmlns:a16="http://schemas.microsoft.com/office/drawing/2014/main" id="{7F4CC952-D23B-4531-9CE0-1D101E5C5C64}"/>
              </a:ext>
            </a:extLst>
          </p:cNvPr>
          <p:cNvSpPr>
            <a:spLocks noGrp="1"/>
          </p:cNvSpPr>
          <p:nvPr/>
        </p:nvSpPr>
        <p:spPr>
          <a:xfrm>
            <a:off x="2728440" y="3977545"/>
            <a:ext cx="746280" cy="210960"/>
          </a:xfrm>
          <a:prstGeom prst="ellipse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Line 19">
            <a:extLst>
              <a:ext uri="{FF2B5EF4-FFF2-40B4-BE49-F238E27FC236}">
                <a16:creationId xmlns:a16="http://schemas.microsoft.com/office/drawing/2014/main" id="{0D925115-35B8-4852-BDE5-BB1F2D464F75}"/>
              </a:ext>
            </a:extLst>
          </p:cNvPr>
          <p:cNvSpPr>
            <a:spLocks noGrp="1"/>
          </p:cNvSpPr>
          <p:nvPr/>
        </p:nvSpPr>
        <p:spPr>
          <a:xfrm flipH="1">
            <a:off x="2331720" y="4083745"/>
            <a:ext cx="39672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Line 20">
            <a:extLst>
              <a:ext uri="{FF2B5EF4-FFF2-40B4-BE49-F238E27FC236}">
                <a16:creationId xmlns:a16="http://schemas.microsoft.com/office/drawing/2014/main" id="{98AC8A75-09B8-40E3-8F12-0C36D32DA62F}"/>
              </a:ext>
            </a:extLst>
          </p:cNvPr>
          <p:cNvSpPr>
            <a:spLocks noGrp="1"/>
          </p:cNvSpPr>
          <p:nvPr/>
        </p:nvSpPr>
        <p:spPr>
          <a:xfrm>
            <a:off x="2881080" y="4124785"/>
            <a:ext cx="42696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Oval 22">
            <a:extLst>
              <a:ext uri="{FF2B5EF4-FFF2-40B4-BE49-F238E27FC236}">
                <a16:creationId xmlns:a16="http://schemas.microsoft.com/office/drawing/2014/main" id="{20400164-6784-4A02-8AF9-7F78D32E2897}"/>
              </a:ext>
            </a:extLst>
          </p:cNvPr>
          <p:cNvSpPr>
            <a:spLocks noGrp="1"/>
          </p:cNvSpPr>
          <p:nvPr/>
        </p:nvSpPr>
        <p:spPr>
          <a:xfrm>
            <a:off x="2728440" y="4388665"/>
            <a:ext cx="746280" cy="210960"/>
          </a:xfrm>
          <a:prstGeom prst="ellipse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Line 23">
            <a:extLst>
              <a:ext uri="{FF2B5EF4-FFF2-40B4-BE49-F238E27FC236}">
                <a16:creationId xmlns:a16="http://schemas.microsoft.com/office/drawing/2014/main" id="{C74F897E-E733-444D-8251-5F10961F59E8}"/>
              </a:ext>
            </a:extLst>
          </p:cNvPr>
          <p:cNvSpPr>
            <a:spLocks noGrp="1"/>
          </p:cNvSpPr>
          <p:nvPr/>
        </p:nvSpPr>
        <p:spPr>
          <a:xfrm flipH="1">
            <a:off x="2331720" y="4494865"/>
            <a:ext cx="39672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Oval 24">
            <a:extLst>
              <a:ext uri="{FF2B5EF4-FFF2-40B4-BE49-F238E27FC236}">
                <a16:creationId xmlns:a16="http://schemas.microsoft.com/office/drawing/2014/main" id="{A57A58A3-B9E8-404B-B624-20ACEE5FCDBE}"/>
              </a:ext>
            </a:extLst>
          </p:cNvPr>
          <p:cNvSpPr>
            <a:spLocks noGrp="1"/>
          </p:cNvSpPr>
          <p:nvPr/>
        </p:nvSpPr>
        <p:spPr>
          <a:xfrm>
            <a:off x="2622240" y="4361665"/>
            <a:ext cx="958680" cy="272880"/>
          </a:xfrm>
          <a:prstGeom prst="ellipse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Rectangle 29">
            <a:extLst>
              <a:ext uri="{FF2B5EF4-FFF2-40B4-BE49-F238E27FC236}">
                <a16:creationId xmlns:a16="http://schemas.microsoft.com/office/drawing/2014/main" id="{7C4DD9E6-7CF7-4BF5-B620-285F169F3CE9}"/>
              </a:ext>
            </a:extLst>
          </p:cNvPr>
          <p:cNvSpPr>
            <a:spLocks noGrp="1"/>
          </p:cNvSpPr>
          <p:nvPr/>
        </p:nvSpPr>
        <p:spPr>
          <a:xfrm>
            <a:off x="838080" y="5213330"/>
            <a:ext cx="639720" cy="24120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Line 30">
            <a:extLst>
              <a:ext uri="{FF2B5EF4-FFF2-40B4-BE49-F238E27FC236}">
                <a16:creationId xmlns:a16="http://schemas.microsoft.com/office/drawing/2014/main" id="{55A9BE2A-666F-4832-8C73-FB6F94D294D0}"/>
              </a:ext>
            </a:extLst>
          </p:cNvPr>
          <p:cNvSpPr>
            <a:spLocks noGrp="1"/>
          </p:cNvSpPr>
          <p:nvPr/>
        </p:nvSpPr>
        <p:spPr>
          <a:xfrm>
            <a:off x="1493640" y="5340410"/>
            <a:ext cx="48744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Text Box 31">
            <a:extLst>
              <a:ext uri="{FF2B5EF4-FFF2-40B4-BE49-F238E27FC236}">
                <a16:creationId xmlns:a16="http://schemas.microsoft.com/office/drawing/2014/main" id="{541C1471-A2CD-44F6-A9FB-189A661CA516}"/>
              </a:ext>
            </a:extLst>
          </p:cNvPr>
          <p:cNvSpPr>
            <a:spLocks noGrp="1"/>
          </p:cNvSpPr>
          <p:nvPr/>
        </p:nvSpPr>
        <p:spPr>
          <a:xfrm>
            <a:off x="1973160" y="5207210"/>
            <a:ext cx="282240" cy="276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Line 32">
            <a:extLst>
              <a:ext uri="{FF2B5EF4-FFF2-40B4-BE49-F238E27FC236}">
                <a16:creationId xmlns:a16="http://schemas.microsoft.com/office/drawing/2014/main" id="{CA8AD417-C80F-464A-90BD-1B26568BA0FD}"/>
              </a:ext>
            </a:extLst>
          </p:cNvPr>
          <p:cNvSpPr>
            <a:spLocks noGrp="1"/>
          </p:cNvSpPr>
          <p:nvPr/>
        </p:nvSpPr>
        <p:spPr>
          <a:xfrm>
            <a:off x="2252520" y="5306930"/>
            <a:ext cx="117648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Line 33">
            <a:extLst>
              <a:ext uri="{FF2B5EF4-FFF2-40B4-BE49-F238E27FC236}">
                <a16:creationId xmlns:a16="http://schemas.microsoft.com/office/drawing/2014/main" id="{294EA10E-E7D8-4B67-B554-D83F39D7F353}"/>
              </a:ext>
            </a:extLst>
          </p:cNvPr>
          <p:cNvSpPr>
            <a:spLocks noGrp="1"/>
          </p:cNvSpPr>
          <p:nvPr/>
        </p:nvSpPr>
        <p:spPr>
          <a:xfrm>
            <a:off x="2292120" y="5353010"/>
            <a:ext cx="113688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Rectangle 34">
            <a:extLst>
              <a:ext uri="{FF2B5EF4-FFF2-40B4-BE49-F238E27FC236}">
                <a16:creationId xmlns:a16="http://schemas.microsoft.com/office/drawing/2014/main" id="{526CBDD6-0EA8-41F5-B4B8-88168CF0BB7A}"/>
              </a:ext>
            </a:extLst>
          </p:cNvPr>
          <p:cNvSpPr>
            <a:spLocks noGrp="1"/>
          </p:cNvSpPr>
          <p:nvPr/>
        </p:nvSpPr>
        <p:spPr>
          <a:xfrm>
            <a:off x="3429000" y="5213330"/>
            <a:ext cx="639720" cy="24156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E2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Rectangle 35">
            <a:extLst>
              <a:ext uri="{FF2B5EF4-FFF2-40B4-BE49-F238E27FC236}">
                <a16:creationId xmlns:a16="http://schemas.microsoft.com/office/drawing/2014/main" id="{D35C0E5B-45D6-4E78-AD9A-671932617E9A}"/>
              </a:ext>
            </a:extLst>
          </p:cNvPr>
          <p:cNvSpPr>
            <a:spLocks noGrp="1"/>
          </p:cNvSpPr>
          <p:nvPr/>
        </p:nvSpPr>
        <p:spPr>
          <a:xfrm>
            <a:off x="838080" y="5638850"/>
            <a:ext cx="639720" cy="24120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Line 36">
            <a:extLst>
              <a:ext uri="{FF2B5EF4-FFF2-40B4-BE49-F238E27FC236}">
                <a16:creationId xmlns:a16="http://schemas.microsoft.com/office/drawing/2014/main" id="{9A04B6A0-25BB-4B2C-A95F-8DDEFE2CB158}"/>
              </a:ext>
            </a:extLst>
          </p:cNvPr>
          <p:cNvSpPr>
            <a:spLocks noGrp="1"/>
          </p:cNvSpPr>
          <p:nvPr/>
        </p:nvSpPr>
        <p:spPr>
          <a:xfrm>
            <a:off x="1493640" y="5765930"/>
            <a:ext cx="48744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Rectangle 37">
            <a:extLst>
              <a:ext uri="{FF2B5EF4-FFF2-40B4-BE49-F238E27FC236}">
                <a16:creationId xmlns:a16="http://schemas.microsoft.com/office/drawing/2014/main" id="{84BF0CF2-61F7-457C-92FB-90227773E946}"/>
              </a:ext>
            </a:extLst>
          </p:cNvPr>
          <p:cNvSpPr>
            <a:spLocks noGrp="1"/>
          </p:cNvSpPr>
          <p:nvPr/>
        </p:nvSpPr>
        <p:spPr>
          <a:xfrm rot="2722800">
            <a:off x="2037960" y="5637050"/>
            <a:ext cx="253800" cy="25380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10800000" vert="eaVert" wrap="none" lIns="46800" tIns="90000" rIns="46800" bIns="90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Text Box 38">
            <a:extLst>
              <a:ext uri="{FF2B5EF4-FFF2-40B4-BE49-F238E27FC236}">
                <a16:creationId xmlns:a16="http://schemas.microsoft.com/office/drawing/2014/main" id="{B9353E7C-E892-4F4D-B1BB-FC9EBEEABC77}"/>
              </a:ext>
            </a:extLst>
          </p:cNvPr>
          <p:cNvSpPr>
            <a:spLocks noGrp="1"/>
          </p:cNvSpPr>
          <p:nvPr/>
        </p:nvSpPr>
        <p:spPr>
          <a:xfrm>
            <a:off x="2033640" y="5634170"/>
            <a:ext cx="282240" cy="276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Line 39">
            <a:extLst>
              <a:ext uri="{FF2B5EF4-FFF2-40B4-BE49-F238E27FC236}">
                <a16:creationId xmlns:a16="http://schemas.microsoft.com/office/drawing/2014/main" id="{BA283B48-0B14-4B27-AA0B-10B71F0586DB}"/>
              </a:ext>
            </a:extLst>
          </p:cNvPr>
          <p:cNvSpPr>
            <a:spLocks noGrp="1"/>
          </p:cNvSpPr>
          <p:nvPr/>
        </p:nvSpPr>
        <p:spPr>
          <a:xfrm>
            <a:off x="2361960" y="5769170"/>
            <a:ext cx="73188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Text Box 40">
            <a:extLst>
              <a:ext uri="{FF2B5EF4-FFF2-40B4-BE49-F238E27FC236}">
                <a16:creationId xmlns:a16="http://schemas.microsoft.com/office/drawing/2014/main" id="{6D29897D-BC65-4C3A-94C5-21AA5F1A1570}"/>
              </a:ext>
            </a:extLst>
          </p:cNvPr>
          <p:cNvSpPr>
            <a:spLocks noGrp="1"/>
          </p:cNvSpPr>
          <p:nvPr/>
        </p:nvSpPr>
        <p:spPr>
          <a:xfrm>
            <a:off x="2269800" y="5543810"/>
            <a:ext cx="290880" cy="276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Rectangle 41">
            <a:extLst>
              <a:ext uri="{FF2B5EF4-FFF2-40B4-BE49-F238E27FC236}">
                <a16:creationId xmlns:a16="http://schemas.microsoft.com/office/drawing/2014/main" id="{CFC37517-EC8E-414B-AC94-73F09A1717AD}"/>
              </a:ext>
            </a:extLst>
          </p:cNvPr>
          <p:cNvSpPr>
            <a:spLocks noGrp="1"/>
          </p:cNvSpPr>
          <p:nvPr/>
        </p:nvSpPr>
        <p:spPr>
          <a:xfrm>
            <a:off x="3093840" y="5650010"/>
            <a:ext cx="639720" cy="24120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E2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Line 42">
            <a:extLst>
              <a:ext uri="{FF2B5EF4-FFF2-40B4-BE49-F238E27FC236}">
                <a16:creationId xmlns:a16="http://schemas.microsoft.com/office/drawing/2014/main" id="{09C73F9D-0872-4AA1-8308-31A21FCA5CC4}"/>
              </a:ext>
            </a:extLst>
          </p:cNvPr>
          <p:cNvSpPr>
            <a:spLocks noGrp="1"/>
          </p:cNvSpPr>
          <p:nvPr/>
        </p:nvSpPr>
        <p:spPr>
          <a:xfrm>
            <a:off x="1493640" y="6242210"/>
            <a:ext cx="48744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Rectangle 43">
            <a:extLst>
              <a:ext uri="{FF2B5EF4-FFF2-40B4-BE49-F238E27FC236}">
                <a16:creationId xmlns:a16="http://schemas.microsoft.com/office/drawing/2014/main" id="{0C57A37F-C9BD-46E2-BE3A-09772C3C9608}"/>
              </a:ext>
            </a:extLst>
          </p:cNvPr>
          <p:cNvSpPr>
            <a:spLocks noGrp="1"/>
          </p:cNvSpPr>
          <p:nvPr/>
        </p:nvSpPr>
        <p:spPr>
          <a:xfrm rot="2722800">
            <a:off x="2037960" y="6113330"/>
            <a:ext cx="253800" cy="25380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10800000" vert="eaVert" wrap="none" lIns="46800" tIns="90000" rIns="46800" bIns="90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Text Box 44">
            <a:extLst>
              <a:ext uri="{FF2B5EF4-FFF2-40B4-BE49-F238E27FC236}">
                <a16:creationId xmlns:a16="http://schemas.microsoft.com/office/drawing/2014/main" id="{84291EBC-048C-405A-ADA9-4B0AC95C1575}"/>
              </a:ext>
            </a:extLst>
          </p:cNvPr>
          <p:cNvSpPr>
            <a:spLocks noGrp="1"/>
          </p:cNvSpPr>
          <p:nvPr/>
        </p:nvSpPr>
        <p:spPr>
          <a:xfrm>
            <a:off x="2033640" y="6110450"/>
            <a:ext cx="282240" cy="276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Line 45">
            <a:extLst>
              <a:ext uri="{FF2B5EF4-FFF2-40B4-BE49-F238E27FC236}">
                <a16:creationId xmlns:a16="http://schemas.microsoft.com/office/drawing/2014/main" id="{B86F2DB2-F1CA-40B9-850D-F27A44BF8A87}"/>
              </a:ext>
            </a:extLst>
          </p:cNvPr>
          <p:cNvSpPr>
            <a:spLocks noGrp="1"/>
          </p:cNvSpPr>
          <p:nvPr/>
        </p:nvSpPr>
        <p:spPr>
          <a:xfrm>
            <a:off x="2361960" y="6245450"/>
            <a:ext cx="73188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Text Box 46">
            <a:extLst>
              <a:ext uri="{FF2B5EF4-FFF2-40B4-BE49-F238E27FC236}">
                <a16:creationId xmlns:a16="http://schemas.microsoft.com/office/drawing/2014/main" id="{634DD8A4-4018-4D25-B193-824DFDDF0F8C}"/>
              </a:ext>
            </a:extLst>
          </p:cNvPr>
          <p:cNvSpPr>
            <a:spLocks noGrp="1"/>
          </p:cNvSpPr>
          <p:nvPr/>
        </p:nvSpPr>
        <p:spPr>
          <a:xfrm>
            <a:off x="2288880" y="6019730"/>
            <a:ext cx="819720" cy="276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(min,max)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" name="Rectangle 47">
            <a:extLst>
              <a:ext uri="{FF2B5EF4-FFF2-40B4-BE49-F238E27FC236}">
                <a16:creationId xmlns:a16="http://schemas.microsoft.com/office/drawing/2014/main" id="{B75F23AA-7CFC-4873-B5BD-B86B3973A05A}"/>
              </a:ext>
            </a:extLst>
          </p:cNvPr>
          <p:cNvSpPr>
            <a:spLocks noGrp="1"/>
          </p:cNvSpPr>
          <p:nvPr/>
        </p:nvSpPr>
        <p:spPr>
          <a:xfrm>
            <a:off x="3093840" y="6126290"/>
            <a:ext cx="639720" cy="24120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  <a:endParaRPr sz="1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Oval 49">
            <a:extLst>
              <a:ext uri="{FF2B5EF4-FFF2-40B4-BE49-F238E27FC236}">
                <a16:creationId xmlns:a16="http://schemas.microsoft.com/office/drawing/2014/main" id="{82025CF4-0525-4BB4-A35E-30F13730BB1B}"/>
              </a:ext>
            </a:extLst>
          </p:cNvPr>
          <p:cNvSpPr>
            <a:spLocks noGrp="1"/>
          </p:cNvSpPr>
          <p:nvPr/>
        </p:nvSpPr>
        <p:spPr>
          <a:xfrm>
            <a:off x="2552400" y="4745785"/>
            <a:ext cx="237600" cy="138240"/>
          </a:xfrm>
          <a:prstGeom prst="ellipse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Oval 50">
            <a:extLst>
              <a:ext uri="{FF2B5EF4-FFF2-40B4-BE49-F238E27FC236}">
                <a16:creationId xmlns:a16="http://schemas.microsoft.com/office/drawing/2014/main" id="{8BEADE71-1BBE-4E28-9EE5-2896DC076971}"/>
              </a:ext>
            </a:extLst>
          </p:cNvPr>
          <p:cNvSpPr>
            <a:spLocks noGrp="1"/>
          </p:cNvSpPr>
          <p:nvPr/>
        </p:nvSpPr>
        <p:spPr>
          <a:xfrm>
            <a:off x="2879280" y="4745785"/>
            <a:ext cx="237600" cy="138240"/>
          </a:xfrm>
          <a:prstGeom prst="ellipse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Oval 51">
            <a:extLst>
              <a:ext uri="{FF2B5EF4-FFF2-40B4-BE49-F238E27FC236}">
                <a16:creationId xmlns:a16="http://schemas.microsoft.com/office/drawing/2014/main" id="{C187F87B-546E-4F71-A7E5-C2A183461C8C}"/>
              </a:ext>
            </a:extLst>
          </p:cNvPr>
          <p:cNvSpPr>
            <a:spLocks noGrp="1"/>
          </p:cNvSpPr>
          <p:nvPr/>
        </p:nvSpPr>
        <p:spPr>
          <a:xfrm>
            <a:off x="3305160" y="4745785"/>
            <a:ext cx="237600" cy="138240"/>
          </a:xfrm>
          <a:prstGeom prst="ellipse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Oval 52">
            <a:extLst>
              <a:ext uri="{FF2B5EF4-FFF2-40B4-BE49-F238E27FC236}">
                <a16:creationId xmlns:a16="http://schemas.microsoft.com/office/drawing/2014/main" id="{7159D5DD-2919-41A5-BF75-65315F5D5D41}"/>
              </a:ext>
            </a:extLst>
          </p:cNvPr>
          <p:cNvSpPr>
            <a:spLocks noGrp="1"/>
          </p:cNvSpPr>
          <p:nvPr/>
        </p:nvSpPr>
        <p:spPr>
          <a:xfrm>
            <a:off x="2977560" y="4953145"/>
            <a:ext cx="237600" cy="138240"/>
          </a:xfrm>
          <a:prstGeom prst="ellipse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Line 53">
            <a:extLst>
              <a:ext uri="{FF2B5EF4-FFF2-40B4-BE49-F238E27FC236}">
                <a16:creationId xmlns:a16="http://schemas.microsoft.com/office/drawing/2014/main" id="{5F18E2C0-70B0-4135-B4F4-9F7846A04124}"/>
              </a:ext>
            </a:extLst>
          </p:cNvPr>
          <p:cNvSpPr>
            <a:spLocks noGrp="1"/>
          </p:cNvSpPr>
          <p:nvPr/>
        </p:nvSpPr>
        <p:spPr>
          <a:xfrm flipH="1">
            <a:off x="2769120" y="5021545"/>
            <a:ext cx="21888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Line 54">
            <a:extLst>
              <a:ext uri="{FF2B5EF4-FFF2-40B4-BE49-F238E27FC236}">
                <a16:creationId xmlns:a16="http://schemas.microsoft.com/office/drawing/2014/main" id="{A13B21D3-661F-4BCE-8438-AE9760A9084B}"/>
              </a:ext>
            </a:extLst>
          </p:cNvPr>
          <p:cNvSpPr>
            <a:spLocks noGrp="1"/>
          </p:cNvSpPr>
          <p:nvPr/>
        </p:nvSpPr>
        <p:spPr>
          <a:xfrm>
            <a:off x="2790000" y="4834705"/>
            <a:ext cx="216720" cy="14256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Line 55">
            <a:extLst>
              <a:ext uri="{FF2B5EF4-FFF2-40B4-BE49-F238E27FC236}">
                <a16:creationId xmlns:a16="http://schemas.microsoft.com/office/drawing/2014/main" id="{AA074834-9812-456A-8554-108176D16E4D}"/>
              </a:ext>
            </a:extLst>
          </p:cNvPr>
          <p:cNvSpPr>
            <a:spLocks noGrp="1"/>
          </p:cNvSpPr>
          <p:nvPr/>
        </p:nvSpPr>
        <p:spPr>
          <a:xfrm>
            <a:off x="2989080" y="4874305"/>
            <a:ext cx="68400" cy="8892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2120" rIns="90000" bIns="4212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Line 56">
            <a:extLst>
              <a:ext uri="{FF2B5EF4-FFF2-40B4-BE49-F238E27FC236}">
                <a16:creationId xmlns:a16="http://schemas.microsoft.com/office/drawing/2014/main" id="{7D3B61BA-D44F-4E1B-8819-A7C7A364DC85}"/>
              </a:ext>
            </a:extLst>
          </p:cNvPr>
          <p:cNvSpPr>
            <a:spLocks noGrp="1"/>
          </p:cNvSpPr>
          <p:nvPr/>
        </p:nvSpPr>
        <p:spPr>
          <a:xfrm flipV="1">
            <a:off x="3206160" y="4884025"/>
            <a:ext cx="187200" cy="10944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Line 57">
            <a:extLst>
              <a:ext uri="{FF2B5EF4-FFF2-40B4-BE49-F238E27FC236}">
                <a16:creationId xmlns:a16="http://schemas.microsoft.com/office/drawing/2014/main" id="{B466A21C-97BC-4222-9E34-3F89883E8A91}"/>
              </a:ext>
            </a:extLst>
          </p:cNvPr>
          <p:cNvSpPr>
            <a:spLocks noGrp="1"/>
          </p:cNvSpPr>
          <p:nvPr/>
        </p:nvSpPr>
        <p:spPr>
          <a:xfrm>
            <a:off x="3146040" y="4815625"/>
            <a:ext cx="149400" cy="0"/>
          </a:xfrm>
          <a:prstGeom prst="line">
            <a:avLst/>
          </a:prstGeom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Text Box 58">
            <a:extLst>
              <a:ext uri="{FF2B5EF4-FFF2-40B4-BE49-F238E27FC236}">
                <a16:creationId xmlns:a16="http://schemas.microsoft.com/office/drawing/2014/main" id="{C7AEDCB6-C3B6-4A56-B20C-671A136658C6}"/>
              </a:ext>
            </a:extLst>
          </p:cNvPr>
          <p:cNvSpPr>
            <a:spLocks noGrp="1"/>
          </p:cNvSpPr>
          <p:nvPr/>
        </p:nvSpPr>
        <p:spPr>
          <a:xfrm>
            <a:off x="2269800" y="5543810"/>
            <a:ext cx="290880" cy="276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endParaRPr sz="12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Rectangle 59">
            <a:extLst>
              <a:ext uri="{FF2B5EF4-FFF2-40B4-BE49-F238E27FC236}">
                <a16:creationId xmlns:a16="http://schemas.microsoft.com/office/drawing/2014/main" id="{DBE83485-6E70-44CC-BE6F-D91B63B608BF}"/>
              </a:ext>
            </a:extLst>
          </p:cNvPr>
          <p:cNvSpPr>
            <a:spLocks noGrp="1"/>
          </p:cNvSpPr>
          <p:nvPr/>
        </p:nvSpPr>
        <p:spPr>
          <a:xfrm rot="2722800">
            <a:off x="1998360" y="5211530"/>
            <a:ext cx="253800" cy="254160"/>
          </a:xfrm>
          <a:prstGeom prst="rect">
            <a:avLst/>
          </a:prstGeom>
          <a:noFill/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10800000" vert="eaVert" wrap="none" lIns="46800" tIns="90000" rIns="46800" bIns="90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Rectangle 60">
            <a:extLst>
              <a:ext uri="{FF2B5EF4-FFF2-40B4-BE49-F238E27FC236}">
                <a16:creationId xmlns:a16="http://schemas.microsoft.com/office/drawing/2014/main" id="{2C5FD7FA-2D61-4AB2-AC5C-BDA4C7E284E2}"/>
              </a:ext>
            </a:extLst>
          </p:cNvPr>
          <p:cNvSpPr>
            <a:spLocks noGrp="1"/>
          </p:cNvSpPr>
          <p:nvPr/>
        </p:nvSpPr>
        <p:spPr>
          <a:xfrm>
            <a:off x="2620800" y="1746985"/>
            <a:ext cx="901800" cy="3142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46517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>
            <a:extLst>
              <a:ext uri="{FF2B5EF4-FFF2-40B4-BE49-F238E27FC236}">
                <a16:creationId xmlns:a16="http://schemas.microsoft.com/office/drawing/2014/main" id="{ADF553B4-FD33-434B-85CC-101CEFB2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312" name="PlaceHolder 2">
            <a:extLst>
              <a:ext uri="{FF2B5EF4-FFF2-40B4-BE49-F238E27FC236}">
                <a16:creationId xmlns:a16="http://schemas.microsoft.com/office/drawing/2014/main" id="{4DD5386A-2B37-4774-9467-710EA5F27A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Integrity Constraints (cont’d)</a:t>
            </a:r>
          </a:p>
          <a:p>
            <a:pPr marL="743040" lvl="1" indent="-28584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Keys: to distinguish individual entities or relationships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superkey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a set of one or more attributes which, taken together, identify uniquely an entity in an entity set</a:t>
            </a:r>
          </a:p>
          <a:p>
            <a:pPr marL="1600200" lvl="3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 {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student ID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Name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} identify a student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candidate key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</a:t>
            </a: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minimal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set of attributes which allow to identify uniquely an entity in an entity set</a:t>
            </a:r>
          </a:p>
          <a:p>
            <a:pPr marL="1600200" lvl="3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 superkey for which no proper subset is a superkey</a:t>
            </a:r>
          </a:p>
          <a:p>
            <a:pPr marL="1600200" lvl="3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sng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:  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student ID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identify a student,</a:t>
            </a:r>
          </a:p>
          <a:p>
            <a:pPr marL="1166400" lvl="4" indent="-129600" algn="l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             but </a:t>
            </a: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Name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is not a candidate key (WHY?)</a:t>
            </a:r>
          </a:p>
          <a:p>
            <a:pPr marL="1143000" lvl="2" indent="-228600" algn="l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primary key</a:t>
            </a: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-- a candidate key chose by the DB designer to identify an entity in an entity set</a:t>
            </a:r>
          </a:p>
        </p:txBody>
      </p:sp>
    </p:spTree>
    <p:extLst>
      <p:ext uri="{BB962C8B-B14F-4D97-AF65-F5344CB8AC3E}">
        <p14:creationId xmlns:p14="http://schemas.microsoft.com/office/powerpoint/2010/main" val="14114996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>
            <a:extLst>
              <a:ext uri="{FF2B5EF4-FFF2-40B4-BE49-F238E27FC236}">
                <a16:creationId xmlns:a16="http://schemas.microsoft.com/office/drawing/2014/main" id="{BC8560CB-6B93-4611-ABAC-6DC81056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314" name="PlaceHolder 2">
            <a:extLst>
              <a:ext uri="{FF2B5EF4-FFF2-40B4-BE49-F238E27FC236}">
                <a16:creationId xmlns:a16="http://schemas.microsoft.com/office/drawing/2014/main" id="{2003B441-492B-49ED-A475-0083E4D714D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0160" y="1785600"/>
            <a:ext cx="8153280" cy="4615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normAutofit/>
          </a:bodyPr>
          <a:lstStyle/>
          <a:p>
            <a:pPr marL="343080" indent="-343080" algn="just">
              <a:spcBef>
                <a:spcPts val="700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Integrity Constraints (cont’d)</a:t>
            </a:r>
          </a:p>
          <a:p>
            <a:pPr marL="743040" lvl="1" indent="-285840" algn="just">
              <a:spcBef>
                <a:spcPts val="55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Keys: to distinguish individual entities or relationships</a:t>
            </a:r>
          </a:p>
          <a:p>
            <a:pPr marL="743040" lvl="1" indent="-285840" algn="just">
              <a:spcBef>
                <a:spcPts val="550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Insertion/Deletion Constraints: =&gt; “strong” </a:t>
            </a:r>
            <a:r>
              <a:rPr sz="22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vs.</a:t>
            </a:r>
            <a:r>
              <a:rPr sz="22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 “weak” entities</a:t>
            </a:r>
          </a:p>
          <a:p>
            <a:pPr marL="343080" indent="-34308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On ER Diagram Notations</a:t>
            </a:r>
          </a:p>
          <a:p>
            <a:pPr marL="743040" lvl="1" indent="-285840" algn="just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rectangle: Entity Set</a:t>
            </a:r>
          </a:p>
          <a:p>
            <a:pPr marL="743040" lvl="1" indent="-285840" algn="just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diamond: Relationship Set</a:t>
            </a:r>
          </a:p>
          <a:p>
            <a:pPr marL="743040" lvl="1" indent="-285840" algn="just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ellipse: Attribute</a:t>
            </a:r>
          </a:p>
          <a:p>
            <a:pPr marL="743040" lvl="1" indent="-285840" algn="just">
              <a:spcBef>
                <a:spcPts val="601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others (such as double rectangle for “weak entity set”, double ellipses for “multi-valued attribute, underlined attribute for key,…)</a:t>
            </a:r>
          </a:p>
          <a:p>
            <a:pPr marL="194400" indent="-194400" algn="just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400" b="0" u="none">
              <a:solidFill>
                <a:srgbClr val="3333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30686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Line 2">
            <a:extLst>
              <a:ext uri="{FF2B5EF4-FFF2-40B4-BE49-F238E27FC236}">
                <a16:creationId xmlns:a16="http://schemas.microsoft.com/office/drawing/2014/main" id="{55672DD4-A418-4F50-BE9D-78C183E6870D}"/>
              </a:ext>
            </a:extLst>
          </p:cNvPr>
          <p:cNvSpPr>
            <a:spLocks noGrp="1"/>
          </p:cNvSpPr>
          <p:nvPr/>
        </p:nvSpPr>
        <p:spPr>
          <a:xfrm>
            <a:off x="3276360" y="5867280"/>
            <a:ext cx="2210040" cy="0"/>
          </a:xfrm>
          <a:prstGeom prst="line">
            <a:avLst/>
          </a:prstGeom>
          <a:ln w="12600">
            <a:solidFill>
              <a:srgbClr val="000000"/>
            </a:solidFill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Line 3">
            <a:extLst>
              <a:ext uri="{FF2B5EF4-FFF2-40B4-BE49-F238E27FC236}">
                <a16:creationId xmlns:a16="http://schemas.microsoft.com/office/drawing/2014/main" id="{99C3F60F-A735-4E52-A217-8B7D330E6236}"/>
              </a:ext>
            </a:extLst>
          </p:cNvPr>
          <p:cNvSpPr>
            <a:spLocks noGrp="1"/>
          </p:cNvSpPr>
          <p:nvPr/>
        </p:nvSpPr>
        <p:spPr>
          <a:xfrm>
            <a:off x="3276360" y="6172200"/>
            <a:ext cx="2362320" cy="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7" name="PlaceHolder 1">
            <a:extLst>
              <a:ext uri="{FF2B5EF4-FFF2-40B4-BE49-F238E27FC236}">
                <a16:creationId xmlns:a16="http://schemas.microsoft.com/office/drawing/2014/main" id="{7F6729AC-E3CC-4EAB-A4BC-176E4B02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The Entity-Relationship Model</a:t>
            </a:r>
          </a:p>
        </p:txBody>
      </p:sp>
      <p:sp>
        <p:nvSpPr>
          <p:cNvPr id="319" name="Rectangle 6">
            <a:extLst>
              <a:ext uri="{FF2B5EF4-FFF2-40B4-BE49-F238E27FC236}">
                <a16:creationId xmlns:a16="http://schemas.microsoft.com/office/drawing/2014/main" id="{D6912EBC-0D9B-4E02-9559-F673603C0F43}"/>
              </a:ext>
            </a:extLst>
          </p:cNvPr>
          <p:cNvSpPr>
            <a:spLocks noGrp="1"/>
          </p:cNvSpPr>
          <p:nvPr/>
        </p:nvSpPr>
        <p:spPr>
          <a:xfrm>
            <a:off x="380880" y="1600200"/>
            <a:ext cx="8153280" cy="4614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rmAutofit/>
          </a:bodyPr>
          <a:lstStyle/>
          <a:p>
            <a:pPr marL="342720" indent="-342720" algn="just">
              <a:spcBef>
                <a:spcPts val="601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Weak Entity Set</a:t>
            </a:r>
            <a:endParaRPr sz="24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an entity set that does NOT have enough attributes to form a primary/candidate key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421200" lvl="1" indent="-162000" algn="just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342720" indent="-342720" algn="just">
              <a:spcBef>
                <a:spcPts val="499"/>
              </a:spcBef>
              <a:buClr>
                <a:srgbClr val="FF0033"/>
              </a:buClr>
              <a:buSzPct val="75000"/>
              <a:buFont typeface="Zapf Dingbat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Role Indicators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1166400" lvl="4" indent="-129600" algn="just">
              <a:spcBef>
                <a:spcPts val="499"/>
              </a:spcBef>
              <a:buNone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Text Box 7">
            <a:extLst>
              <a:ext uri="{FF2B5EF4-FFF2-40B4-BE49-F238E27FC236}">
                <a16:creationId xmlns:a16="http://schemas.microsoft.com/office/drawing/2014/main" id="{DC8AD821-3A78-4A85-820D-64411204546D}"/>
              </a:ext>
            </a:extLst>
          </p:cNvPr>
          <p:cNvSpPr>
            <a:spLocks noGrp="1"/>
          </p:cNvSpPr>
          <p:nvPr/>
        </p:nvSpPr>
        <p:spPr>
          <a:xfrm>
            <a:off x="1797120" y="3733560"/>
            <a:ext cx="996480" cy="39852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account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1" name="AutoShape 8">
            <a:extLst>
              <a:ext uri="{FF2B5EF4-FFF2-40B4-BE49-F238E27FC236}">
                <a16:creationId xmlns:a16="http://schemas.microsoft.com/office/drawing/2014/main" id="{078012D2-F3A3-4EFB-A55A-E809CC0845B8}"/>
              </a:ext>
            </a:extLst>
          </p:cNvPr>
          <p:cNvSpPr>
            <a:spLocks noGrp="1"/>
          </p:cNvSpPr>
          <p:nvPr/>
        </p:nvSpPr>
        <p:spPr>
          <a:xfrm rot="5400000">
            <a:off x="4152600" y="3619440"/>
            <a:ext cx="60948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2" name="AutoShape 9">
            <a:extLst>
              <a:ext uri="{FF2B5EF4-FFF2-40B4-BE49-F238E27FC236}">
                <a16:creationId xmlns:a16="http://schemas.microsoft.com/office/drawing/2014/main" id="{1D0E9049-665D-41C9-A32A-025B8B11264B}"/>
              </a:ext>
            </a:extLst>
          </p:cNvPr>
          <p:cNvSpPr>
            <a:spLocks noGrp="1"/>
          </p:cNvSpPr>
          <p:nvPr/>
        </p:nvSpPr>
        <p:spPr>
          <a:xfrm rot="16200000">
            <a:off x="3467160" y="3619080"/>
            <a:ext cx="60948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Text Box 10">
            <a:extLst>
              <a:ext uri="{FF2B5EF4-FFF2-40B4-BE49-F238E27FC236}">
                <a16:creationId xmlns:a16="http://schemas.microsoft.com/office/drawing/2014/main" id="{D4ED7C2C-6764-45C1-B22C-103DB2237004}"/>
              </a:ext>
            </a:extLst>
          </p:cNvPr>
          <p:cNvSpPr>
            <a:spLocks noGrp="1"/>
          </p:cNvSpPr>
          <p:nvPr/>
        </p:nvSpPr>
        <p:spPr>
          <a:xfrm>
            <a:off x="3886200" y="3733560"/>
            <a:ext cx="60948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log</a:t>
            </a:r>
          </a:p>
        </p:txBody>
      </p:sp>
      <p:sp>
        <p:nvSpPr>
          <p:cNvPr id="324" name="Text Box 11">
            <a:extLst>
              <a:ext uri="{FF2B5EF4-FFF2-40B4-BE49-F238E27FC236}">
                <a16:creationId xmlns:a16="http://schemas.microsoft.com/office/drawing/2014/main" id="{D140CCED-9EA7-40BA-B964-FC01D6FF3BB0}"/>
              </a:ext>
            </a:extLst>
          </p:cNvPr>
          <p:cNvSpPr>
            <a:spLocks noGrp="1"/>
          </p:cNvSpPr>
          <p:nvPr/>
        </p:nvSpPr>
        <p:spPr>
          <a:xfrm>
            <a:off x="6019560" y="3733560"/>
            <a:ext cx="1447920" cy="39852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transaction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Rectangle 12">
            <a:extLst>
              <a:ext uri="{FF2B5EF4-FFF2-40B4-BE49-F238E27FC236}">
                <a16:creationId xmlns:a16="http://schemas.microsoft.com/office/drawing/2014/main" id="{F2387AC4-F065-4366-A3C7-6D5C87D5A681}"/>
              </a:ext>
            </a:extLst>
          </p:cNvPr>
          <p:cNvSpPr>
            <a:spLocks noGrp="1"/>
          </p:cNvSpPr>
          <p:nvPr/>
        </p:nvSpPr>
        <p:spPr>
          <a:xfrm>
            <a:off x="5943600" y="3657600"/>
            <a:ext cx="1600200" cy="53316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Oval 13">
            <a:extLst>
              <a:ext uri="{FF2B5EF4-FFF2-40B4-BE49-F238E27FC236}">
                <a16:creationId xmlns:a16="http://schemas.microsoft.com/office/drawing/2014/main" id="{C88A76A3-7909-45D3-BAE9-BBF97C22D312}"/>
              </a:ext>
            </a:extLst>
          </p:cNvPr>
          <p:cNvSpPr>
            <a:spLocks noGrp="1"/>
          </p:cNvSpPr>
          <p:nvPr/>
        </p:nvSpPr>
        <p:spPr>
          <a:xfrm>
            <a:off x="990360" y="2895480"/>
            <a:ext cx="1295640" cy="53352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Text Box 14">
            <a:extLst>
              <a:ext uri="{FF2B5EF4-FFF2-40B4-BE49-F238E27FC236}">
                <a16:creationId xmlns:a16="http://schemas.microsoft.com/office/drawing/2014/main" id="{AE43CB9A-E6A6-4854-B526-53E8DF7DB9B1}"/>
              </a:ext>
            </a:extLst>
          </p:cNvPr>
          <p:cNvSpPr>
            <a:spLocks noGrp="1"/>
          </p:cNvSpPr>
          <p:nvPr/>
        </p:nvSpPr>
        <p:spPr>
          <a:xfrm>
            <a:off x="1143000" y="2971800"/>
            <a:ext cx="121896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Acct. no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Oval 15">
            <a:extLst>
              <a:ext uri="{FF2B5EF4-FFF2-40B4-BE49-F238E27FC236}">
                <a16:creationId xmlns:a16="http://schemas.microsoft.com/office/drawing/2014/main" id="{CB0C93F6-0780-439B-890E-CBFA96453F1E}"/>
              </a:ext>
            </a:extLst>
          </p:cNvPr>
          <p:cNvSpPr>
            <a:spLocks noGrp="1"/>
          </p:cNvSpPr>
          <p:nvPr/>
        </p:nvSpPr>
        <p:spPr>
          <a:xfrm>
            <a:off x="2590560" y="2895480"/>
            <a:ext cx="1295640" cy="53352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Text Box 16">
            <a:extLst>
              <a:ext uri="{FF2B5EF4-FFF2-40B4-BE49-F238E27FC236}">
                <a16:creationId xmlns:a16="http://schemas.microsoft.com/office/drawing/2014/main" id="{79FF8598-2EBD-44D7-824B-0E7EF79BF5CD}"/>
              </a:ext>
            </a:extLst>
          </p:cNvPr>
          <p:cNvSpPr>
            <a:spLocks noGrp="1"/>
          </p:cNvSpPr>
          <p:nvPr/>
        </p:nvSpPr>
        <p:spPr>
          <a:xfrm>
            <a:off x="2666880" y="2971800"/>
            <a:ext cx="121932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balance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Line 17">
            <a:extLst>
              <a:ext uri="{FF2B5EF4-FFF2-40B4-BE49-F238E27FC236}">
                <a16:creationId xmlns:a16="http://schemas.microsoft.com/office/drawing/2014/main" id="{BAED5B5C-8512-4917-98FA-90C3D1C60BA8}"/>
              </a:ext>
            </a:extLst>
          </p:cNvPr>
          <p:cNvSpPr>
            <a:spLocks noGrp="1"/>
          </p:cNvSpPr>
          <p:nvPr/>
        </p:nvSpPr>
        <p:spPr>
          <a:xfrm>
            <a:off x="1600200" y="3429000"/>
            <a:ext cx="609480" cy="30456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Line 18">
            <a:extLst>
              <a:ext uri="{FF2B5EF4-FFF2-40B4-BE49-F238E27FC236}">
                <a16:creationId xmlns:a16="http://schemas.microsoft.com/office/drawing/2014/main" id="{B42E5C05-C6DC-4692-A8CF-A346B2BD1956}"/>
              </a:ext>
            </a:extLst>
          </p:cNvPr>
          <p:cNvSpPr>
            <a:spLocks noGrp="1"/>
          </p:cNvSpPr>
          <p:nvPr/>
        </p:nvSpPr>
        <p:spPr>
          <a:xfrm flipV="1">
            <a:off x="2514600" y="3429000"/>
            <a:ext cx="685800" cy="30456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Line 19">
            <a:extLst>
              <a:ext uri="{FF2B5EF4-FFF2-40B4-BE49-F238E27FC236}">
                <a16:creationId xmlns:a16="http://schemas.microsoft.com/office/drawing/2014/main" id="{7F3F1735-C0AA-41AF-900C-C416F3A067F0}"/>
              </a:ext>
            </a:extLst>
          </p:cNvPr>
          <p:cNvSpPr>
            <a:spLocks noGrp="1"/>
          </p:cNvSpPr>
          <p:nvPr/>
        </p:nvSpPr>
        <p:spPr>
          <a:xfrm flipH="1">
            <a:off x="2819160" y="3962160"/>
            <a:ext cx="609840" cy="0"/>
          </a:xfrm>
          <a:prstGeom prst="line">
            <a:avLst/>
          </a:prstGeom>
          <a:ln w="126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Line 20">
            <a:extLst>
              <a:ext uri="{FF2B5EF4-FFF2-40B4-BE49-F238E27FC236}">
                <a16:creationId xmlns:a16="http://schemas.microsoft.com/office/drawing/2014/main" id="{98AC1D24-FA75-453E-96C2-EA3336AA56F0}"/>
              </a:ext>
            </a:extLst>
          </p:cNvPr>
          <p:cNvSpPr>
            <a:spLocks noGrp="1"/>
          </p:cNvSpPr>
          <p:nvPr/>
        </p:nvSpPr>
        <p:spPr>
          <a:xfrm>
            <a:off x="4724280" y="3962160"/>
            <a:ext cx="1219320" cy="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Oval 21">
            <a:extLst>
              <a:ext uri="{FF2B5EF4-FFF2-40B4-BE49-F238E27FC236}">
                <a16:creationId xmlns:a16="http://schemas.microsoft.com/office/drawing/2014/main" id="{E1ACD4B0-0766-414C-B979-B8A170B89E16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1295280" cy="53316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Text Box 22">
            <a:extLst>
              <a:ext uri="{FF2B5EF4-FFF2-40B4-BE49-F238E27FC236}">
                <a16:creationId xmlns:a16="http://schemas.microsoft.com/office/drawing/2014/main" id="{C69C02A4-1DCD-43C8-90CA-F0DA5671F8D3}"/>
              </a:ext>
            </a:extLst>
          </p:cNvPr>
          <p:cNvSpPr>
            <a:spLocks noGrp="1"/>
          </p:cNvSpPr>
          <p:nvPr/>
        </p:nvSpPr>
        <p:spPr>
          <a:xfrm>
            <a:off x="4876560" y="2819160"/>
            <a:ext cx="121932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trans. no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Text Box 23">
            <a:extLst>
              <a:ext uri="{FF2B5EF4-FFF2-40B4-BE49-F238E27FC236}">
                <a16:creationId xmlns:a16="http://schemas.microsoft.com/office/drawing/2014/main" id="{63973819-8772-428F-AEB5-E6691D7CAA62}"/>
              </a:ext>
            </a:extLst>
          </p:cNvPr>
          <p:cNvSpPr>
            <a:spLocks noGrp="1"/>
          </p:cNvSpPr>
          <p:nvPr/>
        </p:nvSpPr>
        <p:spPr>
          <a:xfrm>
            <a:off x="6324480" y="2819160"/>
            <a:ext cx="91440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log_dt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Oval 24">
            <a:extLst>
              <a:ext uri="{FF2B5EF4-FFF2-40B4-BE49-F238E27FC236}">
                <a16:creationId xmlns:a16="http://schemas.microsoft.com/office/drawing/2014/main" id="{EF709187-1E6D-45D5-ACC1-789500240EB8}"/>
              </a:ext>
            </a:extLst>
          </p:cNvPr>
          <p:cNvSpPr>
            <a:spLocks noGrp="1"/>
          </p:cNvSpPr>
          <p:nvPr/>
        </p:nvSpPr>
        <p:spPr>
          <a:xfrm>
            <a:off x="6248160" y="2743200"/>
            <a:ext cx="990720" cy="53316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8" name="Oval 25">
            <a:extLst>
              <a:ext uri="{FF2B5EF4-FFF2-40B4-BE49-F238E27FC236}">
                <a16:creationId xmlns:a16="http://schemas.microsoft.com/office/drawing/2014/main" id="{20A662AC-421F-4227-8BD3-43674CF29BB3}"/>
              </a:ext>
            </a:extLst>
          </p:cNvPr>
          <p:cNvSpPr>
            <a:spLocks noGrp="1"/>
          </p:cNvSpPr>
          <p:nvPr/>
        </p:nvSpPr>
        <p:spPr>
          <a:xfrm>
            <a:off x="7467480" y="2743200"/>
            <a:ext cx="1295280" cy="53316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9" name="Text Box 26">
            <a:extLst>
              <a:ext uri="{FF2B5EF4-FFF2-40B4-BE49-F238E27FC236}">
                <a16:creationId xmlns:a16="http://schemas.microsoft.com/office/drawing/2014/main" id="{44E70B8D-3B17-4631-BF0C-2AD8C0F1A04D}"/>
              </a:ext>
            </a:extLst>
          </p:cNvPr>
          <p:cNvSpPr>
            <a:spLocks noGrp="1"/>
          </p:cNvSpPr>
          <p:nvPr/>
        </p:nvSpPr>
        <p:spPr>
          <a:xfrm>
            <a:off x="7619760" y="2819160"/>
            <a:ext cx="121932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amount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0" name="Line 27">
            <a:extLst>
              <a:ext uri="{FF2B5EF4-FFF2-40B4-BE49-F238E27FC236}">
                <a16:creationId xmlns:a16="http://schemas.microsoft.com/office/drawing/2014/main" id="{48375FB3-CFAF-4574-BC88-992368EA642F}"/>
              </a:ext>
            </a:extLst>
          </p:cNvPr>
          <p:cNvSpPr>
            <a:spLocks noGrp="1"/>
          </p:cNvSpPr>
          <p:nvPr/>
        </p:nvSpPr>
        <p:spPr>
          <a:xfrm>
            <a:off x="5638680" y="3276360"/>
            <a:ext cx="762120" cy="3812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Line 28">
            <a:extLst>
              <a:ext uri="{FF2B5EF4-FFF2-40B4-BE49-F238E27FC236}">
                <a16:creationId xmlns:a16="http://schemas.microsoft.com/office/drawing/2014/main" id="{4BBA4558-2391-4E3D-A2FF-7F97C1BA94F9}"/>
              </a:ext>
            </a:extLst>
          </p:cNvPr>
          <p:cNvSpPr>
            <a:spLocks noGrp="1"/>
          </p:cNvSpPr>
          <p:nvPr/>
        </p:nvSpPr>
        <p:spPr>
          <a:xfrm>
            <a:off x="6781680" y="3276360"/>
            <a:ext cx="0" cy="3812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Line 29">
            <a:extLst>
              <a:ext uri="{FF2B5EF4-FFF2-40B4-BE49-F238E27FC236}">
                <a16:creationId xmlns:a16="http://schemas.microsoft.com/office/drawing/2014/main" id="{A0762EF9-6CC9-43FD-BA37-668383F9A9C2}"/>
              </a:ext>
            </a:extLst>
          </p:cNvPr>
          <p:cNvSpPr>
            <a:spLocks noGrp="1"/>
          </p:cNvSpPr>
          <p:nvPr/>
        </p:nvSpPr>
        <p:spPr>
          <a:xfrm flipV="1">
            <a:off x="7238880" y="3276000"/>
            <a:ext cx="609480" cy="38124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3" name="Text Box 30">
            <a:extLst>
              <a:ext uri="{FF2B5EF4-FFF2-40B4-BE49-F238E27FC236}">
                <a16:creationId xmlns:a16="http://schemas.microsoft.com/office/drawing/2014/main" id="{C40AFFD8-E10D-4638-AD1D-AC97F6BC1386}"/>
              </a:ext>
            </a:extLst>
          </p:cNvPr>
          <p:cNvSpPr>
            <a:spLocks noGrp="1"/>
          </p:cNvSpPr>
          <p:nvPr/>
        </p:nvSpPr>
        <p:spPr>
          <a:xfrm>
            <a:off x="2040840" y="5838480"/>
            <a:ext cx="1179000" cy="39852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Oval 31">
            <a:extLst>
              <a:ext uri="{FF2B5EF4-FFF2-40B4-BE49-F238E27FC236}">
                <a16:creationId xmlns:a16="http://schemas.microsoft.com/office/drawing/2014/main" id="{2337B925-F40B-4038-B940-AA03C911D607}"/>
              </a:ext>
            </a:extLst>
          </p:cNvPr>
          <p:cNvSpPr>
            <a:spLocks noGrp="1"/>
          </p:cNvSpPr>
          <p:nvPr/>
        </p:nvSpPr>
        <p:spPr>
          <a:xfrm>
            <a:off x="1295280" y="4952880"/>
            <a:ext cx="1523880" cy="53352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Oval 32">
            <a:extLst>
              <a:ext uri="{FF2B5EF4-FFF2-40B4-BE49-F238E27FC236}">
                <a16:creationId xmlns:a16="http://schemas.microsoft.com/office/drawing/2014/main" id="{A49CAF29-9669-4859-87A9-F13943CC26A5}"/>
              </a:ext>
            </a:extLst>
          </p:cNvPr>
          <p:cNvSpPr>
            <a:spLocks noGrp="1"/>
          </p:cNvSpPr>
          <p:nvPr/>
        </p:nvSpPr>
        <p:spPr>
          <a:xfrm>
            <a:off x="3047760" y="4952880"/>
            <a:ext cx="1295640" cy="53352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6" name="Text Box 33">
            <a:extLst>
              <a:ext uri="{FF2B5EF4-FFF2-40B4-BE49-F238E27FC236}">
                <a16:creationId xmlns:a16="http://schemas.microsoft.com/office/drawing/2014/main" id="{6632692B-E0CA-438F-A222-DAB97341A9E7}"/>
              </a:ext>
            </a:extLst>
          </p:cNvPr>
          <p:cNvSpPr>
            <a:spLocks noGrp="1"/>
          </p:cNvSpPr>
          <p:nvPr/>
        </p:nvSpPr>
        <p:spPr>
          <a:xfrm>
            <a:off x="1371600" y="5013000"/>
            <a:ext cx="152388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Emp. name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Text Box 34">
            <a:extLst>
              <a:ext uri="{FF2B5EF4-FFF2-40B4-BE49-F238E27FC236}">
                <a16:creationId xmlns:a16="http://schemas.microsoft.com/office/drawing/2014/main" id="{B34C1624-D2ED-4E0B-A409-09E334B71F2E}"/>
              </a:ext>
            </a:extLst>
          </p:cNvPr>
          <p:cNvSpPr>
            <a:spLocks noGrp="1"/>
          </p:cNvSpPr>
          <p:nvPr/>
        </p:nvSpPr>
        <p:spPr>
          <a:xfrm>
            <a:off x="3124080" y="5013000"/>
            <a:ext cx="1219320" cy="398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Phone#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AutoShape 35">
            <a:extLst>
              <a:ext uri="{FF2B5EF4-FFF2-40B4-BE49-F238E27FC236}">
                <a16:creationId xmlns:a16="http://schemas.microsoft.com/office/drawing/2014/main" id="{9C70D7F2-B5E8-42D0-B511-A7FCB14F4920}"/>
              </a:ext>
            </a:extLst>
          </p:cNvPr>
          <p:cNvSpPr>
            <a:spLocks noGrp="1"/>
          </p:cNvSpPr>
          <p:nvPr/>
        </p:nvSpPr>
        <p:spPr>
          <a:xfrm rot="16200000">
            <a:off x="5143320" y="5676480"/>
            <a:ext cx="76212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AutoShape 36">
            <a:extLst>
              <a:ext uri="{FF2B5EF4-FFF2-40B4-BE49-F238E27FC236}">
                <a16:creationId xmlns:a16="http://schemas.microsoft.com/office/drawing/2014/main" id="{C3EC9BC0-0ADF-4EC3-BB3C-4BB95DA2715A}"/>
              </a:ext>
            </a:extLst>
          </p:cNvPr>
          <p:cNvSpPr>
            <a:spLocks noGrp="1"/>
          </p:cNvSpPr>
          <p:nvPr/>
        </p:nvSpPr>
        <p:spPr>
          <a:xfrm rot="5400000">
            <a:off x="5828760" y="5676840"/>
            <a:ext cx="76212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Text Box 37">
            <a:extLst>
              <a:ext uri="{FF2B5EF4-FFF2-40B4-BE49-F238E27FC236}">
                <a16:creationId xmlns:a16="http://schemas.microsoft.com/office/drawing/2014/main" id="{344B1B79-7104-4455-9BD0-8ECEC54EC11B}"/>
              </a:ext>
            </a:extLst>
          </p:cNvPr>
          <p:cNvSpPr>
            <a:spLocks noGrp="1"/>
          </p:cNvSpPr>
          <p:nvPr/>
        </p:nvSpPr>
        <p:spPr>
          <a:xfrm>
            <a:off x="5410080" y="5805360"/>
            <a:ext cx="1143000" cy="368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Works-for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Line 38">
            <a:extLst>
              <a:ext uri="{FF2B5EF4-FFF2-40B4-BE49-F238E27FC236}">
                <a16:creationId xmlns:a16="http://schemas.microsoft.com/office/drawing/2014/main" id="{721A3DC8-03E8-4326-A7AB-C05FF5F28B09}"/>
              </a:ext>
            </a:extLst>
          </p:cNvPr>
          <p:cNvSpPr>
            <a:spLocks noGrp="1"/>
          </p:cNvSpPr>
          <p:nvPr/>
        </p:nvSpPr>
        <p:spPr>
          <a:xfrm>
            <a:off x="2057400" y="5486400"/>
            <a:ext cx="457200" cy="3808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Line 39">
            <a:extLst>
              <a:ext uri="{FF2B5EF4-FFF2-40B4-BE49-F238E27FC236}">
                <a16:creationId xmlns:a16="http://schemas.microsoft.com/office/drawing/2014/main" id="{65D5109C-D7EF-4045-BAE6-28C94581D88A}"/>
              </a:ext>
            </a:extLst>
          </p:cNvPr>
          <p:cNvSpPr>
            <a:spLocks noGrp="1"/>
          </p:cNvSpPr>
          <p:nvPr/>
        </p:nvSpPr>
        <p:spPr>
          <a:xfrm flipV="1">
            <a:off x="2819160" y="5486400"/>
            <a:ext cx="609840" cy="380880"/>
          </a:xfrm>
          <a:prstGeom prst="line">
            <a:avLst/>
          </a:prstGeom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Text Box 40">
            <a:extLst>
              <a:ext uri="{FF2B5EF4-FFF2-40B4-BE49-F238E27FC236}">
                <a16:creationId xmlns:a16="http://schemas.microsoft.com/office/drawing/2014/main" id="{FD722194-ADED-4237-90C1-5E09A90BCE8A}"/>
              </a:ext>
            </a:extLst>
          </p:cNvPr>
          <p:cNvSpPr>
            <a:spLocks noGrp="1"/>
          </p:cNvSpPr>
          <p:nvPr/>
        </p:nvSpPr>
        <p:spPr>
          <a:xfrm>
            <a:off x="3886200" y="5562360"/>
            <a:ext cx="1218960" cy="368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i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manager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4" name="Text Box 41">
            <a:extLst>
              <a:ext uri="{FF2B5EF4-FFF2-40B4-BE49-F238E27FC236}">
                <a16:creationId xmlns:a16="http://schemas.microsoft.com/office/drawing/2014/main" id="{8F9EC5CA-EF34-408A-B4CD-967ECD19A2AB}"/>
              </a:ext>
            </a:extLst>
          </p:cNvPr>
          <p:cNvSpPr>
            <a:spLocks noGrp="1"/>
          </p:cNvSpPr>
          <p:nvPr/>
        </p:nvSpPr>
        <p:spPr>
          <a:xfrm>
            <a:off x="3886200" y="6110280"/>
            <a:ext cx="1218960" cy="368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i="1" u="none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worker</a:t>
            </a:r>
            <a:endParaRPr sz="18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Oval 42">
            <a:extLst>
              <a:ext uri="{FF2B5EF4-FFF2-40B4-BE49-F238E27FC236}">
                <a16:creationId xmlns:a16="http://schemas.microsoft.com/office/drawing/2014/main" id="{C3C31369-CC7C-4539-8BF8-9546D72CCAAC}"/>
              </a:ext>
            </a:extLst>
          </p:cNvPr>
          <p:cNvSpPr>
            <a:spLocks noGrp="1"/>
          </p:cNvSpPr>
          <p:nvPr/>
        </p:nvSpPr>
        <p:spPr>
          <a:xfrm>
            <a:off x="2971800" y="4876560"/>
            <a:ext cx="1447560" cy="685800"/>
          </a:xfrm>
          <a:prstGeom prst="ellipse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AutoShape 43">
            <a:extLst>
              <a:ext uri="{FF2B5EF4-FFF2-40B4-BE49-F238E27FC236}">
                <a16:creationId xmlns:a16="http://schemas.microsoft.com/office/drawing/2014/main" id="{1DCC65F8-A54B-45D8-ABF2-18C94806F225}"/>
              </a:ext>
            </a:extLst>
          </p:cNvPr>
          <p:cNvSpPr>
            <a:spLocks noGrp="1"/>
          </p:cNvSpPr>
          <p:nvPr/>
        </p:nvSpPr>
        <p:spPr>
          <a:xfrm>
            <a:off x="4343400" y="4419360"/>
            <a:ext cx="2133360" cy="609840"/>
          </a:xfrm>
          <a:prstGeom prst="wedgeRoundRectCallout">
            <a:avLst>
              <a:gd name="adj1" fmla="val -43518"/>
              <a:gd name="adj2" fmla="val 70000"/>
              <a:gd name="adj3" fmla="val 16667"/>
            </a:avLst>
          </a:prstGeom>
          <a:solidFill>
            <a:srgbClr val="CCCCFF"/>
          </a:solidFill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FD020F"/>
                </a:solidFill>
                <a:latin typeface="Arial"/>
                <a:ea typeface="Arial"/>
                <a:cs typeface="Arial"/>
              </a:rPr>
              <a:t>Multi-value attri.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30063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>
            <a:extLst>
              <a:ext uri="{FF2B5EF4-FFF2-40B4-BE49-F238E27FC236}">
                <a16:creationId xmlns:a16="http://schemas.microsoft.com/office/drawing/2014/main" id="{E034C54F-9822-430B-95D1-70359AE39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900" b="0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ER DIAGRAM FOR A BANK </a:t>
            </a:r>
            <a:br/>
            <a:r>
              <a:rPr sz="2900" b="0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DATABASE</a:t>
            </a:r>
            <a:endParaRPr sz="2900" b="1" i="1" u="none">
              <a:solidFill>
                <a:srgbClr val="FF0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523880"/>
            <a:ext cx="9144000" cy="5257800"/>
          </a:xfrm>
          <a:prstGeom prst="rect">
            <a:avLst/>
          </a:prstGeom>
          <a:ln w="38160">
            <a:noFill/>
          </a:ln>
        </p:spPr>
      </p:pic>
    </p:spTree>
    <p:extLst>
      <p:ext uri="{BB962C8B-B14F-4D97-AF65-F5344CB8AC3E}">
        <p14:creationId xmlns:p14="http://schemas.microsoft.com/office/powerpoint/2010/main" val="971971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>
            <a:extLst>
              <a:ext uri="{FF2B5EF4-FFF2-40B4-BE49-F238E27FC236}">
                <a16:creationId xmlns:a16="http://schemas.microsoft.com/office/drawing/2014/main" id="{7CE8FF77-5330-44A0-A25B-A2312E9D4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900" b="0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ER DIAGRAM WITH ROLE NAMES </a:t>
            </a:r>
            <a:br/>
            <a:r>
              <a:rPr sz="2900" b="0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AND MINI-MAX CONSTRAINTS</a:t>
            </a:r>
            <a:endParaRPr sz="2900" b="1" i="1" u="none">
              <a:solidFill>
                <a:srgbClr val="FF0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3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8600" y="1600200"/>
            <a:ext cx="8610480" cy="5257800"/>
          </a:xfrm>
          <a:prstGeom prst="rect">
            <a:avLst/>
          </a:prstGeom>
          <a:ln w="38160">
            <a:noFill/>
          </a:ln>
        </p:spPr>
      </p:pic>
    </p:spTree>
    <p:extLst>
      <p:ext uri="{BB962C8B-B14F-4D97-AF65-F5344CB8AC3E}">
        <p14:creationId xmlns:p14="http://schemas.microsoft.com/office/powerpoint/2010/main" val="8738004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>
            <a:extLst>
              <a:ext uri="{FF2B5EF4-FFF2-40B4-BE49-F238E27FC236}">
                <a16:creationId xmlns:a16="http://schemas.microsoft.com/office/drawing/2014/main" id="{471DAAA0-3DF7-4420-827F-C3B1D054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40" y="166320"/>
            <a:ext cx="8381880" cy="131436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65" name="Rectangle 4">
            <a:extLst>
              <a:ext uri="{FF2B5EF4-FFF2-40B4-BE49-F238E27FC236}">
                <a16:creationId xmlns:a16="http://schemas.microsoft.com/office/drawing/2014/main" id="{F2D7E585-DF83-49C1-B07F-0D9CC0470AC4}"/>
              </a:ext>
            </a:extLst>
          </p:cNvPr>
          <p:cNvSpPr>
            <a:spLocks noGrp="1"/>
          </p:cNvSpPr>
          <p:nvPr/>
        </p:nvSpPr>
        <p:spPr>
          <a:xfrm>
            <a:off x="685800" y="1752480"/>
            <a:ext cx="8153280" cy="4614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rmAutofit/>
          </a:bodyPr>
          <a:lstStyle/>
          <a:p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The ER Model is regarded as the 1st “conceptual/semantic” model centered around relationships, not attributes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It combines successfully the best features of the previous data models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simple and easy to understand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742680" lvl="1" indent="-285480" algn="just">
              <a:spcBef>
                <a:spcPts val="499"/>
              </a:spcBef>
              <a:buClr>
                <a:srgbClr val="3333CC"/>
              </a:buClr>
              <a:buFont typeface="Zapf Dingbats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can be mapped to tables (relational model) in a straightforward manner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  <a:p>
            <a:pPr marL="648000" lvl="2" indent="-129600" algn="just">
              <a:spcBef>
                <a:spcPts val="499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i="1" u="none">
                <a:solidFill>
                  <a:srgbClr val="3333CC"/>
                </a:solidFill>
                <a:latin typeface="Arial"/>
                <a:ea typeface="Arial"/>
                <a:cs typeface="Arial"/>
              </a:rPr>
              <a:t>(to be studied in the coming lecture series)</a:t>
            </a:r>
            <a:endParaRPr sz="2000" b="1" u="none">
              <a:solidFill>
                <a:srgbClr val="FD020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69655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ER-to-Relational Preview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Entity type → table; key attribute → primary key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1:N relationship → foreign key on the N side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M:N relationship → bridge table with both foreign keys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Relationship attributes → columns in the bridge table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Example: ENROLMENT(student_id, course_code, grade)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Retrieval Challenge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STUDENT(student_id, name)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COURSE(course_code, title)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ENROLMENT(student_id, course_code, grade)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Identify every primary key and foreign key.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Trace the join path for: Who takes COMP5111?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Write the query if time permits.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24681D97-5F04-4ECE-9748-F517755D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40" y="166320"/>
            <a:ext cx="8770680" cy="1314360"/>
          </a:xfrm>
          <a:prstGeom prst="rect">
            <a:avLst/>
          </a:prstGeom>
          <a:noFill/>
          <a:ln w="0">
            <a:noFill/>
          </a:ln>
        </p:spPr>
        <p:txBody>
          <a:bodyPr wrap="none" lIns="90392" tIns="44291" rIns="90392" bIns="44291" anchor="b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600" b="1" i="1">
                <a:solidFill>
                  <a:srgbClr val="FF0033"/>
                </a:solidFill>
                <a:latin typeface="Arial"/>
                <a:ea typeface="Arial"/>
                <a:cs typeface="Arial"/>
              </a:defRPr>
            </a:pPr>
            <a:r>
              <a:rPr sz="3600" b="1" i="1" u="none">
                <a:solidFill>
                  <a:srgbClr val="FF0033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A9D33F6-FC57-4B9F-842E-8AFDD951DB69}"/>
              </a:ext>
            </a:extLst>
          </p:cNvPr>
          <p:cNvSpPr>
            <a:spLocks noGrp="1"/>
          </p:cNvSpPr>
          <p:nvPr/>
        </p:nvSpPr>
        <p:spPr>
          <a:xfrm>
            <a:off x="380880" y="1828800"/>
            <a:ext cx="8381880" cy="4647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392" tIns="44291" rIns="90392" bIns="44291" anchor="t">
            <a:normAutofit/>
          </a:bodyPr>
          <a:lstStyle/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1. A database stores persistent, related data; a DBMS manages it.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2. Schema is the design; instance is the current state.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3. ER modeling makes entities, relationships, keys, and constraints explicit.</a:t>
            </a:r>
          </a:p>
          <a:p>
            <a:pPr marL="22" indent="-12" algn="l">
              <a:buChar char="•"/>
              <a:defRPr sz="2400">
                <a:solidFill>
                  <a:srgbClr val="3333CC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33CC"/>
                </a:solidFill>
                <a:latin typeface="Arial"/>
                <a:ea typeface="Arial"/>
                <a:cs typeface="Arial"/>
              </a:rPr>
              <a:t>Before leaving: name one application you could model and one question you still have.</a:t>
            </a:r>
          </a:p>
        </p:txBody>
      </p:sp>
    </p:spTree>
    <p:extLst>
      <p:ext uri="{BB962C8B-B14F-4D97-AF65-F5344CB8AC3E}">
        <p14:creationId xmlns:p14="http://schemas.microsoft.com/office/powerpoint/2010/main" val="46421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10665</Words>
  <Application>Microsoft Macintosh PowerPoint</Application>
  <DocSecurity>0</DocSecurity>
  <PresentationFormat>全屏显示(4:3)</PresentationFormat>
  <Paragraphs>1463</Paragraphs>
  <Slides>60</Slides>
  <Notes>60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8" baseType="lpstr">
      <vt:lpstr>Zapf Dingbats</vt:lpstr>
      <vt:lpstr>Arial</vt:lpstr>
      <vt:lpstr>Arial Narrow</vt:lpstr>
      <vt:lpstr>Garamond</vt:lpstr>
      <vt:lpstr>Helvetica</vt:lpstr>
      <vt:lpstr>Symbol</vt:lpstr>
      <vt:lpstr>Times New Roman</vt:lpstr>
      <vt:lpstr>Office</vt:lpstr>
      <vt:lpstr>PowerPoint 演示文稿</vt:lpstr>
      <vt:lpstr>Learning Goals</vt:lpstr>
      <vt:lpstr>Group Discussion (15 mins + 15 mins) </vt:lpstr>
      <vt:lpstr>Warm-up: Choose a Data Problem</vt:lpstr>
      <vt:lpstr>Debrief: When Do We Need a DBMS?</vt:lpstr>
      <vt:lpstr>Introduction to DB Systems</vt:lpstr>
      <vt:lpstr>Introduction to DB Systems</vt:lpstr>
      <vt:lpstr>Motivating Example</vt:lpstr>
      <vt:lpstr>Introduction to DB Systems</vt:lpstr>
      <vt:lpstr>File Registration: What Can Go Wrong?</vt:lpstr>
      <vt:lpstr>Diagnose the Failure</vt:lpstr>
      <vt:lpstr>DB Systems: an Overview</vt:lpstr>
      <vt:lpstr>Introduction to DB Systems</vt:lpstr>
      <vt:lpstr>Introduction to DB Systems</vt:lpstr>
      <vt:lpstr>Data Abstraction: 3-level architecture</vt:lpstr>
      <vt:lpstr>Data Models</vt:lpstr>
      <vt:lpstr>Data Models</vt:lpstr>
      <vt:lpstr>Basic Concepts and Terminologies</vt:lpstr>
      <vt:lpstr>Data Abstraction: 3-level architecture</vt:lpstr>
      <vt:lpstr>Concept Check: Schema or Instance?</vt:lpstr>
      <vt:lpstr>Break — 10 Minutes</vt:lpstr>
      <vt:lpstr>Basic Concepts and Terminologies</vt:lpstr>
      <vt:lpstr>Basic Concepts and Terminologies</vt:lpstr>
      <vt:lpstr>Basic Concepts and Terminologies</vt:lpstr>
      <vt:lpstr>System Architecture</vt:lpstr>
      <vt:lpstr>System Architecture</vt:lpstr>
      <vt:lpstr>“Reference” DB System Architecture</vt:lpstr>
      <vt:lpstr>DB Concepts and Architecture</vt:lpstr>
      <vt:lpstr>Classification of DBs</vt:lpstr>
      <vt:lpstr>Classification of DBMSs</vt:lpstr>
      <vt:lpstr>SQL Preview: Ask Declaratively</vt:lpstr>
      <vt:lpstr>Try It: Write Two Queries</vt:lpstr>
      <vt:lpstr>SQL Debrief</vt:lpstr>
      <vt:lpstr>The Entity-Relationship Model</vt:lpstr>
      <vt:lpstr>ER Modeling Workflow</vt:lpstr>
      <vt:lpstr>The Entity-Relationship Model</vt:lpstr>
      <vt:lpstr>The Entity-Relationship Model</vt:lpstr>
      <vt:lpstr>The Entity-Relationship Model</vt:lpstr>
      <vt:lpstr>The Entity-Relationship Model</vt:lpstr>
      <vt:lpstr>Workshop: Library Lending</vt:lpstr>
      <vt:lpstr>Step 1: Entities and Keys</vt:lpstr>
      <vt:lpstr>The Entity-Relationship Model</vt:lpstr>
      <vt:lpstr>The Entity-Relationship Model</vt:lpstr>
      <vt:lpstr>The Entity-Relationship Model</vt:lpstr>
      <vt:lpstr>The Entity-Relationship Model</vt:lpstr>
      <vt:lpstr>The Entity-Relationship Model</vt:lpstr>
      <vt:lpstr>The Entity-Relationship Model</vt:lpstr>
      <vt:lpstr>Cardinality Challenge</vt:lpstr>
      <vt:lpstr>Cardinality Answer</vt:lpstr>
      <vt:lpstr>The Entity-Relationship Model</vt:lpstr>
      <vt:lpstr>SUMMARY OF ER-DIAGRAM NOTATION</vt:lpstr>
      <vt:lpstr>The Entity-Relationship Model</vt:lpstr>
      <vt:lpstr>The Entity-Relationship Model</vt:lpstr>
      <vt:lpstr>The Entity-Relationship Model</vt:lpstr>
      <vt:lpstr>ER DIAGRAM FOR A BANK  DATABASE</vt:lpstr>
      <vt:lpstr>ER DIAGRAM WITH ROLE NAMES  AND MINI-MAX CONSTRAINTS</vt:lpstr>
      <vt:lpstr>Summary</vt:lpstr>
      <vt:lpstr>ER-to-Relational Preview</vt:lpstr>
      <vt:lpstr>Retrieval Challenge</vt:lpstr>
      <vt:lpstr>Exit Ticket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YIN, Nan [LTTC]</cp:lastModifiedBy>
  <cp:revision>12</cp:revision>
  <dcterms:created xsi:type="dcterms:W3CDTF">2026-08-29T03:32:17Z</dcterms:created>
  <dcterms:modified xsi:type="dcterms:W3CDTF">2026-09-01T17:13:54Z</dcterms:modified>
</cp:coreProperties>
</file>